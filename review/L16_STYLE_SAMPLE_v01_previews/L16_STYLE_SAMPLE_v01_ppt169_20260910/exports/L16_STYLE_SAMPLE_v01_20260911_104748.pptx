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讲把水循环和碳循环放在同一个地球系统框架中理解。我们会反复使用六个关键词：储库、通量、停留时间、耦合、反馈和时间尺度。重点不是记住孤立名词，而是看清物质储存在哪里、怎样转移，以及这些转移如何影响气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成本讲后，首先要能识别水循环的主要储库和通量，并区分储量、通量与停留时间。随后要能描述碳的主要储库，以及快速的生物和海洋路径与缓慢的地质路径。更进一步，我们要解释水和碳如何连接大气、海洋、岩石与生命，并用初始变化和诱发变化的方向区分正反馈与负反馈。最后，把方向与时间尺度结合起来，预测地球系统受到扰动后的响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课程分为三个连续部分。第一部分建立水循环的储库、通量、停留时间，以及地表与深部之间的联系；第二部分用同样的语言阅读快速和缓慢碳循环，并重点认识海洋碳泵。第三部分把水和碳重新耦合到同一个气候系统中，用反馈符号和响应时间判断系统变化。阅读顺序是水、碳、耦合与反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面对全球水循环图，先不要急着追箭头，而要先找储库，包括海洋、大气、冰雪、陆地生命和地下水。第二步才是沿箭头识别蒸发、大气输送、降水、径流、入渗与地下水流等通量，这些过程彼此连接，形成回路而不是一条单向路径。第三步追踪驱动力：太阳能驱动蒸发和大气输送，重力推动降水、径流与下渗。图中海洋覆盖地球表面约百分之七十一，这说明海洋是理解全球水循环时不可忽略的背景储库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读碳循环图时，框表示储库，单位是吉吨碳；箭头表示通量，单位是吉吨碳每年。图中的一百二十和八十吉吨碳每年是高频总交换，不能直接当作净碳汇。生物过程和海气交换的通量较高、交换较快，而硅酸盐风化与火山返回都小于零点一吉吨碳每年，代表缓慢的地质通量。因此，大储库、快交换和净变化是三个不同问题，储库不等于通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气二氧化碳进入表层海洋后，可以沿三条路径向深处转移。物理泵依靠低温提高溶解度，并随深水形成和环流把溶解无机碳带到深海；生物泵先由光合作用形成有机碳，再通过颗粒下沉和深处分解完成转移。碳酸盐路径把生物成壳、沉降与碳酸钙埋藏连接到沉积物和岩石。教材支持的背景事实是，深层水的无机碳浓度约比表层高百分之十五；关键仍是区分三条路径的机制与箭头方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正反馈和负反馈描述的是作用方向，不是在评价结果好坏。判断时先明确初始变化，再跟踪它诱发的变化，最后比较诱发作用与初始方向。若两者同向，回路会放大或加强原变化，这是正反馈；若诱发作用反向，回路会抑制变化并使系统趋于稳定，这是负反馈。最可靠的判断方法始终是：找初始变化、跟踪诱发变化、比较最终作用方向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大气二氧化碳增加或温度升高开始，更暖、更湿和雨水酸性更强的条件会加速硅酸盐风化。风化消耗二氧化碳，并增加进入海洋的钙离子等溶解产物，随后通过碳酸钙埋藏把碳转移到长期储库，使大气二氧化碳下降并产生冷却趋势。这个最终作用反对初始增温，因此构成缓慢的负反馈；响应时间大于十的五次方到十的七次方年。反向来看，冷却会减弱水汽和酸性、降低风化与二氧化碳去除，而火山输入可逐渐重建大气碳储库。这里必须限定为硅酸盐风化，不能把碳酸盐岩风化表述成同等的净大气二氧化碳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把六条结论合在一起。第一，水和碳通过通量在储库之间迁移，储量不等于通量；第二，停留时间控制储库响应快慢，大储库不一定更新快。第三，水循环搬运物质和能量，并连接大气、海洋、岩石与生命；第四，碳循环同时包含快速的生物和海洋路径与缓慢的地质路径。第五，水通过风化、海气交换和生命过程把水循环与碳循环耦合起来；第六，正反馈放大变化，负反馈抑制变化，判断系统响应必须同时看方向和时间尺度。这六个关键词共同构成阅读地球系统循环的框架：储库、通量、停留时间、耦合、反馈和时间尺度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16_STYLE_SAMPLE_v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16_STYLE_SAMPLE_v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af6ca870f504f08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e66e7026df0aa33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171450" y="0"/>
            <a:ext cx="571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6161" y="589121"/>
            <a:ext cx="3216884" cy="278702"/>
            <a:chOff x="526161" y="589121"/>
            <a:chExt cx="3216884" cy="278702"/>
          </a:xfrm>
        </p:grpSpPr>
        <p:sp>
          <p:nvSpPr>
            <p:cNvPr id="4" name="TextBox 4"/>
            <p:cNvSpPr txBox="1"/>
            <p:nvPr/>
          </p:nvSpPr>
          <p:spPr>
            <a:xfrm>
              <a:off x="526161" y="589121"/>
              <a:ext cx="3216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EOE111 · EARTH SYSTEM SCIENCE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1381125"/>
            <a:ext cx="5558790" cy="2061782"/>
            <a:chOff x="514350" y="1381125"/>
            <a:chExt cx="5558790" cy="2061782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381125"/>
              <a:ext cx="5558790" cy="1543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zh-CN" sz="4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Lecture 16:</a:t>
              </a:r>
              <a:br/>
              <a:r>
                <a:rPr lang="zh-CN" sz="4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Hydrological Cycles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9496" y="2944178"/>
              <a:ext cx="28253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第16讲：水文循环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45211" y="3752850"/>
            <a:ext cx="6769989" cy="841534"/>
            <a:chOff x="545211" y="3752850"/>
            <a:chExt cx="6769989" cy="841534"/>
          </a:xfrm>
        </p:grpSpPr>
        <p:sp>
          <p:nvSpPr>
            <p:cNvPr id="9" name="Rectangle 9"/>
            <p:cNvSpPr/>
            <p:nvPr/>
          </p:nvSpPr>
          <p:spPr>
            <a:xfrm>
              <a:off x="552450" y="3752850"/>
              <a:ext cx="676275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5211" y="3989546"/>
              <a:ext cx="2939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水循环 · 碳循环 · 耦合与气候反馈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6735" y="4374356"/>
              <a:ext cx="41828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Reservoir · Flux · Residence Time · Feedback · Timescale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782050" y="1104900"/>
            <a:ext cx="2343150" cy="4171950"/>
            <a:chOff x="8782050" y="1104900"/>
            <a:chExt cx="2343150" cy="4171950"/>
          </a:xfrm>
        </p:grpSpPr>
        <p:sp>
          <p:nvSpPr>
            <p:cNvPr id="13" name="Rectangle 13"/>
            <p:cNvSpPr/>
            <p:nvPr/>
          </p:nvSpPr>
          <p:spPr>
            <a:xfrm>
              <a:off x="8782050" y="1104900"/>
              <a:ext cx="2343150" cy="41719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229725" y="1447800"/>
              <a:ext cx="1447800" cy="1447800"/>
            </a:xfrm>
            <a:prstGeom prst="ellipse">
              <a:avLst/>
            </a:prstGeom>
            <a:solidFill>
              <a:srgbClr val="F0F5FC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88387" y="1801178"/>
              <a:ext cx="7304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H₂O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9984" y="2307431"/>
              <a:ext cx="967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WATER CYCLE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9953625" y="29241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229725" y="3448050"/>
              <a:ext cx="1447800" cy="1447800"/>
            </a:xfrm>
            <a:prstGeom prst="ellipse">
              <a:avLst/>
            </a:prstGeom>
            <a:solidFill>
              <a:srgbClr val="FDF4EF"/>
            </a:solidFill>
            <a:ln w="38100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5938" y="3801428"/>
              <a:ext cx="2353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26174" y="4307681"/>
              <a:ext cx="1054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5219700"/>
            <a:ext cx="4479390" cy="618839"/>
            <a:chOff x="552450" y="5219700"/>
            <a:chExt cx="4479390" cy="618839"/>
          </a:xfrm>
        </p:grpSpPr>
        <p:sp>
          <p:nvSpPr>
            <p:cNvPr id="22" name="Rectangle 22"/>
            <p:cNvSpPr/>
            <p:nvPr/>
          </p:nvSpPr>
          <p:spPr>
            <a:xfrm>
              <a:off x="552450" y="521970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3811" y="535162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用共同语言读懂地球系统的循环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6097" y="5647849"/>
              <a:ext cx="4255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Reading cycles as connected reservoirs, transfers and feedbacks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7688" y="6341745"/>
            <a:ext cx="3881313" cy="176212"/>
            <a:chOff x="547688" y="6341745"/>
            <a:chExt cx="3881313" cy="176212"/>
          </a:xfrm>
        </p:grpSpPr>
        <p:sp>
          <p:nvSpPr>
            <p:cNvPr id="26" name="TextBox 26"/>
            <p:cNvSpPr txBox="1"/>
            <p:nvPr/>
          </p:nvSpPr>
          <p:spPr>
            <a:xfrm>
              <a:off x="547688" y="6341745"/>
              <a:ext cx="38813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Primary reference: Understanding Earth, 8e, Chapters 12 and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145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0.2 学习目标 | Learning Objectives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30866" y="299085"/>
              <a:ext cx="1386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COURSE ROADMAP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4433443" cy="357093"/>
            <a:chOff x="381000" y="914400"/>
            <a:chExt cx="4433443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42699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从储库与通量，推进到耦合、反馈与时间尺度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1000" y="1409700"/>
            <a:ext cx="11430000" cy="895350"/>
            <a:chOff x="381000" y="1409700"/>
            <a:chExt cx="11430000" cy="895350"/>
          </a:xfrm>
        </p:grpSpPr>
        <p:sp>
          <p:nvSpPr>
            <p:cNvPr id="9" name="Rectangle 9"/>
            <p:cNvSpPr/>
            <p:nvPr/>
          </p:nvSpPr>
          <p:spPr>
            <a:xfrm>
              <a:off x="381000" y="1409700"/>
              <a:ext cx="11430000" cy="895350"/>
            </a:xfrm>
            <a:prstGeom prst="roundRect">
              <a:avLst>
                <a:gd name="adj" fmla="val 1276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64782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0208" y="17849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1612106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识别地球水循环的主要储库与通量，并区分储量、通量和停留时间。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1904524"/>
              <a:ext cx="74220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Identify the major reservoirs and fluxes of the hydrologic cycle and distinguish storage, flux, and residence time.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1000" y="2381250"/>
            <a:ext cx="11430000" cy="895350"/>
            <a:chOff x="381000" y="2381250"/>
            <a:chExt cx="11430000" cy="895350"/>
          </a:xfrm>
        </p:grpSpPr>
        <p:sp>
          <p:nvSpPr>
            <p:cNvPr id="15" name="Rectangle 15"/>
            <p:cNvSpPr/>
            <p:nvPr/>
          </p:nvSpPr>
          <p:spPr>
            <a:xfrm>
              <a:off x="381000" y="2381250"/>
              <a:ext cx="11430000" cy="895350"/>
            </a:xfrm>
            <a:prstGeom prst="roundRect">
              <a:avLst>
                <a:gd name="adj" fmla="val 1276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261937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0208" y="27565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2583656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描述全球碳循环的主要储库，以及快速和缓慢碳循环路径。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947" y="2876074"/>
              <a:ext cx="62611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Describe the major carbon reservoirs and the fast and slow pathways of the global carbon cycle.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81000" y="3352800"/>
            <a:ext cx="11430000" cy="895350"/>
            <a:chOff x="381000" y="3352800"/>
            <a:chExt cx="11430000" cy="895350"/>
          </a:xfrm>
        </p:grpSpPr>
        <p:sp>
          <p:nvSpPr>
            <p:cNvPr id="21" name="Rectangle 21"/>
            <p:cNvSpPr/>
            <p:nvPr/>
          </p:nvSpPr>
          <p:spPr>
            <a:xfrm>
              <a:off x="381000" y="3352800"/>
              <a:ext cx="11430000" cy="895350"/>
            </a:xfrm>
            <a:prstGeom prst="roundRect">
              <a:avLst>
                <a:gd name="adj" fmla="val 1276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33400" y="359092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0208" y="37280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185" y="35552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解释水和碳如何连接大气、海洋、岩石与生命。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947" y="3847624"/>
              <a:ext cx="5186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Explain how water and carbon connect the atmosphere, oceans, rocks, and life.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81000" y="4324350"/>
            <a:ext cx="11430000" cy="895350"/>
            <a:chOff x="381000" y="4324350"/>
            <a:chExt cx="11430000" cy="895350"/>
          </a:xfrm>
        </p:grpSpPr>
        <p:sp>
          <p:nvSpPr>
            <p:cNvPr id="27" name="Rectangle 27"/>
            <p:cNvSpPr/>
            <p:nvPr/>
          </p:nvSpPr>
          <p:spPr>
            <a:xfrm>
              <a:off x="381000" y="4324350"/>
              <a:ext cx="11430000" cy="895350"/>
            </a:xfrm>
            <a:prstGeom prst="roundRect">
              <a:avLst>
                <a:gd name="adj" fmla="val 1276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3400" y="45624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0208" y="46996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9185" y="452675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区分正反馈与负反馈，并解释典型气候反馈机制。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9947" y="4819174"/>
              <a:ext cx="6577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Distinguish positive from negative feedback and explain representative climate feedback mechanisms.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" y="5295900"/>
            <a:ext cx="11430000" cy="895350"/>
            <a:chOff x="381000" y="5295900"/>
            <a:chExt cx="11430000" cy="895350"/>
          </a:xfrm>
        </p:grpSpPr>
        <p:sp>
          <p:nvSpPr>
            <p:cNvPr id="33" name="Rectangle 33"/>
            <p:cNvSpPr/>
            <p:nvPr/>
          </p:nvSpPr>
          <p:spPr>
            <a:xfrm>
              <a:off x="381000" y="5295900"/>
              <a:ext cx="11430000" cy="895350"/>
            </a:xfrm>
            <a:prstGeom prst="roundRect">
              <a:avLst>
                <a:gd name="adj" fmla="val 1276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533400" y="553402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0208" y="56711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9185" y="54983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比较不同循环和反馈的时间尺度，并预测系统受到扰动后的响应方向。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9947" y="5790724"/>
              <a:ext cx="73494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Compare the timescales of cycles and feedbacks and predict the direction of system responses to perturbations.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376238" y="6532245"/>
            <a:ext cx="23935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Lecture 16 Master Prompt §24.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90181"/>
            <a:chOff x="0" y="0"/>
            <a:chExt cx="12192000" cy="69018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8046" y="191452"/>
              <a:ext cx="41677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目录 | Table of Contents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908792" y="299085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LECTURE 16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52500"/>
            <a:ext cx="4858842" cy="357093"/>
            <a:chOff x="381000" y="952500"/>
            <a:chExt cx="4858842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525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1001554"/>
              <a:ext cx="46953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先分别读懂水与碳，再把它们放回同一个气候系统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1000" y="1676400"/>
            <a:ext cx="3676650" cy="3943350"/>
            <a:chOff x="381000" y="1676400"/>
            <a:chExt cx="3676650" cy="3943350"/>
          </a:xfrm>
        </p:grpSpPr>
        <p:sp>
          <p:nvSpPr>
            <p:cNvPr id="9" name="Rectangle 9"/>
            <p:cNvSpPr/>
            <p:nvPr/>
          </p:nvSpPr>
          <p:spPr>
            <a:xfrm>
              <a:off x="381000" y="1676400"/>
              <a:ext cx="3676650" cy="3943350"/>
            </a:xfrm>
            <a:prstGeom prst="roundRect">
              <a:avLst>
                <a:gd name="adj" fmla="val 3109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81000" y="1676400"/>
              <a:ext cx="367665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28650" y="20193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8572" y="2221230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994" y="289464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水循环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7042" y="3283268"/>
              <a:ext cx="1123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7BD9"/>
                  </a:solidFill>
                  <a:latin typeface="+mn-lt"/>
                  <a:ea typeface="+mn-ea"/>
                  <a:cs typeface="+mn-cs"/>
                </a:rPr>
                <a:t>Water Cycle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23900" y="3714750"/>
              <a:ext cx="2990850" cy="9525"/>
            </a:xfrm>
            <a:custGeom>
              <a:avLst/>
              <a:gdLst/>
              <a:ahLst/>
              <a:cxnLst/>
              <a:rect l="l" t="t" r="r" b="b"/>
              <a:pathLst>
                <a:path w="2990850" h="9525">
                  <a:moveTo>
                    <a:pt x="0" y="0"/>
                  </a:moveTo>
                  <a:lnTo>
                    <a:pt x="2990850" y="0"/>
                  </a:lnTo>
                </a:path>
              </a:pathLst>
            </a:custGeom>
            <a:noFill/>
            <a:ln w="9525">
              <a:solidFill>
                <a:srgbClr val="B8C7D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8185" y="3974306"/>
              <a:ext cx="1640078" cy="1105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Reservoirs 储库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Fluxes 通量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Residence time 停留时间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Surface ↔ Deep Earth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57675" y="1676400"/>
            <a:ext cx="3676650" cy="3943350"/>
            <a:chOff x="4257675" y="1676400"/>
            <a:chExt cx="3676650" cy="3943350"/>
          </a:xfrm>
        </p:grpSpPr>
        <p:sp>
          <p:nvSpPr>
            <p:cNvPr id="18" name="Rectangle 18"/>
            <p:cNvSpPr/>
            <p:nvPr/>
          </p:nvSpPr>
          <p:spPr>
            <a:xfrm>
              <a:off x="4257675" y="1676400"/>
              <a:ext cx="3676650" cy="3943350"/>
            </a:xfrm>
            <a:prstGeom prst="roundRect">
              <a:avLst>
                <a:gd name="adj" fmla="val 3109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57675" y="1676400"/>
              <a:ext cx="3676650" cy="95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505325" y="20193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55247" y="2221230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90669" y="289464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碳循环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93717" y="3283268"/>
              <a:ext cx="1189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600575" y="3714750"/>
              <a:ext cx="2990850" cy="9525"/>
            </a:xfrm>
            <a:custGeom>
              <a:avLst/>
              <a:gdLst/>
              <a:ahLst/>
              <a:cxnLst/>
              <a:rect l="l" t="t" r="r" b="b"/>
              <a:pathLst>
                <a:path w="2990850" h="9525">
                  <a:moveTo>
                    <a:pt x="0" y="0"/>
                  </a:moveTo>
                  <a:lnTo>
                    <a:pt x="2990850" y="0"/>
                  </a:lnTo>
                </a:path>
              </a:pathLst>
            </a:custGeom>
            <a:noFill/>
            <a:ln w="9525">
              <a:solidFill>
                <a:srgbClr val="E7B9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94860" y="3974306"/>
              <a:ext cx="1504950" cy="1105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Fast pathways 快循环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Slow pathways 慢循环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Ocean pumps 海洋碳泵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Life ↔ Rocks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34350" y="1676400"/>
            <a:ext cx="3676650" cy="3943350"/>
            <a:chOff x="8134350" y="1676400"/>
            <a:chExt cx="3676650" cy="3943350"/>
          </a:xfrm>
        </p:grpSpPr>
        <p:sp>
          <p:nvSpPr>
            <p:cNvPr id="27" name="Rectangle 27"/>
            <p:cNvSpPr/>
            <p:nvPr/>
          </p:nvSpPr>
          <p:spPr>
            <a:xfrm>
              <a:off x="8134350" y="1676400"/>
              <a:ext cx="3676650" cy="3943350"/>
            </a:xfrm>
            <a:prstGeom prst="roundRect">
              <a:avLst>
                <a:gd name="adj" fmla="val 310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134350" y="1676400"/>
              <a:ext cx="1838325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972675" y="1676400"/>
              <a:ext cx="1838325" cy="95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382000" y="20193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31922" y="2221230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67344" y="289464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耦合与反馈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70392" y="3283268"/>
              <a:ext cx="26753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Coupling &amp; Climate Feedbacks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477250" y="3714750"/>
              <a:ext cx="2990850" cy="9525"/>
            </a:xfrm>
            <a:custGeom>
              <a:avLst/>
              <a:gdLst/>
              <a:ahLst/>
              <a:cxnLst/>
              <a:rect l="l" t="t" r="r" b="b"/>
              <a:pathLst>
                <a:path w="2990850" h="9525">
                  <a:moveTo>
                    <a:pt x="0" y="0"/>
                  </a:moveTo>
                  <a:lnTo>
                    <a:pt x="29908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71535" y="3974306"/>
              <a:ext cx="1576070" cy="1105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Water–Carbon coupling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Positive / Negative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Feedback sign 反馈方向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Timescale 响应时间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75285" y="5993606"/>
            <a:ext cx="6769596" cy="220028"/>
            <a:chOff x="375285" y="5993606"/>
            <a:chExt cx="6769596" cy="220028"/>
          </a:xfrm>
        </p:grpSpPr>
        <p:sp>
          <p:nvSpPr>
            <p:cNvPr id="37" name="TextBox 37"/>
            <p:cNvSpPr txBox="1"/>
            <p:nvPr/>
          </p:nvSpPr>
          <p:spPr>
            <a:xfrm>
              <a:off x="375285" y="5993606"/>
              <a:ext cx="1716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阅读顺序 / Reading path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08835" y="5993606"/>
              <a:ext cx="504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WATER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28035" y="59936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47135" y="5993606"/>
              <a:ext cx="596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CARBON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47285" y="59936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85435" y="5993606"/>
              <a:ext cx="1759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COUPLING &amp; FEEDBACKS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376238" y="6532245"/>
            <a:ext cx="23935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Lecture 16 Master Prompt §25.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574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1.6 全球水循环 | Global Hydrologic Cycle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80776" y="299085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WATER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709641" cy="357093"/>
            <a:chOff x="381000" y="914400"/>
            <a:chExt cx="570964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先找储库，再沿箭头读通量：全球水循环不是一条单向路径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66850"/>
            <a:ext cx="8058150" cy="4762500"/>
            <a:chOff x="381000" y="1466850"/>
            <a:chExt cx="8058150" cy="4762500"/>
          </a:xfrm>
        </p:grpSpPr>
        <p:sp>
          <p:nvSpPr>
            <p:cNvPr id="9" name="Rectangle 9"/>
            <p:cNvSpPr/>
            <p:nvPr/>
          </p:nvSpPr>
          <p:spPr>
            <a:xfrm>
              <a:off x="381000" y="1466850"/>
              <a:ext cx="8058150" cy="4762500"/>
            </a:xfrm>
            <a:prstGeom prst="roundRect">
              <a:avLst>
                <a:gd name="adj" fmla="val 24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2828" r="0" b="2829"/>
            <a:stretch>
              <a:fillRect/>
            </a:stretch>
          </p:blipFill>
          <p:spPr>
            <a:xfrm>
              <a:off x="476250" y="1562100"/>
              <a:ext cx="7867650" cy="44196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552450" y="5772150"/>
              <a:ext cx="3009900" cy="304800"/>
            </a:xfrm>
            <a:prstGeom prst="roundRect">
              <a:avLst>
                <a:gd name="adj" fmla="val 375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9897" y="5866924"/>
              <a:ext cx="1048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Reservoirs 储库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38147" y="58669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04847" y="5866924"/>
              <a:ext cx="7446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Fluxes 通量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705850" y="1466850"/>
            <a:ext cx="3105150" cy="1352550"/>
            <a:chOff x="8705850" y="1466850"/>
            <a:chExt cx="3105150" cy="1352550"/>
          </a:xfrm>
        </p:grpSpPr>
        <p:sp>
          <p:nvSpPr>
            <p:cNvPr id="16" name="Rectangle 16"/>
            <p:cNvSpPr/>
            <p:nvPr/>
          </p:nvSpPr>
          <p:spPr>
            <a:xfrm>
              <a:off x="8705850" y="1466850"/>
              <a:ext cx="3105150" cy="1352550"/>
            </a:xfrm>
            <a:prstGeom prst="roundRect">
              <a:avLst>
                <a:gd name="adj" fmla="val 8451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877300" y="16383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34108" y="17754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23654" y="1680210"/>
              <a:ext cx="15486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找储库 | Reservoirs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47785" y="2126456"/>
              <a:ext cx="186055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海洋、大气、冰雪、陆地生命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与地下水共同构成储存空间。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705850" y="2933700"/>
            <a:ext cx="3105150" cy="1352550"/>
            <a:chOff x="8705850" y="2933700"/>
            <a:chExt cx="3105150" cy="1352550"/>
          </a:xfrm>
        </p:grpSpPr>
        <p:sp>
          <p:nvSpPr>
            <p:cNvPr id="22" name="Rectangle 22"/>
            <p:cNvSpPr/>
            <p:nvPr/>
          </p:nvSpPr>
          <p:spPr>
            <a:xfrm>
              <a:off x="8705850" y="2933700"/>
              <a:ext cx="3105150" cy="1352550"/>
            </a:xfrm>
            <a:prstGeom prst="roundRect">
              <a:avLst>
                <a:gd name="adj" fmla="val 845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877300" y="3105150"/>
              <a:ext cx="419100" cy="419100"/>
            </a:xfrm>
            <a:prstGeom prst="ellipse">
              <a:avLst/>
            </a:prstGeom>
            <a:solidFill>
              <a:srgbClr val="3D7BD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34108" y="32423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23654" y="3147060"/>
              <a:ext cx="11777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读箭头 | Fluxes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47785" y="3593306"/>
              <a:ext cx="171831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蒸发、输送、降水、径流、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入渗与地下水流彼此连接。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705850" y="4400550"/>
            <a:ext cx="3105150" cy="1828800"/>
            <a:chOff x="8705850" y="4400550"/>
            <a:chExt cx="3105150" cy="1828800"/>
          </a:xfrm>
        </p:grpSpPr>
        <p:sp>
          <p:nvSpPr>
            <p:cNvPr id="28" name="Rectangle 28"/>
            <p:cNvSpPr/>
            <p:nvPr/>
          </p:nvSpPr>
          <p:spPr>
            <a:xfrm>
              <a:off x="8705850" y="4400550"/>
              <a:ext cx="3105150" cy="1828800"/>
            </a:xfrm>
            <a:prstGeom prst="roundRect">
              <a:avLst>
                <a:gd name="adj" fmla="val 6250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877300" y="4572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34108" y="47091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23654" y="4613910"/>
              <a:ext cx="11777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追驱动 | Driver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47785" y="5060156"/>
              <a:ext cx="186055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太阳能驱动蒸发与大气输送；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重力推动降水、径流与下渗。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953500" y="5753100"/>
              <a:ext cx="2552700" cy="266700"/>
            </a:xfrm>
            <a:prstGeom prst="roundRect">
              <a:avLst>
                <a:gd name="adj" fmla="val 4285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51024" y="5828824"/>
              <a:ext cx="21576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Ocean covers about 71% of Earth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76238" y="6532245"/>
            <a:ext cx="48199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EP 5e, Interlude F, The Hydrologic Cycle, pp.580–581 (PDF pp.615–616).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2538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2.3 全球碳循环 | Global Carbon Cycle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709641" cy="357093"/>
            <a:chOff x="381000" y="914400"/>
            <a:chExt cx="570964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先分清储库与通量，再比较交换速度；不需要背诵全部数字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466850"/>
            <a:ext cx="6496050" cy="4762500"/>
            <a:chOff x="381000" y="1466850"/>
            <a:chExt cx="6496050" cy="4762500"/>
          </a:xfrm>
        </p:grpSpPr>
        <p:sp>
          <p:nvSpPr>
            <p:cNvPr id="9" name="Rectangle 9"/>
            <p:cNvSpPr/>
            <p:nvPr/>
          </p:nvSpPr>
          <p:spPr>
            <a:xfrm>
              <a:off x="381000" y="1466850"/>
              <a:ext cx="6496050" cy="4762500"/>
            </a:xfrm>
            <a:prstGeom prst="roundRect">
              <a:avLst>
                <a:gd name="adj" fmla="val 24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1046" y="1562100"/>
              <a:ext cx="5495958" cy="45720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7105650" y="1466850"/>
            <a:ext cx="4705350" cy="895350"/>
            <a:chOff x="7105650" y="1466850"/>
            <a:chExt cx="4705350" cy="895350"/>
          </a:xfrm>
        </p:grpSpPr>
        <p:sp>
          <p:nvSpPr>
            <p:cNvPr id="12" name="Rectangle 12"/>
            <p:cNvSpPr/>
            <p:nvPr/>
          </p:nvSpPr>
          <p:spPr>
            <a:xfrm>
              <a:off x="7105650" y="1466850"/>
              <a:ext cx="4705350" cy="895350"/>
            </a:xfrm>
            <a:prstGeom prst="roundRect">
              <a:avLst>
                <a:gd name="adj" fmla="val 12766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77100" y="16383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91349" y="1773079"/>
              <a:ext cx="2287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18704" y="1661160"/>
              <a:ext cx="1293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储库 | Reservoir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19085" y="1935956"/>
              <a:ext cx="26634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单位：Gt C，表示某处储存了多少碳。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05650" y="2476500"/>
            <a:ext cx="4705350" cy="1200150"/>
            <a:chOff x="7105650" y="2476500"/>
            <a:chExt cx="4705350" cy="1200150"/>
          </a:xfrm>
        </p:grpSpPr>
        <p:sp>
          <p:nvSpPr>
            <p:cNvPr id="18" name="Rectangle 18"/>
            <p:cNvSpPr/>
            <p:nvPr/>
          </p:nvSpPr>
          <p:spPr>
            <a:xfrm>
              <a:off x="7105650" y="2476500"/>
              <a:ext cx="4705350" cy="1200150"/>
            </a:xfrm>
            <a:prstGeom prst="roundRect">
              <a:avLst>
                <a:gd name="adj" fmla="val 9524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77100" y="264795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36282" y="278272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8704" y="2670810"/>
              <a:ext cx="830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通量 | Flux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19085" y="2945606"/>
              <a:ext cx="2725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单位：Gt C/yr，表示每年转移的速率。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19847" y="3247549"/>
              <a:ext cx="22305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120 与 80 是总交换，不等于净碳汇。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105650" y="3790950"/>
            <a:ext cx="4705350" cy="1562100"/>
            <a:chOff x="7105650" y="3790950"/>
            <a:chExt cx="4705350" cy="1562100"/>
          </a:xfrm>
        </p:grpSpPr>
        <p:sp>
          <p:nvSpPr>
            <p:cNvPr id="25" name="Rectangle 25"/>
            <p:cNvSpPr/>
            <p:nvPr/>
          </p:nvSpPr>
          <p:spPr>
            <a:xfrm>
              <a:off x="7105650" y="3790950"/>
              <a:ext cx="4705350" cy="1562100"/>
            </a:xfrm>
            <a:prstGeom prst="roundRect">
              <a:avLst>
                <a:gd name="adj" fmla="val 731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277100" y="40005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7505700" y="4086225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14287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505700" y="42291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762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18704" y="3966210"/>
              <a:ext cx="20751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比较时钟 | Compare clocks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47585" y="4431506"/>
              <a:ext cx="2870454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生物与海气交换：高通量、快速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硅酸盐风化与火山返回：&lt;0.1 Gt C/yr、缓慢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105650" y="5505450"/>
            <a:ext cx="4705350" cy="723900"/>
            <a:chOff x="7105650" y="5505450"/>
            <a:chExt cx="4705350" cy="723900"/>
          </a:xfrm>
        </p:grpSpPr>
        <p:sp>
          <p:nvSpPr>
            <p:cNvPr id="32" name="Rectangle 32"/>
            <p:cNvSpPr/>
            <p:nvPr/>
          </p:nvSpPr>
          <p:spPr>
            <a:xfrm>
              <a:off x="7105650" y="5505450"/>
              <a:ext cx="4705350" cy="723900"/>
            </a:xfrm>
            <a:prstGeom prst="roundRect">
              <a:avLst>
                <a:gd name="adj" fmla="val 15789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47204" y="5661660"/>
              <a:ext cx="1346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Reservoir ≠ Flux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47585" y="593645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大储库、快交换与净变化是三个不同问题。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76238" y="6532245"/>
            <a:ext cx="43525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Fig. 12.19, PDF p.1209. Amounts: Gt C; fluxes: Gt C/yr.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4735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2.7 海洋如何把碳送入深处？ | Ocean Carbon Pumps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4858842" cy="357093"/>
            <a:chOff x="381000" y="914400"/>
            <a:chExt cx="4858842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46953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物理泵与生物泵用不同机制，把表层碳输送到深海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81000" y="1428750"/>
            <a:ext cx="11430000" cy="4800600"/>
            <a:chOff x="381000" y="1428750"/>
            <a:chExt cx="11430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1600200"/>
              <a:ext cx="11087100" cy="666750"/>
            </a:xfrm>
            <a:prstGeom prst="roundRect">
              <a:avLst>
                <a:gd name="adj" fmla="val 14286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6097" y="1742599"/>
              <a:ext cx="1320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ATMOSPHERE · 大气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92587" y="1874996"/>
              <a:ext cx="406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0" y="2095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010275" y="2400300"/>
              <a:ext cx="171450" cy="123825"/>
            </a:xfrm>
            <a:custGeom>
              <a:avLst/>
              <a:gdLst/>
              <a:ahLst/>
              <a:cxnLst/>
              <a:rect l="l" t="t" r="r" b="b"/>
              <a:pathLst>
                <a:path w="171450" h="123825">
                  <a:moveTo>
                    <a:pt x="0" y="0"/>
                  </a:moveTo>
                  <a:lnTo>
                    <a:pt x="85725" y="123825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52450" y="2381250"/>
              <a:ext cx="11087100" cy="1295400"/>
            </a:xfrm>
            <a:prstGeom prst="rect">
              <a:avLst/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52450" y="2286000"/>
              <a:ext cx="11087100" cy="190500"/>
            </a:xfrm>
            <a:custGeom>
              <a:avLst/>
              <a:gdLst/>
              <a:ahLst/>
              <a:cxnLst/>
              <a:rect l="l" t="t" r="r" b="b"/>
              <a:pathLst>
                <a:path w="11087100" h="190500">
                  <a:moveTo>
                    <a:pt x="0" y="95250"/>
                  </a:moveTo>
                  <a:cubicBezTo>
                    <a:pt x="447675" y="0"/>
                    <a:pt x="895350" y="190500"/>
                    <a:pt x="1343025" y="95250"/>
                  </a:cubicBezTo>
                  <a:cubicBezTo>
                    <a:pt x="1790700" y="0"/>
                    <a:pt x="2238375" y="190500"/>
                    <a:pt x="2686050" y="95250"/>
                  </a:cubicBezTo>
                  <a:cubicBezTo>
                    <a:pt x="3133725" y="0"/>
                    <a:pt x="3581400" y="190500"/>
                    <a:pt x="4029075" y="95250"/>
                  </a:cubicBezTo>
                  <a:cubicBezTo>
                    <a:pt x="4476750" y="0"/>
                    <a:pt x="4924425" y="190500"/>
                    <a:pt x="5372100" y="95250"/>
                  </a:cubicBezTo>
                  <a:cubicBezTo>
                    <a:pt x="5819775" y="0"/>
                    <a:pt x="6267450" y="190500"/>
                    <a:pt x="6715125" y="95250"/>
                  </a:cubicBezTo>
                  <a:cubicBezTo>
                    <a:pt x="7162800" y="0"/>
                    <a:pt x="7610475" y="190500"/>
                    <a:pt x="8058150" y="95250"/>
                  </a:cubicBezTo>
                  <a:cubicBezTo>
                    <a:pt x="8505825" y="0"/>
                    <a:pt x="8953500" y="190500"/>
                    <a:pt x="9401175" y="95250"/>
                  </a:cubicBezTo>
                  <a:cubicBezTo>
                    <a:pt x="9848850" y="0"/>
                    <a:pt x="10296525" y="190500"/>
                    <a:pt x="10744200" y="95250"/>
                  </a:cubicBezTo>
                  <a:cubicBezTo>
                    <a:pt x="10877550" y="66675"/>
                    <a:pt x="10982325" y="66675"/>
                    <a:pt x="11087100" y="95250"/>
                  </a:cubicBezTo>
                </a:path>
              </a:pathLst>
            </a:custGeom>
            <a:noFill/>
            <a:ln w="38100">
              <a:solidFill>
                <a:srgbClr val="3D7B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6097" y="2580799"/>
              <a:ext cx="17749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SURFACE OCEAN · 表层海洋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8328" y="2850356"/>
              <a:ext cx="2875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溶解无机碳 · Dissolved inorganic carbon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52450" y="3676650"/>
              <a:ext cx="11087100" cy="1847850"/>
            </a:xfrm>
            <a:prstGeom prst="rect">
              <a:avLst/>
            </a:prstGeom>
            <a:solidFill>
              <a:srgbClr val="DCEAF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6097" y="3876199"/>
              <a:ext cx="1254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DEEP OCEAN · 深海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3985" y="5152549"/>
              <a:ext cx="306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深层水无机碳浓度约比表层高 15%（教材支持事实）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52450" y="5524500"/>
              <a:ext cx="11087100" cy="533400"/>
            </a:xfrm>
            <a:prstGeom prst="rect">
              <a:avLst/>
            </a:prstGeom>
            <a:solidFill>
              <a:srgbClr val="E8DED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6097" y="5733574"/>
              <a:ext cx="1680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SEDIMENT · 沉积物 / 岩石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781050" y="2800350"/>
              <a:ext cx="2857500" cy="2295239"/>
              <a:chOff x="781050" y="2800350"/>
              <a:chExt cx="2857500" cy="2295239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81050" y="2800350"/>
                <a:ext cx="28575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 w="9525">
                <a:solidFill>
                  <a:srgbClr val="B8C7DC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895350" y="2962275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14058" y="30613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346454" y="2937510"/>
                <a:ext cx="17772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物理泵 | Physical pump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346835" y="3183731"/>
                <a:ext cx="13910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低温溶解 · 环流下沉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2209800" y="3467100"/>
                <a:ext cx="9525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9200">
                    <a:moveTo>
                      <a:pt x="0" y="0"/>
                    </a:moveTo>
                    <a:lnTo>
                      <a:pt x="0" y="121920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30" name="Polygon 30"/>
              <p:cNvSpPr/>
              <p:nvPr/>
            </p:nvSpPr>
            <p:spPr>
              <a:xfrm>
                <a:off x="2095500" y="4572000"/>
                <a:ext cx="2286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0">
                    <a:moveTo>
                      <a:pt x="0" y="0"/>
                    </a:moveTo>
                    <a:lnTo>
                      <a:pt x="114300" y="1905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209800" y="4686300"/>
                <a:ext cx="11620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1162050" h="361950">
                    <a:moveTo>
                      <a:pt x="0" y="76200"/>
                    </a:moveTo>
                    <a:cubicBezTo>
                      <a:pt x="361950" y="361950"/>
                      <a:pt x="838200" y="361950"/>
                      <a:pt x="1162050" y="0"/>
                    </a:cubicBezTo>
                  </a:path>
                </a:pathLst>
              </a:custGeom>
              <a:noFill/>
              <a:ln w="38100">
                <a:solidFill>
                  <a:srgbClr val="3D7BD9"/>
                </a:solidFill>
              </a:ln>
            </p:spPr>
          </p:sp>
          <p:sp>
            <p:nvSpPr>
              <p:cNvPr id="32" name="Polygon 32"/>
              <p:cNvSpPr/>
              <p:nvPr/>
            </p:nvSpPr>
            <p:spPr>
              <a:xfrm>
                <a:off x="3286125" y="4629150"/>
                <a:ext cx="1333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42875">
                    <a:moveTo>
                      <a:pt x="0" y="66675"/>
                    </a:moveTo>
                    <a:lnTo>
                      <a:pt x="133350" y="0"/>
                    </a:lnTo>
                    <a:lnTo>
                      <a:pt x="85725" y="142875"/>
                    </a:lnTo>
                    <a:close/>
                  </a:path>
                </a:pathLst>
              </a:custGeom>
              <a:solidFill>
                <a:srgbClr val="3D7BD9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66597" y="4904899"/>
                <a:ext cx="176454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冷却 → 溶解度上升 → 深水形成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4514850" y="2800350"/>
              <a:ext cx="2857500" cy="2295239"/>
              <a:chOff x="4514850" y="2800350"/>
              <a:chExt cx="2857500" cy="2295239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514850" y="2800350"/>
                <a:ext cx="28575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 w="9525">
                <a:solidFill>
                  <a:srgbClr val="F0CFC2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4629150" y="2962275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747858" y="30613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080254" y="2937510"/>
                <a:ext cx="18782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生物泵 | Biological pump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080635" y="3183731"/>
                <a:ext cx="21675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光合作用 · 颗粒下沉 · 深处分解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5553075" y="374332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5915025" y="3952875"/>
                <a:ext cx="95250" cy="952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6229350" y="3724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5962650" y="3581400"/>
                <a:ext cx="9525" cy="1181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81100">
                    <a:moveTo>
                      <a:pt x="0" y="0"/>
                    </a:moveTo>
                    <a:lnTo>
                      <a:pt x="0" y="1181100"/>
                    </a:lnTo>
                  </a:path>
                </a:pathLst>
              </a:custGeom>
              <a:noFill/>
              <a:ln w="47625">
                <a:solidFill>
                  <a:schemeClr val="accent3"/>
                </a:solidFill>
              </a:ln>
            </p:spPr>
          </p:sp>
          <p:sp>
            <p:nvSpPr>
              <p:cNvPr id="44" name="Polygon 44"/>
              <p:cNvSpPr/>
              <p:nvPr/>
            </p:nvSpPr>
            <p:spPr>
              <a:xfrm>
                <a:off x="5857875" y="4648200"/>
                <a:ext cx="209550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80975">
                    <a:moveTo>
                      <a:pt x="0" y="0"/>
                    </a:moveTo>
                    <a:lnTo>
                      <a:pt x="104775" y="180975"/>
                    </a:lnTo>
                    <a:lnTo>
                      <a:pt x="2095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700397" y="4904899"/>
                <a:ext cx="214265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CO₂ → 有机碳 → 颗粒下沉 → 再矿化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248650" y="2800350"/>
              <a:ext cx="3162300" cy="3105150"/>
              <a:chOff x="8248650" y="2800350"/>
              <a:chExt cx="3162300" cy="31051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8248650" y="2800350"/>
                <a:ext cx="31623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 w="9525">
                <a:solidFill>
                  <a:srgbClr val="F0CFC2"/>
                </a:solidFill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8362950" y="2962275"/>
                <a:ext cx="342900" cy="342900"/>
              </a:xfrm>
              <a:prstGeom prst="ellipse">
                <a:avLst/>
              </a:pr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481658" y="30613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814054" y="2937510"/>
                <a:ext cx="18235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碳酸盐路径 | Carbonate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814435" y="3183731"/>
                <a:ext cx="126285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成壳 · 沉降 · 沉积</a:t>
                </a:r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9544050" y="3629025"/>
                <a:ext cx="34290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14325">
                    <a:moveTo>
                      <a:pt x="0" y="104775"/>
                    </a:moveTo>
                    <a:lnTo>
                      <a:pt x="171450" y="0"/>
                    </a:lnTo>
                    <a:lnTo>
                      <a:pt x="342900" y="104775"/>
                    </a:lnTo>
                    <a:lnTo>
                      <a:pt x="276225" y="314325"/>
                    </a:lnTo>
                    <a:lnTo>
                      <a:pt x="66675" y="314325"/>
                    </a:lnTo>
                    <a:close/>
                  </a:path>
                </a:pathLst>
              </a:custGeom>
              <a:solidFill>
                <a:srgbClr val="FDECDD"/>
              </a:solidFill>
              <a:ln w="19050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0001250" y="3924300"/>
                <a:ext cx="2667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57175">
                    <a:moveTo>
                      <a:pt x="0" y="85725"/>
                    </a:moveTo>
                    <a:lnTo>
                      <a:pt x="133350" y="0"/>
                    </a:lnTo>
                    <a:lnTo>
                      <a:pt x="266700" y="85725"/>
                    </a:lnTo>
                    <a:lnTo>
                      <a:pt x="209550" y="257175"/>
                    </a:lnTo>
                    <a:lnTo>
                      <a:pt x="57150" y="257175"/>
                    </a:lnTo>
                    <a:close/>
                  </a:path>
                </a:pathLst>
              </a:custGeom>
              <a:solidFill>
                <a:srgbClr val="FDECDD"/>
              </a:solidFill>
              <a:ln w="19050">
                <a:solidFill>
                  <a:srgbClr val="C2410C"/>
                </a:solidFill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9848850" y="3562350"/>
                <a:ext cx="9525" cy="1866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66900">
                    <a:moveTo>
                      <a:pt x="0" y="0"/>
                    </a:moveTo>
                    <a:lnTo>
                      <a:pt x="0" y="1866900"/>
                    </a:lnTo>
                  </a:path>
                </a:pathLst>
              </a:custGeom>
              <a:noFill/>
              <a:ln w="47625">
                <a:solidFill>
                  <a:srgbClr val="C2410C"/>
                </a:solidFill>
              </a:ln>
            </p:spPr>
          </p:sp>
          <p:sp>
            <p:nvSpPr>
              <p:cNvPr id="55" name="Polygon 55"/>
              <p:cNvSpPr/>
              <p:nvPr/>
            </p:nvSpPr>
            <p:spPr>
              <a:xfrm>
                <a:off x="9744075" y="5314950"/>
                <a:ext cx="209550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80975">
                    <a:moveTo>
                      <a:pt x="0" y="0"/>
                    </a:moveTo>
                    <a:lnTo>
                      <a:pt x="104775" y="180975"/>
                    </a:lnTo>
                    <a:lnTo>
                      <a:pt x="209550" y="0"/>
                    </a:lnTo>
                    <a:close/>
                  </a:path>
                </a:pathLst>
              </a:cu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9048750" y="5619750"/>
                <a:ext cx="160020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DF4EF"/>
              </a:solidFill>
              <a:ln w="9525">
                <a:solidFill>
                  <a:srgbClr val="F0CFC2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202575" y="5714524"/>
                <a:ext cx="12925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7A4A33"/>
                    </a:solidFill>
                    <a:latin typeface="+mn-lt"/>
                    <a:ea typeface="+mn-ea"/>
                    <a:cs typeface="+mn-cs"/>
                  </a:rPr>
                  <a:t>CaCO₃ burial · 埋藏</a:t>
                </a:r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376238" y="6532245"/>
            <a:ext cx="45049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Source/redraw basis: CN Ch.4, Fig. 4-9 (C-04). Native qualitative redraw.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367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3.1 什么是反馈？ | What Is Feedback?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959998" y="299085"/>
              <a:ext cx="857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FEEDBACKS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344861" cy="357093"/>
            <a:chOff x="381000" y="914400"/>
            <a:chExt cx="534486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1814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positive / negative 描述作用方向，不是“好”或“坏”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219450" y="1447800"/>
            <a:ext cx="5753100" cy="1181100"/>
            <a:chOff x="3219450" y="1447800"/>
            <a:chExt cx="5753100" cy="1181100"/>
          </a:xfrm>
        </p:grpSpPr>
        <p:sp>
          <p:nvSpPr>
            <p:cNvPr id="9" name="Rectangle 9"/>
            <p:cNvSpPr/>
            <p:nvPr/>
          </p:nvSpPr>
          <p:spPr>
            <a:xfrm>
              <a:off x="4552950" y="1447800"/>
              <a:ext cx="3086100" cy="723900"/>
            </a:xfrm>
            <a:prstGeom prst="roundRect">
              <a:avLst>
                <a:gd name="adj" fmla="val 15789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39337" y="1613535"/>
              <a:ext cx="1913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初始变化 | Initial change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84090" y="18788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先明确变化的方向，再判断回路效果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3219450" y="2171700"/>
              <a:ext cx="5753100" cy="457200"/>
              <a:chOff x="3219450" y="2171700"/>
              <a:chExt cx="5753100" cy="457200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3314700" y="2171700"/>
                <a:ext cx="19050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400050">
                    <a:moveTo>
                      <a:pt x="1905000" y="0"/>
                    </a:moveTo>
                    <a:lnTo>
                      <a:pt x="0" y="40005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13" name="Polygon 13"/>
              <p:cNvSpPr/>
              <p:nvPr/>
            </p:nvSpPr>
            <p:spPr>
              <a:xfrm>
                <a:off x="3219450" y="2476500"/>
                <a:ext cx="18097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52400">
                    <a:moveTo>
                      <a:pt x="142875" y="0"/>
                    </a:moveTo>
                    <a:lnTo>
                      <a:pt x="0" y="114300"/>
                    </a:lnTo>
                    <a:lnTo>
                      <a:pt x="180975" y="15240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972300" y="2171700"/>
                <a:ext cx="19050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400050">
                    <a:moveTo>
                      <a:pt x="0" y="0"/>
                    </a:moveTo>
                    <a:lnTo>
                      <a:pt x="1905000" y="40005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5" name="Polygon 15"/>
              <p:cNvSpPr/>
              <p:nvPr/>
            </p:nvSpPr>
            <p:spPr>
              <a:xfrm>
                <a:off x="8791575" y="2476500"/>
                <a:ext cx="18097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52400">
                    <a:moveTo>
                      <a:pt x="0" y="0"/>
                    </a:moveTo>
                    <a:lnTo>
                      <a:pt x="180975" y="114300"/>
                    </a:lnTo>
                    <a:lnTo>
                      <a:pt x="38100" y="1524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35" name="Group 35"/>
          <p:cNvGrpSpPr/>
          <p:nvPr/>
        </p:nvGrpSpPr>
        <p:grpSpPr>
          <a:xfrm>
            <a:off x="381000" y="2400300"/>
            <a:ext cx="5410200" cy="3352800"/>
            <a:chOff x="381000" y="2400300"/>
            <a:chExt cx="5410200" cy="3352800"/>
          </a:xfrm>
        </p:grpSpPr>
        <p:sp>
          <p:nvSpPr>
            <p:cNvPr id="18" name="Rectangle 18"/>
            <p:cNvSpPr/>
            <p:nvPr/>
          </p:nvSpPr>
          <p:spPr>
            <a:xfrm>
              <a:off x="381000" y="2400300"/>
              <a:ext cx="5410200" cy="3352800"/>
            </a:xfrm>
            <a:prstGeom prst="roundRect">
              <a:avLst>
                <a:gd name="adj" fmla="val 3409"/>
              </a:avLst>
            </a:prstGeom>
            <a:solidFill>
              <a:srgbClr val="FDF4EF"/>
            </a:solidFill>
            <a:ln w="19050">
              <a:solidFill>
                <a:srgbClr val="F0CFC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90550" y="26098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6852" y="2697480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73861" y="2627471"/>
              <a:ext cx="25035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正反馈 | Positive feedback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5385" y="29265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诱发变化与初始变化同向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9150" y="3467100"/>
              <a:ext cx="1809750" cy="723900"/>
            </a:xfrm>
            <a:prstGeom prst="roundRect">
              <a:avLst>
                <a:gd name="adj" fmla="val 15789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94841" y="3632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诱发变化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42065" y="3904774"/>
              <a:ext cx="963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Induced change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543300" y="3467100"/>
              <a:ext cx="1809750" cy="723900"/>
            </a:xfrm>
            <a:prstGeom prst="roundRect">
              <a:avLst>
                <a:gd name="adj" fmla="val 1578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21459" y="363283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放大 / 加强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28691" y="3904774"/>
              <a:ext cx="1438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Amplifies / reinforces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2628900" y="382905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3333750" y="3724275"/>
              <a:ext cx="180975" cy="209550"/>
            </a:xfrm>
            <a:custGeom>
              <a:avLst/>
              <a:gdLst/>
              <a:ahLst/>
              <a:cxnLst/>
              <a:rect l="l" t="t" r="r" b="b"/>
              <a:pathLst>
                <a:path w="180975" h="209550">
                  <a:moveTo>
                    <a:pt x="0" y="0"/>
                  </a:moveTo>
                  <a:lnTo>
                    <a:pt x="180975" y="104775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724025" y="4191000"/>
              <a:ext cx="2724150" cy="781050"/>
            </a:xfrm>
            <a:custGeom>
              <a:avLst/>
              <a:gdLst/>
              <a:ahLst/>
              <a:cxnLst/>
              <a:rect l="l" t="t" r="r" b="b"/>
              <a:pathLst>
                <a:path w="2724150" h="781050">
                  <a:moveTo>
                    <a:pt x="2724150" y="0"/>
                  </a:moveTo>
                  <a:cubicBezTo>
                    <a:pt x="2724150" y="781050"/>
                    <a:pt x="0" y="781050"/>
                    <a:pt x="0" y="95250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1619250" y="4219575"/>
              <a:ext cx="209550" cy="180975"/>
            </a:xfrm>
            <a:custGeom>
              <a:avLst/>
              <a:gdLst/>
              <a:ahLst/>
              <a:cxnLst/>
              <a:rect l="l" t="t" r="r" b="b"/>
              <a:pathLst>
                <a:path w="209550" h="180975">
                  <a:moveTo>
                    <a:pt x="0" y="180975"/>
                  </a:moveTo>
                  <a:lnTo>
                    <a:pt x="104775" y="0"/>
                  </a:lnTo>
                  <a:lnTo>
                    <a:pt x="209550" y="18097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200150" y="4991100"/>
              <a:ext cx="3771900" cy="476250"/>
            </a:xfrm>
            <a:prstGeom prst="roundRect">
              <a:avLst>
                <a:gd name="adj" fmla="val 20000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29968" y="51663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最终作用：沿原方向继续推进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400800" y="2400300"/>
            <a:ext cx="5410200" cy="3352800"/>
            <a:chOff x="6400800" y="2400300"/>
            <a:chExt cx="5410200" cy="3352800"/>
          </a:xfrm>
        </p:grpSpPr>
        <p:sp>
          <p:nvSpPr>
            <p:cNvPr id="36" name="Rectangle 36"/>
            <p:cNvSpPr/>
            <p:nvPr/>
          </p:nvSpPr>
          <p:spPr>
            <a:xfrm>
              <a:off x="6400800" y="2400300"/>
              <a:ext cx="5410200" cy="3352800"/>
            </a:xfrm>
            <a:prstGeom prst="roundRect">
              <a:avLst>
                <a:gd name="adj" fmla="val 3409"/>
              </a:avLst>
            </a:prstGeom>
            <a:solidFill>
              <a:srgbClr val="F0F5FC"/>
            </a:solidFill>
            <a:ln w="19050">
              <a:solidFill>
                <a:srgbClr val="B8C7DC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610350" y="26098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46652" y="2678430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93661" y="2627471"/>
              <a:ext cx="2553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负反馈 | Negative feedback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95185" y="2926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诱发作用反对初始变化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38950" y="3467100"/>
              <a:ext cx="1809750" cy="723900"/>
            </a:xfrm>
            <a:prstGeom prst="roundRect">
              <a:avLst>
                <a:gd name="adj" fmla="val 15789"/>
              </a:avLst>
            </a:prstGeom>
            <a:solidFill>
              <a:schemeClr val="lt1"/>
            </a:solidFill>
            <a:ln w="9525">
              <a:solidFill>
                <a:srgbClr val="B8C7D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14641" y="3632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诱发变化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61865" y="3904774"/>
              <a:ext cx="963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Induced change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63100" y="3467100"/>
              <a:ext cx="1809750" cy="723900"/>
            </a:xfrm>
            <a:prstGeom prst="roundRect">
              <a:avLst>
                <a:gd name="adj" fmla="val 157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41259" y="363283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抑制 / 稳定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04497" y="3904774"/>
              <a:ext cx="13269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Opposes / stabilizes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648700" y="382905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9353550" y="3724275"/>
              <a:ext cx="180975" cy="209550"/>
            </a:xfrm>
            <a:custGeom>
              <a:avLst/>
              <a:gdLst/>
              <a:ahLst/>
              <a:cxnLst/>
              <a:rect l="l" t="t" r="r" b="b"/>
              <a:pathLst>
                <a:path w="180975" h="209550">
                  <a:moveTo>
                    <a:pt x="0" y="0"/>
                  </a:moveTo>
                  <a:lnTo>
                    <a:pt x="180975" y="104775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743825" y="4191000"/>
              <a:ext cx="2724150" cy="781050"/>
            </a:xfrm>
            <a:custGeom>
              <a:avLst/>
              <a:gdLst/>
              <a:ahLst/>
              <a:cxnLst/>
              <a:rect l="l" t="t" r="r" b="b"/>
              <a:pathLst>
                <a:path w="2724150" h="781050">
                  <a:moveTo>
                    <a:pt x="2724150" y="0"/>
                  </a:moveTo>
                  <a:cubicBezTo>
                    <a:pt x="2724150" y="781050"/>
                    <a:pt x="0" y="781050"/>
                    <a:pt x="0" y="952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7639050" y="4219575"/>
              <a:ext cx="209550" cy="180975"/>
            </a:xfrm>
            <a:custGeom>
              <a:avLst/>
              <a:gdLst/>
              <a:ahLst/>
              <a:cxnLst/>
              <a:rect l="l" t="t" r="r" b="b"/>
              <a:pathLst>
                <a:path w="209550" h="180975">
                  <a:moveTo>
                    <a:pt x="0" y="180975"/>
                  </a:moveTo>
                  <a:lnTo>
                    <a:pt x="104775" y="0"/>
                  </a:lnTo>
                  <a:lnTo>
                    <a:pt x="209550" y="1809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219950" y="4991100"/>
              <a:ext cx="3771900" cy="476250"/>
            </a:xfrm>
            <a:prstGeom prst="roundRect">
              <a:avLst>
                <a:gd name="adj" fmla="val 20000"/>
              </a:avLst>
            </a:prstGeom>
            <a:solidFill>
              <a:srgbClr val="DCEAF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88224" y="51663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最终作用：把系统拉回原状态附近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65885" y="6069806"/>
            <a:ext cx="7450771" cy="220028"/>
            <a:chOff x="1365885" y="6069806"/>
            <a:chExt cx="7450771" cy="220028"/>
          </a:xfrm>
        </p:grpSpPr>
        <p:sp>
          <p:nvSpPr>
            <p:cNvPr id="54" name="TextBox 54"/>
            <p:cNvSpPr txBox="1"/>
            <p:nvPr/>
          </p:nvSpPr>
          <p:spPr>
            <a:xfrm>
              <a:off x="1365885" y="60698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判断步骤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261235" y="60698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找初始变化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328035" y="60698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651885" y="60698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跟踪诱发变化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04435" y="60698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328285" y="60698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比较最终作用方向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61835" y="60698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85685" y="6069806"/>
              <a:ext cx="1430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同向 = 正；反向 = 负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376238" y="6532245"/>
            <a:ext cx="44375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Source/redraw basis: UE 8e, Ch.12, PDF pp.1177–1178; EP Ch.23 (M-11).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419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3.4 岩石风化恒温器 | The Weathering Thermostat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799320" y="299085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SLOW NEGATIVE FEEDBACK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894658" cy="357093"/>
            <a:chOff x="381000" y="914400"/>
            <a:chExt cx="6894658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7312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更暖、更湿和更酸性 → 硅酸盐风化加速 → CO₂ 去除 → 抑制初始增温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705850" y="876300"/>
            <a:ext cx="3105150" cy="400050"/>
            <a:chOff x="8705850" y="876300"/>
            <a:chExt cx="3105150" cy="400050"/>
          </a:xfrm>
        </p:grpSpPr>
        <p:sp>
          <p:nvSpPr>
            <p:cNvPr id="9" name="Rectangle 9"/>
            <p:cNvSpPr/>
            <p:nvPr/>
          </p:nvSpPr>
          <p:spPr>
            <a:xfrm>
              <a:off x="8705850" y="876300"/>
              <a:ext cx="3105150" cy="400050"/>
            </a:xfrm>
            <a:prstGeom prst="roundRect">
              <a:avLst>
                <a:gd name="adj" fmla="val 28571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50626" y="1021556"/>
              <a:ext cx="20155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响应时间 &gt;10^5–10^7 years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81000" y="1466850"/>
            <a:ext cx="11430000" cy="4191000"/>
            <a:chOff x="381000" y="1466850"/>
            <a:chExt cx="114300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381000" y="1466850"/>
              <a:ext cx="11430000" cy="41910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42950" y="1847850"/>
              <a:ext cx="2381250" cy="1066800"/>
              <a:chOff x="742950" y="1847850"/>
              <a:chExt cx="2381250" cy="10668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42950" y="1847850"/>
                <a:ext cx="2381250" cy="1066800"/>
              </a:xfrm>
              <a:prstGeom prst="roundRect">
                <a:avLst>
                  <a:gd name="adj" fmla="val 10714"/>
                </a:avLst>
              </a:prstGeom>
              <a:solidFill>
                <a:srgbClr val="FDF4EF"/>
              </a:solidFill>
              <a:ln w="19050">
                <a:solidFill>
                  <a:srgbClr val="F0CFC2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857250" y="196215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75958" y="20612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327404" y="1965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初始扰动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28547" y="2228374"/>
                <a:ext cx="12669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7A4A33"/>
                    </a:solidFill>
                    <a:latin typeface="+mn-lt"/>
                    <a:ea typeface="+mn-ea"/>
                    <a:cs typeface="+mn-cs"/>
                  </a:rPr>
                  <a:t>Initial perturbation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27735" y="2526506"/>
                <a:ext cx="14850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大气 CO₂ ↑ / 温度 ↑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581400" y="1847850"/>
              <a:ext cx="2381250" cy="1066800"/>
              <a:chOff x="3581400" y="1847850"/>
              <a:chExt cx="2381250" cy="10668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581400" y="1847850"/>
                <a:ext cx="2381250" cy="1066800"/>
              </a:xfrm>
              <a:prstGeom prst="roundRect">
                <a:avLst>
                  <a:gd name="adj" fmla="val 10714"/>
                </a:avLst>
              </a:prstGeom>
              <a:solidFill>
                <a:schemeClr val="lt1"/>
              </a:solidFill>
              <a:ln w="19050">
                <a:solidFill>
                  <a:schemeClr val="accent6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695700" y="196215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814408" y="20612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165854" y="196596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风化条件增强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166997" y="2228374"/>
                <a:ext cx="14321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Weathering conditions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66185" y="2526506"/>
                <a:ext cx="18659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更暖 · 更湿 · 雨水酸性更强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419850" y="1847850"/>
              <a:ext cx="2381250" cy="1066800"/>
              <a:chOff x="6419850" y="1847850"/>
              <a:chExt cx="2381250" cy="1066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419850" y="1847850"/>
                <a:ext cx="2381250" cy="1066800"/>
              </a:xfrm>
              <a:prstGeom prst="roundRect">
                <a:avLst>
                  <a:gd name="adj" fmla="val 10714"/>
                </a:avLst>
              </a:prstGeom>
              <a:solidFill>
                <a:srgbClr val="F0F5FC"/>
              </a:solidFill>
              <a:ln w="19050">
                <a:solidFill>
                  <a:srgbClr val="B8C7DC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6534150" y="19621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652858" y="20612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004304" y="19659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硅酸盐风化加速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005447" y="2228374"/>
                <a:ext cx="172901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Faster silicate weathering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604635" y="2526506"/>
                <a:ext cx="1787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消耗 CO₂，释放溶解产物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9258300" y="1847850"/>
              <a:ext cx="2190750" cy="1066800"/>
              <a:chOff x="9258300" y="1847850"/>
              <a:chExt cx="2190750" cy="10668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9258300" y="1847850"/>
                <a:ext cx="2190750" cy="1066800"/>
              </a:xfrm>
              <a:prstGeom prst="roundRect">
                <a:avLst>
                  <a:gd name="adj" fmla="val 10714"/>
                </a:avLst>
              </a:prstGeom>
              <a:solidFill>
                <a:srgbClr val="F0F5FC"/>
              </a:solidFill>
              <a:ln w="19050">
                <a:solidFill>
                  <a:srgbClr val="B8C7DC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9372600" y="19621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9491308" y="20612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842754" y="19659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海洋输送与埋藏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843897" y="2228374"/>
                <a:ext cx="154482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Ocean transfer &amp; burial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443085" y="2526506"/>
                <a:ext cx="18498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Ca²⁺ 通量 ↑ · CaCO₃ 埋藏</a:t>
                </a:r>
              </a:p>
            </p:txBody>
          </p:sp>
        </p:grpSp>
        <p:sp>
          <p:nvSpPr>
            <p:cNvPr id="41" name="Line 41"/>
            <p:cNvSpPr/>
            <p:nvPr/>
          </p:nvSpPr>
          <p:spPr>
            <a:xfrm>
              <a:off x="3124200" y="23812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3371850" y="2276475"/>
              <a:ext cx="180975" cy="209550"/>
            </a:xfrm>
            <a:custGeom>
              <a:avLst/>
              <a:gdLst/>
              <a:ahLst/>
              <a:cxnLst/>
              <a:rect l="l" t="t" r="r" b="b"/>
              <a:pathLst>
                <a:path w="180975" h="209550">
                  <a:moveTo>
                    <a:pt x="0" y="0"/>
                  </a:moveTo>
                  <a:lnTo>
                    <a:pt x="180975" y="104775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5962650" y="23812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6210300" y="2276475"/>
              <a:ext cx="180975" cy="209550"/>
            </a:xfrm>
            <a:custGeom>
              <a:avLst/>
              <a:gdLst/>
              <a:ahLst/>
              <a:cxnLst/>
              <a:rect l="l" t="t" r="r" b="b"/>
              <a:pathLst>
                <a:path w="180975" h="209550">
                  <a:moveTo>
                    <a:pt x="0" y="0"/>
                  </a:moveTo>
                  <a:lnTo>
                    <a:pt x="180975" y="104775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8801100" y="23812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9048750" y="2276475"/>
              <a:ext cx="180975" cy="209550"/>
            </a:xfrm>
            <a:custGeom>
              <a:avLst/>
              <a:gdLst/>
              <a:ahLst/>
              <a:cxnLst/>
              <a:rect l="l" t="t" r="r" b="b"/>
              <a:pathLst>
                <a:path w="180975" h="209550">
                  <a:moveTo>
                    <a:pt x="0" y="0"/>
                  </a:moveTo>
                  <a:lnTo>
                    <a:pt x="180975" y="104775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591300" y="3619500"/>
              <a:ext cx="4171950" cy="1066800"/>
              <a:chOff x="6591300" y="3619500"/>
              <a:chExt cx="4171950" cy="10668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591300" y="3619500"/>
                <a:ext cx="4171950" cy="1066800"/>
              </a:xfrm>
              <a:prstGeom prst="roundRect">
                <a:avLst>
                  <a:gd name="adj" fmla="val 10714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6734175" y="3752850"/>
                <a:ext cx="438150" cy="43815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860952" y="3821430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−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307961" y="3751421"/>
                <a:ext cx="210649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大气 CO₂ ↓ · 冷却趋势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309485" y="4060031"/>
                <a:ext cx="247178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7D7F2"/>
                    </a:solidFill>
                    <a:latin typeface="+mn-lt"/>
                    <a:ea typeface="+mn-ea"/>
                    <a:cs typeface="+mn-cs"/>
                  </a:rPr>
                  <a:t>CO₂ removal and carbonate burial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309485" y="4336256"/>
                <a:ext cx="21535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最终作用反对初始增温 → 负反馈</a:t>
                </a:r>
              </a:p>
            </p:txBody>
          </p:sp>
        </p:grpSp>
        <p:sp>
          <p:nvSpPr>
            <p:cNvPr id="54" name="Freeform 54"/>
            <p:cNvSpPr/>
            <p:nvPr/>
          </p:nvSpPr>
          <p:spPr>
            <a:xfrm>
              <a:off x="8458200" y="2914650"/>
              <a:ext cx="1895475" cy="704850"/>
            </a:xfrm>
            <a:custGeom>
              <a:avLst/>
              <a:gdLst/>
              <a:ahLst/>
              <a:cxnLst/>
              <a:rect l="l" t="t" r="r" b="b"/>
              <a:pathLst>
                <a:path w="1895475" h="704850">
                  <a:moveTo>
                    <a:pt x="1895475" y="0"/>
                  </a:moveTo>
                  <a:lnTo>
                    <a:pt x="1895475" y="419100"/>
                  </a:lnTo>
                  <a:cubicBezTo>
                    <a:pt x="1895475" y="561975"/>
                    <a:pt x="1704975" y="561975"/>
                    <a:pt x="1581150" y="561975"/>
                  </a:cubicBezTo>
                  <a:lnTo>
                    <a:pt x="209550" y="561975"/>
                  </a:lnTo>
                  <a:cubicBezTo>
                    <a:pt x="114300" y="561975"/>
                    <a:pt x="0" y="609600"/>
                    <a:pt x="0" y="70485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8353425" y="3505200"/>
              <a:ext cx="209550" cy="180975"/>
            </a:xfrm>
            <a:custGeom>
              <a:avLst/>
              <a:gdLst/>
              <a:ahLst/>
              <a:cxnLst/>
              <a:rect l="l" t="t" r="r" b="b"/>
              <a:pathLst>
                <a:path w="209550" h="180975">
                  <a:moveTo>
                    <a:pt x="0" y="0"/>
                  </a:moveTo>
                  <a:lnTo>
                    <a:pt x="104775" y="180975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1352550" y="3619500"/>
              <a:ext cx="4572000" cy="1447800"/>
              <a:chOff x="1352550" y="3619500"/>
              <a:chExt cx="4572000" cy="14478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1352550" y="3619500"/>
                <a:ext cx="4572000" cy="1447800"/>
              </a:xfrm>
              <a:prstGeom prst="roundRect">
                <a:avLst>
                  <a:gd name="adj" fmla="val 7895"/>
                </a:avLst>
              </a:prstGeom>
              <a:solidFill>
                <a:schemeClr val="lt1"/>
              </a:solidFill>
              <a:ln w="19050">
                <a:solidFill>
                  <a:schemeClr val="accent6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613154" y="3813810"/>
                <a:ext cx="19985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反向半环 | Cooling return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613535" y="4126706"/>
                <a:ext cx="36118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冷却 → 水汽与酸性减弱 → 风化变慢 → CO₂ 去除减弱</a:t>
                </a:r>
              </a:p>
            </p:txBody>
          </p:sp>
          <p:sp>
            <p:nvSpPr>
              <p:cNvPr id="59" name="Line 59"/>
              <p:cNvSpPr/>
              <p:nvPr/>
            </p:nvSpPr>
            <p:spPr>
              <a:xfrm>
                <a:off x="1619250" y="4476750"/>
                <a:ext cx="403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9525">
                    <a:moveTo>
                      <a:pt x="0" y="0"/>
                    </a:moveTo>
                    <a:lnTo>
                      <a:pt x="4038600" y="0"/>
                    </a:lnTo>
                  </a:path>
                </a:pathLst>
              </a:custGeom>
              <a:noFill/>
              <a:ln w="28575">
                <a:solidFill>
                  <a:srgbClr val="B8C7DC"/>
                </a:solidFill>
              </a:ln>
            </p:spPr>
          </p:sp>
          <p:sp>
            <p:nvSpPr>
              <p:cNvPr id="60" name="Polygon 60"/>
              <p:cNvSpPr/>
              <p:nvPr/>
            </p:nvSpPr>
            <p:spPr>
              <a:xfrm>
                <a:off x="5543550" y="4371975"/>
                <a:ext cx="1809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09550">
                    <a:moveTo>
                      <a:pt x="0" y="0"/>
                    </a:moveTo>
                    <a:lnTo>
                      <a:pt x="180975" y="104775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B8C7DC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614297" y="4752499"/>
                <a:ext cx="230295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火山 CO₂ 输入可逐渐重建大气碳储库</a:t>
                </a:r>
              </a:p>
            </p:txBody>
          </p:sp>
        </p:grpSp>
        <p:sp>
          <p:nvSpPr>
            <p:cNvPr id="63" name="Freeform 63"/>
            <p:cNvSpPr/>
            <p:nvPr/>
          </p:nvSpPr>
          <p:spPr>
            <a:xfrm>
              <a:off x="819150" y="2914650"/>
              <a:ext cx="5772150" cy="2362200"/>
            </a:xfrm>
            <a:custGeom>
              <a:avLst/>
              <a:gdLst/>
              <a:ahLst/>
              <a:cxnLst/>
              <a:rect l="l" t="t" r="r" b="b"/>
              <a:pathLst>
                <a:path w="5772150" h="2362200">
                  <a:moveTo>
                    <a:pt x="5772150" y="1238250"/>
                  </a:moveTo>
                  <a:cubicBezTo>
                    <a:pt x="5334000" y="1238250"/>
                    <a:pt x="5334000" y="2362200"/>
                    <a:pt x="4838700" y="2362200"/>
                  </a:cubicBezTo>
                  <a:lnTo>
                    <a:pt x="952500" y="2362200"/>
                  </a:lnTo>
                  <a:cubicBezTo>
                    <a:pt x="304800" y="2362200"/>
                    <a:pt x="0" y="1962150"/>
                    <a:pt x="0" y="1314450"/>
                  </a:cubicBezTo>
                  <a:lnTo>
                    <a:pt x="0" y="152400"/>
                  </a:lnTo>
                  <a:cubicBezTo>
                    <a:pt x="0" y="76200"/>
                    <a:pt x="57150" y="38100"/>
                    <a:pt x="152400" y="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847725" y="2857500"/>
              <a:ext cx="190500" cy="180975"/>
            </a:xfrm>
            <a:custGeom>
              <a:avLst/>
              <a:gdLst/>
              <a:ahLst/>
              <a:cxnLst/>
              <a:rect l="l" t="t" r="r" b="b"/>
              <a:pathLst>
                <a:path w="190500" h="180975">
                  <a:moveTo>
                    <a:pt x="0" y="0"/>
                  </a:moveTo>
                  <a:lnTo>
                    <a:pt x="190500" y="38100"/>
                  </a:lnTo>
                  <a:lnTo>
                    <a:pt x="57150" y="1809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819900" y="4914900"/>
              <a:ext cx="3943350" cy="476250"/>
            </a:xfrm>
            <a:prstGeom prst="roundRect">
              <a:avLst>
                <a:gd name="adj" fmla="val 20000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08003" y="5104924"/>
              <a:ext cx="27671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限定：碳酸盐岩风化 ≠ 同等的净大气 CO₂ 汇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75285" y="5974556"/>
            <a:ext cx="5298288" cy="220028"/>
            <a:chOff x="375285" y="5974556"/>
            <a:chExt cx="5298288" cy="220028"/>
          </a:xfrm>
        </p:grpSpPr>
        <p:sp>
          <p:nvSpPr>
            <p:cNvPr id="68" name="TextBox 68"/>
            <p:cNvSpPr txBox="1"/>
            <p:nvPr/>
          </p:nvSpPr>
          <p:spPr>
            <a:xfrm>
              <a:off x="375285" y="5974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闭环判断：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289685" y="597455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初始增温引起的变化最终带来冷却趋势，因此这是缓慢的负反馈。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376238" y="6532245"/>
            <a:ext cx="516138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Source/redraw basis: HB Ch.9, Fig. 9-11 (F-01), pp.246–249; UE 8e Ch.12 companion.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2471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核心知识点 | Key Takeaways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910267" y="299085"/>
              <a:ext cx="19068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LECTURE 16 · SYNTHESIS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922340" cy="366618"/>
            <a:chOff x="381000" y="914400"/>
            <a:chExt cx="5922340" cy="366618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7297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判断系统响应：物质在哪里、怎样移动、作用方向、响应速度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504950"/>
            <a:ext cx="5524500" cy="1314450"/>
            <a:chOff x="381000" y="1504950"/>
            <a:chExt cx="5524500" cy="1314450"/>
          </a:xfrm>
        </p:grpSpPr>
        <p:sp>
          <p:nvSpPr>
            <p:cNvPr id="9" name="Rectangle 9"/>
            <p:cNvSpPr/>
            <p:nvPr/>
          </p:nvSpPr>
          <p:spPr>
            <a:xfrm>
              <a:off x="381000" y="1504950"/>
              <a:ext cx="5524500" cy="1314450"/>
            </a:xfrm>
            <a:prstGeom prst="roundRect">
              <a:avLst>
                <a:gd name="adj" fmla="val 8696"/>
              </a:avLst>
            </a:prstGeom>
            <a:solidFill>
              <a:srgbClr val="F0F5FC"/>
            </a:solidFill>
            <a:ln w="9525">
              <a:solidFill>
                <a:srgbClr val="B8C7DC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52450" y="1676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1632" y="18111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5954" y="1680210"/>
              <a:ext cx="1346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Reservoir ≠ Flux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6335" y="19931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水和碳通过通量在储库之间迁移；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56335" y="22407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储量不等于通量。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86500" y="1504950"/>
            <a:ext cx="5524500" cy="1314450"/>
            <a:chOff x="6286500" y="1504950"/>
            <a:chExt cx="5524500" cy="1314450"/>
          </a:xfrm>
        </p:grpSpPr>
        <p:sp>
          <p:nvSpPr>
            <p:cNvPr id="16" name="Rectangle 16"/>
            <p:cNvSpPr/>
            <p:nvPr/>
          </p:nvSpPr>
          <p:spPr>
            <a:xfrm>
              <a:off x="6286500" y="1504950"/>
              <a:ext cx="5524500" cy="1314450"/>
            </a:xfrm>
            <a:prstGeom prst="roundRect">
              <a:avLst>
                <a:gd name="adj" fmla="val 86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457950" y="1676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132" y="18111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61454" y="1680210"/>
              <a:ext cx="12355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Residence Time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61835" y="19931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停留时间控制储库响应快慢；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61835" y="22407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大储库不一定更新快。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81000" y="2952750"/>
            <a:ext cx="5524500" cy="1314450"/>
            <a:chOff x="381000" y="2952750"/>
            <a:chExt cx="5524500" cy="1314450"/>
          </a:xfrm>
        </p:grpSpPr>
        <p:sp>
          <p:nvSpPr>
            <p:cNvPr id="23" name="Rectangle 23"/>
            <p:cNvSpPr/>
            <p:nvPr/>
          </p:nvSpPr>
          <p:spPr>
            <a:xfrm>
              <a:off x="381000" y="2952750"/>
              <a:ext cx="5524500" cy="1314450"/>
            </a:xfrm>
            <a:prstGeom prst="roundRect">
              <a:avLst>
                <a:gd name="adj" fmla="val 8696"/>
              </a:avLst>
            </a:prstGeom>
            <a:solidFill>
              <a:srgbClr val="F0F5FC"/>
            </a:solidFill>
            <a:ln w="9525">
              <a:solidFill>
                <a:srgbClr val="B8C7DC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52450" y="3124200"/>
              <a:ext cx="457200" cy="457200"/>
            </a:xfrm>
            <a:prstGeom prst="ellipse">
              <a:avLst/>
            </a:prstGeom>
            <a:solidFill>
              <a:srgbClr val="3D7BD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1632" y="32589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5954" y="3128010"/>
              <a:ext cx="2299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Water connects geospheres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6335" y="3440906"/>
              <a:ext cx="242951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水循环搬运物质和能量，并连接大气、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海洋、岩石与生命。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2952750"/>
            <a:ext cx="5524500" cy="1314450"/>
            <a:chOff x="6286500" y="2952750"/>
            <a:chExt cx="5524500" cy="1314450"/>
          </a:xfrm>
        </p:grpSpPr>
        <p:sp>
          <p:nvSpPr>
            <p:cNvPr id="29" name="Rectangle 29"/>
            <p:cNvSpPr/>
            <p:nvPr/>
          </p:nvSpPr>
          <p:spPr>
            <a:xfrm>
              <a:off x="6286500" y="2952750"/>
              <a:ext cx="5524500" cy="1314450"/>
            </a:xfrm>
            <a:prstGeom prst="roundRect">
              <a:avLst>
                <a:gd name="adj" fmla="val 8696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457950" y="31242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17132" y="32589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61454" y="3128010"/>
              <a:ext cx="21478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Fast &amp; Slow Carbon Cycles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61835" y="3440906"/>
              <a:ext cx="236550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碳循环同时包含快速的生物/海洋路径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和缓慢的地质路径。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81000" y="4400550"/>
            <a:ext cx="5524500" cy="1314450"/>
            <a:chOff x="381000" y="4400550"/>
            <a:chExt cx="5524500" cy="1314450"/>
          </a:xfrm>
        </p:grpSpPr>
        <p:sp>
          <p:nvSpPr>
            <p:cNvPr id="35" name="Rectangle 35"/>
            <p:cNvSpPr/>
            <p:nvPr/>
          </p:nvSpPr>
          <p:spPr>
            <a:xfrm>
              <a:off x="381000" y="4400550"/>
              <a:ext cx="5524500" cy="1314450"/>
            </a:xfrm>
            <a:prstGeom prst="roundRect">
              <a:avLst>
                <a:gd name="adj" fmla="val 86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552450" y="4572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1632" y="47067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5954" y="4575810"/>
              <a:ext cx="18947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Water–Carbon Coupling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6335" y="4888706"/>
              <a:ext cx="271399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水通过风化、海气交换和生命过程把水循环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与碳循环耦合起来。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4400550"/>
            <a:ext cx="5524500" cy="1314450"/>
            <a:chOff x="6286500" y="4400550"/>
            <a:chExt cx="5524500" cy="1314450"/>
          </a:xfrm>
        </p:grpSpPr>
        <p:sp>
          <p:nvSpPr>
            <p:cNvPr id="41" name="Rectangle 41"/>
            <p:cNvSpPr/>
            <p:nvPr/>
          </p:nvSpPr>
          <p:spPr>
            <a:xfrm>
              <a:off x="6286500" y="4400550"/>
              <a:ext cx="5524500" cy="1314450"/>
            </a:xfrm>
            <a:prstGeom prst="roundRect">
              <a:avLst>
                <a:gd name="adj" fmla="val 8696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457950" y="4572000"/>
              <a:ext cx="457200" cy="4572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17132" y="47067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61454" y="4575810"/>
              <a:ext cx="2129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Feedback sign &amp; timescale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61835" y="4888706"/>
              <a:ext cx="314071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正反馈放大变化，负反馈抑制变化；判断系统响应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必须同时看方向和时间尺度。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75285" y="5905500"/>
            <a:ext cx="11435715" cy="384334"/>
            <a:chOff x="375285" y="5905500"/>
            <a:chExt cx="11435715" cy="384334"/>
          </a:xfrm>
        </p:grpSpPr>
        <p:sp>
          <p:nvSpPr>
            <p:cNvPr id="47" name="Line 47"/>
            <p:cNvSpPr/>
            <p:nvPr/>
          </p:nvSpPr>
          <p:spPr>
            <a:xfrm>
              <a:off x="381000" y="59055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5285" y="6069806"/>
              <a:ext cx="5196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Reservoir · Flux · Residence Time · Coupling · Feedback · Timescale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376238" y="6532245"/>
            <a:ext cx="53023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Lecture 16 synthesis — locked takeaways from the approved blueprint and source matrix.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44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16_STYLE_SAMPLE_v01">
  <a:themeElements>
    <a:clrScheme name="L16_STYLE_SAMPLE_v01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L16_STYLE_SAMPLE_v0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16_STYLE_SAMPLE_v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16_STYLE_SAMPLE_v01">
  <a:themeElements>
    <a:clrScheme name="L16_STYLE_SAMPLE_v01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L16_STYLE_SAMPLE_v0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16_STYLE_SAMPLE_v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2026-09-11T02:47:51Z</dcterms:created>
  <dcterms:modified xsi:type="dcterms:W3CDTF">2026-09-11T02:47:51Z</dcterms:modified>
  <cp:category/>
  <cp:contentStatus/>
</cp:coreProperties>
</file>