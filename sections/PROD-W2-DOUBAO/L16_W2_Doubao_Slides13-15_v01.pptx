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10"/>
  </p:notesMasterIdLst>
  <p:sldIdLst>
    <p:sldId id="256" r:id="rId7"/>
    <p:sldId id="257" r:id="rId8"/>
    <p:sldId id="258" r:id="rId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  <Relationship Id="rId10" Type="http://schemas.openxmlformats.org/officeDocument/2006/relationships/notesMaster" Target="notesMasters/notesMaster1.xml"/>
</Relationships>
</file>

<file path=ppt/notesMasters/_rels/notesMaster1.xml.rels><?xml version="1.0" encoding="UTF-8" standalone="yes"?>
<Relationships xmlns="http://schemas.openxmlformats.org/package/2006/relationships">
  <Relationship Id="rId1" Type="http://schemas.openxmlformats.org/officeDocument/2006/relationships/theme" Target="../theme/theme2.xml"/>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en-US"/>
    </a:lvl1pPr>
  </p:notesStyle>
</p:notesMaster>
</file>

<file path=ppt/notesSlides/_rels/notesSlide1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.xml"/>
</Relationships>
</file>

<file path=ppt/notesSlides/_rels/notesSlide2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2.xml"/>
</Relationships>
</file>

<file path=ppt/notesSlides/_rels/notesSlide3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3.xml"/>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一页讲大气作为水储库的两个特点：储量很小、交换很快。中文教材表三之一给出，大气中水的总储量只有一万二千九百立方千米，大约是海洋储量的十万分之一，平均滞留时间只有九天，如果全部一次性降下，只相当于全球二点五厘米厚的水层。水在这个小储库里走一条四步快速回路：第一步，太阳加热海面和陆地，水蒸发成水汽进入大气；第二步，大气运动把水汽从海洋上空输送到陆地上空；第三步，湿空气上升冷却，水汽凝结成微小云滴；第四步，云滴碰撞长大，以雨、雪等形式形成降水回到地表。储量小不等于作用小，正是大约九天一次的快速周转，让大气成为海陆之间最活跃的输水通道；全球大气环流的细节本页不展开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降水落地后并不是只有一个去向，而是在三条路径之间分配。第一条是蒸散，一部分水直接蒸发，或被植物蒸腾后返回大气。第二条是径流，按照教材的广义定义，径流既包括沿地表漫流的地表径流，也包括先入渗到近地表、之后又回到地表并汇入河道的水，所以入渗不等于水被永久移出径流。第三条是入渗，水通过土壤和岩石的孔隙、裂隙向下运动，其中较浅的部分形成壤中流回归地表，更深的部分继续下渗，成为下一页要讲的地下水。图中的坡面剖面展示三条路径的方向：蒸散向上，地表径流沿坡面进入河道，入渗向下并且有一条浅层回流。三者各占多少受气候、地形、岩土和植被控制，教材没有给出、本页也不编造全球统一的百分比，这是过程示意，不是定量比例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地下水这一页只讲三件事：补给、储存、排泄。补给是近期降水入渗，穿过未饱和的包气带到达地下水位，形成地下水；地下水位以下是饱水带，水在其中储存并以非常慢的速度流动，这是第二步储存；第三步排泄，是地下水最终以泉、河流、蒸发或入海的方式回到地表。长期来看补给量约等于排泄量，储库规模和地下水位因此保持稳定。慢是这一页的重点：表三之一显示，浅层地下水滞留时间约一百到二百年，深层地下水可达约一万年，而大气水只有九天，相差四到六个数量级，所以地下水是水循环里缓冲能力很强、但响应很慢的路径。孔隙度、含水层工程、抽水形成的降落漏斗以及污染治理，都超出本页范围，留到后续课程。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PROD-W2-DOUBAO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PROD-W2-DOUBAO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1.xml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2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3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2192000" cy="685800"/>
            <a:chOff x="0" y="0"/>
            <a:chExt cx="12192000" cy="6858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"/>
            </a:xfrm>
            <a:prstGeom prst="rect">
              <a:avLst/>
            </a:prstGeom>
            <a:solidFill>
              <a:srgbClr val="0E3F8C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374142" y="282892"/>
              <a:ext cx="716479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1.10 水汽输送、凝结与降水 | Moisture Transport, Condensation &amp; Precipitation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10780776" y="299085"/>
              <a:ext cx="10363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00" dirty="0">
                  <a:solidFill>
                    <a:srgbClr val="C7D7F2"/>
                  </a:solidFill>
                  <a:latin typeface="Arial"/>
                  <a:ea typeface="Arial"/>
                  <a:cs typeface="Arial"/>
                </a:rPr>
                <a:t>WATER CYCLE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381000" y="914400"/>
            <a:ext cx="6928941" cy="357093"/>
            <a:chOff x="381000" y="914400"/>
            <a:chExt cx="6928941" cy="357093"/>
          </a:xfrm>
        </p:grpSpPr>
        <p:sp>
          <p:nvSpPr>
            <p:cNvPr id="6" name="Rectangle 6"/>
            <p:cNvSpPr/>
            <p:nvPr/>
          </p:nvSpPr>
          <p:spPr>
            <a:xfrm>
              <a:off x="381000" y="914400"/>
              <a:ext cx="57150" cy="266700"/>
            </a:xfrm>
            <a:prstGeom prst="roundRect">
              <a:avLst>
                <a:gd name="adj" fmla="val 50000"/>
              </a:avLst>
            </a:prstGeom>
            <a:solidFill>
              <a:srgbClr val="1E4FA8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544449" y="963454"/>
              <a:ext cx="6765492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0E3F8C"/>
                  </a:solidFill>
                  <a:latin typeface="Arial"/>
                  <a:ea typeface="Microsoft YaHei"/>
                  <a:cs typeface="Arial"/>
                </a:rPr>
                <a:t>大气是储量极小、周转极快的储库：蒸发—输送—凝结—降水构成快速回路</a:t>
              </a:r>
            </a:p>
          </p:txBody>
        </p:sp>
      </p:grpSp>
      <p:grpSp>
        <p:nvGrpSpPr>
          <p:cNvPr id="84" name="Group 84"/>
          <p:cNvGrpSpPr/>
          <p:nvPr/>
        </p:nvGrpSpPr>
        <p:grpSpPr>
          <a:xfrm>
            <a:off x="381000" y="1428750"/>
            <a:ext cx="11430000" cy="4781550"/>
            <a:chOff x="381000" y="1428750"/>
            <a:chExt cx="11430000" cy="4781550"/>
          </a:xfrm>
        </p:grpSpPr>
        <p:sp>
          <p:nvSpPr>
            <p:cNvPr id="9" name="Rectangle 9"/>
            <p:cNvSpPr/>
            <p:nvPr/>
          </p:nvSpPr>
          <p:spPr>
            <a:xfrm>
              <a:off x="381000" y="1428750"/>
              <a:ext cx="11430000" cy="4781550"/>
            </a:xfrm>
            <a:prstGeom prst="roundRect">
              <a:avLst>
                <a:gd name="adj" fmla="val 2390"/>
              </a:avLst>
            </a:prstGeom>
            <a:solidFill>
              <a:srgbClr val="F7F9FC"/>
            </a:solidFill>
            <a:ln w="9525">
              <a:solidFill>
                <a:srgbClr val="D6DCE5"/>
              </a:solidFill>
            </a:ln>
          </p:spPr>
        </p:sp>
        <p:grpSp>
          <p:nvGrpSpPr>
            <p:cNvPr id="19" name="Group 19"/>
            <p:cNvGrpSpPr/>
            <p:nvPr/>
          </p:nvGrpSpPr>
          <p:grpSpPr>
            <a:xfrm>
              <a:off x="571500" y="1581150"/>
              <a:ext cx="11029950" cy="742950"/>
              <a:chOff x="571500" y="1581150"/>
              <a:chExt cx="11029950" cy="74295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581150"/>
                <a:ext cx="3600450" cy="742950"/>
              </a:xfrm>
              <a:prstGeom prst="roundRect">
                <a:avLst>
                  <a:gd name="adj" fmla="val 12821"/>
                </a:avLst>
              </a:prstGeom>
              <a:solidFill>
                <a:srgbClr val="F0F5FC"/>
              </a:solidFill>
              <a:ln>
                <a:noFill/>
              </a:ln>
            </p:spPr>
          </p:sp>
          <p:sp>
            <p:nvSpPr>
              <p:cNvPr id="11" name="TextBox 11"/>
              <p:cNvSpPr txBox="1"/>
              <p:nvPr/>
            </p:nvSpPr>
            <p:spPr>
              <a:xfrm>
                <a:off x="753618" y="1745932"/>
                <a:ext cx="1287863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650" b="1" dirty="0">
                    <a:solidFill>
                      <a:srgbClr val="0E3F8C"/>
                    </a:solidFill>
                    <a:latin typeface="Arial"/>
                    <a:ea typeface="Arial"/>
                    <a:cs typeface="Arial"/>
                  </a:rPr>
                  <a:t>12,900 km³</a:t>
                </a: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757238" y="2080022"/>
                <a:ext cx="2413838" cy="18335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40" dirty="0">
                    <a:solidFill>
                      <a:srgbClr val="4A5568"/>
                    </a:solidFill>
                    <a:latin typeface="Arial"/>
                    <a:ea typeface="Microsoft YaHei"/>
                    <a:cs typeface="Arial"/>
                  </a:rPr>
                  <a:t>大气水储量（约为海洋储量的十万分之一）</a:t>
                </a:r>
              </a:p>
            </p:txBody>
          </p:sp>
          <p:sp>
            <p:nvSpPr>
              <p:cNvPr id="13" name="Rectangle 13"/>
              <p:cNvSpPr/>
              <p:nvPr/>
            </p:nvSpPr>
            <p:spPr>
              <a:xfrm>
                <a:off x="4286250" y="1581150"/>
                <a:ext cx="3600450" cy="742950"/>
              </a:xfrm>
              <a:prstGeom prst="roundRect">
                <a:avLst>
                  <a:gd name="adj" fmla="val 12821"/>
                </a:avLst>
              </a:prstGeom>
              <a:solidFill>
                <a:srgbClr val="F0F5FC"/>
              </a:solidFill>
              <a:ln>
                <a:noFill/>
              </a:ln>
            </p:spPr>
          </p:sp>
          <p:sp>
            <p:nvSpPr>
              <p:cNvPr id="14" name="TextBox 14"/>
              <p:cNvSpPr txBox="1"/>
              <p:nvPr/>
            </p:nvSpPr>
            <p:spPr>
              <a:xfrm>
                <a:off x="4468368" y="1745932"/>
                <a:ext cx="729224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0E3F8C"/>
                    </a:solidFill>
                    <a:latin typeface="Arial"/>
                    <a:ea typeface="Microsoft YaHei"/>
                    <a:cs typeface="Arial"/>
                  </a:rPr>
                  <a:t>仅 9 天</a:t>
                </a: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4471988" y="2080022"/>
                <a:ext cx="2329317" cy="18335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40" dirty="0">
                    <a:solidFill>
                      <a:srgbClr val="4A5568"/>
                    </a:solidFill>
                    <a:latin typeface="Arial"/>
                    <a:ea typeface="Microsoft YaHei"/>
                    <a:cs typeface="Arial"/>
                  </a:rPr>
                  <a:t>平均滞留时间，交换极快（CN 表 3-1）</a:t>
                </a:r>
              </a:p>
            </p:txBody>
          </p:sp>
          <p:sp>
            <p:nvSpPr>
              <p:cNvPr id="16" name="Rectangle 16"/>
              <p:cNvSpPr/>
              <p:nvPr/>
            </p:nvSpPr>
            <p:spPr>
              <a:xfrm>
                <a:off x="8001000" y="1581150"/>
                <a:ext cx="3600450" cy="742950"/>
              </a:xfrm>
              <a:prstGeom prst="roundRect">
                <a:avLst>
                  <a:gd name="adj" fmla="val 12821"/>
                </a:avLst>
              </a:prstGeom>
              <a:solidFill>
                <a:srgbClr val="F0F5FC"/>
              </a:solidFill>
              <a:ln>
                <a:noFill/>
              </a:ln>
            </p:spPr>
          </p:sp>
          <p:sp>
            <p:nvSpPr>
              <p:cNvPr id="17" name="TextBox 17"/>
              <p:cNvSpPr txBox="1"/>
              <p:nvPr/>
            </p:nvSpPr>
            <p:spPr>
              <a:xfrm>
                <a:off x="8183118" y="1745932"/>
                <a:ext cx="973004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650" b="1" dirty="0">
                    <a:solidFill>
                      <a:srgbClr val="0E3F8C"/>
                    </a:solidFill>
                    <a:latin typeface="Arial"/>
                    <a:ea typeface="Arial"/>
                    <a:cs typeface="Arial"/>
                  </a:rPr>
                  <a:t>≈ 2.5 cm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8186738" y="2080022"/>
                <a:ext cx="2160753" cy="18335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40" dirty="0">
                    <a:solidFill>
                      <a:srgbClr val="4A5568"/>
                    </a:solidFill>
                    <a:latin typeface="Arial"/>
                    <a:ea typeface="Microsoft YaHei"/>
                    <a:cs typeface="Arial"/>
                  </a:rPr>
                  <a:t>若水汽一次性全部降下的等效水层厚度</a:t>
                </a:r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571500" y="2552700"/>
              <a:ext cx="2457450" cy="2743200"/>
              <a:chOff x="571500" y="2552700"/>
              <a:chExt cx="2457450" cy="2743200"/>
            </a:xfrm>
          </p:grpSpPr>
          <p:sp>
            <p:nvSpPr>
              <p:cNvPr id="20" name="Rectangle 20"/>
              <p:cNvSpPr/>
              <p:nvPr/>
            </p:nvSpPr>
            <p:spPr>
              <a:xfrm>
                <a:off x="571500" y="2552700"/>
                <a:ext cx="2457450" cy="2743200"/>
              </a:xfrm>
              <a:prstGeom prst="roundRect">
                <a:avLst>
                  <a:gd name="adj" fmla="val 4651"/>
                </a:avLst>
              </a:prstGeom>
              <a:solidFill>
                <a:srgbClr val="FFFFFF"/>
              </a:solidFill>
              <a:ln w="14288">
                <a:solidFill>
                  <a:srgbClr val="D6DCE5"/>
                </a:solidFill>
              </a:ln>
            </p:spPr>
          </p:sp>
          <p:sp>
            <p:nvSpPr>
              <p:cNvPr id="21" name="Ellipse 21"/>
              <p:cNvSpPr/>
              <p:nvPr/>
            </p:nvSpPr>
            <p:spPr>
              <a:xfrm>
                <a:off x="704850" y="2705100"/>
                <a:ext cx="304800" cy="304800"/>
              </a:xfrm>
              <a:prstGeom prst="ellipse">
                <a:avLst/>
              </a:prstGeom>
              <a:solidFill>
                <a:srgbClr val="1E4FA8"/>
              </a:solidFill>
              <a:ln>
                <a:noFill/>
              </a:ln>
            </p:spPr>
          </p:sp>
          <p:sp>
            <p:nvSpPr>
              <p:cNvPr id="22" name="TextBox 22"/>
              <p:cNvSpPr txBox="1"/>
              <p:nvPr/>
            </p:nvSpPr>
            <p:spPr>
              <a:xfrm>
                <a:off x="811101" y="2801302"/>
                <a:ext cx="92298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050" b="1" dirty="0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rPr>
                  <a:t>1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1099185" y="2793206"/>
                <a:ext cx="312979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b="1" dirty="0">
                    <a:solidFill>
                      <a:srgbClr val="0E3F8C"/>
                    </a:solidFill>
                    <a:latin typeface="Arial"/>
                    <a:ea typeface="Microsoft YaHei"/>
                    <a:cs typeface="Arial"/>
                  </a:rPr>
                  <a:t>蒸发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757238" y="3103245"/>
                <a:ext cx="715857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900" dirty="0">
                    <a:solidFill>
                      <a:srgbClr val="3D7BD9"/>
                    </a:solidFill>
                    <a:latin typeface="Arial"/>
                    <a:ea typeface="Arial"/>
                    <a:cs typeface="Arial"/>
                  </a:rPr>
                  <a:t>Evaporation</a:t>
                </a:r>
              </a:p>
            </p:txBody>
          </p:sp>
          <p:sp>
            <p:nvSpPr>
              <p:cNvPr id="25" name="Line 25"/>
              <p:cNvSpPr/>
              <p:nvPr/>
            </p:nvSpPr>
            <p:spPr>
              <a:xfrm>
                <a:off x="762000" y="3314700"/>
                <a:ext cx="20764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076450" h="9525">
                    <a:moveTo>
                      <a:pt x="0" y="0"/>
                    </a:moveTo>
                    <a:lnTo>
                      <a:pt x="2076450" y="0"/>
                    </a:lnTo>
                  </a:path>
                </a:pathLst>
              </a:custGeom>
              <a:noFill/>
              <a:ln w="9525">
                <a:solidFill>
                  <a:srgbClr val="D6DCE5"/>
                </a:solidFill>
              </a:ln>
            </p:spPr>
          </p:sp>
          <p:sp>
            <p:nvSpPr>
              <p:cNvPr id="26" name="TextBox 26"/>
              <p:cNvSpPr txBox="1"/>
              <p:nvPr/>
            </p:nvSpPr>
            <p:spPr>
              <a:xfrm>
                <a:off x="757238" y="3499247"/>
                <a:ext cx="1274953" cy="18335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40" dirty="0">
                    <a:solidFill>
                      <a:srgbClr val="1A2230"/>
                    </a:solidFill>
                    <a:latin typeface="Arial"/>
                    <a:ea typeface="Microsoft YaHei"/>
                    <a:cs typeface="Arial"/>
                  </a:rPr>
                  <a:t>太阳加热海面与陆地，</a:t>
                </a: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757238" y="3746897"/>
                <a:ext cx="1274953" cy="18335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40" dirty="0">
                    <a:solidFill>
                      <a:srgbClr val="1A2230"/>
                    </a:solidFill>
                    <a:latin typeface="Arial"/>
                    <a:ea typeface="Microsoft YaHei"/>
                    <a:cs typeface="Arial"/>
                  </a:rPr>
                  <a:t>水变为水汽进入大气。</a:t>
                </a:r>
              </a:p>
            </p:txBody>
          </p:sp>
          <p:sp>
            <p:nvSpPr>
              <p:cNvPr id="28" name="Freeform 28"/>
              <p:cNvSpPr/>
              <p:nvPr/>
            </p:nvSpPr>
            <p:spPr>
              <a:xfrm>
                <a:off x="876300" y="4800600"/>
                <a:ext cx="1504950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1504950" h="152400">
                    <a:moveTo>
                      <a:pt x="0" y="76200"/>
                    </a:moveTo>
                    <a:cubicBezTo>
                      <a:pt x="266700" y="0"/>
                      <a:pt x="552450" y="152400"/>
                      <a:pt x="819150" y="76200"/>
                    </a:cubicBezTo>
                    <a:cubicBezTo>
                      <a:pt x="1085850" y="0"/>
                      <a:pt x="1333500" y="133350"/>
                      <a:pt x="1504950" y="76200"/>
                    </a:cubicBezTo>
                  </a:path>
                </a:pathLst>
              </a:custGeom>
              <a:noFill/>
              <a:ln w="19050">
                <a:solidFill>
                  <a:srgbClr val="3D7BD9"/>
                </a:solidFill>
              </a:ln>
            </p:spPr>
          </p:sp>
          <p:sp>
            <p:nvSpPr>
              <p:cNvPr id="29" name="Line 29"/>
              <p:cNvSpPr/>
              <p:nvPr/>
            </p:nvSpPr>
            <p:spPr>
              <a:xfrm>
                <a:off x="1143000" y="4476750"/>
                <a:ext cx="9525" cy="3429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42900">
                    <a:moveTo>
                      <a:pt x="0" y="342900"/>
                    </a:moveTo>
                    <a:lnTo>
                      <a:pt x="0" y="0"/>
                    </a:lnTo>
                  </a:path>
                </a:pathLst>
              </a:custGeom>
              <a:noFill/>
              <a:ln w="38100">
                <a:solidFill>
                  <a:srgbClr val="1E4FA8"/>
                </a:solidFill>
              </a:ln>
            </p:spPr>
          </p:sp>
          <p:sp>
            <p:nvSpPr>
              <p:cNvPr id="30" name="Polygon 30"/>
              <p:cNvSpPr/>
              <p:nvPr/>
            </p:nvSpPr>
            <p:spPr>
              <a:xfrm>
                <a:off x="1057275" y="4438650"/>
                <a:ext cx="171450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152400">
                    <a:moveTo>
                      <a:pt x="0" y="152400"/>
                    </a:moveTo>
                    <a:lnTo>
                      <a:pt x="85725" y="0"/>
                    </a:lnTo>
                    <a:lnTo>
                      <a:pt x="171450" y="152400"/>
                    </a:lnTo>
                    <a:close/>
                  </a:path>
                </a:pathLst>
              </a:custGeom>
              <a:solidFill>
                <a:srgbClr val="1E4FA8"/>
              </a:solidFill>
              <a:ln>
                <a:noFill/>
              </a:ln>
            </p:spPr>
          </p:sp>
          <p:sp>
            <p:nvSpPr>
              <p:cNvPr id="31" name="Line 31"/>
              <p:cNvSpPr/>
              <p:nvPr/>
            </p:nvSpPr>
            <p:spPr>
              <a:xfrm>
                <a:off x="1905000" y="4476750"/>
                <a:ext cx="9525" cy="3429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42900">
                    <a:moveTo>
                      <a:pt x="0" y="342900"/>
                    </a:moveTo>
                    <a:lnTo>
                      <a:pt x="0" y="0"/>
                    </a:lnTo>
                  </a:path>
                </a:pathLst>
              </a:custGeom>
              <a:noFill/>
              <a:ln w="38100">
                <a:solidFill>
                  <a:srgbClr val="1E4FA8"/>
                </a:solidFill>
              </a:ln>
            </p:spPr>
          </p:sp>
          <p:sp>
            <p:nvSpPr>
              <p:cNvPr id="32" name="Polygon 32"/>
              <p:cNvSpPr/>
              <p:nvPr/>
            </p:nvSpPr>
            <p:spPr>
              <a:xfrm>
                <a:off x="1819275" y="4438650"/>
                <a:ext cx="171450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152400">
                    <a:moveTo>
                      <a:pt x="0" y="152400"/>
                    </a:moveTo>
                    <a:lnTo>
                      <a:pt x="85725" y="0"/>
                    </a:lnTo>
                    <a:lnTo>
                      <a:pt x="171450" y="152400"/>
                    </a:lnTo>
                    <a:close/>
                  </a:path>
                </a:pathLst>
              </a:custGeom>
              <a:solidFill>
                <a:srgbClr val="1E4FA8"/>
              </a:solidFill>
              <a:ln>
                <a:noFill/>
              </a:ln>
            </p:spPr>
          </p:sp>
        </p:grpSp>
        <p:grpSp>
          <p:nvGrpSpPr>
            <p:cNvPr id="46" name="Group 46"/>
            <p:cNvGrpSpPr/>
            <p:nvPr/>
          </p:nvGrpSpPr>
          <p:grpSpPr>
            <a:xfrm>
              <a:off x="3409950" y="2552700"/>
              <a:ext cx="2457450" cy="2743200"/>
              <a:chOff x="3409950" y="2552700"/>
              <a:chExt cx="2457450" cy="2743200"/>
            </a:xfrm>
          </p:grpSpPr>
          <p:sp>
            <p:nvSpPr>
              <p:cNvPr id="34" name="Rectangle 34"/>
              <p:cNvSpPr/>
              <p:nvPr/>
            </p:nvSpPr>
            <p:spPr>
              <a:xfrm>
                <a:off x="3409950" y="2552700"/>
                <a:ext cx="2457450" cy="2743200"/>
              </a:xfrm>
              <a:prstGeom prst="roundRect">
                <a:avLst>
                  <a:gd name="adj" fmla="val 4651"/>
                </a:avLst>
              </a:prstGeom>
              <a:solidFill>
                <a:srgbClr val="FFFFFF"/>
              </a:solidFill>
              <a:ln w="14288">
                <a:solidFill>
                  <a:srgbClr val="D6DCE5"/>
                </a:solidFill>
              </a:ln>
            </p:spPr>
          </p:sp>
          <p:sp>
            <p:nvSpPr>
              <p:cNvPr id="35" name="Ellipse 35"/>
              <p:cNvSpPr/>
              <p:nvPr/>
            </p:nvSpPr>
            <p:spPr>
              <a:xfrm>
                <a:off x="3543300" y="2705100"/>
                <a:ext cx="304800" cy="304800"/>
              </a:xfrm>
              <a:prstGeom prst="ellipse">
                <a:avLst/>
              </a:prstGeom>
              <a:solidFill>
                <a:srgbClr val="1E4FA8"/>
              </a:solidFill>
              <a:ln>
                <a:noFill/>
              </a:ln>
            </p:spPr>
          </p:sp>
          <p:sp>
            <p:nvSpPr>
              <p:cNvPr id="36" name="TextBox 36"/>
              <p:cNvSpPr txBox="1"/>
              <p:nvPr/>
            </p:nvSpPr>
            <p:spPr>
              <a:xfrm>
                <a:off x="3649551" y="2801302"/>
                <a:ext cx="92298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050" b="1" dirty="0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rPr>
                  <a:t>2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3937635" y="2793206"/>
                <a:ext cx="614528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b="1" dirty="0">
                    <a:solidFill>
                      <a:srgbClr val="0E3F8C"/>
                    </a:solidFill>
                    <a:latin typeface="Arial"/>
                    <a:ea typeface="Microsoft YaHei"/>
                    <a:cs typeface="Arial"/>
                  </a:rPr>
                  <a:t>水汽输送</a:t>
                </a:r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3595688" y="3103245"/>
                <a:ext cx="1176515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900" dirty="0">
                    <a:solidFill>
                      <a:srgbClr val="3D7BD9"/>
                    </a:solidFill>
                    <a:latin typeface="Arial"/>
                    <a:ea typeface="Arial"/>
                    <a:cs typeface="Arial"/>
                  </a:rPr>
                  <a:t>Moisture transport</a:t>
                </a:r>
              </a:p>
            </p:txBody>
          </p:sp>
          <p:sp>
            <p:nvSpPr>
              <p:cNvPr id="39" name="Line 39"/>
              <p:cNvSpPr/>
              <p:nvPr/>
            </p:nvSpPr>
            <p:spPr>
              <a:xfrm>
                <a:off x="3600450" y="3314700"/>
                <a:ext cx="20764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076450" h="9525">
                    <a:moveTo>
                      <a:pt x="0" y="0"/>
                    </a:moveTo>
                    <a:lnTo>
                      <a:pt x="2076450" y="0"/>
                    </a:lnTo>
                  </a:path>
                </a:pathLst>
              </a:custGeom>
              <a:noFill/>
              <a:ln w="9525">
                <a:solidFill>
                  <a:srgbClr val="D6DCE5"/>
                </a:solidFill>
              </a:ln>
            </p:spPr>
          </p:sp>
          <p:sp>
            <p:nvSpPr>
              <p:cNvPr id="40" name="TextBox 40"/>
              <p:cNvSpPr txBox="1"/>
              <p:nvPr/>
            </p:nvSpPr>
            <p:spPr>
              <a:xfrm>
                <a:off x="3595688" y="3499247"/>
                <a:ext cx="1274953" cy="18335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40" dirty="0">
                    <a:solidFill>
                      <a:srgbClr val="1A2230"/>
                    </a:solidFill>
                    <a:latin typeface="Arial"/>
                    <a:ea typeface="Microsoft YaHei"/>
                    <a:cs typeface="Arial"/>
                  </a:rPr>
                  <a:t>大气运动把水汽从海洋</a:t>
                </a: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3595688" y="3746897"/>
                <a:ext cx="1274953" cy="18335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40" dirty="0">
                    <a:solidFill>
                      <a:srgbClr val="1A2230"/>
                    </a:solidFill>
                    <a:latin typeface="Arial"/>
                    <a:ea typeface="Microsoft YaHei"/>
                    <a:cs typeface="Arial"/>
                  </a:rPr>
                  <a:t>上空输送到陆地上空。</a:t>
                </a:r>
              </a:p>
            </p:txBody>
          </p:sp>
          <p:sp>
            <p:nvSpPr>
              <p:cNvPr id="42" name="Line 42"/>
              <p:cNvSpPr/>
              <p:nvPr/>
            </p:nvSpPr>
            <p:spPr>
              <a:xfrm>
                <a:off x="3695700" y="4629150"/>
                <a:ext cx="19050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905000" h="9525">
                    <a:moveTo>
                      <a:pt x="0" y="0"/>
                    </a:moveTo>
                    <a:lnTo>
                      <a:pt x="1905000" y="0"/>
                    </a:lnTo>
                  </a:path>
                </a:pathLst>
              </a:custGeom>
              <a:noFill/>
              <a:ln w="38100">
                <a:solidFill>
                  <a:srgbClr val="1E4FA8"/>
                </a:solidFill>
              </a:ln>
            </p:spPr>
          </p:sp>
          <p:sp>
            <p:nvSpPr>
              <p:cNvPr id="43" name="Polygon 43"/>
              <p:cNvSpPr/>
              <p:nvPr/>
            </p:nvSpPr>
            <p:spPr>
              <a:xfrm>
                <a:off x="5448300" y="4533900"/>
                <a:ext cx="190500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190500">
                    <a:moveTo>
                      <a:pt x="0" y="0"/>
                    </a:moveTo>
                    <a:lnTo>
                      <a:pt x="190500" y="95250"/>
                    </a:lnTo>
                    <a:lnTo>
                      <a:pt x="0" y="190500"/>
                    </a:lnTo>
                    <a:close/>
                  </a:path>
                </a:pathLst>
              </a:custGeom>
              <a:solidFill>
                <a:srgbClr val="1E4FA8"/>
              </a:solidFill>
              <a:ln>
                <a:noFill/>
              </a:ln>
            </p:spPr>
          </p:sp>
          <p:sp>
            <p:nvSpPr>
              <p:cNvPr id="44" name="Line 44"/>
              <p:cNvSpPr/>
              <p:nvPr/>
            </p:nvSpPr>
            <p:spPr>
              <a:xfrm>
                <a:off x="3695700" y="4895850"/>
                <a:ext cx="19050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905000" h="9525">
                    <a:moveTo>
                      <a:pt x="0" y="0"/>
                    </a:moveTo>
                    <a:lnTo>
                      <a:pt x="1905000" y="0"/>
                    </a:lnTo>
                  </a:path>
                </a:pathLst>
              </a:custGeom>
              <a:noFill/>
              <a:ln w="38100">
                <a:solidFill>
                  <a:srgbClr val="3D7BD9"/>
                </a:solidFill>
              </a:ln>
            </p:spPr>
          </p:sp>
          <p:sp>
            <p:nvSpPr>
              <p:cNvPr id="45" name="Polygon 45"/>
              <p:cNvSpPr/>
              <p:nvPr/>
            </p:nvSpPr>
            <p:spPr>
              <a:xfrm>
                <a:off x="5448300" y="4800600"/>
                <a:ext cx="190500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190500">
                    <a:moveTo>
                      <a:pt x="0" y="0"/>
                    </a:moveTo>
                    <a:lnTo>
                      <a:pt x="190500" y="95250"/>
                    </a:lnTo>
                    <a:lnTo>
                      <a:pt x="0" y="190500"/>
                    </a:lnTo>
                    <a:close/>
                  </a:path>
                </a:pathLst>
              </a:custGeom>
              <a:solidFill>
                <a:srgbClr val="3D7BD9"/>
              </a:solidFill>
              <a:ln>
                <a:noFill/>
              </a:ln>
            </p:spPr>
          </p:sp>
        </p:grpSp>
        <p:grpSp>
          <p:nvGrpSpPr>
            <p:cNvPr id="58" name="Group 58"/>
            <p:cNvGrpSpPr/>
            <p:nvPr/>
          </p:nvGrpSpPr>
          <p:grpSpPr>
            <a:xfrm>
              <a:off x="6248400" y="2552700"/>
              <a:ext cx="2457450" cy="2743200"/>
              <a:chOff x="6248400" y="2552700"/>
              <a:chExt cx="2457450" cy="2743200"/>
            </a:xfrm>
          </p:grpSpPr>
          <p:sp>
            <p:nvSpPr>
              <p:cNvPr id="47" name="Rectangle 47"/>
              <p:cNvSpPr/>
              <p:nvPr/>
            </p:nvSpPr>
            <p:spPr>
              <a:xfrm>
                <a:off x="6248400" y="2552700"/>
                <a:ext cx="2457450" cy="2743200"/>
              </a:xfrm>
              <a:prstGeom prst="roundRect">
                <a:avLst>
                  <a:gd name="adj" fmla="val 4651"/>
                </a:avLst>
              </a:prstGeom>
              <a:solidFill>
                <a:srgbClr val="FFFFFF"/>
              </a:solidFill>
              <a:ln w="14288">
                <a:solidFill>
                  <a:srgbClr val="D6DCE5"/>
                </a:solidFill>
              </a:ln>
            </p:spPr>
          </p:sp>
          <p:sp>
            <p:nvSpPr>
              <p:cNvPr id="48" name="Ellipse 48"/>
              <p:cNvSpPr/>
              <p:nvPr/>
            </p:nvSpPr>
            <p:spPr>
              <a:xfrm>
                <a:off x="6381750" y="2705100"/>
                <a:ext cx="304800" cy="304800"/>
              </a:xfrm>
              <a:prstGeom prst="ellipse">
                <a:avLst/>
              </a:prstGeom>
              <a:solidFill>
                <a:srgbClr val="1E4FA8"/>
              </a:solidFill>
              <a:ln>
                <a:noFill/>
              </a:ln>
            </p:spPr>
          </p:sp>
          <p:sp>
            <p:nvSpPr>
              <p:cNvPr id="49" name="TextBox 49"/>
              <p:cNvSpPr txBox="1"/>
              <p:nvPr/>
            </p:nvSpPr>
            <p:spPr>
              <a:xfrm>
                <a:off x="6488001" y="2801302"/>
                <a:ext cx="92298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050" b="1" dirty="0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rPr>
                  <a:t>3</a:t>
                </a: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6776085" y="2793206"/>
                <a:ext cx="614528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b="1" dirty="0">
                    <a:solidFill>
                      <a:srgbClr val="0E3F8C"/>
                    </a:solidFill>
                    <a:latin typeface="Arial"/>
                    <a:ea typeface="Microsoft YaHei"/>
                    <a:cs typeface="Arial"/>
                  </a:rPr>
                  <a:t>冷却凝结</a:t>
                </a:r>
              </a:p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6434138" y="3103245"/>
                <a:ext cx="1331922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900" dirty="0">
                    <a:solidFill>
                      <a:srgbClr val="3D7BD9"/>
                    </a:solidFill>
                    <a:latin typeface="Arial"/>
                    <a:ea typeface="Arial"/>
                    <a:cs typeface="Arial"/>
                  </a:rPr>
                  <a:t>Cooling &amp; Condensation</a:t>
                </a:r>
              </a:p>
            </p:txBody>
          </p:sp>
          <p:sp>
            <p:nvSpPr>
              <p:cNvPr id="52" name="Line 52"/>
              <p:cNvSpPr/>
              <p:nvPr/>
            </p:nvSpPr>
            <p:spPr>
              <a:xfrm>
                <a:off x="6438900" y="3314700"/>
                <a:ext cx="20764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076450" h="9525">
                    <a:moveTo>
                      <a:pt x="0" y="0"/>
                    </a:moveTo>
                    <a:lnTo>
                      <a:pt x="2076450" y="0"/>
                    </a:lnTo>
                  </a:path>
                </a:pathLst>
              </a:custGeom>
              <a:noFill/>
              <a:ln w="9525">
                <a:solidFill>
                  <a:srgbClr val="D6DCE5"/>
                </a:solidFill>
              </a:ln>
            </p:spPr>
          </p:sp>
          <p:sp>
            <p:nvSpPr>
              <p:cNvPr id="53" name="TextBox 53"/>
              <p:cNvSpPr txBox="1"/>
              <p:nvPr/>
            </p:nvSpPr>
            <p:spPr>
              <a:xfrm>
                <a:off x="6434138" y="3499247"/>
                <a:ext cx="1021867" cy="18335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40" dirty="0">
                    <a:solidFill>
                      <a:srgbClr val="1A2230"/>
                    </a:solidFill>
                    <a:latin typeface="Arial"/>
                    <a:ea typeface="Microsoft YaHei"/>
                    <a:cs typeface="Arial"/>
                  </a:rPr>
                  <a:t>湿空气上升冷却，</a:t>
                </a:r>
              </a:p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6434138" y="3746897"/>
                <a:ext cx="1274953" cy="18335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40" dirty="0">
                    <a:solidFill>
                      <a:srgbClr val="1A2230"/>
                    </a:solidFill>
                    <a:latin typeface="Arial"/>
                    <a:ea typeface="Microsoft YaHei"/>
                    <a:cs typeface="Arial"/>
                  </a:rPr>
                  <a:t>水汽凝结成微小云滴。</a:t>
                </a:r>
              </a:p>
            </p:txBody>
          </p:sp>
          <p:sp>
            <p:nvSpPr>
              <p:cNvPr id="55" name="Ellipse 55"/>
              <p:cNvSpPr/>
              <p:nvPr/>
            </p:nvSpPr>
            <p:spPr>
              <a:xfrm>
                <a:off x="6572250" y="4648200"/>
                <a:ext cx="571500" cy="323850"/>
              </a:xfrm>
              <a:prstGeom prst="ellipse">
                <a:avLst/>
              </a:prstGeom>
              <a:solidFill>
                <a:srgbClr val="E8EFF8"/>
              </a:solidFill>
              <a:ln w="14288">
                <a:solidFill>
                  <a:srgbClr val="B8C7DC"/>
                </a:solidFill>
              </a:ln>
            </p:spPr>
          </p:sp>
          <p:sp>
            <p:nvSpPr>
              <p:cNvPr id="56" name="Ellipse 56"/>
              <p:cNvSpPr/>
              <p:nvPr/>
            </p:nvSpPr>
            <p:spPr>
              <a:xfrm>
                <a:off x="6896100" y="4505325"/>
                <a:ext cx="723900" cy="419100"/>
              </a:xfrm>
              <a:prstGeom prst="ellipse">
                <a:avLst/>
              </a:prstGeom>
              <a:solidFill>
                <a:srgbClr val="E8EFF8"/>
              </a:solidFill>
              <a:ln w="14288">
                <a:solidFill>
                  <a:srgbClr val="B8C7DC"/>
                </a:solidFill>
              </a:ln>
            </p:spPr>
          </p:sp>
          <p:sp>
            <p:nvSpPr>
              <p:cNvPr id="57" name="Ellipse 57"/>
              <p:cNvSpPr/>
              <p:nvPr/>
            </p:nvSpPr>
            <p:spPr>
              <a:xfrm>
                <a:off x="7410450" y="4657725"/>
                <a:ext cx="533400" cy="304800"/>
              </a:xfrm>
              <a:prstGeom prst="ellipse">
                <a:avLst/>
              </a:prstGeom>
              <a:solidFill>
                <a:srgbClr val="E8EFF8"/>
              </a:solidFill>
              <a:ln w="14288">
                <a:solidFill>
                  <a:srgbClr val="B8C7DC"/>
                </a:solidFill>
              </a:ln>
            </p:spPr>
          </p:sp>
        </p:grpSp>
        <p:grpSp>
          <p:nvGrpSpPr>
            <p:cNvPr id="73" name="Group 73"/>
            <p:cNvGrpSpPr/>
            <p:nvPr/>
          </p:nvGrpSpPr>
          <p:grpSpPr>
            <a:xfrm>
              <a:off x="9086850" y="2552700"/>
              <a:ext cx="2457450" cy="2743200"/>
              <a:chOff x="9086850" y="2552700"/>
              <a:chExt cx="2457450" cy="2743200"/>
            </a:xfrm>
          </p:grpSpPr>
          <p:sp>
            <p:nvSpPr>
              <p:cNvPr id="59" name="Rectangle 59"/>
              <p:cNvSpPr/>
              <p:nvPr/>
            </p:nvSpPr>
            <p:spPr>
              <a:xfrm>
                <a:off x="9086850" y="2552700"/>
                <a:ext cx="2457450" cy="2743200"/>
              </a:xfrm>
              <a:prstGeom prst="roundRect">
                <a:avLst>
                  <a:gd name="adj" fmla="val 4651"/>
                </a:avLst>
              </a:prstGeom>
              <a:solidFill>
                <a:srgbClr val="FFFFFF"/>
              </a:solidFill>
              <a:ln w="14288">
                <a:solidFill>
                  <a:srgbClr val="D6DCE5"/>
                </a:solidFill>
              </a:ln>
            </p:spPr>
          </p:sp>
          <p:sp>
            <p:nvSpPr>
              <p:cNvPr id="60" name="Ellipse 60"/>
              <p:cNvSpPr/>
              <p:nvPr/>
            </p:nvSpPr>
            <p:spPr>
              <a:xfrm>
                <a:off x="9220200" y="2705100"/>
                <a:ext cx="304800" cy="304800"/>
              </a:xfrm>
              <a:prstGeom prst="ellipse">
                <a:avLst/>
              </a:prstGeom>
              <a:solidFill>
                <a:srgbClr val="1E4FA8"/>
              </a:solidFill>
              <a:ln>
                <a:noFill/>
              </a:ln>
            </p:spPr>
          </p:sp>
          <p:sp>
            <p:nvSpPr>
              <p:cNvPr id="61" name="TextBox 61"/>
              <p:cNvSpPr txBox="1"/>
              <p:nvPr/>
            </p:nvSpPr>
            <p:spPr>
              <a:xfrm>
                <a:off x="9326451" y="2801302"/>
                <a:ext cx="92298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050" b="1" dirty="0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rPr>
                  <a:t>4</a:t>
                </a:r>
              </a:p>
            </p:txBody>
          </p:sp>
          <p:sp>
            <p:nvSpPr>
              <p:cNvPr id="62" name="TextBox 62"/>
              <p:cNvSpPr txBox="1"/>
              <p:nvPr/>
            </p:nvSpPr>
            <p:spPr>
              <a:xfrm>
                <a:off x="9614535" y="2793206"/>
                <a:ext cx="312979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b="1" dirty="0">
                    <a:solidFill>
                      <a:srgbClr val="0E3F8C"/>
                    </a:solidFill>
                    <a:latin typeface="Arial"/>
                    <a:ea typeface="Microsoft YaHei"/>
                    <a:cs typeface="Arial"/>
                  </a:rPr>
                  <a:t>降水</a:t>
                </a:r>
              </a:p>
            </p:txBody>
          </p:sp>
          <p:sp>
            <p:nvSpPr>
              <p:cNvPr id="63" name="TextBox 63"/>
              <p:cNvSpPr txBox="1"/>
              <p:nvPr/>
            </p:nvSpPr>
            <p:spPr>
              <a:xfrm>
                <a:off x="9272588" y="3103245"/>
                <a:ext cx="788312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900" dirty="0">
                    <a:solidFill>
                      <a:srgbClr val="3D7BD9"/>
                    </a:solidFill>
                    <a:latin typeface="Arial"/>
                    <a:ea typeface="Arial"/>
                    <a:cs typeface="Arial"/>
                  </a:rPr>
                  <a:t>Precipitation</a:t>
                </a:r>
              </a:p>
            </p:txBody>
          </p:sp>
          <p:sp>
            <p:nvSpPr>
              <p:cNvPr id="64" name="Line 64"/>
              <p:cNvSpPr/>
              <p:nvPr/>
            </p:nvSpPr>
            <p:spPr>
              <a:xfrm>
                <a:off x="9277350" y="3314700"/>
                <a:ext cx="20764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076450" h="9525">
                    <a:moveTo>
                      <a:pt x="0" y="0"/>
                    </a:moveTo>
                    <a:lnTo>
                      <a:pt x="2076450" y="0"/>
                    </a:lnTo>
                  </a:path>
                </a:pathLst>
              </a:custGeom>
              <a:noFill/>
              <a:ln w="9525">
                <a:solidFill>
                  <a:srgbClr val="D6DCE5"/>
                </a:solidFill>
              </a:ln>
            </p:spPr>
          </p:sp>
          <p:sp>
            <p:nvSpPr>
              <p:cNvPr id="65" name="TextBox 65"/>
              <p:cNvSpPr txBox="1"/>
              <p:nvPr/>
            </p:nvSpPr>
            <p:spPr>
              <a:xfrm>
                <a:off x="9272588" y="3499247"/>
                <a:ext cx="895325" cy="18335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40" dirty="0">
                    <a:solidFill>
                      <a:srgbClr val="1A2230"/>
                    </a:solidFill>
                    <a:latin typeface="Arial"/>
                    <a:ea typeface="Microsoft YaHei"/>
                    <a:cs typeface="Arial"/>
                  </a:rPr>
                  <a:t>云滴碰撞长大，</a:t>
                </a:r>
              </a:p>
            </p:txBody>
          </p:sp>
          <p:sp>
            <p:nvSpPr>
              <p:cNvPr id="66" name="TextBox 66"/>
              <p:cNvSpPr txBox="1"/>
              <p:nvPr/>
            </p:nvSpPr>
            <p:spPr>
              <a:xfrm>
                <a:off x="9272588" y="3746897"/>
                <a:ext cx="1274953" cy="18335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40" dirty="0">
                    <a:solidFill>
                      <a:srgbClr val="1A2230"/>
                    </a:solidFill>
                    <a:latin typeface="Arial"/>
                    <a:ea typeface="Microsoft YaHei"/>
                    <a:cs typeface="Arial"/>
                  </a:rPr>
                  <a:t>以雨、雪等落回地表。</a:t>
                </a:r>
              </a:p>
            </p:txBody>
          </p:sp>
          <p:sp>
            <p:nvSpPr>
              <p:cNvPr id="67" name="Ellipse 67"/>
              <p:cNvSpPr/>
              <p:nvPr/>
            </p:nvSpPr>
            <p:spPr>
              <a:xfrm>
                <a:off x="9601200" y="4429125"/>
                <a:ext cx="419100" cy="247650"/>
              </a:xfrm>
              <a:prstGeom prst="ellipse">
                <a:avLst/>
              </a:prstGeom>
              <a:solidFill>
                <a:srgbClr val="E8EFF8"/>
              </a:solidFill>
              <a:ln w="14288">
                <a:solidFill>
                  <a:srgbClr val="B8C7DC"/>
                </a:solidFill>
              </a:ln>
            </p:spPr>
          </p:sp>
          <p:sp>
            <p:nvSpPr>
              <p:cNvPr id="68" name="Ellipse 68"/>
              <p:cNvSpPr/>
              <p:nvPr/>
            </p:nvSpPr>
            <p:spPr>
              <a:xfrm>
                <a:off x="9848850" y="4333875"/>
                <a:ext cx="533400" cy="304800"/>
              </a:xfrm>
              <a:prstGeom prst="ellipse">
                <a:avLst/>
              </a:prstGeom>
              <a:solidFill>
                <a:srgbClr val="E8EFF8"/>
              </a:solidFill>
              <a:ln w="14288">
                <a:solidFill>
                  <a:srgbClr val="B8C7DC"/>
                </a:solidFill>
              </a:ln>
            </p:spPr>
          </p:sp>
          <p:sp>
            <p:nvSpPr>
              <p:cNvPr id="69" name="Ellipse 69"/>
              <p:cNvSpPr/>
              <p:nvPr/>
            </p:nvSpPr>
            <p:spPr>
              <a:xfrm>
                <a:off x="10239375" y="4438650"/>
                <a:ext cx="400050" cy="228600"/>
              </a:xfrm>
              <a:prstGeom prst="ellipse">
                <a:avLst/>
              </a:prstGeom>
              <a:solidFill>
                <a:srgbClr val="E8EFF8"/>
              </a:solidFill>
              <a:ln w="14288">
                <a:solidFill>
                  <a:srgbClr val="B8C7DC"/>
                </a:solidFill>
              </a:ln>
            </p:spPr>
          </p:sp>
          <p:sp>
            <p:nvSpPr>
              <p:cNvPr id="70" name="Line 70"/>
              <p:cNvSpPr/>
              <p:nvPr/>
            </p:nvSpPr>
            <p:spPr>
              <a:xfrm>
                <a:off x="9810750" y="4724400"/>
                <a:ext cx="9525" cy="2476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47650">
                    <a:moveTo>
                      <a:pt x="0" y="0"/>
                    </a:moveTo>
                    <a:lnTo>
                      <a:pt x="0" y="247650"/>
                    </a:lnTo>
                  </a:path>
                </a:pathLst>
              </a:custGeom>
              <a:noFill/>
              <a:ln w="28575">
                <a:solidFill>
                  <a:srgbClr val="3D7BD9"/>
                </a:solidFill>
              </a:ln>
            </p:spPr>
          </p:sp>
          <p:sp>
            <p:nvSpPr>
              <p:cNvPr id="71" name="Line 71"/>
              <p:cNvSpPr/>
              <p:nvPr/>
            </p:nvSpPr>
            <p:spPr>
              <a:xfrm>
                <a:off x="10134600" y="4724400"/>
                <a:ext cx="9525" cy="2476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47650">
                    <a:moveTo>
                      <a:pt x="0" y="0"/>
                    </a:moveTo>
                    <a:lnTo>
                      <a:pt x="0" y="247650"/>
                    </a:lnTo>
                  </a:path>
                </a:pathLst>
              </a:custGeom>
              <a:noFill/>
              <a:ln w="28575">
                <a:solidFill>
                  <a:srgbClr val="3D7BD9"/>
                </a:solidFill>
              </a:ln>
            </p:spPr>
          </p:sp>
          <p:sp>
            <p:nvSpPr>
              <p:cNvPr id="72" name="Line 72"/>
              <p:cNvSpPr/>
              <p:nvPr/>
            </p:nvSpPr>
            <p:spPr>
              <a:xfrm>
                <a:off x="10458450" y="4724400"/>
                <a:ext cx="9525" cy="2476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47650">
                    <a:moveTo>
                      <a:pt x="0" y="0"/>
                    </a:moveTo>
                    <a:lnTo>
                      <a:pt x="0" y="247650"/>
                    </a:lnTo>
                  </a:path>
                </a:pathLst>
              </a:custGeom>
              <a:noFill/>
              <a:ln w="28575">
                <a:solidFill>
                  <a:srgbClr val="3D7BD9"/>
                </a:solidFill>
              </a:ln>
            </p:spPr>
          </p:sp>
        </p:grpSp>
        <p:grpSp>
          <p:nvGrpSpPr>
            <p:cNvPr id="80" name="Group 80"/>
            <p:cNvGrpSpPr/>
            <p:nvPr/>
          </p:nvGrpSpPr>
          <p:grpSpPr>
            <a:xfrm>
              <a:off x="3028950" y="3667125"/>
              <a:ext cx="6057900" cy="171450"/>
              <a:chOff x="3028950" y="3667125"/>
              <a:chExt cx="6057900" cy="171450"/>
            </a:xfrm>
          </p:grpSpPr>
          <p:sp>
            <p:nvSpPr>
              <p:cNvPr id="74" name="Line 74"/>
              <p:cNvSpPr/>
              <p:nvPr/>
            </p:nvSpPr>
            <p:spPr>
              <a:xfrm>
                <a:off x="3028950" y="3752850"/>
                <a:ext cx="3238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23850" h="9525">
                    <a:moveTo>
                      <a:pt x="0" y="0"/>
                    </a:moveTo>
                    <a:lnTo>
                      <a:pt x="323850" y="0"/>
                    </a:lnTo>
                  </a:path>
                </a:pathLst>
              </a:custGeom>
              <a:noFill/>
              <a:ln w="38100">
                <a:solidFill>
                  <a:srgbClr val="1E4FA8"/>
                </a:solidFill>
              </a:ln>
            </p:spPr>
          </p:sp>
          <p:sp>
            <p:nvSpPr>
              <p:cNvPr id="75" name="Polygon 75"/>
              <p:cNvSpPr/>
              <p:nvPr/>
            </p:nvSpPr>
            <p:spPr>
              <a:xfrm>
                <a:off x="3257550" y="3667125"/>
                <a:ext cx="15240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171450">
                    <a:moveTo>
                      <a:pt x="0" y="0"/>
                    </a:moveTo>
                    <a:lnTo>
                      <a:pt x="152400" y="85725"/>
                    </a:lnTo>
                    <a:lnTo>
                      <a:pt x="0" y="171450"/>
                    </a:lnTo>
                    <a:close/>
                  </a:path>
                </a:pathLst>
              </a:custGeom>
              <a:solidFill>
                <a:srgbClr val="1E4FA8"/>
              </a:solidFill>
              <a:ln>
                <a:noFill/>
              </a:ln>
            </p:spPr>
          </p:sp>
          <p:sp>
            <p:nvSpPr>
              <p:cNvPr id="76" name="Line 76"/>
              <p:cNvSpPr/>
              <p:nvPr/>
            </p:nvSpPr>
            <p:spPr>
              <a:xfrm>
                <a:off x="5867400" y="3752850"/>
                <a:ext cx="3238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23850" h="9525">
                    <a:moveTo>
                      <a:pt x="0" y="0"/>
                    </a:moveTo>
                    <a:lnTo>
                      <a:pt x="323850" y="0"/>
                    </a:lnTo>
                  </a:path>
                </a:pathLst>
              </a:custGeom>
              <a:noFill/>
              <a:ln w="38100">
                <a:solidFill>
                  <a:srgbClr val="1E4FA8"/>
                </a:solidFill>
              </a:ln>
            </p:spPr>
          </p:sp>
          <p:sp>
            <p:nvSpPr>
              <p:cNvPr id="77" name="Polygon 77"/>
              <p:cNvSpPr/>
              <p:nvPr/>
            </p:nvSpPr>
            <p:spPr>
              <a:xfrm>
                <a:off x="6096000" y="3667125"/>
                <a:ext cx="15240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171450">
                    <a:moveTo>
                      <a:pt x="0" y="0"/>
                    </a:moveTo>
                    <a:lnTo>
                      <a:pt x="152400" y="85725"/>
                    </a:lnTo>
                    <a:lnTo>
                      <a:pt x="0" y="171450"/>
                    </a:lnTo>
                    <a:close/>
                  </a:path>
                </a:pathLst>
              </a:custGeom>
              <a:solidFill>
                <a:srgbClr val="1E4FA8"/>
              </a:solidFill>
              <a:ln>
                <a:noFill/>
              </a:ln>
            </p:spPr>
          </p:sp>
          <p:sp>
            <p:nvSpPr>
              <p:cNvPr id="78" name="Line 78"/>
              <p:cNvSpPr/>
              <p:nvPr/>
            </p:nvSpPr>
            <p:spPr>
              <a:xfrm>
                <a:off x="8705850" y="3752850"/>
                <a:ext cx="3238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23850" h="9525">
                    <a:moveTo>
                      <a:pt x="0" y="0"/>
                    </a:moveTo>
                    <a:lnTo>
                      <a:pt x="323850" y="0"/>
                    </a:lnTo>
                  </a:path>
                </a:pathLst>
              </a:custGeom>
              <a:noFill/>
              <a:ln w="38100">
                <a:solidFill>
                  <a:srgbClr val="1E4FA8"/>
                </a:solidFill>
              </a:ln>
            </p:spPr>
          </p:sp>
          <p:sp>
            <p:nvSpPr>
              <p:cNvPr id="79" name="Polygon 79"/>
              <p:cNvSpPr/>
              <p:nvPr/>
            </p:nvSpPr>
            <p:spPr>
              <a:xfrm>
                <a:off x="8934450" y="3667125"/>
                <a:ext cx="15240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171450">
                    <a:moveTo>
                      <a:pt x="0" y="0"/>
                    </a:moveTo>
                    <a:lnTo>
                      <a:pt x="152400" y="85725"/>
                    </a:lnTo>
                    <a:lnTo>
                      <a:pt x="0" y="171450"/>
                    </a:lnTo>
                    <a:close/>
                  </a:path>
                </a:pathLst>
              </a:custGeom>
              <a:solidFill>
                <a:srgbClr val="1E4FA8"/>
              </a:solidFill>
              <a:ln>
                <a:noFill/>
              </a:ln>
            </p:spPr>
          </p:sp>
        </p:grpSp>
        <p:grpSp>
          <p:nvGrpSpPr>
            <p:cNvPr id="83" name="Group 83"/>
            <p:cNvGrpSpPr/>
            <p:nvPr/>
          </p:nvGrpSpPr>
          <p:grpSpPr>
            <a:xfrm>
              <a:off x="571500" y="5448300"/>
              <a:ext cx="11029950" cy="457200"/>
              <a:chOff x="571500" y="5448300"/>
              <a:chExt cx="11029950" cy="457200"/>
            </a:xfrm>
          </p:grpSpPr>
          <p:sp>
            <p:nvSpPr>
              <p:cNvPr id="81" name="Rectangle 81"/>
              <p:cNvSpPr/>
              <p:nvPr/>
            </p:nvSpPr>
            <p:spPr>
              <a:xfrm>
                <a:off x="571500" y="5448300"/>
                <a:ext cx="11029950" cy="457200"/>
              </a:xfrm>
              <a:prstGeom prst="roundRect">
                <a:avLst>
                  <a:gd name="adj" fmla="val 20833"/>
                </a:avLst>
              </a:prstGeom>
              <a:solidFill>
                <a:srgbClr val="E8EFF8"/>
              </a:solidFill>
              <a:ln>
                <a:noFill/>
              </a:ln>
            </p:spPr>
          </p:sp>
          <p:sp>
            <p:nvSpPr>
              <p:cNvPr id="82" name="TextBox 82"/>
              <p:cNvSpPr txBox="1"/>
              <p:nvPr/>
            </p:nvSpPr>
            <p:spPr>
              <a:xfrm>
                <a:off x="3351178" y="5612606"/>
                <a:ext cx="5470594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0" b="1" dirty="0">
                    <a:solidFill>
                      <a:srgbClr val="0E3F8C"/>
                    </a:solidFill>
                    <a:latin typeface="Arial"/>
                    <a:ea typeface="Microsoft YaHei"/>
                    <a:cs typeface="Arial"/>
                  </a:rPr>
                  <a:t>储量小不等于作用小：大气以约 9 天的快速周转，成为海陆之间最活跃的输水通道</a:t>
                </a:r>
              </a:p>
            </p:txBody>
          </p:sp>
        </p:grpSp>
      </p:grpSp>
      <p:sp>
        <p:nvSpPr>
          <p:cNvPr id="85" name="TextBox 85"/>
          <p:cNvSpPr txBox="1"/>
          <p:nvPr/>
        </p:nvSpPr>
        <p:spPr>
          <a:xfrm>
            <a:off x="376238" y="6532245"/>
            <a:ext cx="7471089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4A5568"/>
                </a:solidFill>
                <a:latin typeface="Arial"/>
                <a:ea typeface="Microsoft YaHei"/>
                <a:cs typeface="Arial"/>
              </a:rPr>
              <a:t>Source: UE 8e pp.1653, 1148, 1150; 地球系统与演变 Table 3-1, p.94 (PDF p.9); storage/residence pair verified against W-04.</a:t>
            </a:r>
          </a:p>
        </p:txBody>
      </p:sp>
      <p:sp>
        <p:nvSpPr>
          <p:cNvPr id="86" name="TextBox 86"/>
          <p:cNvSpPr txBox="1"/>
          <p:nvPr/>
        </p:nvSpPr>
        <p:spPr>
          <a:xfrm>
            <a:off x="11672964" y="6532245"/>
            <a:ext cx="142799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4A5568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2192000" cy="685800"/>
            <a:chOff x="0" y="0"/>
            <a:chExt cx="12192000" cy="6858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"/>
            </a:xfrm>
            <a:prstGeom prst="rect">
              <a:avLst/>
            </a:prstGeom>
            <a:solidFill>
              <a:srgbClr val="0E3F8C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374142" y="282892"/>
              <a:ext cx="442523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1.11 降水落地后去了哪里？ | Runoff &amp; Infiltration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10780776" y="299085"/>
              <a:ext cx="10363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00" dirty="0">
                  <a:solidFill>
                    <a:srgbClr val="C7D7F2"/>
                  </a:solidFill>
                  <a:latin typeface="Arial"/>
                  <a:ea typeface="Arial"/>
                  <a:cs typeface="Arial"/>
                </a:rPr>
                <a:t>WATER CYCLE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381000" y="914400"/>
            <a:ext cx="6560439" cy="357093"/>
            <a:chOff x="381000" y="914400"/>
            <a:chExt cx="6560439" cy="357093"/>
          </a:xfrm>
        </p:grpSpPr>
        <p:sp>
          <p:nvSpPr>
            <p:cNvPr id="6" name="Rectangle 6"/>
            <p:cNvSpPr/>
            <p:nvPr/>
          </p:nvSpPr>
          <p:spPr>
            <a:xfrm>
              <a:off x="381000" y="914400"/>
              <a:ext cx="57150" cy="266700"/>
            </a:xfrm>
            <a:prstGeom prst="roundRect">
              <a:avLst>
                <a:gd name="adj" fmla="val 50000"/>
              </a:avLst>
            </a:prstGeom>
            <a:solidFill>
              <a:srgbClr val="1E4FA8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544449" y="963454"/>
              <a:ext cx="639699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0E3F8C"/>
                  </a:solidFill>
                  <a:latin typeface="Arial"/>
                  <a:ea typeface="Microsoft YaHei"/>
                  <a:cs typeface="Arial"/>
                </a:rPr>
                <a:t>落地降水在蒸散、地表与地下径流、入渗之间分配，比例因环境而异</a:t>
              </a:r>
            </a:p>
          </p:txBody>
        </p:sp>
      </p:grpSp>
      <p:grpSp>
        <p:nvGrpSpPr>
          <p:cNvPr id="76" name="Group 76"/>
          <p:cNvGrpSpPr/>
          <p:nvPr/>
        </p:nvGrpSpPr>
        <p:grpSpPr>
          <a:xfrm>
            <a:off x="381000" y="1428750"/>
            <a:ext cx="11430000" cy="4781550"/>
            <a:chOff x="381000" y="1428750"/>
            <a:chExt cx="11430000" cy="4781550"/>
          </a:xfrm>
        </p:grpSpPr>
        <p:sp>
          <p:nvSpPr>
            <p:cNvPr id="9" name="Rectangle 9"/>
            <p:cNvSpPr/>
            <p:nvPr/>
          </p:nvSpPr>
          <p:spPr>
            <a:xfrm>
              <a:off x="381000" y="1428750"/>
              <a:ext cx="11430000" cy="4781550"/>
            </a:xfrm>
            <a:prstGeom prst="roundRect">
              <a:avLst>
                <a:gd name="adj" fmla="val 2390"/>
              </a:avLst>
            </a:prstGeom>
            <a:solidFill>
              <a:srgbClr val="F7F9FC"/>
            </a:solidFill>
            <a:ln w="9525">
              <a:solidFill>
                <a:srgbClr val="D6DCE5"/>
              </a:solidFill>
            </a:ln>
          </p:spPr>
        </p:sp>
        <p:grpSp>
          <p:nvGrpSpPr>
            <p:cNvPr id="57" name="Group 57"/>
            <p:cNvGrpSpPr/>
            <p:nvPr/>
          </p:nvGrpSpPr>
          <p:grpSpPr>
            <a:xfrm>
              <a:off x="571500" y="1581150"/>
              <a:ext cx="7239000" cy="4476750"/>
              <a:chOff x="571500" y="1581150"/>
              <a:chExt cx="7239000" cy="447675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581150"/>
                <a:ext cx="7239000" cy="4476750"/>
              </a:xfrm>
              <a:prstGeom prst="roundRect">
                <a:avLst>
                  <a:gd name="adj" fmla="val 2553"/>
                </a:avLst>
              </a:prstGeom>
              <a:solidFill>
                <a:srgbClr val="FFFFFF"/>
              </a:solidFill>
              <a:ln w="14288">
                <a:solidFill>
                  <a:srgbClr val="D6DCE5"/>
                </a:solidFill>
              </a:ln>
            </p:spPr>
          </p:sp>
          <p:grpSp>
            <p:nvGrpSpPr>
              <p:cNvPr id="21" name="Group 21"/>
              <p:cNvGrpSpPr/>
              <p:nvPr/>
            </p:nvGrpSpPr>
            <p:grpSpPr>
              <a:xfrm>
                <a:off x="2057400" y="1752600"/>
                <a:ext cx="2821359" cy="1581150"/>
                <a:chOff x="2057400" y="1752600"/>
                <a:chExt cx="2821359" cy="1581150"/>
              </a:xfrm>
            </p:grpSpPr>
            <p:sp>
              <p:nvSpPr>
                <p:cNvPr id="11" name="Ellipse 11"/>
                <p:cNvSpPr/>
                <p:nvPr/>
              </p:nvSpPr>
              <p:spPr>
                <a:xfrm>
                  <a:off x="2057400" y="1876425"/>
                  <a:ext cx="647700" cy="342900"/>
                </a:xfrm>
                <a:prstGeom prst="ellipse">
                  <a:avLst/>
                </a:prstGeom>
                <a:solidFill>
                  <a:srgbClr val="E8EFF8"/>
                </a:solidFill>
                <a:ln w="14288">
                  <a:solidFill>
                    <a:srgbClr val="B8C7DC"/>
                  </a:solidFill>
                </a:ln>
              </p:spPr>
            </p:sp>
            <p:sp>
              <p:nvSpPr>
                <p:cNvPr id="12" name="Ellipse 12"/>
                <p:cNvSpPr/>
                <p:nvPr/>
              </p:nvSpPr>
              <p:spPr>
                <a:xfrm>
                  <a:off x="2343150" y="1752600"/>
                  <a:ext cx="800100" cy="419100"/>
                </a:xfrm>
                <a:prstGeom prst="ellipse">
                  <a:avLst/>
                </a:prstGeom>
                <a:solidFill>
                  <a:srgbClr val="E8EFF8"/>
                </a:solidFill>
                <a:ln w="14288">
                  <a:solidFill>
                    <a:srgbClr val="B8C7DC"/>
                  </a:solidFill>
                </a:ln>
              </p:spPr>
            </p:sp>
            <p:sp>
              <p:nvSpPr>
                <p:cNvPr id="13" name="Ellipse 13"/>
                <p:cNvSpPr/>
                <p:nvPr/>
              </p:nvSpPr>
              <p:spPr>
                <a:xfrm>
                  <a:off x="2838450" y="1885950"/>
                  <a:ext cx="609600" cy="323850"/>
                </a:xfrm>
                <a:prstGeom prst="ellipse">
                  <a:avLst/>
                </a:prstGeom>
                <a:solidFill>
                  <a:srgbClr val="E8EFF8"/>
                </a:solidFill>
                <a:ln w="14288">
                  <a:solidFill>
                    <a:srgbClr val="B8C7DC"/>
                  </a:solidFill>
                </a:ln>
              </p:spPr>
            </p:sp>
            <p:sp>
              <p:nvSpPr>
                <p:cNvPr id="14" name="TextBox 14"/>
                <p:cNvSpPr txBox="1"/>
                <p:nvPr/>
              </p:nvSpPr>
              <p:spPr>
                <a:xfrm>
                  <a:off x="3671697" y="1914049"/>
                  <a:ext cx="1207062" cy="19069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980" b="1" dirty="0">
                      <a:solidFill>
                        <a:srgbClr val="1E4FA8"/>
                      </a:solidFill>
                      <a:latin typeface="Arial"/>
                      <a:ea typeface="Microsoft YaHei"/>
                      <a:cs typeface="Arial"/>
                    </a:rPr>
                    <a:t>降水 Precipitation</a:t>
                  </a:r>
                </a:p>
              </p:txBody>
            </p:sp>
            <p:sp>
              <p:nvSpPr>
                <p:cNvPr id="15" name="Line 15"/>
                <p:cNvSpPr/>
                <p:nvPr/>
              </p:nvSpPr>
              <p:spPr>
                <a:xfrm>
                  <a:off x="2286000" y="2286000"/>
                  <a:ext cx="9525" cy="933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33450">
                      <a:moveTo>
                        <a:pt x="0" y="0"/>
                      </a:moveTo>
                      <a:lnTo>
                        <a:pt x="0" y="933450"/>
                      </a:lnTo>
                    </a:path>
                  </a:pathLst>
                </a:custGeom>
                <a:noFill/>
                <a:ln w="28575">
                  <a:solidFill>
                    <a:srgbClr val="3D7BD9"/>
                  </a:solidFill>
                </a:ln>
              </p:spPr>
            </p:sp>
            <p:sp>
              <p:nvSpPr>
                <p:cNvPr id="16" name="Polygon 16"/>
                <p:cNvSpPr/>
                <p:nvPr/>
              </p:nvSpPr>
              <p:spPr>
                <a:xfrm>
                  <a:off x="2219325" y="3124200"/>
                  <a:ext cx="133350" cy="133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350" h="133350">
                      <a:moveTo>
                        <a:pt x="0" y="0"/>
                      </a:moveTo>
                      <a:lnTo>
                        <a:pt x="66675" y="133350"/>
                      </a:lnTo>
                      <a:lnTo>
                        <a:pt x="133350" y="0"/>
                      </a:lnTo>
                      <a:close/>
                    </a:path>
                  </a:pathLst>
                </a:custGeom>
                <a:solidFill>
                  <a:srgbClr val="3D7BD9"/>
                </a:solidFill>
                <a:ln>
                  <a:noFill/>
                </a:ln>
              </p:spPr>
            </p:sp>
            <p:sp>
              <p:nvSpPr>
                <p:cNvPr id="17" name="Line 17"/>
                <p:cNvSpPr/>
                <p:nvPr/>
              </p:nvSpPr>
              <p:spPr>
                <a:xfrm>
                  <a:off x="2705100" y="2324100"/>
                  <a:ext cx="9525" cy="9715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71550">
                      <a:moveTo>
                        <a:pt x="0" y="0"/>
                      </a:moveTo>
                      <a:lnTo>
                        <a:pt x="0" y="971550"/>
                      </a:lnTo>
                    </a:path>
                  </a:pathLst>
                </a:custGeom>
                <a:noFill/>
                <a:ln w="28575">
                  <a:solidFill>
                    <a:srgbClr val="3D7BD9"/>
                  </a:solidFill>
                </a:ln>
              </p:spPr>
            </p:sp>
            <p:sp>
              <p:nvSpPr>
                <p:cNvPr id="18" name="Polygon 18"/>
                <p:cNvSpPr/>
                <p:nvPr/>
              </p:nvSpPr>
              <p:spPr>
                <a:xfrm>
                  <a:off x="2638425" y="3200400"/>
                  <a:ext cx="133350" cy="133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350" h="133350">
                      <a:moveTo>
                        <a:pt x="0" y="0"/>
                      </a:moveTo>
                      <a:lnTo>
                        <a:pt x="66675" y="133350"/>
                      </a:lnTo>
                      <a:lnTo>
                        <a:pt x="133350" y="0"/>
                      </a:lnTo>
                      <a:close/>
                    </a:path>
                  </a:pathLst>
                </a:custGeom>
                <a:solidFill>
                  <a:srgbClr val="3D7BD9"/>
                </a:solidFill>
                <a:ln>
                  <a:noFill/>
                </a:ln>
              </p:spPr>
            </p:sp>
            <p:sp>
              <p:nvSpPr>
                <p:cNvPr id="19" name="Line 19"/>
                <p:cNvSpPr/>
                <p:nvPr/>
              </p:nvSpPr>
              <p:spPr>
                <a:xfrm>
                  <a:off x="3105150" y="2286000"/>
                  <a:ext cx="9525" cy="933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33450">
                      <a:moveTo>
                        <a:pt x="0" y="0"/>
                      </a:moveTo>
                      <a:lnTo>
                        <a:pt x="0" y="933450"/>
                      </a:lnTo>
                    </a:path>
                  </a:pathLst>
                </a:custGeom>
                <a:noFill/>
                <a:ln w="28575">
                  <a:solidFill>
                    <a:srgbClr val="3D7BD9"/>
                  </a:solidFill>
                </a:ln>
              </p:spPr>
            </p:sp>
            <p:sp>
              <p:nvSpPr>
                <p:cNvPr id="20" name="Polygon 20"/>
                <p:cNvSpPr/>
                <p:nvPr/>
              </p:nvSpPr>
              <p:spPr>
                <a:xfrm>
                  <a:off x="3038475" y="3124200"/>
                  <a:ext cx="133350" cy="133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350" h="133350">
                      <a:moveTo>
                        <a:pt x="0" y="0"/>
                      </a:moveTo>
                      <a:lnTo>
                        <a:pt x="66675" y="133350"/>
                      </a:lnTo>
                      <a:lnTo>
                        <a:pt x="133350" y="0"/>
                      </a:lnTo>
                      <a:close/>
                    </a:path>
                  </a:pathLst>
                </a:custGeom>
                <a:solidFill>
                  <a:srgbClr val="3D7BD9"/>
                </a:solidFill>
                <a:ln>
                  <a:noFill/>
                </a:ln>
              </p:spPr>
            </p:sp>
          </p:grpSp>
          <p:grpSp>
            <p:nvGrpSpPr>
              <p:cNvPr id="34" name="Group 34"/>
              <p:cNvGrpSpPr/>
              <p:nvPr/>
            </p:nvGrpSpPr>
            <p:grpSpPr>
              <a:xfrm>
                <a:off x="685800" y="3143250"/>
                <a:ext cx="7010400" cy="2800350"/>
                <a:chOff x="685800" y="3143250"/>
                <a:chExt cx="7010400" cy="2800350"/>
              </a:xfrm>
            </p:grpSpPr>
            <p:sp>
              <p:nvSpPr>
                <p:cNvPr id="22" name="Polygon 22"/>
                <p:cNvSpPr/>
                <p:nvPr/>
              </p:nvSpPr>
              <p:spPr>
                <a:xfrm>
                  <a:off x="685800" y="3143250"/>
                  <a:ext cx="5981700" cy="2800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81700" h="2800350">
                      <a:moveTo>
                        <a:pt x="171450" y="0"/>
                      </a:moveTo>
                      <a:lnTo>
                        <a:pt x="5981700" y="1019175"/>
                      </a:lnTo>
                      <a:lnTo>
                        <a:pt x="5981700" y="2800350"/>
                      </a:lnTo>
                      <a:lnTo>
                        <a:pt x="0" y="2800350"/>
                      </a:lnTo>
                      <a:close/>
                    </a:path>
                  </a:pathLst>
                </a:custGeom>
                <a:solidFill>
                  <a:srgbClr val="EFEDE7"/>
                </a:solidFill>
                <a:ln w="9525">
                  <a:solidFill>
                    <a:srgbClr val="D6DCE5"/>
                  </a:solidFill>
                </a:ln>
              </p:spPr>
            </p:sp>
            <p:sp>
              <p:nvSpPr>
                <p:cNvPr id="23" name="Rectangle 23"/>
                <p:cNvSpPr/>
                <p:nvPr/>
              </p:nvSpPr>
              <p:spPr>
                <a:xfrm>
                  <a:off x="6667500" y="4162425"/>
                  <a:ext cx="1028700" cy="1781175"/>
                </a:xfrm>
                <a:prstGeom prst="rect">
                  <a:avLst/>
                </a:prstGeom>
                <a:solidFill>
                  <a:srgbClr val="DCEAF8"/>
                </a:solidFill>
                <a:ln>
                  <a:noFill/>
                </a:ln>
              </p:spPr>
            </p:sp>
            <p:sp>
              <p:nvSpPr>
                <p:cNvPr id="24" name="Freeform 24"/>
                <p:cNvSpPr/>
                <p:nvPr/>
              </p:nvSpPr>
              <p:spPr>
                <a:xfrm>
                  <a:off x="6667500" y="4105275"/>
                  <a:ext cx="1028700" cy="142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28700" h="142875">
                      <a:moveTo>
                        <a:pt x="0" y="57150"/>
                      </a:moveTo>
                      <a:cubicBezTo>
                        <a:pt x="257175" y="0"/>
                        <a:pt x="504825" y="114300"/>
                        <a:pt x="762000" y="57150"/>
                      </a:cubicBezTo>
                      <a:cubicBezTo>
                        <a:pt x="895350" y="28575"/>
                        <a:pt x="971550" y="38100"/>
                        <a:pt x="1028700" y="57150"/>
                      </a:cubicBezTo>
                      <a:lnTo>
                        <a:pt x="1028700" y="142875"/>
                      </a:lnTo>
                      <a:lnTo>
                        <a:pt x="0" y="142875"/>
                      </a:lnTo>
                      <a:close/>
                    </a:path>
                  </a:pathLst>
                </a:custGeom>
                <a:solidFill>
                  <a:srgbClr val="DCEAF8"/>
                </a:solidFill>
                <a:ln w="9525">
                  <a:solidFill>
                    <a:srgbClr val="B8C7DC"/>
                  </a:solidFill>
                </a:ln>
              </p:spPr>
            </p:sp>
            <p:sp>
              <p:nvSpPr>
                <p:cNvPr id="25" name="Ellipse 25"/>
                <p:cNvSpPr/>
                <p:nvPr/>
              </p:nvSpPr>
              <p:spPr>
                <a:xfrm>
                  <a:off x="1690688" y="4929188"/>
                  <a:ext cx="47625" cy="47625"/>
                </a:xfrm>
                <a:prstGeom prst="ellipse">
                  <a:avLst/>
                </a:prstGeom>
                <a:solidFill>
                  <a:srgbClr val="D6DCE5"/>
                </a:solidFill>
                <a:ln>
                  <a:noFill/>
                </a:ln>
              </p:spPr>
            </p:sp>
            <p:sp>
              <p:nvSpPr>
                <p:cNvPr id="26" name="Ellipse 26"/>
                <p:cNvSpPr/>
                <p:nvPr/>
              </p:nvSpPr>
              <p:spPr>
                <a:xfrm>
                  <a:off x="2262188" y="5310188"/>
                  <a:ext cx="47625" cy="47625"/>
                </a:xfrm>
                <a:prstGeom prst="ellipse">
                  <a:avLst/>
                </a:prstGeom>
                <a:solidFill>
                  <a:srgbClr val="D6DCE5"/>
                </a:solidFill>
                <a:ln>
                  <a:noFill/>
                </a:ln>
              </p:spPr>
            </p:sp>
            <p:sp>
              <p:nvSpPr>
                <p:cNvPr id="27" name="Ellipse 27"/>
                <p:cNvSpPr/>
                <p:nvPr/>
              </p:nvSpPr>
              <p:spPr>
                <a:xfrm>
                  <a:off x="3119438" y="5500688"/>
                  <a:ext cx="47625" cy="47625"/>
                </a:xfrm>
                <a:prstGeom prst="ellipse">
                  <a:avLst/>
                </a:prstGeom>
                <a:solidFill>
                  <a:srgbClr val="D6DCE5"/>
                </a:solidFill>
                <a:ln>
                  <a:noFill/>
                </a:ln>
              </p:spPr>
            </p:sp>
            <p:sp>
              <p:nvSpPr>
                <p:cNvPr id="28" name="Ellipse 28"/>
                <p:cNvSpPr/>
                <p:nvPr/>
              </p:nvSpPr>
              <p:spPr>
                <a:xfrm>
                  <a:off x="4738688" y="5500688"/>
                  <a:ext cx="47625" cy="47625"/>
                </a:xfrm>
                <a:prstGeom prst="ellipse">
                  <a:avLst/>
                </a:prstGeom>
                <a:solidFill>
                  <a:srgbClr val="D6DCE5"/>
                </a:solidFill>
                <a:ln>
                  <a:noFill/>
                </a:ln>
              </p:spPr>
            </p:sp>
            <p:sp>
              <p:nvSpPr>
                <p:cNvPr id="29" name="Ellipse 29"/>
                <p:cNvSpPr/>
                <p:nvPr/>
              </p:nvSpPr>
              <p:spPr>
                <a:xfrm>
                  <a:off x="5310188" y="5119688"/>
                  <a:ext cx="47625" cy="47625"/>
                </a:xfrm>
                <a:prstGeom prst="ellipse">
                  <a:avLst/>
                </a:prstGeom>
                <a:solidFill>
                  <a:srgbClr val="D6DCE5"/>
                </a:solidFill>
                <a:ln>
                  <a:noFill/>
                </a:ln>
              </p:spPr>
            </p:sp>
            <p:sp>
              <p:nvSpPr>
                <p:cNvPr id="30" name="Ellipse 30"/>
                <p:cNvSpPr/>
                <p:nvPr/>
              </p:nvSpPr>
              <p:spPr>
                <a:xfrm>
                  <a:off x="1881188" y="5691188"/>
                  <a:ext cx="47625" cy="47625"/>
                </a:xfrm>
                <a:prstGeom prst="ellipse">
                  <a:avLst/>
                </a:prstGeom>
                <a:solidFill>
                  <a:srgbClr val="D6DCE5"/>
                </a:solidFill>
                <a:ln>
                  <a:noFill/>
                </a:ln>
              </p:spPr>
            </p:sp>
            <p:sp>
              <p:nvSpPr>
                <p:cNvPr id="31" name="TextBox 31"/>
                <p:cNvSpPr txBox="1"/>
                <p:nvPr/>
              </p:nvSpPr>
              <p:spPr>
                <a:xfrm>
                  <a:off x="6827076" y="4402693"/>
                  <a:ext cx="709549" cy="169069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ctr"/>
                  <a:r>
                    <a:rPr lang="zh-CN" sz="860" b="1" dirty="0">
                      <a:solidFill>
                        <a:srgbClr val="1E4FA8"/>
                      </a:solidFill>
                      <a:latin typeface="Arial"/>
                      <a:ea typeface="Microsoft YaHei"/>
                      <a:cs typeface="Arial"/>
                    </a:rPr>
                    <a:t>河道 Stream</a:t>
                  </a:r>
                </a:p>
              </p:txBody>
            </p:sp>
            <p:sp>
              <p:nvSpPr>
                <p:cNvPr id="32" name="Line 32"/>
                <p:cNvSpPr/>
                <p:nvPr/>
              </p:nvSpPr>
              <p:spPr>
                <a:xfrm>
                  <a:off x="6781800" y="5334000"/>
                  <a:ext cx="72390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23900" h="9525">
                      <a:moveTo>
                        <a:pt x="0" y="0"/>
                      </a:moveTo>
                      <a:lnTo>
                        <a:pt x="723900" y="0"/>
                      </a:lnTo>
                    </a:path>
                  </a:pathLst>
                </a:custGeom>
                <a:noFill/>
                <a:ln w="19050">
                  <a:solidFill>
                    <a:srgbClr val="3D7BD9"/>
                  </a:solidFill>
                </a:ln>
              </p:spPr>
            </p:sp>
            <p:sp>
              <p:nvSpPr>
                <p:cNvPr id="33" name="Polygon 33"/>
                <p:cNvSpPr/>
                <p:nvPr/>
              </p:nvSpPr>
              <p:spPr>
                <a:xfrm>
                  <a:off x="7429500" y="5286375"/>
                  <a:ext cx="95250" cy="95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0" h="95250">
                      <a:moveTo>
                        <a:pt x="0" y="0"/>
                      </a:moveTo>
                      <a:lnTo>
                        <a:pt x="95250" y="47625"/>
                      </a:lnTo>
                      <a:lnTo>
                        <a:pt x="0" y="95250"/>
                      </a:lnTo>
                      <a:close/>
                    </a:path>
                  </a:pathLst>
                </a:custGeom>
                <a:solidFill>
                  <a:srgbClr val="3D7BD9"/>
                </a:solidFill>
                <a:ln>
                  <a:noFill/>
                </a:ln>
              </p:spPr>
            </p:sp>
          </p:grpSp>
          <p:grpSp>
            <p:nvGrpSpPr>
              <p:cNvPr id="39" name="Group 39"/>
              <p:cNvGrpSpPr/>
              <p:nvPr/>
            </p:nvGrpSpPr>
            <p:grpSpPr>
              <a:xfrm>
                <a:off x="1343025" y="2409825"/>
                <a:ext cx="706846" cy="819150"/>
                <a:chOff x="1343025" y="2409825"/>
                <a:chExt cx="706846" cy="819150"/>
              </a:xfrm>
            </p:grpSpPr>
            <p:sp>
              <p:nvSpPr>
                <p:cNvPr id="35" name="Line 35"/>
                <p:cNvSpPr/>
                <p:nvPr/>
              </p:nvSpPr>
              <p:spPr>
                <a:xfrm>
                  <a:off x="1428750" y="2428875"/>
                  <a:ext cx="9525" cy="800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800100">
                      <a:moveTo>
                        <a:pt x="0" y="800100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38100">
                  <a:solidFill>
                    <a:srgbClr val="1E4FA8"/>
                  </a:solidFill>
                </a:ln>
              </p:spPr>
            </p:sp>
            <p:sp>
              <p:nvSpPr>
                <p:cNvPr id="36" name="Polygon 36"/>
                <p:cNvSpPr/>
                <p:nvPr/>
              </p:nvSpPr>
              <p:spPr>
                <a:xfrm>
                  <a:off x="1343025" y="2409825"/>
                  <a:ext cx="171450" cy="152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52400">
                      <a:moveTo>
                        <a:pt x="0" y="152400"/>
                      </a:moveTo>
                      <a:lnTo>
                        <a:pt x="85725" y="0"/>
                      </a:lnTo>
                      <a:lnTo>
                        <a:pt x="171450" y="152400"/>
                      </a:lnTo>
                      <a:close/>
                    </a:path>
                  </a:pathLst>
                </a:custGeom>
                <a:solidFill>
                  <a:srgbClr val="1E4FA8"/>
                </a:solidFill>
                <a:ln>
                  <a:noFill/>
                </a:ln>
              </p:spPr>
            </p:sp>
            <p:sp>
              <p:nvSpPr>
                <p:cNvPr id="37" name="TextBox 37"/>
                <p:cNvSpPr txBox="1"/>
                <p:nvPr/>
              </p:nvSpPr>
              <p:spPr>
                <a:xfrm>
                  <a:off x="1576388" y="2613422"/>
                  <a:ext cx="473483" cy="18335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940" b="1" dirty="0">
                      <a:solidFill>
                        <a:srgbClr val="1E4FA8"/>
                      </a:solidFill>
                      <a:latin typeface="Arial"/>
                      <a:ea typeface="Microsoft YaHei"/>
                      <a:cs typeface="Arial"/>
                    </a:rPr>
                    <a:t>蒸散 ET</a:t>
                  </a:r>
                </a:p>
              </p:txBody>
            </p:sp>
            <p:sp>
              <p:nvSpPr>
                <p:cNvPr id="38" name="TextBox 38"/>
                <p:cNvSpPr txBox="1"/>
                <p:nvPr/>
              </p:nvSpPr>
              <p:spPr>
                <a:xfrm>
                  <a:off x="1576388" y="2831068"/>
                  <a:ext cx="472618" cy="169069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860" dirty="0">
                      <a:solidFill>
                        <a:srgbClr val="4A5568"/>
                      </a:solidFill>
                      <a:latin typeface="Arial"/>
                      <a:ea typeface="Microsoft YaHei"/>
                      <a:cs typeface="Arial"/>
                    </a:rPr>
                    <a:t>返回大气</a:t>
                  </a:r>
                </a:p>
              </p:txBody>
            </p:sp>
          </p:grpSp>
          <p:grpSp>
            <p:nvGrpSpPr>
              <p:cNvPr id="43" name="Group 43"/>
              <p:cNvGrpSpPr/>
              <p:nvPr/>
            </p:nvGrpSpPr>
            <p:grpSpPr>
              <a:xfrm>
                <a:off x="2381250" y="3295650"/>
                <a:ext cx="4019550" cy="828675"/>
                <a:chOff x="2381250" y="3295650"/>
                <a:chExt cx="4019550" cy="828675"/>
              </a:xfrm>
            </p:grpSpPr>
            <p:sp>
              <p:nvSpPr>
                <p:cNvPr id="40" name="Line 40"/>
                <p:cNvSpPr/>
                <p:nvPr/>
              </p:nvSpPr>
              <p:spPr>
                <a:xfrm>
                  <a:off x="2381250" y="3295650"/>
                  <a:ext cx="4019550" cy="781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19550" h="781050">
                      <a:moveTo>
                        <a:pt x="0" y="0"/>
                      </a:moveTo>
                      <a:lnTo>
                        <a:pt x="4019550" y="781050"/>
                      </a:lnTo>
                    </a:path>
                  </a:pathLst>
                </a:custGeom>
                <a:noFill/>
                <a:ln w="47625">
                  <a:solidFill>
                    <a:srgbClr val="3D7BD9"/>
                  </a:solidFill>
                </a:ln>
              </p:spPr>
            </p:sp>
            <p:sp>
              <p:nvSpPr>
                <p:cNvPr id="41" name="Polygon 41"/>
                <p:cNvSpPr/>
                <p:nvPr/>
              </p:nvSpPr>
              <p:spPr>
                <a:xfrm>
                  <a:off x="6172200" y="3952875"/>
                  <a:ext cx="228600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600" h="171450">
                      <a:moveTo>
                        <a:pt x="0" y="0"/>
                      </a:moveTo>
                      <a:lnTo>
                        <a:pt x="228600" y="123825"/>
                      </a:lnTo>
                      <a:lnTo>
                        <a:pt x="38100" y="171450"/>
                      </a:lnTo>
                      <a:close/>
                    </a:path>
                  </a:pathLst>
                </a:custGeom>
                <a:solidFill>
                  <a:srgbClr val="3D7BD9"/>
                </a:solidFill>
                <a:ln>
                  <a:noFill/>
                </a:ln>
              </p:spPr>
            </p:sp>
            <p:sp>
              <p:nvSpPr>
                <p:cNvPr id="42" name="TextBox 42"/>
                <p:cNvSpPr txBox="1"/>
                <p:nvPr/>
              </p:nvSpPr>
              <p:spPr>
                <a:xfrm>
                  <a:off x="3805238" y="3384947"/>
                  <a:ext cx="1465910" cy="18335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940" b="1" dirty="0">
                      <a:solidFill>
                        <a:srgbClr val="1E4FA8"/>
                      </a:solidFill>
                      <a:latin typeface="Arial"/>
                      <a:ea typeface="Microsoft YaHei"/>
                      <a:cs typeface="Arial"/>
                    </a:rPr>
                    <a:t>地表径流 Overland flow</a:t>
                  </a:r>
                </a:p>
              </p:txBody>
            </p:sp>
          </p:grpSp>
          <p:grpSp>
            <p:nvGrpSpPr>
              <p:cNvPr id="56" name="Group 56"/>
              <p:cNvGrpSpPr/>
              <p:nvPr/>
            </p:nvGrpSpPr>
            <p:grpSpPr>
              <a:xfrm>
                <a:off x="909638" y="3486150"/>
                <a:ext cx="5700712" cy="2362200"/>
                <a:chOff x="909638" y="3486150"/>
                <a:chExt cx="5700712" cy="2362200"/>
              </a:xfrm>
            </p:grpSpPr>
            <p:sp>
              <p:nvSpPr>
                <p:cNvPr id="44" name="Line 44"/>
                <p:cNvSpPr/>
                <p:nvPr/>
              </p:nvSpPr>
              <p:spPr>
                <a:xfrm>
                  <a:off x="2857500" y="3486150"/>
                  <a:ext cx="9525" cy="723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723900">
                      <a:moveTo>
                        <a:pt x="0" y="0"/>
                      </a:moveTo>
                      <a:lnTo>
                        <a:pt x="0" y="723900"/>
                      </a:lnTo>
                    </a:path>
                  </a:pathLst>
                </a:custGeom>
                <a:noFill/>
                <a:ln w="28575">
                  <a:solidFill>
                    <a:srgbClr val="3D7BD9"/>
                  </a:solidFill>
                </a:ln>
              </p:spPr>
            </p:sp>
            <p:sp>
              <p:nvSpPr>
                <p:cNvPr id="45" name="Polygon 45"/>
                <p:cNvSpPr/>
                <p:nvPr/>
              </p:nvSpPr>
              <p:spPr>
                <a:xfrm>
                  <a:off x="2790825" y="4095750"/>
                  <a:ext cx="133350" cy="152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350" h="152400">
                      <a:moveTo>
                        <a:pt x="0" y="0"/>
                      </a:moveTo>
                      <a:lnTo>
                        <a:pt x="66675" y="152400"/>
                      </a:lnTo>
                      <a:lnTo>
                        <a:pt x="133350" y="0"/>
                      </a:lnTo>
                      <a:close/>
                    </a:path>
                  </a:pathLst>
                </a:custGeom>
                <a:solidFill>
                  <a:srgbClr val="3D7BD9"/>
                </a:solidFill>
                <a:ln>
                  <a:noFill/>
                </a:ln>
              </p:spPr>
            </p:sp>
            <p:sp>
              <p:nvSpPr>
                <p:cNvPr id="46" name="Line 46"/>
                <p:cNvSpPr/>
                <p:nvPr/>
              </p:nvSpPr>
              <p:spPr>
                <a:xfrm>
                  <a:off x="3333750" y="3552825"/>
                  <a:ext cx="9525" cy="6572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657225">
                      <a:moveTo>
                        <a:pt x="0" y="0"/>
                      </a:moveTo>
                      <a:lnTo>
                        <a:pt x="0" y="657225"/>
                      </a:lnTo>
                    </a:path>
                  </a:pathLst>
                </a:custGeom>
                <a:noFill/>
                <a:ln w="28575">
                  <a:solidFill>
                    <a:srgbClr val="3D7BD9"/>
                  </a:solidFill>
                </a:ln>
              </p:spPr>
            </p:sp>
            <p:sp>
              <p:nvSpPr>
                <p:cNvPr id="47" name="Polygon 47"/>
                <p:cNvSpPr/>
                <p:nvPr/>
              </p:nvSpPr>
              <p:spPr>
                <a:xfrm>
                  <a:off x="3267075" y="4095750"/>
                  <a:ext cx="133350" cy="152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350" h="152400">
                      <a:moveTo>
                        <a:pt x="0" y="0"/>
                      </a:moveTo>
                      <a:lnTo>
                        <a:pt x="66675" y="152400"/>
                      </a:lnTo>
                      <a:lnTo>
                        <a:pt x="133350" y="0"/>
                      </a:lnTo>
                      <a:close/>
                    </a:path>
                  </a:pathLst>
                </a:custGeom>
                <a:solidFill>
                  <a:srgbClr val="3D7BD9"/>
                </a:solidFill>
                <a:ln>
                  <a:noFill/>
                </a:ln>
              </p:spPr>
            </p:sp>
            <p:sp>
              <p:nvSpPr>
                <p:cNvPr id="48" name="TextBox 48"/>
                <p:cNvSpPr txBox="1"/>
                <p:nvPr/>
              </p:nvSpPr>
              <p:spPr>
                <a:xfrm>
                  <a:off x="909638" y="4398645"/>
                  <a:ext cx="2346123" cy="17621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900" b="1" dirty="0">
                      <a:solidFill>
                        <a:srgbClr val="1E4FA8"/>
                      </a:solidFill>
                      <a:latin typeface="Arial"/>
                      <a:ea typeface="Microsoft YaHei"/>
                      <a:cs typeface="Arial"/>
                    </a:rPr>
                    <a:t>入渗 Infiltration：经孔隙、裂隙进入土壤</a:t>
                  </a:r>
                </a:p>
              </p:txBody>
            </p:sp>
            <p:sp>
              <p:nvSpPr>
                <p:cNvPr id="49" name="Line 49"/>
                <p:cNvSpPr/>
                <p:nvPr/>
              </p:nvSpPr>
              <p:spPr>
                <a:xfrm>
                  <a:off x="3333750" y="4686300"/>
                  <a:ext cx="2952750" cy="142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52750" h="142875">
                      <a:moveTo>
                        <a:pt x="0" y="0"/>
                      </a:moveTo>
                      <a:lnTo>
                        <a:pt x="2952750" y="142875"/>
                      </a:lnTo>
                    </a:path>
                  </a:pathLst>
                </a:custGeom>
                <a:noFill/>
                <a:ln w="28575">
                  <a:solidFill>
                    <a:srgbClr val="1E4FA8"/>
                  </a:solidFill>
                </a:ln>
              </p:spPr>
            </p:sp>
            <p:sp>
              <p:nvSpPr>
                <p:cNvPr id="50" name="Line 50"/>
                <p:cNvSpPr/>
                <p:nvPr/>
              </p:nvSpPr>
              <p:spPr>
                <a:xfrm>
                  <a:off x="6286500" y="4267200"/>
                  <a:ext cx="323850" cy="5619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3850" h="561975">
                      <a:moveTo>
                        <a:pt x="0" y="561975"/>
                      </a:moveTo>
                      <a:lnTo>
                        <a:pt x="323850" y="0"/>
                      </a:lnTo>
                    </a:path>
                  </a:pathLst>
                </a:custGeom>
                <a:noFill/>
                <a:ln w="28575">
                  <a:solidFill>
                    <a:srgbClr val="1E4FA8"/>
                  </a:solidFill>
                </a:ln>
              </p:spPr>
            </p:sp>
            <p:sp>
              <p:nvSpPr>
                <p:cNvPr id="51" name="Polygon 51"/>
                <p:cNvSpPr/>
                <p:nvPr/>
              </p:nvSpPr>
              <p:spPr>
                <a:xfrm>
                  <a:off x="6457950" y="4267200"/>
                  <a:ext cx="152400" cy="1809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2400" h="180975">
                      <a:moveTo>
                        <a:pt x="133350" y="180975"/>
                      </a:moveTo>
                      <a:lnTo>
                        <a:pt x="152400" y="0"/>
                      </a:lnTo>
                      <a:lnTo>
                        <a:pt x="0" y="104775"/>
                      </a:lnTo>
                      <a:close/>
                    </a:path>
                  </a:pathLst>
                </a:custGeom>
                <a:solidFill>
                  <a:srgbClr val="1E4FA8"/>
                </a:solidFill>
                <a:ln>
                  <a:noFill/>
                </a:ln>
              </p:spPr>
            </p:sp>
            <p:sp>
              <p:nvSpPr>
                <p:cNvPr id="52" name="TextBox 52"/>
                <p:cNvSpPr txBox="1"/>
                <p:nvPr/>
              </p:nvSpPr>
              <p:spPr>
                <a:xfrm>
                  <a:off x="3652838" y="5012293"/>
                  <a:ext cx="1746123" cy="169069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860" dirty="0">
                      <a:solidFill>
                        <a:srgbClr val="4A5568"/>
                      </a:solidFill>
                      <a:latin typeface="Arial"/>
                      <a:ea typeface="Microsoft YaHei"/>
                      <a:cs typeface="Arial"/>
                    </a:rPr>
                    <a:t>近地表入渗水回归地表、并入径流</a:t>
                  </a:r>
                </a:p>
              </p:txBody>
            </p:sp>
            <p:sp>
              <p:nvSpPr>
                <p:cNvPr id="53" name="Line 53"/>
                <p:cNvSpPr/>
                <p:nvPr/>
              </p:nvSpPr>
              <p:spPr>
                <a:xfrm>
                  <a:off x="4095750" y="5181600"/>
                  <a:ext cx="9525" cy="6286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628650">
                      <a:moveTo>
                        <a:pt x="0" y="0"/>
                      </a:moveTo>
                      <a:lnTo>
                        <a:pt x="0" y="628650"/>
                      </a:lnTo>
                    </a:path>
                  </a:pathLst>
                </a:custGeom>
                <a:noFill/>
                <a:ln w="28575">
                  <a:solidFill>
                    <a:srgbClr val="8FA3BD"/>
                  </a:solidFill>
                  <a:custDash>
                    <a:ds d="200000" sp="133333"/>
                  </a:custDash>
                </a:ln>
              </p:spPr>
            </p:sp>
            <p:sp>
              <p:nvSpPr>
                <p:cNvPr id="54" name="Polygon 54"/>
                <p:cNvSpPr/>
                <p:nvPr/>
              </p:nvSpPr>
              <p:spPr>
                <a:xfrm>
                  <a:off x="4019550" y="5695950"/>
                  <a:ext cx="152400" cy="152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2400" h="152400">
                      <a:moveTo>
                        <a:pt x="0" y="0"/>
                      </a:moveTo>
                      <a:lnTo>
                        <a:pt x="76200" y="152400"/>
                      </a:lnTo>
                      <a:lnTo>
                        <a:pt x="152400" y="0"/>
                      </a:lnTo>
                      <a:close/>
                    </a:path>
                  </a:pathLst>
                </a:custGeom>
                <a:solidFill>
                  <a:srgbClr val="8FA3BD"/>
                </a:solidFill>
                <a:ln>
                  <a:noFill/>
                </a:ln>
              </p:spPr>
            </p:sp>
            <p:sp>
              <p:nvSpPr>
                <p:cNvPr id="55" name="TextBox 55"/>
                <p:cNvSpPr txBox="1"/>
                <p:nvPr/>
              </p:nvSpPr>
              <p:spPr>
                <a:xfrm>
                  <a:off x="4243388" y="5545693"/>
                  <a:ext cx="1439324" cy="169069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860" dirty="0">
                      <a:solidFill>
                        <a:srgbClr val="4A5568"/>
                      </a:solidFill>
                      <a:latin typeface="Arial"/>
                      <a:ea typeface="Microsoft YaHei"/>
                      <a:cs typeface="Arial"/>
                    </a:rPr>
                    <a:t>继续下渗 → 地下水（1.12）</a:t>
                  </a:r>
                </a:p>
              </p:txBody>
            </p:sp>
          </p:grpSp>
        </p:grpSp>
        <p:grpSp>
          <p:nvGrpSpPr>
            <p:cNvPr id="63" name="Group 63"/>
            <p:cNvGrpSpPr/>
            <p:nvPr/>
          </p:nvGrpSpPr>
          <p:grpSpPr>
            <a:xfrm>
              <a:off x="8001000" y="1581150"/>
              <a:ext cx="3619500" cy="1333500"/>
              <a:chOff x="8001000" y="1581150"/>
              <a:chExt cx="3619500" cy="1333500"/>
            </a:xfrm>
          </p:grpSpPr>
          <p:sp>
            <p:nvSpPr>
              <p:cNvPr id="58" name="Rectangle 58"/>
              <p:cNvSpPr/>
              <p:nvPr/>
            </p:nvSpPr>
            <p:spPr>
              <a:xfrm>
                <a:off x="8001000" y="1581150"/>
                <a:ext cx="3619500" cy="1333500"/>
              </a:xfrm>
              <a:prstGeom prst="roundRect">
                <a:avLst>
                  <a:gd name="adj" fmla="val 8571"/>
                </a:avLst>
              </a:prstGeom>
              <a:solidFill>
                <a:srgbClr val="F0F5FC"/>
              </a:solidFill>
              <a:ln w="9525">
                <a:solidFill>
                  <a:srgbClr val="D6DCE5"/>
                </a:solidFill>
              </a:ln>
            </p:spPr>
          </p:sp>
          <p:sp>
            <p:nvSpPr>
              <p:cNvPr id="59" name="TextBox 59"/>
              <p:cNvSpPr txBox="1"/>
              <p:nvPr/>
            </p:nvSpPr>
            <p:spPr>
              <a:xfrm>
                <a:off x="8185785" y="1764506"/>
                <a:ext cx="987011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b="1" dirty="0">
                    <a:solidFill>
                      <a:srgbClr val="0E3F8C"/>
                    </a:solidFill>
                    <a:latin typeface="Arial"/>
                    <a:ea typeface="Microsoft YaHei"/>
                    <a:cs typeface="Arial"/>
                  </a:rPr>
                  <a:t>径流 | Runoff</a:t>
                </a:r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8186738" y="2070497"/>
                <a:ext cx="1654581" cy="18335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40" dirty="0">
                    <a:solidFill>
                      <a:srgbClr val="1A2230"/>
                    </a:solidFill>
                    <a:latin typeface="Arial"/>
                    <a:ea typeface="Microsoft YaHei"/>
                    <a:cs typeface="Arial"/>
                  </a:rPr>
                  <a:t>沿地表漫流的水，加上近地表</a:t>
                </a:r>
              </a:p>
            </p:txBody>
          </p:sp>
          <p:sp>
            <p:nvSpPr>
              <p:cNvPr id="61" name="TextBox 61"/>
              <p:cNvSpPr txBox="1"/>
              <p:nvPr/>
            </p:nvSpPr>
            <p:spPr>
              <a:xfrm>
                <a:off x="8186738" y="2299097"/>
                <a:ext cx="1654581" cy="18335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40" dirty="0">
                    <a:solidFill>
                      <a:srgbClr val="1A2230"/>
                    </a:solidFill>
                    <a:latin typeface="Arial"/>
                    <a:ea typeface="Microsoft YaHei"/>
                    <a:cs typeface="Arial"/>
                  </a:rPr>
                  <a:t>入渗后又回到地表的水，共同</a:t>
                </a:r>
              </a:p>
            </p:txBody>
          </p:sp>
          <p:sp>
            <p:nvSpPr>
              <p:cNvPr id="62" name="TextBox 62"/>
              <p:cNvSpPr txBox="1"/>
              <p:nvPr/>
            </p:nvSpPr>
            <p:spPr>
              <a:xfrm>
                <a:off x="8186738" y="2527697"/>
                <a:ext cx="1667474" cy="18335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40" dirty="0">
                    <a:solidFill>
                      <a:srgbClr val="1A2230"/>
                    </a:solidFill>
                    <a:latin typeface="Arial"/>
                    <a:ea typeface="Microsoft YaHei"/>
                    <a:cs typeface="Arial"/>
                  </a:rPr>
                  <a:t>构成径流（UE 广义定义）。</a:t>
                </a:r>
              </a:p>
            </p:txBody>
          </p:sp>
        </p:grpSp>
        <p:grpSp>
          <p:nvGrpSpPr>
            <p:cNvPr id="69" name="Group 69"/>
            <p:cNvGrpSpPr/>
            <p:nvPr/>
          </p:nvGrpSpPr>
          <p:grpSpPr>
            <a:xfrm>
              <a:off x="8001000" y="3028950"/>
              <a:ext cx="3619500" cy="1333500"/>
              <a:chOff x="8001000" y="3028950"/>
              <a:chExt cx="3619500" cy="1333500"/>
            </a:xfrm>
          </p:grpSpPr>
          <p:sp>
            <p:nvSpPr>
              <p:cNvPr id="64" name="Rectangle 64"/>
              <p:cNvSpPr/>
              <p:nvPr/>
            </p:nvSpPr>
            <p:spPr>
              <a:xfrm>
                <a:off x="8001000" y="3028950"/>
                <a:ext cx="3619500" cy="1333500"/>
              </a:xfrm>
              <a:prstGeom prst="roundRect">
                <a:avLst>
                  <a:gd name="adj" fmla="val 8571"/>
                </a:avLst>
              </a:prstGeom>
              <a:solidFill>
                <a:srgbClr val="FFFFFF"/>
              </a:solidFill>
              <a:ln w="9525">
                <a:solidFill>
                  <a:srgbClr val="D6DCE5"/>
                </a:solidFill>
              </a:ln>
            </p:spPr>
          </p:sp>
          <p:sp>
            <p:nvSpPr>
              <p:cNvPr id="65" name="TextBox 65"/>
              <p:cNvSpPr txBox="1"/>
              <p:nvPr/>
            </p:nvSpPr>
            <p:spPr>
              <a:xfrm>
                <a:off x="8185785" y="3212306"/>
                <a:ext cx="1348290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b="1" dirty="0">
                    <a:solidFill>
                      <a:srgbClr val="0E3F8C"/>
                    </a:solidFill>
                    <a:latin typeface="Arial"/>
                    <a:ea typeface="Microsoft YaHei"/>
                    <a:cs typeface="Arial"/>
                  </a:rPr>
                  <a:t>入渗 | Infiltration</a:t>
                </a:r>
              </a:p>
            </p:txBody>
          </p:sp>
          <p:sp>
            <p:nvSpPr>
              <p:cNvPr id="66" name="TextBox 66"/>
              <p:cNvSpPr txBox="1"/>
              <p:nvPr/>
            </p:nvSpPr>
            <p:spPr>
              <a:xfrm>
                <a:off x="8186738" y="3518297"/>
                <a:ext cx="1528039" cy="18335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40" dirty="0">
                    <a:solidFill>
                      <a:srgbClr val="1A2230"/>
                    </a:solidFill>
                    <a:latin typeface="Arial"/>
                    <a:ea typeface="Microsoft YaHei"/>
                    <a:cs typeface="Arial"/>
                  </a:rPr>
                  <a:t>水通过土壤、岩石的孔隙或</a:t>
                </a:r>
              </a:p>
            </p:txBody>
          </p:sp>
          <p:sp>
            <p:nvSpPr>
              <p:cNvPr id="67" name="TextBox 67"/>
              <p:cNvSpPr txBox="1"/>
              <p:nvPr/>
            </p:nvSpPr>
            <p:spPr>
              <a:xfrm>
                <a:off x="8186738" y="3746897"/>
                <a:ext cx="1528039" cy="18335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40" dirty="0">
                    <a:solidFill>
                      <a:srgbClr val="1A2230"/>
                    </a:solidFill>
                    <a:latin typeface="Arial"/>
                    <a:ea typeface="Microsoft YaHei"/>
                    <a:cs typeface="Arial"/>
                  </a:rPr>
                  <a:t>裂隙向下运动；入渗不等于</a:t>
                </a:r>
              </a:p>
            </p:txBody>
          </p:sp>
          <p:sp>
            <p:nvSpPr>
              <p:cNvPr id="68" name="TextBox 68"/>
              <p:cNvSpPr txBox="1"/>
              <p:nvPr/>
            </p:nvSpPr>
            <p:spPr>
              <a:xfrm>
                <a:off x="8186738" y="3975497"/>
                <a:ext cx="895325" cy="18335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40" dirty="0">
                    <a:solidFill>
                      <a:srgbClr val="1A2230"/>
                    </a:solidFill>
                    <a:latin typeface="Arial"/>
                    <a:ea typeface="Microsoft YaHei"/>
                    <a:cs typeface="Arial"/>
                  </a:rPr>
                  <a:t>永久离开径流。</a:t>
                </a:r>
              </a:p>
            </p:txBody>
          </p:sp>
        </p:grpSp>
        <p:grpSp>
          <p:nvGrpSpPr>
            <p:cNvPr id="75" name="Group 75"/>
            <p:cNvGrpSpPr/>
            <p:nvPr/>
          </p:nvGrpSpPr>
          <p:grpSpPr>
            <a:xfrm>
              <a:off x="8001000" y="4476750"/>
              <a:ext cx="3619500" cy="1333500"/>
              <a:chOff x="8001000" y="4476750"/>
              <a:chExt cx="3619500" cy="1333500"/>
            </a:xfrm>
          </p:grpSpPr>
          <p:sp>
            <p:nvSpPr>
              <p:cNvPr id="70" name="Rectangle 70"/>
              <p:cNvSpPr/>
              <p:nvPr/>
            </p:nvSpPr>
            <p:spPr>
              <a:xfrm>
                <a:off x="8001000" y="4476750"/>
                <a:ext cx="3619500" cy="1333500"/>
              </a:xfrm>
              <a:prstGeom prst="roundRect">
                <a:avLst>
                  <a:gd name="adj" fmla="val 8571"/>
                </a:avLst>
              </a:prstGeom>
              <a:solidFill>
                <a:srgbClr val="F0F5FC"/>
              </a:solidFill>
              <a:ln w="9525">
                <a:solidFill>
                  <a:srgbClr val="D6DCE5"/>
                </a:solidFill>
              </a:ln>
            </p:spPr>
          </p:sp>
          <p:sp>
            <p:nvSpPr>
              <p:cNvPr id="71" name="TextBox 71"/>
              <p:cNvSpPr txBox="1"/>
              <p:nvPr/>
            </p:nvSpPr>
            <p:spPr>
              <a:xfrm>
                <a:off x="8185785" y="4660106"/>
                <a:ext cx="1949680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b="1" dirty="0">
                    <a:solidFill>
                      <a:srgbClr val="0E3F8C"/>
                    </a:solidFill>
                    <a:latin typeface="Arial"/>
                    <a:ea typeface="Microsoft YaHei"/>
                    <a:cs typeface="Arial"/>
                  </a:rPr>
                  <a:t>蒸散 | Evapotranspiration</a:t>
                </a:r>
              </a:p>
            </p:txBody>
          </p:sp>
          <p:sp>
            <p:nvSpPr>
              <p:cNvPr id="72" name="TextBox 72"/>
              <p:cNvSpPr txBox="1"/>
              <p:nvPr/>
            </p:nvSpPr>
            <p:spPr>
              <a:xfrm>
                <a:off x="8186738" y="4966097"/>
                <a:ext cx="1401496" cy="18335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40" dirty="0">
                    <a:solidFill>
                      <a:srgbClr val="1A2230"/>
                    </a:solidFill>
                    <a:latin typeface="Arial"/>
                    <a:ea typeface="Microsoft YaHei"/>
                    <a:cs typeface="Arial"/>
                  </a:rPr>
                  <a:t>部分落地水经蒸发或植物</a:t>
                </a:r>
              </a:p>
            </p:txBody>
          </p:sp>
          <p:sp>
            <p:nvSpPr>
              <p:cNvPr id="73" name="TextBox 73"/>
              <p:cNvSpPr txBox="1"/>
              <p:nvPr/>
            </p:nvSpPr>
            <p:spPr>
              <a:xfrm>
                <a:off x="8186738" y="5194697"/>
                <a:ext cx="1021867" cy="18335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40" dirty="0">
                    <a:solidFill>
                      <a:srgbClr val="1A2230"/>
                    </a:solidFill>
                    <a:latin typeface="Arial"/>
                    <a:ea typeface="Microsoft YaHei"/>
                    <a:cs typeface="Arial"/>
                  </a:rPr>
                  <a:t>蒸腾直接返回大气</a:t>
                </a:r>
              </a:p>
            </p:txBody>
          </p:sp>
          <p:sp>
            <p:nvSpPr>
              <p:cNvPr id="74" name="TextBox 74"/>
              <p:cNvSpPr txBox="1"/>
              <p:nvPr/>
            </p:nvSpPr>
            <p:spPr>
              <a:xfrm>
                <a:off x="8186738" y="5423297"/>
                <a:ext cx="1559674" cy="18335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40" dirty="0">
                    <a:solidFill>
                      <a:srgbClr val="1A2230"/>
                    </a:solidFill>
                    <a:latin typeface="Arial"/>
                    <a:ea typeface="Microsoft YaHei"/>
                    <a:cs typeface="Arial"/>
                  </a:rPr>
                  <a:t>（承接 1.9 蒸发与蒸散）。</a:t>
                </a:r>
              </a:p>
            </p:txBody>
          </p:sp>
        </p:grpSp>
      </p:grpSp>
      <p:grpSp>
        <p:nvGrpSpPr>
          <p:cNvPr id="78" name="Group 78"/>
          <p:cNvGrpSpPr/>
          <p:nvPr/>
        </p:nvGrpSpPr>
        <p:grpSpPr>
          <a:xfrm>
            <a:off x="2696667" y="6309122"/>
            <a:ext cx="6798666" cy="183356"/>
            <a:chOff x="2696667" y="6309122"/>
            <a:chExt cx="6798666" cy="183356"/>
          </a:xfrm>
        </p:grpSpPr>
        <p:sp>
          <p:nvSpPr>
            <p:cNvPr id="77" name="TextBox 77"/>
            <p:cNvSpPr txBox="1"/>
            <p:nvPr/>
          </p:nvSpPr>
          <p:spPr>
            <a:xfrm>
              <a:off x="2696667" y="6309122"/>
              <a:ext cx="6798666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40" dirty="0">
                  <a:solidFill>
                    <a:srgbClr val="4A5568"/>
                  </a:solidFill>
                  <a:latin typeface="Arial"/>
                  <a:ea typeface="Microsoft YaHei"/>
                  <a:cs typeface="Arial"/>
                </a:rPr>
                <a:t>三者比例受气候、地形、岩土与植被控制，不存在统一的全球百分比（UE p.1667）；本图为过程示意，非定量比例。</a:t>
              </a:r>
            </a:p>
          </p:txBody>
        </p:sp>
      </p:grpSp>
      <p:sp>
        <p:nvSpPr>
          <p:cNvPr id="79" name="TextBox 79"/>
          <p:cNvSpPr txBox="1"/>
          <p:nvPr/>
        </p:nvSpPr>
        <p:spPr>
          <a:xfrm>
            <a:off x="376238" y="6532245"/>
            <a:ext cx="803125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4A5568"/>
                </a:solidFill>
                <a:latin typeface="Arial"/>
                <a:ea typeface="Microsoft YaHei"/>
                <a:cs typeface="Arial"/>
              </a:rPr>
              <a:t>Source: UE 8e pp.1654, 1667; 地球系统与演变 Ch.3 (CN Fig.3-7/3-15B statements). Native partition diagram; no global numerical split.</a:t>
            </a:r>
          </a:p>
        </p:txBody>
      </p:sp>
      <p:sp>
        <p:nvSpPr>
          <p:cNvPr id="80" name="TextBox 80"/>
          <p:cNvSpPr txBox="1"/>
          <p:nvPr/>
        </p:nvSpPr>
        <p:spPr>
          <a:xfrm>
            <a:off x="11672964" y="6532245"/>
            <a:ext cx="142799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4A5568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2192000" cy="685800"/>
            <a:chOff x="0" y="0"/>
            <a:chExt cx="12192000" cy="6858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"/>
            </a:xfrm>
            <a:prstGeom prst="rect">
              <a:avLst/>
            </a:prstGeom>
            <a:solidFill>
              <a:srgbClr val="0E3F8C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374142" y="282892"/>
              <a:ext cx="549640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1.12 地下水：慢一些的路径 | Groundwater: A Slower Pathway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10780776" y="299085"/>
              <a:ext cx="10363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00" dirty="0">
                  <a:solidFill>
                    <a:srgbClr val="C7D7F2"/>
                  </a:solidFill>
                  <a:latin typeface="Arial"/>
                  <a:ea typeface="Arial"/>
                  <a:cs typeface="Arial"/>
                </a:rPr>
                <a:t>WATER CYCLE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381000" y="914400"/>
            <a:ext cx="5922340" cy="357093"/>
            <a:chOff x="381000" y="914400"/>
            <a:chExt cx="5922340" cy="357093"/>
          </a:xfrm>
        </p:grpSpPr>
        <p:sp>
          <p:nvSpPr>
            <p:cNvPr id="6" name="Rectangle 6"/>
            <p:cNvSpPr/>
            <p:nvPr/>
          </p:nvSpPr>
          <p:spPr>
            <a:xfrm>
              <a:off x="381000" y="914400"/>
              <a:ext cx="57150" cy="266700"/>
            </a:xfrm>
            <a:prstGeom prst="roundRect">
              <a:avLst>
                <a:gd name="adj" fmla="val 50000"/>
              </a:avLst>
            </a:prstGeom>
            <a:solidFill>
              <a:srgbClr val="1E4FA8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544449" y="963454"/>
              <a:ext cx="5758891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0E3F8C"/>
                  </a:solidFill>
                  <a:latin typeface="Arial"/>
                  <a:ea typeface="Microsoft YaHei"/>
                  <a:cs typeface="Arial"/>
                </a:rPr>
                <a:t>补给、储存、排泄三步定义地下水：走得慢，但最终回到地表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381000" y="1428750"/>
            <a:ext cx="11430000" cy="4781550"/>
            <a:chOff x="381000" y="1428750"/>
            <a:chExt cx="11430000" cy="4781550"/>
          </a:xfrm>
        </p:grpSpPr>
        <p:sp>
          <p:nvSpPr>
            <p:cNvPr id="9" name="Rectangle 9"/>
            <p:cNvSpPr/>
            <p:nvPr/>
          </p:nvSpPr>
          <p:spPr>
            <a:xfrm>
              <a:off x="381000" y="1428750"/>
              <a:ext cx="11430000" cy="4781550"/>
            </a:xfrm>
            <a:prstGeom prst="roundRect">
              <a:avLst>
                <a:gd name="adj" fmla="val 2390"/>
              </a:avLst>
            </a:prstGeom>
            <a:solidFill>
              <a:srgbClr val="F7F9FC"/>
            </a:solidFill>
            <a:ln w="9525">
              <a:solidFill>
                <a:srgbClr val="D6DCE5"/>
              </a:solidFill>
            </a:ln>
          </p:spPr>
        </p:sp>
        <p:grpSp>
          <p:nvGrpSpPr>
            <p:cNvPr id="44" name="Group 44"/>
            <p:cNvGrpSpPr/>
            <p:nvPr/>
          </p:nvGrpSpPr>
          <p:grpSpPr>
            <a:xfrm>
              <a:off x="571500" y="1581150"/>
              <a:ext cx="11049000" cy="3105150"/>
              <a:chOff x="571500" y="1581150"/>
              <a:chExt cx="11049000" cy="310515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581150"/>
                <a:ext cx="11049000" cy="3105150"/>
              </a:xfrm>
              <a:prstGeom prst="roundRect">
                <a:avLst>
                  <a:gd name="adj" fmla="val 3681"/>
                </a:avLst>
              </a:prstGeom>
              <a:solidFill>
                <a:srgbClr val="FFFFFF"/>
              </a:solidFill>
              <a:ln w="14288">
                <a:solidFill>
                  <a:srgbClr val="D6DCE5"/>
                </a:solidFill>
              </a:ln>
            </p:spPr>
          </p:sp>
          <p:sp>
            <p:nvSpPr>
              <p:cNvPr id="11" name="Rectangle 11"/>
              <p:cNvSpPr/>
              <p:nvPr/>
            </p:nvSpPr>
            <p:spPr>
              <a:xfrm>
                <a:off x="685800" y="1714500"/>
                <a:ext cx="10820400" cy="1714500"/>
              </a:xfrm>
              <a:prstGeom prst="rect">
                <a:avLst/>
              </a:prstGeom>
              <a:solidFill>
                <a:srgbClr val="F7F9FC"/>
              </a:solidFill>
              <a:ln>
                <a:noFill/>
              </a:ln>
            </p:spPr>
          </p:sp>
          <p:sp>
            <p:nvSpPr>
              <p:cNvPr id="12" name="TextBox 12"/>
              <p:cNvSpPr txBox="1"/>
              <p:nvPr/>
            </p:nvSpPr>
            <p:spPr>
              <a:xfrm>
                <a:off x="833438" y="1864995"/>
                <a:ext cx="2058741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4A5568"/>
                    </a:solidFill>
                    <a:latin typeface="Arial"/>
                    <a:ea typeface="Microsoft YaHei"/>
                    <a:cs typeface="Arial"/>
                  </a:rPr>
                  <a:t>包气带 Unsaturated zone（未饱和）</a:t>
                </a:r>
              </a:p>
            </p:txBody>
          </p:sp>
          <p:grpSp>
            <p:nvGrpSpPr>
              <p:cNvPr id="19" name="Group 19"/>
              <p:cNvGrpSpPr/>
              <p:nvPr/>
            </p:nvGrpSpPr>
            <p:grpSpPr>
              <a:xfrm>
                <a:off x="1042988" y="2038350"/>
                <a:ext cx="1167257" cy="1295400"/>
                <a:chOff x="1042988" y="2038350"/>
                <a:chExt cx="1167257" cy="1295400"/>
              </a:xfrm>
            </p:grpSpPr>
            <p:sp>
              <p:nvSpPr>
                <p:cNvPr id="13" name="Line 13"/>
                <p:cNvSpPr/>
                <p:nvPr/>
              </p:nvSpPr>
              <p:spPr>
                <a:xfrm>
                  <a:off x="1428750" y="2038350"/>
                  <a:ext cx="9525" cy="1257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257300">
                      <a:moveTo>
                        <a:pt x="0" y="0"/>
                      </a:moveTo>
                      <a:lnTo>
                        <a:pt x="0" y="1257300"/>
                      </a:lnTo>
                    </a:path>
                  </a:pathLst>
                </a:custGeom>
                <a:noFill/>
                <a:ln w="28575">
                  <a:solidFill>
                    <a:srgbClr val="3D7BD9"/>
                  </a:solidFill>
                </a:ln>
              </p:spPr>
            </p:sp>
            <p:sp>
              <p:nvSpPr>
                <p:cNvPr id="14" name="Polygon 14"/>
                <p:cNvSpPr/>
                <p:nvPr/>
              </p:nvSpPr>
              <p:spPr>
                <a:xfrm>
                  <a:off x="1362075" y="3181350"/>
                  <a:ext cx="133350" cy="152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350" h="152400">
                      <a:moveTo>
                        <a:pt x="0" y="0"/>
                      </a:moveTo>
                      <a:lnTo>
                        <a:pt x="66675" y="152400"/>
                      </a:lnTo>
                      <a:lnTo>
                        <a:pt x="133350" y="0"/>
                      </a:lnTo>
                      <a:close/>
                    </a:path>
                  </a:pathLst>
                </a:custGeom>
                <a:solidFill>
                  <a:srgbClr val="3D7BD9"/>
                </a:solidFill>
                <a:ln>
                  <a:noFill/>
                </a:ln>
              </p:spPr>
            </p:sp>
            <p:sp>
              <p:nvSpPr>
                <p:cNvPr id="15" name="Line 15"/>
                <p:cNvSpPr/>
                <p:nvPr/>
              </p:nvSpPr>
              <p:spPr>
                <a:xfrm>
                  <a:off x="1809750" y="2038350"/>
                  <a:ext cx="9525" cy="1257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257300">
                      <a:moveTo>
                        <a:pt x="0" y="0"/>
                      </a:moveTo>
                      <a:lnTo>
                        <a:pt x="0" y="1257300"/>
                      </a:lnTo>
                    </a:path>
                  </a:pathLst>
                </a:custGeom>
                <a:noFill/>
                <a:ln w="28575">
                  <a:solidFill>
                    <a:srgbClr val="3D7BD9"/>
                  </a:solidFill>
                </a:ln>
              </p:spPr>
            </p:sp>
            <p:sp>
              <p:nvSpPr>
                <p:cNvPr id="16" name="Polygon 16"/>
                <p:cNvSpPr/>
                <p:nvPr/>
              </p:nvSpPr>
              <p:spPr>
                <a:xfrm>
                  <a:off x="1743075" y="3181350"/>
                  <a:ext cx="133350" cy="152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350" h="152400">
                      <a:moveTo>
                        <a:pt x="0" y="0"/>
                      </a:moveTo>
                      <a:lnTo>
                        <a:pt x="66675" y="152400"/>
                      </a:lnTo>
                      <a:lnTo>
                        <a:pt x="133350" y="0"/>
                      </a:lnTo>
                      <a:close/>
                    </a:path>
                  </a:pathLst>
                </a:custGeom>
                <a:solidFill>
                  <a:srgbClr val="3D7BD9"/>
                </a:solidFill>
                <a:ln>
                  <a:noFill/>
                </a:ln>
              </p:spPr>
            </p:sp>
            <p:sp>
              <p:nvSpPr>
                <p:cNvPr id="17" name="TextBox 17"/>
                <p:cNvSpPr txBox="1"/>
                <p:nvPr/>
              </p:nvSpPr>
              <p:spPr>
                <a:xfrm>
                  <a:off x="1042988" y="2299097"/>
                  <a:ext cx="966904" cy="18335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940" b="1" dirty="0">
                      <a:solidFill>
                        <a:srgbClr val="1E4FA8"/>
                      </a:solidFill>
                      <a:latin typeface="Arial"/>
                      <a:ea typeface="Microsoft YaHei"/>
                      <a:cs typeface="Arial"/>
                    </a:rPr>
                    <a:t>①补给 Recharge</a:t>
                  </a:r>
                </a:p>
              </p:txBody>
            </p:sp>
            <p:sp>
              <p:nvSpPr>
                <p:cNvPr id="18" name="TextBox 18"/>
                <p:cNvSpPr txBox="1"/>
                <p:nvPr/>
              </p:nvSpPr>
              <p:spPr>
                <a:xfrm>
                  <a:off x="1042988" y="2516743"/>
                  <a:ext cx="1167257" cy="169069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860" dirty="0">
                      <a:solidFill>
                        <a:srgbClr val="4A5568"/>
                      </a:solidFill>
                      <a:latin typeface="Arial"/>
                      <a:ea typeface="Microsoft YaHei"/>
                      <a:cs typeface="Arial"/>
                    </a:rPr>
                    <a:t>降水入渗，穿过包气带</a:t>
                  </a:r>
                </a:p>
              </p:txBody>
            </p:sp>
          </p:grpSp>
          <p:grpSp>
            <p:nvGrpSpPr>
              <p:cNvPr id="24" name="Group 24"/>
              <p:cNvGrpSpPr/>
              <p:nvPr/>
            </p:nvGrpSpPr>
            <p:grpSpPr>
              <a:xfrm>
                <a:off x="8382000" y="1866900"/>
                <a:ext cx="2857500" cy="876300"/>
                <a:chOff x="8382000" y="1866900"/>
                <a:chExt cx="2857500" cy="876300"/>
              </a:xfrm>
            </p:grpSpPr>
            <p:sp>
              <p:nvSpPr>
                <p:cNvPr id="20" name="Rectangle 20"/>
                <p:cNvSpPr/>
                <p:nvPr/>
              </p:nvSpPr>
              <p:spPr>
                <a:xfrm>
                  <a:off x="8382000" y="1866900"/>
                  <a:ext cx="2857500" cy="876300"/>
                </a:xfrm>
                <a:prstGeom prst="roundRect">
                  <a:avLst>
                    <a:gd name="adj" fmla="val 10870"/>
                  </a:avLst>
                </a:prstGeom>
                <a:solidFill>
                  <a:srgbClr val="FFFFFF"/>
                </a:solidFill>
                <a:ln w="14288">
                  <a:solidFill>
                    <a:srgbClr val="D6DCE5"/>
                  </a:solidFill>
                </a:ln>
              </p:spPr>
            </p:sp>
            <p:sp>
              <p:nvSpPr>
                <p:cNvPr id="21" name="TextBox 21"/>
                <p:cNvSpPr txBox="1"/>
                <p:nvPr/>
              </p:nvSpPr>
              <p:spPr>
                <a:xfrm>
                  <a:off x="8567738" y="2021443"/>
                  <a:ext cx="2156843" cy="169069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860" b="1" dirty="0">
                      <a:solidFill>
                        <a:srgbClr val="0E3F8C"/>
                      </a:solidFill>
                      <a:latin typeface="Arial"/>
                      <a:ea typeface="Microsoft YaHei"/>
                      <a:cs typeface="Arial"/>
                    </a:rPr>
                    <a:t>滞留时间 Residence time（CN 表 3-1）</a:t>
                  </a:r>
                </a:p>
              </p:txBody>
            </p:sp>
            <p:sp>
              <p:nvSpPr>
                <p:cNvPr id="22" name="TextBox 22"/>
                <p:cNvSpPr txBox="1"/>
                <p:nvPr/>
              </p:nvSpPr>
              <p:spPr>
                <a:xfrm>
                  <a:off x="8567738" y="2265045"/>
                  <a:ext cx="1275626" cy="17621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900" dirty="0">
                      <a:solidFill>
                        <a:srgbClr val="1A2230"/>
                      </a:solidFill>
                      <a:latin typeface="Arial"/>
                      <a:ea typeface="Microsoft YaHei"/>
                      <a:cs typeface="Arial"/>
                    </a:rPr>
                    <a:t>浅层地下水 100–200 年</a:t>
                  </a:r>
                </a:p>
              </p:txBody>
            </p:sp>
            <p:sp>
              <p:nvSpPr>
                <p:cNvPr id="23" name="TextBox 23"/>
                <p:cNvSpPr txBox="1"/>
                <p:nvPr/>
              </p:nvSpPr>
              <p:spPr>
                <a:xfrm>
                  <a:off x="8567738" y="2493645"/>
                  <a:ext cx="1832953" cy="17621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900" dirty="0">
                      <a:solidFill>
                        <a:srgbClr val="1A2230"/>
                      </a:solidFill>
                      <a:latin typeface="Arial"/>
                      <a:ea typeface="Microsoft YaHei"/>
                      <a:cs typeface="Arial"/>
                    </a:rPr>
                    <a:t>深层约 10,000 年（大气仅 9 天）</a:t>
                  </a:r>
                </a:p>
              </p:txBody>
            </p:sp>
          </p:grpSp>
          <p:sp>
            <p:nvSpPr>
              <p:cNvPr id="25" name="Line 25"/>
              <p:cNvSpPr/>
              <p:nvPr/>
            </p:nvSpPr>
            <p:spPr>
              <a:xfrm>
                <a:off x="685800" y="3429000"/>
                <a:ext cx="108204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0820400" h="9525">
                    <a:moveTo>
                      <a:pt x="0" y="0"/>
                    </a:moveTo>
                    <a:lnTo>
                      <a:pt x="10820400" y="0"/>
                    </a:lnTo>
                  </a:path>
                </a:pathLst>
              </a:custGeom>
              <a:noFill/>
              <a:ln w="19050">
                <a:solidFill>
                  <a:srgbClr val="3D7BD9"/>
                </a:solidFill>
                <a:custDash>
                  <a:ds d="500000" sp="300000"/>
                </a:custDash>
              </a:ln>
            </p:spPr>
          </p:sp>
          <p:sp>
            <p:nvSpPr>
              <p:cNvPr id="26" name="TextBox 26"/>
              <p:cNvSpPr txBox="1"/>
              <p:nvPr/>
            </p:nvSpPr>
            <p:spPr>
              <a:xfrm>
                <a:off x="833438" y="3255645"/>
                <a:ext cx="1278013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b="1" dirty="0">
                    <a:solidFill>
                      <a:srgbClr val="1E4FA8"/>
                    </a:solidFill>
                    <a:latin typeface="Arial"/>
                    <a:ea typeface="Microsoft YaHei"/>
                    <a:cs typeface="Arial"/>
                  </a:rPr>
                  <a:t>地下水位 Water Table</a:t>
                </a:r>
              </a:p>
            </p:txBody>
          </p:sp>
          <p:sp>
            <p:nvSpPr>
              <p:cNvPr id="27" name="Rectangle 27"/>
              <p:cNvSpPr/>
              <p:nvPr/>
            </p:nvSpPr>
            <p:spPr>
              <a:xfrm>
                <a:off x="685800" y="3448050"/>
                <a:ext cx="10820400" cy="1219200"/>
              </a:xfrm>
              <a:prstGeom prst="rect">
                <a:avLst/>
              </a:prstGeom>
              <a:solidFill>
                <a:srgbClr val="DCEAF8"/>
              </a:solidFill>
              <a:ln w="9525">
                <a:solidFill>
                  <a:srgbClr val="B8C7DC"/>
                </a:solidFill>
              </a:ln>
            </p:spPr>
          </p:sp>
          <p:sp>
            <p:nvSpPr>
              <p:cNvPr id="28" name="TextBox 28"/>
              <p:cNvSpPr txBox="1"/>
              <p:nvPr/>
            </p:nvSpPr>
            <p:spPr>
              <a:xfrm>
                <a:off x="833247" y="3628549"/>
                <a:ext cx="3999756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b="1" dirty="0">
                    <a:solidFill>
                      <a:srgbClr val="0E3F8C"/>
                    </a:solidFill>
                    <a:latin typeface="Arial"/>
                    <a:ea typeface="Microsoft YaHei"/>
                    <a:cs typeface="Arial"/>
                  </a:rPr>
                  <a:t>饱水带 Saturated zone　②储存 Storage：地下水在其中缓慢流动</a:t>
                </a:r>
              </a:p>
            </p:txBody>
          </p:sp>
          <p:sp>
            <p:nvSpPr>
              <p:cNvPr id="29" name="Line 29"/>
              <p:cNvSpPr/>
              <p:nvPr/>
            </p:nvSpPr>
            <p:spPr>
              <a:xfrm>
                <a:off x="2857500" y="4267200"/>
                <a:ext cx="55245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524500" h="9525">
                    <a:moveTo>
                      <a:pt x="0" y="0"/>
                    </a:moveTo>
                    <a:lnTo>
                      <a:pt x="5524500" y="0"/>
                    </a:lnTo>
                  </a:path>
                </a:pathLst>
              </a:custGeom>
              <a:noFill/>
              <a:ln w="28575">
                <a:solidFill>
                  <a:srgbClr val="1E4FA8"/>
                </a:solidFill>
                <a:custDash>
                  <a:ds d="266667" sp="166667"/>
                </a:custDash>
              </a:ln>
            </p:spPr>
          </p:sp>
          <p:sp>
            <p:nvSpPr>
              <p:cNvPr id="30" name="Polygon 30"/>
              <p:cNvSpPr/>
              <p:nvPr/>
            </p:nvSpPr>
            <p:spPr>
              <a:xfrm>
                <a:off x="8248650" y="4191000"/>
                <a:ext cx="190500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152400">
                    <a:moveTo>
                      <a:pt x="0" y="0"/>
                    </a:moveTo>
                    <a:lnTo>
                      <a:pt x="190500" y="76200"/>
                    </a:lnTo>
                    <a:lnTo>
                      <a:pt x="0" y="152400"/>
                    </a:lnTo>
                    <a:close/>
                  </a:path>
                </a:pathLst>
              </a:custGeom>
              <a:solidFill>
                <a:srgbClr val="1E4FA8"/>
              </a:solidFill>
              <a:ln>
                <a:noFill/>
              </a:ln>
            </p:spPr>
          </p:sp>
          <p:sp>
            <p:nvSpPr>
              <p:cNvPr id="31" name="TextBox 31"/>
              <p:cNvSpPr txBox="1"/>
              <p:nvPr/>
            </p:nvSpPr>
            <p:spPr>
              <a:xfrm>
                <a:off x="4659916" y="4059793"/>
                <a:ext cx="1919668" cy="16906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60" dirty="0">
                    <a:solidFill>
                      <a:srgbClr val="1E4FA8"/>
                    </a:solidFill>
                    <a:latin typeface="Arial"/>
                    <a:ea typeface="Microsoft YaHei"/>
                    <a:cs typeface="Arial"/>
                  </a:rPr>
                  <a:t>缓慢地下流 Slow groundwater flow</a:t>
                </a:r>
              </a:p>
            </p:txBody>
          </p:sp>
          <p:grpSp>
            <p:nvGrpSpPr>
              <p:cNvPr id="43" name="Group 43"/>
              <p:cNvGrpSpPr/>
              <p:nvPr/>
            </p:nvGrpSpPr>
            <p:grpSpPr>
              <a:xfrm>
                <a:off x="8853488" y="3022997"/>
                <a:ext cx="2481262" cy="1472803"/>
                <a:chOff x="8853488" y="3022997"/>
                <a:chExt cx="2481262" cy="1472803"/>
              </a:xfrm>
            </p:grpSpPr>
            <p:sp>
              <p:nvSpPr>
                <p:cNvPr id="32" name="TextBox 32"/>
                <p:cNvSpPr txBox="1"/>
                <p:nvPr/>
              </p:nvSpPr>
              <p:spPr>
                <a:xfrm>
                  <a:off x="8853488" y="3022997"/>
                  <a:ext cx="1006268" cy="18335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940" b="1" dirty="0">
                      <a:solidFill>
                        <a:srgbClr val="1E4FA8"/>
                      </a:solidFill>
                      <a:latin typeface="Arial"/>
                      <a:ea typeface="Microsoft YaHei"/>
                      <a:cs typeface="Arial"/>
                    </a:rPr>
                    <a:t>③排泄 Discharge</a:t>
                  </a:r>
                </a:p>
              </p:txBody>
            </p:sp>
            <p:sp>
              <p:nvSpPr>
                <p:cNvPr id="33" name="Line 33"/>
                <p:cNvSpPr/>
                <p:nvPr/>
              </p:nvSpPr>
              <p:spPr>
                <a:xfrm>
                  <a:off x="9048750" y="3295650"/>
                  <a:ext cx="9525" cy="800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800100">
                      <a:moveTo>
                        <a:pt x="0" y="800100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28575">
                  <a:solidFill>
                    <a:srgbClr val="1E4FA8"/>
                  </a:solidFill>
                </a:ln>
              </p:spPr>
            </p:sp>
            <p:sp>
              <p:nvSpPr>
                <p:cNvPr id="34" name="Polygon 34"/>
                <p:cNvSpPr/>
                <p:nvPr/>
              </p:nvSpPr>
              <p:spPr>
                <a:xfrm>
                  <a:off x="8972550" y="3257550"/>
                  <a:ext cx="152400" cy="152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2400" h="152400">
                      <a:moveTo>
                        <a:pt x="0" y="152400"/>
                      </a:moveTo>
                      <a:lnTo>
                        <a:pt x="76200" y="0"/>
                      </a:lnTo>
                      <a:lnTo>
                        <a:pt x="152400" y="152400"/>
                      </a:lnTo>
                      <a:close/>
                    </a:path>
                  </a:pathLst>
                </a:custGeom>
                <a:solidFill>
                  <a:srgbClr val="1E4FA8"/>
                </a:solidFill>
                <a:ln>
                  <a:noFill/>
                </a:ln>
              </p:spPr>
            </p:sp>
            <p:sp>
              <p:nvSpPr>
                <p:cNvPr id="35" name="TextBox 35"/>
                <p:cNvSpPr txBox="1"/>
                <p:nvPr/>
              </p:nvSpPr>
              <p:spPr>
                <a:xfrm>
                  <a:off x="9196388" y="3735943"/>
                  <a:ext cx="374211" cy="169069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860" dirty="0">
                      <a:solidFill>
                        <a:srgbClr val="1A2230"/>
                      </a:solidFill>
                      <a:latin typeface="Arial"/>
                      <a:ea typeface="Microsoft YaHei"/>
                      <a:cs typeface="Arial"/>
                    </a:rPr>
                    <a:t>泉 / 河</a:t>
                  </a:r>
                </a:p>
              </p:txBody>
            </p:sp>
            <p:sp>
              <p:nvSpPr>
                <p:cNvPr id="36" name="TextBox 36"/>
                <p:cNvSpPr txBox="1"/>
                <p:nvPr/>
              </p:nvSpPr>
              <p:spPr>
                <a:xfrm>
                  <a:off x="9196388" y="3915489"/>
                  <a:ext cx="836144" cy="154781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en-US" sz="790" dirty="0">
                      <a:solidFill>
                        <a:srgbClr val="4A5568"/>
                      </a:solidFill>
                      <a:latin typeface="Arial"/>
                      <a:ea typeface="Arial"/>
                      <a:cs typeface="Arial"/>
                    </a:rPr>
                    <a:t>Spring · Stream</a:t>
                  </a:r>
                </a:p>
              </p:txBody>
            </p:sp>
            <p:sp>
              <p:nvSpPr>
                <p:cNvPr id="37" name="Line 37"/>
                <p:cNvSpPr/>
                <p:nvPr/>
              </p:nvSpPr>
              <p:spPr>
                <a:xfrm>
                  <a:off x="10115550" y="3295650"/>
                  <a:ext cx="9525" cy="800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800100">
                      <a:moveTo>
                        <a:pt x="0" y="800100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28575">
                  <a:solidFill>
                    <a:srgbClr val="1E4FA8"/>
                  </a:solidFill>
                </a:ln>
              </p:spPr>
            </p:sp>
            <p:sp>
              <p:nvSpPr>
                <p:cNvPr id="38" name="Polygon 38"/>
                <p:cNvSpPr/>
                <p:nvPr/>
              </p:nvSpPr>
              <p:spPr>
                <a:xfrm>
                  <a:off x="10039350" y="3257550"/>
                  <a:ext cx="152400" cy="152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2400" h="152400">
                      <a:moveTo>
                        <a:pt x="0" y="152400"/>
                      </a:moveTo>
                      <a:lnTo>
                        <a:pt x="76200" y="0"/>
                      </a:lnTo>
                      <a:lnTo>
                        <a:pt x="152400" y="152400"/>
                      </a:lnTo>
                      <a:close/>
                    </a:path>
                  </a:pathLst>
                </a:custGeom>
                <a:solidFill>
                  <a:srgbClr val="1E4FA8"/>
                </a:solidFill>
                <a:ln>
                  <a:noFill/>
                </a:ln>
              </p:spPr>
            </p:sp>
            <p:sp>
              <p:nvSpPr>
                <p:cNvPr id="39" name="TextBox 39"/>
                <p:cNvSpPr txBox="1"/>
                <p:nvPr/>
              </p:nvSpPr>
              <p:spPr>
                <a:xfrm>
                  <a:off x="10263188" y="3831193"/>
                  <a:ext cx="425435" cy="169069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860" dirty="0">
                      <a:solidFill>
                        <a:srgbClr val="1A2230"/>
                      </a:solidFill>
                      <a:latin typeface="Arial"/>
                      <a:ea typeface="Microsoft YaHei"/>
                      <a:cs typeface="Arial"/>
                    </a:rPr>
                    <a:t>蒸发 ET</a:t>
                  </a:r>
                </a:p>
              </p:txBody>
            </p:sp>
            <p:sp>
              <p:nvSpPr>
                <p:cNvPr id="40" name="Line 40"/>
                <p:cNvSpPr/>
                <p:nvPr/>
              </p:nvSpPr>
              <p:spPr>
                <a:xfrm>
                  <a:off x="10477500" y="4419600"/>
                  <a:ext cx="8191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19150" h="9525">
                      <a:moveTo>
                        <a:pt x="0" y="0"/>
                      </a:moveTo>
                      <a:lnTo>
                        <a:pt x="819150" y="0"/>
                      </a:lnTo>
                    </a:path>
                  </a:pathLst>
                </a:custGeom>
                <a:noFill/>
                <a:ln w="28575">
                  <a:solidFill>
                    <a:srgbClr val="1E4FA8"/>
                  </a:solidFill>
                </a:ln>
              </p:spPr>
            </p:sp>
            <p:sp>
              <p:nvSpPr>
                <p:cNvPr id="41" name="Polygon 41"/>
                <p:cNvSpPr/>
                <p:nvPr/>
              </p:nvSpPr>
              <p:spPr>
                <a:xfrm>
                  <a:off x="11182350" y="4343400"/>
                  <a:ext cx="152400" cy="152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2400" h="152400">
                      <a:moveTo>
                        <a:pt x="0" y="0"/>
                      </a:moveTo>
                      <a:lnTo>
                        <a:pt x="152400" y="76200"/>
                      </a:lnTo>
                      <a:lnTo>
                        <a:pt x="0" y="152400"/>
                      </a:lnTo>
                      <a:close/>
                    </a:path>
                  </a:pathLst>
                </a:custGeom>
                <a:solidFill>
                  <a:srgbClr val="1E4FA8"/>
                </a:solidFill>
                <a:ln>
                  <a:noFill/>
                </a:ln>
              </p:spPr>
            </p:sp>
            <p:sp>
              <p:nvSpPr>
                <p:cNvPr id="42" name="TextBox 42"/>
                <p:cNvSpPr txBox="1"/>
                <p:nvPr/>
              </p:nvSpPr>
              <p:spPr>
                <a:xfrm>
                  <a:off x="10574967" y="4231243"/>
                  <a:ext cx="624215" cy="169069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ctr"/>
                  <a:r>
                    <a:rPr lang="zh-CN" sz="860" dirty="0">
                      <a:solidFill>
                        <a:srgbClr val="1A2230"/>
                      </a:solidFill>
                      <a:latin typeface="Arial"/>
                      <a:ea typeface="Microsoft YaHei"/>
                      <a:cs typeface="Arial"/>
                    </a:rPr>
                    <a:t>海洋 Ocean</a:t>
                  </a:r>
                </a:p>
              </p:txBody>
            </p:sp>
          </p:grpSp>
        </p:grpSp>
        <p:grpSp>
          <p:nvGrpSpPr>
            <p:cNvPr id="49" name="Group 49"/>
            <p:cNvGrpSpPr/>
            <p:nvPr/>
          </p:nvGrpSpPr>
          <p:grpSpPr>
            <a:xfrm>
              <a:off x="571500" y="4876800"/>
              <a:ext cx="3581400" cy="1181100"/>
              <a:chOff x="571500" y="4876800"/>
              <a:chExt cx="3581400" cy="1181100"/>
            </a:xfrm>
          </p:grpSpPr>
          <p:sp>
            <p:nvSpPr>
              <p:cNvPr id="45" name="Rectangle 45"/>
              <p:cNvSpPr/>
              <p:nvPr/>
            </p:nvSpPr>
            <p:spPr>
              <a:xfrm>
                <a:off x="571500" y="4876800"/>
                <a:ext cx="3581400" cy="1181100"/>
              </a:xfrm>
              <a:prstGeom prst="roundRect">
                <a:avLst>
                  <a:gd name="adj" fmla="val 9677"/>
                </a:avLst>
              </a:prstGeom>
              <a:solidFill>
                <a:srgbClr val="F7F9FC"/>
              </a:solidFill>
              <a:ln w="9525">
                <a:solidFill>
                  <a:srgbClr val="D6DCE5"/>
                </a:solidFill>
              </a:ln>
            </p:spPr>
          </p:sp>
          <p:sp>
            <p:nvSpPr>
              <p:cNvPr id="46" name="TextBox 46"/>
              <p:cNvSpPr txBox="1"/>
              <p:nvPr/>
            </p:nvSpPr>
            <p:spPr>
              <a:xfrm>
                <a:off x="756285" y="5098256"/>
                <a:ext cx="1199967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b="1" dirty="0">
                    <a:solidFill>
                      <a:srgbClr val="0E3F8C"/>
                    </a:solidFill>
                    <a:latin typeface="Arial"/>
                    <a:ea typeface="Microsoft YaHei"/>
                    <a:cs typeface="Arial"/>
                  </a:rPr>
                  <a:t>① 补给 Recharge</a:t>
                </a:r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757238" y="5442347"/>
                <a:ext cx="1654581" cy="18335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40" dirty="0">
                    <a:solidFill>
                      <a:srgbClr val="1A2230"/>
                    </a:solidFill>
                    <a:latin typeface="Arial"/>
                    <a:ea typeface="Microsoft YaHei"/>
                    <a:cs typeface="Arial"/>
                  </a:rPr>
                  <a:t>近期降水入渗，穿过包气带，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757238" y="5689997"/>
                <a:ext cx="1654581" cy="18335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40" dirty="0">
                    <a:solidFill>
                      <a:srgbClr val="1A2230"/>
                    </a:solidFill>
                    <a:latin typeface="Arial"/>
                    <a:ea typeface="Microsoft YaHei"/>
                    <a:cs typeface="Arial"/>
                  </a:rPr>
                  <a:t>到达地下水位，形成地下水。</a:t>
                </a:r>
              </a:p>
            </p:txBody>
          </p:sp>
        </p:grpSp>
        <p:grpSp>
          <p:nvGrpSpPr>
            <p:cNvPr id="54" name="Group 54"/>
            <p:cNvGrpSpPr/>
            <p:nvPr/>
          </p:nvGrpSpPr>
          <p:grpSpPr>
            <a:xfrm>
              <a:off x="4295775" y="4876800"/>
              <a:ext cx="3581400" cy="1181100"/>
              <a:chOff x="4295775" y="4876800"/>
              <a:chExt cx="3581400" cy="1181100"/>
            </a:xfrm>
          </p:grpSpPr>
          <p:sp>
            <p:nvSpPr>
              <p:cNvPr id="50" name="Rectangle 50"/>
              <p:cNvSpPr/>
              <p:nvPr/>
            </p:nvSpPr>
            <p:spPr>
              <a:xfrm>
                <a:off x="4295775" y="4876800"/>
                <a:ext cx="3581400" cy="1181100"/>
              </a:xfrm>
              <a:prstGeom prst="roundRect">
                <a:avLst>
                  <a:gd name="adj" fmla="val 9677"/>
                </a:avLst>
              </a:prstGeom>
              <a:solidFill>
                <a:srgbClr val="F7F9FC"/>
              </a:solidFill>
              <a:ln w="9525">
                <a:solidFill>
                  <a:srgbClr val="D6DCE5"/>
                </a:solidFill>
              </a:ln>
            </p:spPr>
          </p:sp>
          <p:sp>
            <p:nvSpPr>
              <p:cNvPr id="51" name="TextBox 51"/>
              <p:cNvSpPr txBox="1"/>
              <p:nvPr/>
            </p:nvSpPr>
            <p:spPr>
              <a:xfrm>
                <a:off x="4480560" y="5098256"/>
                <a:ext cx="1113384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b="1" dirty="0">
                    <a:solidFill>
                      <a:srgbClr val="0E3F8C"/>
                    </a:solidFill>
                    <a:latin typeface="Arial"/>
                    <a:ea typeface="Microsoft YaHei"/>
                    <a:cs typeface="Arial"/>
                  </a:rPr>
                  <a:t>② 储存 Storage</a:t>
                </a:r>
              </a:p>
            </p:txBody>
          </p:sp>
          <p:sp>
            <p:nvSpPr>
              <p:cNvPr id="52" name="TextBox 52"/>
              <p:cNvSpPr txBox="1"/>
              <p:nvPr/>
            </p:nvSpPr>
            <p:spPr>
              <a:xfrm>
                <a:off x="4481512" y="5442347"/>
                <a:ext cx="1781124" cy="18335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40" dirty="0">
                    <a:solidFill>
                      <a:srgbClr val="1A2230"/>
                    </a:solidFill>
                    <a:latin typeface="Arial"/>
                    <a:ea typeface="Microsoft YaHei"/>
                    <a:cs typeface="Arial"/>
                  </a:rPr>
                  <a:t>水在水位以下的饱水带中储存，</a:t>
                </a:r>
              </a:p>
            </p:txBody>
          </p:sp>
          <p:sp>
            <p:nvSpPr>
              <p:cNvPr id="53" name="TextBox 53"/>
              <p:cNvSpPr txBox="1"/>
              <p:nvPr/>
            </p:nvSpPr>
            <p:spPr>
              <a:xfrm>
                <a:off x="4481512" y="5689997"/>
                <a:ext cx="1274953" cy="18335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40" dirty="0">
                    <a:solidFill>
                      <a:srgbClr val="1A2230"/>
                    </a:solidFill>
                    <a:latin typeface="Arial"/>
                    <a:ea typeface="Microsoft YaHei"/>
                    <a:cs typeface="Arial"/>
                  </a:rPr>
                  <a:t>并以极慢的速度流动。</a:t>
                </a:r>
              </a:p>
            </p:txBody>
          </p:sp>
        </p:grpSp>
        <p:grpSp>
          <p:nvGrpSpPr>
            <p:cNvPr id="59" name="Group 59"/>
            <p:cNvGrpSpPr/>
            <p:nvPr/>
          </p:nvGrpSpPr>
          <p:grpSpPr>
            <a:xfrm>
              <a:off x="8020050" y="4876800"/>
              <a:ext cx="3581400" cy="1181100"/>
              <a:chOff x="8020050" y="4876800"/>
              <a:chExt cx="3581400" cy="1181100"/>
            </a:xfrm>
          </p:grpSpPr>
          <p:sp>
            <p:nvSpPr>
              <p:cNvPr id="55" name="Rectangle 55"/>
              <p:cNvSpPr/>
              <p:nvPr/>
            </p:nvSpPr>
            <p:spPr>
              <a:xfrm>
                <a:off x="8020050" y="4876800"/>
                <a:ext cx="3581400" cy="1181100"/>
              </a:xfrm>
              <a:prstGeom prst="roundRect">
                <a:avLst>
                  <a:gd name="adj" fmla="val 9677"/>
                </a:avLst>
              </a:prstGeom>
              <a:solidFill>
                <a:srgbClr val="F7F9FC"/>
              </a:solidFill>
              <a:ln w="9525">
                <a:solidFill>
                  <a:srgbClr val="D6DCE5"/>
                </a:solidFill>
              </a:ln>
            </p:spPr>
          </p:sp>
          <p:sp>
            <p:nvSpPr>
              <p:cNvPr id="56" name="TextBox 56"/>
              <p:cNvSpPr txBox="1"/>
              <p:nvPr/>
            </p:nvSpPr>
            <p:spPr>
              <a:xfrm>
                <a:off x="8204835" y="5098256"/>
                <a:ext cx="1246832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b="1" dirty="0">
                    <a:solidFill>
                      <a:srgbClr val="0E3F8C"/>
                    </a:solidFill>
                    <a:latin typeface="Arial"/>
                    <a:ea typeface="Microsoft YaHei"/>
                    <a:cs typeface="Arial"/>
                  </a:rPr>
                  <a:t>③ 排泄 Discharge</a:t>
                </a:r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8205788" y="5442347"/>
                <a:ext cx="1907667" cy="18335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40" dirty="0">
                    <a:solidFill>
                      <a:srgbClr val="1A2230"/>
                    </a:solidFill>
                    <a:latin typeface="Arial"/>
                    <a:ea typeface="Microsoft YaHei"/>
                    <a:cs typeface="Arial"/>
                  </a:rPr>
                  <a:t>以泉、河、蒸发或海洋方式排出；</a:t>
                </a:r>
              </a:p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8205788" y="5689997"/>
                <a:ext cx="1850723" cy="18335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40" dirty="0">
                    <a:solidFill>
                      <a:srgbClr val="1A2230"/>
                    </a:solidFill>
                    <a:latin typeface="Arial"/>
                    <a:ea typeface="Microsoft YaHei"/>
                    <a:cs typeface="Arial"/>
                  </a:rPr>
                  <a:t>长期补给≈排泄，维持水位稳定。</a:t>
                </a:r>
              </a:p>
            </p:txBody>
          </p:sp>
        </p:grpSp>
      </p:grpSp>
      <p:sp>
        <p:nvSpPr>
          <p:cNvPr id="61" name="TextBox 61"/>
          <p:cNvSpPr txBox="1"/>
          <p:nvPr/>
        </p:nvSpPr>
        <p:spPr>
          <a:xfrm>
            <a:off x="376238" y="6532245"/>
            <a:ext cx="8534748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4A5568"/>
                </a:solidFill>
                <a:latin typeface="Arial"/>
                <a:ea typeface="Microsoft YaHei"/>
                <a:cs typeface="Arial"/>
              </a:rPr>
              <a:t>Source: UE 8e pp.1675, 1682–1688, 1694–1695; 地球系统与演变 Ch.3 PDF pp.13–14; residence times CN Table 3-1 (W-04). Native cross-section.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11672964" y="6532245"/>
            <a:ext cx="142799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4A5568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PROD-W2-DOUBAO">
  <a:themeElements>
    <a:clrScheme name="PROD-W2-DOUBA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PROD-W2-DOUBA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ROD-W2-DOUBA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PROD-W2-DOUBAO">
  <a:themeElements>
    <a:clrScheme name="PROD-W2-DOUBA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PROD-W2-DOUBA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ROD-W2-DOUBA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3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/>
  <cp:lastModifiedBy/>
  <cp:revision>1</cp:revision>
  <dcterms:created xsi:type="dcterms:W3CDTF">2026-09-11T09:24:10Z</dcterms:created>
  <dcterms:modified xsi:type="dcterms:W3CDTF">2026-09-11T09:24:10Z</dcterms:modified>
  <cp:category/>
  <cp:contentStatus/>
</cp:coreProperties>
</file>