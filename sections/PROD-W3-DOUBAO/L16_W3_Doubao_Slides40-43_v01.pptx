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11"/>
  </p:notes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  <Relationship Id="rId11"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要纠正一个常见误解：反馈并不是按同一个速度运行的。图上把五个反馈家族对齐到同一条定性时间轴上，从左到右表示从快到慢的相对位置，而不是一张精确的统一响应时间表，教材本身也没有给出这样一张表。辐射收支对辐射强迫的响应几乎是即时的，落在即时到数天的位置；水文与水汽反馈跟随大气水的快速周转，大气中的水大约不到九天就交换一次，可以作为快速端的锚点。冰冻圈跨越很宽，从季节积雪、海冰一直到山地冰川和冰盖，也就是季节到冰期尺度。生物圈涉及植物生长等生物过程，教材没有给出统一的定量响应时间，所以这一条故意画成贯穿整条时间轴的中性虚线条带，不落入任何时间区间，提醒大家不要给它分配时间区间或精确时钟。最慢的是硅酸盐风化恒温器，响应时间在十万到千万年量级，用克制的橙色标出。结论是：慢的负反馈无法立刻抵消快的正反馈，判断一个系统会怎样变化，必须同时看反馈方向和响应时钟。还要提醒，强迫与反馈不是一回事，教材中关于不同时间尺度气候变化带的划分不能直接当作每个反馈的响应时间。</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是一道课堂练习，页面本身是一张待完成的因果图，完整答案不放在可见页面上，由学生在三条路径上现场补全。顶部是唯一给定的初始扰动：温度升高。学生需要完成四项任务：补全至少两条响应路径，给每条路径标注正反馈或负反馈，指出哪条路径响应更快，再指出哪条更慢。右下角给出的四个可用环节全部来自前面第三十六到三十九页，不引入新机制。教师用的参考答案如下。第一条是水汽正反馈：升温使蒸发增强，大气水汽增多，温室效应增强，进一步升温，符号为正，速度很快，属于天到季节量级，依据是 UE 一千一百七十七页和 EP 八百八十三到八百八十四页。第二条是冰反照率正反馈：升温使冰雪减少，地表反照率下降，吸收的太阳能量增多，进一步升温，符号为正，速度从季节到冰期不等，依据是 UE 一千一百七十七页和《地球系统与演变》第三十九到四十页。第三条是硅酸盐风化负反馈：增暖增湿使风化加速，把大气中的二氧化碳转入碳酸盐，从而抑制初始升温，符号为负，速度最慢，在十万到千万年量级，依据是 HB 第九章二百四十八到二百四十九页并配合 UE 一千二百一十二到一千二百一十三页。植物生长固碳可以作为第四条可接受路径：二氧化碳升高刺激生长、植物吸收更多碳，符号为负，但教材没有给响应时间，不能给它配精确时钟。讲评时必须强调，正反馈和负反馈指的是放大还是抑制初始变化，不是好与坏；最快的是水汽和辐射类响应，最慢的是风化恒温器，这正好呼应上一页关于不同时钟的结论。</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给出四道候选题，正式作业由教师从中选一道到两道，页面上不提供答案。第一题是概念题，要求学生定义储库、通量和停留时间，并解释为什么储量很大的储库更新不一定快，评分时看学生能否用停留时间等于储量除以通量这一关系说明大储量配合大通量时停留时间仍可能很长。第二题是比较题，要求从储库、过程和相对时间尺度三方面比较快速与缓慢碳循环路径，评分看学生是否把大气生物圈的快速交换与岩石圈的缓慢风化埋藏区分开。第三题是耦合题，要求以风化、海洋输送或生物过程为例说明水如何把水循环与碳循环连接起来，三条路径举出任意一条并讲清因果即可。第四题是因果推理题，要求从一次升温出发各写一条正反馈和一条负反馈路径并比较响应快慢，评分看链条是否闭合、符号判定是否正确，以及是否意识到慢负反馈不能即时抵消快正反馈。四道题分别覆盖概念理解、比较解释、系统耦合和因果推理，不另外增加政策题或超纲计算。</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这一页是全讲核心术语的收束，按共同框架、水文过程、碳与耦合三组列出，共二十个术语，英文以 UE 教材为准，中文以《地球系统与演变》为准，页面只列术语，不展开新定义。共同框架组六个：储库是物质的存放单元，通量是单位时间的转移量，停留时间是物质在储库中的平均滞留时长，反馈是输出回过来影响输入的过程，正反馈放大初始变化，负反馈抑制或稳定初始变化，正负不是好坏。水文过程组七个：水文循环是水在各储库间的循环，蒸发是液态水变为水汽，蒸散包括蒸发与植物蒸腾，径流是地表水流，入渗是水渗入地下，地下水是储存在孔隙含水层中的水，冰冻圈是地球表层所有冻结水的总称。碳与耦合组七个：碳循环是碳在各储库间的循环，光合作用把二氧化碳固定为有机碳，呼吸作用把有机碳氧化释放二氧化碳，风化是水与二氧化碳等参与的岩石化学蚀变过程，硅酸盐风化可形成长期净二氧化碳去向，而碳酸盐风化不是同等净汇，碳酸盐是碳在岩石圈的主要赋存形式，生物泵靠海洋生物把碳向深层输送，物理泵靠海水溶解与环流输送碳。复习时提醒学生，这些术语前面都已讲过，这里只做对照与巩固，不引入新概念。</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ROD-W3-DOUBAO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ROD-W3-DOUBAO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rgbClr val="0E3F8C"/>
            </a:solidFill>
            <a:ln>
              <a:noFill/>
            </a:ln>
          </p:spPr>
        </p:sp>
        <p:sp>
          <p:nvSpPr>
            <p:cNvPr id="3" name="TextBox 3"/>
            <p:cNvSpPr txBox="1"/>
            <p:nvPr/>
          </p:nvSpPr>
          <p:spPr>
            <a:xfrm>
              <a:off x="374142" y="282892"/>
              <a:ext cx="5067011"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3.6 反馈不是同一速度 | Feedbacks Have Different Clocks</a:t>
              </a:r>
            </a:p>
          </p:txBody>
        </p:sp>
        <p:sp>
          <p:nvSpPr>
            <p:cNvPr id="4" name="TextBox 4"/>
            <p:cNvSpPr txBox="1"/>
            <p:nvPr/>
          </p:nvSpPr>
          <p:spPr>
            <a:xfrm>
              <a:off x="10959998" y="299085"/>
              <a:ext cx="857098" cy="234696"/>
            </a:xfrm>
            <a:prstGeom prst="rect">
              <a:avLst/>
            </a:prstGeom>
            <a:noFill/>
            <a:ln>
              <a:noFill/>
            </a:ln>
          </p:spPr>
          <p:txBody>
            <a:bodyPr wrap="none" lIns="0" tIns="0" rIns="0" bIns="0" anchor="t" anchorCtr="0">
              <a:spAutoFit/>
            </a:bodyPr>
            <a:lstStyle/>
            <a:p>
              <a:pPr algn="r"/>
              <a:r>
                <a:rPr lang="en-US" sz="1200" dirty="0">
                  <a:solidFill>
                    <a:srgbClr val="C7D7F2"/>
                  </a:solidFill>
                  <a:latin typeface="Arial"/>
                  <a:ea typeface="Arial"/>
                  <a:cs typeface="Arial"/>
                </a:rPr>
                <a:t>FEEDBACKS</a:t>
              </a:r>
            </a:p>
          </p:txBody>
        </p:sp>
      </p:grpSp>
      <p:grpSp>
        <p:nvGrpSpPr>
          <p:cNvPr id="8" name="Group 8"/>
          <p:cNvGrpSpPr/>
          <p:nvPr/>
        </p:nvGrpSpPr>
        <p:grpSpPr>
          <a:xfrm>
            <a:off x="381000" y="914400"/>
            <a:ext cx="5922340" cy="357093"/>
            <a:chOff x="381000" y="914400"/>
            <a:chExt cx="5922340" cy="357093"/>
          </a:xfrm>
        </p:grpSpPr>
        <p:sp>
          <p:nvSpPr>
            <p:cNvPr id="6" name="Rectangle 6"/>
            <p:cNvSpPr/>
            <p:nvPr/>
          </p:nvSpPr>
          <p:spPr>
            <a:xfrm>
              <a:off x="381000" y="914400"/>
              <a:ext cx="57150" cy="266700"/>
            </a:xfrm>
            <a:prstGeom prst="roundRect">
              <a:avLst>
                <a:gd name="adj" fmla="val 50000"/>
              </a:avLst>
            </a:prstGeom>
            <a:solidFill>
              <a:srgbClr val="1E4FA8"/>
            </a:solidFill>
            <a:ln>
              <a:noFill/>
            </a:ln>
          </p:spPr>
        </p:sp>
        <p:sp>
          <p:nvSpPr>
            <p:cNvPr id="7" name="TextBox 7"/>
            <p:cNvSpPr txBox="1"/>
            <p:nvPr/>
          </p:nvSpPr>
          <p:spPr>
            <a:xfrm>
              <a:off x="544449" y="963454"/>
              <a:ext cx="5758891" cy="308039"/>
            </a:xfrm>
            <a:prstGeom prst="rect">
              <a:avLst/>
            </a:prstGeom>
            <a:noFill/>
            <a:ln>
              <a:noFill/>
            </a:ln>
          </p:spPr>
          <p:txBody>
            <a:bodyPr wrap="none" lIns="0" tIns="0" rIns="0" bIns="0" anchor="t" anchorCtr="0">
              <a:spAutoFit/>
            </a:bodyPr>
            <a:lstStyle/>
            <a:p>
              <a:pPr algn="l"/>
              <a:r>
                <a:rPr lang="zh-CN" sz="1580" b="1" dirty="0">
                  <a:solidFill>
                    <a:srgbClr val="0E3F8C"/>
                  </a:solidFill>
                  <a:latin typeface="Arial"/>
                  <a:ea typeface="Microsoft YaHei"/>
                  <a:cs typeface="Arial"/>
                </a:rPr>
                <a:t>辐射、水文、冰冻圈、生物圈与风化响应运行在不同的时钟上</a:t>
              </a:r>
            </a:p>
          </p:txBody>
        </p:sp>
      </p:grpSp>
      <p:grpSp>
        <p:nvGrpSpPr>
          <p:cNvPr id="48" name="Group 48"/>
          <p:cNvGrpSpPr/>
          <p:nvPr/>
        </p:nvGrpSpPr>
        <p:grpSpPr>
          <a:xfrm>
            <a:off x="381000" y="1428750"/>
            <a:ext cx="11430000" cy="4686300"/>
            <a:chOff x="381000" y="1428750"/>
            <a:chExt cx="11430000" cy="4686300"/>
          </a:xfrm>
        </p:grpSpPr>
        <p:sp>
          <p:nvSpPr>
            <p:cNvPr id="9" name="Rectangle 9"/>
            <p:cNvSpPr/>
            <p:nvPr/>
          </p:nvSpPr>
          <p:spPr>
            <a:xfrm>
              <a:off x="381000" y="1428750"/>
              <a:ext cx="11430000" cy="4686300"/>
            </a:xfrm>
            <a:prstGeom prst="roundRect">
              <a:avLst>
                <a:gd name="adj" fmla="val 2439"/>
              </a:avLst>
            </a:prstGeom>
            <a:solidFill>
              <a:srgbClr val="F7F9FC"/>
            </a:solidFill>
            <a:ln w="9525">
              <a:solidFill>
                <a:srgbClr val="D6DCE5"/>
              </a:solidFill>
            </a:ln>
          </p:spPr>
        </p:sp>
        <p:sp>
          <p:nvSpPr>
            <p:cNvPr id="10" name="TextBox 10"/>
            <p:cNvSpPr txBox="1"/>
            <p:nvPr/>
          </p:nvSpPr>
          <p:spPr>
            <a:xfrm>
              <a:off x="681038" y="1636395"/>
              <a:ext cx="4613529"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定性对齐：条带位置只表示相对快慢，不代表精确响应时间（教材无统一响应时间表）</a:t>
              </a:r>
            </a:p>
          </p:txBody>
        </p:sp>
        <p:sp>
          <p:nvSpPr>
            <p:cNvPr id="11" name="TextBox 11"/>
            <p:cNvSpPr txBox="1"/>
            <p:nvPr/>
          </p:nvSpPr>
          <p:spPr>
            <a:xfrm>
              <a:off x="10544894" y="1636395"/>
              <a:ext cx="1042268" cy="176212"/>
            </a:xfrm>
            <a:prstGeom prst="rect">
              <a:avLst/>
            </a:prstGeom>
            <a:noFill/>
            <a:ln>
              <a:noFill/>
            </a:ln>
          </p:spPr>
          <p:txBody>
            <a:bodyPr wrap="none" lIns="0" tIns="0" rIns="0" bIns="0" anchor="t" anchorCtr="0">
              <a:spAutoFit/>
            </a:bodyPr>
            <a:lstStyle/>
            <a:p>
              <a:pPr algn="r"/>
              <a:r>
                <a:rPr lang="zh-CN" sz="900" b="1" dirty="0">
                  <a:solidFill>
                    <a:srgbClr val="1E4FA8"/>
                  </a:solidFill>
                  <a:latin typeface="Arial"/>
                  <a:ea typeface="Microsoft YaHei"/>
                  <a:cs typeface="Arial"/>
                </a:rPr>
                <a:t>快 Fast → 慢 Slow</a:t>
              </a:r>
            </a:p>
          </p:txBody>
        </p:sp>
        <p:sp>
          <p:nvSpPr>
            <p:cNvPr id="12" name="Line 12"/>
            <p:cNvSpPr/>
            <p:nvPr/>
          </p:nvSpPr>
          <p:spPr>
            <a:xfrm>
              <a:off x="5057775" y="2095500"/>
              <a:ext cx="9525" cy="3524250"/>
            </a:xfrm>
            <a:custGeom>
              <a:avLst/>
              <a:gdLst/>
              <a:ahLst/>
              <a:cxnLst/>
              <a:rect l="l" t="t" r="r" b="b"/>
              <a:pathLst>
                <a:path w="9525" h="3524250">
                  <a:moveTo>
                    <a:pt x="0" y="0"/>
                  </a:moveTo>
                  <a:lnTo>
                    <a:pt x="0" y="3524250"/>
                  </a:lnTo>
                </a:path>
              </a:pathLst>
            </a:custGeom>
            <a:noFill/>
            <a:ln w="9525">
              <a:solidFill>
                <a:srgbClr val="E2E8F0"/>
              </a:solidFill>
            </a:ln>
          </p:spPr>
        </p:sp>
        <p:sp>
          <p:nvSpPr>
            <p:cNvPr id="13" name="Line 13"/>
            <p:cNvSpPr/>
            <p:nvPr/>
          </p:nvSpPr>
          <p:spPr>
            <a:xfrm>
              <a:off x="6686550" y="2095500"/>
              <a:ext cx="9525" cy="3524250"/>
            </a:xfrm>
            <a:custGeom>
              <a:avLst/>
              <a:gdLst/>
              <a:ahLst/>
              <a:cxnLst/>
              <a:rect l="l" t="t" r="r" b="b"/>
              <a:pathLst>
                <a:path w="9525" h="3524250">
                  <a:moveTo>
                    <a:pt x="0" y="0"/>
                  </a:moveTo>
                  <a:lnTo>
                    <a:pt x="0" y="3524250"/>
                  </a:lnTo>
                </a:path>
              </a:pathLst>
            </a:custGeom>
            <a:noFill/>
            <a:ln w="9525">
              <a:solidFill>
                <a:srgbClr val="E2E8F0"/>
              </a:solidFill>
            </a:ln>
          </p:spPr>
        </p:sp>
        <p:sp>
          <p:nvSpPr>
            <p:cNvPr id="14" name="Line 14"/>
            <p:cNvSpPr/>
            <p:nvPr/>
          </p:nvSpPr>
          <p:spPr>
            <a:xfrm>
              <a:off x="8315325" y="2095500"/>
              <a:ext cx="9525" cy="3524250"/>
            </a:xfrm>
            <a:custGeom>
              <a:avLst/>
              <a:gdLst/>
              <a:ahLst/>
              <a:cxnLst/>
              <a:rect l="l" t="t" r="r" b="b"/>
              <a:pathLst>
                <a:path w="9525" h="3524250">
                  <a:moveTo>
                    <a:pt x="0" y="0"/>
                  </a:moveTo>
                  <a:lnTo>
                    <a:pt x="0" y="3524250"/>
                  </a:lnTo>
                </a:path>
              </a:pathLst>
            </a:custGeom>
            <a:noFill/>
            <a:ln w="9525">
              <a:solidFill>
                <a:srgbClr val="E2E8F0"/>
              </a:solidFill>
            </a:ln>
          </p:spPr>
        </p:sp>
        <p:sp>
          <p:nvSpPr>
            <p:cNvPr id="15" name="Line 15"/>
            <p:cNvSpPr/>
            <p:nvPr/>
          </p:nvSpPr>
          <p:spPr>
            <a:xfrm>
              <a:off x="9944100" y="2095500"/>
              <a:ext cx="9525" cy="3524250"/>
            </a:xfrm>
            <a:custGeom>
              <a:avLst/>
              <a:gdLst/>
              <a:ahLst/>
              <a:cxnLst/>
              <a:rect l="l" t="t" r="r" b="b"/>
              <a:pathLst>
                <a:path w="9525" h="3524250">
                  <a:moveTo>
                    <a:pt x="0" y="0"/>
                  </a:moveTo>
                  <a:lnTo>
                    <a:pt x="0" y="3524250"/>
                  </a:lnTo>
                </a:path>
              </a:pathLst>
            </a:custGeom>
            <a:noFill/>
            <a:ln w="9525">
              <a:solidFill>
                <a:srgbClr val="E2E8F0"/>
              </a:solidFill>
            </a:ln>
          </p:spPr>
        </p:sp>
        <p:sp>
          <p:nvSpPr>
            <p:cNvPr id="16" name="TextBox 16"/>
            <p:cNvSpPr txBox="1"/>
            <p:nvPr/>
          </p:nvSpPr>
          <p:spPr>
            <a:xfrm>
              <a:off x="4017141" y="1903095"/>
              <a:ext cx="442968" cy="176212"/>
            </a:xfrm>
            <a:prstGeom prst="rect">
              <a:avLst/>
            </a:prstGeom>
            <a:noFill/>
            <a:ln>
              <a:noFill/>
            </a:ln>
          </p:spPr>
          <p:txBody>
            <a:bodyPr wrap="none" lIns="0" tIns="0" rIns="0" bIns="0" anchor="t" anchorCtr="0">
              <a:spAutoFit/>
            </a:bodyPr>
            <a:lstStyle/>
            <a:p>
              <a:pPr algn="ctr"/>
              <a:r>
                <a:rPr lang="zh-CN" sz="900" b="1" dirty="0">
                  <a:solidFill>
                    <a:srgbClr val="4A5568"/>
                  </a:solidFill>
                  <a:latin typeface="Arial"/>
                  <a:ea typeface="Microsoft YaHei"/>
                  <a:cs typeface="Arial"/>
                </a:rPr>
                <a:t>即时–天</a:t>
              </a:r>
            </a:p>
          </p:txBody>
        </p:sp>
        <p:sp>
          <p:nvSpPr>
            <p:cNvPr id="17" name="TextBox 17"/>
            <p:cNvSpPr txBox="1"/>
            <p:nvPr/>
          </p:nvSpPr>
          <p:spPr>
            <a:xfrm>
              <a:off x="5645916" y="1903095"/>
              <a:ext cx="442968" cy="176212"/>
            </a:xfrm>
            <a:prstGeom prst="rect">
              <a:avLst/>
            </a:prstGeom>
            <a:noFill/>
            <a:ln>
              <a:noFill/>
            </a:ln>
          </p:spPr>
          <p:txBody>
            <a:bodyPr wrap="none" lIns="0" tIns="0" rIns="0" bIns="0" anchor="t" anchorCtr="0">
              <a:spAutoFit/>
            </a:bodyPr>
            <a:lstStyle/>
            <a:p>
              <a:pPr algn="ctr"/>
              <a:r>
                <a:rPr lang="zh-CN" sz="900" b="1" dirty="0">
                  <a:solidFill>
                    <a:srgbClr val="4A5568"/>
                  </a:solidFill>
                  <a:latin typeface="Arial"/>
                  <a:ea typeface="Microsoft YaHei"/>
                  <a:cs typeface="Arial"/>
                </a:rPr>
                <a:t>季节–年</a:t>
              </a:r>
            </a:p>
          </p:txBody>
        </p:sp>
        <p:sp>
          <p:nvSpPr>
            <p:cNvPr id="18" name="TextBox 18"/>
            <p:cNvSpPr txBox="1"/>
            <p:nvPr/>
          </p:nvSpPr>
          <p:spPr>
            <a:xfrm>
              <a:off x="7153533" y="1903095"/>
              <a:ext cx="685284" cy="176212"/>
            </a:xfrm>
            <a:prstGeom prst="rect">
              <a:avLst/>
            </a:prstGeom>
            <a:noFill/>
            <a:ln>
              <a:noFill/>
            </a:ln>
          </p:spPr>
          <p:txBody>
            <a:bodyPr wrap="none" lIns="0" tIns="0" rIns="0" bIns="0" anchor="t" anchorCtr="0">
              <a:spAutoFit/>
            </a:bodyPr>
            <a:lstStyle/>
            <a:p>
              <a:pPr algn="ctr"/>
              <a:r>
                <a:rPr lang="zh-CN" sz="900" b="1" dirty="0">
                  <a:solidFill>
                    <a:srgbClr val="4A5568"/>
                  </a:solidFill>
                  <a:latin typeface="Arial"/>
                  <a:ea typeface="Microsoft YaHei"/>
                  <a:cs typeface="Arial"/>
                </a:rPr>
                <a:t>数十年–世纪</a:t>
              </a:r>
            </a:p>
          </p:txBody>
        </p:sp>
        <p:sp>
          <p:nvSpPr>
            <p:cNvPr id="19" name="TextBox 19"/>
            <p:cNvSpPr txBox="1"/>
            <p:nvPr/>
          </p:nvSpPr>
          <p:spPr>
            <a:xfrm>
              <a:off x="8842887" y="1903095"/>
              <a:ext cx="564126" cy="176212"/>
            </a:xfrm>
            <a:prstGeom prst="rect">
              <a:avLst/>
            </a:prstGeom>
            <a:noFill/>
            <a:ln>
              <a:noFill/>
            </a:ln>
          </p:spPr>
          <p:txBody>
            <a:bodyPr wrap="none" lIns="0" tIns="0" rIns="0" bIns="0" anchor="t" anchorCtr="0">
              <a:spAutoFit/>
            </a:bodyPr>
            <a:lstStyle/>
            <a:p>
              <a:pPr algn="ctr"/>
              <a:r>
                <a:rPr lang="zh-CN" sz="900" b="1" dirty="0">
                  <a:solidFill>
                    <a:srgbClr val="4A5568"/>
                  </a:solidFill>
                  <a:latin typeface="Arial"/>
                  <a:ea typeface="Microsoft YaHei"/>
                  <a:cs typeface="Arial"/>
                </a:rPr>
                <a:t>千年–冰期</a:t>
              </a:r>
            </a:p>
          </p:txBody>
        </p:sp>
        <p:sp>
          <p:nvSpPr>
            <p:cNvPr id="20" name="TextBox 20"/>
            <p:cNvSpPr txBox="1"/>
            <p:nvPr/>
          </p:nvSpPr>
          <p:spPr>
            <a:xfrm>
              <a:off x="10433936" y="1903095"/>
              <a:ext cx="658629" cy="176212"/>
            </a:xfrm>
            <a:prstGeom prst="rect">
              <a:avLst/>
            </a:prstGeom>
            <a:noFill/>
            <a:ln>
              <a:noFill/>
            </a:ln>
          </p:spPr>
          <p:txBody>
            <a:bodyPr wrap="none" lIns="0" tIns="0" rIns="0" bIns="0" anchor="t" anchorCtr="0">
              <a:spAutoFit/>
            </a:bodyPr>
            <a:lstStyle/>
            <a:p>
              <a:pPr algn="ctr"/>
              <a:r>
                <a:rPr lang="zh-CN" sz="900" b="1" dirty="0">
                  <a:solidFill>
                    <a:srgbClr val="C2410C"/>
                  </a:solidFill>
                  <a:latin typeface="Arial"/>
                  <a:ea typeface="Microsoft YaHei"/>
                  <a:cs typeface="Arial"/>
                </a:rPr>
                <a:t>10⁵–10⁷ 年</a:t>
              </a:r>
            </a:p>
          </p:txBody>
        </p:sp>
        <p:grpSp>
          <p:nvGrpSpPr>
            <p:cNvPr id="25" name="Group 25"/>
            <p:cNvGrpSpPr/>
            <p:nvPr/>
          </p:nvGrpSpPr>
          <p:grpSpPr>
            <a:xfrm>
              <a:off x="680466" y="2286952"/>
              <a:ext cx="5582946" cy="398860"/>
              <a:chOff x="680466" y="2286952"/>
              <a:chExt cx="5582946" cy="398860"/>
            </a:xfrm>
          </p:grpSpPr>
          <p:sp>
            <p:nvSpPr>
              <p:cNvPr id="21" name="TextBox 21"/>
              <p:cNvSpPr txBox="1"/>
              <p:nvPr/>
            </p:nvSpPr>
            <p:spPr>
              <a:xfrm>
                <a:off x="680466" y="2286952"/>
                <a:ext cx="1985180" cy="205359"/>
              </a:xfrm>
              <a:prstGeom prst="rect">
                <a:avLst/>
              </a:prstGeom>
              <a:noFill/>
              <a:ln>
                <a:noFill/>
              </a:ln>
            </p:spPr>
            <p:txBody>
              <a:bodyPr wrap="none" lIns="0" tIns="0" rIns="0" bIns="0" anchor="t" anchorCtr="0">
                <a:spAutoFit/>
              </a:bodyPr>
              <a:lstStyle/>
              <a:p>
                <a:pPr algn="l"/>
                <a:r>
                  <a:rPr lang="zh-CN" sz="1050" b="1" dirty="0">
                    <a:solidFill>
                      <a:srgbClr val="0E3F8C"/>
                    </a:solidFill>
                    <a:latin typeface="Arial"/>
                    <a:ea typeface="Microsoft YaHei"/>
                    <a:cs typeface="Arial"/>
                  </a:rPr>
                  <a:t>辐射响应 Radiative response</a:t>
                </a:r>
              </a:p>
            </p:txBody>
          </p:sp>
          <p:sp>
            <p:nvSpPr>
              <p:cNvPr id="22" name="TextBox 22"/>
              <p:cNvSpPr txBox="1"/>
              <p:nvPr/>
            </p:nvSpPr>
            <p:spPr>
              <a:xfrm>
                <a:off x="681038" y="2516743"/>
                <a:ext cx="1746123" cy="169069"/>
              </a:xfrm>
              <a:prstGeom prst="rect">
                <a:avLst/>
              </a:prstGeom>
              <a:noFill/>
              <a:ln>
                <a:noFill/>
              </a:ln>
            </p:spPr>
            <p:txBody>
              <a:bodyPr wrap="none" lIns="0" tIns="0" rIns="0" bIns="0" anchor="t" anchorCtr="0">
                <a:spAutoFit/>
              </a:bodyPr>
              <a:lstStyle/>
              <a:p>
                <a:pPr algn="l"/>
                <a:r>
                  <a:rPr lang="zh-CN" sz="860" dirty="0">
                    <a:solidFill>
                      <a:srgbClr val="4A5568"/>
                    </a:solidFill>
                    <a:latin typeface="Arial"/>
                    <a:ea typeface="Microsoft YaHei"/>
                    <a:cs typeface="Arial"/>
                  </a:rPr>
                  <a:t>辐射收支随辐射强迫近乎即时改变</a:t>
                </a:r>
              </a:p>
            </p:txBody>
          </p:sp>
          <p:sp>
            <p:nvSpPr>
              <p:cNvPr id="23" name="Rectangle 23"/>
              <p:cNvSpPr/>
              <p:nvPr/>
            </p:nvSpPr>
            <p:spPr>
              <a:xfrm>
                <a:off x="3429000" y="2352675"/>
                <a:ext cx="990600" cy="247650"/>
              </a:xfrm>
              <a:prstGeom prst="roundRect">
                <a:avLst>
                  <a:gd name="adj" fmla="val 23077"/>
                </a:avLst>
              </a:prstGeom>
              <a:solidFill>
                <a:srgbClr val="1E4FA8"/>
              </a:solidFill>
              <a:ln>
                <a:noFill/>
              </a:ln>
            </p:spPr>
          </p:sp>
          <p:sp>
            <p:nvSpPr>
              <p:cNvPr id="24" name="TextBox 24"/>
              <p:cNvSpPr txBox="1"/>
              <p:nvPr/>
            </p:nvSpPr>
            <p:spPr>
              <a:xfrm>
                <a:off x="4491038" y="2436495"/>
                <a:ext cx="1772374" cy="176212"/>
              </a:xfrm>
              <a:prstGeom prst="rect">
                <a:avLst/>
              </a:prstGeom>
              <a:noFill/>
              <a:ln>
                <a:noFill/>
              </a:ln>
            </p:spPr>
            <p:txBody>
              <a:bodyPr wrap="none" lIns="0" tIns="0" rIns="0" bIns="0" anchor="t" anchorCtr="0">
                <a:spAutoFit/>
              </a:bodyPr>
              <a:lstStyle/>
              <a:p>
                <a:pPr algn="l"/>
                <a:r>
                  <a:rPr lang="zh-CN" sz="900" dirty="0">
                    <a:solidFill>
                      <a:srgbClr val="1A2230"/>
                    </a:solidFill>
                    <a:latin typeface="Arial"/>
                    <a:ea typeface="Microsoft YaHei"/>
                    <a:cs typeface="Arial"/>
                  </a:rPr>
                  <a:t>即时–数天：能量收支近瞬时调整</a:t>
                </a:r>
              </a:p>
            </p:txBody>
          </p:sp>
        </p:grpSp>
        <p:grpSp>
          <p:nvGrpSpPr>
            <p:cNvPr id="30" name="Group 30"/>
            <p:cNvGrpSpPr/>
            <p:nvPr/>
          </p:nvGrpSpPr>
          <p:grpSpPr>
            <a:xfrm>
              <a:off x="680466" y="2991802"/>
              <a:ext cx="6471247" cy="398860"/>
              <a:chOff x="680466" y="2991802"/>
              <a:chExt cx="6471247" cy="398860"/>
            </a:xfrm>
          </p:grpSpPr>
          <p:sp>
            <p:nvSpPr>
              <p:cNvPr id="26" name="TextBox 26"/>
              <p:cNvSpPr txBox="1"/>
              <p:nvPr/>
            </p:nvSpPr>
            <p:spPr>
              <a:xfrm>
                <a:off x="680466" y="2991802"/>
                <a:ext cx="2063890" cy="205359"/>
              </a:xfrm>
              <a:prstGeom prst="rect">
                <a:avLst/>
              </a:prstGeom>
              <a:noFill/>
              <a:ln>
                <a:noFill/>
              </a:ln>
            </p:spPr>
            <p:txBody>
              <a:bodyPr wrap="none" lIns="0" tIns="0" rIns="0" bIns="0" anchor="t" anchorCtr="0">
                <a:spAutoFit/>
              </a:bodyPr>
              <a:lstStyle/>
              <a:p>
                <a:pPr algn="l"/>
                <a:r>
                  <a:rPr lang="zh-CN" sz="1050" b="1" dirty="0">
                    <a:solidFill>
                      <a:srgbClr val="0E3F8C"/>
                    </a:solidFill>
                    <a:latin typeface="Arial"/>
                    <a:ea typeface="Microsoft YaHei"/>
                    <a:cs typeface="Arial"/>
                  </a:rPr>
                  <a:t>水文（水汽）响应 Hydrological</a:t>
                </a:r>
              </a:p>
            </p:txBody>
          </p:sp>
          <p:sp>
            <p:nvSpPr>
              <p:cNvPr id="27" name="TextBox 27"/>
              <p:cNvSpPr txBox="1"/>
              <p:nvPr/>
            </p:nvSpPr>
            <p:spPr>
              <a:xfrm>
                <a:off x="681038" y="3221593"/>
                <a:ext cx="1809798" cy="169069"/>
              </a:xfrm>
              <a:prstGeom prst="rect">
                <a:avLst/>
              </a:prstGeom>
              <a:noFill/>
              <a:ln>
                <a:noFill/>
              </a:ln>
            </p:spPr>
            <p:txBody>
              <a:bodyPr wrap="none" lIns="0" tIns="0" rIns="0" bIns="0" anchor="t" anchorCtr="0">
                <a:spAutoFit/>
              </a:bodyPr>
              <a:lstStyle/>
              <a:p>
                <a:pPr algn="l"/>
                <a:r>
                  <a:rPr lang="zh-CN" sz="860" dirty="0">
                    <a:solidFill>
                      <a:srgbClr val="4A5568"/>
                    </a:solidFill>
                    <a:latin typeface="Arial"/>
                    <a:ea typeface="Microsoft YaHei"/>
                    <a:cs typeface="Arial"/>
                  </a:rPr>
                  <a:t>蒸发—水汽反馈，随大气水快速周转</a:t>
                </a:r>
              </a:p>
            </p:txBody>
          </p:sp>
          <p:sp>
            <p:nvSpPr>
              <p:cNvPr id="28" name="Rectangle 28"/>
              <p:cNvSpPr/>
              <p:nvPr/>
            </p:nvSpPr>
            <p:spPr>
              <a:xfrm>
                <a:off x="3429000" y="3057525"/>
                <a:ext cx="1628775" cy="247650"/>
              </a:xfrm>
              <a:prstGeom prst="roundRect">
                <a:avLst>
                  <a:gd name="adj" fmla="val 23077"/>
                </a:avLst>
              </a:prstGeom>
              <a:solidFill>
                <a:srgbClr val="3D7BD9"/>
              </a:solidFill>
              <a:ln>
                <a:noFill/>
              </a:ln>
            </p:spPr>
          </p:sp>
          <p:sp>
            <p:nvSpPr>
              <p:cNvPr id="29" name="TextBox 29"/>
              <p:cNvSpPr txBox="1"/>
              <p:nvPr/>
            </p:nvSpPr>
            <p:spPr>
              <a:xfrm>
                <a:off x="5138738" y="3141345"/>
                <a:ext cx="2012975" cy="176212"/>
              </a:xfrm>
              <a:prstGeom prst="rect">
                <a:avLst/>
              </a:prstGeom>
              <a:noFill/>
              <a:ln>
                <a:noFill/>
              </a:ln>
            </p:spPr>
            <p:txBody>
              <a:bodyPr wrap="none" lIns="0" tIns="0" rIns="0" bIns="0" anchor="t" anchorCtr="0">
                <a:spAutoFit/>
              </a:bodyPr>
              <a:lstStyle/>
              <a:p>
                <a:pPr algn="l"/>
                <a:r>
                  <a:rPr lang="zh-CN" sz="900" dirty="0">
                    <a:solidFill>
                      <a:srgbClr val="1A2230"/>
                    </a:solidFill>
                    <a:latin typeface="Arial"/>
                    <a:ea typeface="Microsoft YaHei"/>
                    <a:cs typeface="Arial"/>
                  </a:rPr>
                  <a:t>大气水交换 &lt; 约 9 天（CN 表 3-1）</a:t>
                </a:r>
              </a:p>
            </p:txBody>
          </p:sp>
        </p:grpSp>
        <p:grpSp>
          <p:nvGrpSpPr>
            <p:cNvPr id="35" name="Group 35"/>
            <p:cNvGrpSpPr/>
            <p:nvPr/>
          </p:nvGrpSpPr>
          <p:grpSpPr>
            <a:xfrm>
              <a:off x="680466" y="3696652"/>
              <a:ext cx="9263634" cy="398860"/>
              <a:chOff x="680466" y="3696652"/>
              <a:chExt cx="9263634" cy="398860"/>
            </a:xfrm>
          </p:grpSpPr>
          <p:sp>
            <p:nvSpPr>
              <p:cNvPr id="31" name="TextBox 31"/>
              <p:cNvSpPr txBox="1"/>
              <p:nvPr/>
            </p:nvSpPr>
            <p:spPr>
              <a:xfrm>
                <a:off x="680466" y="3696652"/>
                <a:ext cx="1587124" cy="205359"/>
              </a:xfrm>
              <a:prstGeom prst="rect">
                <a:avLst/>
              </a:prstGeom>
              <a:noFill/>
              <a:ln>
                <a:noFill/>
              </a:ln>
            </p:spPr>
            <p:txBody>
              <a:bodyPr wrap="none" lIns="0" tIns="0" rIns="0" bIns="0" anchor="t" anchorCtr="0">
                <a:spAutoFit/>
              </a:bodyPr>
              <a:lstStyle/>
              <a:p>
                <a:pPr algn="l"/>
                <a:r>
                  <a:rPr lang="zh-CN" sz="1050" b="1" dirty="0">
                    <a:solidFill>
                      <a:srgbClr val="0E3F8C"/>
                    </a:solidFill>
                    <a:latin typeface="Arial"/>
                    <a:ea typeface="Microsoft YaHei"/>
                    <a:cs typeface="Arial"/>
                  </a:rPr>
                  <a:t>冰冻圈响应 Cryosphere</a:t>
                </a:r>
              </a:p>
            </p:txBody>
          </p:sp>
          <p:sp>
            <p:nvSpPr>
              <p:cNvPr id="32" name="TextBox 32"/>
              <p:cNvSpPr txBox="1"/>
              <p:nvPr/>
            </p:nvSpPr>
            <p:spPr>
              <a:xfrm>
                <a:off x="681038" y="3926443"/>
                <a:ext cx="1746123" cy="169069"/>
              </a:xfrm>
              <a:prstGeom prst="rect">
                <a:avLst/>
              </a:prstGeom>
              <a:noFill/>
              <a:ln>
                <a:noFill/>
              </a:ln>
            </p:spPr>
            <p:txBody>
              <a:bodyPr wrap="none" lIns="0" tIns="0" rIns="0" bIns="0" anchor="t" anchorCtr="0">
                <a:spAutoFit/>
              </a:bodyPr>
              <a:lstStyle/>
              <a:p>
                <a:pPr algn="l"/>
                <a:r>
                  <a:rPr lang="zh-CN" sz="860" dirty="0">
                    <a:solidFill>
                      <a:srgbClr val="4A5568"/>
                    </a:solidFill>
                    <a:latin typeface="Arial"/>
                    <a:ea typeface="Microsoft YaHei"/>
                    <a:cs typeface="Arial"/>
                  </a:rPr>
                  <a:t>季节积雪、海冰到山地冰川与冰盖</a:t>
                </a:r>
              </a:p>
            </p:txBody>
          </p:sp>
          <p:sp>
            <p:nvSpPr>
              <p:cNvPr id="33" name="Rectangle 33"/>
              <p:cNvSpPr/>
              <p:nvPr/>
            </p:nvSpPr>
            <p:spPr>
              <a:xfrm>
                <a:off x="5057775" y="3762375"/>
                <a:ext cx="4886325" cy="247650"/>
              </a:xfrm>
              <a:prstGeom prst="roundRect">
                <a:avLst>
                  <a:gd name="adj" fmla="val 23077"/>
                </a:avLst>
              </a:prstGeom>
              <a:solidFill>
                <a:srgbClr val="7FA8E0"/>
              </a:solidFill>
              <a:ln>
                <a:noFill/>
              </a:ln>
            </p:spPr>
          </p:sp>
          <p:sp>
            <p:nvSpPr>
              <p:cNvPr id="34" name="TextBox 34"/>
              <p:cNvSpPr txBox="1"/>
              <p:nvPr/>
            </p:nvSpPr>
            <p:spPr>
              <a:xfrm>
                <a:off x="6933631" y="3836670"/>
                <a:ext cx="1125087" cy="176212"/>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季节积雪 → 冰期尺度</a:t>
                </a:r>
              </a:p>
            </p:txBody>
          </p:sp>
        </p:grpSp>
        <p:grpSp>
          <p:nvGrpSpPr>
            <p:cNvPr id="40" name="Group 40"/>
            <p:cNvGrpSpPr/>
            <p:nvPr/>
          </p:nvGrpSpPr>
          <p:grpSpPr>
            <a:xfrm>
              <a:off x="680466" y="4401502"/>
              <a:ext cx="10901934" cy="398860"/>
              <a:chOff x="680466" y="4401502"/>
              <a:chExt cx="10901934" cy="398860"/>
            </a:xfrm>
          </p:grpSpPr>
          <p:sp>
            <p:nvSpPr>
              <p:cNvPr id="36" name="TextBox 36"/>
              <p:cNvSpPr txBox="1"/>
              <p:nvPr/>
            </p:nvSpPr>
            <p:spPr>
              <a:xfrm>
                <a:off x="680466" y="4401502"/>
                <a:ext cx="1468628" cy="205359"/>
              </a:xfrm>
              <a:prstGeom prst="rect">
                <a:avLst/>
              </a:prstGeom>
              <a:noFill/>
              <a:ln>
                <a:noFill/>
              </a:ln>
            </p:spPr>
            <p:txBody>
              <a:bodyPr wrap="none" lIns="0" tIns="0" rIns="0" bIns="0" anchor="t" anchorCtr="0">
                <a:spAutoFit/>
              </a:bodyPr>
              <a:lstStyle/>
              <a:p>
                <a:pPr algn="l"/>
                <a:r>
                  <a:rPr lang="zh-CN" sz="1050" b="1" dirty="0">
                    <a:solidFill>
                      <a:srgbClr val="0E3F8C"/>
                    </a:solidFill>
                    <a:latin typeface="Arial"/>
                    <a:ea typeface="Microsoft YaHei"/>
                    <a:cs typeface="Arial"/>
                  </a:rPr>
                  <a:t>生物圈响应 Biosphere</a:t>
                </a:r>
              </a:p>
            </p:txBody>
          </p:sp>
          <p:sp>
            <p:nvSpPr>
              <p:cNvPr id="37" name="TextBox 37"/>
              <p:cNvSpPr txBox="1"/>
              <p:nvPr/>
            </p:nvSpPr>
            <p:spPr>
              <a:xfrm>
                <a:off x="681038" y="4631293"/>
                <a:ext cx="2324989" cy="169069"/>
              </a:xfrm>
              <a:prstGeom prst="rect">
                <a:avLst/>
              </a:prstGeom>
              <a:noFill/>
              <a:ln>
                <a:noFill/>
              </a:ln>
            </p:spPr>
            <p:txBody>
              <a:bodyPr wrap="none" lIns="0" tIns="0" rIns="0" bIns="0" anchor="t" anchorCtr="0">
                <a:spAutoFit/>
              </a:bodyPr>
              <a:lstStyle/>
              <a:p>
                <a:pPr algn="l"/>
                <a:r>
                  <a:rPr lang="zh-CN" sz="860" dirty="0">
                    <a:solidFill>
                      <a:srgbClr val="4A5568"/>
                    </a:solidFill>
                    <a:latin typeface="Arial"/>
                    <a:ea typeface="Microsoft YaHei"/>
                    <a:cs typeface="Arial"/>
                  </a:rPr>
                  <a:t>植物生长等生物过程，教材未给统一响应时钟</a:t>
                </a:r>
              </a:p>
            </p:txBody>
          </p:sp>
          <p:sp>
            <p:nvSpPr>
              <p:cNvPr id="38" name="Rectangle 38"/>
              <p:cNvSpPr/>
              <p:nvPr/>
            </p:nvSpPr>
            <p:spPr>
              <a:xfrm>
                <a:off x="3429000" y="4467225"/>
                <a:ext cx="8153400" cy="247650"/>
              </a:xfrm>
              <a:prstGeom prst="roundRect">
                <a:avLst>
                  <a:gd name="adj" fmla="val 23077"/>
                </a:avLst>
              </a:prstGeom>
              <a:solidFill>
                <a:srgbClr val="EEF1F5"/>
              </a:solidFill>
              <a:ln w="14288">
                <a:solidFill>
                  <a:srgbClr val="8FA3BD"/>
                </a:solidFill>
                <a:custDash>
                  <a:ds d="400000" sp="266667"/>
                </a:custDash>
              </a:ln>
            </p:spPr>
          </p:sp>
          <p:sp>
            <p:nvSpPr>
              <p:cNvPr id="39" name="TextBox 39"/>
              <p:cNvSpPr txBox="1"/>
              <p:nvPr/>
            </p:nvSpPr>
            <p:spPr>
              <a:xfrm>
                <a:off x="5609046" y="4541520"/>
                <a:ext cx="3793307" cy="176212"/>
              </a:xfrm>
              <a:prstGeom prst="rect">
                <a:avLst/>
              </a:prstGeom>
              <a:noFill/>
              <a:ln>
                <a:noFill/>
              </a:ln>
            </p:spPr>
            <p:txBody>
              <a:bodyPr wrap="none" lIns="0" tIns="0" rIns="0" bIns="0" anchor="t" anchorCtr="0">
                <a:spAutoFit/>
              </a:bodyPr>
              <a:lstStyle/>
              <a:p>
                <a:pPr algn="ctr"/>
                <a:r>
                  <a:rPr lang="zh-CN" sz="900" dirty="0">
                    <a:solidFill>
                      <a:srgbClr val="4A5568"/>
                    </a:solidFill>
                    <a:latin typeface="Arial"/>
                    <a:ea typeface="Microsoft YaHei"/>
                    <a:cs typeface="Arial"/>
                  </a:rPr>
                  <a:t>响应时钟未统一量化 | No unified response clock（不分配时间区间）</a:t>
                </a:r>
              </a:p>
            </p:txBody>
          </p:sp>
        </p:grpSp>
        <p:grpSp>
          <p:nvGrpSpPr>
            <p:cNvPr id="45" name="Group 45"/>
            <p:cNvGrpSpPr/>
            <p:nvPr/>
          </p:nvGrpSpPr>
          <p:grpSpPr>
            <a:xfrm>
              <a:off x="680466" y="5106352"/>
              <a:ext cx="10863834" cy="398860"/>
              <a:chOff x="680466" y="5106352"/>
              <a:chExt cx="10863834" cy="398860"/>
            </a:xfrm>
          </p:grpSpPr>
          <p:sp>
            <p:nvSpPr>
              <p:cNvPr id="41" name="TextBox 41"/>
              <p:cNvSpPr txBox="1"/>
              <p:nvPr/>
            </p:nvSpPr>
            <p:spPr>
              <a:xfrm>
                <a:off x="680466" y="5106352"/>
                <a:ext cx="1141476" cy="205359"/>
              </a:xfrm>
              <a:prstGeom prst="rect">
                <a:avLst/>
              </a:prstGeom>
              <a:noFill/>
              <a:ln>
                <a:noFill/>
              </a:ln>
            </p:spPr>
            <p:txBody>
              <a:bodyPr wrap="none" lIns="0" tIns="0" rIns="0" bIns="0" anchor="t" anchorCtr="0">
                <a:spAutoFit/>
              </a:bodyPr>
              <a:lstStyle/>
              <a:p>
                <a:pPr algn="l"/>
                <a:r>
                  <a:rPr lang="zh-CN" sz="1050" b="1" dirty="0">
                    <a:solidFill>
                      <a:srgbClr val="C2410C"/>
                    </a:solidFill>
                    <a:latin typeface="Arial"/>
                    <a:ea typeface="Microsoft YaHei"/>
                    <a:cs typeface="Arial"/>
                  </a:rPr>
                  <a:t>硅酸盐风化恒温器</a:t>
                </a:r>
              </a:p>
            </p:txBody>
          </p:sp>
          <p:sp>
            <p:nvSpPr>
              <p:cNvPr id="42" name="TextBox 42"/>
              <p:cNvSpPr txBox="1"/>
              <p:nvPr/>
            </p:nvSpPr>
            <p:spPr>
              <a:xfrm>
                <a:off x="681038" y="5336143"/>
                <a:ext cx="2169001" cy="169069"/>
              </a:xfrm>
              <a:prstGeom prst="rect">
                <a:avLst/>
              </a:prstGeom>
              <a:noFill/>
              <a:ln>
                <a:noFill/>
              </a:ln>
            </p:spPr>
            <p:txBody>
              <a:bodyPr wrap="none" lIns="0" tIns="0" rIns="0" bIns="0" anchor="t" anchorCtr="0">
                <a:spAutoFit/>
              </a:bodyPr>
              <a:lstStyle/>
              <a:p>
                <a:pPr algn="l"/>
                <a:r>
                  <a:rPr lang="zh-CN" sz="860" dirty="0">
                    <a:solidFill>
                      <a:srgbClr val="7A4A33"/>
                    </a:solidFill>
                    <a:latin typeface="Arial"/>
                    <a:ea typeface="Microsoft YaHei"/>
                    <a:cs typeface="Arial"/>
                  </a:rPr>
                  <a:t>Weathering thermostat · 最慢的负反馈</a:t>
                </a:r>
              </a:p>
            </p:txBody>
          </p:sp>
          <p:sp>
            <p:nvSpPr>
              <p:cNvPr id="43" name="Rectangle 43"/>
              <p:cNvSpPr/>
              <p:nvPr/>
            </p:nvSpPr>
            <p:spPr>
              <a:xfrm>
                <a:off x="9944100" y="5172075"/>
                <a:ext cx="1600200" cy="247650"/>
              </a:xfrm>
              <a:prstGeom prst="roundRect">
                <a:avLst>
                  <a:gd name="adj" fmla="val 23077"/>
                </a:avLst>
              </a:prstGeom>
              <a:solidFill>
                <a:srgbClr val="EA580C"/>
              </a:solidFill>
              <a:ln>
                <a:noFill/>
              </a:ln>
            </p:spPr>
          </p:sp>
          <p:sp>
            <p:nvSpPr>
              <p:cNvPr id="44" name="TextBox 44"/>
              <p:cNvSpPr txBox="1"/>
              <p:nvPr/>
            </p:nvSpPr>
            <p:spPr>
              <a:xfrm>
                <a:off x="10379901" y="5246370"/>
                <a:ext cx="728598" cy="176212"/>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&gt;10⁵–10⁷ 年</a:t>
                </a:r>
              </a:p>
            </p:txBody>
          </p:sp>
        </p:grpSp>
        <p:sp>
          <p:nvSpPr>
            <p:cNvPr id="46" name="Rectangle 46"/>
            <p:cNvSpPr/>
            <p:nvPr/>
          </p:nvSpPr>
          <p:spPr>
            <a:xfrm>
              <a:off x="685800" y="5695950"/>
              <a:ext cx="10820400" cy="304800"/>
            </a:xfrm>
            <a:prstGeom prst="roundRect">
              <a:avLst>
                <a:gd name="adj" fmla="val 25000"/>
              </a:avLst>
            </a:prstGeom>
            <a:solidFill>
              <a:srgbClr val="E8EFF8"/>
            </a:solidFill>
            <a:ln>
              <a:noFill/>
            </a:ln>
          </p:spPr>
        </p:sp>
        <p:sp>
          <p:nvSpPr>
            <p:cNvPr id="47" name="TextBox 47"/>
            <p:cNvSpPr txBox="1"/>
            <p:nvPr/>
          </p:nvSpPr>
          <p:spPr>
            <a:xfrm>
              <a:off x="871347" y="5790724"/>
              <a:ext cx="4099662" cy="190690"/>
            </a:xfrm>
            <a:prstGeom prst="rect">
              <a:avLst/>
            </a:prstGeom>
            <a:noFill/>
            <a:ln>
              <a:noFill/>
            </a:ln>
          </p:spPr>
          <p:txBody>
            <a:bodyPr wrap="none" lIns="0" tIns="0" rIns="0" bIns="0" anchor="t" anchorCtr="0">
              <a:spAutoFit/>
            </a:bodyPr>
            <a:lstStyle/>
            <a:p>
              <a:pPr algn="l"/>
              <a:r>
                <a:rPr lang="zh-CN" sz="980" b="1" dirty="0">
                  <a:solidFill>
                    <a:srgbClr val="0E3F8C"/>
                  </a:solidFill>
                  <a:latin typeface="Arial"/>
                  <a:ea typeface="Microsoft YaHei"/>
                  <a:cs typeface="Arial"/>
                </a:rPr>
                <a:t>慢负反馈不能立刻抵消快正反馈：响应方向与响应时钟必须同时判断。</a:t>
              </a:r>
            </a:p>
          </p:txBody>
        </p:sp>
      </p:grpSp>
      <p:sp>
        <p:nvSpPr>
          <p:cNvPr id="49" name="TextBox 49"/>
          <p:cNvSpPr txBox="1"/>
          <p:nvPr/>
        </p:nvSpPr>
        <p:spPr>
          <a:xfrm>
            <a:off x="376238" y="6532245"/>
            <a:ext cx="11143714"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Source: UE 8e pp.1148, 1161–1165, 1177–1178, 1213; EP pp.883–884; HB Ch.9 pp.248–249, Ch.18 pp.455–475; CN Ch.4 pp.78–80. Qualitative alignment, not a unified response-time table.</a:t>
            </a:r>
          </a:p>
        </p:txBody>
      </p:sp>
      <p:sp>
        <p:nvSpPr>
          <p:cNvPr id="50" name="TextBox 50"/>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en-US" sz="900" dirty="0">
                <a:solidFill>
                  <a:srgbClr val="4A5568"/>
                </a:solidFill>
                <a:latin typeface="Arial"/>
                <a:ea typeface="Arial"/>
                <a:cs typeface="Arial"/>
              </a:rPr>
              <a:t>40</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rgbClr val="0E3F8C"/>
            </a:solidFill>
            <a:ln>
              <a:noFill/>
            </a:ln>
          </p:spPr>
        </p:sp>
        <p:sp>
          <p:nvSpPr>
            <p:cNvPr id="3" name="TextBox 3"/>
            <p:cNvSpPr txBox="1"/>
            <p:nvPr/>
          </p:nvSpPr>
          <p:spPr>
            <a:xfrm>
              <a:off x="374142" y="282892"/>
              <a:ext cx="3701311"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3.7 综合课堂题 | Earth-System Challenge</a:t>
              </a:r>
            </a:p>
          </p:txBody>
        </p:sp>
        <p:sp>
          <p:nvSpPr>
            <p:cNvPr id="4" name="TextBox 4"/>
            <p:cNvSpPr txBox="1"/>
            <p:nvPr/>
          </p:nvSpPr>
          <p:spPr>
            <a:xfrm>
              <a:off x="10959998" y="299085"/>
              <a:ext cx="857098" cy="234696"/>
            </a:xfrm>
            <a:prstGeom prst="rect">
              <a:avLst/>
            </a:prstGeom>
            <a:noFill/>
            <a:ln>
              <a:noFill/>
            </a:ln>
          </p:spPr>
          <p:txBody>
            <a:bodyPr wrap="none" lIns="0" tIns="0" rIns="0" bIns="0" anchor="t" anchorCtr="0">
              <a:spAutoFit/>
            </a:bodyPr>
            <a:lstStyle/>
            <a:p>
              <a:pPr algn="r"/>
              <a:r>
                <a:rPr lang="en-US" sz="1200" dirty="0">
                  <a:solidFill>
                    <a:srgbClr val="C7D7F2"/>
                  </a:solidFill>
                  <a:latin typeface="Arial"/>
                  <a:ea typeface="Arial"/>
                  <a:cs typeface="Arial"/>
                </a:rPr>
                <a:t>FEEDBACKS</a:t>
              </a:r>
            </a:p>
          </p:txBody>
        </p:sp>
      </p:grpSp>
      <p:grpSp>
        <p:nvGrpSpPr>
          <p:cNvPr id="8" name="Group 8"/>
          <p:cNvGrpSpPr/>
          <p:nvPr/>
        </p:nvGrpSpPr>
        <p:grpSpPr>
          <a:xfrm>
            <a:off x="381000" y="914400"/>
            <a:ext cx="6560439" cy="357093"/>
            <a:chOff x="381000" y="914400"/>
            <a:chExt cx="6560439" cy="357093"/>
          </a:xfrm>
        </p:grpSpPr>
        <p:sp>
          <p:nvSpPr>
            <p:cNvPr id="6" name="Rectangle 6"/>
            <p:cNvSpPr/>
            <p:nvPr/>
          </p:nvSpPr>
          <p:spPr>
            <a:xfrm>
              <a:off x="381000" y="914400"/>
              <a:ext cx="57150" cy="266700"/>
            </a:xfrm>
            <a:prstGeom prst="roundRect">
              <a:avLst>
                <a:gd name="adj" fmla="val 50000"/>
              </a:avLst>
            </a:prstGeom>
            <a:solidFill>
              <a:srgbClr val="1E4FA8"/>
            </a:solidFill>
            <a:ln>
              <a:noFill/>
            </a:ln>
          </p:spPr>
        </p:sp>
        <p:sp>
          <p:nvSpPr>
            <p:cNvPr id="7" name="TextBox 7"/>
            <p:cNvSpPr txBox="1"/>
            <p:nvPr/>
          </p:nvSpPr>
          <p:spPr>
            <a:xfrm>
              <a:off x="544449" y="963454"/>
              <a:ext cx="6396990" cy="308039"/>
            </a:xfrm>
            <a:prstGeom prst="rect">
              <a:avLst/>
            </a:prstGeom>
            <a:noFill/>
            <a:ln>
              <a:noFill/>
            </a:ln>
          </p:spPr>
          <p:txBody>
            <a:bodyPr wrap="none" lIns="0" tIns="0" rIns="0" bIns="0" anchor="t" anchorCtr="0">
              <a:spAutoFit/>
            </a:bodyPr>
            <a:lstStyle/>
            <a:p>
              <a:pPr algn="l"/>
              <a:r>
                <a:rPr lang="zh-CN" sz="1580" b="1" dirty="0">
                  <a:solidFill>
                    <a:srgbClr val="0E3F8C"/>
                  </a:solidFill>
                  <a:latin typeface="Arial"/>
                  <a:ea typeface="Microsoft YaHei"/>
                  <a:cs typeface="Arial"/>
                </a:rPr>
                <a:t>从一次升温扰动出发，画出多条响应路径，判定反馈符号并比较快慢</a:t>
              </a:r>
            </a:p>
          </p:txBody>
        </p:sp>
      </p:grpSp>
      <p:grpSp>
        <p:nvGrpSpPr>
          <p:cNvPr id="111" name="Group 111"/>
          <p:cNvGrpSpPr/>
          <p:nvPr/>
        </p:nvGrpSpPr>
        <p:grpSpPr>
          <a:xfrm>
            <a:off x="381000" y="1428750"/>
            <a:ext cx="11430000" cy="4686300"/>
            <a:chOff x="381000" y="1428750"/>
            <a:chExt cx="11430000" cy="4686300"/>
          </a:xfrm>
        </p:grpSpPr>
        <p:sp>
          <p:nvSpPr>
            <p:cNvPr id="9" name="Rectangle 9"/>
            <p:cNvSpPr/>
            <p:nvPr/>
          </p:nvSpPr>
          <p:spPr>
            <a:xfrm>
              <a:off x="381000" y="1428750"/>
              <a:ext cx="11430000" cy="4686300"/>
            </a:xfrm>
            <a:prstGeom prst="roundRect">
              <a:avLst>
                <a:gd name="adj" fmla="val 2439"/>
              </a:avLst>
            </a:prstGeom>
            <a:solidFill>
              <a:srgbClr val="F7F9FC"/>
            </a:solidFill>
            <a:ln w="9525">
              <a:solidFill>
                <a:srgbClr val="D6DCE5"/>
              </a:solidFill>
            </a:ln>
          </p:spPr>
        </p:sp>
        <p:grpSp>
          <p:nvGrpSpPr>
            <p:cNvPr id="16" name="Group 16"/>
            <p:cNvGrpSpPr/>
            <p:nvPr/>
          </p:nvGrpSpPr>
          <p:grpSpPr>
            <a:xfrm>
              <a:off x="2114550" y="2038350"/>
              <a:ext cx="7905750" cy="323850"/>
              <a:chOff x="2114550" y="2038350"/>
              <a:chExt cx="7905750" cy="323850"/>
            </a:xfrm>
          </p:grpSpPr>
          <p:sp>
            <p:nvSpPr>
              <p:cNvPr id="10" name="Line 10"/>
              <p:cNvSpPr/>
              <p:nvPr/>
            </p:nvSpPr>
            <p:spPr>
              <a:xfrm>
                <a:off x="2266950" y="2038350"/>
                <a:ext cx="3448050" cy="285750"/>
              </a:xfrm>
              <a:custGeom>
                <a:avLst/>
                <a:gdLst/>
                <a:ahLst/>
                <a:cxnLst/>
                <a:rect l="l" t="t" r="r" b="b"/>
                <a:pathLst>
                  <a:path w="3448050" h="285750">
                    <a:moveTo>
                      <a:pt x="3448050" y="0"/>
                    </a:moveTo>
                    <a:lnTo>
                      <a:pt x="0" y="285750"/>
                    </a:lnTo>
                  </a:path>
                </a:pathLst>
              </a:custGeom>
              <a:noFill/>
              <a:ln w="19050">
                <a:solidFill>
                  <a:srgbClr val="8FA3BD"/>
                </a:solidFill>
              </a:ln>
            </p:spPr>
          </p:sp>
          <p:sp>
            <p:nvSpPr>
              <p:cNvPr id="11" name="Polygon 11"/>
              <p:cNvSpPr/>
              <p:nvPr/>
            </p:nvSpPr>
            <p:spPr>
              <a:xfrm>
                <a:off x="2114550" y="2247900"/>
                <a:ext cx="171450" cy="114300"/>
              </a:xfrm>
              <a:custGeom>
                <a:avLst/>
                <a:gdLst/>
                <a:ahLst/>
                <a:cxnLst/>
                <a:rect l="l" t="t" r="r" b="b"/>
                <a:pathLst>
                  <a:path w="171450" h="114300">
                    <a:moveTo>
                      <a:pt x="76200" y="0"/>
                    </a:moveTo>
                    <a:lnTo>
                      <a:pt x="0" y="114300"/>
                    </a:lnTo>
                    <a:lnTo>
                      <a:pt x="171450" y="95250"/>
                    </a:lnTo>
                    <a:close/>
                  </a:path>
                </a:pathLst>
              </a:custGeom>
              <a:solidFill>
                <a:srgbClr val="8FA3BD"/>
              </a:solidFill>
              <a:ln>
                <a:noFill/>
              </a:ln>
            </p:spPr>
          </p:sp>
          <p:sp>
            <p:nvSpPr>
              <p:cNvPr id="12" name="Line 12"/>
              <p:cNvSpPr/>
              <p:nvPr/>
            </p:nvSpPr>
            <p:spPr>
              <a:xfrm>
                <a:off x="6096000" y="2038350"/>
                <a:ext cx="9525" cy="285750"/>
              </a:xfrm>
              <a:custGeom>
                <a:avLst/>
                <a:gdLst/>
                <a:ahLst/>
                <a:cxnLst/>
                <a:rect l="l" t="t" r="r" b="b"/>
                <a:pathLst>
                  <a:path w="9525" h="285750">
                    <a:moveTo>
                      <a:pt x="0" y="0"/>
                    </a:moveTo>
                    <a:lnTo>
                      <a:pt x="0" y="285750"/>
                    </a:lnTo>
                  </a:path>
                </a:pathLst>
              </a:custGeom>
              <a:noFill/>
              <a:ln w="19050">
                <a:solidFill>
                  <a:srgbClr val="8FA3BD"/>
                </a:solidFill>
              </a:ln>
            </p:spPr>
          </p:sp>
          <p:sp>
            <p:nvSpPr>
              <p:cNvPr id="13" name="Polygon 13"/>
              <p:cNvSpPr/>
              <p:nvPr/>
            </p:nvSpPr>
            <p:spPr>
              <a:xfrm>
                <a:off x="6029325" y="2247900"/>
                <a:ext cx="133350" cy="114300"/>
              </a:xfrm>
              <a:custGeom>
                <a:avLst/>
                <a:gdLst/>
                <a:ahLst/>
                <a:cxnLst/>
                <a:rect l="l" t="t" r="r" b="b"/>
                <a:pathLst>
                  <a:path w="133350" h="114300">
                    <a:moveTo>
                      <a:pt x="0" y="0"/>
                    </a:moveTo>
                    <a:lnTo>
                      <a:pt x="66675" y="114300"/>
                    </a:lnTo>
                    <a:lnTo>
                      <a:pt x="133350" y="0"/>
                    </a:lnTo>
                    <a:close/>
                  </a:path>
                </a:pathLst>
              </a:custGeom>
              <a:solidFill>
                <a:srgbClr val="8FA3BD"/>
              </a:solidFill>
              <a:ln>
                <a:noFill/>
              </a:ln>
            </p:spPr>
          </p:sp>
          <p:sp>
            <p:nvSpPr>
              <p:cNvPr id="14" name="Line 14"/>
              <p:cNvSpPr/>
              <p:nvPr/>
            </p:nvSpPr>
            <p:spPr>
              <a:xfrm>
                <a:off x="6477000" y="2038350"/>
                <a:ext cx="3448050" cy="285750"/>
              </a:xfrm>
              <a:custGeom>
                <a:avLst/>
                <a:gdLst/>
                <a:ahLst/>
                <a:cxnLst/>
                <a:rect l="l" t="t" r="r" b="b"/>
                <a:pathLst>
                  <a:path w="3448050" h="285750">
                    <a:moveTo>
                      <a:pt x="0" y="0"/>
                    </a:moveTo>
                    <a:lnTo>
                      <a:pt x="3448050" y="285750"/>
                    </a:lnTo>
                  </a:path>
                </a:pathLst>
              </a:custGeom>
              <a:noFill/>
              <a:ln w="19050">
                <a:solidFill>
                  <a:srgbClr val="8FA3BD"/>
                </a:solidFill>
              </a:ln>
            </p:spPr>
          </p:sp>
          <p:sp>
            <p:nvSpPr>
              <p:cNvPr id="15" name="Polygon 15"/>
              <p:cNvSpPr/>
              <p:nvPr/>
            </p:nvSpPr>
            <p:spPr>
              <a:xfrm>
                <a:off x="9848850" y="2247900"/>
                <a:ext cx="171450" cy="114300"/>
              </a:xfrm>
              <a:custGeom>
                <a:avLst/>
                <a:gdLst/>
                <a:ahLst/>
                <a:cxnLst/>
                <a:rect l="l" t="t" r="r" b="b"/>
                <a:pathLst>
                  <a:path w="171450" h="114300">
                    <a:moveTo>
                      <a:pt x="0" y="95250"/>
                    </a:moveTo>
                    <a:lnTo>
                      <a:pt x="171450" y="114300"/>
                    </a:lnTo>
                    <a:lnTo>
                      <a:pt x="95250" y="0"/>
                    </a:lnTo>
                    <a:close/>
                  </a:path>
                </a:pathLst>
              </a:custGeom>
              <a:solidFill>
                <a:srgbClr val="8FA3BD"/>
              </a:solidFill>
              <a:ln>
                <a:noFill/>
              </a:ln>
            </p:spPr>
          </p:sp>
        </p:grpSp>
        <p:grpSp>
          <p:nvGrpSpPr>
            <p:cNvPr id="20" name="Group 20"/>
            <p:cNvGrpSpPr/>
            <p:nvPr/>
          </p:nvGrpSpPr>
          <p:grpSpPr>
            <a:xfrm>
              <a:off x="4667250" y="1504950"/>
              <a:ext cx="2857500" cy="533400"/>
              <a:chOff x="4667250" y="1504950"/>
              <a:chExt cx="2857500" cy="533400"/>
            </a:xfrm>
          </p:grpSpPr>
          <p:sp>
            <p:nvSpPr>
              <p:cNvPr id="17" name="Rectangle 17"/>
              <p:cNvSpPr/>
              <p:nvPr/>
            </p:nvSpPr>
            <p:spPr>
              <a:xfrm>
                <a:off x="4667250" y="1504950"/>
                <a:ext cx="2857500" cy="533400"/>
              </a:xfrm>
              <a:prstGeom prst="roundRect">
                <a:avLst>
                  <a:gd name="adj" fmla="val 21429"/>
                </a:avLst>
              </a:prstGeom>
              <a:solidFill>
                <a:srgbClr val="FDF4EF"/>
              </a:solidFill>
              <a:ln w="14288">
                <a:solidFill>
                  <a:srgbClr val="F0CFC2"/>
                </a:solidFill>
              </a:ln>
            </p:spPr>
          </p:sp>
          <p:sp>
            <p:nvSpPr>
              <p:cNvPr id="18" name="TextBox 18"/>
              <p:cNvSpPr txBox="1"/>
              <p:nvPr/>
            </p:nvSpPr>
            <p:spPr>
              <a:xfrm>
                <a:off x="5009793" y="1612106"/>
                <a:ext cx="2172415" cy="220028"/>
              </a:xfrm>
              <a:prstGeom prst="rect">
                <a:avLst/>
              </a:prstGeom>
              <a:noFill/>
              <a:ln>
                <a:noFill/>
              </a:ln>
            </p:spPr>
            <p:txBody>
              <a:bodyPr wrap="none" lIns="0" tIns="0" rIns="0" bIns="0" anchor="t" anchorCtr="0">
                <a:spAutoFit/>
              </a:bodyPr>
              <a:lstStyle/>
              <a:p>
                <a:pPr algn="ctr"/>
                <a:r>
                  <a:rPr lang="zh-CN" sz="1120" b="1" dirty="0">
                    <a:solidFill>
                      <a:srgbClr val="C2410C"/>
                    </a:solidFill>
                    <a:latin typeface="Arial"/>
                    <a:ea typeface="Microsoft YaHei"/>
                    <a:cs typeface="Arial"/>
                  </a:rPr>
                  <a:t>初始扰动 Initial perturbation</a:t>
                </a:r>
              </a:p>
            </p:txBody>
          </p:sp>
          <p:sp>
            <p:nvSpPr>
              <p:cNvPr id="19" name="TextBox 19"/>
              <p:cNvSpPr txBox="1"/>
              <p:nvPr/>
            </p:nvSpPr>
            <p:spPr>
              <a:xfrm>
                <a:off x="5006179" y="1837849"/>
                <a:ext cx="2179642" cy="190690"/>
              </a:xfrm>
              <a:prstGeom prst="rect">
                <a:avLst/>
              </a:prstGeom>
              <a:noFill/>
              <a:ln>
                <a:noFill/>
              </a:ln>
            </p:spPr>
            <p:txBody>
              <a:bodyPr wrap="none" lIns="0" tIns="0" rIns="0" bIns="0" anchor="t" anchorCtr="0">
                <a:spAutoFit/>
              </a:bodyPr>
              <a:lstStyle/>
              <a:p>
                <a:pPr algn="ctr"/>
                <a:r>
                  <a:rPr lang="zh-CN" sz="980" dirty="0">
                    <a:solidFill>
                      <a:srgbClr val="1A2230"/>
                    </a:solidFill>
                    <a:latin typeface="Arial"/>
                    <a:ea typeface="Microsoft YaHei"/>
                    <a:cs typeface="Arial"/>
                  </a:rPr>
                  <a:t>温度升高 Temperature increases ↑</a:t>
                </a:r>
              </a:p>
            </p:txBody>
          </p:sp>
        </p:grpSp>
        <p:grpSp>
          <p:nvGrpSpPr>
            <p:cNvPr id="44" name="Group 44"/>
            <p:cNvGrpSpPr/>
            <p:nvPr/>
          </p:nvGrpSpPr>
          <p:grpSpPr>
            <a:xfrm>
              <a:off x="381000" y="2343150"/>
              <a:ext cx="3619500" cy="2876550"/>
              <a:chOff x="381000" y="2343150"/>
              <a:chExt cx="3619500" cy="2876550"/>
            </a:xfrm>
          </p:grpSpPr>
          <p:sp>
            <p:nvSpPr>
              <p:cNvPr id="21" name="Rectangle 21"/>
              <p:cNvSpPr/>
              <p:nvPr/>
            </p:nvSpPr>
            <p:spPr>
              <a:xfrm>
                <a:off x="381000" y="2343150"/>
                <a:ext cx="3619500" cy="2876550"/>
              </a:xfrm>
              <a:prstGeom prst="roundRect">
                <a:avLst>
                  <a:gd name="adj" fmla="val 3974"/>
                </a:avLst>
              </a:prstGeom>
              <a:solidFill>
                <a:srgbClr val="FFFFFF"/>
              </a:solidFill>
              <a:ln w="14288">
                <a:solidFill>
                  <a:srgbClr val="D6DCE5"/>
                </a:solidFill>
              </a:ln>
            </p:spPr>
          </p:sp>
          <p:sp>
            <p:nvSpPr>
              <p:cNvPr id="22" name="TextBox 22"/>
              <p:cNvSpPr txBox="1"/>
              <p:nvPr/>
            </p:nvSpPr>
            <p:spPr>
              <a:xfrm>
                <a:off x="566166" y="2477452"/>
                <a:ext cx="1342114" cy="205359"/>
              </a:xfrm>
              <a:prstGeom prst="rect">
                <a:avLst/>
              </a:prstGeom>
              <a:noFill/>
              <a:ln>
                <a:noFill/>
              </a:ln>
            </p:spPr>
            <p:txBody>
              <a:bodyPr wrap="none" lIns="0" tIns="0" rIns="0" bIns="0" anchor="t" anchorCtr="0">
                <a:spAutoFit/>
              </a:bodyPr>
              <a:lstStyle/>
              <a:p>
                <a:pPr algn="l"/>
                <a:r>
                  <a:rPr lang="zh-CN" sz="1050" b="1" dirty="0">
                    <a:solidFill>
                      <a:srgbClr val="0E3F8C"/>
                    </a:solidFill>
                    <a:latin typeface="Arial"/>
                    <a:ea typeface="Microsoft YaHei"/>
                    <a:cs typeface="Arial"/>
                  </a:rPr>
                  <a:t>路径 A · Pathway A</a:t>
                </a:r>
              </a:p>
            </p:txBody>
          </p:sp>
          <p:sp>
            <p:nvSpPr>
              <p:cNvPr id="23" name="TextBox 23"/>
              <p:cNvSpPr txBox="1"/>
              <p:nvPr/>
            </p:nvSpPr>
            <p:spPr>
              <a:xfrm>
                <a:off x="566738" y="2692241"/>
                <a:ext cx="1334186" cy="161925"/>
              </a:xfrm>
              <a:prstGeom prst="rect">
                <a:avLst/>
              </a:prstGeom>
              <a:noFill/>
              <a:ln>
                <a:noFill/>
              </a:ln>
            </p:spPr>
            <p:txBody>
              <a:bodyPr wrap="none" lIns="0" tIns="0" rIns="0" bIns="0" anchor="t" anchorCtr="0">
                <a:spAutoFit/>
              </a:bodyPr>
              <a:lstStyle/>
              <a:p>
                <a:pPr algn="l"/>
                <a:r>
                  <a:rPr lang="zh-CN" sz="820" dirty="0">
                    <a:solidFill>
                      <a:srgbClr val="4A5568"/>
                    </a:solidFill>
                    <a:latin typeface="Arial"/>
                    <a:ea typeface="Microsoft YaHei"/>
                    <a:cs typeface="Arial"/>
                  </a:rPr>
                  <a:t>补全环节，判定符号与速度</a:t>
                </a:r>
              </a:p>
            </p:txBody>
          </p:sp>
          <p:sp>
            <p:nvSpPr>
              <p:cNvPr id="24" name="Rectangle 24"/>
              <p:cNvSpPr/>
              <p:nvPr/>
            </p:nvSpPr>
            <p:spPr>
              <a:xfrm>
                <a:off x="571500" y="2876550"/>
                <a:ext cx="3238500" cy="419100"/>
              </a:xfrm>
              <a:prstGeom prst="roundRect">
                <a:avLst>
                  <a:gd name="adj" fmla="val 18182"/>
                </a:avLst>
              </a:prstGeom>
              <a:solidFill>
                <a:srgbClr val="FFFFFF"/>
              </a:solidFill>
              <a:ln w="14288">
                <a:solidFill>
                  <a:srgbClr val="8FA3BD"/>
                </a:solidFill>
                <a:custDash>
                  <a:ds d="400000" sp="266667"/>
                </a:custDash>
              </a:ln>
            </p:spPr>
          </p:sp>
          <p:sp>
            <p:nvSpPr>
              <p:cNvPr id="25" name="TextBox 25"/>
              <p:cNvSpPr txBox="1"/>
              <p:nvPr/>
            </p:nvSpPr>
            <p:spPr>
              <a:xfrm>
                <a:off x="1505001" y="3040618"/>
                <a:ext cx="1371498" cy="169069"/>
              </a:xfrm>
              <a:prstGeom prst="rect">
                <a:avLst/>
              </a:prstGeom>
              <a:noFill/>
              <a:ln>
                <a:noFill/>
              </a:ln>
            </p:spPr>
            <p:txBody>
              <a:bodyPr wrap="none" lIns="0" tIns="0" rIns="0" bIns="0" anchor="t" anchorCtr="0">
                <a:spAutoFit/>
              </a:bodyPr>
              <a:lstStyle/>
              <a:p>
                <a:pPr algn="ctr"/>
                <a:r>
                  <a:rPr lang="zh-CN" sz="860" dirty="0">
                    <a:solidFill>
                      <a:srgbClr val="8FA3BD"/>
                    </a:solidFill>
                    <a:latin typeface="Arial"/>
                    <a:ea typeface="Microsoft YaHei"/>
                    <a:cs typeface="Arial"/>
                  </a:rPr>
                  <a:t>环节①（课堂填写）Step ①</a:t>
                </a:r>
              </a:p>
            </p:txBody>
          </p:sp>
          <p:sp>
            <p:nvSpPr>
              <p:cNvPr id="26" name="Line 26"/>
              <p:cNvSpPr/>
              <p:nvPr/>
            </p:nvSpPr>
            <p:spPr>
              <a:xfrm>
                <a:off x="2190750" y="3314700"/>
                <a:ext cx="9525" cy="133350"/>
              </a:xfrm>
              <a:custGeom>
                <a:avLst/>
                <a:gdLst/>
                <a:ahLst/>
                <a:cxnLst/>
                <a:rect l="l" t="t" r="r" b="b"/>
                <a:pathLst>
                  <a:path w="9525" h="133350">
                    <a:moveTo>
                      <a:pt x="0" y="0"/>
                    </a:moveTo>
                    <a:lnTo>
                      <a:pt x="0" y="133350"/>
                    </a:lnTo>
                  </a:path>
                </a:pathLst>
              </a:custGeom>
              <a:noFill/>
              <a:ln w="19050">
                <a:solidFill>
                  <a:srgbClr val="8FA3BD"/>
                </a:solidFill>
              </a:ln>
            </p:spPr>
          </p:sp>
          <p:sp>
            <p:nvSpPr>
              <p:cNvPr id="27" name="Polygon 27"/>
              <p:cNvSpPr/>
              <p:nvPr/>
            </p:nvSpPr>
            <p:spPr>
              <a:xfrm>
                <a:off x="2133600" y="3409950"/>
                <a:ext cx="114300" cy="76200"/>
              </a:xfrm>
              <a:custGeom>
                <a:avLst/>
                <a:gdLst/>
                <a:ahLst/>
                <a:cxnLst/>
                <a:rect l="l" t="t" r="r" b="b"/>
                <a:pathLst>
                  <a:path w="114300" h="76200">
                    <a:moveTo>
                      <a:pt x="0" y="0"/>
                    </a:moveTo>
                    <a:lnTo>
                      <a:pt x="57150" y="76200"/>
                    </a:lnTo>
                    <a:lnTo>
                      <a:pt x="114300" y="0"/>
                    </a:lnTo>
                    <a:close/>
                  </a:path>
                </a:pathLst>
              </a:custGeom>
              <a:solidFill>
                <a:srgbClr val="8FA3BD"/>
              </a:solidFill>
              <a:ln>
                <a:noFill/>
              </a:ln>
            </p:spPr>
          </p:sp>
          <p:sp>
            <p:nvSpPr>
              <p:cNvPr id="28" name="Rectangle 28"/>
              <p:cNvSpPr/>
              <p:nvPr/>
            </p:nvSpPr>
            <p:spPr>
              <a:xfrm>
                <a:off x="571500" y="3467100"/>
                <a:ext cx="3238500" cy="419100"/>
              </a:xfrm>
              <a:prstGeom prst="roundRect">
                <a:avLst>
                  <a:gd name="adj" fmla="val 18182"/>
                </a:avLst>
              </a:prstGeom>
              <a:solidFill>
                <a:srgbClr val="FFFFFF"/>
              </a:solidFill>
              <a:ln w="14288">
                <a:solidFill>
                  <a:srgbClr val="8FA3BD"/>
                </a:solidFill>
                <a:custDash>
                  <a:ds d="400000" sp="266667"/>
                </a:custDash>
              </a:ln>
            </p:spPr>
          </p:sp>
          <p:sp>
            <p:nvSpPr>
              <p:cNvPr id="29" name="TextBox 29"/>
              <p:cNvSpPr txBox="1"/>
              <p:nvPr/>
            </p:nvSpPr>
            <p:spPr>
              <a:xfrm>
                <a:off x="1505001" y="3631168"/>
                <a:ext cx="1371498" cy="169069"/>
              </a:xfrm>
              <a:prstGeom prst="rect">
                <a:avLst/>
              </a:prstGeom>
              <a:noFill/>
              <a:ln>
                <a:noFill/>
              </a:ln>
            </p:spPr>
            <p:txBody>
              <a:bodyPr wrap="none" lIns="0" tIns="0" rIns="0" bIns="0" anchor="t" anchorCtr="0">
                <a:spAutoFit/>
              </a:bodyPr>
              <a:lstStyle/>
              <a:p>
                <a:pPr algn="ctr"/>
                <a:r>
                  <a:rPr lang="zh-CN" sz="860" dirty="0">
                    <a:solidFill>
                      <a:srgbClr val="8FA3BD"/>
                    </a:solidFill>
                    <a:latin typeface="Arial"/>
                    <a:ea typeface="Microsoft YaHei"/>
                    <a:cs typeface="Arial"/>
                  </a:rPr>
                  <a:t>环节②（课堂填写）Step ②</a:t>
                </a:r>
              </a:p>
            </p:txBody>
          </p:sp>
          <p:sp>
            <p:nvSpPr>
              <p:cNvPr id="30" name="Line 30"/>
              <p:cNvSpPr/>
              <p:nvPr/>
            </p:nvSpPr>
            <p:spPr>
              <a:xfrm>
                <a:off x="2190750" y="3905250"/>
                <a:ext cx="9525" cy="133350"/>
              </a:xfrm>
              <a:custGeom>
                <a:avLst/>
                <a:gdLst/>
                <a:ahLst/>
                <a:cxnLst/>
                <a:rect l="l" t="t" r="r" b="b"/>
                <a:pathLst>
                  <a:path w="9525" h="133350">
                    <a:moveTo>
                      <a:pt x="0" y="0"/>
                    </a:moveTo>
                    <a:lnTo>
                      <a:pt x="0" y="133350"/>
                    </a:lnTo>
                  </a:path>
                </a:pathLst>
              </a:custGeom>
              <a:noFill/>
              <a:ln w="19050">
                <a:solidFill>
                  <a:srgbClr val="8FA3BD"/>
                </a:solidFill>
              </a:ln>
            </p:spPr>
          </p:sp>
          <p:sp>
            <p:nvSpPr>
              <p:cNvPr id="31" name="Polygon 31"/>
              <p:cNvSpPr/>
              <p:nvPr/>
            </p:nvSpPr>
            <p:spPr>
              <a:xfrm>
                <a:off x="2133600" y="4000500"/>
                <a:ext cx="114300" cy="76200"/>
              </a:xfrm>
              <a:custGeom>
                <a:avLst/>
                <a:gdLst/>
                <a:ahLst/>
                <a:cxnLst/>
                <a:rect l="l" t="t" r="r" b="b"/>
                <a:pathLst>
                  <a:path w="114300" h="76200">
                    <a:moveTo>
                      <a:pt x="0" y="0"/>
                    </a:moveTo>
                    <a:lnTo>
                      <a:pt x="57150" y="76200"/>
                    </a:lnTo>
                    <a:lnTo>
                      <a:pt x="114300" y="0"/>
                    </a:lnTo>
                    <a:close/>
                  </a:path>
                </a:pathLst>
              </a:custGeom>
              <a:solidFill>
                <a:srgbClr val="8FA3BD"/>
              </a:solidFill>
              <a:ln>
                <a:noFill/>
              </a:ln>
            </p:spPr>
          </p:sp>
          <p:sp>
            <p:nvSpPr>
              <p:cNvPr id="32" name="Rectangle 32"/>
              <p:cNvSpPr/>
              <p:nvPr/>
            </p:nvSpPr>
            <p:spPr>
              <a:xfrm>
                <a:off x="571500" y="4057650"/>
                <a:ext cx="3238500" cy="400050"/>
              </a:xfrm>
              <a:prstGeom prst="roundRect">
                <a:avLst>
                  <a:gd name="adj" fmla="val 19048"/>
                </a:avLst>
              </a:prstGeom>
              <a:solidFill>
                <a:srgbClr val="F0F5FC"/>
              </a:solidFill>
              <a:ln w="9525">
                <a:solidFill>
                  <a:srgbClr val="B8C7DC"/>
                </a:solidFill>
              </a:ln>
            </p:spPr>
          </p:sp>
          <p:sp>
            <p:nvSpPr>
              <p:cNvPr id="33" name="TextBox 33"/>
              <p:cNvSpPr txBox="1"/>
              <p:nvPr/>
            </p:nvSpPr>
            <p:spPr>
              <a:xfrm>
                <a:off x="1309006" y="4212193"/>
                <a:ext cx="1763489" cy="169069"/>
              </a:xfrm>
              <a:prstGeom prst="rect">
                <a:avLst/>
              </a:prstGeom>
              <a:noFill/>
              <a:ln>
                <a:noFill/>
              </a:ln>
            </p:spPr>
            <p:txBody>
              <a:bodyPr wrap="none" lIns="0" tIns="0" rIns="0" bIns="0" anchor="t" anchorCtr="0">
                <a:spAutoFit/>
              </a:bodyPr>
              <a:lstStyle/>
              <a:p>
                <a:pPr algn="ctr"/>
                <a:r>
                  <a:rPr lang="zh-CN" sz="860" dirty="0">
                    <a:solidFill>
                      <a:srgbClr val="1A2230"/>
                    </a:solidFill>
                    <a:latin typeface="Arial"/>
                    <a:ea typeface="Microsoft YaHei"/>
                    <a:cs typeface="Arial"/>
                  </a:rPr>
                  <a:t>最终作用：放大 / 抑制初始变化？</a:t>
                </a:r>
              </a:p>
            </p:txBody>
          </p:sp>
          <p:sp>
            <p:nvSpPr>
              <p:cNvPr id="34" name="TextBox 34"/>
              <p:cNvSpPr txBox="1"/>
              <p:nvPr/>
            </p:nvSpPr>
            <p:spPr>
              <a:xfrm>
                <a:off x="566738" y="4612243"/>
                <a:ext cx="860758"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反馈符号 Sign：</a:t>
                </a:r>
              </a:p>
            </p:txBody>
          </p:sp>
          <p:sp>
            <p:nvSpPr>
              <p:cNvPr id="35" name="Rectangle 35"/>
              <p:cNvSpPr/>
              <p:nvPr/>
            </p:nvSpPr>
            <p:spPr>
              <a:xfrm>
                <a:off x="1428750" y="4610100"/>
                <a:ext cx="114300" cy="114300"/>
              </a:xfrm>
              <a:prstGeom prst="roundRect">
                <a:avLst>
                  <a:gd name="adj" fmla="val 16667"/>
                </a:avLst>
              </a:prstGeom>
              <a:solidFill>
                <a:srgbClr val="FFFFFF"/>
              </a:solidFill>
              <a:ln w="9525">
                <a:solidFill>
                  <a:srgbClr val="4A5568"/>
                </a:solidFill>
              </a:ln>
            </p:spPr>
          </p:sp>
          <p:sp>
            <p:nvSpPr>
              <p:cNvPr id="36" name="TextBox 36"/>
              <p:cNvSpPr txBox="1"/>
              <p:nvPr/>
            </p:nvSpPr>
            <p:spPr>
              <a:xfrm>
                <a:off x="1595438" y="4612243"/>
                <a:ext cx="223705"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正 +</a:t>
                </a:r>
              </a:p>
            </p:txBody>
          </p:sp>
          <p:sp>
            <p:nvSpPr>
              <p:cNvPr id="37" name="Rectangle 37"/>
              <p:cNvSpPr/>
              <p:nvPr/>
            </p:nvSpPr>
            <p:spPr>
              <a:xfrm>
                <a:off x="2038350" y="4610100"/>
                <a:ext cx="114300" cy="114300"/>
              </a:xfrm>
              <a:prstGeom prst="roundRect">
                <a:avLst>
                  <a:gd name="adj" fmla="val 16667"/>
                </a:avLst>
              </a:prstGeom>
              <a:solidFill>
                <a:srgbClr val="FFFFFF"/>
              </a:solidFill>
              <a:ln w="9525">
                <a:solidFill>
                  <a:srgbClr val="4A5568"/>
                </a:solidFill>
              </a:ln>
            </p:spPr>
          </p:sp>
          <p:sp>
            <p:nvSpPr>
              <p:cNvPr id="38" name="TextBox 38"/>
              <p:cNvSpPr txBox="1"/>
              <p:nvPr/>
            </p:nvSpPr>
            <p:spPr>
              <a:xfrm>
                <a:off x="2205038" y="4612243"/>
                <a:ext cx="223705"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负 −</a:t>
                </a:r>
              </a:p>
            </p:txBody>
          </p:sp>
          <p:sp>
            <p:nvSpPr>
              <p:cNvPr id="39" name="TextBox 39"/>
              <p:cNvSpPr txBox="1"/>
              <p:nvPr/>
            </p:nvSpPr>
            <p:spPr>
              <a:xfrm>
                <a:off x="566738" y="4897993"/>
                <a:ext cx="952050"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响应速度 Speed：</a:t>
                </a:r>
              </a:p>
            </p:txBody>
          </p:sp>
          <p:sp>
            <p:nvSpPr>
              <p:cNvPr id="40" name="Rectangle 40"/>
              <p:cNvSpPr/>
              <p:nvPr/>
            </p:nvSpPr>
            <p:spPr>
              <a:xfrm>
                <a:off x="1428750" y="4895850"/>
                <a:ext cx="114300" cy="114300"/>
              </a:xfrm>
              <a:prstGeom prst="roundRect">
                <a:avLst>
                  <a:gd name="adj" fmla="val 16667"/>
                </a:avLst>
              </a:prstGeom>
              <a:solidFill>
                <a:srgbClr val="FFFFFF"/>
              </a:solidFill>
              <a:ln w="9525">
                <a:solidFill>
                  <a:srgbClr val="4A5568"/>
                </a:solidFill>
              </a:ln>
            </p:spPr>
          </p:sp>
          <p:sp>
            <p:nvSpPr>
              <p:cNvPr id="41" name="TextBox 41"/>
              <p:cNvSpPr txBox="1"/>
              <p:nvPr/>
            </p:nvSpPr>
            <p:spPr>
              <a:xfrm>
                <a:off x="1595438" y="4897993"/>
                <a:ext cx="241071"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较快</a:t>
                </a:r>
              </a:p>
            </p:txBody>
          </p:sp>
          <p:sp>
            <p:nvSpPr>
              <p:cNvPr id="42" name="Rectangle 42"/>
              <p:cNvSpPr/>
              <p:nvPr/>
            </p:nvSpPr>
            <p:spPr>
              <a:xfrm>
                <a:off x="2038350" y="4895850"/>
                <a:ext cx="114300" cy="114300"/>
              </a:xfrm>
              <a:prstGeom prst="roundRect">
                <a:avLst>
                  <a:gd name="adj" fmla="val 16667"/>
                </a:avLst>
              </a:prstGeom>
              <a:solidFill>
                <a:srgbClr val="FFFFFF"/>
              </a:solidFill>
              <a:ln w="9525">
                <a:solidFill>
                  <a:srgbClr val="4A5568"/>
                </a:solidFill>
              </a:ln>
            </p:spPr>
          </p:sp>
          <p:sp>
            <p:nvSpPr>
              <p:cNvPr id="43" name="TextBox 43"/>
              <p:cNvSpPr txBox="1"/>
              <p:nvPr/>
            </p:nvSpPr>
            <p:spPr>
              <a:xfrm>
                <a:off x="2205038" y="4897993"/>
                <a:ext cx="241071"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较慢</a:t>
                </a:r>
              </a:p>
            </p:txBody>
          </p:sp>
        </p:grpSp>
        <p:grpSp>
          <p:nvGrpSpPr>
            <p:cNvPr id="68" name="Group 68"/>
            <p:cNvGrpSpPr/>
            <p:nvPr/>
          </p:nvGrpSpPr>
          <p:grpSpPr>
            <a:xfrm>
              <a:off x="4286250" y="2343150"/>
              <a:ext cx="3619500" cy="2876550"/>
              <a:chOff x="4286250" y="2343150"/>
              <a:chExt cx="3619500" cy="2876550"/>
            </a:xfrm>
          </p:grpSpPr>
          <p:sp>
            <p:nvSpPr>
              <p:cNvPr id="45" name="Rectangle 45"/>
              <p:cNvSpPr/>
              <p:nvPr/>
            </p:nvSpPr>
            <p:spPr>
              <a:xfrm>
                <a:off x="4286250" y="2343150"/>
                <a:ext cx="3619500" cy="2876550"/>
              </a:xfrm>
              <a:prstGeom prst="roundRect">
                <a:avLst>
                  <a:gd name="adj" fmla="val 3974"/>
                </a:avLst>
              </a:prstGeom>
              <a:solidFill>
                <a:srgbClr val="FFFFFF"/>
              </a:solidFill>
              <a:ln w="14288">
                <a:solidFill>
                  <a:srgbClr val="D6DCE5"/>
                </a:solidFill>
              </a:ln>
            </p:spPr>
          </p:sp>
          <p:sp>
            <p:nvSpPr>
              <p:cNvPr id="46" name="TextBox 46"/>
              <p:cNvSpPr txBox="1"/>
              <p:nvPr/>
            </p:nvSpPr>
            <p:spPr>
              <a:xfrm>
                <a:off x="4471416" y="2477452"/>
                <a:ext cx="1342114" cy="205359"/>
              </a:xfrm>
              <a:prstGeom prst="rect">
                <a:avLst/>
              </a:prstGeom>
              <a:noFill/>
              <a:ln>
                <a:noFill/>
              </a:ln>
            </p:spPr>
            <p:txBody>
              <a:bodyPr wrap="none" lIns="0" tIns="0" rIns="0" bIns="0" anchor="t" anchorCtr="0">
                <a:spAutoFit/>
              </a:bodyPr>
              <a:lstStyle/>
              <a:p>
                <a:pPr algn="l"/>
                <a:r>
                  <a:rPr lang="zh-CN" sz="1050" b="1" dirty="0">
                    <a:solidFill>
                      <a:srgbClr val="0E3F8C"/>
                    </a:solidFill>
                    <a:latin typeface="Arial"/>
                    <a:ea typeface="Microsoft YaHei"/>
                    <a:cs typeface="Arial"/>
                  </a:rPr>
                  <a:t>路径 B · Pathway B</a:t>
                </a:r>
              </a:p>
            </p:txBody>
          </p:sp>
          <p:sp>
            <p:nvSpPr>
              <p:cNvPr id="47" name="TextBox 47"/>
              <p:cNvSpPr txBox="1"/>
              <p:nvPr/>
            </p:nvSpPr>
            <p:spPr>
              <a:xfrm>
                <a:off x="4471988" y="2692241"/>
                <a:ext cx="1334186" cy="161925"/>
              </a:xfrm>
              <a:prstGeom prst="rect">
                <a:avLst/>
              </a:prstGeom>
              <a:noFill/>
              <a:ln>
                <a:noFill/>
              </a:ln>
            </p:spPr>
            <p:txBody>
              <a:bodyPr wrap="none" lIns="0" tIns="0" rIns="0" bIns="0" anchor="t" anchorCtr="0">
                <a:spAutoFit/>
              </a:bodyPr>
              <a:lstStyle/>
              <a:p>
                <a:pPr algn="l"/>
                <a:r>
                  <a:rPr lang="zh-CN" sz="820" dirty="0">
                    <a:solidFill>
                      <a:srgbClr val="4A5568"/>
                    </a:solidFill>
                    <a:latin typeface="Arial"/>
                    <a:ea typeface="Microsoft YaHei"/>
                    <a:cs typeface="Arial"/>
                  </a:rPr>
                  <a:t>补全环节，判定符号与速度</a:t>
                </a:r>
              </a:p>
            </p:txBody>
          </p:sp>
          <p:sp>
            <p:nvSpPr>
              <p:cNvPr id="48" name="Rectangle 48"/>
              <p:cNvSpPr/>
              <p:nvPr/>
            </p:nvSpPr>
            <p:spPr>
              <a:xfrm>
                <a:off x="4476750" y="2876550"/>
                <a:ext cx="3238500" cy="419100"/>
              </a:xfrm>
              <a:prstGeom prst="roundRect">
                <a:avLst>
                  <a:gd name="adj" fmla="val 18182"/>
                </a:avLst>
              </a:prstGeom>
              <a:solidFill>
                <a:srgbClr val="FFFFFF"/>
              </a:solidFill>
              <a:ln w="14288">
                <a:solidFill>
                  <a:srgbClr val="8FA3BD"/>
                </a:solidFill>
                <a:custDash>
                  <a:ds d="400000" sp="266667"/>
                </a:custDash>
              </a:ln>
            </p:spPr>
          </p:sp>
          <p:sp>
            <p:nvSpPr>
              <p:cNvPr id="49" name="TextBox 49"/>
              <p:cNvSpPr txBox="1"/>
              <p:nvPr/>
            </p:nvSpPr>
            <p:spPr>
              <a:xfrm>
                <a:off x="5410251" y="3040618"/>
                <a:ext cx="1371498" cy="169069"/>
              </a:xfrm>
              <a:prstGeom prst="rect">
                <a:avLst/>
              </a:prstGeom>
              <a:noFill/>
              <a:ln>
                <a:noFill/>
              </a:ln>
            </p:spPr>
            <p:txBody>
              <a:bodyPr wrap="none" lIns="0" tIns="0" rIns="0" bIns="0" anchor="t" anchorCtr="0">
                <a:spAutoFit/>
              </a:bodyPr>
              <a:lstStyle/>
              <a:p>
                <a:pPr algn="ctr"/>
                <a:r>
                  <a:rPr lang="zh-CN" sz="860" dirty="0">
                    <a:solidFill>
                      <a:srgbClr val="8FA3BD"/>
                    </a:solidFill>
                    <a:latin typeface="Arial"/>
                    <a:ea typeface="Microsoft YaHei"/>
                    <a:cs typeface="Arial"/>
                  </a:rPr>
                  <a:t>环节①（课堂填写）Step ①</a:t>
                </a:r>
              </a:p>
            </p:txBody>
          </p:sp>
          <p:sp>
            <p:nvSpPr>
              <p:cNvPr id="50" name="Line 50"/>
              <p:cNvSpPr/>
              <p:nvPr/>
            </p:nvSpPr>
            <p:spPr>
              <a:xfrm>
                <a:off x="6096000" y="3314700"/>
                <a:ext cx="9525" cy="133350"/>
              </a:xfrm>
              <a:custGeom>
                <a:avLst/>
                <a:gdLst/>
                <a:ahLst/>
                <a:cxnLst/>
                <a:rect l="l" t="t" r="r" b="b"/>
                <a:pathLst>
                  <a:path w="9525" h="133350">
                    <a:moveTo>
                      <a:pt x="0" y="0"/>
                    </a:moveTo>
                    <a:lnTo>
                      <a:pt x="0" y="133350"/>
                    </a:lnTo>
                  </a:path>
                </a:pathLst>
              </a:custGeom>
              <a:noFill/>
              <a:ln w="19050">
                <a:solidFill>
                  <a:srgbClr val="8FA3BD"/>
                </a:solidFill>
              </a:ln>
            </p:spPr>
          </p:sp>
          <p:sp>
            <p:nvSpPr>
              <p:cNvPr id="51" name="Polygon 51"/>
              <p:cNvSpPr/>
              <p:nvPr/>
            </p:nvSpPr>
            <p:spPr>
              <a:xfrm>
                <a:off x="6038850" y="3409950"/>
                <a:ext cx="114300" cy="76200"/>
              </a:xfrm>
              <a:custGeom>
                <a:avLst/>
                <a:gdLst/>
                <a:ahLst/>
                <a:cxnLst/>
                <a:rect l="l" t="t" r="r" b="b"/>
                <a:pathLst>
                  <a:path w="114300" h="76200">
                    <a:moveTo>
                      <a:pt x="0" y="0"/>
                    </a:moveTo>
                    <a:lnTo>
                      <a:pt x="57150" y="76200"/>
                    </a:lnTo>
                    <a:lnTo>
                      <a:pt x="114300" y="0"/>
                    </a:lnTo>
                    <a:close/>
                  </a:path>
                </a:pathLst>
              </a:custGeom>
              <a:solidFill>
                <a:srgbClr val="8FA3BD"/>
              </a:solidFill>
              <a:ln>
                <a:noFill/>
              </a:ln>
            </p:spPr>
          </p:sp>
          <p:sp>
            <p:nvSpPr>
              <p:cNvPr id="52" name="Rectangle 52"/>
              <p:cNvSpPr/>
              <p:nvPr/>
            </p:nvSpPr>
            <p:spPr>
              <a:xfrm>
                <a:off x="4476750" y="3467100"/>
                <a:ext cx="3238500" cy="419100"/>
              </a:xfrm>
              <a:prstGeom prst="roundRect">
                <a:avLst>
                  <a:gd name="adj" fmla="val 18182"/>
                </a:avLst>
              </a:prstGeom>
              <a:solidFill>
                <a:srgbClr val="FFFFFF"/>
              </a:solidFill>
              <a:ln w="14288">
                <a:solidFill>
                  <a:srgbClr val="8FA3BD"/>
                </a:solidFill>
                <a:custDash>
                  <a:ds d="400000" sp="266667"/>
                </a:custDash>
              </a:ln>
            </p:spPr>
          </p:sp>
          <p:sp>
            <p:nvSpPr>
              <p:cNvPr id="53" name="TextBox 53"/>
              <p:cNvSpPr txBox="1"/>
              <p:nvPr/>
            </p:nvSpPr>
            <p:spPr>
              <a:xfrm>
                <a:off x="5410251" y="3631168"/>
                <a:ext cx="1371498" cy="169069"/>
              </a:xfrm>
              <a:prstGeom prst="rect">
                <a:avLst/>
              </a:prstGeom>
              <a:noFill/>
              <a:ln>
                <a:noFill/>
              </a:ln>
            </p:spPr>
            <p:txBody>
              <a:bodyPr wrap="none" lIns="0" tIns="0" rIns="0" bIns="0" anchor="t" anchorCtr="0">
                <a:spAutoFit/>
              </a:bodyPr>
              <a:lstStyle/>
              <a:p>
                <a:pPr algn="ctr"/>
                <a:r>
                  <a:rPr lang="zh-CN" sz="860" dirty="0">
                    <a:solidFill>
                      <a:srgbClr val="8FA3BD"/>
                    </a:solidFill>
                    <a:latin typeface="Arial"/>
                    <a:ea typeface="Microsoft YaHei"/>
                    <a:cs typeface="Arial"/>
                  </a:rPr>
                  <a:t>环节②（课堂填写）Step ②</a:t>
                </a:r>
              </a:p>
            </p:txBody>
          </p:sp>
          <p:sp>
            <p:nvSpPr>
              <p:cNvPr id="54" name="Line 54"/>
              <p:cNvSpPr/>
              <p:nvPr/>
            </p:nvSpPr>
            <p:spPr>
              <a:xfrm>
                <a:off x="6096000" y="3905250"/>
                <a:ext cx="9525" cy="133350"/>
              </a:xfrm>
              <a:custGeom>
                <a:avLst/>
                <a:gdLst/>
                <a:ahLst/>
                <a:cxnLst/>
                <a:rect l="l" t="t" r="r" b="b"/>
                <a:pathLst>
                  <a:path w="9525" h="133350">
                    <a:moveTo>
                      <a:pt x="0" y="0"/>
                    </a:moveTo>
                    <a:lnTo>
                      <a:pt x="0" y="133350"/>
                    </a:lnTo>
                  </a:path>
                </a:pathLst>
              </a:custGeom>
              <a:noFill/>
              <a:ln w="19050">
                <a:solidFill>
                  <a:srgbClr val="8FA3BD"/>
                </a:solidFill>
              </a:ln>
            </p:spPr>
          </p:sp>
          <p:sp>
            <p:nvSpPr>
              <p:cNvPr id="55" name="Polygon 55"/>
              <p:cNvSpPr/>
              <p:nvPr/>
            </p:nvSpPr>
            <p:spPr>
              <a:xfrm>
                <a:off x="6038850" y="4000500"/>
                <a:ext cx="114300" cy="76200"/>
              </a:xfrm>
              <a:custGeom>
                <a:avLst/>
                <a:gdLst/>
                <a:ahLst/>
                <a:cxnLst/>
                <a:rect l="l" t="t" r="r" b="b"/>
                <a:pathLst>
                  <a:path w="114300" h="76200">
                    <a:moveTo>
                      <a:pt x="0" y="0"/>
                    </a:moveTo>
                    <a:lnTo>
                      <a:pt x="57150" y="76200"/>
                    </a:lnTo>
                    <a:lnTo>
                      <a:pt x="114300" y="0"/>
                    </a:lnTo>
                    <a:close/>
                  </a:path>
                </a:pathLst>
              </a:custGeom>
              <a:solidFill>
                <a:srgbClr val="8FA3BD"/>
              </a:solidFill>
              <a:ln>
                <a:noFill/>
              </a:ln>
            </p:spPr>
          </p:sp>
          <p:sp>
            <p:nvSpPr>
              <p:cNvPr id="56" name="Rectangle 56"/>
              <p:cNvSpPr/>
              <p:nvPr/>
            </p:nvSpPr>
            <p:spPr>
              <a:xfrm>
                <a:off x="4476750" y="4057650"/>
                <a:ext cx="3238500" cy="400050"/>
              </a:xfrm>
              <a:prstGeom prst="roundRect">
                <a:avLst>
                  <a:gd name="adj" fmla="val 19048"/>
                </a:avLst>
              </a:prstGeom>
              <a:solidFill>
                <a:srgbClr val="F0F5FC"/>
              </a:solidFill>
              <a:ln w="9525">
                <a:solidFill>
                  <a:srgbClr val="B8C7DC"/>
                </a:solidFill>
              </a:ln>
            </p:spPr>
          </p:sp>
          <p:sp>
            <p:nvSpPr>
              <p:cNvPr id="57" name="TextBox 57"/>
              <p:cNvSpPr txBox="1"/>
              <p:nvPr/>
            </p:nvSpPr>
            <p:spPr>
              <a:xfrm>
                <a:off x="5214256" y="4212193"/>
                <a:ext cx="1763489" cy="169069"/>
              </a:xfrm>
              <a:prstGeom prst="rect">
                <a:avLst/>
              </a:prstGeom>
              <a:noFill/>
              <a:ln>
                <a:noFill/>
              </a:ln>
            </p:spPr>
            <p:txBody>
              <a:bodyPr wrap="none" lIns="0" tIns="0" rIns="0" bIns="0" anchor="t" anchorCtr="0">
                <a:spAutoFit/>
              </a:bodyPr>
              <a:lstStyle/>
              <a:p>
                <a:pPr algn="ctr"/>
                <a:r>
                  <a:rPr lang="zh-CN" sz="860" dirty="0">
                    <a:solidFill>
                      <a:srgbClr val="1A2230"/>
                    </a:solidFill>
                    <a:latin typeface="Arial"/>
                    <a:ea typeface="Microsoft YaHei"/>
                    <a:cs typeface="Arial"/>
                  </a:rPr>
                  <a:t>最终作用：放大 / 抑制初始变化？</a:t>
                </a:r>
              </a:p>
            </p:txBody>
          </p:sp>
          <p:sp>
            <p:nvSpPr>
              <p:cNvPr id="58" name="TextBox 58"/>
              <p:cNvSpPr txBox="1"/>
              <p:nvPr/>
            </p:nvSpPr>
            <p:spPr>
              <a:xfrm>
                <a:off x="4471988" y="4612243"/>
                <a:ext cx="860758"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反馈符号 Sign：</a:t>
                </a:r>
              </a:p>
            </p:txBody>
          </p:sp>
          <p:sp>
            <p:nvSpPr>
              <p:cNvPr id="59" name="Rectangle 59"/>
              <p:cNvSpPr/>
              <p:nvPr/>
            </p:nvSpPr>
            <p:spPr>
              <a:xfrm>
                <a:off x="5334000" y="4610100"/>
                <a:ext cx="114300" cy="114300"/>
              </a:xfrm>
              <a:prstGeom prst="roundRect">
                <a:avLst>
                  <a:gd name="adj" fmla="val 16667"/>
                </a:avLst>
              </a:prstGeom>
              <a:solidFill>
                <a:srgbClr val="FFFFFF"/>
              </a:solidFill>
              <a:ln w="9525">
                <a:solidFill>
                  <a:srgbClr val="4A5568"/>
                </a:solidFill>
              </a:ln>
            </p:spPr>
          </p:sp>
          <p:sp>
            <p:nvSpPr>
              <p:cNvPr id="60" name="TextBox 60"/>
              <p:cNvSpPr txBox="1"/>
              <p:nvPr/>
            </p:nvSpPr>
            <p:spPr>
              <a:xfrm>
                <a:off x="5500688" y="4612243"/>
                <a:ext cx="223705"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正 +</a:t>
                </a:r>
              </a:p>
            </p:txBody>
          </p:sp>
          <p:sp>
            <p:nvSpPr>
              <p:cNvPr id="61" name="Rectangle 61"/>
              <p:cNvSpPr/>
              <p:nvPr/>
            </p:nvSpPr>
            <p:spPr>
              <a:xfrm>
                <a:off x="5943600" y="4610100"/>
                <a:ext cx="114300" cy="114300"/>
              </a:xfrm>
              <a:prstGeom prst="roundRect">
                <a:avLst>
                  <a:gd name="adj" fmla="val 16667"/>
                </a:avLst>
              </a:prstGeom>
              <a:solidFill>
                <a:srgbClr val="FFFFFF"/>
              </a:solidFill>
              <a:ln w="9525">
                <a:solidFill>
                  <a:srgbClr val="4A5568"/>
                </a:solidFill>
              </a:ln>
            </p:spPr>
          </p:sp>
          <p:sp>
            <p:nvSpPr>
              <p:cNvPr id="62" name="TextBox 62"/>
              <p:cNvSpPr txBox="1"/>
              <p:nvPr/>
            </p:nvSpPr>
            <p:spPr>
              <a:xfrm>
                <a:off x="6110288" y="4612243"/>
                <a:ext cx="223705"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负 −</a:t>
                </a:r>
              </a:p>
            </p:txBody>
          </p:sp>
          <p:sp>
            <p:nvSpPr>
              <p:cNvPr id="63" name="TextBox 63"/>
              <p:cNvSpPr txBox="1"/>
              <p:nvPr/>
            </p:nvSpPr>
            <p:spPr>
              <a:xfrm>
                <a:off x="4471988" y="4897993"/>
                <a:ext cx="952050"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响应速度 Speed：</a:t>
                </a:r>
              </a:p>
            </p:txBody>
          </p:sp>
          <p:sp>
            <p:nvSpPr>
              <p:cNvPr id="64" name="Rectangle 64"/>
              <p:cNvSpPr/>
              <p:nvPr/>
            </p:nvSpPr>
            <p:spPr>
              <a:xfrm>
                <a:off x="5334000" y="4895850"/>
                <a:ext cx="114300" cy="114300"/>
              </a:xfrm>
              <a:prstGeom prst="roundRect">
                <a:avLst>
                  <a:gd name="adj" fmla="val 16667"/>
                </a:avLst>
              </a:prstGeom>
              <a:solidFill>
                <a:srgbClr val="FFFFFF"/>
              </a:solidFill>
              <a:ln w="9525">
                <a:solidFill>
                  <a:srgbClr val="4A5568"/>
                </a:solidFill>
              </a:ln>
            </p:spPr>
          </p:sp>
          <p:sp>
            <p:nvSpPr>
              <p:cNvPr id="65" name="TextBox 65"/>
              <p:cNvSpPr txBox="1"/>
              <p:nvPr/>
            </p:nvSpPr>
            <p:spPr>
              <a:xfrm>
                <a:off x="5500688" y="4897993"/>
                <a:ext cx="241071"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较快</a:t>
                </a:r>
              </a:p>
            </p:txBody>
          </p:sp>
          <p:sp>
            <p:nvSpPr>
              <p:cNvPr id="66" name="Rectangle 66"/>
              <p:cNvSpPr/>
              <p:nvPr/>
            </p:nvSpPr>
            <p:spPr>
              <a:xfrm>
                <a:off x="5943600" y="4895850"/>
                <a:ext cx="114300" cy="114300"/>
              </a:xfrm>
              <a:prstGeom prst="roundRect">
                <a:avLst>
                  <a:gd name="adj" fmla="val 16667"/>
                </a:avLst>
              </a:prstGeom>
              <a:solidFill>
                <a:srgbClr val="FFFFFF"/>
              </a:solidFill>
              <a:ln w="9525">
                <a:solidFill>
                  <a:srgbClr val="4A5568"/>
                </a:solidFill>
              </a:ln>
            </p:spPr>
          </p:sp>
          <p:sp>
            <p:nvSpPr>
              <p:cNvPr id="67" name="TextBox 67"/>
              <p:cNvSpPr txBox="1"/>
              <p:nvPr/>
            </p:nvSpPr>
            <p:spPr>
              <a:xfrm>
                <a:off x="6110288" y="4897993"/>
                <a:ext cx="241071"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较慢</a:t>
                </a:r>
              </a:p>
            </p:txBody>
          </p:sp>
        </p:grpSp>
        <p:grpSp>
          <p:nvGrpSpPr>
            <p:cNvPr id="92" name="Group 92"/>
            <p:cNvGrpSpPr/>
            <p:nvPr/>
          </p:nvGrpSpPr>
          <p:grpSpPr>
            <a:xfrm>
              <a:off x="8191500" y="2343150"/>
              <a:ext cx="3619500" cy="2876550"/>
              <a:chOff x="8191500" y="2343150"/>
              <a:chExt cx="3619500" cy="2876550"/>
            </a:xfrm>
          </p:grpSpPr>
          <p:sp>
            <p:nvSpPr>
              <p:cNvPr id="69" name="Rectangle 69"/>
              <p:cNvSpPr/>
              <p:nvPr/>
            </p:nvSpPr>
            <p:spPr>
              <a:xfrm>
                <a:off x="8191500" y="2343150"/>
                <a:ext cx="3619500" cy="2876550"/>
              </a:xfrm>
              <a:prstGeom prst="roundRect">
                <a:avLst>
                  <a:gd name="adj" fmla="val 3974"/>
                </a:avLst>
              </a:prstGeom>
              <a:solidFill>
                <a:srgbClr val="FFFFFF"/>
              </a:solidFill>
              <a:ln w="14288">
                <a:solidFill>
                  <a:srgbClr val="D6DCE5"/>
                </a:solidFill>
              </a:ln>
            </p:spPr>
          </p:sp>
          <p:sp>
            <p:nvSpPr>
              <p:cNvPr id="70" name="TextBox 70"/>
              <p:cNvSpPr txBox="1"/>
              <p:nvPr/>
            </p:nvSpPr>
            <p:spPr>
              <a:xfrm>
                <a:off x="8376666" y="2477452"/>
                <a:ext cx="1918186" cy="205359"/>
              </a:xfrm>
              <a:prstGeom prst="rect">
                <a:avLst/>
              </a:prstGeom>
              <a:noFill/>
              <a:ln>
                <a:noFill/>
              </a:ln>
            </p:spPr>
            <p:txBody>
              <a:bodyPr wrap="none" lIns="0" tIns="0" rIns="0" bIns="0" anchor="t" anchorCtr="0">
                <a:spAutoFit/>
              </a:bodyPr>
              <a:lstStyle/>
              <a:p>
                <a:pPr algn="l"/>
                <a:r>
                  <a:rPr lang="zh-CN" sz="1050" b="1" dirty="0">
                    <a:solidFill>
                      <a:srgbClr val="0E3F8C"/>
                    </a:solidFill>
                    <a:latin typeface="Arial"/>
                    <a:ea typeface="Microsoft YaHei"/>
                    <a:cs typeface="Arial"/>
                  </a:rPr>
                  <a:t>路径 C · Pathway C（选做）</a:t>
                </a:r>
              </a:p>
            </p:txBody>
          </p:sp>
          <p:sp>
            <p:nvSpPr>
              <p:cNvPr id="71" name="TextBox 71"/>
              <p:cNvSpPr txBox="1"/>
              <p:nvPr/>
            </p:nvSpPr>
            <p:spPr>
              <a:xfrm>
                <a:off x="8377238" y="2692241"/>
                <a:ext cx="1334186" cy="161925"/>
              </a:xfrm>
              <a:prstGeom prst="rect">
                <a:avLst/>
              </a:prstGeom>
              <a:noFill/>
              <a:ln>
                <a:noFill/>
              </a:ln>
            </p:spPr>
            <p:txBody>
              <a:bodyPr wrap="none" lIns="0" tIns="0" rIns="0" bIns="0" anchor="t" anchorCtr="0">
                <a:spAutoFit/>
              </a:bodyPr>
              <a:lstStyle/>
              <a:p>
                <a:pPr algn="l"/>
                <a:r>
                  <a:rPr lang="zh-CN" sz="820" dirty="0">
                    <a:solidFill>
                      <a:srgbClr val="4A5568"/>
                    </a:solidFill>
                    <a:latin typeface="Arial"/>
                    <a:ea typeface="Microsoft YaHei"/>
                    <a:cs typeface="Arial"/>
                  </a:rPr>
                  <a:t>补全环节，判定符号与速度</a:t>
                </a:r>
              </a:p>
            </p:txBody>
          </p:sp>
          <p:sp>
            <p:nvSpPr>
              <p:cNvPr id="72" name="Rectangle 72"/>
              <p:cNvSpPr/>
              <p:nvPr/>
            </p:nvSpPr>
            <p:spPr>
              <a:xfrm>
                <a:off x="8382000" y="2876550"/>
                <a:ext cx="3238500" cy="419100"/>
              </a:xfrm>
              <a:prstGeom prst="roundRect">
                <a:avLst>
                  <a:gd name="adj" fmla="val 18182"/>
                </a:avLst>
              </a:prstGeom>
              <a:solidFill>
                <a:srgbClr val="FFFFFF"/>
              </a:solidFill>
              <a:ln w="14288">
                <a:solidFill>
                  <a:srgbClr val="8FA3BD"/>
                </a:solidFill>
                <a:custDash>
                  <a:ds d="400000" sp="266667"/>
                </a:custDash>
              </a:ln>
            </p:spPr>
          </p:sp>
          <p:sp>
            <p:nvSpPr>
              <p:cNvPr id="73" name="TextBox 73"/>
              <p:cNvSpPr txBox="1"/>
              <p:nvPr/>
            </p:nvSpPr>
            <p:spPr>
              <a:xfrm>
                <a:off x="9315501" y="3040618"/>
                <a:ext cx="1371498" cy="169069"/>
              </a:xfrm>
              <a:prstGeom prst="rect">
                <a:avLst/>
              </a:prstGeom>
              <a:noFill/>
              <a:ln>
                <a:noFill/>
              </a:ln>
            </p:spPr>
            <p:txBody>
              <a:bodyPr wrap="none" lIns="0" tIns="0" rIns="0" bIns="0" anchor="t" anchorCtr="0">
                <a:spAutoFit/>
              </a:bodyPr>
              <a:lstStyle/>
              <a:p>
                <a:pPr algn="ctr"/>
                <a:r>
                  <a:rPr lang="zh-CN" sz="860" dirty="0">
                    <a:solidFill>
                      <a:srgbClr val="8FA3BD"/>
                    </a:solidFill>
                    <a:latin typeface="Arial"/>
                    <a:ea typeface="Microsoft YaHei"/>
                    <a:cs typeface="Arial"/>
                  </a:rPr>
                  <a:t>环节①（课堂填写）Step ①</a:t>
                </a:r>
              </a:p>
            </p:txBody>
          </p:sp>
          <p:sp>
            <p:nvSpPr>
              <p:cNvPr id="74" name="Line 74"/>
              <p:cNvSpPr/>
              <p:nvPr/>
            </p:nvSpPr>
            <p:spPr>
              <a:xfrm>
                <a:off x="10001250" y="3314700"/>
                <a:ext cx="9525" cy="133350"/>
              </a:xfrm>
              <a:custGeom>
                <a:avLst/>
                <a:gdLst/>
                <a:ahLst/>
                <a:cxnLst/>
                <a:rect l="l" t="t" r="r" b="b"/>
                <a:pathLst>
                  <a:path w="9525" h="133350">
                    <a:moveTo>
                      <a:pt x="0" y="0"/>
                    </a:moveTo>
                    <a:lnTo>
                      <a:pt x="0" y="133350"/>
                    </a:lnTo>
                  </a:path>
                </a:pathLst>
              </a:custGeom>
              <a:noFill/>
              <a:ln w="19050">
                <a:solidFill>
                  <a:srgbClr val="8FA3BD"/>
                </a:solidFill>
              </a:ln>
            </p:spPr>
          </p:sp>
          <p:sp>
            <p:nvSpPr>
              <p:cNvPr id="75" name="Polygon 75"/>
              <p:cNvSpPr/>
              <p:nvPr/>
            </p:nvSpPr>
            <p:spPr>
              <a:xfrm>
                <a:off x="9944100" y="3409950"/>
                <a:ext cx="114300" cy="76200"/>
              </a:xfrm>
              <a:custGeom>
                <a:avLst/>
                <a:gdLst/>
                <a:ahLst/>
                <a:cxnLst/>
                <a:rect l="l" t="t" r="r" b="b"/>
                <a:pathLst>
                  <a:path w="114300" h="76200">
                    <a:moveTo>
                      <a:pt x="0" y="0"/>
                    </a:moveTo>
                    <a:lnTo>
                      <a:pt x="57150" y="76200"/>
                    </a:lnTo>
                    <a:lnTo>
                      <a:pt x="114300" y="0"/>
                    </a:lnTo>
                    <a:close/>
                  </a:path>
                </a:pathLst>
              </a:custGeom>
              <a:solidFill>
                <a:srgbClr val="8FA3BD"/>
              </a:solidFill>
              <a:ln>
                <a:noFill/>
              </a:ln>
            </p:spPr>
          </p:sp>
          <p:sp>
            <p:nvSpPr>
              <p:cNvPr id="76" name="Rectangle 76"/>
              <p:cNvSpPr/>
              <p:nvPr/>
            </p:nvSpPr>
            <p:spPr>
              <a:xfrm>
                <a:off x="8382000" y="3467100"/>
                <a:ext cx="3238500" cy="419100"/>
              </a:xfrm>
              <a:prstGeom prst="roundRect">
                <a:avLst>
                  <a:gd name="adj" fmla="val 18182"/>
                </a:avLst>
              </a:prstGeom>
              <a:solidFill>
                <a:srgbClr val="FFFFFF"/>
              </a:solidFill>
              <a:ln w="14288">
                <a:solidFill>
                  <a:srgbClr val="8FA3BD"/>
                </a:solidFill>
                <a:custDash>
                  <a:ds d="400000" sp="266667"/>
                </a:custDash>
              </a:ln>
            </p:spPr>
          </p:sp>
          <p:sp>
            <p:nvSpPr>
              <p:cNvPr id="77" name="TextBox 77"/>
              <p:cNvSpPr txBox="1"/>
              <p:nvPr/>
            </p:nvSpPr>
            <p:spPr>
              <a:xfrm>
                <a:off x="9315501" y="3631168"/>
                <a:ext cx="1371498" cy="169069"/>
              </a:xfrm>
              <a:prstGeom prst="rect">
                <a:avLst/>
              </a:prstGeom>
              <a:noFill/>
              <a:ln>
                <a:noFill/>
              </a:ln>
            </p:spPr>
            <p:txBody>
              <a:bodyPr wrap="none" lIns="0" tIns="0" rIns="0" bIns="0" anchor="t" anchorCtr="0">
                <a:spAutoFit/>
              </a:bodyPr>
              <a:lstStyle/>
              <a:p>
                <a:pPr algn="ctr"/>
                <a:r>
                  <a:rPr lang="zh-CN" sz="860" dirty="0">
                    <a:solidFill>
                      <a:srgbClr val="8FA3BD"/>
                    </a:solidFill>
                    <a:latin typeface="Arial"/>
                    <a:ea typeface="Microsoft YaHei"/>
                    <a:cs typeface="Arial"/>
                  </a:rPr>
                  <a:t>环节②（课堂填写）Step ②</a:t>
                </a:r>
              </a:p>
            </p:txBody>
          </p:sp>
          <p:sp>
            <p:nvSpPr>
              <p:cNvPr id="78" name="Line 78"/>
              <p:cNvSpPr/>
              <p:nvPr/>
            </p:nvSpPr>
            <p:spPr>
              <a:xfrm>
                <a:off x="10001250" y="3905250"/>
                <a:ext cx="9525" cy="133350"/>
              </a:xfrm>
              <a:custGeom>
                <a:avLst/>
                <a:gdLst/>
                <a:ahLst/>
                <a:cxnLst/>
                <a:rect l="l" t="t" r="r" b="b"/>
                <a:pathLst>
                  <a:path w="9525" h="133350">
                    <a:moveTo>
                      <a:pt x="0" y="0"/>
                    </a:moveTo>
                    <a:lnTo>
                      <a:pt x="0" y="133350"/>
                    </a:lnTo>
                  </a:path>
                </a:pathLst>
              </a:custGeom>
              <a:noFill/>
              <a:ln w="19050">
                <a:solidFill>
                  <a:srgbClr val="8FA3BD"/>
                </a:solidFill>
              </a:ln>
            </p:spPr>
          </p:sp>
          <p:sp>
            <p:nvSpPr>
              <p:cNvPr id="79" name="Polygon 79"/>
              <p:cNvSpPr/>
              <p:nvPr/>
            </p:nvSpPr>
            <p:spPr>
              <a:xfrm>
                <a:off x="9944100" y="4000500"/>
                <a:ext cx="114300" cy="76200"/>
              </a:xfrm>
              <a:custGeom>
                <a:avLst/>
                <a:gdLst/>
                <a:ahLst/>
                <a:cxnLst/>
                <a:rect l="l" t="t" r="r" b="b"/>
                <a:pathLst>
                  <a:path w="114300" h="76200">
                    <a:moveTo>
                      <a:pt x="0" y="0"/>
                    </a:moveTo>
                    <a:lnTo>
                      <a:pt x="57150" y="76200"/>
                    </a:lnTo>
                    <a:lnTo>
                      <a:pt x="114300" y="0"/>
                    </a:lnTo>
                    <a:close/>
                  </a:path>
                </a:pathLst>
              </a:custGeom>
              <a:solidFill>
                <a:srgbClr val="8FA3BD"/>
              </a:solidFill>
              <a:ln>
                <a:noFill/>
              </a:ln>
            </p:spPr>
          </p:sp>
          <p:sp>
            <p:nvSpPr>
              <p:cNvPr id="80" name="Rectangle 80"/>
              <p:cNvSpPr/>
              <p:nvPr/>
            </p:nvSpPr>
            <p:spPr>
              <a:xfrm>
                <a:off x="8382000" y="4057650"/>
                <a:ext cx="3238500" cy="400050"/>
              </a:xfrm>
              <a:prstGeom prst="roundRect">
                <a:avLst>
                  <a:gd name="adj" fmla="val 19048"/>
                </a:avLst>
              </a:prstGeom>
              <a:solidFill>
                <a:srgbClr val="F0F5FC"/>
              </a:solidFill>
              <a:ln w="9525">
                <a:solidFill>
                  <a:srgbClr val="B8C7DC"/>
                </a:solidFill>
              </a:ln>
            </p:spPr>
          </p:sp>
          <p:sp>
            <p:nvSpPr>
              <p:cNvPr id="81" name="TextBox 81"/>
              <p:cNvSpPr txBox="1"/>
              <p:nvPr/>
            </p:nvSpPr>
            <p:spPr>
              <a:xfrm>
                <a:off x="9119506" y="4212193"/>
                <a:ext cx="1763489" cy="169069"/>
              </a:xfrm>
              <a:prstGeom prst="rect">
                <a:avLst/>
              </a:prstGeom>
              <a:noFill/>
              <a:ln>
                <a:noFill/>
              </a:ln>
            </p:spPr>
            <p:txBody>
              <a:bodyPr wrap="none" lIns="0" tIns="0" rIns="0" bIns="0" anchor="t" anchorCtr="0">
                <a:spAutoFit/>
              </a:bodyPr>
              <a:lstStyle/>
              <a:p>
                <a:pPr algn="ctr"/>
                <a:r>
                  <a:rPr lang="zh-CN" sz="860" dirty="0">
                    <a:solidFill>
                      <a:srgbClr val="1A2230"/>
                    </a:solidFill>
                    <a:latin typeface="Arial"/>
                    <a:ea typeface="Microsoft YaHei"/>
                    <a:cs typeface="Arial"/>
                  </a:rPr>
                  <a:t>最终作用：放大 / 抑制初始变化？</a:t>
                </a:r>
              </a:p>
            </p:txBody>
          </p:sp>
          <p:sp>
            <p:nvSpPr>
              <p:cNvPr id="82" name="TextBox 82"/>
              <p:cNvSpPr txBox="1"/>
              <p:nvPr/>
            </p:nvSpPr>
            <p:spPr>
              <a:xfrm>
                <a:off x="8377238" y="4612243"/>
                <a:ext cx="860758"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反馈符号 Sign：</a:t>
                </a:r>
              </a:p>
            </p:txBody>
          </p:sp>
          <p:sp>
            <p:nvSpPr>
              <p:cNvPr id="83" name="Rectangle 83"/>
              <p:cNvSpPr/>
              <p:nvPr/>
            </p:nvSpPr>
            <p:spPr>
              <a:xfrm>
                <a:off x="9239250" y="4610100"/>
                <a:ext cx="114300" cy="114300"/>
              </a:xfrm>
              <a:prstGeom prst="roundRect">
                <a:avLst>
                  <a:gd name="adj" fmla="val 16667"/>
                </a:avLst>
              </a:prstGeom>
              <a:solidFill>
                <a:srgbClr val="FFFFFF"/>
              </a:solidFill>
              <a:ln w="9525">
                <a:solidFill>
                  <a:srgbClr val="4A5568"/>
                </a:solidFill>
              </a:ln>
            </p:spPr>
          </p:sp>
          <p:sp>
            <p:nvSpPr>
              <p:cNvPr id="84" name="TextBox 84"/>
              <p:cNvSpPr txBox="1"/>
              <p:nvPr/>
            </p:nvSpPr>
            <p:spPr>
              <a:xfrm>
                <a:off x="9405938" y="4612243"/>
                <a:ext cx="223705"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正 +</a:t>
                </a:r>
              </a:p>
            </p:txBody>
          </p:sp>
          <p:sp>
            <p:nvSpPr>
              <p:cNvPr id="85" name="Rectangle 85"/>
              <p:cNvSpPr/>
              <p:nvPr/>
            </p:nvSpPr>
            <p:spPr>
              <a:xfrm>
                <a:off x="9848850" y="4610100"/>
                <a:ext cx="114300" cy="114300"/>
              </a:xfrm>
              <a:prstGeom prst="roundRect">
                <a:avLst>
                  <a:gd name="adj" fmla="val 16667"/>
                </a:avLst>
              </a:prstGeom>
              <a:solidFill>
                <a:srgbClr val="FFFFFF"/>
              </a:solidFill>
              <a:ln w="9525">
                <a:solidFill>
                  <a:srgbClr val="4A5568"/>
                </a:solidFill>
              </a:ln>
            </p:spPr>
          </p:sp>
          <p:sp>
            <p:nvSpPr>
              <p:cNvPr id="86" name="TextBox 86"/>
              <p:cNvSpPr txBox="1"/>
              <p:nvPr/>
            </p:nvSpPr>
            <p:spPr>
              <a:xfrm>
                <a:off x="10015538" y="4612243"/>
                <a:ext cx="223705"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负 −</a:t>
                </a:r>
              </a:p>
            </p:txBody>
          </p:sp>
          <p:sp>
            <p:nvSpPr>
              <p:cNvPr id="87" name="TextBox 87"/>
              <p:cNvSpPr txBox="1"/>
              <p:nvPr/>
            </p:nvSpPr>
            <p:spPr>
              <a:xfrm>
                <a:off x="8377238" y="4897993"/>
                <a:ext cx="952050"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响应速度 Speed：</a:t>
                </a:r>
              </a:p>
            </p:txBody>
          </p:sp>
          <p:sp>
            <p:nvSpPr>
              <p:cNvPr id="88" name="Rectangle 88"/>
              <p:cNvSpPr/>
              <p:nvPr/>
            </p:nvSpPr>
            <p:spPr>
              <a:xfrm>
                <a:off x="9239250" y="4895850"/>
                <a:ext cx="114300" cy="114300"/>
              </a:xfrm>
              <a:prstGeom prst="roundRect">
                <a:avLst>
                  <a:gd name="adj" fmla="val 16667"/>
                </a:avLst>
              </a:prstGeom>
              <a:solidFill>
                <a:srgbClr val="FFFFFF"/>
              </a:solidFill>
              <a:ln w="9525">
                <a:solidFill>
                  <a:srgbClr val="4A5568"/>
                </a:solidFill>
              </a:ln>
            </p:spPr>
          </p:sp>
          <p:sp>
            <p:nvSpPr>
              <p:cNvPr id="89" name="TextBox 89"/>
              <p:cNvSpPr txBox="1"/>
              <p:nvPr/>
            </p:nvSpPr>
            <p:spPr>
              <a:xfrm>
                <a:off x="9405938" y="4897993"/>
                <a:ext cx="241071"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较快</a:t>
                </a:r>
              </a:p>
            </p:txBody>
          </p:sp>
          <p:sp>
            <p:nvSpPr>
              <p:cNvPr id="90" name="Rectangle 90"/>
              <p:cNvSpPr/>
              <p:nvPr/>
            </p:nvSpPr>
            <p:spPr>
              <a:xfrm>
                <a:off x="9848850" y="4895850"/>
                <a:ext cx="114300" cy="114300"/>
              </a:xfrm>
              <a:prstGeom prst="roundRect">
                <a:avLst>
                  <a:gd name="adj" fmla="val 16667"/>
                </a:avLst>
              </a:prstGeom>
              <a:solidFill>
                <a:srgbClr val="FFFFFF"/>
              </a:solidFill>
              <a:ln w="9525">
                <a:solidFill>
                  <a:srgbClr val="4A5568"/>
                </a:solidFill>
              </a:ln>
            </p:spPr>
          </p:sp>
          <p:sp>
            <p:nvSpPr>
              <p:cNvPr id="91" name="TextBox 91"/>
              <p:cNvSpPr txBox="1"/>
              <p:nvPr/>
            </p:nvSpPr>
            <p:spPr>
              <a:xfrm>
                <a:off x="10015538" y="4897993"/>
                <a:ext cx="241071"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较慢</a:t>
                </a:r>
              </a:p>
            </p:txBody>
          </p:sp>
        </p:grpSp>
        <p:grpSp>
          <p:nvGrpSpPr>
            <p:cNvPr id="99" name="Group 99"/>
            <p:cNvGrpSpPr/>
            <p:nvPr/>
          </p:nvGrpSpPr>
          <p:grpSpPr>
            <a:xfrm>
              <a:off x="571500" y="5295900"/>
              <a:ext cx="5334000" cy="723900"/>
              <a:chOff x="571500" y="5295900"/>
              <a:chExt cx="5334000" cy="723900"/>
            </a:xfrm>
          </p:grpSpPr>
          <p:sp>
            <p:nvSpPr>
              <p:cNvPr id="93" name="Rectangle 93"/>
              <p:cNvSpPr/>
              <p:nvPr/>
            </p:nvSpPr>
            <p:spPr>
              <a:xfrm>
                <a:off x="571500" y="5295900"/>
                <a:ext cx="5334000" cy="723900"/>
              </a:xfrm>
              <a:prstGeom prst="roundRect">
                <a:avLst>
                  <a:gd name="adj" fmla="val 13158"/>
                </a:avLst>
              </a:prstGeom>
              <a:solidFill>
                <a:srgbClr val="FFFFFF"/>
              </a:solidFill>
              <a:ln w="9525">
                <a:solidFill>
                  <a:srgbClr val="D6DCE5"/>
                </a:solidFill>
              </a:ln>
            </p:spPr>
          </p:sp>
          <p:sp>
            <p:nvSpPr>
              <p:cNvPr id="94" name="TextBox 94"/>
              <p:cNvSpPr txBox="1"/>
              <p:nvPr/>
            </p:nvSpPr>
            <p:spPr>
              <a:xfrm>
                <a:off x="719138" y="5408295"/>
                <a:ext cx="892044" cy="176212"/>
              </a:xfrm>
              <a:prstGeom prst="rect">
                <a:avLst/>
              </a:prstGeom>
              <a:noFill/>
              <a:ln>
                <a:noFill/>
              </a:ln>
            </p:spPr>
            <p:txBody>
              <a:bodyPr wrap="none" lIns="0" tIns="0" rIns="0" bIns="0" anchor="t" anchorCtr="0">
                <a:spAutoFit/>
              </a:bodyPr>
              <a:lstStyle/>
              <a:p>
                <a:pPr algn="l"/>
                <a:r>
                  <a:rPr lang="zh-CN" sz="900" b="1" dirty="0">
                    <a:solidFill>
                      <a:srgbClr val="0E3F8C"/>
                    </a:solidFill>
                    <a:latin typeface="Arial"/>
                    <a:ea typeface="Microsoft YaHei"/>
                    <a:cs typeface="Arial"/>
                  </a:rPr>
                  <a:t>课堂任务 Tasks</a:t>
                </a:r>
              </a:p>
            </p:txBody>
          </p:sp>
          <p:sp>
            <p:nvSpPr>
              <p:cNvPr id="95" name="TextBox 95"/>
              <p:cNvSpPr txBox="1"/>
              <p:nvPr/>
            </p:nvSpPr>
            <p:spPr>
              <a:xfrm>
                <a:off x="719138" y="5640943"/>
                <a:ext cx="1265664"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1 补全至少两条响应路径</a:t>
                </a:r>
              </a:p>
            </p:txBody>
          </p:sp>
          <p:sp>
            <p:nvSpPr>
              <p:cNvPr id="96" name="TextBox 96"/>
              <p:cNvSpPr txBox="1"/>
              <p:nvPr/>
            </p:nvSpPr>
            <p:spPr>
              <a:xfrm>
                <a:off x="3424238" y="5640943"/>
                <a:ext cx="1167257"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2 标注正反馈 / 负反馈</a:t>
                </a:r>
              </a:p>
            </p:txBody>
          </p:sp>
          <p:sp>
            <p:nvSpPr>
              <p:cNvPr id="97" name="TextBox 97"/>
              <p:cNvSpPr txBox="1"/>
              <p:nvPr/>
            </p:nvSpPr>
            <p:spPr>
              <a:xfrm>
                <a:off x="719138" y="5850493"/>
                <a:ext cx="918345"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3 指出响应更快者</a:t>
                </a:r>
              </a:p>
            </p:txBody>
          </p:sp>
          <p:sp>
            <p:nvSpPr>
              <p:cNvPr id="98" name="TextBox 98"/>
              <p:cNvSpPr txBox="1"/>
              <p:nvPr/>
            </p:nvSpPr>
            <p:spPr>
              <a:xfrm>
                <a:off x="3424238" y="5850493"/>
                <a:ext cx="918345" cy="169069"/>
              </a:xfrm>
              <a:prstGeom prst="rect">
                <a:avLst/>
              </a:prstGeom>
              <a:noFill/>
              <a:ln>
                <a:noFill/>
              </a:ln>
            </p:spPr>
            <p:txBody>
              <a:bodyPr wrap="none" lIns="0" tIns="0" rIns="0" bIns="0" anchor="t" anchorCtr="0">
                <a:spAutoFit/>
              </a:bodyPr>
              <a:lstStyle/>
              <a:p>
                <a:pPr algn="l"/>
                <a:r>
                  <a:rPr lang="zh-CN" sz="860" dirty="0">
                    <a:solidFill>
                      <a:srgbClr val="1A2230"/>
                    </a:solidFill>
                    <a:latin typeface="Arial"/>
                    <a:ea typeface="Microsoft YaHei"/>
                    <a:cs typeface="Arial"/>
                  </a:rPr>
                  <a:t>4 指出响应更慢者</a:t>
                </a:r>
              </a:p>
            </p:txBody>
          </p:sp>
        </p:grpSp>
        <p:grpSp>
          <p:nvGrpSpPr>
            <p:cNvPr id="110" name="Group 110"/>
            <p:cNvGrpSpPr/>
            <p:nvPr/>
          </p:nvGrpSpPr>
          <p:grpSpPr>
            <a:xfrm>
              <a:off x="6096000" y="5295900"/>
              <a:ext cx="5524500" cy="723900"/>
              <a:chOff x="6096000" y="5295900"/>
              <a:chExt cx="5524500" cy="723900"/>
            </a:xfrm>
          </p:grpSpPr>
          <p:sp>
            <p:nvSpPr>
              <p:cNvPr id="100" name="Rectangle 100"/>
              <p:cNvSpPr/>
              <p:nvPr/>
            </p:nvSpPr>
            <p:spPr>
              <a:xfrm>
                <a:off x="6096000" y="5295900"/>
                <a:ext cx="5524500" cy="723900"/>
              </a:xfrm>
              <a:prstGeom prst="roundRect">
                <a:avLst>
                  <a:gd name="adj" fmla="val 13158"/>
                </a:avLst>
              </a:prstGeom>
              <a:solidFill>
                <a:srgbClr val="FFFFFF"/>
              </a:solidFill>
              <a:ln w="9525">
                <a:solidFill>
                  <a:srgbClr val="D6DCE5"/>
                </a:solidFill>
              </a:ln>
            </p:spPr>
          </p:sp>
          <p:sp>
            <p:nvSpPr>
              <p:cNvPr id="101" name="TextBox 101"/>
              <p:cNvSpPr txBox="1"/>
              <p:nvPr/>
            </p:nvSpPr>
            <p:spPr>
              <a:xfrm>
                <a:off x="6243638" y="5408295"/>
                <a:ext cx="3314233" cy="176212"/>
              </a:xfrm>
              <a:prstGeom prst="rect">
                <a:avLst/>
              </a:prstGeom>
              <a:noFill/>
              <a:ln>
                <a:noFill/>
              </a:ln>
            </p:spPr>
            <p:txBody>
              <a:bodyPr wrap="none" lIns="0" tIns="0" rIns="0" bIns="0" anchor="t" anchorCtr="0">
                <a:spAutoFit/>
              </a:bodyPr>
              <a:lstStyle/>
              <a:p>
                <a:pPr algn="l"/>
                <a:r>
                  <a:rPr lang="zh-CN" sz="900" b="1" dirty="0">
                    <a:solidFill>
                      <a:srgbClr val="0E3F8C"/>
                    </a:solidFill>
                    <a:latin typeface="Arial"/>
                    <a:ea typeface="Microsoft YaHei"/>
                    <a:cs typeface="Arial"/>
                  </a:rPr>
                  <a:t>可用环节 Building blocks（限 Slides 36–39，无新增机制）</a:t>
                </a:r>
              </a:p>
            </p:txBody>
          </p:sp>
          <p:sp>
            <p:nvSpPr>
              <p:cNvPr id="102" name="Rectangle 102"/>
              <p:cNvSpPr/>
              <p:nvPr/>
            </p:nvSpPr>
            <p:spPr>
              <a:xfrm>
                <a:off x="6248400" y="5619750"/>
                <a:ext cx="1219200" cy="285750"/>
              </a:xfrm>
              <a:prstGeom prst="roundRect">
                <a:avLst>
                  <a:gd name="adj" fmla="val 50000"/>
                </a:avLst>
              </a:prstGeom>
              <a:solidFill>
                <a:srgbClr val="F0F5FC"/>
              </a:solidFill>
              <a:ln w="9525">
                <a:solidFill>
                  <a:srgbClr val="B8C7DC"/>
                </a:solidFill>
              </a:ln>
            </p:spPr>
          </p:sp>
          <p:sp>
            <p:nvSpPr>
              <p:cNvPr id="103" name="TextBox 103"/>
              <p:cNvSpPr txBox="1"/>
              <p:nvPr/>
            </p:nvSpPr>
            <p:spPr>
              <a:xfrm>
                <a:off x="6632461" y="5721191"/>
                <a:ext cx="451079" cy="161925"/>
              </a:xfrm>
              <a:prstGeom prst="rect">
                <a:avLst/>
              </a:prstGeom>
              <a:noFill/>
              <a:ln>
                <a:noFill/>
              </a:ln>
            </p:spPr>
            <p:txBody>
              <a:bodyPr wrap="none" lIns="0" tIns="0" rIns="0" bIns="0" anchor="t" anchorCtr="0">
                <a:spAutoFit/>
              </a:bodyPr>
              <a:lstStyle/>
              <a:p>
                <a:pPr algn="ctr"/>
                <a:r>
                  <a:rPr lang="zh-CN" sz="820" dirty="0">
                    <a:solidFill>
                      <a:srgbClr val="1E4FA8"/>
                    </a:solidFill>
                    <a:latin typeface="Arial"/>
                    <a:ea typeface="Microsoft YaHei"/>
                    <a:cs typeface="Arial"/>
                  </a:rPr>
                  <a:t>水汽增多</a:t>
                </a:r>
              </a:p>
            </p:txBody>
          </p:sp>
          <p:sp>
            <p:nvSpPr>
              <p:cNvPr id="104" name="Rectangle 104"/>
              <p:cNvSpPr/>
              <p:nvPr/>
            </p:nvSpPr>
            <p:spPr>
              <a:xfrm>
                <a:off x="7543800" y="5619750"/>
                <a:ext cx="1676400" cy="285750"/>
              </a:xfrm>
              <a:prstGeom prst="roundRect">
                <a:avLst>
                  <a:gd name="adj" fmla="val 50000"/>
                </a:avLst>
              </a:prstGeom>
              <a:solidFill>
                <a:srgbClr val="F0F5FC"/>
              </a:solidFill>
              <a:ln w="9525">
                <a:solidFill>
                  <a:srgbClr val="B8C7DC"/>
                </a:solidFill>
              </a:ln>
            </p:spPr>
          </p:sp>
          <p:sp>
            <p:nvSpPr>
              <p:cNvPr id="105" name="TextBox 105"/>
              <p:cNvSpPr txBox="1"/>
              <p:nvPr/>
            </p:nvSpPr>
            <p:spPr>
              <a:xfrm>
                <a:off x="7817016" y="5721191"/>
                <a:ext cx="1129967" cy="161925"/>
              </a:xfrm>
              <a:prstGeom prst="rect">
                <a:avLst/>
              </a:prstGeom>
              <a:noFill/>
              <a:ln>
                <a:noFill/>
              </a:ln>
            </p:spPr>
            <p:txBody>
              <a:bodyPr wrap="none" lIns="0" tIns="0" rIns="0" bIns="0" anchor="t" anchorCtr="0">
                <a:spAutoFit/>
              </a:bodyPr>
              <a:lstStyle/>
              <a:p>
                <a:pPr algn="ctr"/>
                <a:r>
                  <a:rPr lang="zh-CN" sz="820" dirty="0">
                    <a:solidFill>
                      <a:srgbClr val="1E4FA8"/>
                    </a:solidFill>
                    <a:latin typeface="Arial"/>
                    <a:ea typeface="Microsoft YaHei"/>
                    <a:cs typeface="Arial"/>
                  </a:rPr>
                  <a:t>冰雪减少 · 反照率下降</a:t>
                </a:r>
              </a:p>
            </p:txBody>
          </p:sp>
          <p:sp>
            <p:nvSpPr>
              <p:cNvPr id="106" name="Rectangle 106"/>
              <p:cNvSpPr/>
              <p:nvPr/>
            </p:nvSpPr>
            <p:spPr>
              <a:xfrm>
                <a:off x="9296400" y="5619750"/>
                <a:ext cx="1066800" cy="285750"/>
              </a:xfrm>
              <a:prstGeom prst="roundRect">
                <a:avLst>
                  <a:gd name="adj" fmla="val 50000"/>
                </a:avLst>
              </a:prstGeom>
              <a:solidFill>
                <a:srgbClr val="FDF4EF"/>
              </a:solidFill>
              <a:ln w="9525">
                <a:solidFill>
                  <a:srgbClr val="F0CFC2"/>
                </a:solidFill>
              </a:ln>
            </p:spPr>
          </p:sp>
          <p:sp>
            <p:nvSpPr>
              <p:cNvPr id="107" name="TextBox 107"/>
              <p:cNvSpPr txBox="1"/>
              <p:nvPr/>
            </p:nvSpPr>
            <p:spPr>
              <a:xfrm>
                <a:off x="9493872" y="5721191"/>
                <a:ext cx="671855" cy="161925"/>
              </a:xfrm>
              <a:prstGeom prst="rect">
                <a:avLst/>
              </a:prstGeom>
              <a:noFill/>
              <a:ln>
                <a:noFill/>
              </a:ln>
            </p:spPr>
            <p:txBody>
              <a:bodyPr wrap="none" lIns="0" tIns="0" rIns="0" bIns="0" anchor="t" anchorCtr="0">
                <a:spAutoFit/>
              </a:bodyPr>
              <a:lstStyle/>
              <a:p>
                <a:pPr algn="ctr"/>
                <a:r>
                  <a:rPr lang="zh-CN" sz="820" dirty="0">
                    <a:solidFill>
                      <a:srgbClr val="C2410C"/>
                    </a:solidFill>
                    <a:latin typeface="Arial"/>
                    <a:ea typeface="Microsoft YaHei"/>
                    <a:cs typeface="Arial"/>
                  </a:rPr>
                  <a:t>风化加速固碳</a:t>
                </a:r>
              </a:p>
            </p:txBody>
          </p:sp>
          <p:sp>
            <p:nvSpPr>
              <p:cNvPr id="108" name="Rectangle 108"/>
              <p:cNvSpPr/>
              <p:nvPr/>
            </p:nvSpPr>
            <p:spPr>
              <a:xfrm>
                <a:off x="10439400" y="5619750"/>
                <a:ext cx="1143000" cy="285750"/>
              </a:xfrm>
              <a:prstGeom prst="roundRect">
                <a:avLst>
                  <a:gd name="adj" fmla="val 50000"/>
                </a:avLst>
              </a:prstGeom>
              <a:solidFill>
                <a:srgbClr val="F0F5FC"/>
              </a:solidFill>
              <a:ln w="9525">
                <a:solidFill>
                  <a:srgbClr val="B8C7DC"/>
                </a:solidFill>
              </a:ln>
            </p:spPr>
          </p:sp>
          <p:sp>
            <p:nvSpPr>
              <p:cNvPr id="109" name="TextBox 109"/>
              <p:cNvSpPr txBox="1"/>
              <p:nvPr/>
            </p:nvSpPr>
            <p:spPr>
              <a:xfrm>
                <a:off x="10674972" y="5721191"/>
                <a:ext cx="671855" cy="161925"/>
              </a:xfrm>
              <a:prstGeom prst="rect">
                <a:avLst/>
              </a:prstGeom>
              <a:noFill/>
              <a:ln>
                <a:noFill/>
              </a:ln>
            </p:spPr>
            <p:txBody>
              <a:bodyPr wrap="none" lIns="0" tIns="0" rIns="0" bIns="0" anchor="t" anchorCtr="0">
                <a:spAutoFit/>
              </a:bodyPr>
              <a:lstStyle/>
              <a:p>
                <a:pPr algn="ctr"/>
                <a:r>
                  <a:rPr lang="zh-CN" sz="820" dirty="0">
                    <a:solidFill>
                      <a:srgbClr val="1E4FA8"/>
                    </a:solidFill>
                    <a:latin typeface="Arial"/>
                    <a:ea typeface="Microsoft YaHei"/>
                    <a:cs typeface="Arial"/>
                  </a:rPr>
                  <a:t>植物生长固碳</a:t>
                </a:r>
              </a:p>
            </p:txBody>
          </p:sp>
        </p:grpSp>
      </p:grpSp>
      <p:sp>
        <p:nvSpPr>
          <p:cNvPr id="112" name="TextBox 112"/>
          <p:cNvSpPr txBox="1"/>
          <p:nvPr/>
        </p:nvSpPr>
        <p:spPr>
          <a:xfrm>
            <a:off x="376238" y="6532245"/>
            <a:ext cx="12052304"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Worksheet only — answer key in embedded Notes; mechanisms limited to approved Slides 36–40. Source: UE 8e pp.1176–1178, 1212–1213; EP pp.883–884; HB Ch.9 pp.248–252; CN Chs.3–4 pp.39–40, 78–80.</a:t>
            </a:r>
          </a:p>
        </p:txBody>
      </p:sp>
      <p:sp>
        <p:nvSpPr>
          <p:cNvPr id="113" name="TextBox 113"/>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en-US" sz="900" dirty="0">
                <a:solidFill>
                  <a:srgbClr val="4A5568"/>
                </a:solidFill>
                <a:latin typeface="Arial"/>
                <a:ea typeface="Arial"/>
                <a:cs typeface="Arial"/>
              </a:rPr>
              <a:t>41</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rgbClr val="0E3F8C"/>
            </a:solidFill>
            <a:ln>
              <a:noFill/>
            </a:ln>
          </p:spPr>
        </p:sp>
        <p:sp>
          <p:nvSpPr>
            <p:cNvPr id="3" name="TextBox 3"/>
            <p:cNvSpPr txBox="1"/>
            <p:nvPr/>
          </p:nvSpPr>
          <p:spPr>
            <a:xfrm>
              <a:off x="374142" y="282892"/>
              <a:ext cx="2656389"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作业题 | Homework Questions</a:t>
              </a:r>
            </a:p>
          </p:txBody>
        </p:sp>
        <p:sp>
          <p:nvSpPr>
            <p:cNvPr id="4" name="TextBox 4"/>
            <p:cNvSpPr txBox="1"/>
            <p:nvPr/>
          </p:nvSpPr>
          <p:spPr>
            <a:xfrm>
              <a:off x="9910267" y="299085"/>
              <a:ext cx="1906829" cy="234696"/>
            </a:xfrm>
            <a:prstGeom prst="rect">
              <a:avLst/>
            </a:prstGeom>
            <a:noFill/>
            <a:ln>
              <a:noFill/>
            </a:ln>
          </p:spPr>
          <p:txBody>
            <a:bodyPr wrap="none" lIns="0" tIns="0" rIns="0" bIns="0" anchor="t" anchorCtr="0">
              <a:spAutoFit/>
            </a:bodyPr>
            <a:lstStyle/>
            <a:p>
              <a:pPr algn="r"/>
              <a:r>
                <a:rPr lang="en-US" sz="1200" dirty="0">
                  <a:solidFill>
                    <a:srgbClr val="C7D7F2"/>
                  </a:solidFill>
                  <a:latin typeface="Arial"/>
                  <a:ea typeface="Arial"/>
                  <a:cs typeface="Arial"/>
                </a:rPr>
                <a:t>LECTURE 16 · SYNTHESIS</a:t>
              </a:r>
            </a:p>
          </p:txBody>
        </p:sp>
      </p:grpSp>
      <p:grpSp>
        <p:nvGrpSpPr>
          <p:cNvPr id="8" name="Group 8"/>
          <p:cNvGrpSpPr/>
          <p:nvPr/>
        </p:nvGrpSpPr>
        <p:grpSpPr>
          <a:xfrm>
            <a:off x="381000" y="914400"/>
            <a:ext cx="7062942" cy="357093"/>
            <a:chOff x="381000" y="914400"/>
            <a:chExt cx="7062942" cy="357093"/>
          </a:xfrm>
        </p:grpSpPr>
        <p:sp>
          <p:nvSpPr>
            <p:cNvPr id="6" name="Rectangle 6"/>
            <p:cNvSpPr/>
            <p:nvPr/>
          </p:nvSpPr>
          <p:spPr>
            <a:xfrm>
              <a:off x="381000" y="914400"/>
              <a:ext cx="57150" cy="266700"/>
            </a:xfrm>
            <a:prstGeom prst="roundRect">
              <a:avLst>
                <a:gd name="adj" fmla="val 50000"/>
              </a:avLst>
            </a:prstGeom>
            <a:solidFill>
              <a:srgbClr val="1E4FA8"/>
            </a:solidFill>
            <a:ln>
              <a:noFill/>
            </a:ln>
          </p:spPr>
        </p:sp>
        <p:sp>
          <p:nvSpPr>
            <p:cNvPr id="7" name="TextBox 7"/>
            <p:cNvSpPr txBox="1"/>
            <p:nvPr/>
          </p:nvSpPr>
          <p:spPr>
            <a:xfrm>
              <a:off x="544449" y="963454"/>
              <a:ext cx="6899493" cy="308039"/>
            </a:xfrm>
            <a:prstGeom prst="rect">
              <a:avLst/>
            </a:prstGeom>
            <a:noFill/>
            <a:ln>
              <a:noFill/>
            </a:ln>
          </p:spPr>
          <p:txBody>
            <a:bodyPr wrap="none" lIns="0" tIns="0" rIns="0" bIns="0" anchor="t" anchorCtr="0">
              <a:spAutoFit/>
            </a:bodyPr>
            <a:lstStyle/>
            <a:p>
              <a:pPr algn="l"/>
              <a:r>
                <a:rPr lang="zh-CN" sz="1580" b="1" dirty="0">
                  <a:solidFill>
                    <a:srgbClr val="0E3F8C"/>
                  </a:solidFill>
                  <a:latin typeface="Arial"/>
                  <a:ea typeface="Microsoft YaHei"/>
                  <a:cs typeface="Arial"/>
                </a:rPr>
                <a:t>四道候选题覆盖共同框架、碳时间尺度、耦合与反馈推理，教师选 1–2 题</a:t>
              </a:r>
            </a:p>
          </p:txBody>
        </p:sp>
      </p:grpSp>
      <p:grpSp>
        <p:nvGrpSpPr>
          <p:cNvPr id="16" name="Group 16"/>
          <p:cNvGrpSpPr/>
          <p:nvPr/>
        </p:nvGrpSpPr>
        <p:grpSpPr>
          <a:xfrm>
            <a:off x="381000" y="1504950"/>
            <a:ext cx="5524500" cy="2000250"/>
            <a:chOff x="381000" y="1504950"/>
            <a:chExt cx="5524500" cy="2000250"/>
          </a:xfrm>
        </p:grpSpPr>
        <p:sp>
          <p:nvSpPr>
            <p:cNvPr id="9" name="Rectangle 9"/>
            <p:cNvSpPr/>
            <p:nvPr/>
          </p:nvSpPr>
          <p:spPr>
            <a:xfrm>
              <a:off x="381000" y="1504950"/>
              <a:ext cx="5524500" cy="2000250"/>
            </a:xfrm>
            <a:prstGeom prst="roundRect">
              <a:avLst>
                <a:gd name="adj" fmla="val 5714"/>
              </a:avLst>
            </a:prstGeom>
            <a:solidFill>
              <a:srgbClr val="F7F9FC"/>
            </a:solidFill>
            <a:ln w="9525">
              <a:solidFill>
                <a:srgbClr val="D6DCE5"/>
              </a:solidFill>
            </a:ln>
          </p:spPr>
        </p:sp>
        <p:sp>
          <p:nvSpPr>
            <p:cNvPr id="10" name="Ellipse 10"/>
            <p:cNvSpPr/>
            <p:nvPr/>
          </p:nvSpPr>
          <p:spPr>
            <a:xfrm>
              <a:off x="552450" y="1676400"/>
              <a:ext cx="457200" cy="457200"/>
            </a:xfrm>
            <a:prstGeom prst="ellipse">
              <a:avLst/>
            </a:prstGeom>
            <a:solidFill>
              <a:srgbClr val="1E4FA8"/>
            </a:solidFill>
            <a:ln>
              <a:noFill/>
            </a:ln>
          </p:spPr>
        </p:sp>
        <p:sp>
          <p:nvSpPr>
            <p:cNvPr id="11" name="TextBox 11"/>
            <p:cNvSpPr txBox="1"/>
            <p:nvPr/>
          </p:nvSpPr>
          <p:spPr>
            <a:xfrm>
              <a:off x="711632" y="1811179"/>
              <a:ext cx="138836" cy="308039"/>
            </a:xfrm>
            <a:prstGeom prst="rect">
              <a:avLst/>
            </a:prstGeom>
            <a:noFill/>
            <a:ln>
              <a:noFill/>
            </a:ln>
          </p:spPr>
          <p:txBody>
            <a:bodyPr wrap="none" lIns="0" tIns="0" rIns="0" bIns="0" anchor="t" anchorCtr="0">
              <a:spAutoFit/>
            </a:bodyPr>
            <a:lstStyle/>
            <a:p>
              <a:pPr algn="ctr"/>
              <a:r>
                <a:rPr lang="en-US" sz="1580" b="1" dirty="0">
                  <a:solidFill>
                    <a:srgbClr val="FFFFFF"/>
                  </a:solidFill>
                  <a:latin typeface="Arial"/>
                  <a:ea typeface="Arial"/>
                  <a:cs typeface="Arial"/>
                </a:rPr>
                <a:t>1</a:t>
              </a:r>
            </a:p>
          </p:txBody>
        </p:sp>
        <p:sp>
          <p:nvSpPr>
            <p:cNvPr id="12" name="TextBox 12"/>
            <p:cNvSpPr txBox="1"/>
            <p:nvPr/>
          </p:nvSpPr>
          <p:spPr>
            <a:xfrm>
              <a:off x="1156335" y="1688306"/>
              <a:ext cx="1519174"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储库、通量与停留时间</a:t>
              </a:r>
            </a:p>
          </p:txBody>
        </p:sp>
        <p:sp>
          <p:nvSpPr>
            <p:cNvPr id="13" name="TextBox 13"/>
            <p:cNvSpPr txBox="1"/>
            <p:nvPr/>
          </p:nvSpPr>
          <p:spPr>
            <a:xfrm>
              <a:off x="1157288" y="1941195"/>
              <a:ext cx="1977156" cy="176212"/>
            </a:xfrm>
            <a:prstGeom prst="rect">
              <a:avLst/>
            </a:prstGeom>
            <a:noFill/>
            <a:ln>
              <a:noFill/>
            </a:ln>
          </p:spPr>
          <p:txBody>
            <a:bodyPr wrap="none" lIns="0" tIns="0" rIns="0" bIns="0" anchor="t" anchorCtr="0">
              <a:spAutoFit/>
            </a:bodyPr>
            <a:lstStyle/>
            <a:p>
              <a:pPr algn="l"/>
              <a:r>
                <a:rPr lang="en-US" sz="900" dirty="0">
                  <a:solidFill>
                    <a:srgbClr val="3D7BD9"/>
                  </a:solidFill>
                  <a:latin typeface="Arial"/>
                  <a:ea typeface="Arial"/>
                  <a:cs typeface="Arial"/>
                </a:rPr>
                <a:t>Reservoir · Flux · Residence Time</a:t>
              </a:r>
            </a:p>
          </p:txBody>
        </p:sp>
        <p:sp>
          <p:nvSpPr>
            <p:cNvPr id="14" name="TextBox 14"/>
            <p:cNvSpPr txBox="1"/>
            <p:nvPr/>
          </p:nvSpPr>
          <p:spPr>
            <a:xfrm>
              <a:off x="1157097" y="2333149"/>
              <a:ext cx="2872486" cy="438341"/>
            </a:xfrm>
            <a:prstGeom prst="rect">
              <a:avLst/>
            </a:prstGeom>
            <a:noFill/>
            <a:ln>
              <a:noFill/>
            </a:ln>
          </p:spPr>
          <p:txBody>
            <a:bodyPr wrap="none" lIns="0" tIns="0" rIns="0" bIns="0" anchor="t" anchorCtr="0">
              <a:spAutoFit/>
            </a:bodyPr>
            <a:lstStyle/>
            <a:p>
              <a:pPr algn="l">
                <a:lnSpc>
                  <a:spcPts val="1950"/>
                </a:lnSpc>
              </a:pPr>
              <a:r>
                <a:rPr lang="zh-CN" sz="980" dirty="0">
                  <a:solidFill>
                    <a:srgbClr val="1A2230"/>
                  </a:solidFill>
                  <a:latin typeface="Arial"/>
                  <a:ea typeface="Microsoft YaHei"/>
                  <a:cs typeface="Arial"/>
                </a:rPr>
                <a:t>定义这三个概念，并解释：为什么储量很大的储库，</a:t>
              </a:r>
              <a:br/>
              <a:r>
                <a:rPr lang="zh-CN" sz="980" dirty="0">
                  <a:solidFill>
                    <a:srgbClr val="1A2230"/>
                  </a:solidFill>
                  <a:latin typeface="Arial"/>
                  <a:ea typeface="Microsoft YaHei"/>
                  <a:cs typeface="Arial"/>
                </a:rPr>
                <a:t>更新速度不一定快？</a:t>
              </a:r>
            </a:p>
          </p:txBody>
        </p:sp>
        <p:sp>
          <p:nvSpPr>
            <p:cNvPr id="15" name="TextBox 15"/>
            <p:cNvSpPr txBox="1"/>
            <p:nvPr/>
          </p:nvSpPr>
          <p:spPr>
            <a:xfrm>
              <a:off x="1157288" y="3122295"/>
              <a:ext cx="1538665"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类型：概念理解 Conceptual</a:t>
              </a:r>
            </a:p>
          </p:txBody>
        </p:sp>
      </p:grpSp>
      <p:grpSp>
        <p:nvGrpSpPr>
          <p:cNvPr id="24" name="Group 24"/>
          <p:cNvGrpSpPr/>
          <p:nvPr/>
        </p:nvGrpSpPr>
        <p:grpSpPr>
          <a:xfrm>
            <a:off x="6286500" y="1504950"/>
            <a:ext cx="5524500" cy="2000250"/>
            <a:chOff x="6286500" y="1504950"/>
            <a:chExt cx="5524500" cy="2000250"/>
          </a:xfrm>
        </p:grpSpPr>
        <p:sp>
          <p:nvSpPr>
            <p:cNvPr id="17" name="Rectangle 17"/>
            <p:cNvSpPr/>
            <p:nvPr/>
          </p:nvSpPr>
          <p:spPr>
            <a:xfrm>
              <a:off x="6286500" y="1504950"/>
              <a:ext cx="5524500" cy="2000250"/>
            </a:xfrm>
            <a:prstGeom prst="roundRect">
              <a:avLst>
                <a:gd name="adj" fmla="val 5714"/>
              </a:avLst>
            </a:prstGeom>
            <a:solidFill>
              <a:srgbClr val="FDF4EF"/>
            </a:solidFill>
            <a:ln w="9525">
              <a:solidFill>
                <a:srgbClr val="F0CFC2"/>
              </a:solidFill>
            </a:ln>
          </p:spPr>
        </p:sp>
        <p:sp>
          <p:nvSpPr>
            <p:cNvPr id="18" name="Ellipse 18"/>
            <p:cNvSpPr/>
            <p:nvPr/>
          </p:nvSpPr>
          <p:spPr>
            <a:xfrm>
              <a:off x="6457950" y="1676400"/>
              <a:ext cx="457200" cy="457200"/>
            </a:xfrm>
            <a:prstGeom prst="ellipse">
              <a:avLst/>
            </a:prstGeom>
            <a:solidFill>
              <a:srgbClr val="EA580C"/>
            </a:solidFill>
            <a:ln>
              <a:noFill/>
            </a:ln>
          </p:spPr>
        </p:sp>
        <p:sp>
          <p:nvSpPr>
            <p:cNvPr id="19" name="TextBox 19"/>
            <p:cNvSpPr txBox="1"/>
            <p:nvPr/>
          </p:nvSpPr>
          <p:spPr>
            <a:xfrm>
              <a:off x="6617132" y="1811179"/>
              <a:ext cx="138836" cy="308039"/>
            </a:xfrm>
            <a:prstGeom prst="rect">
              <a:avLst/>
            </a:prstGeom>
            <a:noFill/>
            <a:ln>
              <a:noFill/>
            </a:ln>
          </p:spPr>
          <p:txBody>
            <a:bodyPr wrap="none" lIns="0" tIns="0" rIns="0" bIns="0" anchor="t" anchorCtr="0">
              <a:spAutoFit/>
            </a:bodyPr>
            <a:lstStyle/>
            <a:p>
              <a:pPr algn="ctr"/>
              <a:r>
                <a:rPr lang="en-US" sz="1580" b="1" dirty="0">
                  <a:solidFill>
                    <a:srgbClr val="FFFFFF"/>
                  </a:solidFill>
                  <a:latin typeface="Arial"/>
                  <a:ea typeface="Arial"/>
                  <a:cs typeface="Arial"/>
                </a:rPr>
                <a:t>2</a:t>
              </a:r>
            </a:p>
          </p:txBody>
        </p:sp>
        <p:sp>
          <p:nvSpPr>
            <p:cNvPr id="20" name="TextBox 20"/>
            <p:cNvSpPr txBox="1"/>
            <p:nvPr/>
          </p:nvSpPr>
          <p:spPr>
            <a:xfrm>
              <a:off x="7061835" y="1688306"/>
              <a:ext cx="1519174" cy="220028"/>
            </a:xfrm>
            <a:prstGeom prst="rect">
              <a:avLst/>
            </a:prstGeom>
            <a:noFill/>
            <a:ln>
              <a:noFill/>
            </a:ln>
          </p:spPr>
          <p:txBody>
            <a:bodyPr wrap="none" lIns="0" tIns="0" rIns="0" bIns="0" anchor="t" anchorCtr="0">
              <a:spAutoFit/>
            </a:bodyPr>
            <a:lstStyle/>
            <a:p>
              <a:pPr algn="l"/>
              <a:r>
                <a:rPr lang="zh-CN" sz="1120" b="1" dirty="0">
                  <a:solidFill>
                    <a:srgbClr val="C2410C"/>
                  </a:solidFill>
                  <a:latin typeface="Arial"/>
                  <a:ea typeface="Microsoft YaHei"/>
                  <a:cs typeface="Arial"/>
                </a:rPr>
                <a:t>快速与缓慢碳循环路径</a:t>
              </a:r>
            </a:p>
          </p:txBody>
        </p:sp>
        <p:sp>
          <p:nvSpPr>
            <p:cNvPr id="21" name="TextBox 21"/>
            <p:cNvSpPr txBox="1"/>
            <p:nvPr/>
          </p:nvSpPr>
          <p:spPr>
            <a:xfrm>
              <a:off x="7062788" y="1941195"/>
              <a:ext cx="1600789" cy="176212"/>
            </a:xfrm>
            <a:prstGeom prst="rect">
              <a:avLst/>
            </a:prstGeom>
            <a:noFill/>
            <a:ln>
              <a:noFill/>
            </a:ln>
          </p:spPr>
          <p:txBody>
            <a:bodyPr wrap="none" lIns="0" tIns="0" rIns="0" bIns="0" anchor="t" anchorCtr="0">
              <a:spAutoFit/>
            </a:bodyPr>
            <a:lstStyle/>
            <a:p>
              <a:pPr algn="l"/>
              <a:r>
                <a:rPr lang="en-US" sz="900" dirty="0">
                  <a:solidFill>
                    <a:srgbClr val="C2410C"/>
                  </a:solidFill>
                  <a:latin typeface="Arial"/>
                  <a:ea typeface="Arial"/>
                  <a:cs typeface="Arial"/>
                </a:rPr>
                <a:t>Fast vs Slow Carbon Cycles</a:t>
              </a:r>
            </a:p>
          </p:txBody>
        </p:sp>
        <p:sp>
          <p:nvSpPr>
            <p:cNvPr id="22" name="TextBox 22"/>
            <p:cNvSpPr txBox="1"/>
            <p:nvPr/>
          </p:nvSpPr>
          <p:spPr>
            <a:xfrm>
              <a:off x="7062597" y="2333149"/>
              <a:ext cx="2125726" cy="438341"/>
            </a:xfrm>
            <a:prstGeom prst="rect">
              <a:avLst/>
            </a:prstGeom>
            <a:noFill/>
            <a:ln>
              <a:noFill/>
            </a:ln>
          </p:spPr>
          <p:txBody>
            <a:bodyPr wrap="none" lIns="0" tIns="0" rIns="0" bIns="0" anchor="t" anchorCtr="0">
              <a:spAutoFit/>
            </a:bodyPr>
            <a:lstStyle/>
            <a:p>
              <a:pPr algn="l">
                <a:lnSpc>
                  <a:spcPts val="1950"/>
                </a:lnSpc>
              </a:pPr>
              <a:r>
                <a:rPr lang="zh-CN" sz="980" dirty="0">
                  <a:solidFill>
                    <a:srgbClr val="1A2230"/>
                  </a:solidFill>
                  <a:latin typeface="Arial"/>
                  <a:ea typeface="Microsoft YaHei"/>
                  <a:cs typeface="Arial"/>
                </a:rPr>
                <a:t>从储库、过程与相对时间尺度三方面，</a:t>
              </a:r>
              <a:br/>
              <a:r>
                <a:rPr lang="zh-CN" sz="980" dirty="0">
                  <a:solidFill>
                    <a:srgbClr val="1A2230"/>
                  </a:solidFill>
                  <a:latin typeface="Arial"/>
                  <a:ea typeface="Microsoft YaHei"/>
                  <a:cs typeface="Arial"/>
                </a:rPr>
                <a:t>比较快速与缓慢碳循环路径。</a:t>
              </a:r>
            </a:p>
          </p:txBody>
        </p:sp>
        <p:sp>
          <p:nvSpPr>
            <p:cNvPr id="23" name="TextBox 23"/>
            <p:cNvSpPr txBox="1"/>
            <p:nvPr/>
          </p:nvSpPr>
          <p:spPr>
            <a:xfrm>
              <a:off x="7062788" y="3122295"/>
              <a:ext cx="1395788" cy="176212"/>
            </a:xfrm>
            <a:prstGeom prst="rect">
              <a:avLst/>
            </a:prstGeom>
            <a:noFill/>
            <a:ln>
              <a:noFill/>
            </a:ln>
          </p:spPr>
          <p:txBody>
            <a:bodyPr wrap="none" lIns="0" tIns="0" rIns="0" bIns="0" anchor="t" anchorCtr="0">
              <a:spAutoFit/>
            </a:bodyPr>
            <a:lstStyle/>
            <a:p>
              <a:pPr algn="l"/>
              <a:r>
                <a:rPr lang="zh-CN" sz="900" dirty="0">
                  <a:solidFill>
                    <a:srgbClr val="7A4A33"/>
                  </a:solidFill>
                  <a:latin typeface="Arial"/>
                  <a:ea typeface="Microsoft YaHei"/>
                  <a:cs typeface="Arial"/>
                </a:rPr>
                <a:t>类型：比较解释 Compare</a:t>
              </a:r>
            </a:p>
          </p:txBody>
        </p:sp>
      </p:grpSp>
      <p:grpSp>
        <p:nvGrpSpPr>
          <p:cNvPr id="32" name="Group 32"/>
          <p:cNvGrpSpPr/>
          <p:nvPr/>
        </p:nvGrpSpPr>
        <p:grpSpPr>
          <a:xfrm>
            <a:off x="381000" y="3638550"/>
            <a:ext cx="5524500" cy="2000250"/>
            <a:chOff x="381000" y="3638550"/>
            <a:chExt cx="5524500" cy="2000250"/>
          </a:xfrm>
        </p:grpSpPr>
        <p:sp>
          <p:nvSpPr>
            <p:cNvPr id="25" name="Rectangle 25"/>
            <p:cNvSpPr/>
            <p:nvPr/>
          </p:nvSpPr>
          <p:spPr>
            <a:xfrm>
              <a:off x="381000" y="3638550"/>
              <a:ext cx="5524500" cy="2000250"/>
            </a:xfrm>
            <a:prstGeom prst="roundRect">
              <a:avLst>
                <a:gd name="adj" fmla="val 5714"/>
              </a:avLst>
            </a:prstGeom>
            <a:solidFill>
              <a:srgbClr val="F0F5FC"/>
            </a:solidFill>
            <a:ln w="9525">
              <a:solidFill>
                <a:srgbClr val="B8C7DC"/>
              </a:solidFill>
            </a:ln>
          </p:spPr>
        </p:sp>
        <p:sp>
          <p:nvSpPr>
            <p:cNvPr id="26" name="Ellipse 26"/>
            <p:cNvSpPr/>
            <p:nvPr/>
          </p:nvSpPr>
          <p:spPr>
            <a:xfrm>
              <a:off x="552450" y="3810000"/>
              <a:ext cx="457200" cy="457200"/>
            </a:xfrm>
            <a:prstGeom prst="ellipse">
              <a:avLst/>
            </a:prstGeom>
            <a:solidFill>
              <a:srgbClr val="3D7BD9"/>
            </a:solidFill>
            <a:ln>
              <a:noFill/>
            </a:ln>
          </p:spPr>
        </p:sp>
        <p:sp>
          <p:nvSpPr>
            <p:cNvPr id="27" name="TextBox 27"/>
            <p:cNvSpPr txBox="1"/>
            <p:nvPr/>
          </p:nvSpPr>
          <p:spPr>
            <a:xfrm>
              <a:off x="711632" y="3944779"/>
              <a:ext cx="138836" cy="308039"/>
            </a:xfrm>
            <a:prstGeom prst="rect">
              <a:avLst/>
            </a:prstGeom>
            <a:noFill/>
            <a:ln>
              <a:noFill/>
            </a:ln>
          </p:spPr>
          <p:txBody>
            <a:bodyPr wrap="none" lIns="0" tIns="0" rIns="0" bIns="0" anchor="t" anchorCtr="0">
              <a:spAutoFit/>
            </a:bodyPr>
            <a:lstStyle/>
            <a:p>
              <a:pPr algn="ctr"/>
              <a:r>
                <a:rPr lang="en-US" sz="1580" b="1" dirty="0">
                  <a:solidFill>
                    <a:srgbClr val="FFFFFF"/>
                  </a:solidFill>
                  <a:latin typeface="Arial"/>
                  <a:ea typeface="Arial"/>
                  <a:cs typeface="Arial"/>
                </a:rPr>
                <a:t>3</a:t>
              </a:r>
            </a:p>
          </p:txBody>
        </p:sp>
        <p:sp>
          <p:nvSpPr>
            <p:cNvPr id="28" name="TextBox 28"/>
            <p:cNvSpPr txBox="1"/>
            <p:nvPr/>
          </p:nvSpPr>
          <p:spPr>
            <a:xfrm>
              <a:off x="1156335" y="3821906"/>
              <a:ext cx="1368400"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水如何耦合两个循环</a:t>
              </a:r>
            </a:p>
          </p:txBody>
        </p:sp>
        <p:sp>
          <p:nvSpPr>
            <p:cNvPr id="29" name="TextBox 29"/>
            <p:cNvSpPr txBox="1"/>
            <p:nvPr/>
          </p:nvSpPr>
          <p:spPr>
            <a:xfrm>
              <a:off x="1157288" y="4074795"/>
              <a:ext cx="2298382" cy="176212"/>
            </a:xfrm>
            <a:prstGeom prst="rect">
              <a:avLst/>
            </a:prstGeom>
            <a:noFill/>
            <a:ln>
              <a:noFill/>
            </a:ln>
          </p:spPr>
          <p:txBody>
            <a:bodyPr wrap="none" lIns="0" tIns="0" rIns="0" bIns="0" anchor="t" anchorCtr="0">
              <a:spAutoFit/>
            </a:bodyPr>
            <a:lstStyle/>
            <a:p>
              <a:pPr algn="l"/>
              <a:r>
                <a:rPr lang="en-US" sz="900" dirty="0">
                  <a:solidFill>
                    <a:srgbClr val="3D7BD9"/>
                  </a:solidFill>
                  <a:latin typeface="Arial"/>
                  <a:ea typeface="Arial"/>
                  <a:cs typeface="Arial"/>
                </a:rPr>
                <a:t>Weathering · Ocean Transfer · Biology</a:t>
              </a:r>
            </a:p>
          </p:txBody>
        </p:sp>
        <p:sp>
          <p:nvSpPr>
            <p:cNvPr id="30" name="TextBox 30"/>
            <p:cNvSpPr txBox="1"/>
            <p:nvPr/>
          </p:nvSpPr>
          <p:spPr>
            <a:xfrm>
              <a:off x="1157097" y="4466749"/>
              <a:ext cx="2374646" cy="438341"/>
            </a:xfrm>
            <a:prstGeom prst="rect">
              <a:avLst/>
            </a:prstGeom>
            <a:noFill/>
            <a:ln>
              <a:noFill/>
            </a:ln>
          </p:spPr>
          <p:txBody>
            <a:bodyPr wrap="none" lIns="0" tIns="0" rIns="0" bIns="0" anchor="t" anchorCtr="0">
              <a:spAutoFit/>
            </a:bodyPr>
            <a:lstStyle/>
            <a:p>
              <a:pPr algn="l">
                <a:lnSpc>
                  <a:spcPts val="1950"/>
                </a:lnSpc>
              </a:pPr>
              <a:r>
                <a:rPr lang="zh-CN" sz="980" dirty="0">
                  <a:solidFill>
                    <a:srgbClr val="1A2230"/>
                  </a:solidFill>
                  <a:latin typeface="Arial"/>
                  <a:ea typeface="Microsoft YaHei"/>
                  <a:cs typeface="Arial"/>
                </a:rPr>
                <a:t>以风化、海洋输送或生物过程为例，说明水</a:t>
              </a:r>
              <a:br/>
              <a:r>
                <a:rPr lang="zh-CN" sz="980" dirty="0">
                  <a:solidFill>
                    <a:srgbClr val="1A2230"/>
                  </a:solidFill>
                  <a:latin typeface="Arial"/>
                  <a:ea typeface="Microsoft YaHei"/>
                  <a:cs typeface="Arial"/>
                </a:rPr>
                <a:t>如何耦合水循环与碳循环。</a:t>
              </a:r>
            </a:p>
          </p:txBody>
        </p:sp>
        <p:sp>
          <p:nvSpPr>
            <p:cNvPr id="31" name="TextBox 31"/>
            <p:cNvSpPr txBox="1"/>
            <p:nvPr/>
          </p:nvSpPr>
          <p:spPr>
            <a:xfrm>
              <a:off x="1157288" y="5255895"/>
              <a:ext cx="1376096"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类型：系统耦合 Coupling</a:t>
              </a:r>
            </a:p>
          </p:txBody>
        </p:sp>
      </p:grpSp>
      <p:grpSp>
        <p:nvGrpSpPr>
          <p:cNvPr id="40" name="Group 40"/>
          <p:cNvGrpSpPr/>
          <p:nvPr/>
        </p:nvGrpSpPr>
        <p:grpSpPr>
          <a:xfrm>
            <a:off x="6286500" y="3638550"/>
            <a:ext cx="5524500" cy="2000250"/>
            <a:chOff x="6286500" y="3638550"/>
            <a:chExt cx="5524500" cy="2000250"/>
          </a:xfrm>
        </p:grpSpPr>
        <p:sp>
          <p:nvSpPr>
            <p:cNvPr id="33" name="Rectangle 33"/>
            <p:cNvSpPr/>
            <p:nvPr/>
          </p:nvSpPr>
          <p:spPr>
            <a:xfrm>
              <a:off x="6286500" y="3638550"/>
              <a:ext cx="5524500" cy="2000250"/>
            </a:xfrm>
            <a:prstGeom prst="roundRect">
              <a:avLst>
                <a:gd name="adj" fmla="val 5714"/>
              </a:avLst>
            </a:prstGeom>
            <a:solidFill>
              <a:srgbClr val="F7F9FC"/>
            </a:solidFill>
            <a:ln w="9525">
              <a:solidFill>
                <a:srgbClr val="D6DCE5"/>
              </a:solidFill>
            </a:ln>
          </p:spPr>
        </p:sp>
        <p:sp>
          <p:nvSpPr>
            <p:cNvPr id="34" name="Ellipse 34"/>
            <p:cNvSpPr/>
            <p:nvPr/>
          </p:nvSpPr>
          <p:spPr>
            <a:xfrm>
              <a:off x="6457950" y="3810000"/>
              <a:ext cx="457200" cy="457200"/>
            </a:xfrm>
            <a:prstGeom prst="ellipse">
              <a:avLst/>
            </a:prstGeom>
            <a:solidFill>
              <a:srgbClr val="0E3F8C"/>
            </a:solidFill>
            <a:ln>
              <a:noFill/>
            </a:ln>
          </p:spPr>
        </p:sp>
        <p:sp>
          <p:nvSpPr>
            <p:cNvPr id="35" name="TextBox 35"/>
            <p:cNvSpPr txBox="1"/>
            <p:nvPr/>
          </p:nvSpPr>
          <p:spPr>
            <a:xfrm>
              <a:off x="6617132" y="3944779"/>
              <a:ext cx="138836" cy="308039"/>
            </a:xfrm>
            <a:prstGeom prst="rect">
              <a:avLst/>
            </a:prstGeom>
            <a:noFill/>
            <a:ln>
              <a:noFill/>
            </a:ln>
          </p:spPr>
          <p:txBody>
            <a:bodyPr wrap="none" lIns="0" tIns="0" rIns="0" bIns="0" anchor="t" anchorCtr="0">
              <a:spAutoFit/>
            </a:bodyPr>
            <a:lstStyle/>
            <a:p>
              <a:pPr algn="ctr"/>
              <a:r>
                <a:rPr lang="en-US" sz="1580" b="1" dirty="0">
                  <a:solidFill>
                    <a:srgbClr val="FFFFFF"/>
                  </a:solidFill>
                  <a:latin typeface="Arial"/>
                  <a:ea typeface="Arial"/>
                  <a:cs typeface="Arial"/>
                </a:rPr>
                <a:t>4</a:t>
              </a:r>
            </a:p>
          </p:txBody>
        </p:sp>
        <p:sp>
          <p:nvSpPr>
            <p:cNvPr id="36" name="TextBox 36"/>
            <p:cNvSpPr txBox="1"/>
            <p:nvPr/>
          </p:nvSpPr>
          <p:spPr>
            <a:xfrm>
              <a:off x="7061835" y="3821906"/>
              <a:ext cx="1669948" cy="220028"/>
            </a:xfrm>
            <a:prstGeom prst="rect">
              <a:avLst/>
            </a:prstGeom>
            <a:noFill/>
            <a:ln>
              <a:noFill/>
            </a:ln>
          </p:spPr>
          <p:txBody>
            <a:bodyPr wrap="none" lIns="0" tIns="0" rIns="0" bIns="0" anchor="t" anchorCtr="0">
              <a:spAutoFit/>
            </a:bodyPr>
            <a:lstStyle/>
            <a:p>
              <a:pPr algn="l"/>
              <a:r>
                <a:rPr lang="zh-CN" sz="1120" b="1" dirty="0">
                  <a:solidFill>
                    <a:srgbClr val="0E3F8C"/>
                  </a:solidFill>
                  <a:latin typeface="Arial"/>
                  <a:ea typeface="Microsoft YaHei"/>
                  <a:cs typeface="Arial"/>
                </a:rPr>
                <a:t>升温后的正、负反馈路径</a:t>
              </a:r>
            </a:p>
          </p:txBody>
        </p:sp>
        <p:sp>
          <p:nvSpPr>
            <p:cNvPr id="37" name="TextBox 37"/>
            <p:cNvSpPr txBox="1"/>
            <p:nvPr/>
          </p:nvSpPr>
          <p:spPr>
            <a:xfrm>
              <a:off x="7062788" y="4074795"/>
              <a:ext cx="1873918" cy="176212"/>
            </a:xfrm>
            <a:prstGeom prst="rect">
              <a:avLst/>
            </a:prstGeom>
            <a:noFill/>
            <a:ln>
              <a:noFill/>
            </a:ln>
          </p:spPr>
          <p:txBody>
            <a:bodyPr wrap="none" lIns="0" tIns="0" rIns="0" bIns="0" anchor="t" anchorCtr="0">
              <a:spAutoFit/>
            </a:bodyPr>
            <a:lstStyle/>
            <a:p>
              <a:pPr algn="l"/>
              <a:r>
                <a:rPr lang="en-US" sz="900" dirty="0">
                  <a:solidFill>
                    <a:srgbClr val="3D7BD9"/>
                  </a:solidFill>
                  <a:latin typeface="Arial"/>
                  <a:ea typeface="Arial"/>
                  <a:cs typeface="Arial"/>
                </a:rPr>
                <a:t>Feedback Sign · Response Speed</a:t>
              </a:r>
            </a:p>
          </p:txBody>
        </p:sp>
        <p:sp>
          <p:nvSpPr>
            <p:cNvPr id="38" name="TextBox 38"/>
            <p:cNvSpPr txBox="1"/>
            <p:nvPr/>
          </p:nvSpPr>
          <p:spPr>
            <a:xfrm>
              <a:off x="7062597" y="4466749"/>
              <a:ext cx="2250186" cy="438341"/>
            </a:xfrm>
            <a:prstGeom prst="rect">
              <a:avLst/>
            </a:prstGeom>
            <a:noFill/>
            <a:ln>
              <a:noFill/>
            </a:ln>
          </p:spPr>
          <p:txBody>
            <a:bodyPr wrap="none" lIns="0" tIns="0" rIns="0" bIns="0" anchor="t" anchorCtr="0">
              <a:spAutoFit/>
            </a:bodyPr>
            <a:lstStyle/>
            <a:p>
              <a:pPr algn="l">
                <a:lnSpc>
                  <a:spcPts val="1950"/>
                </a:lnSpc>
              </a:pPr>
              <a:r>
                <a:rPr lang="zh-CN" sz="980" dirty="0">
                  <a:solidFill>
                    <a:srgbClr val="1A2230"/>
                  </a:solidFill>
                  <a:latin typeface="Arial"/>
                  <a:ea typeface="Microsoft YaHei"/>
                  <a:cs typeface="Arial"/>
                </a:rPr>
                <a:t>从一次升温出发，各写一条正反馈与一条</a:t>
              </a:r>
              <a:br/>
              <a:r>
                <a:rPr lang="zh-CN" sz="980" dirty="0">
                  <a:solidFill>
                    <a:srgbClr val="1A2230"/>
                  </a:solidFill>
                  <a:latin typeface="Arial"/>
                  <a:ea typeface="Microsoft YaHei"/>
                  <a:cs typeface="Arial"/>
                </a:rPr>
                <a:t>负反馈路径，并比较二者响应快慢。</a:t>
              </a:r>
            </a:p>
          </p:txBody>
        </p:sp>
        <p:sp>
          <p:nvSpPr>
            <p:cNvPr id="39" name="TextBox 39"/>
            <p:cNvSpPr txBox="1"/>
            <p:nvPr/>
          </p:nvSpPr>
          <p:spPr>
            <a:xfrm>
              <a:off x="7062788" y="5255895"/>
              <a:ext cx="2330192"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类型：因果推理 Earth-system reasoning</a:t>
              </a:r>
            </a:p>
          </p:txBody>
        </p:sp>
      </p:grpSp>
      <p:grpSp>
        <p:nvGrpSpPr>
          <p:cNvPr id="43" name="Group 43"/>
          <p:cNvGrpSpPr/>
          <p:nvPr/>
        </p:nvGrpSpPr>
        <p:grpSpPr>
          <a:xfrm>
            <a:off x="375666" y="5905500"/>
            <a:ext cx="11435334" cy="377761"/>
            <a:chOff x="375666" y="5905500"/>
            <a:chExt cx="11435334" cy="377761"/>
          </a:xfrm>
        </p:grpSpPr>
        <p:sp>
          <p:nvSpPr>
            <p:cNvPr id="41" name="Line 41"/>
            <p:cNvSpPr/>
            <p:nvPr/>
          </p:nvSpPr>
          <p:spPr>
            <a:xfrm>
              <a:off x="381000" y="5905500"/>
              <a:ext cx="11430000" cy="9525"/>
            </a:xfrm>
            <a:custGeom>
              <a:avLst/>
              <a:gdLst/>
              <a:ahLst/>
              <a:cxnLst/>
              <a:rect l="l" t="t" r="r" b="b"/>
              <a:pathLst>
                <a:path w="11430000" h="9525">
                  <a:moveTo>
                    <a:pt x="0" y="0"/>
                  </a:moveTo>
                  <a:lnTo>
                    <a:pt x="11430000" y="0"/>
                  </a:lnTo>
                </a:path>
              </a:pathLst>
            </a:custGeom>
            <a:noFill/>
            <a:ln w="9525">
              <a:solidFill>
                <a:srgbClr val="D6DCE5"/>
              </a:solidFill>
            </a:ln>
          </p:spPr>
        </p:sp>
        <p:sp>
          <p:nvSpPr>
            <p:cNvPr id="42" name="TextBox 42"/>
            <p:cNvSpPr txBox="1"/>
            <p:nvPr/>
          </p:nvSpPr>
          <p:spPr>
            <a:xfrm>
              <a:off x="375666" y="6077902"/>
              <a:ext cx="5104096" cy="205359"/>
            </a:xfrm>
            <a:prstGeom prst="rect">
              <a:avLst/>
            </a:prstGeom>
            <a:noFill/>
            <a:ln>
              <a:noFill/>
            </a:ln>
          </p:spPr>
          <p:txBody>
            <a:bodyPr wrap="none" lIns="0" tIns="0" rIns="0" bIns="0" anchor="t" anchorCtr="0">
              <a:spAutoFit/>
            </a:bodyPr>
            <a:lstStyle/>
            <a:p>
              <a:pPr algn="l"/>
              <a:r>
                <a:rPr lang="zh-CN" sz="1050" b="1" dirty="0">
                  <a:solidFill>
                    <a:srgbClr val="0E3F8C"/>
                  </a:solidFill>
                  <a:latin typeface="Arial"/>
                  <a:ea typeface="Microsoft YaHei"/>
                  <a:cs typeface="Arial"/>
                </a:rPr>
                <a:t>教师从四道候选题中选 1–2 题作为正式作业 · Instructor selects one or two</a:t>
              </a:r>
            </a:p>
          </p:txBody>
        </p:sp>
      </p:grpSp>
      <p:sp>
        <p:nvSpPr>
          <p:cNvPr id="44" name="TextBox 44"/>
          <p:cNvSpPr txBox="1"/>
          <p:nvPr/>
        </p:nvSpPr>
        <p:spPr>
          <a:xfrm>
            <a:off x="376238" y="6532245"/>
            <a:ext cx="9727567" cy="176212"/>
          </a:xfrm>
          <a:prstGeom prst="rect">
            <a:avLst/>
          </a:prstGeom>
          <a:noFill/>
          <a:ln>
            <a:noFill/>
          </a:ln>
        </p:spPr>
        <p:txBody>
          <a:bodyPr wrap="none" lIns="0" tIns="0" rIns="0" bIns="0" anchor="t" anchorCtr="0">
            <a:spAutoFit/>
          </a:bodyPr>
          <a:lstStyle/>
          <a:p>
            <a:pPr algn="l"/>
            <a:r>
              <a:rPr lang="en-US" sz="900" dirty="0">
                <a:solidFill>
                  <a:srgbClr val="4A5568"/>
                </a:solidFill>
                <a:latin typeface="Arial"/>
                <a:ea typeface="Arial"/>
                <a:cs typeface="Arial"/>
              </a:rPr>
              <a:t>Candidate questions — Master Prompt Sections 42/52; content limited to approved Slides 04–41. Brief grading points in embedded Notes; no answers shown on slide.</a:t>
            </a:r>
          </a:p>
        </p:txBody>
      </p:sp>
      <p:sp>
        <p:nvSpPr>
          <p:cNvPr id="45" name="TextBox 45"/>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en-US" sz="900" dirty="0">
                <a:solidFill>
                  <a:srgbClr val="4A5568"/>
                </a:solidFill>
                <a:latin typeface="Arial"/>
                <a:ea typeface="Arial"/>
                <a:cs typeface="Arial"/>
              </a:rPr>
              <a:t>42</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5"/>
          <p:cNvGrpSpPr/>
          <p:nvPr/>
        </p:nvGrpSpPr>
        <p:grpSpPr>
          <a:xfrm>
            <a:off x="0" y="0"/>
            <a:ext cx="12192000" cy="685800"/>
            <a:chOff x="0" y="0"/>
            <a:chExt cx="12192000" cy="685800"/>
          </a:xfrm>
        </p:grpSpPr>
        <p:sp>
          <p:nvSpPr>
            <p:cNvPr id="2" name="Rectangle 2"/>
            <p:cNvSpPr/>
            <p:nvPr/>
          </p:nvSpPr>
          <p:spPr>
            <a:xfrm>
              <a:off x="0" y="0"/>
              <a:ext cx="12192000" cy="685800"/>
            </a:xfrm>
            <a:prstGeom prst="rect">
              <a:avLst/>
            </a:prstGeom>
            <a:solidFill>
              <a:srgbClr val="0E3F8C"/>
            </a:solidFill>
            <a:ln>
              <a:noFill/>
            </a:ln>
          </p:spPr>
        </p:sp>
        <p:sp>
          <p:nvSpPr>
            <p:cNvPr id="3" name="TextBox 3"/>
            <p:cNvSpPr txBox="1"/>
            <p:nvPr/>
          </p:nvSpPr>
          <p:spPr>
            <a:xfrm>
              <a:off x="374142" y="282892"/>
              <a:ext cx="1873391"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核心术语 | Key Terms</a:t>
              </a:r>
            </a:p>
          </p:txBody>
        </p:sp>
        <p:sp>
          <p:nvSpPr>
            <p:cNvPr id="4" name="TextBox 4"/>
            <p:cNvSpPr txBox="1"/>
            <p:nvPr/>
          </p:nvSpPr>
          <p:spPr>
            <a:xfrm>
              <a:off x="9910267" y="299085"/>
              <a:ext cx="1906829" cy="234696"/>
            </a:xfrm>
            <a:prstGeom prst="rect">
              <a:avLst/>
            </a:prstGeom>
            <a:noFill/>
            <a:ln>
              <a:noFill/>
            </a:ln>
          </p:spPr>
          <p:txBody>
            <a:bodyPr wrap="none" lIns="0" tIns="0" rIns="0" bIns="0" anchor="t" anchorCtr="0">
              <a:spAutoFit/>
            </a:bodyPr>
            <a:lstStyle/>
            <a:p>
              <a:pPr algn="r"/>
              <a:r>
                <a:rPr lang="en-US" sz="1200" dirty="0">
                  <a:solidFill>
                    <a:srgbClr val="C7D7F2"/>
                  </a:solidFill>
                  <a:latin typeface="Arial"/>
                  <a:ea typeface="Arial"/>
                  <a:cs typeface="Arial"/>
                </a:rPr>
                <a:t>LECTURE 16 · SYNTHESIS</a:t>
              </a:r>
            </a:p>
          </p:txBody>
        </p:sp>
      </p:grpSp>
      <p:grpSp>
        <p:nvGrpSpPr>
          <p:cNvPr id="8" name="Group 8"/>
          <p:cNvGrpSpPr/>
          <p:nvPr/>
        </p:nvGrpSpPr>
        <p:grpSpPr>
          <a:xfrm>
            <a:off x="381000" y="914400"/>
            <a:ext cx="5194376" cy="357093"/>
            <a:chOff x="381000" y="914400"/>
            <a:chExt cx="5194376" cy="357093"/>
          </a:xfrm>
        </p:grpSpPr>
        <p:sp>
          <p:nvSpPr>
            <p:cNvPr id="6" name="Rectangle 6"/>
            <p:cNvSpPr/>
            <p:nvPr/>
          </p:nvSpPr>
          <p:spPr>
            <a:xfrm>
              <a:off x="381000" y="914400"/>
              <a:ext cx="57150" cy="266700"/>
            </a:xfrm>
            <a:prstGeom prst="roundRect">
              <a:avLst>
                <a:gd name="adj" fmla="val 50000"/>
              </a:avLst>
            </a:prstGeom>
            <a:solidFill>
              <a:srgbClr val="1E4FA8"/>
            </a:solidFill>
            <a:ln>
              <a:noFill/>
            </a:ln>
          </p:spPr>
        </p:sp>
        <p:sp>
          <p:nvSpPr>
            <p:cNvPr id="7" name="TextBox 7"/>
            <p:cNvSpPr txBox="1"/>
            <p:nvPr/>
          </p:nvSpPr>
          <p:spPr>
            <a:xfrm>
              <a:off x="544449" y="963454"/>
              <a:ext cx="5030927" cy="308039"/>
            </a:xfrm>
            <a:prstGeom prst="rect">
              <a:avLst/>
            </a:prstGeom>
            <a:noFill/>
            <a:ln>
              <a:noFill/>
            </a:ln>
          </p:spPr>
          <p:txBody>
            <a:bodyPr wrap="none" lIns="0" tIns="0" rIns="0" bIns="0" anchor="t" anchorCtr="0">
              <a:spAutoFit/>
            </a:bodyPr>
            <a:lstStyle/>
            <a:p>
              <a:pPr algn="l"/>
              <a:r>
                <a:rPr lang="zh-CN" sz="1580" b="1" dirty="0">
                  <a:solidFill>
                    <a:srgbClr val="0E3F8C"/>
                  </a:solidFill>
                  <a:latin typeface="Arial"/>
                  <a:ea typeface="Microsoft YaHei"/>
                  <a:cs typeface="Arial"/>
                </a:rPr>
                <a:t>三组术语字段收束共同框架、水文过程与碳—耦合概念</a:t>
              </a:r>
            </a:p>
          </p:txBody>
        </p:sp>
      </p:grpSp>
      <p:grpSp>
        <p:nvGrpSpPr>
          <p:cNvPr id="31" name="Group 31"/>
          <p:cNvGrpSpPr/>
          <p:nvPr/>
        </p:nvGrpSpPr>
        <p:grpSpPr>
          <a:xfrm>
            <a:off x="381000" y="1428750"/>
            <a:ext cx="3619500" cy="4438650"/>
            <a:chOff x="381000" y="1428750"/>
            <a:chExt cx="3619500" cy="4438650"/>
          </a:xfrm>
        </p:grpSpPr>
        <p:sp>
          <p:nvSpPr>
            <p:cNvPr id="9" name="Rectangle 9"/>
            <p:cNvSpPr/>
            <p:nvPr/>
          </p:nvSpPr>
          <p:spPr>
            <a:xfrm>
              <a:off x="381000" y="1428750"/>
              <a:ext cx="3619500" cy="4438650"/>
            </a:xfrm>
            <a:prstGeom prst="roundRect">
              <a:avLst>
                <a:gd name="adj" fmla="val 3158"/>
              </a:avLst>
            </a:prstGeom>
            <a:solidFill>
              <a:srgbClr val="F7F9FC"/>
            </a:solidFill>
            <a:ln w="9525">
              <a:solidFill>
                <a:srgbClr val="D6DCE5"/>
              </a:solidFill>
            </a:ln>
          </p:spPr>
        </p:sp>
        <p:sp>
          <p:nvSpPr>
            <p:cNvPr id="10" name="Rectangle 10"/>
            <p:cNvSpPr/>
            <p:nvPr/>
          </p:nvSpPr>
          <p:spPr>
            <a:xfrm>
              <a:off x="381000" y="1428750"/>
              <a:ext cx="3619500" cy="419100"/>
            </a:xfrm>
            <a:prstGeom prst="roundRect">
              <a:avLst>
                <a:gd name="adj" fmla="val 27273"/>
              </a:avLst>
            </a:prstGeom>
            <a:solidFill>
              <a:srgbClr val="0E3F8C"/>
            </a:solidFill>
            <a:ln>
              <a:noFill/>
            </a:ln>
          </p:spPr>
        </p:sp>
        <p:sp>
          <p:nvSpPr>
            <p:cNvPr id="11" name="Rectangle 11"/>
            <p:cNvSpPr/>
            <p:nvPr/>
          </p:nvSpPr>
          <p:spPr>
            <a:xfrm>
              <a:off x="381000" y="1638300"/>
              <a:ext cx="3619500" cy="209550"/>
            </a:xfrm>
            <a:prstGeom prst="rect">
              <a:avLst/>
            </a:prstGeom>
            <a:solidFill>
              <a:srgbClr val="0E3F8C"/>
            </a:solidFill>
            <a:ln>
              <a:noFill/>
            </a:ln>
          </p:spPr>
        </p:sp>
        <p:sp>
          <p:nvSpPr>
            <p:cNvPr id="12" name="TextBox 12"/>
            <p:cNvSpPr txBox="1"/>
            <p:nvPr/>
          </p:nvSpPr>
          <p:spPr>
            <a:xfrm>
              <a:off x="565785" y="1583531"/>
              <a:ext cx="1518415" cy="220028"/>
            </a:xfrm>
            <a:prstGeom prst="rect">
              <a:avLst/>
            </a:prstGeom>
            <a:noFill/>
            <a:ln>
              <a:noFill/>
            </a:ln>
          </p:spPr>
          <p:txBody>
            <a:bodyPr wrap="none" lIns="0" tIns="0" rIns="0" bIns="0" anchor="t" anchorCtr="0">
              <a:spAutoFit/>
            </a:bodyPr>
            <a:lstStyle/>
            <a:p>
              <a:pPr algn="l"/>
              <a:r>
                <a:rPr lang="zh-CN" sz="1120" b="1" dirty="0">
                  <a:solidFill>
                    <a:srgbClr val="FFFFFF"/>
                  </a:solidFill>
                  <a:latin typeface="Arial"/>
                  <a:ea typeface="Microsoft YaHei"/>
                  <a:cs typeface="Arial"/>
                </a:rPr>
                <a:t>共同框架 Framework</a:t>
              </a:r>
            </a:p>
          </p:txBody>
        </p:sp>
        <p:sp>
          <p:nvSpPr>
            <p:cNvPr id="13" name="TextBox 13"/>
            <p:cNvSpPr txBox="1"/>
            <p:nvPr/>
          </p:nvSpPr>
          <p:spPr>
            <a:xfrm>
              <a:off x="3344837" y="1607820"/>
              <a:ext cx="469925" cy="176212"/>
            </a:xfrm>
            <a:prstGeom prst="rect">
              <a:avLst/>
            </a:prstGeom>
            <a:noFill/>
            <a:ln>
              <a:noFill/>
            </a:ln>
          </p:spPr>
          <p:txBody>
            <a:bodyPr wrap="none" lIns="0" tIns="0" rIns="0" bIns="0" anchor="t" anchorCtr="0">
              <a:spAutoFit/>
            </a:bodyPr>
            <a:lstStyle/>
            <a:p>
              <a:pPr algn="r"/>
              <a:r>
                <a:rPr lang="en-US" sz="900" dirty="0">
                  <a:solidFill>
                    <a:srgbClr val="C7D7F2"/>
                  </a:solidFill>
                  <a:latin typeface="Arial"/>
                  <a:ea typeface="Arial"/>
                  <a:cs typeface="Arial"/>
                </a:rPr>
                <a:t>6 terms</a:t>
              </a:r>
            </a:p>
          </p:txBody>
        </p:sp>
        <p:sp>
          <p:nvSpPr>
            <p:cNvPr id="14" name="Rectangle 14"/>
            <p:cNvSpPr/>
            <p:nvPr/>
          </p:nvSpPr>
          <p:spPr>
            <a:xfrm>
              <a:off x="533400" y="2019300"/>
              <a:ext cx="57150" cy="57150"/>
            </a:xfrm>
            <a:prstGeom prst="rect">
              <a:avLst/>
            </a:prstGeom>
            <a:solidFill>
              <a:srgbClr val="3D7BD9"/>
            </a:solidFill>
            <a:ln>
              <a:noFill/>
            </a:ln>
          </p:spPr>
        </p:sp>
        <p:sp>
          <p:nvSpPr>
            <p:cNvPr id="15" name="TextBox 15"/>
            <p:cNvSpPr txBox="1"/>
            <p:nvPr/>
          </p:nvSpPr>
          <p:spPr>
            <a:xfrm>
              <a:off x="680656" y="1995726"/>
              <a:ext cx="1093399" cy="198025"/>
            </a:xfrm>
            <a:prstGeom prst="rect">
              <a:avLst/>
            </a:prstGeom>
            <a:noFill/>
            <a:ln>
              <a:noFill/>
            </a:ln>
          </p:spPr>
          <p:txBody>
            <a:bodyPr wrap="none" lIns="0" tIns="0" rIns="0" bIns="0" anchor="t" anchorCtr="0">
              <a:spAutoFit/>
            </a:bodyPr>
            <a:lstStyle/>
            <a:p>
              <a:pPr algn="l"/>
              <a:r>
                <a:rPr lang="en-US" sz="1010" b="1" dirty="0">
                  <a:solidFill>
                    <a:srgbClr val="0E3F8C"/>
                  </a:solidFill>
                  <a:latin typeface="Arial"/>
                  <a:ea typeface="Arial"/>
                  <a:cs typeface="Arial"/>
                </a:rPr>
                <a:t>Reservoir</a:t>
              </a:r>
              <a:r>
                <a:rPr lang="zh-CN" sz="1010" dirty="0">
                  <a:solidFill>
                    <a:srgbClr val="1A2230"/>
                  </a:solidFill>
                  <a:latin typeface="Arial"/>
                  <a:ea typeface="Microsoft YaHei"/>
                  <a:cs typeface="Arial"/>
                </a:rPr>
                <a:t xml:space="preserve">　储库</a:t>
              </a:r>
            </a:p>
          </p:txBody>
        </p:sp>
        <p:sp>
          <p:nvSpPr>
            <p:cNvPr id="16" name="Line 16"/>
            <p:cNvSpPr/>
            <p:nvPr/>
          </p:nvSpPr>
          <p:spPr>
            <a:xfrm>
              <a:off x="533400" y="2247900"/>
              <a:ext cx="3314700" cy="9525"/>
            </a:xfrm>
            <a:custGeom>
              <a:avLst/>
              <a:gdLst/>
              <a:ahLst/>
              <a:cxnLst/>
              <a:rect l="l" t="t" r="r" b="b"/>
              <a:pathLst>
                <a:path w="3314700" h="9525">
                  <a:moveTo>
                    <a:pt x="0" y="0"/>
                  </a:moveTo>
                  <a:lnTo>
                    <a:pt x="3314700" y="0"/>
                  </a:lnTo>
                </a:path>
              </a:pathLst>
            </a:custGeom>
            <a:noFill/>
            <a:ln w="9525">
              <a:solidFill>
                <a:srgbClr val="E8EEF6"/>
              </a:solidFill>
            </a:ln>
          </p:spPr>
        </p:sp>
        <p:sp>
          <p:nvSpPr>
            <p:cNvPr id="17" name="Rectangle 17"/>
            <p:cNvSpPr/>
            <p:nvPr/>
          </p:nvSpPr>
          <p:spPr>
            <a:xfrm>
              <a:off x="533400" y="2533650"/>
              <a:ext cx="57150" cy="57150"/>
            </a:xfrm>
            <a:prstGeom prst="rect">
              <a:avLst/>
            </a:prstGeom>
            <a:solidFill>
              <a:srgbClr val="3D7BD9"/>
            </a:solidFill>
            <a:ln>
              <a:noFill/>
            </a:ln>
          </p:spPr>
        </p:sp>
        <p:sp>
          <p:nvSpPr>
            <p:cNvPr id="18" name="TextBox 18"/>
            <p:cNvSpPr txBox="1"/>
            <p:nvPr/>
          </p:nvSpPr>
          <p:spPr>
            <a:xfrm>
              <a:off x="680656" y="2510076"/>
              <a:ext cx="700516" cy="198025"/>
            </a:xfrm>
            <a:prstGeom prst="rect">
              <a:avLst/>
            </a:prstGeom>
            <a:noFill/>
            <a:ln>
              <a:noFill/>
            </a:ln>
          </p:spPr>
          <p:txBody>
            <a:bodyPr wrap="none" lIns="0" tIns="0" rIns="0" bIns="0" anchor="t" anchorCtr="0">
              <a:spAutoFit/>
            </a:bodyPr>
            <a:lstStyle/>
            <a:p>
              <a:pPr algn="l"/>
              <a:r>
                <a:rPr lang="en-US" sz="1010" b="1" dirty="0">
                  <a:solidFill>
                    <a:srgbClr val="0E3F8C"/>
                  </a:solidFill>
                  <a:latin typeface="Arial"/>
                  <a:ea typeface="Arial"/>
                  <a:cs typeface="Arial"/>
                </a:rPr>
                <a:t>Flux</a:t>
              </a:r>
              <a:r>
                <a:rPr lang="zh-CN" sz="1010" dirty="0">
                  <a:solidFill>
                    <a:srgbClr val="1A2230"/>
                  </a:solidFill>
                  <a:latin typeface="Arial"/>
                  <a:ea typeface="Microsoft YaHei"/>
                  <a:cs typeface="Arial"/>
                </a:rPr>
                <a:t xml:space="preserve">　通量</a:t>
              </a:r>
            </a:p>
          </p:txBody>
        </p:sp>
        <p:sp>
          <p:nvSpPr>
            <p:cNvPr id="19" name="Line 19"/>
            <p:cNvSpPr/>
            <p:nvPr/>
          </p:nvSpPr>
          <p:spPr>
            <a:xfrm>
              <a:off x="533400" y="2762250"/>
              <a:ext cx="3314700" cy="9525"/>
            </a:xfrm>
            <a:custGeom>
              <a:avLst/>
              <a:gdLst/>
              <a:ahLst/>
              <a:cxnLst/>
              <a:rect l="l" t="t" r="r" b="b"/>
              <a:pathLst>
                <a:path w="3314700" h="9525">
                  <a:moveTo>
                    <a:pt x="0" y="0"/>
                  </a:moveTo>
                  <a:lnTo>
                    <a:pt x="3314700" y="0"/>
                  </a:lnTo>
                </a:path>
              </a:pathLst>
            </a:custGeom>
            <a:noFill/>
            <a:ln w="9525">
              <a:solidFill>
                <a:srgbClr val="E8EEF6"/>
              </a:solidFill>
            </a:ln>
          </p:spPr>
        </p:sp>
        <p:sp>
          <p:nvSpPr>
            <p:cNvPr id="20" name="Rectangle 20"/>
            <p:cNvSpPr/>
            <p:nvPr/>
          </p:nvSpPr>
          <p:spPr>
            <a:xfrm>
              <a:off x="533400" y="3048000"/>
              <a:ext cx="57150" cy="57150"/>
            </a:xfrm>
            <a:prstGeom prst="rect">
              <a:avLst/>
            </a:prstGeom>
            <a:solidFill>
              <a:srgbClr val="3D7BD9"/>
            </a:solidFill>
            <a:ln>
              <a:noFill/>
            </a:ln>
          </p:spPr>
        </p:sp>
        <p:sp>
          <p:nvSpPr>
            <p:cNvPr id="21" name="TextBox 21"/>
            <p:cNvSpPr txBox="1"/>
            <p:nvPr/>
          </p:nvSpPr>
          <p:spPr>
            <a:xfrm>
              <a:off x="680656" y="3024426"/>
              <a:ext cx="1719773" cy="198025"/>
            </a:xfrm>
            <a:prstGeom prst="rect">
              <a:avLst/>
            </a:prstGeom>
            <a:noFill/>
            <a:ln>
              <a:noFill/>
            </a:ln>
          </p:spPr>
          <p:txBody>
            <a:bodyPr wrap="none" lIns="0" tIns="0" rIns="0" bIns="0" anchor="t" anchorCtr="0">
              <a:spAutoFit/>
            </a:bodyPr>
            <a:lstStyle/>
            <a:p>
              <a:pPr algn="l"/>
              <a:r>
                <a:rPr lang="en-US" sz="1010" b="1" dirty="0">
                  <a:solidFill>
                    <a:srgbClr val="0E3F8C"/>
                  </a:solidFill>
                  <a:latin typeface="Arial"/>
                  <a:ea typeface="Arial"/>
                  <a:cs typeface="Arial"/>
                </a:rPr>
                <a:t>Residence Time</a:t>
              </a:r>
              <a:r>
                <a:rPr lang="zh-CN" sz="1010" dirty="0">
                  <a:solidFill>
                    <a:srgbClr val="1A2230"/>
                  </a:solidFill>
                  <a:latin typeface="Arial"/>
                  <a:ea typeface="Microsoft YaHei"/>
                  <a:cs typeface="Arial"/>
                </a:rPr>
                <a:t xml:space="preserve">　停留时间</a:t>
              </a:r>
            </a:p>
          </p:txBody>
        </p:sp>
        <p:sp>
          <p:nvSpPr>
            <p:cNvPr id="22" name="Line 22"/>
            <p:cNvSpPr/>
            <p:nvPr/>
          </p:nvSpPr>
          <p:spPr>
            <a:xfrm>
              <a:off x="533400" y="3276600"/>
              <a:ext cx="3314700" cy="9525"/>
            </a:xfrm>
            <a:custGeom>
              <a:avLst/>
              <a:gdLst/>
              <a:ahLst/>
              <a:cxnLst/>
              <a:rect l="l" t="t" r="r" b="b"/>
              <a:pathLst>
                <a:path w="3314700" h="9525">
                  <a:moveTo>
                    <a:pt x="0" y="0"/>
                  </a:moveTo>
                  <a:lnTo>
                    <a:pt x="3314700" y="0"/>
                  </a:lnTo>
                </a:path>
              </a:pathLst>
            </a:custGeom>
            <a:noFill/>
            <a:ln w="9525">
              <a:solidFill>
                <a:srgbClr val="E8EEF6"/>
              </a:solidFill>
            </a:ln>
          </p:spPr>
        </p:sp>
        <p:sp>
          <p:nvSpPr>
            <p:cNvPr id="23" name="Rectangle 23"/>
            <p:cNvSpPr/>
            <p:nvPr/>
          </p:nvSpPr>
          <p:spPr>
            <a:xfrm>
              <a:off x="533400" y="3562350"/>
              <a:ext cx="57150" cy="57150"/>
            </a:xfrm>
            <a:prstGeom prst="rect">
              <a:avLst/>
            </a:prstGeom>
            <a:solidFill>
              <a:srgbClr val="3D7BD9"/>
            </a:solidFill>
            <a:ln>
              <a:noFill/>
            </a:ln>
          </p:spPr>
        </p:sp>
        <p:sp>
          <p:nvSpPr>
            <p:cNvPr id="24" name="TextBox 24"/>
            <p:cNvSpPr txBox="1"/>
            <p:nvPr/>
          </p:nvSpPr>
          <p:spPr>
            <a:xfrm>
              <a:off x="680656" y="3538776"/>
              <a:ext cx="1050794" cy="198025"/>
            </a:xfrm>
            <a:prstGeom prst="rect">
              <a:avLst/>
            </a:prstGeom>
            <a:noFill/>
            <a:ln>
              <a:noFill/>
            </a:ln>
          </p:spPr>
          <p:txBody>
            <a:bodyPr wrap="none" lIns="0" tIns="0" rIns="0" bIns="0" anchor="t" anchorCtr="0">
              <a:spAutoFit/>
            </a:bodyPr>
            <a:lstStyle/>
            <a:p>
              <a:pPr algn="l"/>
              <a:r>
                <a:rPr lang="en-US" sz="1010" b="1" dirty="0">
                  <a:solidFill>
                    <a:srgbClr val="0E3F8C"/>
                  </a:solidFill>
                  <a:latin typeface="Arial"/>
                  <a:ea typeface="Arial"/>
                  <a:cs typeface="Arial"/>
                </a:rPr>
                <a:t>Feedback</a:t>
              </a:r>
              <a:r>
                <a:rPr lang="zh-CN" sz="1010" dirty="0">
                  <a:solidFill>
                    <a:srgbClr val="1A2230"/>
                  </a:solidFill>
                  <a:latin typeface="Arial"/>
                  <a:ea typeface="Microsoft YaHei"/>
                  <a:cs typeface="Arial"/>
                </a:rPr>
                <a:t xml:space="preserve">　反馈</a:t>
              </a:r>
            </a:p>
          </p:txBody>
        </p:sp>
        <p:sp>
          <p:nvSpPr>
            <p:cNvPr id="25" name="Line 25"/>
            <p:cNvSpPr/>
            <p:nvPr/>
          </p:nvSpPr>
          <p:spPr>
            <a:xfrm>
              <a:off x="533400" y="3790950"/>
              <a:ext cx="3314700" cy="9525"/>
            </a:xfrm>
            <a:custGeom>
              <a:avLst/>
              <a:gdLst/>
              <a:ahLst/>
              <a:cxnLst/>
              <a:rect l="l" t="t" r="r" b="b"/>
              <a:pathLst>
                <a:path w="3314700" h="9525">
                  <a:moveTo>
                    <a:pt x="0" y="0"/>
                  </a:moveTo>
                  <a:lnTo>
                    <a:pt x="3314700" y="0"/>
                  </a:lnTo>
                </a:path>
              </a:pathLst>
            </a:custGeom>
            <a:noFill/>
            <a:ln w="9525">
              <a:solidFill>
                <a:srgbClr val="E8EEF6"/>
              </a:solidFill>
            </a:ln>
          </p:spPr>
        </p:sp>
        <p:sp>
          <p:nvSpPr>
            <p:cNvPr id="26" name="Rectangle 26"/>
            <p:cNvSpPr/>
            <p:nvPr/>
          </p:nvSpPr>
          <p:spPr>
            <a:xfrm>
              <a:off x="533400" y="4076700"/>
              <a:ext cx="57150" cy="57150"/>
            </a:xfrm>
            <a:prstGeom prst="rect">
              <a:avLst/>
            </a:prstGeom>
            <a:solidFill>
              <a:srgbClr val="3D7BD9"/>
            </a:solidFill>
            <a:ln>
              <a:noFill/>
            </a:ln>
          </p:spPr>
        </p:sp>
        <p:sp>
          <p:nvSpPr>
            <p:cNvPr id="27" name="TextBox 27"/>
            <p:cNvSpPr txBox="1"/>
            <p:nvPr/>
          </p:nvSpPr>
          <p:spPr>
            <a:xfrm>
              <a:off x="680656" y="4053126"/>
              <a:ext cx="1790614" cy="198025"/>
            </a:xfrm>
            <a:prstGeom prst="rect">
              <a:avLst/>
            </a:prstGeom>
            <a:noFill/>
            <a:ln>
              <a:noFill/>
            </a:ln>
          </p:spPr>
          <p:txBody>
            <a:bodyPr wrap="none" lIns="0" tIns="0" rIns="0" bIns="0" anchor="t" anchorCtr="0">
              <a:spAutoFit/>
            </a:bodyPr>
            <a:lstStyle/>
            <a:p>
              <a:pPr algn="l"/>
              <a:r>
                <a:rPr lang="en-US" sz="1010" b="1" dirty="0">
                  <a:solidFill>
                    <a:srgbClr val="0E3F8C"/>
                  </a:solidFill>
                  <a:latin typeface="Arial"/>
                  <a:ea typeface="Arial"/>
                  <a:cs typeface="Arial"/>
                </a:rPr>
                <a:t>Positive Feedback</a:t>
              </a:r>
              <a:r>
                <a:rPr lang="zh-CN" sz="1010" dirty="0">
                  <a:solidFill>
                    <a:srgbClr val="1A2230"/>
                  </a:solidFill>
                  <a:latin typeface="Arial"/>
                  <a:ea typeface="Microsoft YaHei"/>
                  <a:cs typeface="Arial"/>
                </a:rPr>
                <a:t xml:space="preserve">　正反馈</a:t>
              </a:r>
            </a:p>
          </p:txBody>
        </p:sp>
        <p:sp>
          <p:nvSpPr>
            <p:cNvPr id="28" name="Line 28"/>
            <p:cNvSpPr/>
            <p:nvPr/>
          </p:nvSpPr>
          <p:spPr>
            <a:xfrm>
              <a:off x="533400" y="4305300"/>
              <a:ext cx="3314700" cy="9525"/>
            </a:xfrm>
            <a:custGeom>
              <a:avLst/>
              <a:gdLst/>
              <a:ahLst/>
              <a:cxnLst/>
              <a:rect l="l" t="t" r="r" b="b"/>
              <a:pathLst>
                <a:path w="3314700" h="9525">
                  <a:moveTo>
                    <a:pt x="0" y="0"/>
                  </a:moveTo>
                  <a:lnTo>
                    <a:pt x="3314700" y="0"/>
                  </a:lnTo>
                </a:path>
              </a:pathLst>
            </a:custGeom>
            <a:noFill/>
            <a:ln w="9525">
              <a:solidFill>
                <a:srgbClr val="E8EEF6"/>
              </a:solidFill>
            </a:ln>
          </p:spPr>
        </p:sp>
        <p:sp>
          <p:nvSpPr>
            <p:cNvPr id="29" name="Rectangle 29"/>
            <p:cNvSpPr/>
            <p:nvPr/>
          </p:nvSpPr>
          <p:spPr>
            <a:xfrm>
              <a:off x="533400" y="4591050"/>
              <a:ext cx="57150" cy="57150"/>
            </a:xfrm>
            <a:prstGeom prst="rect">
              <a:avLst/>
            </a:prstGeom>
            <a:solidFill>
              <a:srgbClr val="3D7BD9"/>
            </a:solidFill>
            <a:ln>
              <a:noFill/>
            </a:ln>
          </p:spPr>
        </p:sp>
        <p:sp>
          <p:nvSpPr>
            <p:cNvPr id="30" name="TextBox 30"/>
            <p:cNvSpPr txBox="1"/>
            <p:nvPr/>
          </p:nvSpPr>
          <p:spPr>
            <a:xfrm>
              <a:off x="680656" y="4567476"/>
              <a:ext cx="1826557" cy="198025"/>
            </a:xfrm>
            <a:prstGeom prst="rect">
              <a:avLst/>
            </a:prstGeom>
            <a:noFill/>
            <a:ln>
              <a:noFill/>
            </a:ln>
          </p:spPr>
          <p:txBody>
            <a:bodyPr wrap="none" lIns="0" tIns="0" rIns="0" bIns="0" anchor="t" anchorCtr="0">
              <a:spAutoFit/>
            </a:bodyPr>
            <a:lstStyle/>
            <a:p>
              <a:pPr algn="l"/>
              <a:r>
                <a:rPr lang="en-US" sz="1010" b="1" dirty="0">
                  <a:solidFill>
                    <a:srgbClr val="0E3F8C"/>
                  </a:solidFill>
                  <a:latin typeface="Arial"/>
                  <a:ea typeface="Arial"/>
                  <a:cs typeface="Arial"/>
                </a:rPr>
                <a:t>Negative Feedback</a:t>
              </a:r>
              <a:r>
                <a:rPr lang="zh-CN" sz="1010" dirty="0">
                  <a:solidFill>
                    <a:srgbClr val="1A2230"/>
                  </a:solidFill>
                  <a:latin typeface="Arial"/>
                  <a:ea typeface="Microsoft YaHei"/>
                  <a:cs typeface="Arial"/>
                </a:rPr>
                <a:t xml:space="preserve">　负反馈</a:t>
              </a:r>
            </a:p>
          </p:txBody>
        </p:sp>
      </p:grpSp>
      <p:grpSp>
        <p:nvGrpSpPr>
          <p:cNvPr id="57" name="Group 57"/>
          <p:cNvGrpSpPr/>
          <p:nvPr/>
        </p:nvGrpSpPr>
        <p:grpSpPr>
          <a:xfrm>
            <a:off x="4286250" y="1428750"/>
            <a:ext cx="3619500" cy="4438650"/>
            <a:chOff x="4286250" y="1428750"/>
            <a:chExt cx="3619500" cy="4438650"/>
          </a:xfrm>
        </p:grpSpPr>
        <p:sp>
          <p:nvSpPr>
            <p:cNvPr id="32" name="Rectangle 32"/>
            <p:cNvSpPr/>
            <p:nvPr/>
          </p:nvSpPr>
          <p:spPr>
            <a:xfrm>
              <a:off x="4286250" y="1428750"/>
              <a:ext cx="3619500" cy="4438650"/>
            </a:xfrm>
            <a:prstGeom prst="roundRect">
              <a:avLst>
                <a:gd name="adj" fmla="val 3158"/>
              </a:avLst>
            </a:prstGeom>
            <a:solidFill>
              <a:srgbClr val="F7F9FC"/>
            </a:solidFill>
            <a:ln w="9525">
              <a:solidFill>
                <a:srgbClr val="D6DCE5"/>
              </a:solidFill>
            </a:ln>
          </p:spPr>
        </p:sp>
        <p:sp>
          <p:nvSpPr>
            <p:cNvPr id="33" name="Rectangle 33"/>
            <p:cNvSpPr/>
            <p:nvPr/>
          </p:nvSpPr>
          <p:spPr>
            <a:xfrm>
              <a:off x="4286250" y="1428750"/>
              <a:ext cx="3619500" cy="419100"/>
            </a:xfrm>
            <a:prstGeom prst="roundRect">
              <a:avLst>
                <a:gd name="adj" fmla="val 27273"/>
              </a:avLst>
            </a:prstGeom>
            <a:solidFill>
              <a:srgbClr val="1E4FA8"/>
            </a:solidFill>
            <a:ln>
              <a:noFill/>
            </a:ln>
          </p:spPr>
        </p:sp>
        <p:sp>
          <p:nvSpPr>
            <p:cNvPr id="34" name="Rectangle 34"/>
            <p:cNvSpPr/>
            <p:nvPr/>
          </p:nvSpPr>
          <p:spPr>
            <a:xfrm>
              <a:off x="4286250" y="1638300"/>
              <a:ext cx="3619500" cy="209550"/>
            </a:xfrm>
            <a:prstGeom prst="rect">
              <a:avLst/>
            </a:prstGeom>
            <a:solidFill>
              <a:srgbClr val="1E4FA8"/>
            </a:solidFill>
            <a:ln>
              <a:noFill/>
            </a:ln>
          </p:spPr>
        </p:sp>
        <p:sp>
          <p:nvSpPr>
            <p:cNvPr id="35" name="TextBox 35"/>
            <p:cNvSpPr txBox="1"/>
            <p:nvPr/>
          </p:nvSpPr>
          <p:spPr>
            <a:xfrm>
              <a:off x="4471035" y="1583531"/>
              <a:ext cx="1975947" cy="220028"/>
            </a:xfrm>
            <a:prstGeom prst="rect">
              <a:avLst/>
            </a:prstGeom>
            <a:noFill/>
            <a:ln>
              <a:noFill/>
            </a:ln>
          </p:spPr>
          <p:txBody>
            <a:bodyPr wrap="none" lIns="0" tIns="0" rIns="0" bIns="0" anchor="t" anchorCtr="0">
              <a:spAutoFit/>
            </a:bodyPr>
            <a:lstStyle/>
            <a:p>
              <a:pPr algn="l"/>
              <a:r>
                <a:rPr lang="zh-CN" sz="1120" b="1" dirty="0">
                  <a:solidFill>
                    <a:srgbClr val="FFFFFF"/>
                  </a:solidFill>
                  <a:latin typeface="Arial"/>
                  <a:ea typeface="Microsoft YaHei"/>
                  <a:cs typeface="Arial"/>
                </a:rPr>
                <a:t>水文过程 Water Processes</a:t>
              </a:r>
            </a:p>
          </p:txBody>
        </p:sp>
        <p:sp>
          <p:nvSpPr>
            <p:cNvPr id="36" name="TextBox 36"/>
            <p:cNvSpPr txBox="1"/>
            <p:nvPr/>
          </p:nvSpPr>
          <p:spPr>
            <a:xfrm>
              <a:off x="7250087" y="1607820"/>
              <a:ext cx="469925" cy="176212"/>
            </a:xfrm>
            <a:prstGeom prst="rect">
              <a:avLst/>
            </a:prstGeom>
            <a:noFill/>
            <a:ln>
              <a:noFill/>
            </a:ln>
          </p:spPr>
          <p:txBody>
            <a:bodyPr wrap="none" lIns="0" tIns="0" rIns="0" bIns="0" anchor="t" anchorCtr="0">
              <a:spAutoFit/>
            </a:bodyPr>
            <a:lstStyle/>
            <a:p>
              <a:pPr algn="r"/>
              <a:r>
                <a:rPr lang="en-US" sz="900" dirty="0">
                  <a:solidFill>
                    <a:srgbClr val="C7D7F2"/>
                  </a:solidFill>
                  <a:latin typeface="Arial"/>
                  <a:ea typeface="Arial"/>
                  <a:cs typeface="Arial"/>
                </a:rPr>
                <a:t>7 terms</a:t>
              </a:r>
            </a:p>
          </p:txBody>
        </p:sp>
        <p:sp>
          <p:nvSpPr>
            <p:cNvPr id="37" name="Rectangle 37"/>
            <p:cNvSpPr/>
            <p:nvPr/>
          </p:nvSpPr>
          <p:spPr>
            <a:xfrm>
              <a:off x="4438650" y="2019300"/>
              <a:ext cx="57150" cy="57150"/>
            </a:xfrm>
            <a:prstGeom prst="rect">
              <a:avLst/>
            </a:prstGeom>
            <a:solidFill>
              <a:srgbClr val="3D7BD9"/>
            </a:solidFill>
            <a:ln>
              <a:noFill/>
            </a:ln>
          </p:spPr>
        </p:sp>
        <p:sp>
          <p:nvSpPr>
            <p:cNvPr id="38" name="TextBox 38"/>
            <p:cNvSpPr txBox="1"/>
            <p:nvPr/>
          </p:nvSpPr>
          <p:spPr>
            <a:xfrm>
              <a:off x="4585906" y="1995726"/>
              <a:ext cx="1812085" cy="198025"/>
            </a:xfrm>
            <a:prstGeom prst="rect">
              <a:avLst/>
            </a:prstGeom>
            <a:noFill/>
            <a:ln>
              <a:noFill/>
            </a:ln>
          </p:spPr>
          <p:txBody>
            <a:bodyPr wrap="none" lIns="0" tIns="0" rIns="0" bIns="0" anchor="t" anchorCtr="0">
              <a:spAutoFit/>
            </a:bodyPr>
            <a:lstStyle/>
            <a:p>
              <a:pPr algn="l"/>
              <a:r>
                <a:rPr lang="en-US" sz="1010" b="1" dirty="0">
                  <a:solidFill>
                    <a:srgbClr val="0E3F8C"/>
                  </a:solidFill>
                  <a:latin typeface="Arial"/>
                  <a:ea typeface="Arial"/>
                  <a:cs typeface="Arial"/>
                </a:rPr>
                <a:t>Hydrologic Cycle</a:t>
              </a:r>
              <a:r>
                <a:rPr lang="zh-CN" sz="1010" dirty="0">
                  <a:solidFill>
                    <a:srgbClr val="1A2230"/>
                  </a:solidFill>
                  <a:latin typeface="Arial"/>
                  <a:ea typeface="Microsoft YaHei"/>
                  <a:cs typeface="Arial"/>
                </a:rPr>
                <a:t xml:space="preserve">　水文循环</a:t>
              </a:r>
            </a:p>
          </p:txBody>
        </p:sp>
        <p:sp>
          <p:nvSpPr>
            <p:cNvPr id="39" name="Line 39"/>
            <p:cNvSpPr/>
            <p:nvPr/>
          </p:nvSpPr>
          <p:spPr>
            <a:xfrm>
              <a:off x="4438650" y="2247900"/>
              <a:ext cx="3314700" cy="9525"/>
            </a:xfrm>
            <a:custGeom>
              <a:avLst/>
              <a:gdLst/>
              <a:ahLst/>
              <a:cxnLst/>
              <a:rect l="l" t="t" r="r" b="b"/>
              <a:pathLst>
                <a:path w="3314700" h="9525">
                  <a:moveTo>
                    <a:pt x="0" y="0"/>
                  </a:moveTo>
                  <a:lnTo>
                    <a:pt x="3314700" y="0"/>
                  </a:lnTo>
                </a:path>
              </a:pathLst>
            </a:custGeom>
            <a:noFill/>
            <a:ln w="9525">
              <a:solidFill>
                <a:srgbClr val="E8EEF6"/>
              </a:solidFill>
            </a:ln>
          </p:spPr>
        </p:sp>
        <p:sp>
          <p:nvSpPr>
            <p:cNvPr id="40" name="Rectangle 40"/>
            <p:cNvSpPr/>
            <p:nvPr/>
          </p:nvSpPr>
          <p:spPr>
            <a:xfrm>
              <a:off x="4438650" y="2533650"/>
              <a:ext cx="57150" cy="57150"/>
            </a:xfrm>
            <a:prstGeom prst="rect">
              <a:avLst/>
            </a:prstGeom>
            <a:solidFill>
              <a:srgbClr val="3D7BD9"/>
            </a:solidFill>
            <a:ln>
              <a:noFill/>
            </a:ln>
          </p:spPr>
        </p:sp>
        <p:sp>
          <p:nvSpPr>
            <p:cNvPr id="41" name="TextBox 41"/>
            <p:cNvSpPr txBox="1"/>
            <p:nvPr/>
          </p:nvSpPr>
          <p:spPr>
            <a:xfrm>
              <a:off x="4585906" y="2510076"/>
              <a:ext cx="1250481" cy="198025"/>
            </a:xfrm>
            <a:prstGeom prst="rect">
              <a:avLst/>
            </a:prstGeom>
            <a:noFill/>
            <a:ln>
              <a:noFill/>
            </a:ln>
          </p:spPr>
          <p:txBody>
            <a:bodyPr wrap="none" lIns="0" tIns="0" rIns="0" bIns="0" anchor="t" anchorCtr="0">
              <a:spAutoFit/>
            </a:bodyPr>
            <a:lstStyle/>
            <a:p>
              <a:pPr algn="l"/>
              <a:r>
                <a:rPr lang="en-US" sz="1010" b="1" dirty="0">
                  <a:solidFill>
                    <a:srgbClr val="0E3F8C"/>
                  </a:solidFill>
                  <a:latin typeface="Arial"/>
                  <a:ea typeface="Arial"/>
                  <a:cs typeface="Arial"/>
                </a:rPr>
                <a:t>Evaporation</a:t>
              </a:r>
              <a:r>
                <a:rPr lang="zh-CN" sz="1010" dirty="0">
                  <a:solidFill>
                    <a:srgbClr val="1A2230"/>
                  </a:solidFill>
                  <a:latin typeface="Arial"/>
                  <a:ea typeface="Microsoft YaHei"/>
                  <a:cs typeface="Arial"/>
                </a:rPr>
                <a:t xml:space="preserve">　蒸发</a:t>
              </a:r>
            </a:p>
          </p:txBody>
        </p:sp>
        <p:sp>
          <p:nvSpPr>
            <p:cNvPr id="42" name="Line 42"/>
            <p:cNvSpPr/>
            <p:nvPr/>
          </p:nvSpPr>
          <p:spPr>
            <a:xfrm>
              <a:off x="4438650" y="2762250"/>
              <a:ext cx="3314700" cy="9525"/>
            </a:xfrm>
            <a:custGeom>
              <a:avLst/>
              <a:gdLst/>
              <a:ahLst/>
              <a:cxnLst/>
              <a:rect l="l" t="t" r="r" b="b"/>
              <a:pathLst>
                <a:path w="3314700" h="9525">
                  <a:moveTo>
                    <a:pt x="0" y="0"/>
                  </a:moveTo>
                  <a:lnTo>
                    <a:pt x="3314700" y="0"/>
                  </a:lnTo>
                </a:path>
              </a:pathLst>
            </a:custGeom>
            <a:noFill/>
            <a:ln w="9525">
              <a:solidFill>
                <a:srgbClr val="E8EEF6"/>
              </a:solidFill>
            </a:ln>
          </p:spPr>
        </p:sp>
        <p:sp>
          <p:nvSpPr>
            <p:cNvPr id="43" name="Rectangle 43"/>
            <p:cNvSpPr/>
            <p:nvPr/>
          </p:nvSpPr>
          <p:spPr>
            <a:xfrm>
              <a:off x="4438650" y="3048000"/>
              <a:ext cx="57150" cy="57150"/>
            </a:xfrm>
            <a:prstGeom prst="rect">
              <a:avLst/>
            </a:prstGeom>
            <a:solidFill>
              <a:srgbClr val="3D7BD9"/>
            </a:solidFill>
            <a:ln>
              <a:noFill/>
            </a:ln>
          </p:spPr>
        </p:sp>
        <p:sp>
          <p:nvSpPr>
            <p:cNvPr id="44" name="TextBox 44"/>
            <p:cNvSpPr txBox="1"/>
            <p:nvPr/>
          </p:nvSpPr>
          <p:spPr>
            <a:xfrm>
              <a:off x="4585906" y="3024426"/>
              <a:ext cx="1764392" cy="198025"/>
            </a:xfrm>
            <a:prstGeom prst="rect">
              <a:avLst/>
            </a:prstGeom>
            <a:noFill/>
            <a:ln>
              <a:noFill/>
            </a:ln>
          </p:spPr>
          <p:txBody>
            <a:bodyPr wrap="none" lIns="0" tIns="0" rIns="0" bIns="0" anchor="t" anchorCtr="0">
              <a:spAutoFit/>
            </a:bodyPr>
            <a:lstStyle/>
            <a:p>
              <a:pPr algn="l"/>
              <a:r>
                <a:rPr lang="en-US" sz="1010" b="1" dirty="0">
                  <a:solidFill>
                    <a:srgbClr val="0E3F8C"/>
                  </a:solidFill>
                  <a:latin typeface="Arial"/>
                  <a:ea typeface="Arial"/>
                  <a:cs typeface="Arial"/>
                </a:rPr>
                <a:t>Evapotranspiration</a:t>
              </a:r>
              <a:r>
                <a:rPr lang="zh-CN" sz="1010" dirty="0">
                  <a:solidFill>
                    <a:srgbClr val="1A2230"/>
                  </a:solidFill>
                  <a:latin typeface="Arial"/>
                  <a:ea typeface="Microsoft YaHei"/>
                  <a:cs typeface="Arial"/>
                </a:rPr>
                <a:t xml:space="preserve">　蒸散</a:t>
              </a:r>
            </a:p>
          </p:txBody>
        </p:sp>
        <p:sp>
          <p:nvSpPr>
            <p:cNvPr id="45" name="Line 45"/>
            <p:cNvSpPr/>
            <p:nvPr/>
          </p:nvSpPr>
          <p:spPr>
            <a:xfrm>
              <a:off x="4438650" y="3276600"/>
              <a:ext cx="3314700" cy="9525"/>
            </a:xfrm>
            <a:custGeom>
              <a:avLst/>
              <a:gdLst/>
              <a:ahLst/>
              <a:cxnLst/>
              <a:rect l="l" t="t" r="r" b="b"/>
              <a:pathLst>
                <a:path w="3314700" h="9525">
                  <a:moveTo>
                    <a:pt x="0" y="0"/>
                  </a:moveTo>
                  <a:lnTo>
                    <a:pt x="3314700" y="0"/>
                  </a:lnTo>
                </a:path>
              </a:pathLst>
            </a:custGeom>
            <a:noFill/>
            <a:ln w="9525">
              <a:solidFill>
                <a:srgbClr val="E8EEF6"/>
              </a:solidFill>
            </a:ln>
          </p:spPr>
        </p:sp>
        <p:sp>
          <p:nvSpPr>
            <p:cNvPr id="46" name="Rectangle 46"/>
            <p:cNvSpPr/>
            <p:nvPr/>
          </p:nvSpPr>
          <p:spPr>
            <a:xfrm>
              <a:off x="4438650" y="3562350"/>
              <a:ext cx="57150" cy="57150"/>
            </a:xfrm>
            <a:prstGeom prst="rect">
              <a:avLst/>
            </a:prstGeom>
            <a:solidFill>
              <a:srgbClr val="3D7BD9"/>
            </a:solidFill>
            <a:ln>
              <a:noFill/>
            </a:ln>
          </p:spPr>
        </p:sp>
        <p:sp>
          <p:nvSpPr>
            <p:cNvPr id="47" name="TextBox 47"/>
            <p:cNvSpPr txBox="1"/>
            <p:nvPr/>
          </p:nvSpPr>
          <p:spPr>
            <a:xfrm>
              <a:off x="4585906" y="3538776"/>
              <a:ext cx="893753" cy="198025"/>
            </a:xfrm>
            <a:prstGeom prst="rect">
              <a:avLst/>
            </a:prstGeom>
            <a:noFill/>
            <a:ln>
              <a:noFill/>
            </a:ln>
          </p:spPr>
          <p:txBody>
            <a:bodyPr wrap="none" lIns="0" tIns="0" rIns="0" bIns="0" anchor="t" anchorCtr="0">
              <a:spAutoFit/>
            </a:bodyPr>
            <a:lstStyle/>
            <a:p>
              <a:pPr algn="l"/>
              <a:r>
                <a:rPr lang="en-US" sz="1010" b="1" dirty="0">
                  <a:solidFill>
                    <a:srgbClr val="0E3F8C"/>
                  </a:solidFill>
                  <a:latin typeface="Arial"/>
                  <a:ea typeface="Arial"/>
                  <a:cs typeface="Arial"/>
                </a:rPr>
                <a:t>Runoff</a:t>
              </a:r>
              <a:r>
                <a:rPr lang="zh-CN" sz="1010" dirty="0">
                  <a:solidFill>
                    <a:srgbClr val="1A2230"/>
                  </a:solidFill>
                  <a:latin typeface="Arial"/>
                  <a:ea typeface="Microsoft YaHei"/>
                  <a:cs typeface="Arial"/>
                </a:rPr>
                <a:t xml:space="preserve">　径流</a:t>
              </a:r>
            </a:p>
          </p:txBody>
        </p:sp>
        <p:sp>
          <p:nvSpPr>
            <p:cNvPr id="48" name="Line 48"/>
            <p:cNvSpPr/>
            <p:nvPr/>
          </p:nvSpPr>
          <p:spPr>
            <a:xfrm>
              <a:off x="4438650" y="3790950"/>
              <a:ext cx="3314700" cy="9525"/>
            </a:xfrm>
            <a:custGeom>
              <a:avLst/>
              <a:gdLst/>
              <a:ahLst/>
              <a:cxnLst/>
              <a:rect l="l" t="t" r="r" b="b"/>
              <a:pathLst>
                <a:path w="3314700" h="9525">
                  <a:moveTo>
                    <a:pt x="0" y="0"/>
                  </a:moveTo>
                  <a:lnTo>
                    <a:pt x="3314700" y="0"/>
                  </a:lnTo>
                </a:path>
              </a:pathLst>
            </a:custGeom>
            <a:noFill/>
            <a:ln w="9525">
              <a:solidFill>
                <a:srgbClr val="E8EEF6"/>
              </a:solidFill>
            </a:ln>
          </p:spPr>
        </p:sp>
        <p:sp>
          <p:nvSpPr>
            <p:cNvPr id="49" name="Rectangle 49"/>
            <p:cNvSpPr/>
            <p:nvPr/>
          </p:nvSpPr>
          <p:spPr>
            <a:xfrm>
              <a:off x="4438650" y="4076700"/>
              <a:ext cx="57150" cy="57150"/>
            </a:xfrm>
            <a:prstGeom prst="rect">
              <a:avLst/>
            </a:prstGeom>
            <a:solidFill>
              <a:srgbClr val="3D7BD9"/>
            </a:solidFill>
            <a:ln>
              <a:noFill/>
            </a:ln>
          </p:spPr>
        </p:sp>
        <p:sp>
          <p:nvSpPr>
            <p:cNvPr id="50" name="TextBox 50"/>
            <p:cNvSpPr txBox="1"/>
            <p:nvPr/>
          </p:nvSpPr>
          <p:spPr>
            <a:xfrm>
              <a:off x="4585906" y="4053126"/>
              <a:ext cx="1221438" cy="198025"/>
            </a:xfrm>
            <a:prstGeom prst="rect">
              <a:avLst/>
            </a:prstGeom>
            <a:noFill/>
            <a:ln>
              <a:noFill/>
            </a:ln>
          </p:spPr>
          <p:txBody>
            <a:bodyPr wrap="none" lIns="0" tIns="0" rIns="0" bIns="0" anchor="t" anchorCtr="0">
              <a:spAutoFit/>
            </a:bodyPr>
            <a:lstStyle/>
            <a:p>
              <a:pPr algn="l"/>
              <a:r>
                <a:rPr lang="en-US" sz="1010" b="1" dirty="0">
                  <a:solidFill>
                    <a:srgbClr val="0E3F8C"/>
                  </a:solidFill>
                  <a:latin typeface="Arial"/>
                  <a:ea typeface="Arial"/>
                  <a:cs typeface="Arial"/>
                </a:rPr>
                <a:t>Infiltration</a:t>
              </a:r>
              <a:r>
                <a:rPr lang="zh-CN" sz="1010" dirty="0">
                  <a:solidFill>
                    <a:srgbClr val="1A2230"/>
                  </a:solidFill>
                  <a:latin typeface="Arial"/>
                  <a:ea typeface="Microsoft YaHei"/>
                  <a:cs typeface="Arial"/>
                </a:rPr>
                <a:t xml:space="preserve">　入渗</a:t>
              </a:r>
            </a:p>
          </p:txBody>
        </p:sp>
        <p:sp>
          <p:nvSpPr>
            <p:cNvPr id="51" name="Line 51"/>
            <p:cNvSpPr/>
            <p:nvPr/>
          </p:nvSpPr>
          <p:spPr>
            <a:xfrm>
              <a:off x="4438650" y="4305300"/>
              <a:ext cx="3314700" cy="9525"/>
            </a:xfrm>
            <a:custGeom>
              <a:avLst/>
              <a:gdLst/>
              <a:ahLst/>
              <a:cxnLst/>
              <a:rect l="l" t="t" r="r" b="b"/>
              <a:pathLst>
                <a:path w="3314700" h="9525">
                  <a:moveTo>
                    <a:pt x="0" y="0"/>
                  </a:moveTo>
                  <a:lnTo>
                    <a:pt x="3314700" y="0"/>
                  </a:lnTo>
                </a:path>
              </a:pathLst>
            </a:custGeom>
            <a:noFill/>
            <a:ln w="9525">
              <a:solidFill>
                <a:srgbClr val="E8EEF6"/>
              </a:solidFill>
            </a:ln>
          </p:spPr>
        </p:sp>
        <p:sp>
          <p:nvSpPr>
            <p:cNvPr id="52" name="Rectangle 52"/>
            <p:cNvSpPr/>
            <p:nvPr/>
          </p:nvSpPr>
          <p:spPr>
            <a:xfrm>
              <a:off x="4438650" y="4591050"/>
              <a:ext cx="57150" cy="57150"/>
            </a:xfrm>
            <a:prstGeom prst="rect">
              <a:avLst/>
            </a:prstGeom>
            <a:solidFill>
              <a:srgbClr val="3D7BD9"/>
            </a:solidFill>
            <a:ln>
              <a:noFill/>
            </a:ln>
          </p:spPr>
        </p:sp>
        <p:sp>
          <p:nvSpPr>
            <p:cNvPr id="53" name="TextBox 53"/>
            <p:cNvSpPr txBox="1"/>
            <p:nvPr/>
          </p:nvSpPr>
          <p:spPr>
            <a:xfrm>
              <a:off x="4585906" y="4567476"/>
              <a:ext cx="1451021" cy="198025"/>
            </a:xfrm>
            <a:prstGeom prst="rect">
              <a:avLst/>
            </a:prstGeom>
            <a:noFill/>
            <a:ln>
              <a:noFill/>
            </a:ln>
          </p:spPr>
          <p:txBody>
            <a:bodyPr wrap="none" lIns="0" tIns="0" rIns="0" bIns="0" anchor="t" anchorCtr="0">
              <a:spAutoFit/>
            </a:bodyPr>
            <a:lstStyle/>
            <a:p>
              <a:pPr algn="l"/>
              <a:r>
                <a:rPr lang="en-US" sz="1010" b="1" dirty="0">
                  <a:solidFill>
                    <a:srgbClr val="0E3F8C"/>
                  </a:solidFill>
                  <a:latin typeface="Arial"/>
                  <a:ea typeface="Arial"/>
                  <a:cs typeface="Arial"/>
                </a:rPr>
                <a:t>Groundwater</a:t>
              </a:r>
              <a:r>
                <a:rPr lang="zh-CN" sz="1010" dirty="0">
                  <a:solidFill>
                    <a:srgbClr val="1A2230"/>
                  </a:solidFill>
                  <a:latin typeface="Arial"/>
                  <a:ea typeface="Microsoft YaHei"/>
                  <a:cs typeface="Arial"/>
                </a:rPr>
                <a:t xml:space="preserve">　地下水</a:t>
              </a:r>
            </a:p>
          </p:txBody>
        </p:sp>
        <p:sp>
          <p:nvSpPr>
            <p:cNvPr id="54" name="Line 54"/>
            <p:cNvSpPr/>
            <p:nvPr/>
          </p:nvSpPr>
          <p:spPr>
            <a:xfrm>
              <a:off x="4438650" y="4819650"/>
              <a:ext cx="3314700" cy="9525"/>
            </a:xfrm>
            <a:custGeom>
              <a:avLst/>
              <a:gdLst/>
              <a:ahLst/>
              <a:cxnLst/>
              <a:rect l="l" t="t" r="r" b="b"/>
              <a:pathLst>
                <a:path w="3314700" h="9525">
                  <a:moveTo>
                    <a:pt x="0" y="0"/>
                  </a:moveTo>
                  <a:lnTo>
                    <a:pt x="3314700" y="0"/>
                  </a:lnTo>
                </a:path>
              </a:pathLst>
            </a:custGeom>
            <a:noFill/>
            <a:ln w="9525">
              <a:solidFill>
                <a:srgbClr val="E8EEF6"/>
              </a:solidFill>
            </a:ln>
          </p:spPr>
        </p:sp>
        <p:sp>
          <p:nvSpPr>
            <p:cNvPr id="55" name="Rectangle 55"/>
            <p:cNvSpPr/>
            <p:nvPr/>
          </p:nvSpPr>
          <p:spPr>
            <a:xfrm>
              <a:off x="4438650" y="5105400"/>
              <a:ext cx="57150" cy="57150"/>
            </a:xfrm>
            <a:prstGeom prst="rect">
              <a:avLst/>
            </a:prstGeom>
            <a:solidFill>
              <a:srgbClr val="3D7BD9"/>
            </a:solidFill>
            <a:ln>
              <a:noFill/>
            </a:ln>
          </p:spPr>
        </p:sp>
        <p:sp>
          <p:nvSpPr>
            <p:cNvPr id="56" name="TextBox 56"/>
            <p:cNvSpPr txBox="1"/>
            <p:nvPr/>
          </p:nvSpPr>
          <p:spPr>
            <a:xfrm>
              <a:off x="4585906" y="5081826"/>
              <a:ext cx="1343801" cy="198025"/>
            </a:xfrm>
            <a:prstGeom prst="rect">
              <a:avLst/>
            </a:prstGeom>
            <a:noFill/>
            <a:ln>
              <a:noFill/>
            </a:ln>
          </p:spPr>
          <p:txBody>
            <a:bodyPr wrap="none" lIns="0" tIns="0" rIns="0" bIns="0" anchor="t" anchorCtr="0">
              <a:spAutoFit/>
            </a:bodyPr>
            <a:lstStyle/>
            <a:p>
              <a:pPr algn="l"/>
              <a:r>
                <a:rPr lang="en-US" sz="1010" b="1" dirty="0">
                  <a:solidFill>
                    <a:srgbClr val="0E3F8C"/>
                  </a:solidFill>
                  <a:latin typeface="Arial"/>
                  <a:ea typeface="Arial"/>
                  <a:cs typeface="Arial"/>
                </a:rPr>
                <a:t>Cryosphere</a:t>
              </a:r>
              <a:r>
                <a:rPr lang="zh-CN" sz="1010" dirty="0">
                  <a:solidFill>
                    <a:srgbClr val="1A2230"/>
                  </a:solidFill>
                  <a:latin typeface="Arial"/>
                  <a:ea typeface="Microsoft YaHei"/>
                  <a:cs typeface="Arial"/>
                </a:rPr>
                <a:t xml:space="preserve">　冰冻圈</a:t>
              </a:r>
            </a:p>
          </p:txBody>
        </p:sp>
      </p:grpSp>
      <p:grpSp>
        <p:nvGrpSpPr>
          <p:cNvPr id="83" name="Group 83"/>
          <p:cNvGrpSpPr/>
          <p:nvPr/>
        </p:nvGrpSpPr>
        <p:grpSpPr>
          <a:xfrm>
            <a:off x="8191500" y="1428750"/>
            <a:ext cx="3619500" cy="4438650"/>
            <a:chOff x="8191500" y="1428750"/>
            <a:chExt cx="3619500" cy="4438650"/>
          </a:xfrm>
        </p:grpSpPr>
        <p:sp>
          <p:nvSpPr>
            <p:cNvPr id="58" name="Rectangle 58"/>
            <p:cNvSpPr/>
            <p:nvPr/>
          </p:nvSpPr>
          <p:spPr>
            <a:xfrm>
              <a:off x="8191500" y="1428750"/>
              <a:ext cx="3619500" cy="4438650"/>
            </a:xfrm>
            <a:prstGeom prst="roundRect">
              <a:avLst>
                <a:gd name="adj" fmla="val 3158"/>
              </a:avLst>
            </a:prstGeom>
            <a:solidFill>
              <a:srgbClr val="FDF4EF"/>
            </a:solidFill>
            <a:ln w="9525">
              <a:solidFill>
                <a:srgbClr val="F0CFC2"/>
              </a:solidFill>
            </a:ln>
          </p:spPr>
        </p:sp>
        <p:sp>
          <p:nvSpPr>
            <p:cNvPr id="59" name="Rectangle 59"/>
            <p:cNvSpPr/>
            <p:nvPr/>
          </p:nvSpPr>
          <p:spPr>
            <a:xfrm>
              <a:off x="8191500" y="1428750"/>
              <a:ext cx="3619500" cy="419100"/>
            </a:xfrm>
            <a:prstGeom prst="roundRect">
              <a:avLst>
                <a:gd name="adj" fmla="val 27273"/>
              </a:avLst>
            </a:prstGeom>
            <a:solidFill>
              <a:srgbClr val="EA580C"/>
            </a:solidFill>
            <a:ln>
              <a:noFill/>
            </a:ln>
          </p:spPr>
        </p:sp>
        <p:sp>
          <p:nvSpPr>
            <p:cNvPr id="60" name="Rectangle 60"/>
            <p:cNvSpPr/>
            <p:nvPr/>
          </p:nvSpPr>
          <p:spPr>
            <a:xfrm>
              <a:off x="8191500" y="1638300"/>
              <a:ext cx="3619500" cy="209550"/>
            </a:xfrm>
            <a:prstGeom prst="rect">
              <a:avLst/>
            </a:prstGeom>
            <a:solidFill>
              <a:srgbClr val="EA580C"/>
            </a:solidFill>
            <a:ln>
              <a:noFill/>
            </a:ln>
          </p:spPr>
        </p:sp>
        <p:sp>
          <p:nvSpPr>
            <p:cNvPr id="61" name="TextBox 61"/>
            <p:cNvSpPr txBox="1"/>
            <p:nvPr/>
          </p:nvSpPr>
          <p:spPr>
            <a:xfrm>
              <a:off x="8376285" y="1583531"/>
              <a:ext cx="1999886" cy="220028"/>
            </a:xfrm>
            <a:prstGeom prst="rect">
              <a:avLst/>
            </a:prstGeom>
            <a:noFill/>
            <a:ln>
              <a:noFill/>
            </a:ln>
          </p:spPr>
          <p:txBody>
            <a:bodyPr wrap="none" lIns="0" tIns="0" rIns="0" bIns="0" anchor="t" anchorCtr="0">
              <a:spAutoFit/>
            </a:bodyPr>
            <a:lstStyle/>
            <a:p>
              <a:pPr algn="l"/>
              <a:r>
                <a:rPr lang="zh-CN" sz="1120" b="1" dirty="0">
                  <a:solidFill>
                    <a:srgbClr val="FFFFFF"/>
                  </a:solidFill>
                  <a:latin typeface="Arial"/>
                  <a:ea typeface="Microsoft YaHei"/>
                  <a:cs typeface="Arial"/>
                </a:rPr>
                <a:t>碳与耦合 Carbon &amp; Coupling</a:t>
              </a:r>
            </a:p>
          </p:txBody>
        </p:sp>
        <p:sp>
          <p:nvSpPr>
            <p:cNvPr id="62" name="TextBox 62"/>
            <p:cNvSpPr txBox="1"/>
            <p:nvPr/>
          </p:nvSpPr>
          <p:spPr>
            <a:xfrm>
              <a:off x="11155337" y="1607820"/>
              <a:ext cx="469925" cy="176212"/>
            </a:xfrm>
            <a:prstGeom prst="rect">
              <a:avLst/>
            </a:prstGeom>
            <a:noFill/>
            <a:ln>
              <a:noFill/>
            </a:ln>
          </p:spPr>
          <p:txBody>
            <a:bodyPr wrap="none" lIns="0" tIns="0" rIns="0" bIns="0" anchor="t" anchorCtr="0">
              <a:spAutoFit/>
            </a:bodyPr>
            <a:lstStyle/>
            <a:p>
              <a:pPr algn="r"/>
              <a:r>
                <a:rPr lang="en-US" sz="900" dirty="0">
                  <a:solidFill>
                    <a:srgbClr val="FDECDD"/>
                  </a:solidFill>
                  <a:latin typeface="Arial"/>
                  <a:ea typeface="Arial"/>
                  <a:cs typeface="Arial"/>
                </a:rPr>
                <a:t>7 terms</a:t>
              </a:r>
            </a:p>
          </p:txBody>
        </p:sp>
        <p:sp>
          <p:nvSpPr>
            <p:cNvPr id="63" name="Rectangle 63"/>
            <p:cNvSpPr/>
            <p:nvPr/>
          </p:nvSpPr>
          <p:spPr>
            <a:xfrm>
              <a:off x="8343900" y="2019300"/>
              <a:ext cx="57150" cy="57150"/>
            </a:xfrm>
            <a:prstGeom prst="rect">
              <a:avLst/>
            </a:prstGeom>
            <a:solidFill>
              <a:srgbClr val="EA580C"/>
            </a:solidFill>
            <a:ln>
              <a:noFill/>
            </a:ln>
          </p:spPr>
        </p:sp>
        <p:sp>
          <p:nvSpPr>
            <p:cNvPr id="64" name="TextBox 64"/>
            <p:cNvSpPr txBox="1"/>
            <p:nvPr/>
          </p:nvSpPr>
          <p:spPr>
            <a:xfrm>
              <a:off x="8491156" y="1995726"/>
              <a:ext cx="1433978" cy="198025"/>
            </a:xfrm>
            <a:prstGeom prst="rect">
              <a:avLst/>
            </a:prstGeom>
            <a:noFill/>
            <a:ln>
              <a:noFill/>
            </a:ln>
          </p:spPr>
          <p:txBody>
            <a:bodyPr wrap="none" lIns="0" tIns="0" rIns="0" bIns="0" anchor="t" anchorCtr="0">
              <a:spAutoFit/>
            </a:bodyPr>
            <a:lstStyle/>
            <a:p>
              <a:pPr algn="l"/>
              <a:r>
                <a:rPr lang="en-US" sz="1010" b="1" dirty="0">
                  <a:solidFill>
                    <a:srgbClr val="C2410C"/>
                  </a:solidFill>
                  <a:latin typeface="Arial"/>
                  <a:ea typeface="Arial"/>
                  <a:cs typeface="Arial"/>
                </a:rPr>
                <a:t>Carbon Cycle</a:t>
              </a:r>
              <a:r>
                <a:rPr lang="zh-CN" sz="1010" dirty="0">
                  <a:solidFill>
                    <a:srgbClr val="1A2230"/>
                  </a:solidFill>
                  <a:latin typeface="Arial"/>
                  <a:ea typeface="Microsoft YaHei"/>
                  <a:cs typeface="Arial"/>
                </a:rPr>
                <a:t xml:space="preserve">　碳循环</a:t>
              </a:r>
            </a:p>
          </p:txBody>
        </p:sp>
        <p:sp>
          <p:nvSpPr>
            <p:cNvPr id="65" name="Line 65"/>
            <p:cNvSpPr/>
            <p:nvPr/>
          </p:nvSpPr>
          <p:spPr>
            <a:xfrm>
              <a:off x="8343900" y="2247900"/>
              <a:ext cx="3314700" cy="9525"/>
            </a:xfrm>
            <a:custGeom>
              <a:avLst/>
              <a:gdLst/>
              <a:ahLst/>
              <a:cxnLst/>
              <a:rect l="l" t="t" r="r" b="b"/>
              <a:pathLst>
                <a:path w="3314700" h="9525">
                  <a:moveTo>
                    <a:pt x="0" y="0"/>
                  </a:moveTo>
                  <a:lnTo>
                    <a:pt x="3314700" y="0"/>
                  </a:lnTo>
                </a:path>
              </a:pathLst>
            </a:custGeom>
            <a:noFill/>
            <a:ln w="9525">
              <a:solidFill>
                <a:srgbClr val="F6E2D8"/>
              </a:solidFill>
            </a:ln>
          </p:spPr>
        </p:sp>
        <p:sp>
          <p:nvSpPr>
            <p:cNvPr id="66" name="Rectangle 66"/>
            <p:cNvSpPr/>
            <p:nvPr/>
          </p:nvSpPr>
          <p:spPr>
            <a:xfrm>
              <a:off x="8343900" y="2533650"/>
              <a:ext cx="57150" cy="57150"/>
            </a:xfrm>
            <a:prstGeom prst="rect">
              <a:avLst/>
            </a:prstGeom>
            <a:solidFill>
              <a:srgbClr val="EA580C"/>
            </a:solidFill>
            <a:ln>
              <a:noFill/>
            </a:ln>
          </p:spPr>
        </p:sp>
        <p:sp>
          <p:nvSpPr>
            <p:cNvPr id="67" name="TextBox 67"/>
            <p:cNvSpPr txBox="1"/>
            <p:nvPr/>
          </p:nvSpPr>
          <p:spPr>
            <a:xfrm>
              <a:off x="8491156" y="2510076"/>
              <a:ext cx="1758014" cy="198025"/>
            </a:xfrm>
            <a:prstGeom prst="rect">
              <a:avLst/>
            </a:prstGeom>
            <a:noFill/>
            <a:ln>
              <a:noFill/>
            </a:ln>
          </p:spPr>
          <p:txBody>
            <a:bodyPr wrap="none" lIns="0" tIns="0" rIns="0" bIns="0" anchor="t" anchorCtr="0">
              <a:spAutoFit/>
            </a:bodyPr>
            <a:lstStyle/>
            <a:p>
              <a:pPr algn="l"/>
              <a:r>
                <a:rPr lang="en-US" sz="1010" b="1" dirty="0">
                  <a:solidFill>
                    <a:srgbClr val="C2410C"/>
                  </a:solidFill>
                  <a:latin typeface="Arial"/>
                  <a:ea typeface="Arial"/>
                  <a:cs typeface="Arial"/>
                </a:rPr>
                <a:t>Photosynthesis</a:t>
              </a:r>
              <a:r>
                <a:rPr lang="zh-CN" sz="1010" dirty="0">
                  <a:solidFill>
                    <a:srgbClr val="1A2230"/>
                  </a:solidFill>
                  <a:latin typeface="Arial"/>
                  <a:ea typeface="Microsoft YaHei"/>
                  <a:cs typeface="Arial"/>
                </a:rPr>
                <a:t xml:space="preserve">　光合作用</a:t>
              </a:r>
            </a:p>
          </p:txBody>
        </p:sp>
        <p:sp>
          <p:nvSpPr>
            <p:cNvPr id="68" name="Line 68"/>
            <p:cNvSpPr/>
            <p:nvPr/>
          </p:nvSpPr>
          <p:spPr>
            <a:xfrm>
              <a:off x="8343900" y="2762250"/>
              <a:ext cx="3314700" cy="9525"/>
            </a:xfrm>
            <a:custGeom>
              <a:avLst/>
              <a:gdLst/>
              <a:ahLst/>
              <a:cxnLst/>
              <a:rect l="l" t="t" r="r" b="b"/>
              <a:pathLst>
                <a:path w="3314700" h="9525">
                  <a:moveTo>
                    <a:pt x="0" y="0"/>
                  </a:moveTo>
                  <a:lnTo>
                    <a:pt x="3314700" y="0"/>
                  </a:lnTo>
                </a:path>
              </a:pathLst>
            </a:custGeom>
            <a:noFill/>
            <a:ln w="9525">
              <a:solidFill>
                <a:srgbClr val="F6E2D8"/>
              </a:solidFill>
            </a:ln>
          </p:spPr>
        </p:sp>
        <p:sp>
          <p:nvSpPr>
            <p:cNvPr id="69" name="Rectangle 69"/>
            <p:cNvSpPr/>
            <p:nvPr/>
          </p:nvSpPr>
          <p:spPr>
            <a:xfrm>
              <a:off x="8343900" y="3048000"/>
              <a:ext cx="57150" cy="57150"/>
            </a:xfrm>
            <a:prstGeom prst="rect">
              <a:avLst/>
            </a:prstGeom>
            <a:solidFill>
              <a:srgbClr val="EA580C"/>
            </a:solidFill>
            <a:ln>
              <a:noFill/>
            </a:ln>
          </p:spPr>
        </p:sp>
        <p:sp>
          <p:nvSpPr>
            <p:cNvPr id="70" name="TextBox 70"/>
            <p:cNvSpPr txBox="1"/>
            <p:nvPr/>
          </p:nvSpPr>
          <p:spPr>
            <a:xfrm>
              <a:off x="8491156" y="3024426"/>
              <a:ext cx="1214606" cy="198025"/>
            </a:xfrm>
            <a:prstGeom prst="rect">
              <a:avLst/>
            </a:prstGeom>
            <a:noFill/>
            <a:ln>
              <a:noFill/>
            </a:ln>
          </p:spPr>
          <p:txBody>
            <a:bodyPr wrap="none" lIns="0" tIns="0" rIns="0" bIns="0" anchor="t" anchorCtr="0">
              <a:spAutoFit/>
            </a:bodyPr>
            <a:lstStyle/>
            <a:p>
              <a:pPr algn="l"/>
              <a:r>
                <a:rPr lang="en-US" sz="1010" b="1" dirty="0">
                  <a:solidFill>
                    <a:srgbClr val="C2410C"/>
                  </a:solidFill>
                  <a:latin typeface="Arial"/>
                  <a:ea typeface="Arial"/>
                  <a:cs typeface="Arial"/>
                </a:rPr>
                <a:t>Respiration</a:t>
              </a:r>
              <a:r>
                <a:rPr lang="zh-CN" sz="1010" dirty="0">
                  <a:solidFill>
                    <a:srgbClr val="1A2230"/>
                  </a:solidFill>
                  <a:latin typeface="Arial"/>
                  <a:ea typeface="Microsoft YaHei"/>
                  <a:cs typeface="Arial"/>
                </a:rPr>
                <a:t xml:space="preserve">　呼吸</a:t>
              </a:r>
            </a:p>
          </p:txBody>
        </p:sp>
        <p:sp>
          <p:nvSpPr>
            <p:cNvPr id="71" name="Line 71"/>
            <p:cNvSpPr/>
            <p:nvPr/>
          </p:nvSpPr>
          <p:spPr>
            <a:xfrm>
              <a:off x="8343900" y="3276600"/>
              <a:ext cx="3314700" cy="9525"/>
            </a:xfrm>
            <a:custGeom>
              <a:avLst/>
              <a:gdLst/>
              <a:ahLst/>
              <a:cxnLst/>
              <a:rect l="l" t="t" r="r" b="b"/>
              <a:pathLst>
                <a:path w="3314700" h="9525">
                  <a:moveTo>
                    <a:pt x="0" y="0"/>
                  </a:moveTo>
                  <a:lnTo>
                    <a:pt x="3314700" y="0"/>
                  </a:lnTo>
                </a:path>
              </a:pathLst>
            </a:custGeom>
            <a:noFill/>
            <a:ln w="9525">
              <a:solidFill>
                <a:srgbClr val="F6E2D8"/>
              </a:solidFill>
            </a:ln>
          </p:spPr>
        </p:sp>
        <p:sp>
          <p:nvSpPr>
            <p:cNvPr id="72" name="Rectangle 72"/>
            <p:cNvSpPr/>
            <p:nvPr/>
          </p:nvSpPr>
          <p:spPr>
            <a:xfrm>
              <a:off x="8343900" y="3562350"/>
              <a:ext cx="57150" cy="57150"/>
            </a:xfrm>
            <a:prstGeom prst="rect">
              <a:avLst/>
            </a:prstGeom>
            <a:solidFill>
              <a:srgbClr val="EA580C"/>
            </a:solidFill>
            <a:ln>
              <a:noFill/>
            </a:ln>
          </p:spPr>
        </p:sp>
        <p:sp>
          <p:nvSpPr>
            <p:cNvPr id="73" name="TextBox 73"/>
            <p:cNvSpPr txBox="1"/>
            <p:nvPr/>
          </p:nvSpPr>
          <p:spPr>
            <a:xfrm>
              <a:off x="8491156" y="3538776"/>
              <a:ext cx="1200656" cy="198025"/>
            </a:xfrm>
            <a:prstGeom prst="rect">
              <a:avLst/>
            </a:prstGeom>
            <a:noFill/>
            <a:ln>
              <a:noFill/>
            </a:ln>
          </p:spPr>
          <p:txBody>
            <a:bodyPr wrap="none" lIns="0" tIns="0" rIns="0" bIns="0" anchor="t" anchorCtr="0">
              <a:spAutoFit/>
            </a:bodyPr>
            <a:lstStyle/>
            <a:p>
              <a:pPr algn="l"/>
              <a:r>
                <a:rPr lang="en-US" sz="1010" b="1" dirty="0">
                  <a:solidFill>
                    <a:srgbClr val="C2410C"/>
                  </a:solidFill>
                  <a:latin typeface="Arial"/>
                  <a:ea typeface="Arial"/>
                  <a:cs typeface="Arial"/>
                </a:rPr>
                <a:t>Weathering</a:t>
              </a:r>
              <a:r>
                <a:rPr lang="zh-CN" sz="1010" dirty="0">
                  <a:solidFill>
                    <a:srgbClr val="1A2230"/>
                  </a:solidFill>
                  <a:latin typeface="Arial"/>
                  <a:ea typeface="Microsoft YaHei"/>
                  <a:cs typeface="Arial"/>
                </a:rPr>
                <a:t xml:space="preserve">　风化</a:t>
              </a:r>
            </a:p>
          </p:txBody>
        </p:sp>
        <p:sp>
          <p:nvSpPr>
            <p:cNvPr id="74" name="Line 74"/>
            <p:cNvSpPr/>
            <p:nvPr/>
          </p:nvSpPr>
          <p:spPr>
            <a:xfrm>
              <a:off x="8343900" y="3790950"/>
              <a:ext cx="3314700" cy="9525"/>
            </a:xfrm>
            <a:custGeom>
              <a:avLst/>
              <a:gdLst/>
              <a:ahLst/>
              <a:cxnLst/>
              <a:rect l="l" t="t" r="r" b="b"/>
              <a:pathLst>
                <a:path w="3314700" h="9525">
                  <a:moveTo>
                    <a:pt x="0" y="0"/>
                  </a:moveTo>
                  <a:lnTo>
                    <a:pt x="3314700" y="0"/>
                  </a:lnTo>
                </a:path>
              </a:pathLst>
            </a:custGeom>
            <a:noFill/>
            <a:ln w="9525">
              <a:solidFill>
                <a:srgbClr val="F6E2D8"/>
              </a:solidFill>
            </a:ln>
          </p:spPr>
        </p:sp>
        <p:sp>
          <p:nvSpPr>
            <p:cNvPr id="75" name="Rectangle 75"/>
            <p:cNvSpPr/>
            <p:nvPr/>
          </p:nvSpPr>
          <p:spPr>
            <a:xfrm>
              <a:off x="8343900" y="4076700"/>
              <a:ext cx="57150" cy="57150"/>
            </a:xfrm>
            <a:prstGeom prst="rect">
              <a:avLst/>
            </a:prstGeom>
            <a:solidFill>
              <a:srgbClr val="EA580C"/>
            </a:solidFill>
            <a:ln>
              <a:noFill/>
            </a:ln>
          </p:spPr>
        </p:sp>
        <p:sp>
          <p:nvSpPr>
            <p:cNvPr id="76" name="TextBox 76"/>
            <p:cNvSpPr txBox="1"/>
            <p:nvPr/>
          </p:nvSpPr>
          <p:spPr>
            <a:xfrm>
              <a:off x="8491156" y="4053126"/>
              <a:ext cx="1265281" cy="198025"/>
            </a:xfrm>
            <a:prstGeom prst="rect">
              <a:avLst/>
            </a:prstGeom>
            <a:noFill/>
            <a:ln>
              <a:noFill/>
            </a:ln>
          </p:spPr>
          <p:txBody>
            <a:bodyPr wrap="none" lIns="0" tIns="0" rIns="0" bIns="0" anchor="t" anchorCtr="0">
              <a:spAutoFit/>
            </a:bodyPr>
            <a:lstStyle/>
            <a:p>
              <a:pPr algn="l"/>
              <a:r>
                <a:rPr lang="en-US" sz="1010" b="1" dirty="0">
                  <a:solidFill>
                    <a:srgbClr val="C2410C"/>
                  </a:solidFill>
                  <a:latin typeface="Arial"/>
                  <a:ea typeface="Arial"/>
                  <a:cs typeface="Arial"/>
                </a:rPr>
                <a:t>Carbonate</a:t>
              </a:r>
              <a:r>
                <a:rPr lang="zh-CN" sz="1010" dirty="0">
                  <a:solidFill>
                    <a:srgbClr val="1A2230"/>
                  </a:solidFill>
                  <a:latin typeface="Arial"/>
                  <a:ea typeface="Microsoft YaHei"/>
                  <a:cs typeface="Arial"/>
                </a:rPr>
                <a:t xml:space="preserve">　碳酸盐</a:t>
              </a:r>
            </a:p>
          </p:txBody>
        </p:sp>
        <p:sp>
          <p:nvSpPr>
            <p:cNvPr id="77" name="Line 77"/>
            <p:cNvSpPr/>
            <p:nvPr/>
          </p:nvSpPr>
          <p:spPr>
            <a:xfrm>
              <a:off x="8343900" y="4305300"/>
              <a:ext cx="3314700" cy="9525"/>
            </a:xfrm>
            <a:custGeom>
              <a:avLst/>
              <a:gdLst/>
              <a:ahLst/>
              <a:cxnLst/>
              <a:rect l="l" t="t" r="r" b="b"/>
              <a:pathLst>
                <a:path w="3314700" h="9525">
                  <a:moveTo>
                    <a:pt x="0" y="0"/>
                  </a:moveTo>
                  <a:lnTo>
                    <a:pt x="3314700" y="0"/>
                  </a:lnTo>
                </a:path>
              </a:pathLst>
            </a:custGeom>
            <a:noFill/>
            <a:ln w="9525">
              <a:solidFill>
                <a:srgbClr val="F6E2D8"/>
              </a:solidFill>
            </a:ln>
          </p:spPr>
        </p:sp>
        <p:sp>
          <p:nvSpPr>
            <p:cNvPr id="78" name="Rectangle 78"/>
            <p:cNvSpPr/>
            <p:nvPr/>
          </p:nvSpPr>
          <p:spPr>
            <a:xfrm>
              <a:off x="8343900" y="4591050"/>
              <a:ext cx="57150" cy="57150"/>
            </a:xfrm>
            <a:prstGeom prst="rect">
              <a:avLst/>
            </a:prstGeom>
            <a:solidFill>
              <a:srgbClr val="EA580C"/>
            </a:solidFill>
            <a:ln>
              <a:noFill/>
            </a:ln>
          </p:spPr>
        </p:sp>
        <p:sp>
          <p:nvSpPr>
            <p:cNvPr id="79" name="TextBox 79"/>
            <p:cNvSpPr txBox="1"/>
            <p:nvPr/>
          </p:nvSpPr>
          <p:spPr>
            <a:xfrm>
              <a:off x="8491156" y="4567476"/>
              <a:ext cx="1590368" cy="198025"/>
            </a:xfrm>
            <a:prstGeom prst="rect">
              <a:avLst/>
            </a:prstGeom>
            <a:noFill/>
            <a:ln>
              <a:noFill/>
            </a:ln>
          </p:spPr>
          <p:txBody>
            <a:bodyPr wrap="none" lIns="0" tIns="0" rIns="0" bIns="0" anchor="t" anchorCtr="0">
              <a:spAutoFit/>
            </a:bodyPr>
            <a:lstStyle/>
            <a:p>
              <a:pPr algn="l"/>
              <a:r>
                <a:rPr lang="en-US" sz="1010" b="1" dirty="0">
                  <a:solidFill>
                    <a:srgbClr val="C2410C"/>
                  </a:solidFill>
                  <a:latin typeface="Arial"/>
                  <a:ea typeface="Arial"/>
                  <a:cs typeface="Arial"/>
                </a:rPr>
                <a:t>Biological Pump</a:t>
              </a:r>
              <a:r>
                <a:rPr lang="zh-CN" sz="1010" dirty="0">
                  <a:solidFill>
                    <a:srgbClr val="1A2230"/>
                  </a:solidFill>
                  <a:latin typeface="Arial"/>
                  <a:ea typeface="Microsoft YaHei"/>
                  <a:cs typeface="Arial"/>
                </a:rPr>
                <a:t xml:space="preserve">　生物泵</a:t>
              </a:r>
            </a:p>
          </p:txBody>
        </p:sp>
        <p:sp>
          <p:nvSpPr>
            <p:cNvPr id="80" name="Line 80"/>
            <p:cNvSpPr/>
            <p:nvPr/>
          </p:nvSpPr>
          <p:spPr>
            <a:xfrm>
              <a:off x="8343900" y="4819650"/>
              <a:ext cx="3314700" cy="9525"/>
            </a:xfrm>
            <a:custGeom>
              <a:avLst/>
              <a:gdLst/>
              <a:ahLst/>
              <a:cxnLst/>
              <a:rect l="l" t="t" r="r" b="b"/>
              <a:pathLst>
                <a:path w="3314700" h="9525">
                  <a:moveTo>
                    <a:pt x="0" y="0"/>
                  </a:moveTo>
                  <a:lnTo>
                    <a:pt x="3314700" y="0"/>
                  </a:lnTo>
                </a:path>
              </a:pathLst>
            </a:custGeom>
            <a:noFill/>
            <a:ln w="9525">
              <a:solidFill>
                <a:srgbClr val="F6E2D8"/>
              </a:solidFill>
            </a:ln>
          </p:spPr>
        </p:sp>
        <p:sp>
          <p:nvSpPr>
            <p:cNvPr id="81" name="Rectangle 81"/>
            <p:cNvSpPr/>
            <p:nvPr/>
          </p:nvSpPr>
          <p:spPr>
            <a:xfrm>
              <a:off x="8343900" y="5105400"/>
              <a:ext cx="57150" cy="57150"/>
            </a:xfrm>
            <a:prstGeom prst="rect">
              <a:avLst/>
            </a:prstGeom>
            <a:solidFill>
              <a:srgbClr val="EA580C"/>
            </a:solidFill>
            <a:ln>
              <a:noFill/>
            </a:ln>
          </p:spPr>
        </p:sp>
        <p:sp>
          <p:nvSpPr>
            <p:cNvPr id="82" name="TextBox 82"/>
            <p:cNvSpPr txBox="1"/>
            <p:nvPr/>
          </p:nvSpPr>
          <p:spPr>
            <a:xfrm>
              <a:off x="8491156" y="5081826"/>
              <a:ext cx="1505287" cy="198025"/>
            </a:xfrm>
            <a:prstGeom prst="rect">
              <a:avLst/>
            </a:prstGeom>
            <a:noFill/>
            <a:ln>
              <a:noFill/>
            </a:ln>
          </p:spPr>
          <p:txBody>
            <a:bodyPr wrap="none" lIns="0" tIns="0" rIns="0" bIns="0" anchor="t" anchorCtr="0">
              <a:spAutoFit/>
            </a:bodyPr>
            <a:lstStyle/>
            <a:p>
              <a:pPr algn="l"/>
              <a:r>
                <a:rPr lang="en-US" sz="1010" b="1" dirty="0">
                  <a:solidFill>
                    <a:srgbClr val="C2410C"/>
                  </a:solidFill>
                  <a:latin typeface="Arial"/>
                  <a:ea typeface="Arial"/>
                  <a:cs typeface="Arial"/>
                </a:rPr>
                <a:t>Physical Pump</a:t>
              </a:r>
              <a:r>
                <a:rPr lang="zh-CN" sz="1010" dirty="0">
                  <a:solidFill>
                    <a:srgbClr val="1A2230"/>
                  </a:solidFill>
                  <a:latin typeface="Arial"/>
                  <a:ea typeface="Microsoft YaHei"/>
                  <a:cs typeface="Arial"/>
                </a:rPr>
                <a:t xml:space="preserve">　物理泵</a:t>
              </a:r>
            </a:p>
          </p:txBody>
        </p:sp>
      </p:grpSp>
      <p:grpSp>
        <p:nvGrpSpPr>
          <p:cNvPr id="86" name="Group 86"/>
          <p:cNvGrpSpPr/>
          <p:nvPr/>
        </p:nvGrpSpPr>
        <p:grpSpPr>
          <a:xfrm>
            <a:off x="375666" y="5905500"/>
            <a:ext cx="11435334" cy="377761"/>
            <a:chOff x="375666" y="5905500"/>
            <a:chExt cx="11435334" cy="377761"/>
          </a:xfrm>
        </p:grpSpPr>
        <p:sp>
          <p:nvSpPr>
            <p:cNvPr id="84" name="Line 84"/>
            <p:cNvSpPr/>
            <p:nvPr/>
          </p:nvSpPr>
          <p:spPr>
            <a:xfrm>
              <a:off x="381000" y="5905500"/>
              <a:ext cx="11430000" cy="9525"/>
            </a:xfrm>
            <a:custGeom>
              <a:avLst/>
              <a:gdLst/>
              <a:ahLst/>
              <a:cxnLst/>
              <a:rect l="l" t="t" r="r" b="b"/>
              <a:pathLst>
                <a:path w="11430000" h="9525">
                  <a:moveTo>
                    <a:pt x="0" y="0"/>
                  </a:moveTo>
                  <a:lnTo>
                    <a:pt x="11430000" y="0"/>
                  </a:lnTo>
                </a:path>
              </a:pathLst>
            </a:custGeom>
            <a:noFill/>
            <a:ln w="9525">
              <a:solidFill>
                <a:srgbClr val="D6DCE5"/>
              </a:solidFill>
            </a:ln>
          </p:spPr>
        </p:sp>
        <p:sp>
          <p:nvSpPr>
            <p:cNvPr id="85" name="TextBox 85"/>
            <p:cNvSpPr txBox="1"/>
            <p:nvPr/>
          </p:nvSpPr>
          <p:spPr>
            <a:xfrm>
              <a:off x="375666" y="6077902"/>
              <a:ext cx="5277760" cy="205359"/>
            </a:xfrm>
            <a:prstGeom prst="rect">
              <a:avLst/>
            </a:prstGeom>
            <a:noFill/>
            <a:ln>
              <a:noFill/>
            </a:ln>
          </p:spPr>
          <p:txBody>
            <a:bodyPr wrap="none" lIns="0" tIns="0" rIns="0" bIns="0" anchor="t" anchorCtr="0">
              <a:spAutoFit/>
            </a:bodyPr>
            <a:lstStyle/>
            <a:p>
              <a:pPr algn="l"/>
              <a:r>
                <a:rPr lang="zh-CN" sz="1050" b="1" dirty="0">
                  <a:solidFill>
                    <a:srgbClr val="0E3F8C"/>
                  </a:solidFill>
                  <a:latin typeface="Arial"/>
                  <a:ea typeface="Microsoft YaHei"/>
                  <a:cs typeface="Arial"/>
                </a:rPr>
                <a:t>英文术语以 UE 为准，中文以《地球系统与演变》为准 · UE English · CN Chinese</a:t>
              </a:r>
            </a:p>
          </p:txBody>
        </p:sp>
      </p:grpSp>
      <p:sp>
        <p:nvSpPr>
          <p:cNvPr id="87" name="TextBox 87"/>
          <p:cNvSpPr txBox="1"/>
          <p:nvPr/>
        </p:nvSpPr>
        <p:spPr>
          <a:xfrm>
            <a:off x="376238" y="6532245"/>
            <a:ext cx="8998167" cy="176212"/>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Locked bilingual vocabulary — UE 8e Chs.12/17; 地球系统与演变 Chs.3–4; Master Prompt Slide 43 list. Terms only; one-line reminders in embedded Notes.</a:t>
            </a:r>
          </a:p>
        </p:txBody>
      </p:sp>
      <p:sp>
        <p:nvSpPr>
          <p:cNvPr id="88" name="TextBox 88"/>
          <p:cNvSpPr txBox="1"/>
          <p:nvPr/>
        </p:nvSpPr>
        <p:spPr>
          <a:xfrm>
            <a:off x="11672964" y="6532245"/>
            <a:ext cx="142799" cy="176212"/>
          </a:xfrm>
          <a:prstGeom prst="rect">
            <a:avLst/>
          </a:prstGeom>
          <a:noFill/>
          <a:ln>
            <a:noFill/>
          </a:ln>
        </p:spPr>
        <p:txBody>
          <a:bodyPr wrap="none" lIns="0" tIns="0" rIns="0" bIns="0" anchor="t" anchorCtr="0">
            <a:spAutoFit/>
          </a:bodyPr>
          <a:lstStyle/>
          <a:p>
            <a:pPr algn="r"/>
            <a:r>
              <a:rPr lang="en-US" sz="900" dirty="0">
                <a:solidFill>
                  <a:srgbClr val="4A5568"/>
                </a:solidFill>
                <a:latin typeface="Arial"/>
                <a:ea typeface="Arial"/>
                <a:cs typeface="Arial"/>
              </a:rPr>
              <a:t>43</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PROD-W3-DOUBAO">
  <a:themeElements>
    <a:clrScheme name="PROD-W3-DOUBA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ROD-W3-DOUBA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ROD-W3-DOUBA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ROD-W3-DOUBAO">
  <a:themeElements>
    <a:clrScheme name="PROD-W3-DOUBA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ROD-W3-DOUBA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ROD-W3-DOUBA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4</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2026-09-15T01:56:24Z</dcterms:created>
  <dcterms:modified xsi:type="dcterms:W3CDTF">2026-09-15T01:56:24Z</dcterms:modified>
  <cp:category/>
  <cp:contentStatus/>
</cp:coreProperties>
</file>