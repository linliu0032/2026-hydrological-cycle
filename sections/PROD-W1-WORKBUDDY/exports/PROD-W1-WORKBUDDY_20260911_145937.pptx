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0"/>
  </p:notes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  <Relationship Id="rId1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部分我们用储库、通量和停留时间读完了水循环。进入第二部分之前，先说明为什么下一个主题是碳。课程位置很清楚：第二部分现在正式开始，把同一套语言用到碳循环上，第三部分再把水和碳放回同一个气候系统。这里不需要重新定义概念，储库、通量与停留时间这三个词直接沿用。碳的价值在于它同时连接气候、生命、海洋与岩石，它把温室效应、光合作用、海水溶解和岩石储存串在一条链条上。要提醒的是，碳循环不等于只看大气二氧化碳，大气只是其中一个环节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边这张图是本页唯一的数值来源，所有数字都取自这一张图，不与其它数据集混用。右边把这四个数值储库按自小而大排列：一、生物圈五百吉吨碳；二、大气八百三十；三、土壤一千五百；四、海洋三万八千。所以四个当中最小的是生物圈，大气排在它后面；相对海洋和土壤，两者都只是小储库，但大气并不是最小的那一个。沉积物和岩石圈作为单独的一组地质储库列在下方，图中没有给出它们的总量，因此只作定性描述，不参与上面的数值排序，它们才是量级最大的储库。由此得到本页的结论：碳主要储存在海洋、沉积物和岩石里，大气只是一个小储库；同时要记住，最大的储库并不意味着最快的响应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水和碳并排放。中间一列是共用的三个词：储库、通量和停留时间。前两行的表述方式两侧完全一样，水的储库和碳的储库都可以用同一句话来描述，通量也是如此。真正的差别出现在第三行。水循环里更新最快的是大气，最慢的是冰盖和深层地下水；碳循环里最快的是表层库，最慢的是沉积物与岩石。也就是说，两边都可以问"这个储库多久更新一次"，但答案的档位并不相同。具体数值与单位，分别见前面水循环部分的表格和教材图四之十五、图四之十六，本页不新建数值表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D-W1-WORKBUDD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D-W1-WORKBUDD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1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e66e7026df0aa33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3379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 为什么接下来讲碳？ | Why Carbon?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961474" y="299085"/>
              <a:ext cx="18556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PART II · 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895973" cy="357093"/>
            <a:chOff x="381000" y="914400"/>
            <a:chExt cx="6895973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73252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碳循环把气候、生命、海洋与岩石，接进与水循环同一套储库—通量框架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81000" y="1428750"/>
            <a:ext cx="5619750" cy="4800600"/>
            <a:chOff x="381000" y="1428750"/>
            <a:chExt cx="5619750" cy="4800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5619750" cy="48006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41604" y="1680210"/>
              <a:ext cx="20915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课程位置 | Course position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2747" y="1933099"/>
              <a:ext cx="31761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第二部分现在开始；先用同一套语言读完水，再读碳。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" y="2247900"/>
              <a:ext cx="5086350" cy="1162050"/>
            </a:xfrm>
            <a:prstGeom prst="roundRect">
              <a:avLst>
                <a:gd name="adj" fmla="val 9836"/>
              </a:avLst>
            </a:prstGeom>
            <a:solidFill>
              <a:srgbClr val="F0F5FC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781050" y="2619375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7858" y="27565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65504" y="2632710"/>
              <a:ext cx="16430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水循环 | Water Cycle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65885" y="2945606"/>
              <a:ext cx="2597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已完成 · 储库、通量与停留时间已建立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47700" y="3562350"/>
              <a:ext cx="5086350" cy="1162050"/>
            </a:xfrm>
            <a:prstGeom prst="roundRect">
              <a:avLst>
                <a:gd name="adj" fmla="val 9836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781050" y="393382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7858" y="40709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65504" y="3947160"/>
              <a:ext cx="17013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碳循环 | Carbon Cycle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5885" y="4260056"/>
              <a:ext cx="2597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 · 用同一套语言读碳的储库与路径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743450" y="3771900"/>
              <a:ext cx="685800" cy="247650"/>
            </a:xfrm>
            <a:prstGeom prst="roundRect">
              <a:avLst>
                <a:gd name="adj" fmla="val 3076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949469" y="38380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7700" y="4876800"/>
              <a:ext cx="5086350" cy="1162050"/>
            </a:xfrm>
            <a:prstGeom prst="roundRect">
              <a:avLst>
                <a:gd name="adj" fmla="val 9836"/>
              </a:avLst>
            </a:prstGeom>
            <a:solidFill>
              <a:srgbClr val="F0F5FC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781050" y="5248275"/>
              <a:ext cx="419100" cy="419100"/>
            </a:xfrm>
            <a:prstGeom prst="ellipse">
              <a:avLst/>
            </a:prstGeom>
            <a:solidFill>
              <a:srgbClr val="3D7BD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7858" y="53854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65504" y="5261610"/>
              <a:ext cx="30117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耦合与气候反馈 | Coupling &amp; Feedbacks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65885" y="5574506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接下来 · 把两个循环放回同一个气候系统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67450" y="1428750"/>
            <a:ext cx="5543550" cy="4800600"/>
            <a:chOff x="6267450" y="1428750"/>
            <a:chExt cx="5543550" cy="4800600"/>
          </a:xfrm>
        </p:grpSpPr>
        <p:sp>
          <p:nvSpPr>
            <p:cNvPr id="30" name="Rectangle 30"/>
            <p:cNvSpPr/>
            <p:nvPr/>
          </p:nvSpPr>
          <p:spPr>
            <a:xfrm>
              <a:off x="6267450" y="1428750"/>
              <a:ext cx="5543550" cy="4800600"/>
            </a:xfrm>
            <a:prstGeom prst="roundRect">
              <a:avLst>
                <a:gd name="adj" fmla="val 2381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28054" y="1680210"/>
              <a:ext cx="26726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沿用同一套语言 | Same framework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34150" y="1962150"/>
              <a:ext cx="1619250" cy="571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>
              <a:solidFill>
                <a:srgbClr val="F0CFC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87286" y="21074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储库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26842" y="2333149"/>
              <a:ext cx="6338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Reservoir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267700" y="1962150"/>
              <a:ext cx="1619250" cy="571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>
              <a:solidFill>
                <a:srgbClr val="F0CFC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920836" y="21074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41922" y="2333149"/>
              <a:ext cx="2708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Flux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001250" y="1962150"/>
              <a:ext cx="1619250" cy="571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>
              <a:solidFill>
                <a:srgbClr val="F0CFC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503611" y="21074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停留时间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30174" y="2333149"/>
              <a:ext cx="9614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Residence Time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28435" y="27360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碳再把它们连到四个领域：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534150" y="3009900"/>
              <a:ext cx="5143500" cy="457200"/>
            </a:xfrm>
            <a:prstGeom prst="roundRect">
              <a:avLst>
                <a:gd name="adj" fmla="val 20833"/>
              </a:avLst>
            </a:prstGeom>
            <a:solidFill>
              <a:schemeClr val="lt1"/>
            </a:solidFill>
            <a:ln w="9525">
              <a:solidFill>
                <a:srgbClr val="F0CFC2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724650" y="31813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66204" y="3166110"/>
              <a:ext cx="10988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气候 | Climate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94849" y="319039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连接温室效应与温度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534150" y="3562350"/>
              <a:ext cx="5143500" cy="457200"/>
            </a:xfrm>
            <a:prstGeom prst="roundRect">
              <a:avLst>
                <a:gd name="adj" fmla="val 20833"/>
              </a:avLst>
            </a:prstGeom>
            <a:solidFill>
              <a:schemeClr val="lt1"/>
            </a:solidFill>
            <a:ln w="9525">
              <a:solidFill>
                <a:srgbClr val="F0CFC2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6724650" y="37338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66204" y="3718560"/>
              <a:ext cx="830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生命 | Life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294849" y="37428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光合作用固定无机碳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534150" y="4114800"/>
              <a:ext cx="5143500" cy="457200"/>
            </a:xfrm>
            <a:prstGeom prst="roundRect">
              <a:avLst>
                <a:gd name="adj" fmla="val 20833"/>
              </a:avLst>
            </a:prstGeom>
            <a:solidFill>
              <a:schemeClr val="lt1"/>
            </a:solidFill>
            <a:ln w="9525">
              <a:solidFill>
                <a:srgbClr val="F0CFC2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6724650" y="42862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66204" y="4271010"/>
              <a:ext cx="9993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海洋 | Ocean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690631" y="429529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溶解并输送碳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534150" y="4667250"/>
              <a:ext cx="5143500" cy="457200"/>
            </a:xfrm>
            <a:prstGeom prst="roundRect">
              <a:avLst>
                <a:gd name="adj" fmla="val 20833"/>
              </a:avLst>
            </a:prstGeom>
            <a:solidFill>
              <a:schemeClr val="lt1"/>
            </a:solidFill>
            <a:ln w="9525">
              <a:solidFill>
                <a:srgbClr val="F0CFC2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6724650" y="48387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66204" y="4823460"/>
              <a:ext cx="965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岩石 | Rocks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294849" y="48477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长期储碳并返回地表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534150" y="5314950"/>
              <a:ext cx="5143500" cy="781050"/>
            </a:xfrm>
            <a:prstGeom prst="roundRect">
              <a:avLst>
                <a:gd name="adj" fmla="val 14634"/>
              </a:avLst>
            </a:prstGeom>
            <a:solidFill>
              <a:srgbClr val="FDECDD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75704" y="5471160"/>
              <a:ext cx="1482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Carbon ≠ CO₂ only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76085" y="5765006"/>
              <a:ext cx="21063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碳循环不等于只看大气 CO₂。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376238" y="6532245"/>
            <a:ext cx="501815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Ch.12, PDF pp.1204–1205; 地球系统与演变 Ch.4 §4.1, PDF pp.57–58.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3543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2.2 碳储存在哪里？ | Carbon Reservoirs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135040" cy="357093"/>
            <a:chOff x="381000" y="914400"/>
            <a:chExt cx="6135040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9715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碳主要储存在海洋、沉积物与岩石里；大气只是一个很小的储库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1000" y="1428750"/>
            <a:ext cx="6572250" cy="4800600"/>
            <a:chOff x="381000" y="1428750"/>
            <a:chExt cx="6572250" cy="4800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6572250" cy="48006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41604" y="1623060"/>
              <a:ext cx="145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证据图 | 单一数据集</a:t>
              </a: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rcRect l="0" t="0" r="0" b="32880"/>
            <a:stretch>
              <a:fillRect/>
            </a:stretch>
          </p:blipFill>
          <p:spPr>
            <a:xfrm>
              <a:off x="647700" y="1866900"/>
              <a:ext cx="6038850" cy="3371850"/>
            </a:xfrm>
            <a:prstGeom prst="rect">
              <a:avLst/>
            </a:prstGeom>
          </p:spPr>
        </p:pic>
        <p:sp>
          <p:nvSpPr>
            <p:cNvPr id="12" name="Rectangle 12"/>
            <p:cNvSpPr/>
            <p:nvPr/>
          </p:nvSpPr>
          <p:spPr>
            <a:xfrm>
              <a:off x="647700" y="5410200"/>
              <a:ext cx="6038850" cy="723900"/>
            </a:xfrm>
            <a:prstGeom prst="roundRect">
              <a:avLst>
                <a:gd name="adj" fmla="val 1315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4197" y="5609749"/>
              <a:ext cx="22500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本页数值单位：储库 Gt C（吉吨碳）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4197" y="5857399"/>
              <a:ext cx="42315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四个较小储库的数值取自这张图；沉积物与岩石未给出总量，只作定性。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219950" y="1428750"/>
            <a:ext cx="4591050" cy="4800600"/>
            <a:chOff x="7219950" y="1428750"/>
            <a:chExt cx="4591050" cy="4800600"/>
          </a:xfrm>
        </p:grpSpPr>
        <p:sp>
          <p:nvSpPr>
            <p:cNvPr id="16" name="Rectangle 16"/>
            <p:cNvSpPr/>
            <p:nvPr/>
          </p:nvSpPr>
          <p:spPr>
            <a:xfrm>
              <a:off x="7219950" y="1428750"/>
              <a:ext cx="4591050" cy="4800600"/>
            </a:xfrm>
            <a:prstGeom prst="roundRect">
              <a:avLst>
                <a:gd name="adj" fmla="val 2490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80554" y="1623060"/>
              <a:ext cx="26260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碳储库层级 | Reservoir hierarchy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81697" y="187594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自小而大排序（本页整理）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372350" y="2114550"/>
              <a:ext cx="4286250" cy="552450"/>
            </a:xfrm>
            <a:prstGeom prst="roundRect">
              <a:avLst>
                <a:gd name="adj" fmla="val 17241"/>
              </a:avLst>
            </a:prstGeom>
            <a:solidFill>
              <a:schemeClr val="lt1"/>
            </a:solidFill>
            <a:ln w="9525">
              <a:solidFill>
                <a:srgbClr val="F0CFC2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7458075" y="2247900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57903" y="23331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42504" y="2223135"/>
              <a:ext cx="14557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生物圈 | Biosphere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40715" y="2231231"/>
              <a:ext cx="652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500 Gt C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3647" y="24474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陆地植物与海洋生物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372350" y="2724150"/>
              <a:ext cx="4286250" cy="552450"/>
            </a:xfrm>
            <a:prstGeom prst="roundRect">
              <a:avLst>
                <a:gd name="adj" fmla="val 17241"/>
              </a:avLst>
            </a:prstGeom>
            <a:solidFill>
              <a:schemeClr val="lt1"/>
            </a:solidFill>
            <a:ln w="9525">
              <a:solidFill>
                <a:srgbClr val="F0CFC2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7458075" y="2857500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57903" y="29427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42504" y="2832735"/>
              <a:ext cx="1462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 | Atmosphere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40715" y="2840831"/>
              <a:ext cx="652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830 Gt 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43647" y="3057049"/>
              <a:ext cx="13271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大气中 CO₂ 所含的碳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372350" y="3333750"/>
              <a:ext cx="4286250" cy="552450"/>
            </a:xfrm>
            <a:prstGeom prst="roundRect">
              <a:avLst>
                <a:gd name="adj" fmla="val 17241"/>
              </a:avLst>
            </a:prstGeom>
            <a:solidFill>
              <a:schemeClr val="lt1"/>
            </a:solidFill>
            <a:ln w="9525">
              <a:solidFill>
                <a:srgbClr val="F0CFC2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7458075" y="3467100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57903" y="3552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42504" y="3442335"/>
              <a:ext cx="8792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土壤 | Soils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750357" y="3450431"/>
              <a:ext cx="7425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1500 Gt 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43647" y="366664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土壤中有机碳的储存空间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372350" y="3943350"/>
              <a:ext cx="4286250" cy="552450"/>
            </a:xfrm>
            <a:prstGeom prst="roundRect">
              <a:avLst>
                <a:gd name="adj" fmla="val 17241"/>
              </a:avLst>
            </a:prstGeom>
            <a:solidFill>
              <a:schemeClr val="lt1"/>
            </a:solidFill>
            <a:ln w="9525">
              <a:solidFill>
                <a:srgbClr val="F0CFC2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7458075" y="4076700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57903" y="41619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42504" y="4051935"/>
              <a:ext cx="9993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海洋 | Ocean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69641" y="4060031"/>
              <a:ext cx="923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38,000 Gt C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43647" y="427624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含海洋生物；表层库与深层库合计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7372350" y="466725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43406" y="4748451"/>
              <a:ext cx="215917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地质储库 | Geological reservoirs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06038" y="4756547"/>
              <a:ext cx="1781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4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定性描述，不参与上方数值排序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372350" y="4972050"/>
              <a:ext cx="4286250" cy="495300"/>
            </a:xfrm>
            <a:prstGeom prst="roundRect">
              <a:avLst>
                <a:gd name="adj" fmla="val 19231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7515225" y="5133975"/>
              <a:ext cx="171450" cy="171450"/>
            </a:xfrm>
            <a:prstGeom prst="ellipse">
              <a:avLst/>
            </a:prstGeom>
            <a:noFill/>
            <a:ln w="19050">
              <a:solidFill>
                <a:srgbClr val="7A4A33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842885" y="5060156"/>
              <a:ext cx="13039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沉积物 | Sediment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558704" y="50763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图中未给出总量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43838" y="5261372"/>
              <a:ext cx="152803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连接海洋与岩石的过渡储库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372350" y="5543550"/>
              <a:ext cx="4286250" cy="495300"/>
            </a:xfrm>
            <a:prstGeom prst="roundRect">
              <a:avLst>
                <a:gd name="adj" fmla="val 19231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7515225" y="5705475"/>
              <a:ext cx="171450" cy="171450"/>
            </a:xfrm>
            <a:prstGeom prst="ellipse">
              <a:avLst/>
            </a:prstGeom>
            <a:noFill/>
            <a:ln w="19050">
              <a:solidFill>
                <a:srgbClr val="7A4A33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842885" y="5631656"/>
              <a:ext cx="1532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岩石圈 | Lithosphere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558704" y="56478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图中未给出总量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43838" y="5832872"/>
              <a:ext cx="127495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化石有机碳与碳酸盐岩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376238" y="6532245"/>
            <a:ext cx="62949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Fig. 12.19, PDF p.1209 (Gt C); 地球系统与演变 Ch.4 §4.2、§4.5.1, PDF pp.58–64, 79–80.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66112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2.4 同样的语言，不同的时间尺度 | Same Framework, Different Timescales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773139" cy="357093"/>
            <a:chOff x="381000" y="914400"/>
            <a:chExt cx="6773139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6096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储库、通量与停留时间可以同时读水和碳，但两个循环的时钟并不相同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2247900"/>
            <a:ext cx="1352550" cy="2647950"/>
            <a:chOff x="381000" y="2247900"/>
            <a:chExt cx="1352550" cy="2647950"/>
          </a:xfrm>
        </p:grpSpPr>
        <p:sp>
          <p:nvSpPr>
            <p:cNvPr id="9" name="Rectangle 9"/>
            <p:cNvSpPr/>
            <p:nvPr/>
          </p:nvSpPr>
          <p:spPr>
            <a:xfrm>
              <a:off x="381000" y="2247900"/>
              <a:ext cx="1352550" cy="457200"/>
            </a:xfrm>
            <a:prstGeom prst="roundRect">
              <a:avLst>
                <a:gd name="adj" fmla="val 20833"/>
              </a:avLst>
            </a:prstGeom>
            <a:solidFill>
              <a:srgbClr val="F0F5FC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0786" y="23169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储库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0342" y="2504599"/>
              <a:ext cx="6338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Reservoir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1000" y="3200400"/>
              <a:ext cx="1352550" cy="457200"/>
            </a:xfrm>
            <a:prstGeom prst="roundRect">
              <a:avLst>
                <a:gd name="adj" fmla="val 20833"/>
              </a:avLst>
            </a:prstGeom>
            <a:solidFill>
              <a:srgbClr val="F0F5FC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0786" y="32694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通量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1872" y="3457099"/>
              <a:ext cx="2708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Flux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81000" y="4438650"/>
              <a:ext cx="1352550" cy="457200"/>
            </a:xfrm>
            <a:prstGeom prst="roundRect">
              <a:avLst>
                <a:gd name="adj" fmla="val 20833"/>
              </a:avLst>
            </a:prstGeom>
            <a:solidFill>
              <a:srgbClr val="F0F5FC"/>
            </a:solidFill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0011" y="45077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停留时间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6574" y="4695349"/>
              <a:ext cx="9614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Residence Time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962150" y="1428750"/>
            <a:ext cx="4810125" cy="3924300"/>
            <a:chOff x="1962150" y="1428750"/>
            <a:chExt cx="4810125" cy="3924300"/>
          </a:xfrm>
        </p:grpSpPr>
        <p:sp>
          <p:nvSpPr>
            <p:cNvPr id="19" name="Rectangle 19"/>
            <p:cNvSpPr/>
            <p:nvPr/>
          </p:nvSpPr>
          <p:spPr>
            <a:xfrm>
              <a:off x="1962150" y="1428750"/>
              <a:ext cx="4810125" cy="495300"/>
            </a:xfrm>
            <a:prstGeom prst="roundRect">
              <a:avLst>
                <a:gd name="adj" fmla="val 23077"/>
              </a:avLst>
            </a:prstGeom>
            <a:solidFill>
              <a:srgbClr val="F0F5FC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164842" y="1606868"/>
              <a:ext cx="18484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水循环 | Water Cycle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962150" y="2038350"/>
              <a:ext cx="4810125" cy="8382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165985" y="2221706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水分布在大气、海洋、冰雪、地下水与生命体中。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66747" y="2466499"/>
              <a:ext cx="23036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Reservoir — where water is stored.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962150" y="2990850"/>
              <a:ext cx="4810125" cy="8382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165985" y="317420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水靠蒸发、大气输送、降水、径流与下渗迁移。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66747" y="3418999"/>
              <a:ext cx="20794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Flux — how fast material moves.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962150" y="3943350"/>
              <a:ext cx="4810125" cy="1409700"/>
            </a:xfrm>
            <a:prstGeom prst="roundRect">
              <a:avLst>
                <a:gd name="adj" fmla="val 810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165985" y="412670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同一个循环里，不同储库的更新速度相差很大。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66747" y="4581049"/>
              <a:ext cx="8554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最快 Fastest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328035" y="45648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66747" y="4885849"/>
              <a:ext cx="8484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最慢 Slowest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28035" y="48696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冰盖、深层地下水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000875" y="1428750"/>
            <a:ext cx="4810125" cy="3924300"/>
            <a:chOff x="7000875" y="1428750"/>
            <a:chExt cx="4810125" cy="3924300"/>
          </a:xfrm>
        </p:grpSpPr>
        <p:sp>
          <p:nvSpPr>
            <p:cNvPr id="34" name="Rectangle 34"/>
            <p:cNvSpPr/>
            <p:nvPr/>
          </p:nvSpPr>
          <p:spPr>
            <a:xfrm>
              <a:off x="7000875" y="1428750"/>
              <a:ext cx="4810125" cy="495300"/>
            </a:xfrm>
            <a:prstGeom prst="roundRect">
              <a:avLst>
                <a:gd name="adj" fmla="val 23077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03567" y="1606868"/>
              <a:ext cx="1914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碳循环 | Carbon Cycle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000875" y="2038350"/>
              <a:ext cx="4810125" cy="8382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04710" y="2221706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碳存在于大气、生物圈、土壤、海洋、沉积物与岩石中。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05472" y="2466499"/>
              <a:ext cx="23497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Reservoir — where carbon is stored.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000875" y="2990850"/>
              <a:ext cx="4810125" cy="8382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04710" y="317420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碳靠光合、呼吸、海气交换、风化与埋藏迁移。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05472" y="3418999"/>
              <a:ext cx="20794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Flux — how fast material moves.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000875" y="3943350"/>
              <a:ext cx="4810125" cy="1409700"/>
            </a:xfrm>
            <a:prstGeom prst="roundRect">
              <a:avLst>
                <a:gd name="adj" fmla="val 810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04710" y="4126706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同一个循环里，表层库较快，沉积物与岩石最慢。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5472" y="4581049"/>
              <a:ext cx="8554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最快 Fastest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66760" y="4564856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表层库（大气—生物圈—表层海）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05472" y="4885849"/>
              <a:ext cx="8484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最慢 Slowest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66760" y="48696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沉积物与岩石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81000" y="5505450"/>
            <a:ext cx="11430000" cy="723900"/>
            <a:chOff x="381000" y="5505450"/>
            <a:chExt cx="11430000" cy="723900"/>
          </a:xfrm>
        </p:grpSpPr>
        <p:sp>
          <p:nvSpPr>
            <p:cNvPr id="49" name="Rectangle 49"/>
            <p:cNvSpPr/>
            <p:nvPr/>
          </p:nvSpPr>
          <p:spPr>
            <a:xfrm>
              <a:off x="381000" y="5505450"/>
              <a:ext cx="11430000" cy="723900"/>
            </a:xfrm>
            <a:prstGeom prst="roundRect">
              <a:avLst>
                <a:gd name="adj" fmla="val 15789"/>
              </a:avLst>
            </a:prstGeom>
            <a:solidFill>
              <a:srgbClr val="FDECDD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03504" y="5661660"/>
              <a:ext cx="46230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同一套语言，不同的时钟 | Same language, different clocks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3885" y="5917406"/>
              <a:ext cx="78140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两边都要问“这个储库多久更新一次”，但答案的档位不同；具体数值与单位见第 08 页表 3-1 与教材图 4-15、4-16。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376238" y="6532245"/>
            <a:ext cx="611893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Ch.12, PDF pp.1205–1206, 1209–1213; 地球系统与演变 Fig. 4-15 / 4-16, PDF pp.78–80.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D-W1-WORKBUDDY">
  <a:themeElements>
    <a:clrScheme name="PROD-W1-WORKBUDDY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PROD-W1-WORKBUDD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1-WORKBUD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ROD-W1-WORKBUDDY">
  <a:themeElements>
    <a:clrScheme name="PROD-W1-WORKBUDDY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PROD-W1-WORKBUDD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1-WORKBUD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2026-09-11T06:59:42Z</dcterms:created>
  <dcterms:modified xsi:type="dcterms:W3CDTF">2026-09-11T06:59:42Z</dcterms:modified>
  <cp:category/>
  <cp:contentStatus/>
</cp:coreProperties>
</file>