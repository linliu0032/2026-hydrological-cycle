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0"/>
  </p:notes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  <Relationship Id="rId10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一部分我们用储库、通量和停留时间读完了水循环。进入第二部分之前，先说明为什么下一个主题是碳。课程位置很清楚：第二部分现在正式开始，把同一套语言用到碳循环上，第三部分再把水和碳放回同一个气候系统。这里不需要重新定义概念，储库、通量与停留时间这三个词直接沿用。碳的价值在于它同时连接气候、生命、海洋与岩石，它把温室效应、光合作用、海水溶解和岩石储存串在一条链条上。要提醒的是，碳循环不等于只看大气二氧化碳，大气只是其中一个环节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左边这张图是本页唯一的数值来源，所有数字都取自这一张图，不与其它数据集混用。右边的层级自小而大排列，依次是大气、生物圈、土壤、海洋、沉积物和岩石圈。图上印出的四个数值是：大气八百三十吉吨碳，生物圈五百，土壤一千五百，海洋三万八千。沉积物和岩石圈这两层在图中没有给出总量，但它们仍然是量级最大的储库，所以本页只对它们作定性描述。由此得到本页的结论：碳主要储存在海洋、沉积物和岩石里，大气只是一个很小的储库；同时要记住，最大的储库并不意味着最快的响应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把水和碳并排放。中间一列是共用的三个词：储库、通量和停留时间。前两行的表述方式两侧完全一样，水的储库和碳的储库都可以用同一句话来描述，通量也是如此。真正的差别出现在第三行。水循环里更新最快的是大气，最慢的是冰盖和深层地下水；碳循环里最快的是表层库，最慢的是沉积物与岩石。也就是说，两边都可以问"这个储库多久更新一次"，但答案的档位并不相同。具体数值与单位，分别见前面水循环部分的表格和教材图四之十五、图四之十六，本页不新建数值表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PROD-W1-WORKBUDDY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PROD-W1-WORKBUDDY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15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e66e7026df0aa33.png"/>
  <Relationship Id="rId3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"/>
            <a:chOff x="0" y="0"/>
            <a:chExt cx="12192000" cy="6858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374142" y="282892"/>
              <a:ext cx="33799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2.1 为什么接下来讲碳？ | Why Carbon?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961474" y="299085"/>
              <a:ext cx="18556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C7D7F2"/>
                  </a:solidFill>
                  <a:latin typeface="+mn-lt"/>
                  <a:ea typeface="+mn-ea"/>
                  <a:cs typeface="+mn-cs"/>
                </a:rPr>
                <a:t>PART II · CARBON CYCLE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1000" y="914400"/>
            <a:ext cx="6895973" cy="357093"/>
            <a:chOff x="381000" y="914400"/>
            <a:chExt cx="6895973" cy="357093"/>
          </a:xfrm>
        </p:grpSpPr>
        <p:sp>
          <p:nvSpPr>
            <p:cNvPr id="6" name="Rectangle 6"/>
            <p:cNvSpPr/>
            <p:nvPr/>
          </p:nvSpPr>
          <p:spPr>
            <a:xfrm>
              <a:off x="381000" y="914400"/>
              <a:ext cx="57150" cy="2667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44449" y="963454"/>
              <a:ext cx="673252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碳循环把气候、生命、海洋与岩石，接进与水循环同一套储库—通量框架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381000" y="1428750"/>
            <a:ext cx="5619750" cy="4800600"/>
            <a:chOff x="381000" y="1428750"/>
            <a:chExt cx="5619750" cy="4800600"/>
          </a:xfrm>
        </p:grpSpPr>
        <p:sp>
          <p:nvSpPr>
            <p:cNvPr id="9" name="Rectangle 9"/>
            <p:cNvSpPr/>
            <p:nvPr/>
          </p:nvSpPr>
          <p:spPr>
            <a:xfrm>
              <a:off x="381000" y="1428750"/>
              <a:ext cx="5619750" cy="4800600"/>
            </a:xfrm>
            <a:prstGeom prst="roundRect">
              <a:avLst>
                <a:gd name="adj" fmla="val 2381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41604" y="1680210"/>
              <a:ext cx="20915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课程位置 | Course position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2747" y="1933099"/>
              <a:ext cx="31761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第二部分现在开始；先用同一套语言读完水，再读碳。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47700" y="2247900"/>
              <a:ext cx="5086350" cy="1162050"/>
            </a:xfrm>
            <a:prstGeom prst="roundRect">
              <a:avLst>
                <a:gd name="adj" fmla="val 9836"/>
              </a:avLst>
            </a:prstGeom>
            <a:solidFill>
              <a:srgbClr val="F0F5FC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781050" y="2619375"/>
              <a:ext cx="419100" cy="419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37858" y="275653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365504" y="2632710"/>
              <a:ext cx="16430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水循环 | Water Cycle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365885" y="2945606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已完成 · 储库、通量与停留时间已建立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47700" y="3562350"/>
              <a:ext cx="5086350" cy="1162050"/>
            </a:xfrm>
            <a:prstGeom prst="roundRect">
              <a:avLst>
                <a:gd name="adj" fmla="val 9836"/>
              </a:avLst>
            </a:prstGeom>
            <a:solidFill>
              <a:srgbClr val="FDF4EF"/>
            </a:solidFill>
            <a:ln w="9525">
              <a:solidFill>
                <a:srgbClr val="F0CFC2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781050" y="3933825"/>
              <a:ext cx="419100" cy="4191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7858" y="407098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365504" y="3947160"/>
              <a:ext cx="17013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碳循环 | Carbon Cycle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65885" y="4260056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当前 · 用同一套语言读碳的储库与路径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743450" y="3771900"/>
              <a:ext cx="685800" cy="247650"/>
            </a:xfrm>
            <a:prstGeom prst="roundRect">
              <a:avLst>
                <a:gd name="adj" fmla="val 30769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949469" y="383809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当前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7700" y="4876800"/>
              <a:ext cx="5086350" cy="1162050"/>
            </a:xfrm>
            <a:prstGeom prst="roundRect">
              <a:avLst>
                <a:gd name="adj" fmla="val 9836"/>
              </a:avLst>
            </a:prstGeom>
            <a:solidFill>
              <a:srgbClr val="F0F5FC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781050" y="5248275"/>
              <a:ext cx="419100" cy="419100"/>
            </a:xfrm>
            <a:prstGeom prst="ellipse">
              <a:avLst/>
            </a:prstGeom>
            <a:solidFill>
              <a:srgbClr val="3D7BD9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37858" y="538543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365504" y="5261610"/>
              <a:ext cx="30117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耦合与气候反馈 | Coupling &amp; Feedbacks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365885" y="5574506"/>
              <a:ext cx="27479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接下来 · 把两个循环放回同一个气候系统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6267450" y="1428750"/>
            <a:ext cx="5543550" cy="4800600"/>
            <a:chOff x="6267450" y="1428750"/>
            <a:chExt cx="5543550" cy="4800600"/>
          </a:xfrm>
        </p:grpSpPr>
        <p:sp>
          <p:nvSpPr>
            <p:cNvPr id="30" name="Rectangle 30"/>
            <p:cNvSpPr/>
            <p:nvPr/>
          </p:nvSpPr>
          <p:spPr>
            <a:xfrm>
              <a:off x="6267450" y="1428750"/>
              <a:ext cx="5543550" cy="4800600"/>
            </a:xfrm>
            <a:prstGeom prst="roundRect">
              <a:avLst>
                <a:gd name="adj" fmla="val 2381"/>
              </a:avLst>
            </a:prstGeom>
            <a:solidFill>
              <a:srgbClr val="FDF4EF"/>
            </a:solidFill>
            <a:ln w="9525">
              <a:solidFill>
                <a:srgbClr val="F0CFC2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28054" y="1680210"/>
              <a:ext cx="267264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沿用同一套语言 | Same framework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534150" y="1962150"/>
              <a:ext cx="1619250" cy="5715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>
              <a:solidFill>
                <a:srgbClr val="F0CFC2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187286" y="210740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储库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26842" y="2333149"/>
              <a:ext cx="6338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Reservoir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267700" y="1962150"/>
              <a:ext cx="1619250" cy="5715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>
              <a:solidFill>
                <a:srgbClr val="F0CFC2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920836" y="210740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通量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941922" y="2333149"/>
              <a:ext cx="2708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Flux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10001250" y="1962150"/>
              <a:ext cx="1619250" cy="5715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>
              <a:solidFill>
                <a:srgbClr val="F0CFC2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503611" y="210740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停留时间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330174" y="2333149"/>
              <a:ext cx="9614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Residence Time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528435" y="2736056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碳再把它们连到四个领域：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534150" y="3009900"/>
              <a:ext cx="5143500" cy="457200"/>
            </a:xfrm>
            <a:prstGeom prst="roundRect">
              <a:avLst>
                <a:gd name="adj" fmla="val 20833"/>
              </a:avLst>
            </a:prstGeom>
            <a:solidFill>
              <a:schemeClr val="lt1"/>
            </a:solidFill>
            <a:ln w="9525">
              <a:solidFill>
                <a:srgbClr val="F0CFC2"/>
              </a:solidFill>
            </a:ln>
          </p:spPr>
        </p:sp>
        <p:sp>
          <p:nvSpPr>
            <p:cNvPr id="43" name="Ellipse 43"/>
            <p:cNvSpPr/>
            <p:nvPr/>
          </p:nvSpPr>
          <p:spPr>
            <a:xfrm>
              <a:off x="6724650" y="3181350"/>
              <a:ext cx="114300" cy="1143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966204" y="3166110"/>
              <a:ext cx="10988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气候 | Climate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294849" y="3190399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连接温室效应与温度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534150" y="3562350"/>
              <a:ext cx="5143500" cy="457200"/>
            </a:xfrm>
            <a:prstGeom prst="roundRect">
              <a:avLst>
                <a:gd name="adj" fmla="val 20833"/>
              </a:avLst>
            </a:prstGeom>
            <a:solidFill>
              <a:schemeClr val="lt1"/>
            </a:solidFill>
            <a:ln w="9525">
              <a:solidFill>
                <a:srgbClr val="F0CFC2"/>
              </a:solidFill>
            </a:ln>
          </p:spPr>
        </p:sp>
        <p:sp>
          <p:nvSpPr>
            <p:cNvPr id="47" name="Ellipse 47"/>
            <p:cNvSpPr/>
            <p:nvPr/>
          </p:nvSpPr>
          <p:spPr>
            <a:xfrm>
              <a:off x="6724650" y="3733800"/>
              <a:ext cx="114300" cy="1143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966204" y="3718560"/>
              <a:ext cx="8301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生命 | Life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294849" y="3742849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光合作用固定无机碳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534150" y="4114800"/>
              <a:ext cx="5143500" cy="457200"/>
            </a:xfrm>
            <a:prstGeom prst="roundRect">
              <a:avLst>
                <a:gd name="adj" fmla="val 20833"/>
              </a:avLst>
            </a:prstGeom>
            <a:solidFill>
              <a:schemeClr val="lt1"/>
            </a:solidFill>
            <a:ln w="9525">
              <a:solidFill>
                <a:srgbClr val="F0CFC2"/>
              </a:solidFill>
            </a:ln>
          </p:spPr>
        </p:sp>
        <p:sp>
          <p:nvSpPr>
            <p:cNvPr id="51" name="Ellipse 51"/>
            <p:cNvSpPr/>
            <p:nvPr/>
          </p:nvSpPr>
          <p:spPr>
            <a:xfrm>
              <a:off x="6724650" y="4286250"/>
              <a:ext cx="114300" cy="1143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966204" y="4271010"/>
              <a:ext cx="9993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海洋 | Ocean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690631" y="4295299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溶解并输送碳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534150" y="4667250"/>
              <a:ext cx="5143500" cy="457200"/>
            </a:xfrm>
            <a:prstGeom prst="roundRect">
              <a:avLst>
                <a:gd name="adj" fmla="val 20833"/>
              </a:avLst>
            </a:prstGeom>
            <a:solidFill>
              <a:schemeClr val="lt1"/>
            </a:solidFill>
            <a:ln w="9525">
              <a:solidFill>
                <a:srgbClr val="F0CFC2"/>
              </a:solidFill>
            </a:ln>
          </p:spPr>
        </p:sp>
        <p:sp>
          <p:nvSpPr>
            <p:cNvPr id="55" name="Ellipse 55"/>
            <p:cNvSpPr/>
            <p:nvPr/>
          </p:nvSpPr>
          <p:spPr>
            <a:xfrm>
              <a:off x="6724650" y="4838700"/>
              <a:ext cx="114300" cy="1143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966204" y="4823460"/>
              <a:ext cx="9650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岩石 | Rocks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294849" y="4847749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长期储碳并返回地表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534150" y="5314950"/>
              <a:ext cx="5143500" cy="781050"/>
            </a:xfrm>
            <a:prstGeom prst="roundRect">
              <a:avLst>
                <a:gd name="adj" fmla="val 14634"/>
              </a:avLst>
            </a:prstGeom>
            <a:solidFill>
              <a:srgbClr val="FDECDD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775704" y="5471160"/>
              <a:ext cx="14829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Carbon ≠ CO₂ only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776085" y="5765006"/>
              <a:ext cx="21063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碳循环不等于只看大气 CO₂。</a:t>
              </a:r>
            </a:p>
          </p:txBody>
        </p:sp>
      </p:grpSp>
      <p:sp>
        <p:nvSpPr>
          <p:cNvPr id="62" name="TextBox 62"/>
          <p:cNvSpPr txBox="1"/>
          <p:nvPr/>
        </p:nvSpPr>
        <p:spPr>
          <a:xfrm>
            <a:off x="376238" y="6532245"/>
            <a:ext cx="501815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Source: UE 8e, Ch.12, PDF pp.1204–1205; 地球系统与演变 Ch.4 §4.1, PDF pp.57–58.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16729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"/>
            <a:chOff x="0" y="0"/>
            <a:chExt cx="12192000" cy="6858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374142" y="282892"/>
              <a:ext cx="35433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2.2 碳储存在哪里？ | Carbon Reservoirs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686898" y="299085"/>
              <a:ext cx="1130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C7D7F2"/>
                  </a:solidFill>
                  <a:latin typeface="+mn-lt"/>
                  <a:ea typeface="+mn-ea"/>
                  <a:cs typeface="+mn-cs"/>
                </a:rPr>
                <a:t>CARBON CYCLE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1000" y="914400"/>
            <a:ext cx="6135040" cy="357093"/>
            <a:chOff x="381000" y="914400"/>
            <a:chExt cx="6135040" cy="357093"/>
          </a:xfrm>
        </p:grpSpPr>
        <p:sp>
          <p:nvSpPr>
            <p:cNvPr id="6" name="Rectangle 6"/>
            <p:cNvSpPr/>
            <p:nvPr/>
          </p:nvSpPr>
          <p:spPr>
            <a:xfrm>
              <a:off x="381000" y="914400"/>
              <a:ext cx="57150" cy="2667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44449" y="963454"/>
              <a:ext cx="597159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碳主要储存在海洋、沉积物与岩石里；大气只是一个很小的储库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81000" y="1428750"/>
            <a:ext cx="6572250" cy="4800600"/>
            <a:chOff x="381000" y="1428750"/>
            <a:chExt cx="6572250" cy="4800600"/>
          </a:xfrm>
        </p:grpSpPr>
        <p:sp>
          <p:nvSpPr>
            <p:cNvPr id="9" name="Rectangle 9"/>
            <p:cNvSpPr/>
            <p:nvPr/>
          </p:nvSpPr>
          <p:spPr>
            <a:xfrm>
              <a:off x="381000" y="1428750"/>
              <a:ext cx="6572250" cy="4800600"/>
            </a:xfrm>
            <a:prstGeom prst="roundRect">
              <a:avLst>
                <a:gd name="adj" fmla="val 2381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41604" y="1623060"/>
              <a:ext cx="14572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证据图 | 单一数据集</a:t>
              </a:r>
            </a:p>
          </p:txBody>
        </p:sp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2"/>
            <a:srcRect l="0" t="0" r="0" b="32880"/>
            <a:stretch>
              <a:fillRect/>
            </a:stretch>
          </p:blipFill>
          <p:spPr>
            <a:xfrm>
              <a:off x="647700" y="1866900"/>
              <a:ext cx="6038850" cy="3371850"/>
            </a:xfrm>
            <a:prstGeom prst="rect">
              <a:avLst/>
            </a:prstGeom>
          </p:spPr>
        </p:pic>
        <p:sp>
          <p:nvSpPr>
            <p:cNvPr id="12" name="Rectangle 12"/>
            <p:cNvSpPr/>
            <p:nvPr/>
          </p:nvSpPr>
          <p:spPr>
            <a:xfrm>
              <a:off x="647700" y="5410200"/>
              <a:ext cx="6038850" cy="723900"/>
            </a:xfrm>
            <a:prstGeom prst="roundRect">
              <a:avLst>
                <a:gd name="adj" fmla="val 13158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14197" y="5609749"/>
              <a:ext cx="22500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本页数值单位：储库 Gt C（吉吨碳）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14197" y="5857399"/>
              <a:ext cx="42315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四个较小储库的数值取自这张图；沉积物与岩石未给出总量，只作定性。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7219950" y="1428750"/>
            <a:ext cx="4591050" cy="4800600"/>
            <a:chOff x="7219950" y="1428750"/>
            <a:chExt cx="4591050" cy="4800600"/>
          </a:xfrm>
        </p:grpSpPr>
        <p:sp>
          <p:nvSpPr>
            <p:cNvPr id="16" name="Rectangle 16"/>
            <p:cNvSpPr/>
            <p:nvPr/>
          </p:nvSpPr>
          <p:spPr>
            <a:xfrm>
              <a:off x="7219950" y="1428750"/>
              <a:ext cx="4591050" cy="4800600"/>
            </a:xfrm>
            <a:prstGeom prst="roundRect">
              <a:avLst>
                <a:gd name="adj" fmla="val 2490"/>
              </a:avLst>
            </a:prstGeom>
            <a:solidFill>
              <a:srgbClr val="FDF4EF"/>
            </a:solidFill>
            <a:ln w="9525">
              <a:solidFill>
                <a:srgbClr val="F0CFC2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480554" y="1623060"/>
              <a:ext cx="26260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碳储库层级 | Reservoir hierarchy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81697" y="187594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自小而大排序（本页整理）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372350" y="2133600"/>
              <a:ext cx="4286250" cy="590550"/>
            </a:xfrm>
            <a:prstGeom prst="roundRect">
              <a:avLst>
                <a:gd name="adj" fmla="val 16129"/>
              </a:avLst>
            </a:prstGeom>
            <a:solidFill>
              <a:schemeClr val="lt1"/>
            </a:solidFill>
            <a:ln w="9525">
              <a:solidFill>
                <a:srgbClr val="F0CFC2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7448550" y="2276475"/>
              <a:ext cx="304800" cy="3048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557903" y="2371249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42504" y="2261235"/>
              <a:ext cx="14629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大气 | Atmosphere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840715" y="2269331"/>
              <a:ext cx="65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830 Gt C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3647" y="2504599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量级最小的储库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372350" y="2800350"/>
              <a:ext cx="4286250" cy="590550"/>
            </a:xfrm>
            <a:prstGeom prst="roundRect">
              <a:avLst>
                <a:gd name="adj" fmla="val 16129"/>
              </a:avLst>
            </a:prstGeom>
            <a:solidFill>
              <a:schemeClr val="lt1"/>
            </a:solidFill>
            <a:ln w="9525">
              <a:solidFill>
                <a:srgbClr val="F0CFC2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7448550" y="2943225"/>
              <a:ext cx="304800" cy="3048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557903" y="3037999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842504" y="2927985"/>
              <a:ext cx="14557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生物圈 | Biosphere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840715" y="2936081"/>
              <a:ext cx="65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500 Gt C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843647" y="3171349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陆地植物与海洋生物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372350" y="3467100"/>
              <a:ext cx="4286250" cy="590550"/>
            </a:xfrm>
            <a:prstGeom prst="roundRect">
              <a:avLst>
                <a:gd name="adj" fmla="val 16129"/>
              </a:avLst>
            </a:prstGeom>
            <a:solidFill>
              <a:schemeClr val="lt1"/>
            </a:solidFill>
            <a:ln w="9525">
              <a:solidFill>
                <a:srgbClr val="F0CFC2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7448550" y="3609975"/>
              <a:ext cx="304800" cy="3048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557903" y="3704749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842504" y="3594735"/>
              <a:ext cx="8792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土壤 | Soils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750357" y="3602831"/>
              <a:ext cx="7425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1500 Gt C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843647" y="3838099"/>
              <a:ext cx="14611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土壤中有机碳的储存空间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372350" y="4133850"/>
              <a:ext cx="4286250" cy="590550"/>
            </a:xfrm>
            <a:prstGeom prst="roundRect">
              <a:avLst>
                <a:gd name="adj" fmla="val 16129"/>
              </a:avLst>
            </a:prstGeom>
            <a:solidFill>
              <a:schemeClr val="lt1"/>
            </a:solidFill>
            <a:ln w="9525">
              <a:solidFill>
                <a:srgbClr val="F0CFC2"/>
              </a:solidFill>
            </a:ln>
          </p:spPr>
        </p:sp>
        <p:sp>
          <p:nvSpPr>
            <p:cNvPr id="38" name="Ellipse 38"/>
            <p:cNvSpPr/>
            <p:nvPr/>
          </p:nvSpPr>
          <p:spPr>
            <a:xfrm>
              <a:off x="7448550" y="4276725"/>
              <a:ext cx="304800" cy="3048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557903" y="4371499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842504" y="4261485"/>
              <a:ext cx="9993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海洋 | Ocean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569641" y="4269581"/>
              <a:ext cx="9232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38,000 Gt C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843647" y="450484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含海洋生物；表层库与深层库合计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372350" y="4800600"/>
              <a:ext cx="4286250" cy="590550"/>
            </a:xfrm>
            <a:prstGeom prst="roundRect">
              <a:avLst>
                <a:gd name="adj" fmla="val 16129"/>
              </a:avLst>
            </a:prstGeom>
            <a:solidFill>
              <a:srgbClr val="FDECDD"/>
            </a:solidFill>
            <a:ln w="9525">
              <a:solidFill>
                <a:srgbClr val="F0CFC2"/>
              </a:solidFill>
            </a:ln>
          </p:spPr>
        </p:sp>
        <p:sp>
          <p:nvSpPr>
            <p:cNvPr id="44" name="Ellipse 44"/>
            <p:cNvSpPr/>
            <p:nvPr/>
          </p:nvSpPr>
          <p:spPr>
            <a:xfrm>
              <a:off x="7448550" y="4943475"/>
              <a:ext cx="304800" cy="304800"/>
            </a:xfrm>
            <a:prstGeom prst="ellipse">
              <a:avLst/>
            </a:prstGeom>
            <a:solidFill>
              <a:srgbClr val="7A4A33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557903" y="5038249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842504" y="4928235"/>
              <a:ext cx="13970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沉积物 | Sediment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426014" y="493633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b="1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图中未给出总量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843647" y="51715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连接海洋与岩石的过渡储库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7372350" y="5467350"/>
              <a:ext cx="4286250" cy="590550"/>
            </a:xfrm>
            <a:prstGeom prst="roundRect">
              <a:avLst>
                <a:gd name="adj" fmla="val 16129"/>
              </a:avLst>
            </a:prstGeom>
            <a:solidFill>
              <a:srgbClr val="FDECDD"/>
            </a:solidFill>
            <a:ln w="9525">
              <a:solidFill>
                <a:srgbClr val="F0CFC2"/>
              </a:solidFill>
            </a:ln>
          </p:spPr>
        </p:sp>
        <p:sp>
          <p:nvSpPr>
            <p:cNvPr id="50" name="Ellipse 50"/>
            <p:cNvSpPr/>
            <p:nvPr/>
          </p:nvSpPr>
          <p:spPr>
            <a:xfrm>
              <a:off x="7448550" y="5610225"/>
              <a:ext cx="304800" cy="304800"/>
            </a:xfrm>
            <a:prstGeom prst="ellipse">
              <a:avLst/>
            </a:prstGeom>
            <a:solidFill>
              <a:srgbClr val="7A4A33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557903" y="5704999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842504" y="5594985"/>
              <a:ext cx="16416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岩石圈 | Lithosphere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426014" y="560308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b="1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图中未给出总量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843647" y="583834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化石有机碳与碳酸盐岩</a:t>
              </a:r>
            </a:p>
          </p:txBody>
        </p:sp>
      </p:grpSp>
      <p:sp>
        <p:nvSpPr>
          <p:cNvPr id="56" name="TextBox 56"/>
          <p:cNvSpPr txBox="1"/>
          <p:nvPr/>
        </p:nvSpPr>
        <p:spPr>
          <a:xfrm>
            <a:off x="376238" y="6532245"/>
            <a:ext cx="629493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Source: UE 8e, Fig. 12.19, PDF p.1209 (Gt C); 地球系统与演变 Ch.4 §4.2、§4.5.1, PDF pp.58–64, 79–80.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116729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"/>
            <a:chOff x="0" y="0"/>
            <a:chExt cx="12192000" cy="6858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374142" y="282892"/>
              <a:ext cx="66112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2.4 同样的语言，不同的时间尺度 | Same Framework, Different Timescales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686898" y="299085"/>
              <a:ext cx="1130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C7D7F2"/>
                  </a:solidFill>
                  <a:latin typeface="+mn-lt"/>
                  <a:ea typeface="+mn-ea"/>
                  <a:cs typeface="+mn-cs"/>
                </a:rPr>
                <a:t>CARBON CYCLE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1000" y="914400"/>
            <a:ext cx="6773139" cy="357093"/>
            <a:chOff x="381000" y="914400"/>
            <a:chExt cx="6773139" cy="357093"/>
          </a:xfrm>
        </p:grpSpPr>
        <p:sp>
          <p:nvSpPr>
            <p:cNvPr id="6" name="Rectangle 6"/>
            <p:cNvSpPr/>
            <p:nvPr/>
          </p:nvSpPr>
          <p:spPr>
            <a:xfrm>
              <a:off x="381000" y="914400"/>
              <a:ext cx="57150" cy="2667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44449" y="963454"/>
              <a:ext cx="660969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储库、通量与停留时间可以同时读水和碳，但两个循环的时钟并不相同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381000" y="2247900"/>
            <a:ext cx="1352550" cy="2647950"/>
            <a:chOff x="381000" y="2247900"/>
            <a:chExt cx="1352550" cy="2647950"/>
          </a:xfrm>
        </p:grpSpPr>
        <p:sp>
          <p:nvSpPr>
            <p:cNvPr id="9" name="Rectangle 9"/>
            <p:cNvSpPr/>
            <p:nvPr/>
          </p:nvSpPr>
          <p:spPr>
            <a:xfrm>
              <a:off x="381000" y="2247900"/>
              <a:ext cx="1352550" cy="457200"/>
            </a:xfrm>
            <a:prstGeom prst="roundRect">
              <a:avLst>
                <a:gd name="adj" fmla="val 20833"/>
              </a:avLst>
            </a:prstGeom>
            <a:solidFill>
              <a:srgbClr val="F0F5FC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00786" y="23169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储库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40342" y="2504599"/>
              <a:ext cx="6338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Reservoir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" y="3200400"/>
              <a:ext cx="1352550" cy="457200"/>
            </a:xfrm>
            <a:prstGeom prst="roundRect">
              <a:avLst>
                <a:gd name="adj" fmla="val 20833"/>
              </a:avLst>
            </a:prstGeom>
            <a:solidFill>
              <a:srgbClr val="F0F5FC"/>
            </a:solidFill>
            <a:ln w="9525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0786" y="32694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21872" y="3457099"/>
              <a:ext cx="2708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Flux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81000" y="4438650"/>
              <a:ext cx="1352550" cy="457200"/>
            </a:xfrm>
            <a:prstGeom prst="roundRect">
              <a:avLst>
                <a:gd name="adj" fmla="val 20833"/>
              </a:avLst>
            </a:prstGeom>
            <a:solidFill>
              <a:srgbClr val="F0F5FC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50011" y="450770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停留时间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76574" y="4695349"/>
              <a:ext cx="9614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Residence Time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962150" y="1428750"/>
            <a:ext cx="4810125" cy="3924300"/>
            <a:chOff x="1962150" y="1428750"/>
            <a:chExt cx="4810125" cy="3924300"/>
          </a:xfrm>
        </p:grpSpPr>
        <p:sp>
          <p:nvSpPr>
            <p:cNvPr id="19" name="Rectangle 19"/>
            <p:cNvSpPr/>
            <p:nvPr/>
          </p:nvSpPr>
          <p:spPr>
            <a:xfrm>
              <a:off x="1962150" y="1428750"/>
              <a:ext cx="4810125" cy="495300"/>
            </a:xfrm>
            <a:prstGeom prst="roundRect">
              <a:avLst>
                <a:gd name="adj" fmla="val 23077"/>
              </a:avLst>
            </a:prstGeom>
            <a:solidFill>
              <a:srgbClr val="F0F5FC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164842" y="1606868"/>
              <a:ext cx="18484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水循环 | Water Cycle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962150" y="2038350"/>
              <a:ext cx="4810125" cy="83820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165985" y="2221706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水分布在大气、海洋、冰雪、地下水与生命体中。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166747" y="2466499"/>
              <a:ext cx="23036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Reservoir — where water is stored.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1962150" y="2990850"/>
              <a:ext cx="4810125" cy="83820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2165985" y="3174206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水靠蒸发、大气输送、降水、径流与下渗迁移。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166747" y="3418999"/>
              <a:ext cx="20794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Flux — how fast material moves.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1962150" y="3943350"/>
              <a:ext cx="4810125" cy="1409700"/>
            </a:xfrm>
            <a:prstGeom prst="roundRect">
              <a:avLst>
                <a:gd name="adj" fmla="val 8108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165985" y="4126706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同一个循环里，不同储库的更新速度相差很大。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166747" y="4581049"/>
              <a:ext cx="8554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最快 Fastest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328035" y="45648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大气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166747" y="4885849"/>
              <a:ext cx="84843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最慢 Slowest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328035" y="486965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冰盖、深层地下水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7000875" y="1428750"/>
            <a:ext cx="4810125" cy="3924300"/>
            <a:chOff x="7000875" y="1428750"/>
            <a:chExt cx="4810125" cy="3924300"/>
          </a:xfrm>
        </p:grpSpPr>
        <p:sp>
          <p:nvSpPr>
            <p:cNvPr id="34" name="Rectangle 34"/>
            <p:cNvSpPr/>
            <p:nvPr/>
          </p:nvSpPr>
          <p:spPr>
            <a:xfrm>
              <a:off x="7000875" y="1428750"/>
              <a:ext cx="4810125" cy="495300"/>
            </a:xfrm>
            <a:prstGeom prst="roundRect">
              <a:avLst>
                <a:gd name="adj" fmla="val 23077"/>
              </a:avLst>
            </a:prstGeom>
            <a:solidFill>
              <a:srgbClr val="FDF4EF"/>
            </a:solidFill>
            <a:ln w="9525">
              <a:solidFill>
                <a:srgbClr val="F0CFC2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203567" y="1606868"/>
              <a:ext cx="19140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碳循环 | Carbon Cycle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000875" y="2038350"/>
              <a:ext cx="4810125" cy="83820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204710" y="2221706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碳存在于大气、生物圈、土壤、海洋、沉积物与岩石中。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05472" y="2466499"/>
              <a:ext cx="23497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Reservoir — where carbon is stored.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000875" y="2990850"/>
              <a:ext cx="4810125" cy="83820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204710" y="3174206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碳靠光合、呼吸、海气交换、风化与埋藏迁移。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205472" y="3418999"/>
              <a:ext cx="20794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Flux — how fast material moves.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000875" y="3943350"/>
              <a:ext cx="4810125" cy="1409700"/>
            </a:xfrm>
            <a:prstGeom prst="roundRect">
              <a:avLst>
                <a:gd name="adj" fmla="val 8108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204710" y="4126706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同一个循环里，表层库较快，沉积物与岩石最慢。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205472" y="4581049"/>
              <a:ext cx="8554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最快 Fastest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366760" y="4564856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表层库（大气—生物圈—表层海）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205472" y="4885849"/>
              <a:ext cx="84843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最慢 Slowest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366760" y="48696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沉积物与岩石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381000" y="5505450"/>
            <a:ext cx="11430000" cy="723900"/>
            <a:chOff x="381000" y="5505450"/>
            <a:chExt cx="11430000" cy="723900"/>
          </a:xfrm>
        </p:grpSpPr>
        <p:sp>
          <p:nvSpPr>
            <p:cNvPr id="49" name="Rectangle 49"/>
            <p:cNvSpPr/>
            <p:nvPr/>
          </p:nvSpPr>
          <p:spPr>
            <a:xfrm>
              <a:off x="381000" y="5505450"/>
              <a:ext cx="11430000" cy="723900"/>
            </a:xfrm>
            <a:prstGeom prst="roundRect">
              <a:avLst>
                <a:gd name="adj" fmla="val 15789"/>
              </a:avLst>
            </a:prstGeom>
            <a:solidFill>
              <a:srgbClr val="FDECDD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03504" y="5661660"/>
              <a:ext cx="46230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同一套语言，不同的时钟 | Same language, different clocks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03885" y="5917406"/>
              <a:ext cx="78140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7A4A33"/>
                  </a:solidFill>
                  <a:latin typeface="+mn-lt"/>
                  <a:ea typeface="+mn-ea"/>
                  <a:cs typeface="+mn-cs"/>
                </a:rPr>
                <a:t>两边都要问“这个储库多久更新一次”，但答案的档位不同；具体数值与单位见第 08 页表 3-1 与教材图 4-15、4-16。</a:t>
              </a:r>
            </a:p>
          </p:txBody>
        </p:sp>
      </p:grpSp>
      <p:sp>
        <p:nvSpPr>
          <p:cNvPr id="53" name="TextBox 53"/>
          <p:cNvSpPr txBox="1"/>
          <p:nvPr/>
        </p:nvSpPr>
        <p:spPr>
          <a:xfrm>
            <a:off x="376238" y="6532245"/>
            <a:ext cx="611893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Source: UE 8e, Ch.12, PDF pp.1205–1206, 1209–1213; 地球系统与演变 Fig. 4-15 / 4-16, PDF pp.78–80.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16729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PROD-W1-WORKBUDDY">
  <a:themeElements>
    <a:clrScheme name="PROD-W1-WORKBUDDY">
      <a:dk1>
        <a:srgbClr val="1A2230"/>
      </a:dk1>
      <a:lt1>
        <a:srgbClr val="FFFFFF"/>
      </a:lt1>
      <a:dk2>
        <a:srgbClr val="1F497D"/>
      </a:dk2>
      <a:lt2>
        <a:srgbClr val="F7F9FC"/>
      </a:lt2>
      <a:accent1>
        <a:srgbClr val="0E3F8C"/>
      </a:accent1>
      <a:accent2>
        <a:srgbClr val="1E4FA8"/>
      </a:accent2>
      <a:accent3>
        <a:srgbClr val="EA580C"/>
      </a:accent3>
      <a:accent4>
        <a:srgbClr val="0E3F8C"/>
      </a:accent4>
      <a:accent5>
        <a:srgbClr val="4A5568"/>
      </a:accent5>
      <a:accent6>
        <a:srgbClr val="D6DCE5"/>
      </a:accent6>
      <a:hlink>
        <a:srgbClr val="1E4FA8"/>
      </a:hlink>
      <a:folHlink>
        <a:srgbClr val="EA580C"/>
      </a:folHlink>
    </a:clrScheme>
    <a:fontScheme name="PROD-W1-WORKBUDDY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D-W1-WORKBUDD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PROD-W1-WORKBUDDY">
  <a:themeElements>
    <a:clrScheme name="PROD-W1-WORKBUDDY">
      <a:dk1>
        <a:srgbClr val="1A2230"/>
      </a:dk1>
      <a:lt1>
        <a:srgbClr val="FFFFFF"/>
      </a:lt1>
      <a:dk2>
        <a:srgbClr val="1F497D"/>
      </a:dk2>
      <a:lt2>
        <a:srgbClr val="F7F9FC"/>
      </a:lt2>
      <a:accent1>
        <a:srgbClr val="0E3F8C"/>
      </a:accent1>
      <a:accent2>
        <a:srgbClr val="1E4FA8"/>
      </a:accent2>
      <a:accent3>
        <a:srgbClr val="EA580C"/>
      </a:accent3>
      <a:accent4>
        <a:srgbClr val="0E3F8C"/>
      </a:accent4>
      <a:accent5>
        <a:srgbClr val="4A5568"/>
      </a:accent5>
      <a:accent6>
        <a:srgbClr val="D6DCE5"/>
      </a:accent6>
      <a:hlink>
        <a:srgbClr val="1E4FA8"/>
      </a:hlink>
      <a:folHlink>
        <a:srgbClr val="EA580C"/>
      </a:folHlink>
    </a:clrScheme>
    <a:fontScheme name="PROD-W1-WORKBUDDY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D-W1-WORKBUDD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2026-09-11T03:28:49Z</dcterms:created>
  <dcterms:modified xsi:type="dcterms:W3CDTF">2026-09-11T03:28:49Z</dcterms:modified>
  <cp:category/>
  <cp:contentStatus/>
</cp:coreProperties>
</file>