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10"/>
  </p:notesMasterIdLst>
  <p:sldIdLst>
    <p:sldId id="256" r:id="rId7"/>
    <p:sldId id="257" r:id="rId8"/>
    <p:sldId id="258" r:id="rId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  <Relationship Id="rId10" Type="http://schemas.openxmlformats.org/officeDocument/2006/relationships/notesMaster" Target="notesMasters/notesMaster1.xml"/>
</Relationships>
</file>

<file path=ppt/notesMasters/_rels/notesMaster1.xml.rels><?xml version="1.0" encoding="UTF-8" standalone="yes"?>
<Relationships xmlns="http://schemas.openxmlformats.org/package/2006/relationships">
  <Relationship Id="rId1" Type="http://schemas.openxmlformats.org/officeDocument/2006/relationships/theme" Target="../theme/theme2.xml"/>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en-US"/>
    </a:lvl1pPr>
  </p:notesStyle>
</p:notesMaster>
</file>

<file path=ppt/notesSlides/_rels/notesSlide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.xml"/>
</Relationships>
</file>

<file path=ppt/notesSlides/_rels/notesSlide2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.xml"/>
</Relationships>
</file>

<file path=ppt/notesSlides/_rels/notesSlide3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3.xml"/>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一页用一套内部一致的教材全球收支数据，说明海洋和陆地怎样通过大气和径流闭合。海洋每年蒸发四百三十四、降水三百九十八，多出的三十六以水汽形式经大气净输送到陆地；陆地每年降水一百零七、蒸散七十一，净得到的三十六恰好等于回到海洋的径流。两个差额都等于三十六：海洋蒸发减降水等于三十六，陆地降水减蒸散也等于三十六，二者方向相反、数量相等，全球水量因此收支平衡。读图时先看两个储库面板里向上的蒸发和向下的降水，再沿顶部大气带向左的输送箭头与底部向右的径流箭头，就能看到一个闭合回路。本页所有数字单位均为乘以一千立方千米每年，来自 Understanding Earth 图十七点二这一套数据，不与其他教材图件的面板单位混用。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张教材原图展示水在固态冰、液态水和气态水汽之间转换时，水和能量一起转移。上方橙色箭头是吸热过程：熔融需要八十卡，把水从零度加热到一百度需要一百卡，蒸发汽化需要五百四十卡；下方蓝色箭头是逆向的放热过程：冻结释放八十卡，降温释放一百卡，凝结释放五百四十卡，箭头方向和全部数值都保持原图不变。右侧三张卡片给出简明英文对照：三态名称、吸热清单和放热清单。汽化潜热五百四十卡约为熔融潜热八十卡的七倍，说明同样质量的水，气液相变搬运的能量远大于固液相变，这正是蒸发吸热、凝结释放潜热从而驱动大气能量输送的物理基础。单位换算关系是一卡等于四点一八四焦耳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水返回大气有三条并行路径：海洋表面的蒸发是最大的蒸发源，陆地土壤和地表水体也直接蒸发，植物则通过根系吸收土壤水、再由叶片把水汽释放出去，这一过程叫蒸腾。蒸发和蒸腾合起来称为蒸散，对应图中深蓝色条带给出的等式。蒸腾与光合作用在植物体内同时发生，并不是两个互不相干的过程，因此植被把水循环和碳循环连接在一起。中文教材估计，陆地约百分之八十到九十的来水经蒸散返回大气，一棵大树每天蒸腾约二百到一千升、每年吸水约一百五十吨，陆地吸收的太阳能约有一半用于蒸腾，说明蒸散既是水循环环节，也是能量循环环节。需要说明，蒸发与蒸腾两个过程在指定的英文教材章节中分别出现，合称蒸散是本课程采用的汇总术语。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PROD-W1-DOUBAO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PROD-W1-DOUBAO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1.xml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78cb7032a342ce13.png"/>
  <Relationship Id="rId3" Type="http://schemas.openxmlformats.org/officeDocument/2006/relationships/notesSlide" Target="../notesSlides/notesSlide2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3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2192000" cy="685800"/>
            <a:chOff x="0" y="0"/>
            <a:chExt cx="12192000" cy="6858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"/>
            </a:xfrm>
            <a:prstGeom prst="rect">
              <a:avLst/>
            </a:prstGeom>
            <a:solidFill>
              <a:srgbClr val="0E3F8C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374142" y="282892"/>
              <a:ext cx="4823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1.7 海洋与陆地的水量收支 | Ocean–Land Water Budget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10780776" y="299085"/>
              <a:ext cx="10363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00" dirty="0">
                  <a:solidFill>
                    <a:srgbClr val="C7D7F2"/>
                  </a:solidFill>
                  <a:latin typeface="Arial"/>
                  <a:ea typeface="Arial"/>
                  <a:cs typeface="Arial"/>
                </a:rPr>
                <a:t>WATER CYCLE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381000" y="914400"/>
            <a:ext cx="5922340" cy="357093"/>
            <a:chOff x="381000" y="914400"/>
            <a:chExt cx="5922340" cy="357093"/>
          </a:xfrm>
        </p:grpSpPr>
        <p:sp>
          <p:nvSpPr>
            <p:cNvPr id="6" name="Rectangle 6"/>
            <p:cNvSpPr/>
            <p:nvPr/>
          </p:nvSpPr>
          <p:spPr>
            <a:xfrm>
              <a:off x="381000" y="914400"/>
              <a:ext cx="57150" cy="266700"/>
            </a:xfrm>
            <a:prstGeom prst="roundRect">
              <a:avLst>
                <a:gd name="adj" fmla="val 50000"/>
              </a:avLst>
            </a:prstGeom>
            <a:solidFill>
              <a:srgbClr val="1E4FA8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44449" y="963454"/>
              <a:ext cx="5758891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0E3F8C"/>
                  </a:solidFill>
                  <a:latin typeface="Arial"/>
                  <a:ea typeface="Microsoft YaHei"/>
                  <a:cs typeface="Arial"/>
                </a:rPr>
                <a:t>海洋多出的蒸发量经大气输送到陆地，再由等量径流回到海洋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381000" y="1428750"/>
            <a:ext cx="11430000" cy="4781550"/>
            <a:chOff x="381000" y="1428750"/>
            <a:chExt cx="11430000" cy="4781550"/>
          </a:xfrm>
        </p:grpSpPr>
        <p:sp>
          <p:nvSpPr>
            <p:cNvPr id="9" name="Rectangle 9"/>
            <p:cNvSpPr/>
            <p:nvPr/>
          </p:nvSpPr>
          <p:spPr>
            <a:xfrm>
              <a:off x="381000" y="1428750"/>
              <a:ext cx="11430000" cy="4781550"/>
            </a:xfrm>
            <a:prstGeom prst="roundRect">
              <a:avLst>
                <a:gd name="adj" fmla="val 2390"/>
              </a:avLst>
            </a:prstGeom>
            <a:solidFill>
              <a:srgbClr val="F7F9FC"/>
            </a:solidFill>
            <a:ln w="9525">
              <a:solidFill>
                <a:srgbClr val="D6DCE5"/>
              </a:solidFill>
            </a:ln>
          </p:spPr>
        </p:sp>
        <p:grpSp>
          <p:nvGrpSpPr>
            <p:cNvPr id="17" name="Group 17"/>
            <p:cNvGrpSpPr/>
            <p:nvPr/>
          </p:nvGrpSpPr>
          <p:grpSpPr>
            <a:xfrm>
              <a:off x="571500" y="1581150"/>
              <a:ext cx="11049000" cy="628650"/>
              <a:chOff x="571500" y="1581150"/>
              <a:chExt cx="11049000" cy="62865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581150"/>
                <a:ext cx="11049000" cy="628650"/>
              </a:xfrm>
              <a:prstGeom prst="roundRect">
                <a:avLst>
                  <a:gd name="adj" fmla="val 15152"/>
                </a:avLst>
              </a:prstGeom>
              <a:solidFill>
                <a:srgbClr val="E8EFF8"/>
              </a:solidFill>
              <a:ln>
                <a:noFill/>
              </a:ln>
            </p:spPr>
          </p:sp>
          <p:sp>
            <p:nvSpPr>
              <p:cNvPr id="11" name="TextBox 11"/>
              <p:cNvSpPr txBox="1"/>
              <p:nvPr/>
            </p:nvSpPr>
            <p:spPr>
              <a:xfrm>
                <a:off x="757047" y="1742599"/>
                <a:ext cx="1320569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b="1" dirty="0">
                    <a:solidFill>
                      <a:srgbClr val="1E4FA8"/>
                    </a:solidFill>
                    <a:latin typeface="Arial"/>
                    <a:ea typeface="Microsoft YaHei"/>
                    <a:cs typeface="Arial"/>
                  </a:rPr>
                  <a:t>ATMOSPHERE · 大气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9076444" y="1750695"/>
                <a:ext cx="2358319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r"/>
                <a:r>
                  <a:rPr lang="zh-CN" sz="900" dirty="0">
                    <a:solidFill>
                      <a:srgbClr val="4A5568"/>
                    </a:solidFill>
                    <a:latin typeface="Arial"/>
                    <a:ea typeface="Microsoft YaHei"/>
                    <a:cs typeface="Arial"/>
                  </a:rPr>
                  <a:t>单位 Unit：×10³ km³/yr（教材全球收支）</a:t>
                </a:r>
              </a:p>
            </p:txBody>
          </p:sp>
          <p:sp>
            <p:nvSpPr>
              <p:cNvPr id="13" name="Line 13"/>
              <p:cNvSpPr/>
              <p:nvPr/>
            </p:nvSpPr>
            <p:spPr>
              <a:xfrm>
                <a:off x="3238500" y="2038350"/>
                <a:ext cx="77152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715250" h="9525">
                    <a:moveTo>
                      <a:pt x="7715250" y="0"/>
                    </a:moveTo>
                    <a:lnTo>
                      <a:pt x="0" y="0"/>
                    </a:lnTo>
                  </a:path>
                </a:pathLst>
              </a:custGeom>
              <a:noFill/>
              <a:ln w="47625">
                <a:solidFill>
                  <a:srgbClr val="1E4FA8"/>
                </a:solidFill>
              </a:ln>
            </p:spPr>
          </p:sp>
          <p:sp>
            <p:nvSpPr>
              <p:cNvPr id="14" name="Polygon 14"/>
              <p:cNvSpPr/>
              <p:nvPr/>
            </p:nvSpPr>
            <p:spPr>
              <a:xfrm>
                <a:off x="3200400" y="1933575"/>
                <a:ext cx="190500" cy="209550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209550">
                    <a:moveTo>
                      <a:pt x="190500" y="0"/>
                    </a:moveTo>
                    <a:lnTo>
                      <a:pt x="0" y="104775"/>
                    </a:lnTo>
                    <a:lnTo>
                      <a:pt x="190500" y="209550"/>
                    </a:lnTo>
                    <a:close/>
                  </a:path>
                </a:pathLst>
              </a:custGeom>
              <a:solidFill>
                <a:srgbClr val="1E4FA8"/>
              </a:solidFill>
              <a:ln>
                <a:noFill/>
              </a:ln>
            </p:spPr>
          </p:sp>
          <p:sp>
            <p:nvSpPr>
              <p:cNvPr id="15" name="Rectangle 15"/>
              <p:cNvSpPr/>
              <p:nvPr/>
            </p:nvSpPr>
            <p:spPr>
              <a:xfrm>
                <a:off x="3505200" y="1809750"/>
                <a:ext cx="5067300" cy="247650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16" name="TextBox 16"/>
              <p:cNvSpPr txBox="1"/>
              <p:nvPr/>
            </p:nvSpPr>
            <p:spPr>
              <a:xfrm>
                <a:off x="3863588" y="1869281"/>
                <a:ext cx="4350524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0" b="1" dirty="0">
                    <a:solidFill>
                      <a:srgbClr val="0E3F8C"/>
                    </a:solidFill>
                    <a:latin typeface="Arial"/>
                    <a:ea typeface="Microsoft YaHei"/>
                    <a:cs typeface="Arial"/>
                  </a:rPr>
                  <a:t>大气向陆净输送 Atmospheric transport = 36（海洋 → 陆地）</a:t>
                </a:r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571500" y="2381250"/>
              <a:ext cx="4953000" cy="2838450"/>
              <a:chOff x="571500" y="2381250"/>
              <a:chExt cx="4953000" cy="2838450"/>
            </a:xfrm>
          </p:grpSpPr>
          <p:sp>
            <p:nvSpPr>
              <p:cNvPr id="18" name="Rectangle 18"/>
              <p:cNvSpPr/>
              <p:nvPr/>
            </p:nvSpPr>
            <p:spPr>
              <a:xfrm>
                <a:off x="571500" y="2381250"/>
                <a:ext cx="4953000" cy="2838450"/>
              </a:xfrm>
              <a:prstGeom prst="roundRect">
                <a:avLst>
                  <a:gd name="adj" fmla="val 4027"/>
                </a:avLst>
              </a:prstGeom>
              <a:solidFill>
                <a:srgbClr val="FFFFFF"/>
              </a:solidFill>
              <a:ln w="14288">
                <a:solidFill>
                  <a:srgbClr val="D6DCE5"/>
                </a:solidFill>
              </a:ln>
            </p:spPr>
          </p:sp>
          <p:sp>
            <p:nvSpPr>
              <p:cNvPr id="19" name="TextBox 19"/>
              <p:cNvSpPr txBox="1"/>
              <p:nvPr/>
            </p:nvSpPr>
            <p:spPr>
              <a:xfrm>
                <a:off x="794385" y="2583656"/>
                <a:ext cx="890416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b="1" dirty="0">
                    <a:solidFill>
                      <a:srgbClr val="0E3F8C"/>
                    </a:solidFill>
                    <a:latin typeface="Arial"/>
                    <a:ea typeface="Microsoft YaHei"/>
                    <a:cs typeface="Arial"/>
                  </a:rPr>
                  <a:t>LAND · 陆地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4667174" y="2607945"/>
                <a:ext cx="633489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r"/>
                <a:r>
                  <a:rPr lang="zh-CN" sz="900" dirty="0">
                    <a:solidFill>
                      <a:srgbClr val="4A5568"/>
                    </a:solidFill>
                    <a:latin typeface="Arial"/>
                    <a:ea typeface="Microsoft YaHei"/>
                    <a:cs typeface="Arial"/>
                  </a:rPr>
                  <a:t>降水 &gt; 蒸散</a:t>
                </a:r>
              </a:p>
            </p:txBody>
          </p:sp>
          <p:sp>
            <p:nvSpPr>
              <p:cNvPr id="21" name="Line 21"/>
              <p:cNvSpPr/>
              <p:nvPr/>
            </p:nvSpPr>
            <p:spPr>
              <a:xfrm>
                <a:off x="1905000" y="3009900"/>
                <a:ext cx="9525" cy="8191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819150">
                    <a:moveTo>
                      <a:pt x="0" y="0"/>
                    </a:moveTo>
                    <a:lnTo>
                      <a:pt x="0" y="819150"/>
                    </a:lnTo>
                  </a:path>
                </a:pathLst>
              </a:custGeom>
              <a:noFill/>
              <a:ln w="57150">
                <a:solidFill>
                  <a:srgbClr val="3D7BD9"/>
                </a:solidFill>
              </a:ln>
            </p:spPr>
          </p:sp>
          <p:sp>
            <p:nvSpPr>
              <p:cNvPr id="22" name="Polygon 22"/>
              <p:cNvSpPr/>
              <p:nvPr/>
            </p:nvSpPr>
            <p:spPr>
              <a:xfrm>
                <a:off x="1790700" y="3695700"/>
                <a:ext cx="2286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171450">
                    <a:moveTo>
                      <a:pt x="0" y="0"/>
                    </a:moveTo>
                    <a:lnTo>
                      <a:pt x="114300" y="171450"/>
                    </a:lnTo>
                    <a:lnTo>
                      <a:pt x="228600" y="0"/>
                    </a:lnTo>
                    <a:close/>
                  </a:path>
                </a:pathLst>
              </a:custGeom>
              <a:solidFill>
                <a:srgbClr val="3D7BD9"/>
              </a:solidFill>
              <a:ln>
                <a:noFill/>
              </a:ln>
            </p:spPr>
          </p:sp>
          <p:sp>
            <p:nvSpPr>
              <p:cNvPr id="23" name="TextBox 23"/>
              <p:cNvSpPr txBox="1"/>
              <p:nvPr/>
            </p:nvSpPr>
            <p:spPr>
              <a:xfrm>
                <a:off x="1341390" y="2842022"/>
                <a:ext cx="1127220" cy="18335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40" dirty="0">
                    <a:solidFill>
                      <a:srgbClr val="4A5568"/>
                    </a:solidFill>
                    <a:latin typeface="Arial"/>
                    <a:ea typeface="Microsoft YaHei"/>
                    <a:cs typeface="Arial"/>
                  </a:rPr>
                  <a:t>降水向下 Precip. ↓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1659152" y="3991451"/>
                <a:ext cx="491697" cy="3960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2020" b="1" dirty="0">
                    <a:solidFill>
                      <a:srgbClr val="1E4FA8"/>
                    </a:solidFill>
                    <a:latin typeface="Arial"/>
                    <a:ea typeface="Arial"/>
                    <a:cs typeface="Arial"/>
                  </a:rPr>
                  <a:t>107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1370905" y="4322445"/>
                <a:ext cx="1068189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dirty="0">
                    <a:solidFill>
                      <a:srgbClr val="4A5568"/>
                    </a:solidFill>
                    <a:latin typeface="Arial"/>
                    <a:ea typeface="Microsoft YaHei"/>
                    <a:cs typeface="Arial"/>
                  </a:rPr>
                  <a:t>降水 Precipitation</a:t>
                </a:r>
              </a:p>
            </p:txBody>
          </p:sp>
          <p:sp>
            <p:nvSpPr>
              <p:cNvPr id="26" name="Line 26"/>
              <p:cNvSpPr/>
              <p:nvPr/>
            </p:nvSpPr>
            <p:spPr>
              <a:xfrm>
                <a:off x="4095750" y="3009900"/>
                <a:ext cx="9525" cy="8191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819150">
                    <a:moveTo>
                      <a:pt x="0" y="819150"/>
                    </a:moveTo>
                    <a:lnTo>
                      <a:pt x="0" y="0"/>
                    </a:lnTo>
                  </a:path>
                </a:pathLst>
              </a:custGeom>
              <a:noFill/>
              <a:ln w="57150">
                <a:solidFill>
                  <a:srgbClr val="1E4FA8"/>
                </a:solidFill>
              </a:ln>
            </p:spPr>
          </p:sp>
          <p:sp>
            <p:nvSpPr>
              <p:cNvPr id="27" name="Polygon 27"/>
              <p:cNvSpPr/>
              <p:nvPr/>
            </p:nvSpPr>
            <p:spPr>
              <a:xfrm>
                <a:off x="3981450" y="2971800"/>
                <a:ext cx="2286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171450">
                    <a:moveTo>
                      <a:pt x="0" y="171450"/>
                    </a:moveTo>
                    <a:lnTo>
                      <a:pt x="114300" y="0"/>
                    </a:lnTo>
                    <a:lnTo>
                      <a:pt x="228600" y="171450"/>
                    </a:lnTo>
                    <a:close/>
                  </a:path>
                </a:pathLst>
              </a:custGeom>
              <a:solidFill>
                <a:srgbClr val="1E4FA8"/>
              </a:solidFill>
              <a:ln>
                <a:noFill/>
              </a:ln>
            </p:spPr>
          </p:sp>
          <p:sp>
            <p:nvSpPr>
              <p:cNvPr id="28" name="TextBox 28"/>
              <p:cNvSpPr txBox="1"/>
              <p:nvPr/>
            </p:nvSpPr>
            <p:spPr>
              <a:xfrm>
                <a:off x="3673158" y="2842022"/>
                <a:ext cx="845185" cy="18335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40" dirty="0">
                    <a:solidFill>
                      <a:srgbClr val="4A5568"/>
                    </a:solidFill>
                    <a:latin typeface="Arial"/>
                    <a:ea typeface="Microsoft YaHei"/>
                    <a:cs typeface="Arial"/>
                  </a:rPr>
                  <a:t>蒸散向上 ET ↑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3928422" y="3991451"/>
                <a:ext cx="334656" cy="3960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2020" b="1" dirty="0">
                    <a:solidFill>
                      <a:srgbClr val="3D7BD9"/>
                    </a:solidFill>
                    <a:latin typeface="Arial"/>
                    <a:ea typeface="Arial"/>
                    <a:cs typeface="Arial"/>
                  </a:rPr>
                  <a:t>71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3379984" y="4322445"/>
                <a:ext cx="1431531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dirty="0">
                    <a:solidFill>
                      <a:srgbClr val="4A5568"/>
                    </a:solidFill>
                    <a:latin typeface="Arial"/>
                    <a:ea typeface="Microsoft YaHei"/>
                    <a:cs typeface="Arial"/>
                  </a:rPr>
                  <a:t>蒸散 Evapotranspiration</a:t>
                </a:r>
              </a:p>
            </p:txBody>
          </p:sp>
          <p:sp>
            <p:nvSpPr>
              <p:cNvPr id="31" name="Rectangle 31"/>
              <p:cNvSpPr/>
              <p:nvPr/>
            </p:nvSpPr>
            <p:spPr>
              <a:xfrm>
                <a:off x="800100" y="4552950"/>
                <a:ext cx="4495800" cy="495300"/>
              </a:xfrm>
              <a:prstGeom prst="roundRect">
                <a:avLst>
                  <a:gd name="adj" fmla="val 19231"/>
                </a:avLst>
              </a:prstGeom>
              <a:solidFill>
                <a:srgbClr val="F0F5FC"/>
              </a:solidFill>
              <a:ln>
                <a:noFill/>
              </a:ln>
            </p:spPr>
          </p:sp>
          <p:sp>
            <p:nvSpPr>
              <p:cNvPr id="32" name="TextBox 32"/>
              <p:cNvSpPr txBox="1"/>
              <p:nvPr/>
            </p:nvSpPr>
            <p:spPr>
              <a:xfrm>
                <a:off x="1559796" y="4745831"/>
                <a:ext cx="2976409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0" b="1" dirty="0">
                    <a:solidFill>
                      <a:srgbClr val="0E3F8C"/>
                    </a:solidFill>
                    <a:latin typeface="Arial"/>
                    <a:ea typeface="Microsoft YaHei"/>
                    <a:cs typeface="Arial"/>
                  </a:rPr>
                  <a:t>陆地收支：107 − 71 = 36（净得水 → 径流）</a:t>
                </a:r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6667500" y="2381250"/>
              <a:ext cx="4953000" cy="2838450"/>
              <a:chOff x="6667500" y="2381250"/>
              <a:chExt cx="4953000" cy="2838450"/>
            </a:xfrm>
          </p:grpSpPr>
          <p:sp>
            <p:nvSpPr>
              <p:cNvPr id="34" name="Rectangle 34"/>
              <p:cNvSpPr/>
              <p:nvPr/>
            </p:nvSpPr>
            <p:spPr>
              <a:xfrm>
                <a:off x="6667500" y="2381250"/>
                <a:ext cx="4953000" cy="2838450"/>
              </a:xfrm>
              <a:prstGeom prst="roundRect">
                <a:avLst>
                  <a:gd name="adj" fmla="val 4027"/>
                </a:avLst>
              </a:prstGeom>
              <a:solidFill>
                <a:srgbClr val="F0F5FC"/>
              </a:solidFill>
              <a:ln w="14288">
                <a:solidFill>
                  <a:srgbClr val="B8C7DC"/>
                </a:solidFill>
              </a:ln>
            </p:spPr>
          </p:sp>
          <p:sp>
            <p:nvSpPr>
              <p:cNvPr id="35" name="TextBox 35"/>
              <p:cNvSpPr txBox="1"/>
              <p:nvPr/>
            </p:nvSpPr>
            <p:spPr>
              <a:xfrm>
                <a:off x="6890385" y="2583656"/>
                <a:ext cx="101587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0" b="1" dirty="0">
                    <a:solidFill>
                      <a:srgbClr val="0E3F8C"/>
                    </a:solidFill>
                    <a:latin typeface="Arial"/>
                    <a:ea typeface="Microsoft YaHei"/>
                    <a:cs typeface="Arial"/>
                  </a:rPr>
                  <a:t>OCEAN · 海洋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10763174" y="2607945"/>
                <a:ext cx="633489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r"/>
                <a:r>
                  <a:rPr lang="zh-CN" sz="900" dirty="0">
                    <a:solidFill>
                      <a:srgbClr val="4A5568"/>
                    </a:solidFill>
                    <a:latin typeface="Arial"/>
                    <a:ea typeface="Microsoft YaHei"/>
                    <a:cs typeface="Arial"/>
                  </a:rPr>
                  <a:t>蒸发 &gt; 降水</a:t>
                </a:r>
              </a:p>
            </p:txBody>
          </p:sp>
          <p:sp>
            <p:nvSpPr>
              <p:cNvPr id="37" name="Line 37"/>
              <p:cNvSpPr/>
              <p:nvPr/>
            </p:nvSpPr>
            <p:spPr>
              <a:xfrm>
                <a:off x="8001000" y="3009900"/>
                <a:ext cx="9525" cy="8191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819150">
                    <a:moveTo>
                      <a:pt x="0" y="819150"/>
                    </a:moveTo>
                    <a:lnTo>
                      <a:pt x="0" y="0"/>
                    </a:lnTo>
                  </a:path>
                </a:pathLst>
              </a:custGeom>
              <a:noFill/>
              <a:ln w="57150">
                <a:solidFill>
                  <a:srgbClr val="1E4FA8"/>
                </a:solidFill>
              </a:ln>
            </p:spPr>
          </p:sp>
          <p:sp>
            <p:nvSpPr>
              <p:cNvPr id="38" name="Polygon 38"/>
              <p:cNvSpPr/>
              <p:nvPr/>
            </p:nvSpPr>
            <p:spPr>
              <a:xfrm>
                <a:off x="7886700" y="2971800"/>
                <a:ext cx="2286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171450">
                    <a:moveTo>
                      <a:pt x="0" y="171450"/>
                    </a:moveTo>
                    <a:lnTo>
                      <a:pt x="114300" y="0"/>
                    </a:lnTo>
                    <a:lnTo>
                      <a:pt x="228600" y="171450"/>
                    </a:lnTo>
                    <a:close/>
                  </a:path>
                </a:pathLst>
              </a:custGeom>
              <a:solidFill>
                <a:srgbClr val="1E4FA8"/>
              </a:solidFill>
              <a:ln>
                <a:noFill/>
              </a:ln>
            </p:spPr>
          </p:sp>
          <p:sp>
            <p:nvSpPr>
              <p:cNvPr id="39" name="TextBox 39"/>
              <p:cNvSpPr txBox="1"/>
              <p:nvPr/>
            </p:nvSpPr>
            <p:spPr>
              <a:xfrm>
                <a:off x="7489320" y="2842022"/>
                <a:ext cx="1023360" cy="18335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40" dirty="0">
                    <a:solidFill>
                      <a:srgbClr val="4A5568"/>
                    </a:solidFill>
                    <a:latin typeface="Arial"/>
                    <a:ea typeface="Microsoft YaHei"/>
                    <a:cs typeface="Arial"/>
                  </a:rPr>
                  <a:t>蒸发向上 Evap. ↑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7755152" y="3991451"/>
                <a:ext cx="491697" cy="3960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2020" b="1" dirty="0">
                    <a:solidFill>
                      <a:srgbClr val="1E4FA8"/>
                    </a:solidFill>
                    <a:latin typeface="Arial"/>
                    <a:ea typeface="Arial"/>
                    <a:cs typeface="Arial"/>
                  </a:rPr>
                  <a:t>434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7503023" y="4322445"/>
                <a:ext cx="995955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dirty="0">
                    <a:solidFill>
                      <a:srgbClr val="4A5568"/>
                    </a:solidFill>
                    <a:latin typeface="Arial"/>
                    <a:ea typeface="Microsoft YaHei"/>
                    <a:cs typeface="Arial"/>
                  </a:rPr>
                  <a:t>蒸发 Evaporation</a:t>
                </a:r>
              </a:p>
            </p:txBody>
          </p:sp>
          <p:sp>
            <p:nvSpPr>
              <p:cNvPr id="42" name="Line 42"/>
              <p:cNvSpPr/>
              <p:nvPr/>
            </p:nvSpPr>
            <p:spPr>
              <a:xfrm>
                <a:off x="10287000" y="3009900"/>
                <a:ext cx="9525" cy="8191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819150">
                    <a:moveTo>
                      <a:pt x="0" y="0"/>
                    </a:moveTo>
                    <a:lnTo>
                      <a:pt x="0" y="819150"/>
                    </a:lnTo>
                  </a:path>
                </a:pathLst>
              </a:custGeom>
              <a:noFill/>
              <a:ln w="57150">
                <a:solidFill>
                  <a:srgbClr val="3D7BD9"/>
                </a:solidFill>
              </a:ln>
            </p:spPr>
          </p:sp>
          <p:sp>
            <p:nvSpPr>
              <p:cNvPr id="43" name="Polygon 43"/>
              <p:cNvSpPr/>
              <p:nvPr/>
            </p:nvSpPr>
            <p:spPr>
              <a:xfrm>
                <a:off x="10172700" y="3695700"/>
                <a:ext cx="2286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171450">
                    <a:moveTo>
                      <a:pt x="0" y="0"/>
                    </a:moveTo>
                    <a:lnTo>
                      <a:pt x="114300" y="171450"/>
                    </a:lnTo>
                    <a:lnTo>
                      <a:pt x="228600" y="0"/>
                    </a:lnTo>
                    <a:close/>
                  </a:path>
                </a:pathLst>
              </a:custGeom>
              <a:solidFill>
                <a:srgbClr val="3D7BD9"/>
              </a:solidFill>
              <a:ln>
                <a:noFill/>
              </a:ln>
            </p:spPr>
          </p:sp>
          <p:sp>
            <p:nvSpPr>
              <p:cNvPr id="44" name="TextBox 44"/>
              <p:cNvSpPr txBox="1"/>
              <p:nvPr/>
            </p:nvSpPr>
            <p:spPr>
              <a:xfrm>
                <a:off x="9723390" y="2842022"/>
                <a:ext cx="1127220" cy="18335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40" dirty="0">
                    <a:solidFill>
                      <a:srgbClr val="4A5568"/>
                    </a:solidFill>
                    <a:latin typeface="Arial"/>
                    <a:ea typeface="Microsoft YaHei"/>
                    <a:cs typeface="Arial"/>
                  </a:rPr>
                  <a:t>降水向下 Precip. ↓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10041152" y="3991451"/>
                <a:ext cx="491697" cy="3960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2020" b="1" dirty="0">
                    <a:solidFill>
                      <a:srgbClr val="3D7BD9"/>
                    </a:solidFill>
                    <a:latin typeface="Arial"/>
                    <a:ea typeface="Arial"/>
                    <a:cs typeface="Arial"/>
                  </a:rPr>
                  <a:t>398</a:t>
                </a:r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9752905" y="4322445"/>
                <a:ext cx="1068189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dirty="0">
                    <a:solidFill>
                      <a:srgbClr val="4A5568"/>
                    </a:solidFill>
                    <a:latin typeface="Arial"/>
                    <a:ea typeface="Microsoft YaHei"/>
                    <a:cs typeface="Arial"/>
                  </a:rPr>
                  <a:t>降水 Precipitation</a:t>
                </a:r>
              </a:p>
            </p:txBody>
          </p:sp>
          <p:sp>
            <p:nvSpPr>
              <p:cNvPr id="47" name="Rectangle 47"/>
              <p:cNvSpPr/>
              <p:nvPr/>
            </p:nvSpPr>
            <p:spPr>
              <a:xfrm>
                <a:off x="6896100" y="4552950"/>
                <a:ext cx="4495800" cy="495300"/>
              </a:xfrm>
              <a:prstGeom prst="roundRect">
                <a:avLst>
                  <a:gd name="adj" fmla="val 19231"/>
                </a:avLst>
              </a:pr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48" name="TextBox 48"/>
              <p:cNvSpPr txBox="1"/>
              <p:nvPr/>
            </p:nvSpPr>
            <p:spPr>
              <a:xfrm>
                <a:off x="7612260" y="4745831"/>
                <a:ext cx="3063481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0" b="1" dirty="0">
                    <a:solidFill>
                      <a:srgbClr val="0E3F8C"/>
                    </a:solidFill>
                    <a:latin typeface="Arial"/>
                    <a:ea typeface="Microsoft YaHei"/>
                    <a:cs typeface="Arial"/>
                  </a:rPr>
                  <a:t>海洋收支：434 − 398 = 36（净失水 → 大气）</a:t>
                </a:r>
              </a:p>
            </p:txBody>
          </p:sp>
        </p:grpSp>
        <p:grpSp>
          <p:nvGrpSpPr>
            <p:cNvPr id="54" name="Group 54"/>
            <p:cNvGrpSpPr/>
            <p:nvPr/>
          </p:nvGrpSpPr>
          <p:grpSpPr>
            <a:xfrm>
              <a:off x="1905000" y="5384006"/>
              <a:ext cx="8439150" cy="702183"/>
              <a:chOff x="1905000" y="5384006"/>
              <a:chExt cx="8439150" cy="702183"/>
            </a:xfrm>
          </p:grpSpPr>
          <p:sp>
            <p:nvSpPr>
              <p:cNvPr id="50" name="TextBox 50"/>
              <p:cNvSpPr txBox="1"/>
              <p:nvPr/>
            </p:nvSpPr>
            <p:spPr>
              <a:xfrm>
                <a:off x="4008994" y="5384006"/>
                <a:ext cx="4174012" cy="2200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0" b="1" dirty="0">
                    <a:solidFill>
                      <a:srgbClr val="0E3F8C"/>
                    </a:solidFill>
                    <a:latin typeface="Arial"/>
                    <a:ea typeface="Microsoft YaHei"/>
                    <a:cs typeface="Arial"/>
                  </a:rPr>
                  <a:t>径流 Runoff = 36：陆地把等量的水送回海洋（陆地 → 海洋）</a:t>
                </a:r>
              </a:p>
            </p:txBody>
          </p:sp>
          <p:sp>
            <p:nvSpPr>
              <p:cNvPr id="51" name="Line 51"/>
              <p:cNvSpPr/>
              <p:nvPr/>
            </p:nvSpPr>
            <p:spPr>
              <a:xfrm>
                <a:off x="1905000" y="5695950"/>
                <a:ext cx="83820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8382000" h="9525">
                    <a:moveTo>
                      <a:pt x="0" y="0"/>
                    </a:moveTo>
                    <a:lnTo>
                      <a:pt x="8382000" y="0"/>
                    </a:lnTo>
                  </a:path>
                </a:pathLst>
              </a:custGeom>
              <a:noFill/>
              <a:ln w="57150">
                <a:solidFill>
                  <a:srgbClr val="0E3F8C"/>
                </a:solidFill>
              </a:ln>
            </p:spPr>
          </p:sp>
          <p:sp>
            <p:nvSpPr>
              <p:cNvPr id="52" name="Polygon 52"/>
              <p:cNvSpPr/>
              <p:nvPr/>
            </p:nvSpPr>
            <p:spPr>
              <a:xfrm>
                <a:off x="10115550" y="5581650"/>
                <a:ext cx="228600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28600">
                    <a:moveTo>
                      <a:pt x="0" y="0"/>
                    </a:moveTo>
                    <a:lnTo>
                      <a:pt x="228600" y="114300"/>
                    </a:lnTo>
                    <a:lnTo>
                      <a:pt x="0" y="228600"/>
                    </a:lnTo>
                    <a:close/>
                  </a:path>
                </a:pathLst>
              </a:custGeom>
              <a:solidFill>
                <a:srgbClr val="0E3F8C"/>
              </a:solidFill>
              <a:ln>
                <a:noFill/>
              </a:ln>
            </p:spPr>
          </p:sp>
          <p:sp>
            <p:nvSpPr>
              <p:cNvPr id="53" name="TextBox 53"/>
              <p:cNvSpPr txBox="1"/>
              <p:nvPr/>
            </p:nvSpPr>
            <p:spPr>
              <a:xfrm>
                <a:off x="4237091" y="5895499"/>
                <a:ext cx="3717818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80" dirty="0">
                    <a:solidFill>
                      <a:srgbClr val="4A5568"/>
                    </a:solidFill>
                    <a:latin typeface="Arial"/>
                    <a:ea typeface="Microsoft YaHei"/>
                    <a:cs typeface="Arial"/>
                  </a:rPr>
                  <a:t>全球收支闭合：海洋 E−P = 陆地 P−E = 大气输送 = 径流 = 36</a:t>
                </a:r>
              </a:p>
            </p:txBody>
          </p:sp>
        </p:grpSp>
      </p:grpSp>
      <p:sp>
        <p:nvSpPr>
          <p:cNvPr id="56" name="TextBox 56"/>
          <p:cNvSpPr txBox="1"/>
          <p:nvPr/>
        </p:nvSpPr>
        <p:spPr>
          <a:xfrm>
            <a:off x="376238" y="6532245"/>
            <a:ext cx="680363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dirty="0">
                <a:solidFill>
                  <a:srgbClr val="4A5568"/>
                </a:solidFill>
                <a:latin typeface="Arial"/>
                <a:ea typeface="Arial"/>
                <a:cs typeface="Arial"/>
              </a:rPr>
              <a:t>Source: UE 8e, Fig. 17.2, PDF pp.1652, 1655. Flows ×10³ km³/yr; one internally coherent textbook global budget.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11672964" y="6532245"/>
            <a:ext cx="142799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4A5568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2192000" cy="685800"/>
            <a:chOff x="0" y="0"/>
            <a:chExt cx="12192000" cy="6858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"/>
            </a:xfrm>
            <a:prstGeom prst="rect">
              <a:avLst/>
            </a:prstGeom>
            <a:solidFill>
              <a:srgbClr val="0E3F8C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374142" y="282892"/>
              <a:ext cx="388630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1.8 水的三相转换 | Phase Changes of Water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10780776" y="299085"/>
              <a:ext cx="10363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00" dirty="0">
                  <a:solidFill>
                    <a:srgbClr val="C7D7F2"/>
                  </a:solidFill>
                  <a:latin typeface="Arial"/>
                  <a:ea typeface="Arial"/>
                  <a:cs typeface="Arial"/>
                </a:rPr>
                <a:t>WATER CYCLE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381000" y="914400"/>
            <a:ext cx="7029973" cy="357093"/>
            <a:chOff x="381000" y="914400"/>
            <a:chExt cx="7029973" cy="357093"/>
          </a:xfrm>
        </p:grpSpPr>
        <p:sp>
          <p:nvSpPr>
            <p:cNvPr id="6" name="Rectangle 6"/>
            <p:cNvSpPr/>
            <p:nvPr/>
          </p:nvSpPr>
          <p:spPr>
            <a:xfrm>
              <a:off x="381000" y="914400"/>
              <a:ext cx="57150" cy="266700"/>
            </a:xfrm>
            <a:prstGeom prst="roundRect">
              <a:avLst>
                <a:gd name="adj" fmla="val 50000"/>
              </a:avLst>
            </a:prstGeom>
            <a:solidFill>
              <a:srgbClr val="1E4FA8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44449" y="963454"/>
              <a:ext cx="6866524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0E3F8C"/>
                  </a:solidFill>
                  <a:latin typeface="Arial"/>
                  <a:ea typeface="Microsoft YaHei"/>
                  <a:cs typeface="Arial"/>
                </a:rPr>
                <a:t>相变同时转移水和能量：向上吸热、向下放热，汽化潜热约为熔融的 7 倍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381000" y="1428750"/>
            <a:ext cx="7086600" cy="4476750"/>
            <a:chOff x="381000" y="1428750"/>
            <a:chExt cx="7086600" cy="4476750"/>
          </a:xfrm>
        </p:grpSpPr>
        <p:sp>
          <p:nvSpPr>
            <p:cNvPr id="9" name="Rectangle 9"/>
            <p:cNvSpPr/>
            <p:nvPr/>
          </p:nvSpPr>
          <p:spPr>
            <a:xfrm>
              <a:off x="381000" y="1428750"/>
              <a:ext cx="7086600" cy="4476750"/>
            </a:xfrm>
            <a:prstGeom prst="roundRect">
              <a:avLst>
                <a:gd name="adj" fmla="val 2553"/>
              </a:avLst>
            </a:prstGeom>
            <a:solidFill>
              <a:srgbClr val="F7F9FC"/>
            </a:solidFill>
            <a:ln w="9525">
              <a:solidFill>
                <a:srgbClr val="D6DCE5"/>
              </a:solidFill>
            </a:ln>
          </p:spPr>
        </p:sp>
        <p:pic>
          <p:nvPicPr>
            <p:cNvPr id="10" name="Image 10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80120" y="1733550"/>
              <a:ext cx="6888361" cy="3867150"/>
            </a:xfrm>
            <a:prstGeom prst="rect">
              <a:avLst/>
            </a:prstGeom>
          </p:spPr>
        </p:pic>
      </p:grpSp>
      <p:grpSp>
        <p:nvGrpSpPr>
          <p:cNvPr id="17" name="Group 17"/>
          <p:cNvGrpSpPr/>
          <p:nvPr/>
        </p:nvGrpSpPr>
        <p:grpSpPr>
          <a:xfrm>
            <a:off x="7658100" y="1428750"/>
            <a:ext cx="4152900" cy="1333500"/>
            <a:chOff x="7658100" y="1428750"/>
            <a:chExt cx="4152900" cy="1333500"/>
          </a:xfrm>
        </p:grpSpPr>
        <p:sp>
          <p:nvSpPr>
            <p:cNvPr id="12" name="Rectangle 12"/>
            <p:cNvSpPr/>
            <p:nvPr/>
          </p:nvSpPr>
          <p:spPr>
            <a:xfrm>
              <a:off x="7658100" y="1428750"/>
              <a:ext cx="4152900" cy="1333500"/>
            </a:xfrm>
            <a:prstGeom prst="roundRect">
              <a:avLst>
                <a:gd name="adj" fmla="val 8571"/>
              </a:avLst>
            </a:prstGeom>
            <a:solidFill>
              <a:srgbClr val="F0F5FC"/>
            </a:solidFill>
            <a:ln w="9525">
              <a:solidFill>
                <a:srgbClr val="D6DCE5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7842885" y="1612106"/>
              <a:ext cx="14682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0E3F8C"/>
                  </a:solidFill>
                  <a:latin typeface="Arial"/>
                  <a:ea typeface="Microsoft YaHei"/>
                  <a:cs typeface="Arial"/>
                </a:rPr>
                <a:t>三态 | Three states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843456" y="1929051"/>
              <a:ext cx="1168565" cy="1980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10" dirty="0">
                  <a:solidFill>
                    <a:srgbClr val="1A2230"/>
                  </a:solidFill>
                  <a:latin typeface="Arial"/>
                  <a:ea typeface="Microsoft YaHei"/>
                  <a:cs typeface="Arial"/>
                </a:rPr>
                <a:t>固态 Solid — 冰 Ice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843456" y="2195751"/>
              <a:ext cx="2306160" cy="1980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10" dirty="0">
                  <a:solidFill>
                    <a:srgbClr val="1A2230"/>
                  </a:solidFill>
                  <a:latin typeface="Arial"/>
                  <a:ea typeface="Microsoft YaHei"/>
                  <a:cs typeface="Arial"/>
                </a:rPr>
                <a:t>液态 Liquid — 水 Water（0–100 °C）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843456" y="2462451"/>
              <a:ext cx="1409873" cy="1980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10" dirty="0">
                  <a:solidFill>
                    <a:srgbClr val="1A2230"/>
                  </a:solidFill>
                  <a:latin typeface="Arial"/>
                  <a:ea typeface="Microsoft YaHei"/>
                  <a:cs typeface="Arial"/>
                </a:rPr>
                <a:t>气态 Gas — 水汽 Vapor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7658100" y="2895600"/>
            <a:ext cx="4152900" cy="1447800"/>
            <a:chOff x="7658100" y="2895600"/>
            <a:chExt cx="4152900" cy="1447800"/>
          </a:xfrm>
        </p:grpSpPr>
        <p:sp>
          <p:nvSpPr>
            <p:cNvPr id="18" name="Rectangle 18"/>
            <p:cNvSpPr/>
            <p:nvPr/>
          </p:nvSpPr>
          <p:spPr>
            <a:xfrm>
              <a:off x="7658100" y="2895600"/>
              <a:ext cx="4152900" cy="1447800"/>
            </a:xfrm>
            <a:prstGeom prst="roundRect">
              <a:avLst>
                <a:gd name="adj" fmla="val 7895"/>
              </a:avLst>
            </a:prstGeom>
            <a:solidFill>
              <a:srgbClr val="FFFFFF"/>
            </a:solidFill>
            <a:ln w="9525">
              <a:solidFill>
                <a:srgbClr val="D6DCE5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7842885" y="3078956"/>
              <a:ext cx="24639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E4FA8"/>
                  </a:solidFill>
                  <a:latin typeface="Arial"/>
                  <a:ea typeface="Microsoft YaHei"/>
                  <a:cs typeface="Arial"/>
                </a:rPr>
                <a:t>吸热：能量进入水 | Heat absorbed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843647" y="3399949"/>
              <a:ext cx="190550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1A2230"/>
                  </a:solidFill>
                  <a:latin typeface="Arial"/>
                  <a:ea typeface="Microsoft YaHei"/>
                  <a:cs typeface="Arial"/>
                </a:rPr>
                <a:t>熔融 Melting　+80 Cal（0 °C）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843647" y="3666649"/>
              <a:ext cx="233418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1A2230"/>
                  </a:solidFill>
                  <a:latin typeface="Arial"/>
                  <a:ea typeface="Microsoft YaHei"/>
                  <a:cs typeface="Arial"/>
                </a:rPr>
                <a:t>增温 Warming　+100 Cal（0→100 °C）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843647" y="3933349"/>
              <a:ext cx="2456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1A2230"/>
                  </a:solidFill>
                  <a:latin typeface="Arial"/>
                  <a:ea typeface="Microsoft YaHei"/>
                  <a:cs typeface="Arial"/>
                </a:rPr>
                <a:t>蒸发 Vaporization　+540 Cal（100 °C）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7658100" y="4476750"/>
            <a:ext cx="4152900" cy="1428750"/>
            <a:chOff x="7658100" y="4476750"/>
            <a:chExt cx="4152900" cy="1428750"/>
          </a:xfrm>
        </p:grpSpPr>
        <p:sp>
          <p:nvSpPr>
            <p:cNvPr id="24" name="Rectangle 24"/>
            <p:cNvSpPr/>
            <p:nvPr/>
          </p:nvSpPr>
          <p:spPr>
            <a:xfrm>
              <a:off x="7658100" y="4476750"/>
              <a:ext cx="4152900" cy="1428750"/>
            </a:xfrm>
            <a:prstGeom prst="roundRect">
              <a:avLst>
                <a:gd name="adj" fmla="val 8000"/>
              </a:avLst>
            </a:prstGeom>
            <a:solidFill>
              <a:srgbClr val="F0F5FC"/>
            </a:solidFill>
            <a:ln w="9525">
              <a:solidFill>
                <a:srgbClr val="D6DCE5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842885" y="4660106"/>
              <a:ext cx="24242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3D7BD9"/>
                  </a:solidFill>
                  <a:latin typeface="Arial"/>
                  <a:ea typeface="Microsoft YaHei"/>
                  <a:cs typeface="Arial"/>
                </a:rPr>
                <a:t>放热：能量离开水 | Heat released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843647" y="4981099"/>
              <a:ext cx="144938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1A2230"/>
                  </a:solidFill>
                  <a:latin typeface="Arial"/>
                  <a:ea typeface="Microsoft YaHei"/>
                  <a:cs typeface="Arial"/>
                </a:rPr>
                <a:t>冻结 Freezing　−80 Cal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843647" y="5247799"/>
              <a:ext cx="14174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1A2230"/>
                  </a:solidFill>
                  <a:latin typeface="Arial"/>
                  <a:ea typeface="Microsoft YaHei"/>
                  <a:cs typeface="Arial"/>
                </a:rPr>
                <a:t>降温 Cooling　−100 Cal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843647" y="5514499"/>
              <a:ext cx="18110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1A2230"/>
                  </a:solidFill>
                  <a:latin typeface="Arial"/>
                  <a:ea typeface="Microsoft YaHei"/>
                  <a:cs typeface="Arial"/>
                </a:rPr>
                <a:t>凝结 Condensation　−540 Cal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381000" y="5981700"/>
            <a:ext cx="11430000" cy="419100"/>
            <a:chOff x="381000" y="5981700"/>
            <a:chExt cx="11430000" cy="419100"/>
          </a:xfrm>
        </p:grpSpPr>
        <p:sp>
          <p:nvSpPr>
            <p:cNvPr id="30" name="Rectangle 30"/>
            <p:cNvSpPr/>
            <p:nvPr/>
          </p:nvSpPr>
          <p:spPr>
            <a:xfrm>
              <a:off x="381000" y="5981700"/>
              <a:ext cx="11430000" cy="419100"/>
            </a:xfrm>
            <a:prstGeom prst="roundRect">
              <a:avLst>
                <a:gd name="adj" fmla="val 22727"/>
              </a:avLst>
            </a:prstGeom>
            <a:solidFill>
              <a:srgbClr val="E8EFF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1686789" y="6131004"/>
              <a:ext cx="8818421" cy="2126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90" b="1" dirty="0">
                  <a:solidFill>
                    <a:srgbClr val="0E3F8C"/>
                  </a:solidFill>
                  <a:latin typeface="Arial"/>
                  <a:ea typeface="Microsoft YaHei"/>
                  <a:cs typeface="Arial"/>
                </a:rPr>
                <a:t>熔融潜热 Latent heat of fusion 80 Cal　｜　汽化潜热 Latent heat of vaporization 540 Cal（约 7 倍）　｜　1 Cal = 4.184 J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376238" y="6532245"/>
            <a:ext cx="7376202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4A5568"/>
                </a:solidFill>
                <a:latin typeface="Arial"/>
                <a:ea typeface="Microsoft YaHei"/>
                <a:cs typeface="Arial"/>
              </a:rPr>
              <a:t>Source: 地球系统与演变, Fig. 3-17, p.112 (PDF p.27). Figure W-05 shown intact; arrow directions and all values preserved.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672964" y="6532245"/>
            <a:ext cx="142799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4A5568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2192000" cy="685800"/>
            <a:chOff x="0" y="0"/>
            <a:chExt cx="12192000" cy="6858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"/>
            </a:xfrm>
            <a:prstGeom prst="rect">
              <a:avLst/>
            </a:prstGeom>
            <a:solidFill>
              <a:srgbClr val="0E3F8C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374142" y="282892"/>
              <a:ext cx="46040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1.9 蒸发与蒸散 | Evaporation &amp; Evapotranspiration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10780776" y="299085"/>
              <a:ext cx="10363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00" dirty="0">
                  <a:solidFill>
                    <a:srgbClr val="C7D7F2"/>
                  </a:solidFill>
                  <a:latin typeface="Arial"/>
                  <a:ea typeface="Arial"/>
                  <a:cs typeface="Arial"/>
                </a:rPr>
                <a:t>WATER CYCLE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381000" y="914400"/>
            <a:ext cx="6135040" cy="357093"/>
            <a:chOff x="381000" y="914400"/>
            <a:chExt cx="6135040" cy="357093"/>
          </a:xfrm>
        </p:grpSpPr>
        <p:sp>
          <p:nvSpPr>
            <p:cNvPr id="6" name="Rectangle 6"/>
            <p:cNvSpPr/>
            <p:nvPr/>
          </p:nvSpPr>
          <p:spPr>
            <a:xfrm>
              <a:off x="381000" y="914400"/>
              <a:ext cx="57150" cy="266700"/>
            </a:xfrm>
            <a:prstGeom prst="roundRect">
              <a:avLst>
                <a:gd name="adj" fmla="val 50000"/>
              </a:avLst>
            </a:prstGeom>
            <a:solidFill>
              <a:srgbClr val="1E4FA8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44449" y="963454"/>
              <a:ext cx="5971591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0E3F8C"/>
                  </a:solidFill>
                  <a:latin typeface="Arial"/>
                  <a:ea typeface="Microsoft YaHei"/>
                  <a:cs typeface="Arial"/>
                </a:rPr>
                <a:t>海洋、陆地表面与植物分别把水返还大气；蒸发加蒸腾合称蒸散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381000" y="1428750"/>
            <a:ext cx="11430000" cy="3314700"/>
            <a:chOff x="381000" y="1428750"/>
            <a:chExt cx="11430000" cy="3314700"/>
          </a:xfrm>
        </p:grpSpPr>
        <p:sp>
          <p:nvSpPr>
            <p:cNvPr id="9" name="Rectangle 9"/>
            <p:cNvSpPr/>
            <p:nvPr/>
          </p:nvSpPr>
          <p:spPr>
            <a:xfrm>
              <a:off x="381000" y="1428750"/>
              <a:ext cx="11430000" cy="3314700"/>
            </a:xfrm>
            <a:prstGeom prst="roundRect">
              <a:avLst>
                <a:gd name="adj" fmla="val 3448"/>
              </a:avLst>
            </a:prstGeom>
            <a:solidFill>
              <a:srgbClr val="F7F9FC"/>
            </a:solidFill>
            <a:ln w="9525">
              <a:solidFill>
                <a:srgbClr val="D6DCE5"/>
              </a:solidFill>
            </a:ln>
          </p:spPr>
        </p:sp>
        <p:grpSp>
          <p:nvGrpSpPr>
            <p:cNvPr id="12" name="Group 12"/>
            <p:cNvGrpSpPr/>
            <p:nvPr/>
          </p:nvGrpSpPr>
          <p:grpSpPr>
            <a:xfrm>
              <a:off x="571500" y="1581150"/>
              <a:ext cx="11049000" cy="514350"/>
              <a:chOff x="571500" y="1581150"/>
              <a:chExt cx="11049000" cy="51435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581150"/>
                <a:ext cx="11049000" cy="514350"/>
              </a:xfrm>
              <a:prstGeom prst="roundRect">
                <a:avLst>
                  <a:gd name="adj" fmla="val 18519"/>
                </a:avLst>
              </a:prstGeom>
              <a:solidFill>
                <a:srgbClr val="E8EFF8"/>
              </a:solidFill>
              <a:ln>
                <a:noFill/>
              </a:ln>
            </p:spPr>
          </p:sp>
          <p:sp>
            <p:nvSpPr>
              <p:cNvPr id="11" name="TextBox 11"/>
              <p:cNvSpPr txBox="1"/>
              <p:nvPr/>
            </p:nvSpPr>
            <p:spPr>
              <a:xfrm>
                <a:off x="757047" y="1790224"/>
                <a:ext cx="5198802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b="1" dirty="0">
                    <a:solidFill>
                      <a:srgbClr val="1E4FA8"/>
                    </a:solidFill>
                    <a:latin typeface="Arial"/>
                    <a:ea typeface="Microsoft YaHei"/>
                    <a:cs typeface="Arial"/>
                  </a:rPr>
                  <a:t>ATMOSPHERE · 大气：接收返还的水汽 Water vapor returned to the atmosphere</a:t>
                </a:r>
              </a:p>
            </p:txBody>
          </p:sp>
        </p:grpSp>
        <p:grpSp>
          <p:nvGrpSpPr>
            <p:cNvPr id="18" name="Group 18"/>
            <p:cNvGrpSpPr/>
            <p:nvPr/>
          </p:nvGrpSpPr>
          <p:grpSpPr>
            <a:xfrm>
              <a:off x="571500" y="3943350"/>
              <a:ext cx="11049000" cy="800100"/>
              <a:chOff x="571500" y="3943350"/>
              <a:chExt cx="11049000" cy="800100"/>
            </a:xfrm>
          </p:grpSpPr>
          <p:sp>
            <p:nvSpPr>
              <p:cNvPr id="13" name="Rectangle 13"/>
              <p:cNvSpPr/>
              <p:nvPr/>
            </p:nvSpPr>
            <p:spPr>
              <a:xfrm>
                <a:off x="571500" y="4000500"/>
                <a:ext cx="6096000" cy="742950"/>
              </a:xfrm>
              <a:prstGeom prst="rect">
                <a:avLst/>
              </a:prstGeom>
              <a:solidFill>
                <a:srgbClr val="EFEDE7"/>
              </a:solidFill>
              <a:ln w="9525">
                <a:solidFill>
                  <a:srgbClr val="D6DCE5"/>
                </a:solidFill>
              </a:ln>
            </p:spPr>
          </p:sp>
          <p:sp>
            <p:nvSpPr>
              <p:cNvPr id="14" name="Rectangle 14"/>
              <p:cNvSpPr/>
              <p:nvPr/>
            </p:nvSpPr>
            <p:spPr>
              <a:xfrm>
                <a:off x="6667500" y="4000500"/>
                <a:ext cx="4953000" cy="742950"/>
              </a:xfrm>
              <a:prstGeom prst="rect">
                <a:avLst/>
              </a:prstGeom>
              <a:solidFill>
                <a:srgbClr val="DCEAF8"/>
              </a:solidFill>
              <a:ln w="9525">
                <a:solidFill>
                  <a:srgbClr val="B8C7DC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6667500" y="3943350"/>
                <a:ext cx="495300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4953000" h="114300">
                    <a:moveTo>
                      <a:pt x="0" y="57150"/>
                    </a:moveTo>
                    <a:cubicBezTo>
                      <a:pt x="381000" y="0"/>
                      <a:pt x="762000" y="114300"/>
                      <a:pt x="1143000" y="57150"/>
                    </a:cubicBezTo>
                    <a:cubicBezTo>
                      <a:pt x="1524000" y="0"/>
                      <a:pt x="1905000" y="114300"/>
                      <a:pt x="2286000" y="57150"/>
                    </a:cubicBezTo>
                    <a:cubicBezTo>
                      <a:pt x="2667000" y="0"/>
                      <a:pt x="3048000" y="114300"/>
                      <a:pt x="3429000" y="57150"/>
                    </a:cubicBezTo>
                    <a:cubicBezTo>
                      <a:pt x="3810000" y="0"/>
                      <a:pt x="4191000" y="114300"/>
                      <a:pt x="4572000" y="57150"/>
                    </a:cubicBezTo>
                    <a:cubicBezTo>
                      <a:pt x="4705350" y="38100"/>
                      <a:pt x="4838700" y="38100"/>
                      <a:pt x="4953000" y="57150"/>
                    </a:cubicBezTo>
                  </a:path>
                </a:pathLst>
              </a:custGeom>
              <a:noFill/>
              <a:ln w="19050">
                <a:solidFill>
                  <a:srgbClr val="3D7BD9"/>
                </a:solidFill>
              </a:ln>
            </p:spPr>
          </p:sp>
          <p:sp>
            <p:nvSpPr>
              <p:cNvPr id="16" name="TextBox 16"/>
              <p:cNvSpPr txBox="1"/>
              <p:nvPr/>
            </p:nvSpPr>
            <p:spPr>
              <a:xfrm>
                <a:off x="719138" y="4531995"/>
                <a:ext cx="585597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4A5568"/>
                    </a:solidFill>
                    <a:latin typeface="Arial"/>
                    <a:ea typeface="Microsoft YaHei"/>
                    <a:cs typeface="Arial"/>
                  </a:rPr>
                  <a:t>陆地 LAND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10791254" y="4531995"/>
                <a:ext cx="681609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r"/>
                <a:r>
                  <a:rPr lang="zh-CN" sz="900" dirty="0">
                    <a:solidFill>
                      <a:srgbClr val="1E4FA8"/>
                    </a:solidFill>
                    <a:latin typeface="Arial"/>
                    <a:ea typeface="Microsoft YaHei"/>
                    <a:cs typeface="Arial"/>
                  </a:rPr>
                  <a:t>海洋 OCEAN</a:t>
                </a:r>
              </a:p>
            </p:txBody>
          </p:sp>
        </p:grpSp>
        <p:grpSp>
          <p:nvGrpSpPr>
            <p:cNvPr id="23" name="Group 23"/>
            <p:cNvGrpSpPr/>
            <p:nvPr/>
          </p:nvGrpSpPr>
          <p:grpSpPr>
            <a:xfrm>
              <a:off x="1514475" y="2209800"/>
              <a:ext cx="1912001" cy="1733550"/>
              <a:chOff x="1514475" y="2209800"/>
              <a:chExt cx="1912001" cy="1733550"/>
            </a:xfrm>
          </p:grpSpPr>
          <p:sp>
            <p:nvSpPr>
              <p:cNvPr id="19" name="Line 19"/>
              <p:cNvSpPr/>
              <p:nvPr/>
            </p:nvSpPr>
            <p:spPr>
              <a:xfrm>
                <a:off x="1619250" y="2247900"/>
                <a:ext cx="9525" cy="1695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695450">
                    <a:moveTo>
                      <a:pt x="0" y="1695450"/>
                    </a:moveTo>
                    <a:lnTo>
                      <a:pt x="0" y="0"/>
                    </a:lnTo>
                  </a:path>
                </a:pathLst>
              </a:custGeom>
              <a:noFill/>
              <a:ln w="47625">
                <a:solidFill>
                  <a:srgbClr val="3D7BD9"/>
                </a:solidFill>
              </a:ln>
            </p:spPr>
          </p:sp>
          <p:sp>
            <p:nvSpPr>
              <p:cNvPr id="20" name="Polygon 20"/>
              <p:cNvSpPr/>
              <p:nvPr/>
            </p:nvSpPr>
            <p:spPr>
              <a:xfrm>
                <a:off x="1514475" y="2209800"/>
                <a:ext cx="209550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209550" h="190500">
                    <a:moveTo>
                      <a:pt x="0" y="190500"/>
                    </a:moveTo>
                    <a:lnTo>
                      <a:pt x="104775" y="0"/>
                    </a:lnTo>
                    <a:lnTo>
                      <a:pt x="209550" y="190500"/>
                    </a:lnTo>
                    <a:close/>
                  </a:path>
                </a:pathLst>
              </a:custGeom>
              <a:solidFill>
                <a:srgbClr val="3D7BD9"/>
              </a:solidFill>
              <a:ln>
                <a:noFill/>
              </a:ln>
            </p:spPr>
          </p:sp>
          <p:sp>
            <p:nvSpPr>
              <p:cNvPr id="21" name="TextBox 21"/>
              <p:cNvSpPr txBox="1"/>
              <p:nvPr/>
            </p:nvSpPr>
            <p:spPr>
              <a:xfrm>
                <a:off x="1861947" y="2714149"/>
                <a:ext cx="537616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b="1" dirty="0">
                    <a:solidFill>
                      <a:srgbClr val="1E4FA8"/>
                    </a:solidFill>
                    <a:latin typeface="Arial"/>
                    <a:ea typeface="Microsoft YaHei"/>
                    <a:cs typeface="Arial"/>
                  </a:rPr>
                  <a:t>陆地蒸发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1862138" y="2931795"/>
                <a:ext cx="1564338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900" dirty="0">
                    <a:solidFill>
                      <a:srgbClr val="4A5568"/>
                    </a:solidFill>
                    <a:latin typeface="Arial"/>
                    <a:ea typeface="Arial"/>
                    <a:cs typeface="Arial"/>
                  </a:rPr>
                  <a:t>Surface / soil evaporation</a:t>
                </a:r>
              </a:p>
            </p:txBody>
          </p:sp>
        </p:grpSp>
        <p:grpSp>
          <p:nvGrpSpPr>
            <p:cNvPr id="34" name="Group 34"/>
            <p:cNvGrpSpPr/>
            <p:nvPr/>
          </p:nvGrpSpPr>
          <p:grpSpPr>
            <a:xfrm>
              <a:off x="3138488" y="2209800"/>
              <a:ext cx="2793685" cy="2419112"/>
              <a:chOff x="3138488" y="2209800"/>
              <a:chExt cx="2793685" cy="2419112"/>
            </a:xfrm>
          </p:grpSpPr>
          <p:sp>
            <p:nvSpPr>
              <p:cNvPr id="24" name="Line 24"/>
              <p:cNvSpPr/>
              <p:nvPr/>
            </p:nvSpPr>
            <p:spPr>
              <a:xfrm>
                <a:off x="3429000" y="4000500"/>
                <a:ext cx="190500" cy="323850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323850">
                    <a:moveTo>
                      <a:pt x="0" y="0"/>
                    </a:moveTo>
                    <a:lnTo>
                      <a:pt x="190500" y="323850"/>
                    </a:lnTo>
                  </a:path>
                </a:pathLst>
              </a:custGeom>
              <a:noFill/>
              <a:ln w="19050">
                <a:solidFill>
                  <a:srgbClr val="8FB083"/>
                </a:solidFill>
              </a:ln>
            </p:spPr>
          </p:sp>
          <p:sp>
            <p:nvSpPr>
              <p:cNvPr id="25" name="Line 25"/>
              <p:cNvSpPr/>
              <p:nvPr/>
            </p:nvSpPr>
            <p:spPr>
              <a:xfrm>
                <a:off x="3676650" y="4000500"/>
                <a:ext cx="9525" cy="3619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61950">
                    <a:moveTo>
                      <a:pt x="0" y="0"/>
                    </a:moveTo>
                    <a:lnTo>
                      <a:pt x="0" y="361950"/>
                    </a:lnTo>
                  </a:path>
                </a:pathLst>
              </a:custGeom>
              <a:noFill/>
              <a:ln w="19050">
                <a:solidFill>
                  <a:srgbClr val="8FB083"/>
                </a:solidFill>
              </a:ln>
            </p:spPr>
          </p:sp>
          <p:sp>
            <p:nvSpPr>
              <p:cNvPr id="26" name="Line 26"/>
              <p:cNvSpPr/>
              <p:nvPr/>
            </p:nvSpPr>
            <p:spPr>
              <a:xfrm>
                <a:off x="3733800" y="4000500"/>
                <a:ext cx="190500" cy="323850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323850">
                    <a:moveTo>
                      <a:pt x="190500" y="0"/>
                    </a:moveTo>
                    <a:lnTo>
                      <a:pt x="0" y="323850"/>
                    </a:lnTo>
                  </a:path>
                </a:pathLst>
              </a:custGeom>
              <a:noFill/>
              <a:ln w="19050">
                <a:solidFill>
                  <a:srgbClr val="8FB083"/>
                </a:solidFill>
              </a:ln>
            </p:spPr>
          </p:sp>
          <p:sp>
            <p:nvSpPr>
              <p:cNvPr id="27" name="Rectangle 27"/>
              <p:cNvSpPr/>
              <p:nvPr/>
            </p:nvSpPr>
            <p:spPr>
              <a:xfrm>
                <a:off x="3619500" y="3390900"/>
                <a:ext cx="114300" cy="609600"/>
              </a:xfrm>
              <a:prstGeom prst="rect">
                <a:avLst/>
              </a:prstGeom>
              <a:solidFill>
                <a:srgbClr val="6F965A"/>
              </a:solidFill>
              <a:ln>
                <a:noFill/>
              </a:ln>
            </p:spPr>
          </p:sp>
          <p:sp>
            <p:nvSpPr>
              <p:cNvPr id="28" name="Ellipse 28"/>
              <p:cNvSpPr/>
              <p:nvPr/>
            </p:nvSpPr>
            <p:spPr>
              <a:xfrm>
                <a:off x="3219450" y="3009900"/>
                <a:ext cx="914400" cy="571500"/>
              </a:xfrm>
              <a:prstGeom prst="ellipse">
                <a:avLst/>
              </a:prstGeom>
              <a:solidFill>
                <a:srgbClr val="DCEBD9"/>
              </a:solidFill>
              <a:ln w="14288">
                <a:solidFill>
                  <a:srgbClr val="8FB083"/>
                </a:solidFill>
              </a:ln>
            </p:spPr>
          </p:sp>
          <p:sp>
            <p:nvSpPr>
              <p:cNvPr id="29" name="Line 29"/>
              <p:cNvSpPr/>
              <p:nvPr/>
            </p:nvSpPr>
            <p:spPr>
              <a:xfrm>
                <a:off x="3676650" y="2247900"/>
                <a:ext cx="9525" cy="857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857250">
                    <a:moveTo>
                      <a:pt x="0" y="857250"/>
                    </a:moveTo>
                    <a:lnTo>
                      <a:pt x="0" y="0"/>
                    </a:lnTo>
                  </a:path>
                </a:pathLst>
              </a:custGeom>
              <a:noFill/>
              <a:ln w="47625">
                <a:solidFill>
                  <a:srgbClr val="1E4FA8"/>
                </a:solidFill>
              </a:ln>
            </p:spPr>
          </p:sp>
          <p:sp>
            <p:nvSpPr>
              <p:cNvPr id="30" name="Polygon 30"/>
              <p:cNvSpPr/>
              <p:nvPr/>
            </p:nvSpPr>
            <p:spPr>
              <a:xfrm>
                <a:off x="3571875" y="2209800"/>
                <a:ext cx="209550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209550" h="190500">
                    <a:moveTo>
                      <a:pt x="0" y="190500"/>
                    </a:moveTo>
                    <a:lnTo>
                      <a:pt x="104775" y="0"/>
                    </a:lnTo>
                    <a:lnTo>
                      <a:pt x="209550" y="190500"/>
                    </a:lnTo>
                    <a:close/>
                  </a:path>
                </a:pathLst>
              </a:custGeom>
              <a:solidFill>
                <a:srgbClr val="1E4FA8"/>
              </a:solidFill>
              <a:ln>
                <a:noFill/>
              </a:ln>
            </p:spPr>
          </p:sp>
          <p:sp>
            <p:nvSpPr>
              <p:cNvPr id="31" name="TextBox 31"/>
              <p:cNvSpPr txBox="1"/>
              <p:nvPr/>
            </p:nvSpPr>
            <p:spPr>
              <a:xfrm>
                <a:off x="4243197" y="2714149"/>
                <a:ext cx="537616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b="1" dirty="0">
                    <a:solidFill>
                      <a:srgbClr val="1E4FA8"/>
                    </a:solidFill>
                    <a:latin typeface="Arial"/>
                    <a:ea typeface="Microsoft YaHei"/>
                    <a:cs typeface="Arial"/>
                  </a:rPr>
                  <a:t>植物蒸腾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4243388" y="2931795"/>
                <a:ext cx="1688785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4A5568"/>
                    </a:solidFill>
                    <a:latin typeface="Arial"/>
                    <a:ea typeface="Microsoft YaHei"/>
                    <a:cs typeface="Arial"/>
                  </a:rPr>
                  <a:t>Transpiration（根系 → 叶片）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3138488" y="4459843"/>
                <a:ext cx="897702" cy="16906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60" dirty="0">
                    <a:solidFill>
                      <a:srgbClr val="4A5568"/>
                    </a:solidFill>
                    <a:latin typeface="Arial"/>
                    <a:ea typeface="Microsoft YaHei"/>
                    <a:cs typeface="Arial"/>
                  </a:rPr>
                  <a:t>根系吸水 Uptake</a:t>
                </a:r>
              </a:p>
            </p:txBody>
          </p:sp>
        </p:grpSp>
        <p:grpSp>
          <p:nvGrpSpPr>
            <p:cNvPr id="41" name="Group 41"/>
            <p:cNvGrpSpPr/>
            <p:nvPr/>
          </p:nvGrpSpPr>
          <p:grpSpPr>
            <a:xfrm>
              <a:off x="8963025" y="2209800"/>
              <a:ext cx="2066925" cy="1733550"/>
              <a:chOff x="8963025" y="2209800"/>
              <a:chExt cx="2066925" cy="1733550"/>
            </a:xfrm>
          </p:grpSpPr>
          <p:sp>
            <p:nvSpPr>
              <p:cNvPr id="35" name="Line 35"/>
              <p:cNvSpPr/>
              <p:nvPr/>
            </p:nvSpPr>
            <p:spPr>
              <a:xfrm>
                <a:off x="9067800" y="2247900"/>
                <a:ext cx="9525" cy="1695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695450">
                    <a:moveTo>
                      <a:pt x="0" y="1695450"/>
                    </a:moveTo>
                    <a:lnTo>
                      <a:pt x="0" y="0"/>
                    </a:lnTo>
                  </a:path>
                </a:pathLst>
              </a:custGeom>
              <a:noFill/>
              <a:ln w="47625">
                <a:solidFill>
                  <a:srgbClr val="1E4FA8"/>
                </a:solidFill>
              </a:ln>
            </p:spPr>
          </p:sp>
          <p:sp>
            <p:nvSpPr>
              <p:cNvPr id="36" name="Polygon 36"/>
              <p:cNvSpPr/>
              <p:nvPr/>
            </p:nvSpPr>
            <p:spPr>
              <a:xfrm>
                <a:off x="8963025" y="2209800"/>
                <a:ext cx="209550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209550" h="190500">
                    <a:moveTo>
                      <a:pt x="0" y="190500"/>
                    </a:moveTo>
                    <a:lnTo>
                      <a:pt x="104775" y="0"/>
                    </a:lnTo>
                    <a:lnTo>
                      <a:pt x="209550" y="190500"/>
                    </a:lnTo>
                    <a:close/>
                  </a:path>
                </a:pathLst>
              </a:custGeom>
              <a:solidFill>
                <a:srgbClr val="1E4FA8"/>
              </a:solidFill>
              <a:ln>
                <a:noFill/>
              </a:ln>
            </p:spPr>
          </p:sp>
          <p:sp>
            <p:nvSpPr>
              <p:cNvPr id="37" name="Line 37"/>
              <p:cNvSpPr/>
              <p:nvPr/>
            </p:nvSpPr>
            <p:spPr>
              <a:xfrm>
                <a:off x="10953750" y="2400300"/>
                <a:ext cx="9525" cy="15430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543050">
                    <a:moveTo>
                      <a:pt x="0" y="1543050"/>
                    </a:moveTo>
                    <a:lnTo>
                      <a:pt x="0" y="0"/>
                    </a:lnTo>
                  </a:path>
                </a:pathLst>
              </a:custGeom>
              <a:noFill/>
              <a:ln w="28575">
                <a:solidFill>
                  <a:srgbClr val="3D7BD9"/>
                </a:solidFill>
              </a:ln>
            </p:spPr>
          </p:sp>
          <p:sp>
            <p:nvSpPr>
              <p:cNvPr id="38" name="Polygon 38"/>
              <p:cNvSpPr/>
              <p:nvPr/>
            </p:nvSpPr>
            <p:spPr>
              <a:xfrm>
                <a:off x="10877550" y="2381250"/>
                <a:ext cx="15240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152400">
                    <a:moveTo>
                      <a:pt x="0" y="152400"/>
                    </a:moveTo>
                    <a:lnTo>
                      <a:pt x="76200" y="0"/>
                    </a:lnTo>
                    <a:lnTo>
                      <a:pt x="152400" y="152400"/>
                    </a:lnTo>
                    <a:close/>
                  </a:path>
                </a:pathLst>
              </a:custGeom>
              <a:solidFill>
                <a:srgbClr val="3D7BD9"/>
              </a:solidFill>
              <a:ln>
                <a:noFill/>
              </a:ln>
            </p:spPr>
          </p:sp>
          <p:sp>
            <p:nvSpPr>
              <p:cNvPr id="39" name="TextBox 39"/>
              <p:cNvSpPr txBox="1"/>
              <p:nvPr/>
            </p:nvSpPr>
            <p:spPr>
              <a:xfrm>
                <a:off x="9329547" y="2714149"/>
                <a:ext cx="537616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b="1" dirty="0">
                    <a:solidFill>
                      <a:srgbClr val="1E4FA8"/>
                    </a:solidFill>
                    <a:latin typeface="Arial"/>
                    <a:ea typeface="Microsoft YaHei"/>
                    <a:cs typeface="Arial"/>
                  </a:rPr>
                  <a:t>海洋蒸发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9329738" y="2931795"/>
                <a:ext cx="1109884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900" dirty="0">
                    <a:solidFill>
                      <a:srgbClr val="4A5568"/>
                    </a:solidFill>
                    <a:latin typeface="Arial"/>
                    <a:ea typeface="Arial"/>
                    <a:cs typeface="Arial"/>
                  </a:rPr>
                  <a:t>Ocean evaporation</a:t>
                </a:r>
              </a:p>
            </p:txBody>
          </p:sp>
        </p:grpSp>
      </p:grpSp>
      <p:grpSp>
        <p:nvGrpSpPr>
          <p:cNvPr id="45" name="Group 45"/>
          <p:cNvGrpSpPr/>
          <p:nvPr/>
        </p:nvGrpSpPr>
        <p:grpSpPr>
          <a:xfrm>
            <a:off x="381000" y="4857750"/>
            <a:ext cx="11430000" cy="438150"/>
            <a:chOff x="381000" y="4857750"/>
            <a:chExt cx="11430000" cy="438150"/>
          </a:xfrm>
        </p:grpSpPr>
        <p:sp>
          <p:nvSpPr>
            <p:cNvPr id="43" name="Rectangle 43"/>
            <p:cNvSpPr/>
            <p:nvPr/>
          </p:nvSpPr>
          <p:spPr>
            <a:xfrm>
              <a:off x="381000" y="4857750"/>
              <a:ext cx="11430000" cy="438150"/>
            </a:xfrm>
            <a:prstGeom prst="roundRect">
              <a:avLst>
                <a:gd name="adj" fmla="val 21739"/>
              </a:avLst>
            </a:prstGeom>
            <a:solidFill>
              <a:srgbClr val="0E3F8C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2518589" y="4997768"/>
              <a:ext cx="7154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蒸发 Evaporation　＋　蒸腾 Transpiration　＝　蒸散 Evapotranspiration（ET）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381000" y="5448300"/>
            <a:ext cx="3733800" cy="609600"/>
            <a:chOff x="381000" y="5448300"/>
            <a:chExt cx="3733800" cy="609600"/>
          </a:xfrm>
        </p:grpSpPr>
        <p:sp>
          <p:nvSpPr>
            <p:cNvPr id="46" name="Rectangle 46"/>
            <p:cNvSpPr/>
            <p:nvPr/>
          </p:nvSpPr>
          <p:spPr>
            <a:xfrm>
              <a:off x="381000" y="5448300"/>
              <a:ext cx="3733800" cy="609600"/>
            </a:xfrm>
            <a:prstGeom prst="roundRect">
              <a:avLst>
                <a:gd name="adj" fmla="val 15625"/>
              </a:avLst>
            </a:prstGeom>
            <a:solidFill>
              <a:srgbClr val="F7F9FC"/>
            </a:solidFill>
            <a:ln w="9525">
              <a:solidFill>
                <a:srgbClr val="D6DCE5"/>
              </a:solidFill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566356" y="5577126"/>
              <a:ext cx="1708714" cy="1980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10" b="1" dirty="0">
                  <a:solidFill>
                    <a:srgbClr val="0E3F8C"/>
                  </a:solidFill>
                  <a:latin typeface="Arial"/>
                  <a:ea typeface="Microsoft YaHei"/>
                  <a:cs typeface="Arial"/>
                </a:rPr>
                <a:t>海洋 | Ocean evaporation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566738" y="5827395"/>
              <a:ext cx="175054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1A2230"/>
                  </a:solidFill>
                  <a:latin typeface="Arial"/>
                  <a:ea typeface="Microsoft YaHei"/>
                  <a:cs typeface="Arial"/>
                </a:rPr>
                <a:t>最大蒸发源：E 434 多于 P 398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4229100" y="5448300"/>
            <a:ext cx="3733800" cy="609600"/>
            <a:chOff x="4229100" y="5448300"/>
            <a:chExt cx="3733800" cy="609600"/>
          </a:xfrm>
        </p:grpSpPr>
        <p:sp>
          <p:nvSpPr>
            <p:cNvPr id="50" name="Rectangle 50"/>
            <p:cNvSpPr/>
            <p:nvPr/>
          </p:nvSpPr>
          <p:spPr>
            <a:xfrm>
              <a:off x="4229100" y="5448300"/>
              <a:ext cx="3733800" cy="609600"/>
            </a:xfrm>
            <a:prstGeom prst="roundRect">
              <a:avLst>
                <a:gd name="adj" fmla="val 15625"/>
              </a:avLst>
            </a:prstGeom>
            <a:solidFill>
              <a:srgbClr val="F7F9FC"/>
            </a:solidFill>
            <a:ln w="9525">
              <a:solidFill>
                <a:srgbClr val="D6DCE5"/>
              </a:solidFill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4414456" y="5577126"/>
              <a:ext cx="2109728" cy="1980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10" b="1" dirty="0">
                  <a:solidFill>
                    <a:srgbClr val="0E3F8C"/>
                  </a:solidFill>
                  <a:latin typeface="Arial"/>
                  <a:ea typeface="Microsoft YaHei"/>
                  <a:cs typeface="Arial"/>
                </a:rPr>
                <a:t>陆地表面 | Surface evaporation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4414838" y="5827395"/>
              <a:ext cx="134226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1A2230"/>
                  </a:solidFill>
                  <a:latin typeface="Arial"/>
                  <a:ea typeface="Microsoft YaHei"/>
                  <a:cs typeface="Arial"/>
                </a:rPr>
                <a:t>土壤与地表水体直接蒸发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8077200" y="5448300"/>
            <a:ext cx="3733800" cy="609600"/>
            <a:chOff x="8077200" y="5448300"/>
            <a:chExt cx="3733800" cy="609600"/>
          </a:xfrm>
        </p:grpSpPr>
        <p:sp>
          <p:nvSpPr>
            <p:cNvPr id="54" name="Rectangle 54"/>
            <p:cNvSpPr/>
            <p:nvPr/>
          </p:nvSpPr>
          <p:spPr>
            <a:xfrm>
              <a:off x="8077200" y="5448300"/>
              <a:ext cx="3733800" cy="609600"/>
            </a:xfrm>
            <a:prstGeom prst="roundRect">
              <a:avLst>
                <a:gd name="adj" fmla="val 15625"/>
              </a:avLst>
            </a:prstGeom>
            <a:solidFill>
              <a:srgbClr val="F7F9FC"/>
            </a:solidFill>
            <a:ln w="9525">
              <a:solidFill>
                <a:srgbClr val="D6DCE5"/>
              </a:solidFill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8262556" y="5577126"/>
              <a:ext cx="1365969" cy="1980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10" b="1" dirty="0">
                  <a:solidFill>
                    <a:srgbClr val="0E3F8C"/>
                  </a:solidFill>
                  <a:latin typeface="Arial"/>
                  <a:ea typeface="Microsoft YaHei"/>
                  <a:cs typeface="Arial"/>
                </a:rPr>
                <a:t>植被 | Transpiration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8262938" y="5827395"/>
              <a:ext cx="219036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1A2230"/>
                  </a:solidFill>
                  <a:latin typeface="Arial"/>
                  <a:ea typeface="Microsoft YaHei"/>
                  <a:cs typeface="Arial"/>
                </a:rPr>
                <a:t>根系吸水、叶片释水汽，与光合作用耦合</a:t>
              </a:r>
            </a:p>
          </p:txBody>
        </p:sp>
      </p:grpSp>
      <p:grpSp>
        <p:nvGrpSpPr>
          <p:cNvPr id="59" name="Group 59"/>
          <p:cNvGrpSpPr/>
          <p:nvPr/>
        </p:nvGrpSpPr>
        <p:grpSpPr>
          <a:xfrm>
            <a:off x="566738" y="6256020"/>
            <a:ext cx="8107680" cy="176212"/>
            <a:chOff x="566738" y="6256020"/>
            <a:chExt cx="8107680" cy="176212"/>
          </a:xfrm>
        </p:grpSpPr>
        <p:sp>
          <p:nvSpPr>
            <p:cNvPr id="58" name="TextBox 58"/>
            <p:cNvSpPr txBox="1"/>
            <p:nvPr/>
          </p:nvSpPr>
          <p:spPr>
            <a:xfrm>
              <a:off x="566738" y="6256020"/>
              <a:ext cx="810768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4A5568"/>
                  </a:solidFill>
                  <a:latin typeface="Arial"/>
                  <a:ea typeface="Microsoft YaHei"/>
                  <a:cs typeface="Arial"/>
                </a:rPr>
                <a:t>中文教材估计（Ch.4 §4.3.5）：陆地约 80%–90% 来水经蒸散返回大气；大树日蒸腾 200–1000 L、年吸水约 150 t；约一半陆地太阳能用于蒸腾。</a:t>
              </a:r>
            </a:p>
          </p:txBody>
        </p:sp>
      </p:grpSp>
      <p:sp>
        <p:nvSpPr>
          <p:cNvPr id="60" name="TextBox 60"/>
          <p:cNvSpPr txBox="1"/>
          <p:nvPr/>
        </p:nvSpPr>
        <p:spPr>
          <a:xfrm>
            <a:off x="376238" y="6532245"/>
            <a:ext cx="7096868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dirty="0">
                <a:solidFill>
                  <a:srgbClr val="4A5568"/>
                </a:solidFill>
                <a:latin typeface="Arial"/>
                <a:ea typeface="Arial"/>
                <a:cs typeface="Arial"/>
              </a:rPr>
              <a:t>Redrawn from approved sources: CN Ch.4 §4.3.5 (PDF pp.73–74); UE 8e, pp.1653–1654, 1168. Native process diagram.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11672964" y="6532245"/>
            <a:ext cx="142799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4A5568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PROD-W1-DOUBAO">
  <a:themeElements>
    <a:clrScheme name="PROD-W1-DOUBA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ROD-W1-DOUBA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ROD-W1-DOUBA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PROD-W1-DOUBAO">
  <a:themeElements>
    <a:clrScheme name="PROD-W1-DOUBA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ROD-W1-DOUBA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ROD-W1-DOUBA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3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/>
  <cp:lastModifiedBy/>
  <cp:revision>1</cp:revision>
  <dcterms:created xsi:type="dcterms:W3CDTF">2026-09-11T03:49:18Z</dcterms:created>
  <dcterms:modified xsi:type="dcterms:W3CDTF">2026-09-11T03:49:18Z</dcterms:modified>
  <cp:category/>
  <cp:contentStatus/>
</cp:coreProperties>
</file>