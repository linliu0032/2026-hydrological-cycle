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0"/>
  </p:notes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  <Relationship Id="rId10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讲水汽反馈，是一条正反馈回路。请学生沿五张卡片从左往右读：第一步是初始增温，这是初始变化，卡片用深蓝边框单独标出；第二步蒸发增加，尤其是海洋蒸发增强；第三步大气水汽增多，水汽进入大气圈；第四步水汽吸收并再辐射长波辐射，温室效应加强；第五步进一步增温。下面那条回环箭头把第五步接回第一步，表示诱发变化与初始变化同向、沿原方向继续放大，所以深蓝签块标的是 Positive Feedback 正反馈，判断依据是方向而不是好坏。右边浅色卡片钉住一个常见误区：水汽在这里是对初始增温的反馈，不是一个独立初始强迫，不能把它讲成自己启动的驱动因素。这一页不需要任何数字，也不重新讲授第十五讲的温室效应本身。来源是理解地球第八版第十二章 PDF 第一一七七页，以及地球画像第五版第二十三章 883 到 884 页；中文教材第三章 PDF 第 10 页和 27 到 28 页只作相变背景支持。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讲冰–反照率反馈，结构与上一页完全同族，方便学生套用同一套读法。五步依次是：初始增温；冰雪减少、覆盖面积缩小；反照率下降，卡片里给了简短双语定义，反照率就是地表反射率；地表吸收的太阳能增加；进一步增温。回环箭头同样把末步接回第一步，诱发变化与初始变化同向，因此是 Positive Feedback 正反馈。右边浅色卡片给出反照率的双语定义；教师边界提醒：本页不引入冰量数据、海平面数值或雪球地球历史；讲的时候也不要顺势说"海冰融化抬升海平面"，漂浮海冰融化与陆地冰融化对海平面的作用不同，那一区分属于冰冻圈页的内容，不在本页展开。来源是理解地球第八版第十二章 PDF 第一一七七页、地球系统与演变第三章 3.3.2.3 节 PDF 第 39 到 40 页，HB 第九章 251 到 252 页只作机制背景。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这一页讲生命参与的反馈，是一个有边界的代表性负反馈，步骤比前两页少一步。第一步是大气 CO₂ 增加，这是初始变化；第二步植物生长可能增加，注意这是条件式措辞，是"可能增加、可促进"而不是"必然促进"；第三步植物把更多 CO₂ 固定进有机质，完成碳吸收；第四步大气 CO₂ 与温室增温相对初始变化被降低。回环箭头把第四步接回第一步，但方向作用是反对初始变化、抑制并趋于稳定，所以签块标 Negative Feedback 负反馈。右边浅色卡片把边界写清楚：这是条件式表述，不声称无限生长、永久补偿，也不声称现今已测得的净汇；同样不扩展到养分限制、生态系统学、政策或土地管理。页面上没有任何通量或响应时间数字，因为任务未授权。CO₂ 用橙色标记，只在这一页出现，用来把碳的线索从第二部分接过来。来源是理解地球第八版第十二章 PDF 第一一七八页，UE 第一一六八页与已批准的中文教材第四章行只作过程背景。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ROD-W3-QIANWEN-OFFIC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ROD-W3-QIANWEN-OFFIC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rgbClr val="0E3F8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34057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3.2 水汽反馈 | Water-Vapor Feedback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302850" y="299085"/>
              <a:ext cx="15142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C7D7F2"/>
                  </a:solidFill>
                  <a:latin typeface="Arial"/>
                  <a:ea typeface="Arial"/>
                  <a:cs typeface="Arial"/>
                </a:rPr>
                <a:t>POSITIVE FEEDBACK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6773139" cy="357093"/>
            <a:chOff x="381000" y="914400"/>
            <a:chExt cx="6773139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rgbClr val="1E4FA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660969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E3F8C"/>
                  </a:solidFill>
                  <a:latin typeface="Arial"/>
                  <a:ea typeface="Microsoft YaHei"/>
                  <a:cs typeface="Arial"/>
                </a:rPr>
                <a:t>增温先增加蒸发与水汽，水汽再加强温室效应：一条自我加强的正反馈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381000" y="1428750"/>
            <a:ext cx="11430000" cy="3524250"/>
            <a:chOff x="381000" y="1428750"/>
            <a:chExt cx="11430000" cy="3524250"/>
          </a:xfrm>
        </p:grpSpPr>
        <p:sp>
          <p:nvSpPr>
            <p:cNvPr id="9" name="Rectangle 9"/>
            <p:cNvSpPr/>
            <p:nvPr/>
          </p:nvSpPr>
          <p:spPr>
            <a:xfrm>
              <a:off x="381000" y="1428750"/>
              <a:ext cx="11430000" cy="3524250"/>
            </a:xfrm>
            <a:prstGeom prst="roundRect">
              <a:avLst>
                <a:gd name="adj" fmla="val 3243"/>
              </a:avLst>
            </a:prstGeom>
            <a:solidFill>
              <a:srgbClr val="F7F9FC"/>
            </a:solidFill>
            <a:ln w="9525">
              <a:solidFill>
                <a:srgbClr val="D6DCE5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66750" y="1619250"/>
              <a:ext cx="1943100" cy="247650"/>
            </a:xfrm>
            <a:prstGeom prst="roundRect">
              <a:avLst>
                <a:gd name="adj" fmla="val 30769"/>
              </a:avLst>
            </a:prstGeom>
            <a:solidFill>
              <a:srgbClr val="E8EFF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58943" y="1693545"/>
              <a:ext cx="135871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E4FA8"/>
                  </a:solidFill>
                  <a:latin typeface="Arial"/>
                  <a:ea typeface="Microsoft YaHei"/>
                  <a:cs typeface="Arial"/>
                </a:rPr>
                <a:t>初始变化 Initial change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895600" y="1619250"/>
              <a:ext cx="8629650" cy="247650"/>
            </a:xfrm>
            <a:prstGeom prst="roundRect">
              <a:avLst>
                <a:gd name="adj" fmla="val 30769"/>
              </a:avLst>
            </a:prstGeom>
            <a:solidFill>
              <a:srgbClr val="F0F5F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043238" y="1693545"/>
              <a:ext cx="21329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诱发变化 Induced change（步骤 2–5）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666750" y="2000250"/>
              <a:ext cx="1943100" cy="1143000"/>
              <a:chOff x="666750" y="2000250"/>
              <a:chExt cx="1943100" cy="11430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666750" y="2000250"/>
                <a:ext cx="1943100" cy="1143000"/>
              </a:xfrm>
              <a:prstGeom prst="roundRect">
                <a:avLst>
                  <a:gd name="adj" fmla="val 8333"/>
                </a:avLst>
              </a:prstGeom>
              <a:solidFill>
                <a:srgbClr val="F0F5FC"/>
              </a:solidFill>
              <a:ln w="19050">
                <a:solidFill>
                  <a:srgbClr val="1E4FA8"/>
                </a:solidFill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790575" y="2143125"/>
                <a:ext cx="247650" cy="247650"/>
              </a:xfrm>
              <a:prstGeom prst="ellipse">
                <a:avLst/>
              </a:prstGeom>
              <a:solidFill>
                <a:srgbClr val="1E4FA8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871353" y="2209324"/>
                <a:ext cx="8609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1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118235" y="2193131"/>
                <a:ext cx="61452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0E3F8C"/>
                    </a:solidFill>
                    <a:latin typeface="Arial"/>
                    <a:ea typeface="Microsoft YaHei"/>
                    <a:cs typeface="Arial"/>
                  </a:rPr>
                  <a:t>初始增温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14388" y="2493645"/>
                <a:ext cx="87930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4A5568"/>
                    </a:solidFill>
                    <a:latin typeface="Arial"/>
                    <a:ea typeface="Arial"/>
                    <a:cs typeface="Arial"/>
                  </a:rPr>
                  <a:t>Initial warming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14388" y="2722245"/>
                <a:ext cx="4941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温度上升</a:t>
                </a:r>
              </a:p>
            </p:txBody>
          </p:sp>
        </p:grpSp>
        <p:sp>
          <p:nvSpPr>
            <p:cNvPr id="21" name="Line 21"/>
            <p:cNvSpPr/>
            <p:nvPr/>
          </p:nvSpPr>
          <p:spPr>
            <a:xfrm>
              <a:off x="2638425" y="2571750"/>
              <a:ext cx="133350" cy="9525"/>
            </a:xfrm>
            <a:custGeom>
              <a:avLst/>
              <a:gdLst/>
              <a:ahLst/>
              <a:cxnLst/>
              <a:rect l="l" t="t" r="r" b="b"/>
              <a:pathLst>
                <a:path w="133350" h="952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28575">
              <a:solidFill>
                <a:srgbClr val="1E4FA8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2771775" y="25146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E4FA8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2895600" y="2000250"/>
              <a:ext cx="1943100" cy="1143000"/>
              <a:chOff x="2895600" y="2000250"/>
              <a:chExt cx="1943100" cy="11430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2895600" y="2000250"/>
                <a:ext cx="1943100" cy="11430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9525">
                <a:solidFill>
                  <a:srgbClr val="D6DCE5"/>
                </a:solidFill>
              </a:ln>
            </p:spPr>
          </p:sp>
          <p:sp>
            <p:nvSpPr>
              <p:cNvPr id="24" name="Ellipse 24"/>
              <p:cNvSpPr/>
              <p:nvPr/>
            </p:nvSpPr>
            <p:spPr>
              <a:xfrm>
                <a:off x="3019425" y="2143125"/>
                <a:ext cx="247650" cy="247650"/>
              </a:xfrm>
              <a:prstGeom prst="ellipse">
                <a:avLst/>
              </a:prstGeom>
              <a:solidFill>
                <a:srgbClr val="1E4FA8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3100203" y="2209324"/>
                <a:ext cx="8609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2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347085" y="2193131"/>
                <a:ext cx="61452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0E3F8C"/>
                    </a:solidFill>
                    <a:latin typeface="Arial"/>
                    <a:ea typeface="Microsoft YaHei"/>
                    <a:cs typeface="Arial"/>
                  </a:rPr>
                  <a:t>蒸发增加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043238" y="2493645"/>
                <a:ext cx="132173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4A5568"/>
                    </a:solidFill>
                    <a:latin typeface="Arial"/>
                    <a:ea typeface="Arial"/>
                    <a:cs typeface="Arial"/>
                  </a:rPr>
                  <a:t>Evaporation increases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043238" y="2722245"/>
                <a:ext cx="73647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海洋蒸发增强</a:t>
                </a:r>
              </a:p>
            </p:txBody>
          </p:sp>
        </p:grpSp>
        <p:sp>
          <p:nvSpPr>
            <p:cNvPr id="30" name="Line 30"/>
            <p:cNvSpPr/>
            <p:nvPr/>
          </p:nvSpPr>
          <p:spPr>
            <a:xfrm>
              <a:off x="4867275" y="2571750"/>
              <a:ext cx="133350" cy="9525"/>
            </a:xfrm>
            <a:custGeom>
              <a:avLst/>
              <a:gdLst/>
              <a:ahLst/>
              <a:cxnLst/>
              <a:rect l="l" t="t" r="r" b="b"/>
              <a:pathLst>
                <a:path w="133350" h="952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28575">
              <a:solidFill>
                <a:srgbClr val="1E4FA8"/>
              </a:solidFill>
            </a:ln>
          </p:spPr>
        </p:sp>
        <p:sp>
          <p:nvSpPr>
            <p:cNvPr id="31" name="Polygon 31"/>
            <p:cNvSpPr/>
            <p:nvPr/>
          </p:nvSpPr>
          <p:spPr>
            <a:xfrm>
              <a:off x="5000625" y="25146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E4FA8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5124450" y="2000250"/>
              <a:ext cx="1943100" cy="1143000"/>
              <a:chOff x="5124450" y="2000250"/>
              <a:chExt cx="1943100" cy="11430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5124450" y="2000250"/>
                <a:ext cx="1943100" cy="11430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9525">
                <a:solidFill>
                  <a:srgbClr val="D6DCE5"/>
                </a:solidFill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5248275" y="2143125"/>
                <a:ext cx="247650" cy="247650"/>
              </a:xfrm>
              <a:prstGeom prst="ellipse">
                <a:avLst/>
              </a:prstGeom>
              <a:solidFill>
                <a:srgbClr val="1E4FA8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5329053" y="2209324"/>
                <a:ext cx="8609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3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5575935" y="2193131"/>
                <a:ext cx="61452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0E3F8C"/>
                    </a:solidFill>
                    <a:latin typeface="Arial"/>
                    <a:ea typeface="Microsoft YaHei"/>
                    <a:cs typeface="Arial"/>
                  </a:rPr>
                  <a:t>水汽增加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5272088" y="2493645"/>
                <a:ext cx="134623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4A5568"/>
                    </a:solidFill>
                    <a:latin typeface="Arial"/>
                    <a:ea typeface="Arial"/>
                    <a:cs typeface="Arial"/>
                  </a:rPr>
                  <a:t>Water vapor increases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5272088" y="2722245"/>
                <a:ext cx="73647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大气水汽增多</a:t>
                </a:r>
              </a:p>
            </p:txBody>
          </p:sp>
        </p:grpSp>
        <p:sp>
          <p:nvSpPr>
            <p:cNvPr id="39" name="Line 39"/>
            <p:cNvSpPr/>
            <p:nvPr/>
          </p:nvSpPr>
          <p:spPr>
            <a:xfrm>
              <a:off x="7096125" y="2571750"/>
              <a:ext cx="133350" cy="9525"/>
            </a:xfrm>
            <a:custGeom>
              <a:avLst/>
              <a:gdLst/>
              <a:ahLst/>
              <a:cxnLst/>
              <a:rect l="l" t="t" r="r" b="b"/>
              <a:pathLst>
                <a:path w="133350" h="952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28575">
              <a:solidFill>
                <a:srgbClr val="1E4FA8"/>
              </a:solidFill>
            </a:ln>
          </p:spPr>
        </p:sp>
        <p:sp>
          <p:nvSpPr>
            <p:cNvPr id="40" name="Polygon 40"/>
            <p:cNvSpPr/>
            <p:nvPr/>
          </p:nvSpPr>
          <p:spPr>
            <a:xfrm>
              <a:off x="7229475" y="25146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E4FA8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53300" y="2000250"/>
              <a:ext cx="1943100" cy="1143000"/>
              <a:chOff x="7353300" y="2000250"/>
              <a:chExt cx="1943100" cy="11430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7353300" y="2000250"/>
                <a:ext cx="1943100" cy="11430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9525">
                <a:solidFill>
                  <a:srgbClr val="D6DCE5"/>
                </a:solidFill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7477125" y="2143125"/>
                <a:ext cx="247650" cy="247650"/>
              </a:xfrm>
              <a:prstGeom prst="ellipse">
                <a:avLst/>
              </a:prstGeom>
              <a:solidFill>
                <a:srgbClr val="1E4FA8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7557903" y="2209324"/>
                <a:ext cx="8609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4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7804785" y="2193131"/>
                <a:ext cx="91607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0E3F8C"/>
                    </a:solidFill>
                    <a:latin typeface="Arial"/>
                    <a:ea typeface="Microsoft YaHei"/>
                    <a:cs typeface="Arial"/>
                  </a:rPr>
                  <a:t>温室效应加强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500938" y="2493645"/>
                <a:ext cx="168544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4A5568"/>
                    </a:solidFill>
                    <a:latin typeface="Arial"/>
                    <a:ea typeface="Arial"/>
                    <a:cs typeface="Arial"/>
                  </a:rPr>
                  <a:t>Greenhouse effect stronger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500938" y="2722245"/>
                <a:ext cx="97878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水汽吸收并再辐射</a:t>
                </a:r>
              </a:p>
            </p:txBody>
          </p:sp>
        </p:grpSp>
        <p:sp>
          <p:nvSpPr>
            <p:cNvPr id="48" name="Line 48"/>
            <p:cNvSpPr/>
            <p:nvPr/>
          </p:nvSpPr>
          <p:spPr>
            <a:xfrm>
              <a:off x="9324975" y="2571750"/>
              <a:ext cx="133350" cy="9525"/>
            </a:xfrm>
            <a:custGeom>
              <a:avLst/>
              <a:gdLst/>
              <a:ahLst/>
              <a:cxnLst/>
              <a:rect l="l" t="t" r="r" b="b"/>
              <a:pathLst>
                <a:path w="133350" h="952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28575">
              <a:solidFill>
                <a:srgbClr val="1E4FA8"/>
              </a:solidFill>
            </a:ln>
          </p:spPr>
        </p:sp>
        <p:sp>
          <p:nvSpPr>
            <p:cNvPr id="49" name="Polygon 49"/>
            <p:cNvSpPr/>
            <p:nvPr/>
          </p:nvSpPr>
          <p:spPr>
            <a:xfrm>
              <a:off x="9458325" y="25146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E4FA8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9582150" y="2000250"/>
              <a:ext cx="1943100" cy="1143000"/>
              <a:chOff x="9582150" y="2000250"/>
              <a:chExt cx="1943100" cy="114300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9582150" y="2000250"/>
                <a:ext cx="1943100" cy="11430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9525">
                <a:solidFill>
                  <a:srgbClr val="D6DCE5"/>
                </a:solidFill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9705975" y="2143125"/>
                <a:ext cx="247650" cy="247650"/>
              </a:xfrm>
              <a:prstGeom prst="ellipse">
                <a:avLst/>
              </a:prstGeom>
              <a:solidFill>
                <a:srgbClr val="1E4FA8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9786753" y="2209324"/>
                <a:ext cx="8609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5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10033635" y="2193131"/>
                <a:ext cx="7653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0E3F8C"/>
                    </a:solidFill>
                    <a:latin typeface="Arial"/>
                    <a:ea typeface="Microsoft YaHei"/>
                    <a:cs typeface="Arial"/>
                  </a:rPr>
                  <a:t>进一步增温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9729788" y="2493645"/>
                <a:ext cx="100095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4A5568"/>
                    </a:solidFill>
                    <a:latin typeface="Arial"/>
                    <a:ea typeface="Arial"/>
                    <a:cs typeface="Arial"/>
                  </a:rPr>
                  <a:t>Further warming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9729788" y="2722245"/>
                <a:ext cx="73647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温度继续上升</a:t>
                </a:r>
              </a:p>
            </p:txBody>
          </p:sp>
        </p:grpSp>
        <p:sp>
          <p:nvSpPr>
            <p:cNvPr id="57" name="Freeform 57"/>
            <p:cNvSpPr/>
            <p:nvPr/>
          </p:nvSpPr>
          <p:spPr>
            <a:xfrm>
              <a:off x="1638300" y="3143250"/>
              <a:ext cx="8915400" cy="438150"/>
            </a:xfrm>
            <a:custGeom>
              <a:avLst/>
              <a:gdLst/>
              <a:ahLst/>
              <a:cxnLst/>
              <a:rect l="l" t="t" r="r" b="b"/>
              <a:pathLst>
                <a:path w="8915400" h="438150">
                  <a:moveTo>
                    <a:pt x="8915400" y="0"/>
                  </a:moveTo>
                  <a:lnTo>
                    <a:pt x="8915400" y="361950"/>
                  </a:lnTo>
                  <a:cubicBezTo>
                    <a:pt x="8915400" y="412750"/>
                    <a:pt x="8890000" y="438150"/>
                    <a:pt x="8839200" y="438150"/>
                  </a:cubicBezTo>
                  <a:lnTo>
                    <a:pt x="76200" y="438150"/>
                  </a:lnTo>
                  <a:cubicBezTo>
                    <a:pt x="25400" y="438150"/>
                    <a:pt x="0" y="412750"/>
                    <a:pt x="0" y="361950"/>
                  </a:cubicBezTo>
                  <a:lnTo>
                    <a:pt x="0" y="57150"/>
                  </a:lnTo>
                </a:path>
              </a:pathLst>
            </a:custGeom>
            <a:noFill/>
            <a:ln w="28575">
              <a:solidFill>
                <a:srgbClr val="1E4FA8"/>
              </a:solidFill>
            </a:ln>
          </p:spPr>
        </p:sp>
        <p:sp>
          <p:nvSpPr>
            <p:cNvPr id="58" name="Polygon 58"/>
            <p:cNvSpPr/>
            <p:nvPr/>
          </p:nvSpPr>
          <p:spPr>
            <a:xfrm>
              <a:off x="1571625" y="3143250"/>
              <a:ext cx="133350" cy="95250"/>
            </a:xfrm>
            <a:custGeom>
              <a:avLst/>
              <a:gdLst/>
              <a:ahLst/>
              <a:cxnLst/>
              <a:rect l="l" t="t" r="r" b="b"/>
              <a:pathLst>
                <a:path w="133350" h="95250">
                  <a:moveTo>
                    <a:pt x="66675" y="0"/>
                  </a:moveTo>
                  <a:lnTo>
                    <a:pt x="0" y="95250"/>
                  </a:lnTo>
                  <a:lnTo>
                    <a:pt x="133350" y="95250"/>
                  </a:lnTo>
                  <a:close/>
                </a:path>
              </a:pathLst>
            </a:custGeom>
            <a:solidFill>
              <a:srgbClr val="1E4FA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3379633" y="3723799"/>
              <a:ext cx="54327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E4FA8"/>
                  </a:solidFill>
                  <a:latin typeface="Arial"/>
                  <a:ea typeface="Microsoft YaHei"/>
                  <a:cs typeface="Arial"/>
                </a:rPr>
                <a:t>诱发变化与初始变化同向 → 沿原方向放大 Induced change reinforces the initial change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09600" y="4095750"/>
              <a:ext cx="4953000" cy="666750"/>
            </a:xfrm>
            <a:prstGeom prst="roundRect">
              <a:avLst>
                <a:gd name="adj" fmla="val 17143"/>
              </a:avLst>
            </a:prstGeom>
            <a:solidFill>
              <a:srgbClr val="1E4FA8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800100" y="4276725"/>
              <a:ext cx="304800" cy="3048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86573" y="43338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E4FA8"/>
                  </a:solidFill>
                  <a:latin typeface="Arial"/>
                  <a:ea typeface="Arial"/>
                  <a:cs typeface="Arial"/>
                </a:rPr>
                <a:t>+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213104" y="4232910"/>
              <a:ext cx="20205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Positive Feedback 正反馈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214438" y="4493895"/>
              <a:ext cx="32264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D6E4F7"/>
                  </a:solidFill>
                  <a:latin typeface="Arial"/>
                  <a:ea typeface="Microsoft YaHei"/>
                  <a:cs typeface="Arial"/>
                </a:rPr>
                <a:t>诱发变化加强初始增温 Induced change amplifies warming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753100" y="4095750"/>
              <a:ext cx="5829300" cy="666750"/>
            </a:xfrm>
            <a:prstGeom prst="roundRect">
              <a:avLst>
                <a:gd name="adj" fmla="val 17143"/>
              </a:avLst>
            </a:prstGeom>
            <a:solidFill>
              <a:srgbClr val="F0F5FC"/>
            </a:solidFill>
            <a:ln w="9525">
              <a:solidFill>
                <a:srgbClr val="D6DCE5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900547" y="42571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水汽是对初始增温的反馈，不是独立初始强迫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900738" y="4493895"/>
              <a:ext cx="43449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4A5568"/>
                  </a:solidFill>
                  <a:latin typeface="Arial"/>
                  <a:ea typeface="Arial"/>
                  <a:cs typeface="Arial"/>
                </a:rPr>
                <a:t>Water vapor responds to initial warming; it is not an independent forcing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376047" y="5228749"/>
            <a:ext cx="7604000" cy="571690"/>
            <a:chOff x="376047" y="5228749"/>
            <a:chExt cx="7604000" cy="571690"/>
          </a:xfrm>
        </p:grpSpPr>
        <p:sp>
          <p:nvSpPr>
            <p:cNvPr id="69" name="TextBox 69"/>
            <p:cNvSpPr txBox="1"/>
            <p:nvPr/>
          </p:nvSpPr>
          <p:spPr>
            <a:xfrm>
              <a:off x="376047" y="5228749"/>
              <a:ext cx="68664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闭环判断：初始增温诱发的变化继续加强增温，因此是正反馈。 The loop amplifies the initial warming → positive.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376047" y="5609749"/>
              <a:ext cx="76040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判断步骤：找初始变化 → 跟踪诱发变化 → 比较最终作用方向 Steps: initial change → induced change → compare final direction</a:t>
              </a:r>
            </a:p>
          </p:txBody>
        </p:sp>
      </p:grpSp>
      <p:sp>
        <p:nvSpPr>
          <p:cNvPr id="72" name="TextBox 72"/>
          <p:cNvSpPr txBox="1"/>
          <p:nvPr/>
        </p:nvSpPr>
        <p:spPr>
          <a:xfrm>
            <a:off x="376238" y="6532245"/>
            <a:ext cx="801317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4A5568"/>
                </a:solidFill>
                <a:latin typeface="Arial"/>
                <a:ea typeface="Arial"/>
                <a:cs typeface="Arial"/>
              </a:rPr>
              <a:t>Source: UE 8e, Ch.12, PDF p.1177; EP 5e, Ch.23, pp.883–884 (M-12). CN Ch.3 PDF pp.10, 27–28 supports phase-change context only.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4A5568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rgbClr val="0E3F8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36397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3.3 冰–反照率反馈 | Ice–Albedo Feedback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302850" y="299085"/>
              <a:ext cx="15142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C7D7F2"/>
                  </a:solidFill>
                  <a:latin typeface="Arial"/>
                  <a:ea typeface="Arial"/>
                  <a:cs typeface="Arial"/>
                </a:rPr>
                <a:t>POSITIVE FEEDBACK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6773139" cy="357093"/>
            <a:chOff x="381000" y="914400"/>
            <a:chExt cx="6773139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rgbClr val="1E4FA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660969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E3F8C"/>
                  </a:solidFill>
                  <a:latin typeface="Arial"/>
                  <a:ea typeface="Microsoft YaHei"/>
                  <a:cs typeface="Arial"/>
                </a:rPr>
                <a:t>增温减少冰雪与反照率，吸收的太阳能增加：又一条自我加强的正反馈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381000" y="1428750"/>
            <a:ext cx="11430000" cy="3524250"/>
            <a:chOff x="381000" y="1428750"/>
            <a:chExt cx="11430000" cy="3524250"/>
          </a:xfrm>
        </p:grpSpPr>
        <p:sp>
          <p:nvSpPr>
            <p:cNvPr id="9" name="Rectangle 9"/>
            <p:cNvSpPr/>
            <p:nvPr/>
          </p:nvSpPr>
          <p:spPr>
            <a:xfrm>
              <a:off x="381000" y="1428750"/>
              <a:ext cx="11430000" cy="3524250"/>
            </a:xfrm>
            <a:prstGeom prst="roundRect">
              <a:avLst>
                <a:gd name="adj" fmla="val 3243"/>
              </a:avLst>
            </a:prstGeom>
            <a:solidFill>
              <a:srgbClr val="F7F9FC"/>
            </a:solidFill>
            <a:ln w="9525">
              <a:solidFill>
                <a:srgbClr val="D6DCE5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66750" y="1619250"/>
              <a:ext cx="1943100" cy="247650"/>
            </a:xfrm>
            <a:prstGeom prst="roundRect">
              <a:avLst>
                <a:gd name="adj" fmla="val 30769"/>
              </a:avLst>
            </a:prstGeom>
            <a:solidFill>
              <a:srgbClr val="E8EFF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58943" y="1693545"/>
              <a:ext cx="135871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E4FA8"/>
                  </a:solidFill>
                  <a:latin typeface="Arial"/>
                  <a:ea typeface="Microsoft YaHei"/>
                  <a:cs typeface="Arial"/>
                </a:rPr>
                <a:t>初始变化 Initial change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895600" y="1619250"/>
              <a:ext cx="8629650" cy="247650"/>
            </a:xfrm>
            <a:prstGeom prst="roundRect">
              <a:avLst>
                <a:gd name="adj" fmla="val 30769"/>
              </a:avLst>
            </a:prstGeom>
            <a:solidFill>
              <a:srgbClr val="F0F5F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043238" y="1693545"/>
              <a:ext cx="21329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诱发变化 Induced change（步骤 2–5）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666750" y="2000250"/>
              <a:ext cx="1943100" cy="1143000"/>
              <a:chOff x="666750" y="2000250"/>
              <a:chExt cx="1943100" cy="11430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666750" y="2000250"/>
                <a:ext cx="1943100" cy="1143000"/>
              </a:xfrm>
              <a:prstGeom prst="roundRect">
                <a:avLst>
                  <a:gd name="adj" fmla="val 8333"/>
                </a:avLst>
              </a:prstGeom>
              <a:solidFill>
                <a:srgbClr val="F0F5FC"/>
              </a:solidFill>
              <a:ln w="19050">
                <a:solidFill>
                  <a:srgbClr val="1E4FA8"/>
                </a:solidFill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790575" y="2143125"/>
                <a:ext cx="247650" cy="247650"/>
              </a:xfrm>
              <a:prstGeom prst="ellipse">
                <a:avLst/>
              </a:prstGeom>
              <a:solidFill>
                <a:srgbClr val="1E4FA8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871353" y="2209324"/>
                <a:ext cx="8609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1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118235" y="2193131"/>
                <a:ext cx="61452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0E3F8C"/>
                    </a:solidFill>
                    <a:latin typeface="Arial"/>
                    <a:ea typeface="Microsoft YaHei"/>
                    <a:cs typeface="Arial"/>
                  </a:rPr>
                  <a:t>初始增温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14388" y="2493645"/>
                <a:ext cx="87930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4A5568"/>
                    </a:solidFill>
                    <a:latin typeface="Arial"/>
                    <a:ea typeface="Arial"/>
                    <a:cs typeface="Arial"/>
                  </a:rPr>
                  <a:t>Initial warming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14388" y="2722245"/>
                <a:ext cx="4941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温度上升</a:t>
                </a:r>
              </a:p>
            </p:txBody>
          </p:sp>
        </p:grpSp>
        <p:sp>
          <p:nvSpPr>
            <p:cNvPr id="21" name="Line 21"/>
            <p:cNvSpPr/>
            <p:nvPr/>
          </p:nvSpPr>
          <p:spPr>
            <a:xfrm>
              <a:off x="2638425" y="2571750"/>
              <a:ext cx="133350" cy="9525"/>
            </a:xfrm>
            <a:custGeom>
              <a:avLst/>
              <a:gdLst/>
              <a:ahLst/>
              <a:cxnLst/>
              <a:rect l="l" t="t" r="r" b="b"/>
              <a:pathLst>
                <a:path w="133350" h="952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28575">
              <a:solidFill>
                <a:srgbClr val="1E4FA8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2771775" y="25146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E4FA8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2895600" y="2000250"/>
              <a:ext cx="1943100" cy="1143000"/>
              <a:chOff x="2895600" y="2000250"/>
              <a:chExt cx="1943100" cy="11430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2895600" y="2000250"/>
                <a:ext cx="1943100" cy="11430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9525">
                <a:solidFill>
                  <a:srgbClr val="D6DCE5"/>
                </a:solidFill>
              </a:ln>
            </p:spPr>
          </p:sp>
          <p:sp>
            <p:nvSpPr>
              <p:cNvPr id="24" name="Ellipse 24"/>
              <p:cNvSpPr/>
              <p:nvPr/>
            </p:nvSpPr>
            <p:spPr>
              <a:xfrm>
                <a:off x="3019425" y="2143125"/>
                <a:ext cx="247650" cy="247650"/>
              </a:xfrm>
              <a:prstGeom prst="ellipse">
                <a:avLst/>
              </a:prstGeom>
              <a:solidFill>
                <a:srgbClr val="1E4FA8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3100203" y="2209324"/>
                <a:ext cx="8609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2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347085" y="2193131"/>
                <a:ext cx="61452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0E3F8C"/>
                    </a:solidFill>
                    <a:latin typeface="Arial"/>
                    <a:ea typeface="Microsoft YaHei"/>
                    <a:cs typeface="Arial"/>
                  </a:rPr>
                  <a:t>冰雪减少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043238" y="2493645"/>
                <a:ext cx="131606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4A5568"/>
                    </a:solidFill>
                    <a:latin typeface="Arial"/>
                    <a:ea typeface="Arial"/>
                    <a:cs typeface="Arial"/>
                  </a:rPr>
                  <a:t>Ice and snow decrease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043238" y="2722245"/>
                <a:ext cx="73647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覆盖面积缩小</a:t>
                </a:r>
              </a:p>
            </p:txBody>
          </p:sp>
        </p:grpSp>
        <p:sp>
          <p:nvSpPr>
            <p:cNvPr id="30" name="Line 30"/>
            <p:cNvSpPr/>
            <p:nvPr/>
          </p:nvSpPr>
          <p:spPr>
            <a:xfrm>
              <a:off x="4867275" y="2571750"/>
              <a:ext cx="133350" cy="9525"/>
            </a:xfrm>
            <a:custGeom>
              <a:avLst/>
              <a:gdLst/>
              <a:ahLst/>
              <a:cxnLst/>
              <a:rect l="l" t="t" r="r" b="b"/>
              <a:pathLst>
                <a:path w="133350" h="952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28575">
              <a:solidFill>
                <a:srgbClr val="1E4FA8"/>
              </a:solidFill>
            </a:ln>
          </p:spPr>
        </p:sp>
        <p:sp>
          <p:nvSpPr>
            <p:cNvPr id="31" name="Polygon 31"/>
            <p:cNvSpPr/>
            <p:nvPr/>
          </p:nvSpPr>
          <p:spPr>
            <a:xfrm>
              <a:off x="5000625" y="25146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E4FA8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5124450" y="2000250"/>
              <a:ext cx="1943100" cy="1143000"/>
              <a:chOff x="5124450" y="2000250"/>
              <a:chExt cx="1943100" cy="11430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5124450" y="2000250"/>
                <a:ext cx="1943100" cy="11430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9525">
                <a:solidFill>
                  <a:srgbClr val="D6DCE5"/>
                </a:solidFill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5248275" y="2143125"/>
                <a:ext cx="247650" cy="247650"/>
              </a:xfrm>
              <a:prstGeom prst="ellipse">
                <a:avLst/>
              </a:prstGeom>
              <a:solidFill>
                <a:srgbClr val="1E4FA8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5329053" y="2209324"/>
                <a:ext cx="8609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3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5575935" y="2193131"/>
                <a:ext cx="7653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0E3F8C"/>
                    </a:solidFill>
                    <a:latin typeface="Arial"/>
                    <a:ea typeface="Microsoft YaHei"/>
                    <a:cs typeface="Arial"/>
                  </a:rPr>
                  <a:t>反照率下降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5272088" y="2493645"/>
                <a:ext cx="152182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4A5568"/>
                    </a:solidFill>
                    <a:latin typeface="Arial"/>
                    <a:ea typeface="Arial"/>
                    <a:cs typeface="Arial"/>
                  </a:rPr>
                  <a:t>Surface albedo decreases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5272088" y="2722245"/>
                <a:ext cx="111812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反照率 = 地表反射率</a:t>
                </a:r>
              </a:p>
            </p:txBody>
          </p:sp>
        </p:grpSp>
        <p:sp>
          <p:nvSpPr>
            <p:cNvPr id="39" name="Line 39"/>
            <p:cNvSpPr/>
            <p:nvPr/>
          </p:nvSpPr>
          <p:spPr>
            <a:xfrm>
              <a:off x="7096125" y="2571750"/>
              <a:ext cx="133350" cy="9525"/>
            </a:xfrm>
            <a:custGeom>
              <a:avLst/>
              <a:gdLst/>
              <a:ahLst/>
              <a:cxnLst/>
              <a:rect l="l" t="t" r="r" b="b"/>
              <a:pathLst>
                <a:path w="133350" h="952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28575">
              <a:solidFill>
                <a:srgbClr val="1E4FA8"/>
              </a:solidFill>
            </a:ln>
          </p:spPr>
        </p:sp>
        <p:sp>
          <p:nvSpPr>
            <p:cNvPr id="40" name="Polygon 40"/>
            <p:cNvSpPr/>
            <p:nvPr/>
          </p:nvSpPr>
          <p:spPr>
            <a:xfrm>
              <a:off x="7229475" y="25146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E4FA8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53300" y="2000250"/>
              <a:ext cx="1943100" cy="1143000"/>
              <a:chOff x="7353300" y="2000250"/>
              <a:chExt cx="1943100" cy="11430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7353300" y="2000250"/>
                <a:ext cx="1943100" cy="11430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9525">
                <a:solidFill>
                  <a:srgbClr val="D6DCE5"/>
                </a:solidFill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7477125" y="2143125"/>
                <a:ext cx="247650" cy="247650"/>
              </a:xfrm>
              <a:prstGeom prst="ellipse">
                <a:avLst/>
              </a:prstGeom>
              <a:solidFill>
                <a:srgbClr val="1E4FA8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7557903" y="2209324"/>
                <a:ext cx="8609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4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7804785" y="2193131"/>
                <a:ext cx="106685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0E3F8C"/>
                    </a:solidFill>
                    <a:latin typeface="Arial"/>
                    <a:ea typeface="Microsoft YaHei"/>
                    <a:cs typeface="Arial"/>
                  </a:rPr>
                  <a:t>吸收太阳能增加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500938" y="2493645"/>
                <a:ext cx="164918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4A5568"/>
                    </a:solidFill>
                    <a:latin typeface="Arial"/>
                    <a:ea typeface="Arial"/>
                    <a:cs typeface="Arial"/>
                  </a:rPr>
                  <a:t>More absorbed solar energy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500938" y="2722245"/>
                <a:ext cx="97878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地表吸收更多辐射</a:t>
                </a:r>
              </a:p>
            </p:txBody>
          </p:sp>
        </p:grpSp>
        <p:sp>
          <p:nvSpPr>
            <p:cNvPr id="48" name="Line 48"/>
            <p:cNvSpPr/>
            <p:nvPr/>
          </p:nvSpPr>
          <p:spPr>
            <a:xfrm>
              <a:off x="9324975" y="2571750"/>
              <a:ext cx="133350" cy="9525"/>
            </a:xfrm>
            <a:custGeom>
              <a:avLst/>
              <a:gdLst/>
              <a:ahLst/>
              <a:cxnLst/>
              <a:rect l="l" t="t" r="r" b="b"/>
              <a:pathLst>
                <a:path w="133350" h="952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28575">
              <a:solidFill>
                <a:srgbClr val="1E4FA8"/>
              </a:solidFill>
            </a:ln>
          </p:spPr>
        </p:sp>
        <p:sp>
          <p:nvSpPr>
            <p:cNvPr id="49" name="Polygon 49"/>
            <p:cNvSpPr/>
            <p:nvPr/>
          </p:nvSpPr>
          <p:spPr>
            <a:xfrm>
              <a:off x="9458325" y="25146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E4FA8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9582150" y="2000250"/>
              <a:ext cx="1943100" cy="1143000"/>
              <a:chOff x="9582150" y="2000250"/>
              <a:chExt cx="1943100" cy="114300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9582150" y="2000250"/>
                <a:ext cx="1943100" cy="11430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9525">
                <a:solidFill>
                  <a:srgbClr val="D6DCE5"/>
                </a:solidFill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9705975" y="2143125"/>
                <a:ext cx="247650" cy="247650"/>
              </a:xfrm>
              <a:prstGeom prst="ellipse">
                <a:avLst/>
              </a:prstGeom>
              <a:solidFill>
                <a:srgbClr val="1E4FA8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9786753" y="2209324"/>
                <a:ext cx="8609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5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10033635" y="2193131"/>
                <a:ext cx="7653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0E3F8C"/>
                    </a:solidFill>
                    <a:latin typeface="Arial"/>
                    <a:ea typeface="Microsoft YaHei"/>
                    <a:cs typeface="Arial"/>
                  </a:rPr>
                  <a:t>进一步增温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9729788" y="2493645"/>
                <a:ext cx="100095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4A5568"/>
                    </a:solidFill>
                    <a:latin typeface="Arial"/>
                    <a:ea typeface="Arial"/>
                    <a:cs typeface="Arial"/>
                  </a:rPr>
                  <a:t>Further warming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9729788" y="2722245"/>
                <a:ext cx="73647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温度继续上升</a:t>
                </a:r>
              </a:p>
            </p:txBody>
          </p:sp>
        </p:grpSp>
        <p:sp>
          <p:nvSpPr>
            <p:cNvPr id="57" name="Freeform 57"/>
            <p:cNvSpPr/>
            <p:nvPr/>
          </p:nvSpPr>
          <p:spPr>
            <a:xfrm>
              <a:off x="1638300" y="3143250"/>
              <a:ext cx="8915400" cy="438150"/>
            </a:xfrm>
            <a:custGeom>
              <a:avLst/>
              <a:gdLst/>
              <a:ahLst/>
              <a:cxnLst/>
              <a:rect l="l" t="t" r="r" b="b"/>
              <a:pathLst>
                <a:path w="8915400" h="438150">
                  <a:moveTo>
                    <a:pt x="8915400" y="0"/>
                  </a:moveTo>
                  <a:lnTo>
                    <a:pt x="8915400" y="361950"/>
                  </a:lnTo>
                  <a:cubicBezTo>
                    <a:pt x="8915400" y="412750"/>
                    <a:pt x="8890000" y="438150"/>
                    <a:pt x="8839200" y="438150"/>
                  </a:cubicBezTo>
                  <a:lnTo>
                    <a:pt x="76200" y="438150"/>
                  </a:lnTo>
                  <a:cubicBezTo>
                    <a:pt x="25400" y="438150"/>
                    <a:pt x="0" y="412750"/>
                    <a:pt x="0" y="361950"/>
                  </a:cubicBezTo>
                  <a:lnTo>
                    <a:pt x="0" y="57150"/>
                  </a:lnTo>
                </a:path>
              </a:pathLst>
            </a:custGeom>
            <a:noFill/>
            <a:ln w="28575">
              <a:solidFill>
                <a:srgbClr val="1E4FA8"/>
              </a:solidFill>
            </a:ln>
          </p:spPr>
        </p:sp>
        <p:sp>
          <p:nvSpPr>
            <p:cNvPr id="58" name="Polygon 58"/>
            <p:cNvSpPr/>
            <p:nvPr/>
          </p:nvSpPr>
          <p:spPr>
            <a:xfrm>
              <a:off x="1571625" y="3143250"/>
              <a:ext cx="133350" cy="95250"/>
            </a:xfrm>
            <a:custGeom>
              <a:avLst/>
              <a:gdLst/>
              <a:ahLst/>
              <a:cxnLst/>
              <a:rect l="l" t="t" r="r" b="b"/>
              <a:pathLst>
                <a:path w="133350" h="95250">
                  <a:moveTo>
                    <a:pt x="66675" y="0"/>
                  </a:moveTo>
                  <a:lnTo>
                    <a:pt x="0" y="95250"/>
                  </a:lnTo>
                  <a:lnTo>
                    <a:pt x="133350" y="95250"/>
                  </a:lnTo>
                  <a:close/>
                </a:path>
              </a:pathLst>
            </a:custGeom>
            <a:solidFill>
              <a:srgbClr val="1E4FA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3379633" y="3723799"/>
              <a:ext cx="54327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E4FA8"/>
                  </a:solidFill>
                  <a:latin typeface="Arial"/>
                  <a:ea typeface="Microsoft YaHei"/>
                  <a:cs typeface="Arial"/>
                </a:rPr>
                <a:t>诱发变化与初始变化同向 → 沿原方向放大 Induced change reinforces the initial change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09600" y="4095750"/>
              <a:ext cx="4953000" cy="666750"/>
            </a:xfrm>
            <a:prstGeom prst="roundRect">
              <a:avLst>
                <a:gd name="adj" fmla="val 17143"/>
              </a:avLst>
            </a:prstGeom>
            <a:solidFill>
              <a:srgbClr val="1E4FA8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800100" y="4276725"/>
              <a:ext cx="304800" cy="3048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86573" y="43338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E4FA8"/>
                  </a:solidFill>
                  <a:latin typeface="Arial"/>
                  <a:ea typeface="Arial"/>
                  <a:cs typeface="Arial"/>
                </a:rPr>
                <a:t>+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213104" y="4232910"/>
              <a:ext cx="20205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Positive Feedback 正反馈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214438" y="4493895"/>
              <a:ext cx="32264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D6E4F7"/>
                  </a:solidFill>
                  <a:latin typeface="Arial"/>
                  <a:ea typeface="Microsoft YaHei"/>
                  <a:cs typeface="Arial"/>
                </a:rPr>
                <a:t>诱发变化加强初始增温 Induced change amplifies warming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753100" y="4095750"/>
              <a:ext cx="5829300" cy="666750"/>
            </a:xfrm>
            <a:prstGeom prst="roundRect">
              <a:avLst>
                <a:gd name="adj" fmla="val 17143"/>
              </a:avLst>
            </a:prstGeom>
            <a:solidFill>
              <a:srgbClr val="F0F5FC"/>
            </a:solidFill>
            <a:ln w="9525">
              <a:solidFill>
                <a:srgbClr val="D6DCE5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900547" y="4371499"/>
              <a:ext cx="30246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反照率 Albedo = 地表反射率 surface reflectivity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376047" y="5228749"/>
            <a:ext cx="7659060" cy="571690"/>
            <a:chOff x="376047" y="5228749"/>
            <a:chExt cx="7659060" cy="571690"/>
          </a:xfrm>
        </p:grpSpPr>
        <p:sp>
          <p:nvSpPr>
            <p:cNvPr id="68" name="TextBox 68"/>
            <p:cNvSpPr txBox="1"/>
            <p:nvPr/>
          </p:nvSpPr>
          <p:spPr>
            <a:xfrm>
              <a:off x="376047" y="5228749"/>
              <a:ext cx="76590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闭环判断：冰雪与反照率下降带来的吸收增加继续加强增温，因此是正反馈。 The loop amplifies the initial warming → positive.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376047" y="5609749"/>
              <a:ext cx="76040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判断步骤：找初始变化 → 跟踪诱发变化 → 比较最终作用方向 Steps: initial change → induced change → compare final direction</a:t>
              </a:r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376238" y="6532245"/>
            <a:ext cx="784960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Arial"/>
                <a:ea typeface="Microsoft YaHei"/>
                <a:cs typeface="Arial"/>
              </a:rPr>
              <a:t>Source: UE 8e, Ch.12, PDF p.1177; 地球系统与演变, Ch.3 §3.3.2.3, PDF pp.39–40; HB Ch.9, pp.251–252 as mechanism context only.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4A5568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rgbClr val="0E3F8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36475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3.5 生命也参与反馈 | Biosphere Feedback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294315" y="299085"/>
              <a:ext cx="15227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C7D7F2"/>
                  </a:solidFill>
                  <a:latin typeface="Arial"/>
                  <a:ea typeface="Arial"/>
                  <a:cs typeface="Arial"/>
                </a:rPr>
                <a:t>NEGATIVE FEEDBACK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7276695" cy="357093"/>
            <a:chOff x="381000" y="914400"/>
            <a:chExt cx="7276695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rgbClr val="1E4FA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711324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EA580C"/>
                  </a:solidFill>
                  <a:latin typeface="Arial"/>
                  <a:ea typeface="Arial"/>
                  <a:cs typeface="Arial"/>
                </a:rPr>
                <a:t>CO₂</a:t>
              </a:r>
              <a:r>
                <a:rPr lang="zh-CN" sz="1580" b="1" dirty="0">
                  <a:solidFill>
                    <a:srgbClr val="0E3F8C"/>
                  </a:solidFill>
                  <a:latin typeface="Arial"/>
                  <a:ea typeface="Microsoft YaHei"/>
                  <a:cs typeface="Arial"/>
                </a:rPr>
                <a:t xml:space="preserve"> 升高可促进植物生长与碳吸收，部分抵消初始变化：一个代表性负反馈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381000" y="1428750"/>
            <a:ext cx="11430000" cy="3524250"/>
            <a:chOff x="381000" y="1428750"/>
            <a:chExt cx="11430000" cy="3524250"/>
          </a:xfrm>
        </p:grpSpPr>
        <p:sp>
          <p:nvSpPr>
            <p:cNvPr id="9" name="Rectangle 9"/>
            <p:cNvSpPr/>
            <p:nvPr/>
          </p:nvSpPr>
          <p:spPr>
            <a:xfrm>
              <a:off x="381000" y="1428750"/>
              <a:ext cx="11430000" cy="3524250"/>
            </a:xfrm>
            <a:prstGeom prst="roundRect">
              <a:avLst>
                <a:gd name="adj" fmla="val 3243"/>
              </a:avLst>
            </a:prstGeom>
            <a:solidFill>
              <a:srgbClr val="F7F9FC"/>
            </a:solidFill>
            <a:ln w="9525">
              <a:solidFill>
                <a:srgbClr val="D6DCE5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66750" y="1619250"/>
              <a:ext cx="2495550" cy="247650"/>
            </a:xfrm>
            <a:prstGeom prst="roundRect">
              <a:avLst>
                <a:gd name="adj" fmla="val 30769"/>
              </a:avLst>
            </a:prstGeom>
            <a:solidFill>
              <a:srgbClr val="E8EFF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35168" y="1693545"/>
              <a:ext cx="135871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E4FA8"/>
                  </a:solidFill>
                  <a:latin typeface="Arial"/>
                  <a:ea typeface="Microsoft YaHei"/>
                  <a:cs typeface="Arial"/>
                </a:rPr>
                <a:t>初始变化 Initial change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429000" y="1619250"/>
              <a:ext cx="8020050" cy="247650"/>
            </a:xfrm>
            <a:prstGeom prst="roundRect">
              <a:avLst>
                <a:gd name="adj" fmla="val 30769"/>
              </a:avLst>
            </a:prstGeom>
            <a:solidFill>
              <a:srgbClr val="F0F5F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576638" y="1693545"/>
              <a:ext cx="21329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诱发变化 Induced change（步骤 2–4）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666750" y="2000250"/>
              <a:ext cx="2495550" cy="1143000"/>
              <a:chOff x="666750" y="2000250"/>
              <a:chExt cx="2495550" cy="11430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666750" y="2000250"/>
                <a:ext cx="2495550" cy="1143000"/>
              </a:xfrm>
              <a:prstGeom prst="roundRect">
                <a:avLst>
                  <a:gd name="adj" fmla="val 8333"/>
                </a:avLst>
              </a:prstGeom>
              <a:solidFill>
                <a:srgbClr val="F0F5FC"/>
              </a:solidFill>
              <a:ln w="19050">
                <a:solidFill>
                  <a:srgbClr val="1E4FA8"/>
                </a:solidFill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790575" y="2143125"/>
                <a:ext cx="247650" cy="247650"/>
              </a:xfrm>
              <a:prstGeom prst="ellipse">
                <a:avLst/>
              </a:prstGeom>
              <a:solidFill>
                <a:srgbClr val="1E4FA8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871353" y="2209324"/>
                <a:ext cx="8609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1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118235" y="2193131"/>
                <a:ext cx="101897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0E3F8C"/>
                    </a:solidFill>
                    <a:latin typeface="Arial"/>
                    <a:ea typeface="Microsoft YaHei"/>
                    <a:cs typeface="Arial"/>
                  </a:rPr>
                  <a:t xml:space="preserve">大气 </a:t>
                </a:r>
                <a:r>
                  <a:rPr lang="en-US" sz="1120" b="1" dirty="0">
                    <a:solidFill>
                      <a:srgbClr val="EA580C"/>
                    </a:solidFill>
                    <a:latin typeface="Arial"/>
                    <a:ea typeface="Arial"/>
                    <a:cs typeface="Arial"/>
                  </a:rPr>
                  <a:t>CO₂</a:t>
                </a:r>
                <a:r>
                  <a:rPr lang="zh-CN" sz="1120" b="1" dirty="0">
                    <a:solidFill>
                      <a:srgbClr val="0E3F8C"/>
                    </a:solidFill>
                    <a:latin typeface="Arial"/>
                    <a:ea typeface="Microsoft YaHei"/>
                    <a:cs typeface="Arial"/>
                  </a:rPr>
                  <a:t xml:space="preserve"> 增加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14388" y="2493645"/>
                <a:ext cx="1615050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4A5568"/>
                    </a:solidFill>
                    <a:latin typeface="Arial"/>
                    <a:ea typeface="Arial"/>
                    <a:cs typeface="Arial"/>
                  </a:rPr>
                  <a:t>Atmospheric CO₂ increases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14388" y="2722245"/>
                <a:ext cx="4941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浓度上升</a:t>
                </a:r>
              </a:p>
            </p:txBody>
          </p:sp>
        </p:grpSp>
        <p:sp>
          <p:nvSpPr>
            <p:cNvPr id="21" name="Line 21"/>
            <p:cNvSpPr/>
            <p:nvPr/>
          </p:nvSpPr>
          <p:spPr>
            <a:xfrm>
              <a:off x="3190875" y="2571750"/>
              <a:ext cx="133350" cy="9525"/>
            </a:xfrm>
            <a:custGeom>
              <a:avLst/>
              <a:gdLst/>
              <a:ahLst/>
              <a:cxnLst/>
              <a:rect l="l" t="t" r="r" b="b"/>
              <a:pathLst>
                <a:path w="133350" h="952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28575">
              <a:solidFill>
                <a:srgbClr val="1E4FA8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3324225" y="25146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E4FA8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3429000" y="2000250"/>
              <a:ext cx="2495550" cy="1143000"/>
              <a:chOff x="3429000" y="2000250"/>
              <a:chExt cx="2495550" cy="11430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3429000" y="2000250"/>
                <a:ext cx="2495550" cy="11430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9525">
                <a:solidFill>
                  <a:srgbClr val="D6DCE5"/>
                </a:solidFill>
              </a:ln>
            </p:spPr>
          </p:sp>
          <p:sp>
            <p:nvSpPr>
              <p:cNvPr id="24" name="Ellipse 24"/>
              <p:cNvSpPr/>
              <p:nvPr/>
            </p:nvSpPr>
            <p:spPr>
              <a:xfrm>
                <a:off x="3552825" y="2143125"/>
                <a:ext cx="247650" cy="247650"/>
              </a:xfrm>
              <a:prstGeom prst="ellipse">
                <a:avLst/>
              </a:prstGeom>
              <a:solidFill>
                <a:srgbClr val="1E4FA8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3633603" y="2209324"/>
                <a:ext cx="8609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2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880485" y="2193131"/>
                <a:ext cx="121762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0E3F8C"/>
                    </a:solidFill>
                    <a:latin typeface="Arial"/>
                    <a:ea typeface="Microsoft YaHei"/>
                    <a:cs typeface="Arial"/>
                  </a:rPr>
                  <a:t>植物生长可能增加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576638" y="2493645"/>
                <a:ext cx="155219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4A5568"/>
                    </a:solidFill>
                    <a:latin typeface="Arial"/>
                    <a:ea typeface="Arial"/>
                    <a:cs typeface="Arial"/>
                  </a:rPr>
                  <a:t>Plant growth can increase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576638" y="2722245"/>
                <a:ext cx="85763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可促进，非必然</a:t>
                </a:r>
              </a:p>
            </p:txBody>
          </p:sp>
        </p:grpSp>
        <p:sp>
          <p:nvSpPr>
            <p:cNvPr id="30" name="Line 30"/>
            <p:cNvSpPr/>
            <p:nvPr/>
          </p:nvSpPr>
          <p:spPr>
            <a:xfrm>
              <a:off x="5953125" y="2571750"/>
              <a:ext cx="133350" cy="9525"/>
            </a:xfrm>
            <a:custGeom>
              <a:avLst/>
              <a:gdLst/>
              <a:ahLst/>
              <a:cxnLst/>
              <a:rect l="l" t="t" r="r" b="b"/>
              <a:pathLst>
                <a:path w="133350" h="952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28575">
              <a:solidFill>
                <a:srgbClr val="1E4FA8"/>
              </a:solidFill>
            </a:ln>
          </p:spPr>
        </p:sp>
        <p:sp>
          <p:nvSpPr>
            <p:cNvPr id="31" name="Polygon 31"/>
            <p:cNvSpPr/>
            <p:nvPr/>
          </p:nvSpPr>
          <p:spPr>
            <a:xfrm>
              <a:off x="6086475" y="25146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E4FA8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6191250" y="2000250"/>
              <a:ext cx="2495550" cy="1143000"/>
              <a:chOff x="6191250" y="2000250"/>
              <a:chExt cx="2495550" cy="11430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6191250" y="2000250"/>
                <a:ext cx="2495550" cy="11430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9525">
                <a:solidFill>
                  <a:srgbClr val="D6DCE5"/>
                </a:solidFill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6315075" y="2143125"/>
                <a:ext cx="247650" cy="247650"/>
              </a:xfrm>
              <a:prstGeom prst="ellipse">
                <a:avLst/>
              </a:prstGeom>
              <a:solidFill>
                <a:srgbClr val="1E4FA8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6395853" y="2209324"/>
                <a:ext cx="8609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3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642735" y="2193131"/>
                <a:ext cx="106685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0E3F8C"/>
                    </a:solidFill>
                    <a:latin typeface="Arial"/>
                    <a:ea typeface="Microsoft YaHei"/>
                    <a:cs typeface="Arial"/>
                  </a:rPr>
                  <a:t>碳吸收进有机质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338888" y="2493645"/>
                <a:ext cx="161881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4A5568"/>
                    </a:solidFill>
                    <a:latin typeface="Arial"/>
                    <a:ea typeface="Arial"/>
                    <a:cs typeface="Arial"/>
                  </a:rPr>
                  <a:t>Uptake into organic matter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338888" y="2722245"/>
                <a:ext cx="128831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 xml:space="preserve">植物固定 </a:t>
                </a:r>
                <a:r>
                  <a:rPr lang="en-US" sz="900" dirty="0">
                    <a:solidFill>
                      <a:srgbClr val="EA580C"/>
                    </a:solidFill>
                    <a:latin typeface="Arial"/>
                    <a:ea typeface="Arial"/>
                    <a:cs typeface="Arial"/>
                  </a:rPr>
                  <a:t>CO₂</a:t>
                </a:r>
                <a:r>
                  <a:rPr lang="zh-CN" sz="900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 xml:space="preserve"> 为有机质</a:t>
                </a:r>
              </a:p>
            </p:txBody>
          </p:sp>
        </p:grpSp>
        <p:sp>
          <p:nvSpPr>
            <p:cNvPr id="39" name="Line 39"/>
            <p:cNvSpPr/>
            <p:nvPr/>
          </p:nvSpPr>
          <p:spPr>
            <a:xfrm>
              <a:off x="8715375" y="2571750"/>
              <a:ext cx="133350" cy="9525"/>
            </a:xfrm>
            <a:custGeom>
              <a:avLst/>
              <a:gdLst/>
              <a:ahLst/>
              <a:cxnLst/>
              <a:rect l="l" t="t" r="r" b="b"/>
              <a:pathLst>
                <a:path w="133350" h="952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28575">
              <a:solidFill>
                <a:srgbClr val="1E4FA8"/>
              </a:solidFill>
            </a:ln>
          </p:spPr>
        </p:sp>
        <p:sp>
          <p:nvSpPr>
            <p:cNvPr id="40" name="Polygon 40"/>
            <p:cNvSpPr/>
            <p:nvPr/>
          </p:nvSpPr>
          <p:spPr>
            <a:xfrm>
              <a:off x="8848725" y="25146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E4FA8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8953500" y="2000250"/>
              <a:ext cx="2495550" cy="1143000"/>
              <a:chOff x="8953500" y="2000250"/>
              <a:chExt cx="2495550" cy="11430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8953500" y="2000250"/>
                <a:ext cx="2495550" cy="11430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9525">
                <a:solidFill>
                  <a:srgbClr val="D6DCE5"/>
                </a:solidFill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9077325" y="2143125"/>
                <a:ext cx="247650" cy="247650"/>
              </a:xfrm>
              <a:prstGeom prst="ellipse">
                <a:avLst/>
              </a:prstGeom>
              <a:solidFill>
                <a:srgbClr val="1E4FA8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9158103" y="2209324"/>
                <a:ext cx="8609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4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9404985" y="2193131"/>
                <a:ext cx="14238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dirty="0">
                    <a:solidFill>
                      <a:srgbClr val="EA580C"/>
                    </a:solidFill>
                    <a:latin typeface="Arial"/>
                    <a:ea typeface="Arial"/>
                    <a:cs typeface="Arial"/>
                  </a:rPr>
                  <a:t>CO₂</a:t>
                </a:r>
                <a:r>
                  <a:rPr lang="zh-CN" sz="1120" b="1" dirty="0">
                    <a:solidFill>
                      <a:srgbClr val="0E3F8C"/>
                    </a:solidFill>
                    <a:latin typeface="Arial"/>
                    <a:ea typeface="Microsoft YaHei"/>
                    <a:cs typeface="Arial"/>
                  </a:rPr>
                  <a:t xml:space="preserve"> 与增温相对降低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9101138" y="2493645"/>
                <a:ext cx="136999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4A5568"/>
                    </a:solidFill>
                    <a:latin typeface="Arial"/>
                    <a:ea typeface="Arial"/>
                    <a:cs typeface="Arial"/>
                  </a:rPr>
                  <a:t>CO₂ &amp; warming reduced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9101138" y="2722245"/>
                <a:ext cx="73647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反对初始变化</a:t>
                </a:r>
              </a:p>
            </p:txBody>
          </p:sp>
        </p:grpSp>
        <p:sp>
          <p:nvSpPr>
            <p:cNvPr id="48" name="Freeform 48"/>
            <p:cNvSpPr/>
            <p:nvPr/>
          </p:nvSpPr>
          <p:spPr>
            <a:xfrm>
              <a:off x="1914525" y="3143250"/>
              <a:ext cx="8286750" cy="438150"/>
            </a:xfrm>
            <a:custGeom>
              <a:avLst/>
              <a:gdLst/>
              <a:ahLst/>
              <a:cxnLst/>
              <a:rect l="l" t="t" r="r" b="b"/>
              <a:pathLst>
                <a:path w="8286750" h="438150">
                  <a:moveTo>
                    <a:pt x="8286750" y="0"/>
                  </a:moveTo>
                  <a:lnTo>
                    <a:pt x="8286750" y="361950"/>
                  </a:lnTo>
                  <a:cubicBezTo>
                    <a:pt x="8286750" y="412750"/>
                    <a:pt x="8261350" y="438150"/>
                    <a:pt x="8210550" y="438150"/>
                  </a:cubicBezTo>
                  <a:lnTo>
                    <a:pt x="76200" y="438150"/>
                  </a:lnTo>
                  <a:cubicBezTo>
                    <a:pt x="25400" y="438150"/>
                    <a:pt x="0" y="412750"/>
                    <a:pt x="0" y="361950"/>
                  </a:cubicBezTo>
                  <a:lnTo>
                    <a:pt x="0" y="57150"/>
                  </a:lnTo>
                </a:path>
              </a:pathLst>
            </a:custGeom>
            <a:noFill/>
            <a:ln w="28575">
              <a:solidFill>
                <a:srgbClr val="1E4FA8"/>
              </a:solidFill>
            </a:ln>
          </p:spPr>
        </p:sp>
        <p:sp>
          <p:nvSpPr>
            <p:cNvPr id="49" name="Polygon 49"/>
            <p:cNvSpPr/>
            <p:nvPr/>
          </p:nvSpPr>
          <p:spPr>
            <a:xfrm>
              <a:off x="1847850" y="3143250"/>
              <a:ext cx="133350" cy="95250"/>
            </a:xfrm>
            <a:custGeom>
              <a:avLst/>
              <a:gdLst/>
              <a:ahLst/>
              <a:cxnLst/>
              <a:rect l="l" t="t" r="r" b="b"/>
              <a:pathLst>
                <a:path w="133350" h="95250">
                  <a:moveTo>
                    <a:pt x="66675" y="0"/>
                  </a:moveTo>
                  <a:lnTo>
                    <a:pt x="0" y="95250"/>
                  </a:lnTo>
                  <a:lnTo>
                    <a:pt x="133350" y="95250"/>
                  </a:lnTo>
                  <a:close/>
                </a:path>
              </a:pathLst>
            </a:custGeom>
            <a:solidFill>
              <a:srgbClr val="1E4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410358" y="3723799"/>
              <a:ext cx="53712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E4FA8"/>
                  </a:solidFill>
                  <a:latin typeface="Arial"/>
                  <a:ea typeface="Microsoft YaHei"/>
                  <a:cs typeface="Arial"/>
                </a:rPr>
                <a:t>诱发作用与初始变化反向 → 抑制并趋于稳定 Induced change opposes the initial change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09600" y="4095750"/>
              <a:ext cx="4953000" cy="666750"/>
            </a:xfrm>
            <a:prstGeom prst="roundRect">
              <a:avLst>
                <a:gd name="adj" fmla="val 17143"/>
              </a:avLst>
            </a:prstGeom>
            <a:solidFill>
              <a:srgbClr val="1E4FA8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800100" y="4276725"/>
              <a:ext cx="304800" cy="3048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86573" y="43338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E4FA8"/>
                  </a:solidFill>
                  <a:latin typeface="Arial"/>
                  <a:ea typeface="Arial"/>
                  <a:cs typeface="Arial"/>
                </a:rPr>
                <a:t>−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213104" y="4232910"/>
              <a:ext cx="20632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Negative Feedback 负反馈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214438" y="4493895"/>
              <a:ext cx="277903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D6E4F7"/>
                  </a:solidFill>
                  <a:latin typeface="Arial"/>
                  <a:ea typeface="Microsoft YaHei"/>
                  <a:cs typeface="Arial"/>
                </a:rPr>
                <a:t>诱发作用反对初始变化 Induced change opposes it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753100" y="4095750"/>
              <a:ext cx="5829300" cy="666750"/>
            </a:xfrm>
            <a:prstGeom prst="roundRect">
              <a:avLst>
                <a:gd name="adj" fmla="val 17143"/>
              </a:avLst>
            </a:prstGeom>
            <a:solidFill>
              <a:srgbClr val="F0F5FC"/>
            </a:solidFill>
            <a:ln w="9525">
              <a:solidFill>
                <a:srgbClr val="D6DCE5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900547" y="4257199"/>
              <a:ext cx="25501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>条件式：</a:t>
              </a:r>
              <a:r>
                <a:rPr lang="en-US" sz="980" dirty="0">
                  <a:solidFill>
                    <a:srgbClr val="EA580C"/>
                  </a:solidFill>
                  <a:latin typeface="Arial"/>
                  <a:ea typeface="Arial"/>
                  <a:cs typeface="Arial"/>
                </a:rPr>
                <a:t>CO₂</a:t>
              </a:r>
              <a:r>
                <a:rPr lang="zh-CN" sz="98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 xml:space="preserve"> 升高可促进植物生长与碳吸收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900738" y="4493895"/>
              <a:ext cx="484187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4A5568"/>
                  </a:solidFill>
                  <a:latin typeface="Arial"/>
                  <a:ea typeface="Arial"/>
                  <a:cs typeface="Arial"/>
                </a:rPr>
                <a:t>No unlimited growth, permanent compensation, or measured present-day net sink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376047" y="5228749"/>
            <a:ext cx="8158000" cy="571690"/>
            <a:chOff x="376047" y="5228749"/>
            <a:chExt cx="8158000" cy="571690"/>
          </a:xfrm>
        </p:grpSpPr>
        <p:sp>
          <p:nvSpPr>
            <p:cNvPr id="60" name="TextBox 60"/>
            <p:cNvSpPr txBox="1"/>
            <p:nvPr/>
          </p:nvSpPr>
          <p:spPr>
            <a:xfrm>
              <a:off x="376047" y="5228749"/>
              <a:ext cx="81580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 xml:space="preserve">闭环判断：植物吸收使大气 </a:t>
              </a:r>
              <a:r>
                <a:rPr lang="en-US" sz="980" dirty="0">
                  <a:solidFill>
                    <a:srgbClr val="EA580C"/>
                  </a:solidFill>
                  <a:latin typeface="Arial"/>
                  <a:ea typeface="Arial"/>
                  <a:cs typeface="Arial"/>
                </a:rPr>
                <a:t>CO₂</a:t>
              </a:r>
              <a:r>
                <a:rPr lang="zh-CN" sz="980" dirty="0">
                  <a:solidFill>
                    <a:srgbClr val="1A2230"/>
                  </a:solidFill>
                  <a:latin typeface="Arial"/>
                  <a:ea typeface="Microsoft YaHei"/>
                  <a:cs typeface="Arial"/>
                </a:rPr>
                <a:t xml:space="preserve"> 与增温相对初始变化降低，因此是负反馈。 The induced uptake opposes the initial change → negative.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376047" y="5609749"/>
              <a:ext cx="76040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判断步骤：找初始变化 → 跟踪诱发变化 → 比较最终作用方向 Steps: initial change → induced change → compare final direction</a:t>
              </a:r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376238" y="6532245"/>
            <a:ext cx="84935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4A5568"/>
                </a:solidFill>
                <a:latin typeface="Arial"/>
                <a:ea typeface="Arial"/>
                <a:cs typeface="Arial"/>
              </a:rPr>
              <a:t>Source: UE 8e, Ch.12, PDF p.1178; UE 8e p.1168 and approved CN Ch.4 rows as process context only; no flux or response-time number is used.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4A5568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ROD-W3-QIANWEN-OFFICE">
  <a:themeElements>
    <a:clrScheme name="PROD-W3-QIANWEN-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OD-W3-QIANWEN-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D-W3-QIANWEN-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ROD-W3-QIANWEN-OFFICE">
  <a:themeElements>
    <a:clrScheme name="PROD-W3-QIANWEN-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OD-W3-QIANWEN-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D-W3-QIANWEN-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2026-09-15T01:58:21Z</dcterms:created>
  <dcterms:modified xsi:type="dcterms:W3CDTF">2026-09-15T01:58:21Z</dcterms:modified>
  <cp:category/>
  <cp:contentStatus/>
</cp:coreProperties>
</file>