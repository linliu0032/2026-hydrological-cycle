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0"/>
  </p:notesMasterIdLst>
  <p:sldIdLst>
    <p:sldId id="256" r:id="rId7"/>
    <p:sldId id="257" r:id="rId8"/>
    <p:sldId id="258"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  <Relationship Id="rId1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讲水汽反馈，是一条正反馈回路。请学生沿五张卡片从左往右读：第一步是初始增温，这是初始变化，卡片用深蓝边框单独标出；第二步蒸发增加，尤其是海洋蒸发增强；第三步大气水汽增多，水汽进入大气圈；第四步水汽吸收并再辐射长波辐射，温室效应加强；第五步进一步增温。下面那条回环箭头把第五步接回第一步，表示诱发变化与初始变化同向、沿原方向继续放大，所以深蓝签块标的是 Positive Feedback 正反馈，判断依据是方向而不是好坏。右边浅色卡片钉住一个常见误区：水汽在这里是对初始增温的反馈，不是一个独立初始强迫，不能把它讲成自己启动的驱动因素。这一页不需要任何数字，中文教材里每摄氏度约百分之七和百分之七十五温室贡献这两个数值刻意没有使用，也不重新讲授第十五讲的温室效应本身。来源是理解地球第八版第十二章 PDF 第一一七七页，以及地球画像第五版第二十三章 883 到 884 页；中文教材第三章 PDF 第 10 页和 27 到 28 页只作相变背景支持。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讲冰–反照率反馈，结构与上一页完全同族，方便学生套用同一套读法。五步依次是：初始增温；冰雪减少、覆盖面积缩小；反照率下降，卡片里给了简短双语定义，反照率就是地表反射率；地表吸收的太阳能增加；进一步增温。回环箭头同样把末步接回第一步，诱发变化与初始变化同向，因此是 Positive Feedback 正反馈。右边浅色卡片重复反照率的双语定义，并明确本页不引入冰量数据、海平面数值或雪球地球历史；讲的时候也不要顺势说"海冰融化抬升海平面"，漂浮海冰融化与陆地冰融化对海平面的作用不同，那一区分属于冰冻圈页的内容，不在本页展开。来源是理解地球第八版第十二章 PDF 第一一七七页、地球系统与演变第三章 3.3.2.3 节 PDF 第 39 到 40 页，HB 第九章 251 到 252 页只作机制背景。</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这一页讲生命参与的反馈，是一个有边界的代表性负反馈，步骤比前两页少一步。第一步是大气 CO₂ 增加，这是初始变化；第二步植物生长可促进，注意措辞是"可促进"而不是"必然促进"；第三步植物把更多 CO₂ 固定进有机质，完成碳吸收；第四步大气 CO₂ 与温室增温相对初始变化被降低。回环箭头把第四步接回第一步，但方向作用是反对初始变化、抑制并趋于稳定，所以签块标 Negative Feedback 负反馈。右边浅色卡片把边界写清楚：这是条件式表述，不声称无限生长、永久补偿，也不声称现今已测得的净汇；同样不扩展到养分限制、生态系统学、政策或土地管理。页面上没有任何通量或响应时间数字，因为任务未授权。CO₂ 用橙色标记，只在这一页出现，用来把碳的线索从第二部分接过来。来源是理解地球第八版第十二章 PDF 第一一七八页，UE 第一一六八页与已批准的中文教材第四章行只作过程背景。</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ROD-W3-QIANWEN-OFFIC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ROD-W3-QIANWEN-OFFIC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40573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3.2 水汽反馈 | Water-Vapor Feedback</a:t>
              </a:r>
            </a:p>
          </p:txBody>
        </p:sp>
        <p:sp>
          <p:nvSpPr>
            <p:cNvPr id="4" name="TextBox 4"/>
            <p:cNvSpPr txBox="1"/>
            <p:nvPr/>
          </p:nvSpPr>
          <p:spPr>
            <a:xfrm>
              <a:off x="10302850" y="299085"/>
              <a:ext cx="1514246"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POSITIVE FEEDBACK</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增温先增加蒸发与水汽，水汽再加强温室效应：一条自我加强的正反馈</a:t>
              </a:r>
            </a:p>
          </p:txBody>
        </p:sp>
      </p:grpSp>
      <p:grpSp>
        <p:nvGrpSpPr>
          <p:cNvPr id="68" name="Group 68"/>
          <p:cNvGrpSpPr/>
          <p:nvPr/>
        </p:nvGrpSpPr>
        <p:grpSpPr>
          <a:xfrm>
            <a:off x="381000" y="1428750"/>
            <a:ext cx="11430000" cy="3524250"/>
            <a:chOff x="381000" y="1428750"/>
            <a:chExt cx="11430000" cy="3524250"/>
          </a:xfrm>
        </p:grpSpPr>
        <p:sp>
          <p:nvSpPr>
            <p:cNvPr id="9" name="Rectangle 9"/>
            <p:cNvSpPr/>
            <p:nvPr/>
          </p:nvSpPr>
          <p:spPr>
            <a:xfrm>
              <a:off x="381000" y="1428750"/>
              <a:ext cx="11430000" cy="3524250"/>
            </a:xfrm>
            <a:prstGeom prst="roundRect">
              <a:avLst>
                <a:gd name="adj" fmla="val 3243"/>
              </a:avLst>
            </a:prstGeom>
            <a:solidFill>
              <a:srgbClr val="F7F9FC"/>
            </a:solidFill>
            <a:ln w="9525">
              <a:solidFill>
                <a:srgbClr val="D6DCE5"/>
              </a:solidFill>
            </a:ln>
          </p:spPr>
        </p:sp>
        <p:sp>
          <p:nvSpPr>
            <p:cNvPr id="10" name="Rectangle 10"/>
            <p:cNvSpPr/>
            <p:nvPr/>
          </p:nvSpPr>
          <p:spPr>
            <a:xfrm>
              <a:off x="666750" y="1619250"/>
              <a:ext cx="1943100" cy="247650"/>
            </a:xfrm>
            <a:prstGeom prst="roundRect">
              <a:avLst>
                <a:gd name="adj" fmla="val 30769"/>
              </a:avLst>
            </a:prstGeom>
            <a:solidFill>
              <a:srgbClr val="E8EFF8"/>
            </a:solidFill>
            <a:ln>
              <a:noFill/>
            </a:ln>
          </p:spPr>
        </p:sp>
        <p:sp>
          <p:nvSpPr>
            <p:cNvPr id="11" name="TextBox 11"/>
            <p:cNvSpPr txBox="1"/>
            <p:nvPr/>
          </p:nvSpPr>
          <p:spPr>
            <a:xfrm>
              <a:off x="958943" y="1693545"/>
              <a:ext cx="1358713" cy="176212"/>
            </a:xfrm>
            <a:prstGeom prst="rect">
              <a:avLst/>
            </a:prstGeom>
            <a:noFill/>
            <a:ln>
              <a:noFill/>
            </a:ln>
          </p:spPr>
          <p:txBody>
            <a:bodyPr wrap="none" lIns="0" tIns="0" rIns="0" bIns="0" anchor="t" anchorCtr="0">
              <a:spAutoFit/>
            </a:bodyPr>
            <a:lstStyle/>
            <a:p>
              <a:pPr algn="ctr"/>
              <a:r>
                <a:rPr lang="zh-CN" sz="900" b="1" dirty="0">
                  <a:solidFill>
                    <a:srgbClr val="1E4FA8"/>
                  </a:solidFill>
                  <a:latin typeface="Arial"/>
                  <a:ea typeface="Microsoft YaHei"/>
                  <a:cs typeface="Arial"/>
                </a:rPr>
                <a:t>初始变化 Initial change</a:t>
              </a:r>
            </a:p>
          </p:txBody>
        </p:sp>
        <p:sp>
          <p:nvSpPr>
            <p:cNvPr id="12" name="Rectangle 12"/>
            <p:cNvSpPr/>
            <p:nvPr/>
          </p:nvSpPr>
          <p:spPr>
            <a:xfrm>
              <a:off x="2895600" y="1619250"/>
              <a:ext cx="8629650" cy="247650"/>
            </a:xfrm>
            <a:prstGeom prst="roundRect">
              <a:avLst>
                <a:gd name="adj" fmla="val 30769"/>
              </a:avLst>
            </a:prstGeom>
            <a:solidFill>
              <a:srgbClr val="F0F5FC"/>
            </a:solidFill>
            <a:ln>
              <a:noFill/>
            </a:ln>
          </p:spPr>
        </p:sp>
        <p:sp>
          <p:nvSpPr>
            <p:cNvPr id="13" name="TextBox 13"/>
            <p:cNvSpPr txBox="1"/>
            <p:nvPr/>
          </p:nvSpPr>
          <p:spPr>
            <a:xfrm>
              <a:off x="3043238" y="1693545"/>
              <a:ext cx="213293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诱发变化 Induced change（步骤 2–5）</a:t>
              </a:r>
            </a:p>
          </p:txBody>
        </p:sp>
        <p:grpSp>
          <p:nvGrpSpPr>
            <p:cNvPr id="20" name="Group 20"/>
            <p:cNvGrpSpPr/>
            <p:nvPr/>
          </p:nvGrpSpPr>
          <p:grpSpPr>
            <a:xfrm>
              <a:off x="666750" y="2000250"/>
              <a:ext cx="1943100" cy="1143000"/>
              <a:chOff x="666750" y="2000250"/>
              <a:chExt cx="1943100" cy="1143000"/>
            </a:xfrm>
          </p:grpSpPr>
          <p:sp>
            <p:nvSpPr>
              <p:cNvPr id="14" name="Rectangle 14"/>
              <p:cNvSpPr/>
              <p:nvPr/>
            </p:nvSpPr>
            <p:spPr>
              <a:xfrm>
                <a:off x="666750" y="2000250"/>
                <a:ext cx="1943100" cy="1143000"/>
              </a:xfrm>
              <a:prstGeom prst="roundRect">
                <a:avLst>
                  <a:gd name="adj" fmla="val 8333"/>
                </a:avLst>
              </a:prstGeom>
              <a:solidFill>
                <a:srgbClr val="F0F5FC"/>
              </a:solidFill>
              <a:ln w="19050">
                <a:solidFill>
                  <a:srgbClr val="1E4FA8"/>
                </a:solidFill>
              </a:ln>
            </p:spPr>
          </p:sp>
          <p:sp>
            <p:nvSpPr>
              <p:cNvPr id="15" name="Ellipse 15"/>
              <p:cNvSpPr/>
              <p:nvPr/>
            </p:nvSpPr>
            <p:spPr>
              <a:xfrm>
                <a:off x="790575" y="2143125"/>
                <a:ext cx="247650" cy="247650"/>
              </a:xfrm>
              <a:prstGeom prst="ellipse">
                <a:avLst/>
              </a:prstGeom>
              <a:solidFill>
                <a:srgbClr val="1E4FA8"/>
              </a:solidFill>
              <a:ln>
                <a:noFill/>
              </a:ln>
            </p:spPr>
          </p:sp>
          <p:sp>
            <p:nvSpPr>
              <p:cNvPr id="16" name="TextBox 16"/>
              <p:cNvSpPr txBox="1"/>
              <p:nvPr/>
            </p:nvSpPr>
            <p:spPr>
              <a:xfrm>
                <a:off x="8713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111823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初始增温</a:t>
                </a:r>
              </a:p>
            </p:txBody>
          </p:sp>
          <p:sp>
            <p:nvSpPr>
              <p:cNvPr id="18" name="TextBox 18"/>
              <p:cNvSpPr txBox="1"/>
              <p:nvPr/>
            </p:nvSpPr>
            <p:spPr>
              <a:xfrm>
                <a:off x="814388" y="2493645"/>
                <a:ext cx="87930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Initial warming</a:t>
                </a:r>
              </a:p>
            </p:txBody>
          </p:sp>
          <p:sp>
            <p:nvSpPr>
              <p:cNvPr id="19" name="TextBox 19"/>
              <p:cNvSpPr txBox="1"/>
              <p:nvPr/>
            </p:nvSpPr>
            <p:spPr>
              <a:xfrm>
                <a:off x="814388" y="2722245"/>
                <a:ext cx="49415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温度上升</a:t>
                </a:r>
              </a:p>
            </p:txBody>
          </p:sp>
        </p:grpSp>
        <p:sp>
          <p:nvSpPr>
            <p:cNvPr id="21" name="Line 21"/>
            <p:cNvSpPr/>
            <p:nvPr/>
          </p:nvSpPr>
          <p:spPr>
            <a:xfrm>
              <a:off x="263842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22" name="Polygon 22"/>
            <p:cNvSpPr/>
            <p:nvPr/>
          </p:nvSpPr>
          <p:spPr>
            <a:xfrm>
              <a:off x="34385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29" name="Group 29"/>
            <p:cNvGrpSpPr/>
            <p:nvPr/>
          </p:nvGrpSpPr>
          <p:grpSpPr>
            <a:xfrm>
              <a:off x="2895600" y="2000250"/>
              <a:ext cx="1943100" cy="1143000"/>
              <a:chOff x="2895600" y="2000250"/>
              <a:chExt cx="1943100" cy="1143000"/>
            </a:xfrm>
          </p:grpSpPr>
          <p:sp>
            <p:nvSpPr>
              <p:cNvPr id="23" name="Rectangle 23"/>
              <p:cNvSpPr/>
              <p:nvPr/>
            </p:nvSpPr>
            <p:spPr>
              <a:xfrm>
                <a:off x="2895600" y="2000250"/>
                <a:ext cx="1943100" cy="1143000"/>
              </a:xfrm>
              <a:prstGeom prst="roundRect">
                <a:avLst>
                  <a:gd name="adj" fmla="val 8333"/>
                </a:avLst>
              </a:prstGeom>
              <a:solidFill>
                <a:srgbClr val="FFFFFF"/>
              </a:solidFill>
              <a:ln w="9525">
                <a:solidFill>
                  <a:srgbClr val="D6DCE5"/>
                </a:solidFill>
              </a:ln>
            </p:spPr>
          </p:sp>
          <p:sp>
            <p:nvSpPr>
              <p:cNvPr id="24" name="Ellipse 24"/>
              <p:cNvSpPr/>
              <p:nvPr/>
            </p:nvSpPr>
            <p:spPr>
              <a:xfrm>
                <a:off x="3019425" y="2143125"/>
                <a:ext cx="247650" cy="247650"/>
              </a:xfrm>
              <a:prstGeom prst="ellipse">
                <a:avLst/>
              </a:prstGeom>
              <a:solidFill>
                <a:srgbClr val="1E4FA8"/>
              </a:solidFill>
              <a:ln>
                <a:noFill/>
              </a:ln>
            </p:spPr>
          </p:sp>
          <p:sp>
            <p:nvSpPr>
              <p:cNvPr id="25" name="TextBox 25"/>
              <p:cNvSpPr txBox="1"/>
              <p:nvPr/>
            </p:nvSpPr>
            <p:spPr>
              <a:xfrm>
                <a:off x="31002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6" name="TextBox 26"/>
              <p:cNvSpPr txBox="1"/>
              <p:nvPr/>
            </p:nvSpPr>
            <p:spPr>
              <a:xfrm>
                <a:off x="334708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蒸发增加</a:t>
                </a:r>
              </a:p>
            </p:txBody>
          </p:sp>
          <p:sp>
            <p:nvSpPr>
              <p:cNvPr id="27" name="TextBox 27"/>
              <p:cNvSpPr txBox="1"/>
              <p:nvPr/>
            </p:nvSpPr>
            <p:spPr>
              <a:xfrm>
                <a:off x="3043238" y="2493645"/>
                <a:ext cx="132173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Evaporation increases</a:t>
                </a:r>
              </a:p>
            </p:txBody>
          </p:sp>
          <p:sp>
            <p:nvSpPr>
              <p:cNvPr id="28" name="TextBox 28"/>
              <p:cNvSpPr txBox="1"/>
              <p:nvPr/>
            </p:nvSpPr>
            <p:spPr>
              <a:xfrm>
                <a:off x="304323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海洋蒸发增强</a:t>
                </a:r>
              </a:p>
            </p:txBody>
          </p:sp>
        </p:grpSp>
        <p:sp>
          <p:nvSpPr>
            <p:cNvPr id="30" name="Line 30"/>
            <p:cNvSpPr/>
            <p:nvPr/>
          </p:nvSpPr>
          <p:spPr>
            <a:xfrm>
              <a:off x="486727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31" name="Polygon 31"/>
            <p:cNvSpPr/>
            <p:nvPr/>
          </p:nvSpPr>
          <p:spPr>
            <a:xfrm>
              <a:off x="56673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38" name="Group 38"/>
            <p:cNvGrpSpPr/>
            <p:nvPr/>
          </p:nvGrpSpPr>
          <p:grpSpPr>
            <a:xfrm>
              <a:off x="5124450" y="2000250"/>
              <a:ext cx="1943100" cy="1143000"/>
              <a:chOff x="5124450" y="2000250"/>
              <a:chExt cx="1943100" cy="1143000"/>
            </a:xfrm>
          </p:grpSpPr>
          <p:sp>
            <p:nvSpPr>
              <p:cNvPr id="32" name="Rectangle 32"/>
              <p:cNvSpPr/>
              <p:nvPr/>
            </p:nvSpPr>
            <p:spPr>
              <a:xfrm>
                <a:off x="5124450" y="2000250"/>
                <a:ext cx="1943100" cy="1143000"/>
              </a:xfrm>
              <a:prstGeom prst="roundRect">
                <a:avLst>
                  <a:gd name="adj" fmla="val 8333"/>
                </a:avLst>
              </a:prstGeom>
              <a:solidFill>
                <a:srgbClr val="FFFFFF"/>
              </a:solidFill>
              <a:ln w="9525">
                <a:solidFill>
                  <a:srgbClr val="D6DCE5"/>
                </a:solidFill>
              </a:ln>
            </p:spPr>
          </p:sp>
          <p:sp>
            <p:nvSpPr>
              <p:cNvPr id="33" name="Ellipse 33"/>
              <p:cNvSpPr/>
              <p:nvPr/>
            </p:nvSpPr>
            <p:spPr>
              <a:xfrm>
                <a:off x="5248275" y="2143125"/>
                <a:ext cx="247650" cy="247650"/>
              </a:xfrm>
              <a:prstGeom prst="ellipse">
                <a:avLst/>
              </a:prstGeom>
              <a:solidFill>
                <a:srgbClr val="1E4FA8"/>
              </a:solidFill>
              <a:ln>
                <a:noFill/>
              </a:ln>
            </p:spPr>
          </p:sp>
          <p:sp>
            <p:nvSpPr>
              <p:cNvPr id="34" name="TextBox 34"/>
              <p:cNvSpPr txBox="1"/>
              <p:nvPr/>
            </p:nvSpPr>
            <p:spPr>
              <a:xfrm>
                <a:off x="53290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35" name="TextBox 35"/>
              <p:cNvSpPr txBox="1"/>
              <p:nvPr/>
            </p:nvSpPr>
            <p:spPr>
              <a:xfrm>
                <a:off x="557593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水汽增加</a:t>
                </a:r>
              </a:p>
            </p:txBody>
          </p:sp>
          <p:sp>
            <p:nvSpPr>
              <p:cNvPr id="36" name="TextBox 36"/>
              <p:cNvSpPr txBox="1"/>
              <p:nvPr/>
            </p:nvSpPr>
            <p:spPr>
              <a:xfrm>
                <a:off x="5272088" y="2493645"/>
                <a:ext cx="134623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Water vapor increases</a:t>
                </a:r>
              </a:p>
            </p:txBody>
          </p:sp>
          <p:sp>
            <p:nvSpPr>
              <p:cNvPr id="37" name="TextBox 37"/>
              <p:cNvSpPr txBox="1"/>
              <p:nvPr/>
            </p:nvSpPr>
            <p:spPr>
              <a:xfrm>
                <a:off x="527208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大气水汽增多</a:t>
                </a:r>
              </a:p>
            </p:txBody>
          </p:sp>
        </p:grpSp>
        <p:sp>
          <p:nvSpPr>
            <p:cNvPr id="39" name="Line 39"/>
            <p:cNvSpPr/>
            <p:nvPr/>
          </p:nvSpPr>
          <p:spPr>
            <a:xfrm>
              <a:off x="709612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40" name="Polygon 40"/>
            <p:cNvSpPr/>
            <p:nvPr/>
          </p:nvSpPr>
          <p:spPr>
            <a:xfrm>
              <a:off x="78962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47" name="Group 47"/>
            <p:cNvGrpSpPr/>
            <p:nvPr/>
          </p:nvGrpSpPr>
          <p:grpSpPr>
            <a:xfrm>
              <a:off x="7353300" y="2000250"/>
              <a:ext cx="1943100" cy="1143000"/>
              <a:chOff x="7353300" y="2000250"/>
              <a:chExt cx="1943100" cy="1143000"/>
            </a:xfrm>
          </p:grpSpPr>
          <p:sp>
            <p:nvSpPr>
              <p:cNvPr id="41" name="Rectangle 41"/>
              <p:cNvSpPr/>
              <p:nvPr/>
            </p:nvSpPr>
            <p:spPr>
              <a:xfrm>
                <a:off x="7353300" y="2000250"/>
                <a:ext cx="1943100" cy="1143000"/>
              </a:xfrm>
              <a:prstGeom prst="roundRect">
                <a:avLst>
                  <a:gd name="adj" fmla="val 8333"/>
                </a:avLst>
              </a:prstGeom>
              <a:solidFill>
                <a:srgbClr val="FFFFFF"/>
              </a:solidFill>
              <a:ln w="9525">
                <a:solidFill>
                  <a:srgbClr val="D6DCE5"/>
                </a:solidFill>
              </a:ln>
            </p:spPr>
          </p:sp>
          <p:sp>
            <p:nvSpPr>
              <p:cNvPr id="42" name="Ellipse 42"/>
              <p:cNvSpPr/>
              <p:nvPr/>
            </p:nvSpPr>
            <p:spPr>
              <a:xfrm>
                <a:off x="7477125" y="2143125"/>
                <a:ext cx="247650" cy="247650"/>
              </a:xfrm>
              <a:prstGeom prst="ellipse">
                <a:avLst/>
              </a:prstGeom>
              <a:solidFill>
                <a:srgbClr val="1E4FA8"/>
              </a:solidFill>
              <a:ln>
                <a:noFill/>
              </a:ln>
            </p:spPr>
          </p:sp>
          <p:sp>
            <p:nvSpPr>
              <p:cNvPr id="43" name="TextBox 43"/>
              <p:cNvSpPr txBox="1"/>
              <p:nvPr/>
            </p:nvSpPr>
            <p:spPr>
              <a:xfrm>
                <a:off x="75579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44" name="TextBox 44"/>
              <p:cNvSpPr txBox="1"/>
              <p:nvPr/>
            </p:nvSpPr>
            <p:spPr>
              <a:xfrm>
                <a:off x="7804785" y="2193131"/>
                <a:ext cx="916076"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温室效应加强</a:t>
                </a:r>
              </a:p>
            </p:txBody>
          </p:sp>
          <p:sp>
            <p:nvSpPr>
              <p:cNvPr id="45" name="TextBox 45"/>
              <p:cNvSpPr txBox="1"/>
              <p:nvPr/>
            </p:nvSpPr>
            <p:spPr>
              <a:xfrm>
                <a:off x="7500938" y="2493645"/>
                <a:ext cx="168544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Greenhouse effect stronger</a:t>
                </a:r>
              </a:p>
            </p:txBody>
          </p:sp>
          <p:sp>
            <p:nvSpPr>
              <p:cNvPr id="46" name="TextBox 46"/>
              <p:cNvSpPr txBox="1"/>
              <p:nvPr/>
            </p:nvSpPr>
            <p:spPr>
              <a:xfrm>
                <a:off x="7500938" y="2722245"/>
                <a:ext cx="97878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水汽吸收并再辐射</a:t>
                </a:r>
              </a:p>
            </p:txBody>
          </p:sp>
        </p:grpSp>
        <p:sp>
          <p:nvSpPr>
            <p:cNvPr id="48" name="Line 48"/>
            <p:cNvSpPr/>
            <p:nvPr/>
          </p:nvSpPr>
          <p:spPr>
            <a:xfrm>
              <a:off x="932497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49" name="Polygon 49"/>
            <p:cNvSpPr/>
            <p:nvPr/>
          </p:nvSpPr>
          <p:spPr>
            <a:xfrm>
              <a:off x="101250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56" name="Group 56"/>
            <p:cNvGrpSpPr/>
            <p:nvPr/>
          </p:nvGrpSpPr>
          <p:grpSpPr>
            <a:xfrm>
              <a:off x="9582150" y="2000250"/>
              <a:ext cx="1943100" cy="1143000"/>
              <a:chOff x="9582150" y="2000250"/>
              <a:chExt cx="1943100" cy="1143000"/>
            </a:xfrm>
          </p:grpSpPr>
          <p:sp>
            <p:nvSpPr>
              <p:cNvPr id="50" name="Rectangle 50"/>
              <p:cNvSpPr/>
              <p:nvPr/>
            </p:nvSpPr>
            <p:spPr>
              <a:xfrm>
                <a:off x="9582150" y="2000250"/>
                <a:ext cx="1943100" cy="1143000"/>
              </a:xfrm>
              <a:prstGeom prst="roundRect">
                <a:avLst>
                  <a:gd name="adj" fmla="val 8333"/>
                </a:avLst>
              </a:prstGeom>
              <a:solidFill>
                <a:srgbClr val="FFFFFF"/>
              </a:solidFill>
              <a:ln w="9525">
                <a:solidFill>
                  <a:srgbClr val="D6DCE5"/>
                </a:solidFill>
              </a:ln>
            </p:spPr>
          </p:sp>
          <p:sp>
            <p:nvSpPr>
              <p:cNvPr id="51" name="Ellipse 51"/>
              <p:cNvSpPr/>
              <p:nvPr/>
            </p:nvSpPr>
            <p:spPr>
              <a:xfrm>
                <a:off x="9705975" y="2143125"/>
                <a:ext cx="247650" cy="247650"/>
              </a:xfrm>
              <a:prstGeom prst="ellipse">
                <a:avLst/>
              </a:prstGeom>
              <a:solidFill>
                <a:srgbClr val="1E4FA8"/>
              </a:solidFill>
              <a:ln>
                <a:noFill/>
              </a:ln>
            </p:spPr>
          </p:sp>
          <p:sp>
            <p:nvSpPr>
              <p:cNvPr id="52" name="TextBox 52"/>
              <p:cNvSpPr txBox="1"/>
              <p:nvPr/>
            </p:nvSpPr>
            <p:spPr>
              <a:xfrm>
                <a:off x="97867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5</a:t>
                </a:r>
              </a:p>
            </p:txBody>
          </p:sp>
          <p:sp>
            <p:nvSpPr>
              <p:cNvPr id="53" name="TextBox 53"/>
              <p:cNvSpPr txBox="1"/>
              <p:nvPr/>
            </p:nvSpPr>
            <p:spPr>
              <a:xfrm>
                <a:off x="10033635" y="2193131"/>
                <a:ext cx="76530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进一步增温</a:t>
                </a:r>
              </a:p>
            </p:txBody>
          </p:sp>
          <p:sp>
            <p:nvSpPr>
              <p:cNvPr id="54" name="TextBox 54"/>
              <p:cNvSpPr txBox="1"/>
              <p:nvPr/>
            </p:nvSpPr>
            <p:spPr>
              <a:xfrm>
                <a:off x="9729788" y="2493645"/>
                <a:ext cx="100095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Further warming</a:t>
                </a:r>
              </a:p>
            </p:txBody>
          </p:sp>
          <p:sp>
            <p:nvSpPr>
              <p:cNvPr id="55" name="TextBox 55"/>
              <p:cNvSpPr txBox="1"/>
              <p:nvPr/>
            </p:nvSpPr>
            <p:spPr>
              <a:xfrm>
                <a:off x="972978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温度继续上升</a:t>
                </a:r>
              </a:p>
            </p:txBody>
          </p:sp>
        </p:grpSp>
        <p:sp>
          <p:nvSpPr>
            <p:cNvPr id="57" name="Freeform 57"/>
            <p:cNvSpPr/>
            <p:nvPr/>
          </p:nvSpPr>
          <p:spPr>
            <a:xfrm>
              <a:off x="1638300" y="3143250"/>
              <a:ext cx="8915400" cy="438150"/>
            </a:xfrm>
            <a:custGeom>
              <a:avLst/>
              <a:gdLst/>
              <a:ahLst/>
              <a:cxnLst/>
              <a:rect l="l" t="t" r="r" b="b"/>
              <a:pathLst>
                <a:path w="8915400" h="438150">
                  <a:moveTo>
                    <a:pt x="8915400" y="0"/>
                  </a:moveTo>
                  <a:lnTo>
                    <a:pt x="8915400" y="361950"/>
                  </a:lnTo>
                  <a:cubicBezTo>
                    <a:pt x="8915400" y="412750"/>
                    <a:pt x="8890000" y="438150"/>
                    <a:pt x="8839200" y="438150"/>
                  </a:cubicBezTo>
                  <a:lnTo>
                    <a:pt x="76200" y="438150"/>
                  </a:lnTo>
                  <a:cubicBezTo>
                    <a:pt x="25400" y="438150"/>
                    <a:pt x="0" y="412750"/>
                    <a:pt x="0" y="361950"/>
                  </a:cubicBezTo>
                  <a:lnTo>
                    <a:pt x="0" y="57150"/>
                  </a:lnTo>
                </a:path>
              </a:pathLst>
            </a:custGeom>
            <a:noFill/>
            <a:ln w="28575">
              <a:solidFill>
                <a:srgbClr val="1E4FA8"/>
              </a:solidFill>
            </a:ln>
          </p:spPr>
        </p:sp>
        <p:sp>
          <p:nvSpPr>
            <p:cNvPr id="58" name="Polygon 58"/>
            <p:cNvSpPr/>
            <p:nvPr/>
          </p:nvSpPr>
          <p:spPr>
            <a:xfrm>
              <a:off x="1571625" y="31432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59" name="TextBox 59"/>
            <p:cNvSpPr txBox="1"/>
            <p:nvPr/>
          </p:nvSpPr>
          <p:spPr>
            <a:xfrm>
              <a:off x="3379633" y="3723799"/>
              <a:ext cx="5432734" cy="190690"/>
            </a:xfrm>
            <a:prstGeom prst="rect">
              <a:avLst/>
            </a:prstGeom>
            <a:noFill/>
            <a:ln>
              <a:noFill/>
            </a:ln>
          </p:spPr>
          <p:txBody>
            <a:bodyPr wrap="none" lIns="0" tIns="0" rIns="0" bIns="0" anchor="t" anchorCtr="0">
              <a:spAutoFit/>
            </a:bodyPr>
            <a:lstStyle/>
            <a:p>
              <a:pPr algn="ctr"/>
              <a:r>
                <a:rPr lang="zh-CN" sz="980" b="1" dirty="0">
                  <a:solidFill>
                    <a:srgbClr val="1E4FA8"/>
                  </a:solidFill>
                  <a:latin typeface="Arial"/>
                  <a:ea typeface="Microsoft YaHei"/>
                  <a:cs typeface="Arial"/>
                </a:rPr>
                <a:t>诱发变化与初始变化同向 → 沿原方向放大 Induced change reinforces the initial change</a:t>
              </a:r>
            </a:p>
          </p:txBody>
        </p:sp>
        <p:sp>
          <p:nvSpPr>
            <p:cNvPr id="60" name="Rectangle 60"/>
            <p:cNvSpPr/>
            <p:nvPr/>
          </p:nvSpPr>
          <p:spPr>
            <a:xfrm>
              <a:off x="609600" y="4095750"/>
              <a:ext cx="4953000" cy="666750"/>
            </a:xfrm>
            <a:prstGeom prst="roundRect">
              <a:avLst>
                <a:gd name="adj" fmla="val 17143"/>
              </a:avLst>
            </a:prstGeom>
            <a:solidFill>
              <a:srgbClr val="1E4FA8"/>
            </a:solidFill>
            <a:ln>
              <a:noFill/>
            </a:ln>
          </p:spPr>
        </p:sp>
        <p:sp>
          <p:nvSpPr>
            <p:cNvPr id="61" name="Ellipse 61"/>
            <p:cNvSpPr/>
            <p:nvPr/>
          </p:nvSpPr>
          <p:spPr>
            <a:xfrm>
              <a:off x="800100" y="4276725"/>
              <a:ext cx="304800" cy="304800"/>
            </a:xfrm>
            <a:prstGeom prst="ellipse">
              <a:avLst/>
            </a:prstGeom>
            <a:solidFill>
              <a:srgbClr val="FFFFFF"/>
            </a:solidFill>
            <a:ln>
              <a:noFill/>
            </a:ln>
          </p:spPr>
        </p:sp>
        <p:sp>
          <p:nvSpPr>
            <p:cNvPr id="62" name="TextBox 62"/>
            <p:cNvSpPr txBox="1"/>
            <p:nvPr/>
          </p:nvSpPr>
          <p:spPr>
            <a:xfrm>
              <a:off x="886573" y="4333875"/>
              <a:ext cx="131855" cy="293370"/>
            </a:xfrm>
            <a:prstGeom prst="rect">
              <a:avLst/>
            </a:prstGeom>
            <a:noFill/>
            <a:ln>
              <a:noFill/>
            </a:ln>
          </p:spPr>
          <p:txBody>
            <a:bodyPr wrap="none" lIns="0" tIns="0" rIns="0" bIns="0" anchor="t" anchorCtr="0">
              <a:spAutoFit/>
            </a:bodyPr>
            <a:lstStyle/>
            <a:p>
              <a:pPr algn="ctr"/>
              <a:r>
                <a:rPr lang="en-US" sz="1500" b="1" dirty="0">
                  <a:solidFill>
                    <a:srgbClr val="1E4FA8"/>
                  </a:solidFill>
                  <a:latin typeface="Arial"/>
                  <a:ea typeface="Arial"/>
                  <a:cs typeface="Arial"/>
                </a:rPr>
                <a:t>+</a:t>
              </a:r>
            </a:p>
          </p:txBody>
        </p:sp>
        <p:sp>
          <p:nvSpPr>
            <p:cNvPr id="63" name="TextBox 63"/>
            <p:cNvSpPr txBox="1"/>
            <p:nvPr/>
          </p:nvSpPr>
          <p:spPr>
            <a:xfrm>
              <a:off x="1213104" y="4232910"/>
              <a:ext cx="2020563"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Positive Feedback 正反馈</a:t>
              </a:r>
            </a:p>
          </p:txBody>
        </p:sp>
        <p:sp>
          <p:nvSpPr>
            <p:cNvPr id="64" name="TextBox 64"/>
            <p:cNvSpPr txBox="1"/>
            <p:nvPr/>
          </p:nvSpPr>
          <p:spPr>
            <a:xfrm>
              <a:off x="1214438" y="4493895"/>
              <a:ext cx="3226479" cy="176212"/>
            </a:xfrm>
            <a:prstGeom prst="rect">
              <a:avLst/>
            </a:prstGeom>
            <a:noFill/>
            <a:ln>
              <a:noFill/>
            </a:ln>
          </p:spPr>
          <p:txBody>
            <a:bodyPr wrap="none" lIns="0" tIns="0" rIns="0" bIns="0" anchor="t" anchorCtr="0">
              <a:spAutoFit/>
            </a:bodyPr>
            <a:lstStyle/>
            <a:p>
              <a:pPr algn="l"/>
              <a:r>
                <a:rPr lang="zh-CN" sz="900" dirty="0">
                  <a:solidFill>
                    <a:srgbClr val="D6E4F7"/>
                  </a:solidFill>
                  <a:latin typeface="Arial"/>
                  <a:ea typeface="Microsoft YaHei"/>
                  <a:cs typeface="Arial"/>
                </a:rPr>
                <a:t>诱发变化加强初始增温 Induced change amplifies warming</a:t>
              </a:r>
            </a:p>
          </p:txBody>
        </p:sp>
        <p:sp>
          <p:nvSpPr>
            <p:cNvPr id="65" name="Rectangle 65"/>
            <p:cNvSpPr/>
            <p:nvPr/>
          </p:nvSpPr>
          <p:spPr>
            <a:xfrm>
              <a:off x="5753100" y="4095750"/>
              <a:ext cx="5829300" cy="666750"/>
            </a:xfrm>
            <a:prstGeom prst="roundRect">
              <a:avLst>
                <a:gd name="adj" fmla="val 17143"/>
              </a:avLst>
            </a:prstGeom>
            <a:solidFill>
              <a:srgbClr val="F0F5FC"/>
            </a:solidFill>
            <a:ln w="9525">
              <a:solidFill>
                <a:srgbClr val="D6DCE5"/>
              </a:solidFill>
            </a:ln>
          </p:spPr>
        </p:sp>
        <p:sp>
          <p:nvSpPr>
            <p:cNvPr id="66" name="TextBox 66"/>
            <p:cNvSpPr txBox="1"/>
            <p:nvPr/>
          </p:nvSpPr>
          <p:spPr>
            <a:xfrm>
              <a:off x="5900547" y="4257199"/>
              <a:ext cx="2648458"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水汽是对初始增温的反馈，不是独立初始强迫</a:t>
              </a:r>
            </a:p>
          </p:txBody>
        </p:sp>
        <p:sp>
          <p:nvSpPr>
            <p:cNvPr id="67" name="TextBox 67"/>
            <p:cNvSpPr txBox="1"/>
            <p:nvPr/>
          </p:nvSpPr>
          <p:spPr>
            <a:xfrm>
              <a:off x="5900738" y="4493895"/>
              <a:ext cx="434494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Water vapor responds to initial warming; it is not an independent forcing</a:t>
              </a:r>
            </a:p>
          </p:txBody>
        </p:sp>
      </p:grpSp>
      <p:grpSp>
        <p:nvGrpSpPr>
          <p:cNvPr id="71" name="Group 71"/>
          <p:cNvGrpSpPr/>
          <p:nvPr/>
        </p:nvGrpSpPr>
        <p:grpSpPr>
          <a:xfrm>
            <a:off x="376047" y="5228749"/>
            <a:ext cx="7604000" cy="571690"/>
            <a:chOff x="376047" y="5228749"/>
            <a:chExt cx="7604000" cy="571690"/>
          </a:xfrm>
        </p:grpSpPr>
        <p:sp>
          <p:nvSpPr>
            <p:cNvPr id="69" name="TextBox 69"/>
            <p:cNvSpPr txBox="1"/>
            <p:nvPr/>
          </p:nvSpPr>
          <p:spPr>
            <a:xfrm>
              <a:off x="376047" y="5228749"/>
              <a:ext cx="6866401"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闭环判断：初始增温诱发的变化继续加强增温，因此是正反馈。 The loop amplifies the initial warming → positive.</a:t>
              </a:r>
            </a:p>
          </p:txBody>
        </p:sp>
        <p:sp>
          <p:nvSpPr>
            <p:cNvPr id="70" name="TextBox 70"/>
            <p:cNvSpPr txBox="1"/>
            <p:nvPr/>
          </p:nvSpPr>
          <p:spPr>
            <a:xfrm>
              <a:off x="376047" y="5609749"/>
              <a:ext cx="7604000"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判断步骤：找初始变化 → 跟踪诱发变化 → 比较最终作用方向 Steps: initial change → induced change → compare final direction</a:t>
              </a:r>
            </a:p>
          </p:txBody>
        </p:sp>
      </p:grpSp>
      <p:sp>
        <p:nvSpPr>
          <p:cNvPr id="72" name="TextBox 72"/>
          <p:cNvSpPr txBox="1"/>
          <p:nvPr/>
        </p:nvSpPr>
        <p:spPr>
          <a:xfrm>
            <a:off x="376238" y="6532245"/>
            <a:ext cx="1038848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Ch.12, PDF p.1177; EP 5e, Ch.23, pp.883–884 (M-12). CN Ch.3 PDF pp.10, 27–28 supports phase-change context only; the 7%/°C and 75% values are not used.</a:t>
            </a:r>
          </a:p>
        </p:txBody>
      </p:sp>
      <p:sp>
        <p:nvSpPr>
          <p:cNvPr id="73" name="TextBox 7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36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63979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3.3 冰–反照率反馈 | Ice–Albedo Feedback</a:t>
              </a:r>
            </a:p>
          </p:txBody>
        </p:sp>
        <p:sp>
          <p:nvSpPr>
            <p:cNvPr id="4" name="TextBox 4"/>
            <p:cNvSpPr txBox="1"/>
            <p:nvPr/>
          </p:nvSpPr>
          <p:spPr>
            <a:xfrm>
              <a:off x="10302850" y="299085"/>
              <a:ext cx="1514246"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POSITIVE FEEDBACK</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增温减少冰雪与反照率，吸收的太阳能增加：又一条自我加强的正反馈</a:t>
              </a:r>
            </a:p>
          </p:txBody>
        </p:sp>
      </p:grpSp>
      <p:grpSp>
        <p:nvGrpSpPr>
          <p:cNvPr id="68" name="Group 68"/>
          <p:cNvGrpSpPr/>
          <p:nvPr/>
        </p:nvGrpSpPr>
        <p:grpSpPr>
          <a:xfrm>
            <a:off x="381000" y="1428750"/>
            <a:ext cx="11430000" cy="3524250"/>
            <a:chOff x="381000" y="1428750"/>
            <a:chExt cx="11430000" cy="3524250"/>
          </a:xfrm>
        </p:grpSpPr>
        <p:sp>
          <p:nvSpPr>
            <p:cNvPr id="9" name="Rectangle 9"/>
            <p:cNvSpPr/>
            <p:nvPr/>
          </p:nvSpPr>
          <p:spPr>
            <a:xfrm>
              <a:off x="381000" y="1428750"/>
              <a:ext cx="11430000" cy="3524250"/>
            </a:xfrm>
            <a:prstGeom prst="roundRect">
              <a:avLst>
                <a:gd name="adj" fmla="val 3243"/>
              </a:avLst>
            </a:prstGeom>
            <a:solidFill>
              <a:srgbClr val="F7F9FC"/>
            </a:solidFill>
            <a:ln w="9525">
              <a:solidFill>
                <a:srgbClr val="D6DCE5"/>
              </a:solidFill>
            </a:ln>
          </p:spPr>
        </p:sp>
        <p:sp>
          <p:nvSpPr>
            <p:cNvPr id="10" name="Rectangle 10"/>
            <p:cNvSpPr/>
            <p:nvPr/>
          </p:nvSpPr>
          <p:spPr>
            <a:xfrm>
              <a:off x="666750" y="1619250"/>
              <a:ext cx="1943100" cy="247650"/>
            </a:xfrm>
            <a:prstGeom prst="roundRect">
              <a:avLst>
                <a:gd name="adj" fmla="val 30769"/>
              </a:avLst>
            </a:prstGeom>
            <a:solidFill>
              <a:srgbClr val="E8EFF8"/>
            </a:solidFill>
            <a:ln>
              <a:noFill/>
            </a:ln>
          </p:spPr>
        </p:sp>
        <p:sp>
          <p:nvSpPr>
            <p:cNvPr id="11" name="TextBox 11"/>
            <p:cNvSpPr txBox="1"/>
            <p:nvPr/>
          </p:nvSpPr>
          <p:spPr>
            <a:xfrm>
              <a:off x="958943" y="1693545"/>
              <a:ext cx="1358713" cy="176212"/>
            </a:xfrm>
            <a:prstGeom prst="rect">
              <a:avLst/>
            </a:prstGeom>
            <a:noFill/>
            <a:ln>
              <a:noFill/>
            </a:ln>
          </p:spPr>
          <p:txBody>
            <a:bodyPr wrap="none" lIns="0" tIns="0" rIns="0" bIns="0" anchor="t" anchorCtr="0">
              <a:spAutoFit/>
            </a:bodyPr>
            <a:lstStyle/>
            <a:p>
              <a:pPr algn="ctr"/>
              <a:r>
                <a:rPr lang="zh-CN" sz="900" b="1" dirty="0">
                  <a:solidFill>
                    <a:srgbClr val="1E4FA8"/>
                  </a:solidFill>
                  <a:latin typeface="Arial"/>
                  <a:ea typeface="Microsoft YaHei"/>
                  <a:cs typeface="Arial"/>
                </a:rPr>
                <a:t>初始变化 Initial change</a:t>
              </a:r>
            </a:p>
          </p:txBody>
        </p:sp>
        <p:sp>
          <p:nvSpPr>
            <p:cNvPr id="12" name="Rectangle 12"/>
            <p:cNvSpPr/>
            <p:nvPr/>
          </p:nvSpPr>
          <p:spPr>
            <a:xfrm>
              <a:off x="2895600" y="1619250"/>
              <a:ext cx="8629650" cy="247650"/>
            </a:xfrm>
            <a:prstGeom prst="roundRect">
              <a:avLst>
                <a:gd name="adj" fmla="val 30769"/>
              </a:avLst>
            </a:prstGeom>
            <a:solidFill>
              <a:srgbClr val="F0F5FC"/>
            </a:solidFill>
            <a:ln>
              <a:noFill/>
            </a:ln>
          </p:spPr>
        </p:sp>
        <p:sp>
          <p:nvSpPr>
            <p:cNvPr id="13" name="TextBox 13"/>
            <p:cNvSpPr txBox="1"/>
            <p:nvPr/>
          </p:nvSpPr>
          <p:spPr>
            <a:xfrm>
              <a:off x="3043238" y="1693545"/>
              <a:ext cx="213293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诱发变化 Induced change（步骤 2–5）</a:t>
              </a:r>
            </a:p>
          </p:txBody>
        </p:sp>
        <p:grpSp>
          <p:nvGrpSpPr>
            <p:cNvPr id="20" name="Group 20"/>
            <p:cNvGrpSpPr/>
            <p:nvPr/>
          </p:nvGrpSpPr>
          <p:grpSpPr>
            <a:xfrm>
              <a:off x="666750" y="2000250"/>
              <a:ext cx="1943100" cy="1143000"/>
              <a:chOff x="666750" y="2000250"/>
              <a:chExt cx="1943100" cy="1143000"/>
            </a:xfrm>
          </p:grpSpPr>
          <p:sp>
            <p:nvSpPr>
              <p:cNvPr id="14" name="Rectangle 14"/>
              <p:cNvSpPr/>
              <p:nvPr/>
            </p:nvSpPr>
            <p:spPr>
              <a:xfrm>
                <a:off x="666750" y="2000250"/>
                <a:ext cx="1943100" cy="1143000"/>
              </a:xfrm>
              <a:prstGeom prst="roundRect">
                <a:avLst>
                  <a:gd name="adj" fmla="val 8333"/>
                </a:avLst>
              </a:prstGeom>
              <a:solidFill>
                <a:srgbClr val="F0F5FC"/>
              </a:solidFill>
              <a:ln w="19050">
                <a:solidFill>
                  <a:srgbClr val="1E4FA8"/>
                </a:solidFill>
              </a:ln>
            </p:spPr>
          </p:sp>
          <p:sp>
            <p:nvSpPr>
              <p:cNvPr id="15" name="Ellipse 15"/>
              <p:cNvSpPr/>
              <p:nvPr/>
            </p:nvSpPr>
            <p:spPr>
              <a:xfrm>
                <a:off x="790575" y="2143125"/>
                <a:ext cx="247650" cy="247650"/>
              </a:xfrm>
              <a:prstGeom prst="ellipse">
                <a:avLst/>
              </a:prstGeom>
              <a:solidFill>
                <a:srgbClr val="1E4FA8"/>
              </a:solidFill>
              <a:ln>
                <a:noFill/>
              </a:ln>
            </p:spPr>
          </p:sp>
          <p:sp>
            <p:nvSpPr>
              <p:cNvPr id="16" name="TextBox 16"/>
              <p:cNvSpPr txBox="1"/>
              <p:nvPr/>
            </p:nvSpPr>
            <p:spPr>
              <a:xfrm>
                <a:off x="8713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111823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初始增温</a:t>
                </a:r>
              </a:p>
            </p:txBody>
          </p:sp>
          <p:sp>
            <p:nvSpPr>
              <p:cNvPr id="18" name="TextBox 18"/>
              <p:cNvSpPr txBox="1"/>
              <p:nvPr/>
            </p:nvSpPr>
            <p:spPr>
              <a:xfrm>
                <a:off x="814388" y="2493645"/>
                <a:ext cx="87930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Initial warming</a:t>
                </a:r>
              </a:p>
            </p:txBody>
          </p:sp>
          <p:sp>
            <p:nvSpPr>
              <p:cNvPr id="19" name="TextBox 19"/>
              <p:cNvSpPr txBox="1"/>
              <p:nvPr/>
            </p:nvSpPr>
            <p:spPr>
              <a:xfrm>
                <a:off x="814388" y="2722245"/>
                <a:ext cx="49415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温度上升</a:t>
                </a:r>
              </a:p>
            </p:txBody>
          </p:sp>
        </p:grpSp>
        <p:sp>
          <p:nvSpPr>
            <p:cNvPr id="21" name="Line 21"/>
            <p:cNvSpPr/>
            <p:nvPr/>
          </p:nvSpPr>
          <p:spPr>
            <a:xfrm>
              <a:off x="263842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22" name="Polygon 22"/>
            <p:cNvSpPr/>
            <p:nvPr/>
          </p:nvSpPr>
          <p:spPr>
            <a:xfrm>
              <a:off x="34385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29" name="Group 29"/>
            <p:cNvGrpSpPr/>
            <p:nvPr/>
          </p:nvGrpSpPr>
          <p:grpSpPr>
            <a:xfrm>
              <a:off x="2895600" y="2000250"/>
              <a:ext cx="1943100" cy="1143000"/>
              <a:chOff x="2895600" y="2000250"/>
              <a:chExt cx="1943100" cy="1143000"/>
            </a:xfrm>
          </p:grpSpPr>
          <p:sp>
            <p:nvSpPr>
              <p:cNvPr id="23" name="Rectangle 23"/>
              <p:cNvSpPr/>
              <p:nvPr/>
            </p:nvSpPr>
            <p:spPr>
              <a:xfrm>
                <a:off x="2895600" y="2000250"/>
                <a:ext cx="1943100" cy="1143000"/>
              </a:xfrm>
              <a:prstGeom prst="roundRect">
                <a:avLst>
                  <a:gd name="adj" fmla="val 8333"/>
                </a:avLst>
              </a:prstGeom>
              <a:solidFill>
                <a:srgbClr val="FFFFFF"/>
              </a:solidFill>
              <a:ln w="9525">
                <a:solidFill>
                  <a:srgbClr val="D6DCE5"/>
                </a:solidFill>
              </a:ln>
            </p:spPr>
          </p:sp>
          <p:sp>
            <p:nvSpPr>
              <p:cNvPr id="24" name="Ellipse 24"/>
              <p:cNvSpPr/>
              <p:nvPr/>
            </p:nvSpPr>
            <p:spPr>
              <a:xfrm>
                <a:off x="3019425" y="2143125"/>
                <a:ext cx="247650" cy="247650"/>
              </a:xfrm>
              <a:prstGeom prst="ellipse">
                <a:avLst/>
              </a:prstGeom>
              <a:solidFill>
                <a:srgbClr val="1E4FA8"/>
              </a:solidFill>
              <a:ln>
                <a:noFill/>
              </a:ln>
            </p:spPr>
          </p:sp>
          <p:sp>
            <p:nvSpPr>
              <p:cNvPr id="25" name="TextBox 25"/>
              <p:cNvSpPr txBox="1"/>
              <p:nvPr/>
            </p:nvSpPr>
            <p:spPr>
              <a:xfrm>
                <a:off x="31002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6" name="TextBox 26"/>
              <p:cNvSpPr txBox="1"/>
              <p:nvPr/>
            </p:nvSpPr>
            <p:spPr>
              <a:xfrm>
                <a:off x="334708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冰雪减少</a:t>
                </a:r>
              </a:p>
            </p:txBody>
          </p:sp>
          <p:sp>
            <p:nvSpPr>
              <p:cNvPr id="27" name="TextBox 27"/>
              <p:cNvSpPr txBox="1"/>
              <p:nvPr/>
            </p:nvSpPr>
            <p:spPr>
              <a:xfrm>
                <a:off x="3043238" y="2493645"/>
                <a:ext cx="131606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Ice and snow decrease</a:t>
                </a:r>
              </a:p>
            </p:txBody>
          </p:sp>
          <p:sp>
            <p:nvSpPr>
              <p:cNvPr id="28" name="TextBox 28"/>
              <p:cNvSpPr txBox="1"/>
              <p:nvPr/>
            </p:nvSpPr>
            <p:spPr>
              <a:xfrm>
                <a:off x="304323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覆盖面积缩小</a:t>
                </a:r>
              </a:p>
            </p:txBody>
          </p:sp>
        </p:grpSp>
        <p:sp>
          <p:nvSpPr>
            <p:cNvPr id="30" name="Line 30"/>
            <p:cNvSpPr/>
            <p:nvPr/>
          </p:nvSpPr>
          <p:spPr>
            <a:xfrm>
              <a:off x="486727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31" name="Polygon 31"/>
            <p:cNvSpPr/>
            <p:nvPr/>
          </p:nvSpPr>
          <p:spPr>
            <a:xfrm>
              <a:off x="56673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38" name="Group 38"/>
            <p:cNvGrpSpPr/>
            <p:nvPr/>
          </p:nvGrpSpPr>
          <p:grpSpPr>
            <a:xfrm>
              <a:off x="5124450" y="2000250"/>
              <a:ext cx="1943100" cy="1143000"/>
              <a:chOff x="5124450" y="2000250"/>
              <a:chExt cx="1943100" cy="1143000"/>
            </a:xfrm>
          </p:grpSpPr>
          <p:sp>
            <p:nvSpPr>
              <p:cNvPr id="32" name="Rectangle 32"/>
              <p:cNvSpPr/>
              <p:nvPr/>
            </p:nvSpPr>
            <p:spPr>
              <a:xfrm>
                <a:off x="5124450" y="2000250"/>
                <a:ext cx="1943100" cy="1143000"/>
              </a:xfrm>
              <a:prstGeom prst="roundRect">
                <a:avLst>
                  <a:gd name="adj" fmla="val 8333"/>
                </a:avLst>
              </a:prstGeom>
              <a:solidFill>
                <a:srgbClr val="FFFFFF"/>
              </a:solidFill>
              <a:ln w="9525">
                <a:solidFill>
                  <a:srgbClr val="D6DCE5"/>
                </a:solidFill>
              </a:ln>
            </p:spPr>
          </p:sp>
          <p:sp>
            <p:nvSpPr>
              <p:cNvPr id="33" name="Ellipse 33"/>
              <p:cNvSpPr/>
              <p:nvPr/>
            </p:nvSpPr>
            <p:spPr>
              <a:xfrm>
                <a:off x="5248275" y="2143125"/>
                <a:ext cx="247650" cy="247650"/>
              </a:xfrm>
              <a:prstGeom prst="ellipse">
                <a:avLst/>
              </a:prstGeom>
              <a:solidFill>
                <a:srgbClr val="1E4FA8"/>
              </a:solidFill>
              <a:ln>
                <a:noFill/>
              </a:ln>
            </p:spPr>
          </p:sp>
          <p:sp>
            <p:nvSpPr>
              <p:cNvPr id="34" name="TextBox 34"/>
              <p:cNvSpPr txBox="1"/>
              <p:nvPr/>
            </p:nvSpPr>
            <p:spPr>
              <a:xfrm>
                <a:off x="53290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35" name="TextBox 35"/>
              <p:cNvSpPr txBox="1"/>
              <p:nvPr/>
            </p:nvSpPr>
            <p:spPr>
              <a:xfrm>
                <a:off x="5575935" y="2193131"/>
                <a:ext cx="76530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反照率下降</a:t>
                </a:r>
              </a:p>
            </p:txBody>
          </p:sp>
          <p:sp>
            <p:nvSpPr>
              <p:cNvPr id="36" name="TextBox 36"/>
              <p:cNvSpPr txBox="1"/>
              <p:nvPr/>
            </p:nvSpPr>
            <p:spPr>
              <a:xfrm>
                <a:off x="5272088" y="2493645"/>
                <a:ext cx="152182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Surface albedo decreases</a:t>
                </a:r>
              </a:p>
            </p:txBody>
          </p:sp>
          <p:sp>
            <p:nvSpPr>
              <p:cNvPr id="37" name="TextBox 37"/>
              <p:cNvSpPr txBox="1"/>
              <p:nvPr/>
            </p:nvSpPr>
            <p:spPr>
              <a:xfrm>
                <a:off x="5272088" y="2722245"/>
                <a:ext cx="1118121"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反照率 = 地表反射率</a:t>
                </a:r>
              </a:p>
            </p:txBody>
          </p:sp>
        </p:grpSp>
        <p:sp>
          <p:nvSpPr>
            <p:cNvPr id="39" name="Line 39"/>
            <p:cNvSpPr/>
            <p:nvPr/>
          </p:nvSpPr>
          <p:spPr>
            <a:xfrm>
              <a:off x="709612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40" name="Polygon 40"/>
            <p:cNvSpPr/>
            <p:nvPr/>
          </p:nvSpPr>
          <p:spPr>
            <a:xfrm>
              <a:off x="78962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47" name="Group 47"/>
            <p:cNvGrpSpPr/>
            <p:nvPr/>
          </p:nvGrpSpPr>
          <p:grpSpPr>
            <a:xfrm>
              <a:off x="7353300" y="2000250"/>
              <a:ext cx="1943100" cy="1143000"/>
              <a:chOff x="7353300" y="2000250"/>
              <a:chExt cx="1943100" cy="1143000"/>
            </a:xfrm>
          </p:grpSpPr>
          <p:sp>
            <p:nvSpPr>
              <p:cNvPr id="41" name="Rectangle 41"/>
              <p:cNvSpPr/>
              <p:nvPr/>
            </p:nvSpPr>
            <p:spPr>
              <a:xfrm>
                <a:off x="7353300" y="2000250"/>
                <a:ext cx="1943100" cy="1143000"/>
              </a:xfrm>
              <a:prstGeom prst="roundRect">
                <a:avLst>
                  <a:gd name="adj" fmla="val 8333"/>
                </a:avLst>
              </a:prstGeom>
              <a:solidFill>
                <a:srgbClr val="FFFFFF"/>
              </a:solidFill>
              <a:ln w="9525">
                <a:solidFill>
                  <a:srgbClr val="D6DCE5"/>
                </a:solidFill>
              </a:ln>
            </p:spPr>
          </p:sp>
          <p:sp>
            <p:nvSpPr>
              <p:cNvPr id="42" name="Ellipse 42"/>
              <p:cNvSpPr/>
              <p:nvPr/>
            </p:nvSpPr>
            <p:spPr>
              <a:xfrm>
                <a:off x="7477125" y="2143125"/>
                <a:ext cx="247650" cy="247650"/>
              </a:xfrm>
              <a:prstGeom prst="ellipse">
                <a:avLst/>
              </a:prstGeom>
              <a:solidFill>
                <a:srgbClr val="1E4FA8"/>
              </a:solidFill>
              <a:ln>
                <a:noFill/>
              </a:ln>
            </p:spPr>
          </p:sp>
          <p:sp>
            <p:nvSpPr>
              <p:cNvPr id="43" name="TextBox 43"/>
              <p:cNvSpPr txBox="1"/>
              <p:nvPr/>
            </p:nvSpPr>
            <p:spPr>
              <a:xfrm>
                <a:off x="75579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44" name="TextBox 44"/>
              <p:cNvSpPr txBox="1"/>
              <p:nvPr/>
            </p:nvSpPr>
            <p:spPr>
              <a:xfrm>
                <a:off x="7804785" y="2193131"/>
                <a:ext cx="1066851"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吸收太阳能增加</a:t>
                </a:r>
              </a:p>
            </p:txBody>
          </p:sp>
          <p:sp>
            <p:nvSpPr>
              <p:cNvPr id="45" name="TextBox 45"/>
              <p:cNvSpPr txBox="1"/>
              <p:nvPr/>
            </p:nvSpPr>
            <p:spPr>
              <a:xfrm>
                <a:off x="7500938" y="2493645"/>
                <a:ext cx="164918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More absorbed solar energy</a:t>
                </a:r>
              </a:p>
            </p:txBody>
          </p:sp>
          <p:sp>
            <p:nvSpPr>
              <p:cNvPr id="46" name="TextBox 46"/>
              <p:cNvSpPr txBox="1"/>
              <p:nvPr/>
            </p:nvSpPr>
            <p:spPr>
              <a:xfrm>
                <a:off x="7500938" y="2722245"/>
                <a:ext cx="97878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地表吸收更多辐射</a:t>
                </a:r>
              </a:p>
            </p:txBody>
          </p:sp>
        </p:grpSp>
        <p:sp>
          <p:nvSpPr>
            <p:cNvPr id="48" name="Line 48"/>
            <p:cNvSpPr/>
            <p:nvPr/>
          </p:nvSpPr>
          <p:spPr>
            <a:xfrm>
              <a:off x="9324975" y="2571750"/>
              <a:ext cx="800100" cy="9525"/>
            </a:xfrm>
            <a:custGeom>
              <a:avLst/>
              <a:gdLst/>
              <a:ahLst/>
              <a:cxnLst/>
              <a:rect l="l" t="t" r="r" b="b"/>
              <a:pathLst>
                <a:path w="800100" h="9525">
                  <a:moveTo>
                    <a:pt x="0" y="0"/>
                  </a:moveTo>
                  <a:lnTo>
                    <a:pt x="800100" y="0"/>
                  </a:lnTo>
                </a:path>
              </a:pathLst>
            </a:custGeom>
            <a:noFill/>
            <a:ln w="28575">
              <a:solidFill>
                <a:srgbClr val="1E4FA8"/>
              </a:solidFill>
            </a:ln>
          </p:spPr>
        </p:sp>
        <p:sp>
          <p:nvSpPr>
            <p:cNvPr id="49" name="Polygon 49"/>
            <p:cNvSpPr/>
            <p:nvPr/>
          </p:nvSpPr>
          <p:spPr>
            <a:xfrm>
              <a:off x="101250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56" name="Group 56"/>
            <p:cNvGrpSpPr/>
            <p:nvPr/>
          </p:nvGrpSpPr>
          <p:grpSpPr>
            <a:xfrm>
              <a:off x="9582150" y="2000250"/>
              <a:ext cx="1943100" cy="1143000"/>
              <a:chOff x="9582150" y="2000250"/>
              <a:chExt cx="1943100" cy="1143000"/>
            </a:xfrm>
          </p:grpSpPr>
          <p:sp>
            <p:nvSpPr>
              <p:cNvPr id="50" name="Rectangle 50"/>
              <p:cNvSpPr/>
              <p:nvPr/>
            </p:nvSpPr>
            <p:spPr>
              <a:xfrm>
                <a:off x="9582150" y="2000250"/>
                <a:ext cx="1943100" cy="1143000"/>
              </a:xfrm>
              <a:prstGeom prst="roundRect">
                <a:avLst>
                  <a:gd name="adj" fmla="val 8333"/>
                </a:avLst>
              </a:prstGeom>
              <a:solidFill>
                <a:srgbClr val="FFFFFF"/>
              </a:solidFill>
              <a:ln w="9525">
                <a:solidFill>
                  <a:srgbClr val="D6DCE5"/>
                </a:solidFill>
              </a:ln>
            </p:spPr>
          </p:sp>
          <p:sp>
            <p:nvSpPr>
              <p:cNvPr id="51" name="Ellipse 51"/>
              <p:cNvSpPr/>
              <p:nvPr/>
            </p:nvSpPr>
            <p:spPr>
              <a:xfrm>
                <a:off x="9705975" y="2143125"/>
                <a:ext cx="247650" cy="247650"/>
              </a:xfrm>
              <a:prstGeom prst="ellipse">
                <a:avLst/>
              </a:prstGeom>
              <a:solidFill>
                <a:srgbClr val="1E4FA8"/>
              </a:solidFill>
              <a:ln>
                <a:noFill/>
              </a:ln>
            </p:spPr>
          </p:sp>
          <p:sp>
            <p:nvSpPr>
              <p:cNvPr id="52" name="TextBox 52"/>
              <p:cNvSpPr txBox="1"/>
              <p:nvPr/>
            </p:nvSpPr>
            <p:spPr>
              <a:xfrm>
                <a:off x="97867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5</a:t>
                </a:r>
              </a:p>
            </p:txBody>
          </p:sp>
          <p:sp>
            <p:nvSpPr>
              <p:cNvPr id="53" name="TextBox 53"/>
              <p:cNvSpPr txBox="1"/>
              <p:nvPr/>
            </p:nvSpPr>
            <p:spPr>
              <a:xfrm>
                <a:off x="10033635" y="2193131"/>
                <a:ext cx="76530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进一步增温</a:t>
                </a:r>
              </a:p>
            </p:txBody>
          </p:sp>
          <p:sp>
            <p:nvSpPr>
              <p:cNvPr id="54" name="TextBox 54"/>
              <p:cNvSpPr txBox="1"/>
              <p:nvPr/>
            </p:nvSpPr>
            <p:spPr>
              <a:xfrm>
                <a:off x="9729788" y="2493645"/>
                <a:ext cx="100095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Further warming</a:t>
                </a:r>
              </a:p>
            </p:txBody>
          </p:sp>
          <p:sp>
            <p:nvSpPr>
              <p:cNvPr id="55" name="TextBox 55"/>
              <p:cNvSpPr txBox="1"/>
              <p:nvPr/>
            </p:nvSpPr>
            <p:spPr>
              <a:xfrm>
                <a:off x="972978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温度继续上升</a:t>
                </a:r>
              </a:p>
            </p:txBody>
          </p:sp>
        </p:grpSp>
        <p:sp>
          <p:nvSpPr>
            <p:cNvPr id="57" name="Freeform 57"/>
            <p:cNvSpPr/>
            <p:nvPr/>
          </p:nvSpPr>
          <p:spPr>
            <a:xfrm>
              <a:off x="1638300" y="3143250"/>
              <a:ext cx="8915400" cy="438150"/>
            </a:xfrm>
            <a:custGeom>
              <a:avLst/>
              <a:gdLst/>
              <a:ahLst/>
              <a:cxnLst/>
              <a:rect l="l" t="t" r="r" b="b"/>
              <a:pathLst>
                <a:path w="8915400" h="438150">
                  <a:moveTo>
                    <a:pt x="8915400" y="0"/>
                  </a:moveTo>
                  <a:lnTo>
                    <a:pt x="8915400" y="361950"/>
                  </a:lnTo>
                  <a:cubicBezTo>
                    <a:pt x="8915400" y="412750"/>
                    <a:pt x="8890000" y="438150"/>
                    <a:pt x="8839200" y="438150"/>
                  </a:cubicBezTo>
                  <a:lnTo>
                    <a:pt x="76200" y="438150"/>
                  </a:lnTo>
                  <a:cubicBezTo>
                    <a:pt x="25400" y="438150"/>
                    <a:pt x="0" y="412750"/>
                    <a:pt x="0" y="361950"/>
                  </a:cubicBezTo>
                  <a:lnTo>
                    <a:pt x="0" y="57150"/>
                  </a:lnTo>
                </a:path>
              </a:pathLst>
            </a:custGeom>
            <a:noFill/>
            <a:ln w="28575">
              <a:solidFill>
                <a:srgbClr val="1E4FA8"/>
              </a:solidFill>
            </a:ln>
          </p:spPr>
        </p:sp>
        <p:sp>
          <p:nvSpPr>
            <p:cNvPr id="58" name="Polygon 58"/>
            <p:cNvSpPr/>
            <p:nvPr/>
          </p:nvSpPr>
          <p:spPr>
            <a:xfrm>
              <a:off x="1571625" y="31432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59" name="TextBox 59"/>
            <p:cNvSpPr txBox="1"/>
            <p:nvPr/>
          </p:nvSpPr>
          <p:spPr>
            <a:xfrm>
              <a:off x="3379633" y="3723799"/>
              <a:ext cx="5432734" cy="190690"/>
            </a:xfrm>
            <a:prstGeom prst="rect">
              <a:avLst/>
            </a:prstGeom>
            <a:noFill/>
            <a:ln>
              <a:noFill/>
            </a:ln>
          </p:spPr>
          <p:txBody>
            <a:bodyPr wrap="none" lIns="0" tIns="0" rIns="0" bIns="0" anchor="t" anchorCtr="0">
              <a:spAutoFit/>
            </a:bodyPr>
            <a:lstStyle/>
            <a:p>
              <a:pPr algn="ctr"/>
              <a:r>
                <a:rPr lang="zh-CN" sz="980" b="1" dirty="0">
                  <a:solidFill>
                    <a:srgbClr val="1E4FA8"/>
                  </a:solidFill>
                  <a:latin typeface="Arial"/>
                  <a:ea typeface="Microsoft YaHei"/>
                  <a:cs typeface="Arial"/>
                </a:rPr>
                <a:t>诱发变化与初始变化同向 → 沿原方向放大 Induced change reinforces the initial change</a:t>
              </a:r>
            </a:p>
          </p:txBody>
        </p:sp>
        <p:sp>
          <p:nvSpPr>
            <p:cNvPr id="60" name="Rectangle 60"/>
            <p:cNvSpPr/>
            <p:nvPr/>
          </p:nvSpPr>
          <p:spPr>
            <a:xfrm>
              <a:off x="609600" y="4095750"/>
              <a:ext cx="4953000" cy="666750"/>
            </a:xfrm>
            <a:prstGeom prst="roundRect">
              <a:avLst>
                <a:gd name="adj" fmla="val 17143"/>
              </a:avLst>
            </a:prstGeom>
            <a:solidFill>
              <a:srgbClr val="1E4FA8"/>
            </a:solidFill>
            <a:ln>
              <a:noFill/>
            </a:ln>
          </p:spPr>
        </p:sp>
        <p:sp>
          <p:nvSpPr>
            <p:cNvPr id="61" name="Ellipse 61"/>
            <p:cNvSpPr/>
            <p:nvPr/>
          </p:nvSpPr>
          <p:spPr>
            <a:xfrm>
              <a:off x="800100" y="4276725"/>
              <a:ext cx="304800" cy="304800"/>
            </a:xfrm>
            <a:prstGeom prst="ellipse">
              <a:avLst/>
            </a:prstGeom>
            <a:solidFill>
              <a:srgbClr val="FFFFFF"/>
            </a:solidFill>
            <a:ln>
              <a:noFill/>
            </a:ln>
          </p:spPr>
        </p:sp>
        <p:sp>
          <p:nvSpPr>
            <p:cNvPr id="62" name="TextBox 62"/>
            <p:cNvSpPr txBox="1"/>
            <p:nvPr/>
          </p:nvSpPr>
          <p:spPr>
            <a:xfrm>
              <a:off x="886573" y="4333875"/>
              <a:ext cx="131855" cy="293370"/>
            </a:xfrm>
            <a:prstGeom prst="rect">
              <a:avLst/>
            </a:prstGeom>
            <a:noFill/>
            <a:ln>
              <a:noFill/>
            </a:ln>
          </p:spPr>
          <p:txBody>
            <a:bodyPr wrap="none" lIns="0" tIns="0" rIns="0" bIns="0" anchor="t" anchorCtr="0">
              <a:spAutoFit/>
            </a:bodyPr>
            <a:lstStyle/>
            <a:p>
              <a:pPr algn="ctr"/>
              <a:r>
                <a:rPr lang="en-US" sz="1500" b="1" dirty="0">
                  <a:solidFill>
                    <a:srgbClr val="1E4FA8"/>
                  </a:solidFill>
                  <a:latin typeface="Arial"/>
                  <a:ea typeface="Arial"/>
                  <a:cs typeface="Arial"/>
                </a:rPr>
                <a:t>+</a:t>
              </a:r>
            </a:p>
          </p:txBody>
        </p:sp>
        <p:sp>
          <p:nvSpPr>
            <p:cNvPr id="63" name="TextBox 63"/>
            <p:cNvSpPr txBox="1"/>
            <p:nvPr/>
          </p:nvSpPr>
          <p:spPr>
            <a:xfrm>
              <a:off x="1213104" y="4232910"/>
              <a:ext cx="2020563"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Positive Feedback 正反馈</a:t>
              </a:r>
            </a:p>
          </p:txBody>
        </p:sp>
        <p:sp>
          <p:nvSpPr>
            <p:cNvPr id="64" name="TextBox 64"/>
            <p:cNvSpPr txBox="1"/>
            <p:nvPr/>
          </p:nvSpPr>
          <p:spPr>
            <a:xfrm>
              <a:off x="1214438" y="4493895"/>
              <a:ext cx="3226479" cy="176212"/>
            </a:xfrm>
            <a:prstGeom prst="rect">
              <a:avLst/>
            </a:prstGeom>
            <a:noFill/>
            <a:ln>
              <a:noFill/>
            </a:ln>
          </p:spPr>
          <p:txBody>
            <a:bodyPr wrap="none" lIns="0" tIns="0" rIns="0" bIns="0" anchor="t" anchorCtr="0">
              <a:spAutoFit/>
            </a:bodyPr>
            <a:lstStyle/>
            <a:p>
              <a:pPr algn="l"/>
              <a:r>
                <a:rPr lang="zh-CN" sz="900" dirty="0">
                  <a:solidFill>
                    <a:srgbClr val="D6E4F7"/>
                  </a:solidFill>
                  <a:latin typeface="Arial"/>
                  <a:ea typeface="Microsoft YaHei"/>
                  <a:cs typeface="Arial"/>
                </a:rPr>
                <a:t>诱发变化加强初始增温 Induced change amplifies warming</a:t>
              </a:r>
            </a:p>
          </p:txBody>
        </p:sp>
        <p:sp>
          <p:nvSpPr>
            <p:cNvPr id="65" name="Rectangle 65"/>
            <p:cNvSpPr/>
            <p:nvPr/>
          </p:nvSpPr>
          <p:spPr>
            <a:xfrm>
              <a:off x="5753100" y="4095750"/>
              <a:ext cx="5829300" cy="666750"/>
            </a:xfrm>
            <a:prstGeom prst="roundRect">
              <a:avLst>
                <a:gd name="adj" fmla="val 17143"/>
              </a:avLst>
            </a:prstGeom>
            <a:solidFill>
              <a:srgbClr val="F0F5FC"/>
            </a:solidFill>
            <a:ln w="9525">
              <a:solidFill>
                <a:srgbClr val="D6DCE5"/>
              </a:solidFill>
            </a:ln>
          </p:spPr>
        </p:sp>
        <p:sp>
          <p:nvSpPr>
            <p:cNvPr id="66" name="TextBox 66"/>
            <p:cNvSpPr txBox="1"/>
            <p:nvPr/>
          </p:nvSpPr>
          <p:spPr>
            <a:xfrm>
              <a:off x="5900547" y="4257199"/>
              <a:ext cx="3024666"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反照率 Albedo = 地表反射率 surface reflectivity</a:t>
              </a:r>
            </a:p>
          </p:txBody>
        </p:sp>
        <p:sp>
          <p:nvSpPr>
            <p:cNvPr id="67" name="TextBox 67"/>
            <p:cNvSpPr txBox="1"/>
            <p:nvPr/>
          </p:nvSpPr>
          <p:spPr>
            <a:xfrm>
              <a:off x="5900738" y="4493895"/>
              <a:ext cx="377817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No ice-volume, sea-level, or Snowball-Earth claims on this page</a:t>
              </a:r>
            </a:p>
          </p:txBody>
        </p:sp>
      </p:grpSp>
      <p:grpSp>
        <p:nvGrpSpPr>
          <p:cNvPr id="71" name="Group 71"/>
          <p:cNvGrpSpPr/>
          <p:nvPr/>
        </p:nvGrpSpPr>
        <p:grpSpPr>
          <a:xfrm>
            <a:off x="376047" y="5228749"/>
            <a:ext cx="7659060" cy="571690"/>
            <a:chOff x="376047" y="5228749"/>
            <a:chExt cx="7659060" cy="571690"/>
          </a:xfrm>
        </p:grpSpPr>
        <p:sp>
          <p:nvSpPr>
            <p:cNvPr id="69" name="TextBox 69"/>
            <p:cNvSpPr txBox="1"/>
            <p:nvPr/>
          </p:nvSpPr>
          <p:spPr>
            <a:xfrm>
              <a:off x="376047" y="5228749"/>
              <a:ext cx="7659060"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闭环判断：冰雪与反照率下降带来的吸收增加继续加强增温，因此是正反馈。 The loop amplifies the initial warming → positive.</a:t>
              </a:r>
            </a:p>
          </p:txBody>
        </p:sp>
        <p:sp>
          <p:nvSpPr>
            <p:cNvPr id="70" name="TextBox 70"/>
            <p:cNvSpPr txBox="1"/>
            <p:nvPr/>
          </p:nvSpPr>
          <p:spPr>
            <a:xfrm>
              <a:off x="376047" y="5609749"/>
              <a:ext cx="7604000"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判断步骤：找初始变化 → 跟踪诱发变化 → 比较最终作用方向 Steps: initial change → induced change → compare final direction</a:t>
              </a:r>
            </a:p>
          </p:txBody>
        </p:sp>
      </p:grpSp>
      <p:sp>
        <p:nvSpPr>
          <p:cNvPr id="72" name="TextBox 72"/>
          <p:cNvSpPr txBox="1"/>
          <p:nvPr/>
        </p:nvSpPr>
        <p:spPr>
          <a:xfrm>
            <a:off x="376238" y="6532245"/>
            <a:ext cx="784960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UE 8e, Ch.12, PDF p.1177; 地球系统与演变, Ch.3 §3.3.2.3, PDF pp.39–40; HB Ch.9, pp.251–252 as mechanism context only.</a:t>
            </a:r>
          </a:p>
        </p:txBody>
      </p:sp>
      <p:sp>
        <p:nvSpPr>
          <p:cNvPr id="73" name="TextBox 7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37</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64750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3.5 生命也参与反馈 | Biosphere Feedback</a:t>
              </a:r>
            </a:p>
          </p:txBody>
        </p:sp>
        <p:sp>
          <p:nvSpPr>
            <p:cNvPr id="4" name="TextBox 4"/>
            <p:cNvSpPr txBox="1"/>
            <p:nvPr/>
          </p:nvSpPr>
          <p:spPr>
            <a:xfrm>
              <a:off x="10294315" y="299085"/>
              <a:ext cx="1522781"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NEGATIVE FEEDBACK</a:t>
              </a:r>
            </a:p>
          </p:txBody>
        </p:sp>
      </p:grpSp>
      <p:grpSp>
        <p:nvGrpSpPr>
          <p:cNvPr id="8" name="Group 8"/>
          <p:cNvGrpSpPr/>
          <p:nvPr/>
        </p:nvGrpSpPr>
        <p:grpSpPr>
          <a:xfrm>
            <a:off x="381000" y="914400"/>
            <a:ext cx="7276695" cy="357093"/>
            <a:chOff x="381000" y="914400"/>
            <a:chExt cx="7276695"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7113246" cy="308039"/>
            </a:xfrm>
            <a:prstGeom prst="rect">
              <a:avLst/>
            </a:prstGeom>
            <a:noFill/>
            <a:ln>
              <a:noFill/>
            </a:ln>
          </p:spPr>
          <p:txBody>
            <a:bodyPr wrap="none" lIns="0" tIns="0" rIns="0" bIns="0" anchor="t" anchorCtr="0">
              <a:spAutoFit/>
            </a:bodyPr>
            <a:lstStyle/>
            <a:p>
              <a:pPr algn="l"/>
              <a:r>
                <a:rPr lang="en-US" sz="1580" b="1" dirty="0">
                  <a:solidFill>
                    <a:srgbClr val="EA580C"/>
                  </a:solidFill>
                  <a:latin typeface="Arial"/>
                  <a:ea typeface="Arial"/>
                  <a:cs typeface="Arial"/>
                </a:rPr>
                <a:t>CO₂</a:t>
              </a:r>
              <a:r>
                <a:rPr lang="zh-CN" sz="1580" b="1" dirty="0">
                  <a:solidFill>
                    <a:srgbClr val="0E3F8C"/>
                  </a:solidFill>
                  <a:latin typeface="Arial"/>
                  <a:ea typeface="Microsoft YaHei"/>
                  <a:cs typeface="Arial"/>
                </a:rPr>
                <a:t xml:space="preserve"> 升高可促进植物生长与碳吸收，部分抵消初始变化：一个代表性负反馈</a:t>
              </a:r>
            </a:p>
          </p:txBody>
        </p:sp>
      </p:grpSp>
      <p:grpSp>
        <p:nvGrpSpPr>
          <p:cNvPr id="59" name="Group 59"/>
          <p:cNvGrpSpPr/>
          <p:nvPr/>
        </p:nvGrpSpPr>
        <p:grpSpPr>
          <a:xfrm>
            <a:off x="381000" y="1428750"/>
            <a:ext cx="11430000" cy="3524250"/>
            <a:chOff x="381000" y="1428750"/>
            <a:chExt cx="11430000" cy="3524250"/>
          </a:xfrm>
        </p:grpSpPr>
        <p:sp>
          <p:nvSpPr>
            <p:cNvPr id="9" name="Rectangle 9"/>
            <p:cNvSpPr/>
            <p:nvPr/>
          </p:nvSpPr>
          <p:spPr>
            <a:xfrm>
              <a:off x="381000" y="1428750"/>
              <a:ext cx="11430000" cy="3524250"/>
            </a:xfrm>
            <a:prstGeom prst="roundRect">
              <a:avLst>
                <a:gd name="adj" fmla="val 3243"/>
              </a:avLst>
            </a:prstGeom>
            <a:solidFill>
              <a:srgbClr val="F7F9FC"/>
            </a:solidFill>
            <a:ln w="9525">
              <a:solidFill>
                <a:srgbClr val="D6DCE5"/>
              </a:solidFill>
            </a:ln>
          </p:spPr>
        </p:sp>
        <p:sp>
          <p:nvSpPr>
            <p:cNvPr id="10" name="Rectangle 10"/>
            <p:cNvSpPr/>
            <p:nvPr/>
          </p:nvSpPr>
          <p:spPr>
            <a:xfrm>
              <a:off x="666750" y="1619250"/>
              <a:ext cx="2495550" cy="247650"/>
            </a:xfrm>
            <a:prstGeom prst="roundRect">
              <a:avLst>
                <a:gd name="adj" fmla="val 30769"/>
              </a:avLst>
            </a:prstGeom>
            <a:solidFill>
              <a:srgbClr val="E8EFF8"/>
            </a:solidFill>
            <a:ln>
              <a:noFill/>
            </a:ln>
          </p:spPr>
        </p:sp>
        <p:sp>
          <p:nvSpPr>
            <p:cNvPr id="11" name="TextBox 11"/>
            <p:cNvSpPr txBox="1"/>
            <p:nvPr/>
          </p:nvSpPr>
          <p:spPr>
            <a:xfrm>
              <a:off x="1235168" y="1693545"/>
              <a:ext cx="1358713" cy="176212"/>
            </a:xfrm>
            <a:prstGeom prst="rect">
              <a:avLst/>
            </a:prstGeom>
            <a:noFill/>
            <a:ln>
              <a:noFill/>
            </a:ln>
          </p:spPr>
          <p:txBody>
            <a:bodyPr wrap="none" lIns="0" tIns="0" rIns="0" bIns="0" anchor="t" anchorCtr="0">
              <a:spAutoFit/>
            </a:bodyPr>
            <a:lstStyle/>
            <a:p>
              <a:pPr algn="ctr"/>
              <a:r>
                <a:rPr lang="zh-CN" sz="900" b="1" dirty="0">
                  <a:solidFill>
                    <a:srgbClr val="1E4FA8"/>
                  </a:solidFill>
                  <a:latin typeface="Arial"/>
                  <a:ea typeface="Microsoft YaHei"/>
                  <a:cs typeface="Arial"/>
                </a:rPr>
                <a:t>初始变化 Initial change</a:t>
              </a:r>
            </a:p>
          </p:txBody>
        </p:sp>
        <p:sp>
          <p:nvSpPr>
            <p:cNvPr id="12" name="Rectangle 12"/>
            <p:cNvSpPr/>
            <p:nvPr/>
          </p:nvSpPr>
          <p:spPr>
            <a:xfrm>
              <a:off x="3429000" y="1619250"/>
              <a:ext cx="8020050" cy="247650"/>
            </a:xfrm>
            <a:prstGeom prst="roundRect">
              <a:avLst>
                <a:gd name="adj" fmla="val 30769"/>
              </a:avLst>
            </a:prstGeom>
            <a:solidFill>
              <a:srgbClr val="F0F5FC"/>
            </a:solidFill>
            <a:ln>
              <a:noFill/>
            </a:ln>
          </p:spPr>
        </p:sp>
        <p:sp>
          <p:nvSpPr>
            <p:cNvPr id="13" name="TextBox 13"/>
            <p:cNvSpPr txBox="1"/>
            <p:nvPr/>
          </p:nvSpPr>
          <p:spPr>
            <a:xfrm>
              <a:off x="3576638" y="1693545"/>
              <a:ext cx="213293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诱发变化 Induced change（步骤 2–4）</a:t>
              </a:r>
            </a:p>
          </p:txBody>
        </p:sp>
        <p:grpSp>
          <p:nvGrpSpPr>
            <p:cNvPr id="20" name="Group 20"/>
            <p:cNvGrpSpPr/>
            <p:nvPr/>
          </p:nvGrpSpPr>
          <p:grpSpPr>
            <a:xfrm>
              <a:off x="666750" y="2000250"/>
              <a:ext cx="2495550" cy="1143000"/>
              <a:chOff x="666750" y="2000250"/>
              <a:chExt cx="2495550" cy="1143000"/>
            </a:xfrm>
          </p:grpSpPr>
          <p:sp>
            <p:nvSpPr>
              <p:cNvPr id="14" name="Rectangle 14"/>
              <p:cNvSpPr/>
              <p:nvPr/>
            </p:nvSpPr>
            <p:spPr>
              <a:xfrm>
                <a:off x="666750" y="2000250"/>
                <a:ext cx="2495550" cy="1143000"/>
              </a:xfrm>
              <a:prstGeom prst="roundRect">
                <a:avLst>
                  <a:gd name="adj" fmla="val 8333"/>
                </a:avLst>
              </a:prstGeom>
              <a:solidFill>
                <a:srgbClr val="F0F5FC"/>
              </a:solidFill>
              <a:ln w="19050">
                <a:solidFill>
                  <a:srgbClr val="1E4FA8"/>
                </a:solidFill>
              </a:ln>
            </p:spPr>
          </p:sp>
          <p:sp>
            <p:nvSpPr>
              <p:cNvPr id="15" name="Ellipse 15"/>
              <p:cNvSpPr/>
              <p:nvPr/>
            </p:nvSpPr>
            <p:spPr>
              <a:xfrm>
                <a:off x="790575" y="2143125"/>
                <a:ext cx="247650" cy="247650"/>
              </a:xfrm>
              <a:prstGeom prst="ellipse">
                <a:avLst/>
              </a:prstGeom>
              <a:solidFill>
                <a:srgbClr val="1E4FA8"/>
              </a:solidFill>
              <a:ln>
                <a:noFill/>
              </a:ln>
            </p:spPr>
          </p:sp>
          <p:sp>
            <p:nvSpPr>
              <p:cNvPr id="16" name="TextBox 16"/>
              <p:cNvSpPr txBox="1"/>
              <p:nvPr/>
            </p:nvSpPr>
            <p:spPr>
              <a:xfrm>
                <a:off x="8713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1118235" y="2193131"/>
                <a:ext cx="1018973"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 xml:space="preserve">大气 </a:t>
                </a:r>
                <a:r>
                  <a:rPr lang="en-US" sz="1120" b="1" dirty="0">
                    <a:solidFill>
                      <a:srgbClr val="EA580C"/>
                    </a:solidFill>
                    <a:latin typeface="Arial"/>
                    <a:ea typeface="Arial"/>
                    <a:cs typeface="Arial"/>
                  </a:rPr>
                  <a:t>CO₂</a:t>
                </a:r>
                <a:r>
                  <a:rPr lang="zh-CN" sz="1120" b="1" dirty="0">
                    <a:solidFill>
                      <a:srgbClr val="0E3F8C"/>
                    </a:solidFill>
                    <a:latin typeface="Arial"/>
                    <a:ea typeface="Microsoft YaHei"/>
                    <a:cs typeface="Arial"/>
                  </a:rPr>
                  <a:t xml:space="preserve"> 增加</a:t>
                </a:r>
              </a:p>
            </p:txBody>
          </p:sp>
          <p:sp>
            <p:nvSpPr>
              <p:cNvPr id="18" name="TextBox 18"/>
              <p:cNvSpPr txBox="1"/>
              <p:nvPr/>
            </p:nvSpPr>
            <p:spPr>
              <a:xfrm>
                <a:off x="814388" y="2493645"/>
                <a:ext cx="1615050"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Atmospheric CO₂ increases</a:t>
                </a:r>
              </a:p>
            </p:txBody>
          </p:sp>
          <p:sp>
            <p:nvSpPr>
              <p:cNvPr id="19" name="TextBox 19"/>
              <p:cNvSpPr txBox="1"/>
              <p:nvPr/>
            </p:nvSpPr>
            <p:spPr>
              <a:xfrm>
                <a:off x="814388" y="2722245"/>
                <a:ext cx="49415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浓度上升</a:t>
                </a:r>
              </a:p>
            </p:txBody>
          </p:sp>
        </p:grpSp>
        <p:sp>
          <p:nvSpPr>
            <p:cNvPr id="21" name="Line 21"/>
            <p:cNvSpPr/>
            <p:nvPr/>
          </p:nvSpPr>
          <p:spPr>
            <a:xfrm>
              <a:off x="31908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22" name="Polygon 22"/>
            <p:cNvSpPr/>
            <p:nvPr/>
          </p:nvSpPr>
          <p:spPr>
            <a:xfrm>
              <a:off x="33242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29" name="Group 29"/>
            <p:cNvGrpSpPr/>
            <p:nvPr/>
          </p:nvGrpSpPr>
          <p:grpSpPr>
            <a:xfrm>
              <a:off x="3429000" y="2000250"/>
              <a:ext cx="2495550" cy="1143000"/>
              <a:chOff x="3429000" y="2000250"/>
              <a:chExt cx="2495550" cy="1143000"/>
            </a:xfrm>
          </p:grpSpPr>
          <p:sp>
            <p:nvSpPr>
              <p:cNvPr id="23" name="Rectangle 23"/>
              <p:cNvSpPr/>
              <p:nvPr/>
            </p:nvSpPr>
            <p:spPr>
              <a:xfrm>
                <a:off x="3429000" y="2000250"/>
                <a:ext cx="2495550" cy="1143000"/>
              </a:xfrm>
              <a:prstGeom prst="roundRect">
                <a:avLst>
                  <a:gd name="adj" fmla="val 8333"/>
                </a:avLst>
              </a:prstGeom>
              <a:solidFill>
                <a:srgbClr val="FFFFFF"/>
              </a:solidFill>
              <a:ln w="9525">
                <a:solidFill>
                  <a:srgbClr val="D6DCE5"/>
                </a:solidFill>
              </a:ln>
            </p:spPr>
          </p:sp>
          <p:sp>
            <p:nvSpPr>
              <p:cNvPr id="24" name="Ellipse 24"/>
              <p:cNvSpPr/>
              <p:nvPr/>
            </p:nvSpPr>
            <p:spPr>
              <a:xfrm>
                <a:off x="3552825" y="2143125"/>
                <a:ext cx="247650" cy="247650"/>
              </a:xfrm>
              <a:prstGeom prst="ellipse">
                <a:avLst/>
              </a:prstGeom>
              <a:solidFill>
                <a:srgbClr val="1E4FA8"/>
              </a:solidFill>
              <a:ln>
                <a:noFill/>
              </a:ln>
            </p:spPr>
          </p:sp>
          <p:sp>
            <p:nvSpPr>
              <p:cNvPr id="25" name="TextBox 25"/>
              <p:cNvSpPr txBox="1"/>
              <p:nvPr/>
            </p:nvSpPr>
            <p:spPr>
              <a:xfrm>
                <a:off x="36336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6" name="TextBox 26"/>
              <p:cNvSpPr txBox="1"/>
              <p:nvPr/>
            </p:nvSpPr>
            <p:spPr>
              <a:xfrm>
                <a:off x="3880485" y="2193131"/>
                <a:ext cx="1066851"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植物生长可促进</a:t>
                </a:r>
              </a:p>
            </p:txBody>
          </p:sp>
          <p:sp>
            <p:nvSpPr>
              <p:cNvPr id="27" name="TextBox 27"/>
              <p:cNvSpPr txBox="1"/>
              <p:nvPr/>
            </p:nvSpPr>
            <p:spPr>
              <a:xfrm>
                <a:off x="3576638" y="2493645"/>
                <a:ext cx="1552191"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Plant growth can increase</a:t>
                </a:r>
              </a:p>
            </p:txBody>
          </p:sp>
          <p:sp>
            <p:nvSpPr>
              <p:cNvPr id="28" name="TextBox 28"/>
              <p:cNvSpPr txBox="1"/>
              <p:nvPr/>
            </p:nvSpPr>
            <p:spPr>
              <a:xfrm>
                <a:off x="3576638" y="2722245"/>
                <a:ext cx="857631"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可促进，非必然</a:t>
                </a:r>
              </a:p>
            </p:txBody>
          </p:sp>
        </p:grpSp>
        <p:sp>
          <p:nvSpPr>
            <p:cNvPr id="30" name="Line 30"/>
            <p:cNvSpPr/>
            <p:nvPr/>
          </p:nvSpPr>
          <p:spPr>
            <a:xfrm>
              <a:off x="595312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31" name="Polygon 31"/>
            <p:cNvSpPr/>
            <p:nvPr/>
          </p:nvSpPr>
          <p:spPr>
            <a:xfrm>
              <a:off x="60864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38" name="Group 38"/>
            <p:cNvGrpSpPr/>
            <p:nvPr/>
          </p:nvGrpSpPr>
          <p:grpSpPr>
            <a:xfrm>
              <a:off x="6191250" y="2000250"/>
              <a:ext cx="2495550" cy="1143000"/>
              <a:chOff x="6191250" y="2000250"/>
              <a:chExt cx="2495550" cy="1143000"/>
            </a:xfrm>
          </p:grpSpPr>
          <p:sp>
            <p:nvSpPr>
              <p:cNvPr id="32" name="Rectangle 32"/>
              <p:cNvSpPr/>
              <p:nvPr/>
            </p:nvSpPr>
            <p:spPr>
              <a:xfrm>
                <a:off x="6191250" y="2000250"/>
                <a:ext cx="2495550" cy="1143000"/>
              </a:xfrm>
              <a:prstGeom prst="roundRect">
                <a:avLst>
                  <a:gd name="adj" fmla="val 8333"/>
                </a:avLst>
              </a:prstGeom>
              <a:solidFill>
                <a:srgbClr val="FFFFFF"/>
              </a:solidFill>
              <a:ln w="9525">
                <a:solidFill>
                  <a:srgbClr val="D6DCE5"/>
                </a:solidFill>
              </a:ln>
            </p:spPr>
          </p:sp>
          <p:sp>
            <p:nvSpPr>
              <p:cNvPr id="33" name="Ellipse 33"/>
              <p:cNvSpPr/>
              <p:nvPr/>
            </p:nvSpPr>
            <p:spPr>
              <a:xfrm>
                <a:off x="6315075" y="2143125"/>
                <a:ext cx="247650" cy="247650"/>
              </a:xfrm>
              <a:prstGeom prst="ellipse">
                <a:avLst/>
              </a:prstGeom>
              <a:solidFill>
                <a:srgbClr val="1E4FA8"/>
              </a:solidFill>
              <a:ln>
                <a:noFill/>
              </a:ln>
            </p:spPr>
          </p:sp>
          <p:sp>
            <p:nvSpPr>
              <p:cNvPr id="34" name="TextBox 34"/>
              <p:cNvSpPr txBox="1"/>
              <p:nvPr/>
            </p:nvSpPr>
            <p:spPr>
              <a:xfrm>
                <a:off x="63958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35" name="TextBox 35"/>
              <p:cNvSpPr txBox="1"/>
              <p:nvPr/>
            </p:nvSpPr>
            <p:spPr>
              <a:xfrm>
                <a:off x="6642735" y="2193131"/>
                <a:ext cx="1066851"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碳吸收进有机质</a:t>
                </a:r>
              </a:p>
            </p:txBody>
          </p:sp>
          <p:sp>
            <p:nvSpPr>
              <p:cNvPr id="36" name="TextBox 36"/>
              <p:cNvSpPr txBox="1"/>
              <p:nvPr/>
            </p:nvSpPr>
            <p:spPr>
              <a:xfrm>
                <a:off x="6338888" y="2493645"/>
                <a:ext cx="161881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Uptake into organic matter</a:t>
                </a:r>
              </a:p>
            </p:txBody>
          </p:sp>
          <p:sp>
            <p:nvSpPr>
              <p:cNvPr id="37" name="TextBox 37"/>
              <p:cNvSpPr txBox="1"/>
              <p:nvPr/>
            </p:nvSpPr>
            <p:spPr>
              <a:xfrm>
                <a:off x="6338888" y="2722245"/>
                <a:ext cx="128831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 xml:space="preserve">植物固定 </a:t>
                </a:r>
                <a:r>
                  <a:rPr lang="en-US" sz="900" dirty="0">
                    <a:solidFill>
                      <a:srgbClr val="EA580C"/>
                    </a:solidFill>
                    <a:latin typeface="Arial"/>
                    <a:ea typeface="Arial"/>
                    <a:cs typeface="Arial"/>
                  </a:rPr>
                  <a:t>CO₂</a:t>
                </a:r>
                <a:r>
                  <a:rPr lang="zh-CN" sz="900" dirty="0">
                    <a:solidFill>
                      <a:srgbClr val="4A5568"/>
                    </a:solidFill>
                    <a:latin typeface="Arial"/>
                    <a:ea typeface="Microsoft YaHei"/>
                    <a:cs typeface="Arial"/>
                  </a:rPr>
                  <a:t xml:space="preserve"> 为有机质</a:t>
                </a:r>
              </a:p>
            </p:txBody>
          </p:sp>
        </p:grpSp>
        <p:sp>
          <p:nvSpPr>
            <p:cNvPr id="39" name="Line 39"/>
            <p:cNvSpPr/>
            <p:nvPr/>
          </p:nvSpPr>
          <p:spPr>
            <a:xfrm>
              <a:off x="87153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40" name="Polygon 40"/>
            <p:cNvSpPr/>
            <p:nvPr/>
          </p:nvSpPr>
          <p:spPr>
            <a:xfrm>
              <a:off x="88487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47" name="Group 47"/>
            <p:cNvGrpSpPr/>
            <p:nvPr/>
          </p:nvGrpSpPr>
          <p:grpSpPr>
            <a:xfrm>
              <a:off x="8953500" y="2000250"/>
              <a:ext cx="2495550" cy="1143000"/>
              <a:chOff x="8953500" y="2000250"/>
              <a:chExt cx="2495550" cy="1143000"/>
            </a:xfrm>
          </p:grpSpPr>
          <p:sp>
            <p:nvSpPr>
              <p:cNvPr id="41" name="Rectangle 41"/>
              <p:cNvSpPr/>
              <p:nvPr/>
            </p:nvSpPr>
            <p:spPr>
              <a:xfrm>
                <a:off x="8953500" y="2000250"/>
                <a:ext cx="2495550" cy="1143000"/>
              </a:xfrm>
              <a:prstGeom prst="roundRect">
                <a:avLst>
                  <a:gd name="adj" fmla="val 8333"/>
                </a:avLst>
              </a:prstGeom>
              <a:solidFill>
                <a:srgbClr val="FFFFFF"/>
              </a:solidFill>
              <a:ln w="9525">
                <a:solidFill>
                  <a:srgbClr val="D6DCE5"/>
                </a:solidFill>
              </a:ln>
            </p:spPr>
          </p:sp>
          <p:sp>
            <p:nvSpPr>
              <p:cNvPr id="42" name="Ellipse 42"/>
              <p:cNvSpPr/>
              <p:nvPr/>
            </p:nvSpPr>
            <p:spPr>
              <a:xfrm>
                <a:off x="9077325" y="2143125"/>
                <a:ext cx="247650" cy="247650"/>
              </a:xfrm>
              <a:prstGeom prst="ellipse">
                <a:avLst/>
              </a:prstGeom>
              <a:solidFill>
                <a:srgbClr val="1E4FA8"/>
              </a:solidFill>
              <a:ln>
                <a:noFill/>
              </a:ln>
            </p:spPr>
          </p:sp>
          <p:sp>
            <p:nvSpPr>
              <p:cNvPr id="43" name="TextBox 43"/>
              <p:cNvSpPr txBox="1"/>
              <p:nvPr/>
            </p:nvSpPr>
            <p:spPr>
              <a:xfrm>
                <a:off x="91581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44" name="TextBox 44"/>
              <p:cNvSpPr txBox="1"/>
              <p:nvPr/>
            </p:nvSpPr>
            <p:spPr>
              <a:xfrm>
                <a:off x="9404985" y="2193131"/>
                <a:ext cx="1423802" cy="220028"/>
              </a:xfrm>
              <a:prstGeom prst="rect">
                <a:avLst/>
              </a:prstGeom>
              <a:noFill/>
              <a:ln>
                <a:noFill/>
              </a:ln>
            </p:spPr>
            <p:txBody>
              <a:bodyPr wrap="none" lIns="0" tIns="0" rIns="0" bIns="0" anchor="t" anchorCtr="0">
                <a:spAutoFit/>
              </a:bodyPr>
              <a:lstStyle/>
              <a:p>
                <a:pPr algn="l"/>
                <a:r>
                  <a:rPr lang="en-US" sz="1120" b="1" dirty="0">
                    <a:solidFill>
                      <a:srgbClr val="EA580C"/>
                    </a:solidFill>
                    <a:latin typeface="Arial"/>
                    <a:ea typeface="Arial"/>
                    <a:cs typeface="Arial"/>
                  </a:rPr>
                  <a:t>CO₂</a:t>
                </a:r>
                <a:r>
                  <a:rPr lang="zh-CN" sz="1120" b="1" dirty="0">
                    <a:solidFill>
                      <a:srgbClr val="0E3F8C"/>
                    </a:solidFill>
                    <a:latin typeface="Arial"/>
                    <a:ea typeface="Microsoft YaHei"/>
                    <a:cs typeface="Arial"/>
                  </a:rPr>
                  <a:t xml:space="preserve"> 与增温相对降低</a:t>
                </a:r>
              </a:p>
            </p:txBody>
          </p:sp>
          <p:sp>
            <p:nvSpPr>
              <p:cNvPr id="45" name="TextBox 45"/>
              <p:cNvSpPr txBox="1"/>
              <p:nvPr/>
            </p:nvSpPr>
            <p:spPr>
              <a:xfrm>
                <a:off x="9101138" y="2493645"/>
                <a:ext cx="136999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CO₂ &amp; warming reduced</a:t>
                </a:r>
              </a:p>
            </p:txBody>
          </p:sp>
          <p:sp>
            <p:nvSpPr>
              <p:cNvPr id="46" name="TextBox 46"/>
              <p:cNvSpPr txBox="1"/>
              <p:nvPr/>
            </p:nvSpPr>
            <p:spPr>
              <a:xfrm>
                <a:off x="910113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反对初始变化</a:t>
                </a:r>
              </a:p>
            </p:txBody>
          </p:sp>
        </p:grpSp>
        <p:sp>
          <p:nvSpPr>
            <p:cNvPr id="48" name="Freeform 48"/>
            <p:cNvSpPr/>
            <p:nvPr/>
          </p:nvSpPr>
          <p:spPr>
            <a:xfrm>
              <a:off x="1914525" y="3143250"/>
              <a:ext cx="8286750" cy="438150"/>
            </a:xfrm>
            <a:custGeom>
              <a:avLst/>
              <a:gdLst/>
              <a:ahLst/>
              <a:cxnLst/>
              <a:rect l="l" t="t" r="r" b="b"/>
              <a:pathLst>
                <a:path w="8286750" h="438150">
                  <a:moveTo>
                    <a:pt x="8286750" y="0"/>
                  </a:moveTo>
                  <a:lnTo>
                    <a:pt x="8286750" y="361950"/>
                  </a:lnTo>
                  <a:cubicBezTo>
                    <a:pt x="8286750" y="412750"/>
                    <a:pt x="8261350" y="438150"/>
                    <a:pt x="8210550" y="438150"/>
                  </a:cubicBezTo>
                  <a:lnTo>
                    <a:pt x="76200" y="438150"/>
                  </a:lnTo>
                  <a:cubicBezTo>
                    <a:pt x="25400" y="438150"/>
                    <a:pt x="0" y="412750"/>
                    <a:pt x="0" y="361950"/>
                  </a:cubicBezTo>
                  <a:lnTo>
                    <a:pt x="0" y="57150"/>
                  </a:lnTo>
                </a:path>
              </a:pathLst>
            </a:custGeom>
            <a:noFill/>
            <a:ln w="28575">
              <a:solidFill>
                <a:srgbClr val="1E4FA8"/>
              </a:solidFill>
            </a:ln>
          </p:spPr>
        </p:sp>
        <p:sp>
          <p:nvSpPr>
            <p:cNvPr id="49" name="Polygon 49"/>
            <p:cNvSpPr/>
            <p:nvPr/>
          </p:nvSpPr>
          <p:spPr>
            <a:xfrm>
              <a:off x="1847850" y="31432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50" name="TextBox 50"/>
            <p:cNvSpPr txBox="1"/>
            <p:nvPr/>
          </p:nvSpPr>
          <p:spPr>
            <a:xfrm>
              <a:off x="3410358" y="3723799"/>
              <a:ext cx="5371285" cy="190690"/>
            </a:xfrm>
            <a:prstGeom prst="rect">
              <a:avLst/>
            </a:prstGeom>
            <a:noFill/>
            <a:ln>
              <a:noFill/>
            </a:ln>
          </p:spPr>
          <p:txBody>
            <a:bodyPr wrap="none" lIns="0" tIns="0" rIns="0" bIns="0" anchor="t" anchorCtr="0">
              <a:spAutoFit/>
            </a:bodyPr>
            <a:lstStyle/>
            <a:p>
              <a:pPr algn="ctr"/>
              <a:r>
                <a:rPr lang="zh-CN" sz="980" b="1" dirty="0">
                  <a:solidFill>
                    <a:srgbClr val="1E4FA8"/>
                  </a:solidFill>
                  <a:latin typeface="Arial"/>
                  <a:ea typeface="Microsoft YaHei"/>
                  <a:cs typeface="Arial"/>
                </a:rPr>
                <a:t>诱发作用与初始变化反向 → 抑制并趋于稳定 Induced change opposes the initial change</a:t>
              </a:r>
            </a:p>
          </p:txBody>
        </p:sp>
        <p:sp>
          <p:nvSpPr>
            <p:cNvPr id="51" name="Rectangle 51"/>
            <p:cNvSpPr/>
            <p:nvPr/>
          </p:nvSpPr>
          <p:spPr>
            <a:xfrm>
              <a:off x="609600" y="4095750"/>
              <a:ext cx="4953000" cy="666750"/>
            </a:xfrm>
            <a:prstGeom prst="roundRect">
              <a:avLst>
                <a:gd name="adj" fmla="val 17143"/>
              </a:avLst>
            </a:prstGeom>
            <a:solidFill>
              <a:srgbClr val="1E4FA8"/>
            </a:solidFill>
            <a:ln>
              <a:noFill/>
            </a:ln>
          </p:spPr>
        </p:sp>
        <p:sp>
          <p:nvSpPr>
            <p:cNvPr id="52" name="Ellipse 52"/>
            <p:cNvSpPr/>
            <p:nvPr/>
          </p:nvSpPr>
          <p:spPr>
            <a:xfrm>
              <a:off x="800100" y="4276725"/>
              <a:ext cx="304800" cy="304800"/>
            </a:xfrm>
            <a:prstGeom prst="ellipse">
              <a:avLst/>
            </a:prstGeom>
            <a:solidFill>
              <a:srgbClr val="FFFFFF"/>
            </a:solidFill>
            <a:ln>
              <a:noFill/>
            </a:ln>
          </p:spPr>
        </p:sp>
        <p:sp>
          <p:nvSpPr>
            <p:cNvPr id="53" name="TextBox 53"/>
            <p:cNvSpPr txBox="1"/>
            <p:nvPr/>
          </p:nvSpPr>
          <p:spPr>
            <a:xfrm>
              <a:off x="886573" y="4333875"/>
              <a:ext cx="131855" cy="293370"/>
            </a:xfrm>
            <a:prstGeom prst="rect">
              <a:avLst/>
            </a:prstGeom>
            <a:noFill/>
            <a:ln>
              <a:noFill/>
            </a:ln>
          </p:spPr>
          <p:txBody>
            <a:bodyPr wrap="none" lIns="0" tIns="0" rIns="0" bIns="0" anchor="t" anchorCtr="0">
              <a:spAutoFit/>
            </a:bodyPr>
            <a:lstStyle/>
            <a:p>
              <a:pPr algn="ctr"/>
              <a:r>
                <a:rPr lang="en-US" sz="1500" b="1" dirty="0">
                  <a:solidFill>
                    <a:srgbClr val="1E4FA8"/>
                  </a:solidFill>
                  <a:latin typeface="Arial"/>
                  <a:ea typeface="Arial"/>
                  <a:cs typeface="Arial"/>
                </a:rPr>
                <a:t>−</a:t>
              </a:r>
            </a:p>
          </p:txBody>
        </p:sp>
        <p:sp>
          <p:nvSpPr>
            <p:cNvPr id="54" name="TextBox 54"/>
            <p:cNvSpPr txBox="1"/>
            <p:nvPr/>
          </p:nvSpPr>
          <p:spPr>
            <a:xfrm>
              <a:off x="1213104" y="4232910"/>
              <a:ext cx="2063268"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Negative Feedback 负反馈</a:t>
              </a:r>
            </a:p>
          </p:txBody>
        </p:sp>
        <p:sp>
          <p:nvSpPr>
            <p:cNvPr id="55" name="TextBox 55"/>
            <p:cNvSpPr txBox="1"/>
            <p:nvPr/>
          </p:nvSpPr>
          <p:spPr>
            <a:xfrm>
              <a:off x="1214438" y="4493895"/>
              <a:ext cx="2779035" cy="176212"/>
            </a:xfrm>
            <a:prstGeom prst="rect">
              <a:avLst/>
            </a:prstGeom>
            <a:noFill/>
            <a:ln>
              <a:noFill/>
            </a:ln>
          </p:spPr>
          <p:txBody>
            <a:bodyPr wrap="none" lIns="0" tIns="0" rIns="0" bIns="0" anchor="t" anchorCtr="0">
              <a:spAutoFit/>
            </a:bodyPr>
            <a:lstStyle/>
            <a:p>
              <a:pPr algn="l"/>
              <a:r>
                <a:rPr lang="zh-CN" sz="900" dirty="0">
                  <a:solidFill>
                    <a:srgbClr val="D6E4F7"/>
                  </a:solidFill>
                  <a:latin typeface="Arial"/>
                  <a:ea typeface="Microsoft YaHei"/>
                  <a:cs typeface="Arial"/>
                </a:rPr>
                <a:t>诱发作用反对初始变化 Induced change opposes it</a:t>
              </a:r>
            </a:p>
          </p:txBody>
        </p:sp>
        <p:sp>
          <p:nvSpPr>
            <p:cNvPr id="56" name="Rectangle 56"/>
            <p:cNvSpPr/>
            <p:nvPr/>
          </p:nvSpPr>
          <p:spPr>
            <a:xfrm>
              <a:off x="5753100" y="4095750"/>
              <a:ext cx="5829300" cy="666750"/>
            </a:xfrm>
            <a:prstGeom prst="roundRect">
              <a:avLst>
                <a:gd name="adj" fmla="val 17143"/>
              </a:avLst>
            </a:prstGeom>
            <a:solidFill>
              <a:srgbClr val="F0F5FC"/>
            </a:solidFill>
            <a:ln w="9525">
              <a:solidFill>
                <a:srgbClr val="D6DCE5"/>
              </a:solidFill>
            </a:ln>
          </p:spPr>
        </p:sp>
        <p:sp>
          <p:nvSpPr>
            <p:cNvPr id="57" name="TextBox 57"/>
            <p:cNvSpPr txBox="1"/>
            <p:nvPr/>
          </p:nvSpPr>
          <p:spPr>
            <a:xfrm>
              <a:off x="5900547" y="4257199"/>
              <a:ext cx="2550135"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条件式：</a:t>
              </a:r>
              <a:r>
                <a:rPr lang="en-US" sz="980" dirty="0">
                  <a:solidFill>
                    <a:srgbClr val="EA580C"/>
                  </a:solidFill>
                  <a:latin typeface="Arial"/>
                  <a:ea typeface="Arial"/>
                  <a:cs typeface="Arial"/>
                </a:rPr>
                <a:t>CO₂</a:t>
              </a:r>
              <a:r>
                <a:rPr lang="zh-CN" sz="980" dirty="0">
                  <a:solidFill>
                    <a:srgbClr val="1A2230"/>
                  </a:solidFill>
                  <a:latin typeface="Arial"/>
                  <a:ea typeface="Microsoft YaHei"/>
                  <a:cs typeface="Arial"/>
                </a:rPr>
                <a:t xml:space="preserve"> 升高可促进植物生长与碳吸收</a:t>
              </a:r>
            </a:p>
          </p:txBody>
        </p:sp>
        <p:sp>
          <p:nvSpPr>
            <p:cNvPr id="58" name="TextBox 58"/>
            <p:cNvSpPr txBox="1"/>
            <p:nvPr/>
          </p:nvSpPr>
          <p:spPr>
            <a:xfrm>
              <a:off x="5900738" y="4493895"/>
              <a:ext cx="4841876"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No unlimited growth, permanent compensation, or measured present-day net sink</a:t>
              </a:r>
            </a:p>
          </p:txBody>
        </p:sp>
      </p:grpSp>
      <p:grpSp>
        <p:nvGrpSpPr>
          <p:cNvPr id="62" name="Group 62"/>
          <p:cNvGrpSpPr/>
          <p:nvPr/>
        </p:nvGrpSpPr>
        <p:grpSpPr>
          <a:xfrm>
            <a:off x="376047" y="5228749"/>
            <a:ext cx="8158000" cy="571690"/>
            <a:chOff x="376047" y="5228749"/>
            <a:chExt cx="8158000" cy="571690"/>
          </a:xfrm>
        </p:grpSpPr>
        <p:sp>
          <p:nvSpPr>
            <p:cNvPr id="60" name="TextBox 60"/>
            <p:cNvSpPr txBox="1"/>
            <p:nvPr/>
          </p:nvSpPr>
          <p:spPr>
            <a:xfrm>
              <a:off x="376047" y="5228749"/>
              <a:ext cx="8158000"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 xml:space="preserve">闭环判断：植物吸收使大气 </a:t>
              </a:r>
              <a:r>
                <a:rPr lang="en-US" sz="980" dirty="0">
                  <a:solidFill>
                    <a:srgbClr val="EA580C"/>
                  </a:solidFill>
                  <a:latin typeface="Arial"/>
                  <a:ea typeface="Arial"/>
                  <a:cs typeface="Arial"/>
                </a:rPr>
                <a:t>CO₂</a:t>
              </a:r>
              <a:r>
                <a:rPr lang="zh-CN" sz="980" dirty="0">
                  <a:solidFill>
                    <a:srgbClr val="1A2230"/>
                  </a:solidFill>
                  <a:latin typeface="Arial"/>
                  <a:ea typeface="Microsoft YaHei"/>
                  <a:cs typeface="Arial"/>
                </a:rPr>
                <a:t xml:space="preserve"> 与增温相对初始变化降低，因此是负反馈。 The induced uptake opposes the initial change → negative.</a:t>
              </a:r>
            </a:p>
          </p:txBody>
        </p:sp>
        <p:sp>
          <p:nvSpPr>
            <p:cNvPr id="61" name="TextBox 61"/>
            <p:cNvSpPr txBox="1"/>
            <p:nvPr/>
          </p:nvSpPr>
          <p:spPr>
            <a:xfrm>
              <a:off x="376047" y="5609749"/>
              <a:ext cx="7604000"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判断步骤：找初始变化 → 跟踪诱发变化 → 比较最终作用方向 Steps: initial change → induced change → compare final direction</a:t>
              </a:r>
            </a:p>
          </p:txBody>
        </p:sp>
      </p:grpSp>
      <p:sp>
        <p:nvSpPr>
          <p:cNvPr id="63" name="TextBox 63"/>
          <p:cNvSpPr txBox="1"/>
          <p:nvPr/>
        </p:nvSpPr>
        <p:spPr>
          <a:xfrm>
            <a:off x="376238" y="6532245"/>
            <a:ext cx="849355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Ch.12, PDF p.1178; UE 8e p.1168 and approved CN Ch.4 rows as process context only; no flux or response-time number is used.</a:t>
            </a:r>
          </a:p>
        </p:txBody>
      </p:sp>
      <p:sp>
        <p:nvSpPr>
          <p:cNvPr id="64" name="TextBox 6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39</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ROD-W3-QIANWEN-OFFICE">
  <a:themeElements>
    <a:clrScheme name="PROD-W3-QIANWEN-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OD-W3-QIANWEN-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D-W3-QIANWEN-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ROD-W3-QIANWEN-OFFICE">
  <a:themeElements>
    <a:clrScheme name="PROD-W3-QIANWEN-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OD-W3-QIANWEN-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D-W3-QIANWEN-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2026-09-14T08:44:29Z</dcterms:created>
  <dcterms:modified xsi:type="dcterms:W3CDTF">2026-09-14T08:44:29Z</dcterms:modified>
  <cp:category/>
  <cp:contentStatus/>
</cp:coreProperties>
</file>