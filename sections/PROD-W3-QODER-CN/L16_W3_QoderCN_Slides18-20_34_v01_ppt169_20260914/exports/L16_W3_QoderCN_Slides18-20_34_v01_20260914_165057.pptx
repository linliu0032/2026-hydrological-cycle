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放进整个地球系统来看。图上有四个节点：大气圈、海洋、陆地与生命、岩石与深部。先看表层：海洋与大气之间有蒸发和降水两条方向相反的箭头；陆地与大气之间同样有降水向下、蒸腾与生物转移向上；陆地上的水通过径流回到海洋，又通过入渗进入地下。再看深部：俯冲把水带入地球内部，火山作用把水返回表层，这两个方向沿用中文教材图三之十三的原始方向；风化则把岩石中的溶质释放出来，随水输送到海洋。所以水循环不是一张表层流程图：它同时连接大气、海洋、生命、岩石和深部地球，并在这些储库之间搬运质量与能量；水还是溶剂和搬运介质，相变过程同时输送潜热。本页依据 Understanding Earth 第十二章与第十七章、中文教材第三章、Earth Portrait 第二十三章和 How to Build a Habitable Planet 第九章的批准来源行重绘，不引入新的数值预算。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这一页是课堂读图题，答案不在画面上，而在你们的读图过程里。请看左侧这幅 Earth Portrait 的全球水循环图，依次完成四个任务：第一，至少指出四个储库；第二，至少指出四个通量，也就是图中的箭头；第三，指出一条较快的路径和一条较慢的路径；第四，找出太阳能从哪里进入循环。给一点提示性的答案键，供讨论后核对：储库可以答海洋、大气、冰雪、陆地与生物、地下含水层；通量可以答蒸发、蒸腾、升华、凝结与降水、径流、入渗、地下水流；较快的路径是海洋与大气之间的蒸发—降水回路，较慢的路径是地下水流或冰雪的融化返回；太阳能从驱动蒸发和大气水汽输送进入循环，这与 Understanding Earth 第十七章的表述一致。图上标签保持完整，没有做数值计算，也没有混用其他图件的数值。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部分用五条结论收束。第一，水在储库之间迁移：海洋、大气、冰雪、陆地与地下水通过通量持续交换。第二，相变输送能量：蒸发吸热、凝结放热，水循环同时是能量循环。第三，径流与地下水搬运溶质和沉积物，把陆地的物质带向海洋。第四，水塑造地表：侵蚀与沉积持续改变地形。第五，表层循环与俯冲—火山的深部路径共同把水送入并送出岩石圈，连接各大圈层。讲完这五条，第一部分结束，休息十分钟；下一部分我们用同一套储库、通量、停留时间的语言进入碳循环。本页全部结论来自 Understanding Earth 第十二、十七章、中文教材第三章和 Earth Portrait Interlude F 与第二十三章的批准来源行，没有新增事实或数值。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和碳循环放进同一张图。橙色实线是碳通量，蓝色虚线是水通量，右上角有图例。碳的路径有六条：海洋与大气之间的二氧化碳交换；生命通过光合作用吸收、通过呼吸作用返回二氧化碳；大气中的二氧化碳与水一起驱动岩石风化；风化产物以溶解和碳酸盐的形式进入海洋；海洋中的碳经埋藏和俯冲进入沉积与岩石；岩石圈的碳再经火山脱气返回大气。水的路径穿插其间：海洋与大气的水交换、生命的蒸腾、以及水参与风化，正是这些水过程让碳得以在圈层之间转移。请注意图下方的注记：硅酸盐风化贡献的是缓慢的负气候倾向，而碳酸盐岩的回收并不构成同等的大气二氧化碳净汇，这是 Understanding Earth 明确区分的两点。本页为批准的重绘简报 I-02，依据 W-02、C-01、C-04、C-05、F-01 与 Source Matrix 批准文本重绘，只做定性整合，不合并任何图件的数值预算。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16_W3_QoderCN_Slides18-20_34_v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16_W3_QoderCN_Slides18-20_34_v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f6ca870f504f08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482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1.15 水循环连接四大圈层 | Water Connects the Earth System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60178" y="299085"/>
              <a:ext cx="155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EARTH-SYSTEM LINK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水把大气、海洋、生命、岩石与深部地球连接起来，并搬运质量与能量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47800"/>
            <a:ext cx="11430000" cy="609600"/>
            <a:chOff x="381000" y="144780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11430000" cy="609600"/>
            </a:xfrm>
            <a:prstGeom prst="roundRect">
              <a:avLst>
                <a:gd name="adj" fmla="val 18750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83298" y="1680210"/>
              <a:ext cx="1625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大气圈 | Atmosphere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857500"/>
            <a:ext cx="4476750" cy="1428750"/>
            <a:chOff x="381000" y="2857500"/>
            <a:chExt cx="4476750" cy="1428750"/>
          </a:xfrm>
        </p:grpSpPr>
        <p:sp>
          <p:nvSpPr>
            <p:cNvPr id="12" name="Rectangle 12"/>
            <p:cNvSpPr/>
            <p:nvPr/>
          </p:nvSpPr>
          <p:spPr>
            <a:xfrm>
              <a:off x="381000" y="2857500"/>
              <a:ext cx="4476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3070860"/>
              <a:ext cx="999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 | Ocean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336184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水圈主体 · 海气交换与热量输送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6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接收径流与风化溶质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10250" y="2857500"/>
            <a:ext cx="6000750" cy="1428750"/>
            <a:chOff x="5810250" y="2857500"/>
            <a:chExt cx="6000750" cy="1428750"/>
          </a:xfrm>
        </p:grpSpPr>
        <p:sp>
          <p:nvSpPr>
            <p:cNvPr id="17" name="Rectangle 17"/>
            <p:cNvSpPr/>
            <p:nvPr/>
          </p:nvSpPr>
          <p:spPr>
            <a:xfrm>
              <a:off x="5810250" y="2857500"/>
              <a:ext cx="6000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2754" y="3070860"/>
              <a:ext cx="1842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陆地与生命 | Land &amp; life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3897" y="336184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生物圈 · 植被连接地下水与大气水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3897" y="3609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蒸腾与生物转移返回水汽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4762500"/>
            <a:ext cx="11430000" cy="952500"/>
            <a:chOff x="381000" y="4762500"/>
            <a:chExt cx="11430000" cy="952500"/>
          </a:xfrm>
        </p:grpSpPr>
        <p:sp>
          <p:nvSpPr>
            <p:cNvPr id="22" name="Rectangle 22"/>
            <p:cNvSpPr/>
            <p:nvPr/>
          </p:nvSpPr>
          <p:spPr>
            <a:xfrm>
              <a:off x="381000" y="4762500"/>
              <a:ext cx="114300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504" y="4975860"/>
              <a:ext cx="2452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岩石与深部 | Rock &amp; deep Earth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647" y="5266849"/>
              <a:ext cx="34796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俯冲把水带入内部 · 火山作用把水返回表层 · 风化释放溶质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8558" y="2114550"/>
            <a:ext cx="3483369" cy="723900"/>
            <a:chOff x="818558" y="2114550"/>
            <a:chExt cx="3483369" cy="723900"/>
          </a:xfrm>
        </p:grpSpPr>
        <p:sp>
          <p:nvSpPr>
            <p:cNvPr id="26" name="Line 26"/>
            <p:cNvSpPr/>
            <p:nvPr/>
          </p:nvSpPr>
          <p:spPr>
            <a:xfrm flipV="1">
              <a:off x="1905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314325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8558" y="2398395"/>
              <a:ext cx="9959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蒸发 Evaporation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33738" y="2398395"/>
              <a:ext cx="1068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降水 Precipitation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0" y="2114550"/>
            <a:ext cx="3570349" cy="723900"/>
            <a:chOff x="7620000" y="2114550"/>
            <a:chExt cx="3570349" cy="723900"/>
          </a:xfrm>
        </p:grpSpPr>
        <p:sp>
          <p:nvSpPr>
            <p:cNvPr id="31" name="Line 31"/>
            <p:cNvSpPr/>
            <p:nvPr/>
          </p:nvSpPr>
          <p:spPr>
            <a:xfrm>
              <a:off x="7620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1000125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10488" y="2398395"/>
              <a:ext cx="1068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降水 Precipitation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91738" y="2398395"/>
              <a:ext cx="10986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蒸腾 Transpiration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914900" y="3369945"/>
            <a:ext cx="857250" cy="201931"/>
            <a:chOff x="4914900" y="3369945"/>
            <a:chExt cx="857250" cy="201931"/>
          </a:xfrm>
        </p:grpSpPr>
        <p:sp>
          <p:nvSpPr>
            <p:cNvPr id="36" name="Line 36"/>
            <p:cNvSpPr/>
            <p:nvPr/>
          </p:nvSpPr>
          <p:spPr>
            <a:xfrm flipH="1">
              <a:off x="4914900" y="3571875"/>
              <a:ext cx="8572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96320" y="3369945"/>
              <a:ext cx="6944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径流 Runoff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381250" y="4305300"/>
            <a:ext cx="2160906" cy="438150"/>
            <a:chOff x="2381250" y="4305300"/>
            <a:chExt cx="2160906" cy="438150"/>
          </a:xfrm>
        </p:grpSpPr>
        <p:sp>
          <p:nvSpPr>
            <p:cNvPr id="39" name="Line 39"/>
            <p:cNvSpPr/>
            <p:nvPr/>
          </p:nvSpPr>
          <p:spPr>
            <a:xfrm flipV="1">
              <a:off x="2381250" y="4305300"/>
              <a:ext cx="1" cy="4381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71738" y="4474845"/>
              <a:ext cx="20704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风化与溶质输送 Weathering &amp; solute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67500" y="4305300"/>
            <a:ext cx="4448934" cy="438150"/>
            <a:chOff x="6667500" y="4305300"/>
            <a:chExt cx="4448934" cy="438150"/>
          </a:xfrm>
        </p:grpSpPr>
        <p:sp>
          <p:nvSpPr>
            <p:cNvPr id="42" name="Line 42"/>
            <p:cNvSpPr/>
            <p:nvPr/>
          </p:nvSpPr>
          <p:spPr>
            <a:xfrm>
              <a:off x="6667500" y="4305300"/>
              <a:ext cx="1" cy="4381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7988" y="4531995"/>
              <a:ext cx="9711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入渗 Infiltration</a:t>
              </a:r>
            </a:p>
          </p:txBody>
        </p:sp>
        <p:sp>
          <p:nvSpPr>
            <p:cNvPr id="44" name="Line 44"/>
            <p:cNvSpPr/>
            <p:nvPr/>
          </p:nvSpPr>
          <p:spPr>
            <a:xfrm flipV="1">
              <a:off x="8382000" y="4305300"/>
              <a:ext cx="1" cy="4381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46543" y="4322445"/>
              <a:ext cx="14449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火山回返 Volcanic return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096500" y="4305300"/>
              <a:ext cx="1" cy="4381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med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86988" y="4474845"/>
              <a:ext cx="929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俯冲 Subduction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5829300"/>
            <a:ext cx="11430000" cy="400050"/>
            <a:chOff x="381000" y="5829300"/>
            <a:chExt cx="11430000" cy="400050"/>
          </a:xfrm>
        </p:grpSpPr>
        <p:sp>
          <p:nvSpPr>
            <p:cNvPr id="49" name="Rectangle 49"/>
            <p:cNvSpPr/>
            <p:nvPr/>
          </p:nvSpPr>
          <p:spPr>
            <a:xfrm>
              <a:off x="381000" y="5829300"/>
              <a:ext cx="11430000" cy="400050"/>
            </a:xfrm>
            <a:prstGeom prst="roundRect">
              <a:avLst>
                <a:gd name="adj" fmla="val 28571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085" y="5955506"/>
              <a:ext cx="733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水搬运质量与能量：溶剂与搬运介质 · 相变输送潜热</a:t>
              </a: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Water carries mass &amp; energy; solvent and transport agent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49954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Redrawn from approved sources: W-02, W-06, and Source Matrix rows for Slide 18.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1.16 课堂读图 | Concept Check 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3019" y="299085"/>
              <a:ext cx="1224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CONCEPT CHECK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4858842" cy="357093"/>
            <a:chOff x="381000" y="914400"/>
            <a:chExt cx="4858842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先读图再回答：储库、通量、快慢路径与能量入口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47800"/>
            <a:ext cx="8058150" cy="4781550"/>
            <a:chOff x="381000" y="1447800"/>
            <a:chExt cx="80581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80581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509" y="1562100"/>
              <a:ext cx="7419132" cy="4419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52450" y="5772150"/>
              <a:ext cx="3009900" cy="304800"/>
            </a:xfrm>
            <a:prstGeom prst="roundRect">
              <a:avLst>
                <a:gd name="adj" fmla="val 375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897" y="5866924"/>
              <a:ext cx="1048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Reservoirs 储库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8147" y="5866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04847" y="5866924"/>
              <a:ext cx="744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Fluxes 通量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705850" y="1447800"/>
            <a:ext cx="3105150" cy="1047750"/>
            <a:chOff x="8705850" y="1447800"/>
            <a:chExt cx="3105150" cy="1047750"/>
          </a:xfrm>
        </p:grpSpPr>
        <p:sp>
          <p:nvSpPr>
            <p:cNvPr id="16" name="Rectangle 16"/>
            <p:cNvSpPr/>
            <p:nvPr/>
          </p:nvSpPr>
          <p:spPr>
            <a:xfrm>
              <a:off x="8705850" y="1447800"/>
              <a:ext cx="3105150" cy="1047750"/>
            </a:xfrm>
            <a:prstGeom prst="roundRect">
              <a:avLst>
                <a:gd name="adj" fmla="val 109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877300" y="16192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4108" y="17659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23654" y="1661160"/>
              <a:ext cx="1548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找储库 | Reservoirs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48547" y="2009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在图中至少指出四个储库。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48547" y="2218849"/>
              <a:ext cx="2019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Name at least four reservoirs.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705850" y="2609850"/>
            <a:ext cx="3105150" cy="1047750"/>
            <a:chOff x="8705850" y="2609850"/>
            <a:chExt cx="3105150" cy="1047750"/>
          </a:xfrm>
        </p:grpSpPr>
        <p:sp>
          <p:nvSpPr>
            <p:cNvPr id="23" name="Rectangle 23"/>
            <p:cNvSpPr/>
            <p:nvPr/>
          </p:nvSpPr>
          <p:spPr>
            <a:xfrm>
              <a:off x="8705850" y="2609850"/>
              <a:ext cx="3105150" cy="1047750"/>
            </a:xfrm>
            <a:prstGeom prst="roundRect">
              <a:avLst>
                <a:gd name="adj" fmla="val 109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877300" y="2781300"/>
              <a:ext cx="419100" cy="4191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4108" y="2927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3654" y="2823210"/>
              <a:ext cx="1177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读通量 | Fluxes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48547" y="31713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至少指出四个通量（箭头）。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48547" y="3380899"/>
              <a:ext cx="23763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Name at least four fluxes (arrows).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705850" y="3771900"/>
            <a:ext cx="3105150" cy="1047750"/>
            <a:chOff x="8705850" y="3771900"/>
            <a:chExt cx="3105150" cy="1047750"/>
          </a:xfrm>
        </p:grpSpPr>
        <p:sp>
          <p:nvSpPr>
            <p:cNvPr id="30" name="Rectangle 30"/>
            <p:cNvSpPr/>
            <p:nvPr/>
          </p:nvSpPr>
          <p:spPr>
            <a:xfrm>
              <a:off x="8705850" y="3771900"/>
              <a:ext cx="3105150" cy="1047750"/>
            </a:xfrm>
            <a:prstGeom prst="roundRect">
              <a:avLst>
                <a:gd name="adj" fmla="val 109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77300" y="39433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34108" y="4090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3654" y="3985260"/>
              <a:ext cx="1964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比速度 | Faster &amp; slower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8547" y="43333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指出一条较快与一条较慢路径。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8547" y="4542949"/>
              <a:ext cx="236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faster and one slower pathway.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705850" y="4933950"/>
            <a:ext cx="3105150" cy="1047750"/>
            <a:chOff x="8705850" y="4933950"/>
            <a:chExt cx="3105150" cy="1047750"/>
          </a:xfrm>
        </p:grpSpPr>
        <p:sp>
          <p:nvSpPr>
            <p:cNvPr id="37" name="Rectangle 37"/>
            <p:cNvSpPr/>
            <p:nvPr/>
          </p:nvSpPr>
          <p:spPr>
            <a:xfrm>
              <a:off x="8705850" y="4933950"/>
              <a:ext cx="3105150" cy="1047750"/>
            </a:xfrm>
            <a:prstGeom prst="roundRect">
              <a:avLst>
                <a:gd name="adj" fmla="val 10909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877300" y="5105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34108" y="52520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3654" y="5147310"/>
              <a:ext cx="1557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找能量 | Solar input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48547" y="54954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太阳能从哪里进入循环？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8547" y="5704999"/>
              <a:ext cx="2052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Where does solar energy enter?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376238" y="6532245"/>
            <a:ext cx="659834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EP 5e, Interlude F, The Hydrologic Cycle, pp.580–581 (PDF pp.615–616); UE 8e, Ch.17, pp.1651–1654.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762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1.17 第一部分总结 | Water Moves Matter and Energy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50347" y="299085"/>
              <a:ext cx="1266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PART I SUMMARY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4433443" cy="357093"/>
            <a:chOff x="381000" y="914400"/>
            <a:chExt cx="4433443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水循环搬运物质与能量、塑造地表、连接圈层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47800"/>
            <a:ext cx="5619750" cy="1428750"/>
            <a:chOff x="381000" y="1447800"/>
            <a:chExt cx="5619750" cy="14287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71500" y="1657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8308" y="1804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904" y="1699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水在储库间迁移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047" y="1952149"/>
              <a:ext cx="1993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Water moves among reservoirs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2278856"/>
              <a:ext cx="24295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海洋、大气、冰雪、陆地与地下水之间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以通量持续迁移。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91250" y="1447800"/>
            <a:ext cx="5619750" cy="1428750"/>
            <a:chOff x="6191250" y="1447800"/>
            <a:chExt cx="5619750" cy="1428750"/>
          </a:xfrm>
        </p:grpSpPr>
        <p:sp>
          <p:nvSpPr>
            <p:cNvPr id="16" name="Rectangle 16"/>
            <p:cNvSpPr/>
            <p:nvPr/>
          </p:nvSpPr>
          <p:spPr>
            <a:xfrm>
              <a:off x="6191250" y="144780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381750" y="1657350"/>
              <a:ext cx="419100" cy="4191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804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7154" y="1699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相变输送能量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48297" y="1952149"/>
              <a:ext cx="2092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Phase changes transport energy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6535" y="2278856"/>
              <a:ext cx="143383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蒸发吸热、凝结放热，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水循环同时搬运能量。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2990850"/>
            <a:ext cx="5619750" cy="1428750"/>
            <a:chOff x="381000" y="2990850"/>
            <a:chExt cx="5619750" cy="1428750"/>
          </a:xfrm>
        </p:grpSpPr>
        <p:sp>
          <p:nvSpPr>
            <p:cNvPr id="23" name="Rectangle 23"/>
            <p:cNvSpPr/>
            <p:nvPr/>
          </p:nvSpPr>
          <p:spPr>
            <a:xfrm>
              <a:off x="381000" y="299085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1500" y="32004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8308" y="33470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6904" y="32423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径流与地下水搬运溶质与沉积物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8047" y="3495199"/>
              <a:ext cx="3167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Runoff &amp; groundwater move solutes and sediment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3821906"/>
              <a:ext cx="18605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径流与地下水把溶质和沉积物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从陆地搬向海洋。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2990850"/>
            <a:ext cx="5619750" cy="1428750"/>
            <a:chOff x="6191250" y="2990850"/>
            <a:chExt cx="5619750" cy="1428750"/>
          </a:xfrm>
        </p:grpSpPr>
        <p:sp>
          <p:nvSpPr>
            <p:cNvPr id="30" name="Rectangle 30"/>
            <p:cNvSpPr/>
            <p:nvPr/>
          </p:nvSpPr>
          <p:spPr>
            <a:xfrm>
              <a:off x="6191250" y="299085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381750" y="3200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33470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47154" y="3242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水塑造地表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48297" y="3495199"/>
              <a:ext cx="16832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Water shapes the surface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6535" y="3821906"/>
              <a:ext cx="200279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侵蚀与沉积持续改变地表形态，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水是最主要的塑造者之一。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4533900"/>
            <a:ext cx="5619750" cy="1428750"/>
            <a:chOff x="381000" y="4533900"/>
            <a:chExt cx="5619750" cy="1428750"/>
          </a:xfrm>
        </p:grpSpPr>
        <p:sp>
          <p:nvSpPr>
            <p:cNvPr id="37" name="Rectangle 37"/>
            <p:cNvSpPr/>
            <p:nvPr/>
          </p:nvSpPr>
          <p:spPr>
            <a:xfrm>
              <a:off x="381000" y="453390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71500" y="4743450"/>
              <a:ext cx="419100" cy="4191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8308" y="4890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6904" y="47853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表层与深部路径连接圈层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8047" y="5038249"/>
              <a:ext cx="2923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Surface &amp; deep pathways connect geospheres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285" y="5364956"/>
              <a:ext cx="193878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表层循环与俯冲—火山深部路径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把水送入并送出岩石圈。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191250" y="4533900"/>
            <a:ext cx="5619750" cy="1428750"/>
            <a:chOff x="6191250" y="4533900"/>
            <a:chExt cx="5619750" cy="1428750"/>
          </a:xfrm>
        </p:grpSpPr>
        <p:sp>
          <p:nvSpPr>
            <p:cNvPr id="44" name="Rectangle 44"/>
            <p:cNvSpPr/>
            <p:nvPr/>
          </p:nvSpPr>
          <p:spPr>
            <a:xfrm>
              <a:off x="6191250" y="4533900"/>
              <a:ext cx="5619750" cy="1428750"/>
            </a:xfrm>
            <a:prstGeom prst="roundRect">
              <a:avLst>
                <a:gd name="adj" fmla="val 8000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17168" y="5030629"/>
              <a:ext cx="1567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Break · 10 min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96820" y="54001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第一部分结束 · 下一部分：碳循环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376238" y="6532245"/>
            <a:ext cx="46231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Chs.12 &amp; 17; 地球系统与演变 Ch.3; EP 5e, Interlude F &amp; Ch.23.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843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把两个循环放到同一张图上 | Coupling the Water and Carbon Cycles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90606" y="299085"/>
              <a:ext cx="1326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COUPLING BRIDGE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47739" cy="357093"/>
            <a:chOff x="381000" y="914400"/>
            <a:chExt cx="63477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水是耦合两个循环的介质：风化、生物交换、海洋转移与岩石储存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47800"/>
            <a:ext cx="11430000" cy="609600"/>
            <a:chOff x="381000" y="144780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11430000" cy="6096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80210"/>
              <a:ext cx="1625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大气圈 | Atmosphere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0" y="16764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24938" y="1626870"/>
              <a:ext cx="1087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碳通量 Carbon flux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572500" y="1885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lg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24938" y="1836420"/>
              <a:ext cx="1045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水通量 Water flux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2857500"/>
            <a:ext cx="4476750" cy="1333500"/>
            <a:chOff x="381000" y="2857500"/>
            <a:chExt cx="447675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81000" y="2857500"/>
              <a:ext cx="447675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3504" y="3070860"/>
              <a:ext cx="999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 | Ocean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4647" y="3361849"/>
              <a:ext cx="2121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海气 CO₂ 交换 · 接收溶解/碳酸盐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4647" y="36094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埋藏 / 俯冲把碳送入沉积与岩石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86750" y="2857500"/>
            <a:ext cx="3524250" cy="1333500"/>
            <a:chOff x="8286750" y="2857500"/>
            <a:chExt cx="3524250" cy="1333500"/>
          </a:xfrm>
        </p:grpSpPr>
        <p:sp>
          <p:nvSpPr>
            <p:cNvPr id="21" name="Rectangle 21"/>
            <p:cNvSpPr/>
            <p:nvPr/>
          </p:nvSpPr>
          <p:spPr>
            <a:xfrm>
              <a:off x="8286750" y="28575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9254" y="3070860"/>
              <a:ext cx="830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生命 | Life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0397" y="3361849"/>
              <a:ext cx="1632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光合 / 呼吸 · 蒸腾返回水汽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039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生物泵把碳送入深处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0" y="2857500"/>
            <a:ext cx="1524000" cy="762000"/>
            <a:chOff x="5334000" y="2857500"/>
            <a:chExt cx="1524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334000" y="2857500"/>
              <a:ext cx="1524000" cy="762000"/>
            </a:xfrm>
            <a:prstGeom prst="roundRect">
              <a:avLst>
                <a:gd name="adj" fmla="val 150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8360" y="3032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87987" y="3293745"/>
              <a:ext cx="81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水 + CO₂ 驱动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4762500"/>
            <a:ext cx="11430000" cy="952500"/>
            <a:chOff x="381000" y="4762500"/>
            <a:chExt cx="11430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381000" y="4762500"/>
              <a:ext cx="114300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504" y="4975860"/>
              <a:ext cx="2289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岩石与沉积 | Rock &amp; sediment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4647" y="526684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碳酸盐与有机碳埋藏 · 俯冲 · 火山脱气返回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43000" y="2114550"/>
            <a:ext cx="865823" cy="723900"/>
            <a:chOff x="1143000" y="2114550"/>
            <a:chExt cx="865823" cy="723900"/>
          </a:xfrm>
        </p:grpSpPr>
        <p:sp>
          <p:nvSpPr>
            <p:cNvPr id="34" name="Line 34"/>
            <p:cNvSpPr/>
            <p:nvPr/>
          </p:nvSpPr>
          <p:spPr>
            <a:xfrm flipV="1">
              <a:off x="1143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lgDash"/>
              <a:headEnd type="triangle" w="med" len="lg"/>
              <a:tailEnd type="triangle" w="med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33488" y="2398395"/>
              <a:ext cx="7753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水交换 Water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381250" y="2114550"/>
            <a:ext cx="3073947" cy="723900"/>
            <a:chOff x="2381250" y="2114550"/>
            <a:chExt cx="3073947" cy="723900"/>
          </a:xfrm>
        </p:grpSpPr>
        <p:sp>
          <p:nvSpPr>
            <p:cNvPr id="37" name="Line 37"/>
            <p:cNvSpPr/>
            <p:nvPr/>
          </p:nvSpPr>
          <p:spPr>
            <a:xfrm>
              <a:off x="238125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314325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28988" y="2398395"/>
              <a:ext cx="21262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海气 CO₂ 交换 Air–sea CO₂ exchange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0" y="2114550"/>
            <a:ext cx="1" cy="723900"/>
            <a:chOff x="6096000" y="2114550"/>
            <a:chExt cx="1" cy="723900"/>
          </a:xfrm>
        </p:grpSpPr>
        <p:sp>
          <p:nvSpPr>
            <p:cNvPr id="41" name="Line 41"/>
            <p:cNvSpPr/>
            <p:nvPr/>
          </p:nvSpPr>
          <p:spPr>
            <a:xfrm>
              <a:off x="6096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9334500" y="2114550"/>
            <a:ext cx="1771727" cy="723900"/>
            <a:chOff x="9334500" y="2114550"/>
            <a:chExt cx="1771727" cy="723900"/>
          </a:xfrm>
        </p:grpSpPr>
        <p:sp>
          <p:nvSpPr>
            <p:cNvPr id="43" name="Line 43"/>
            <p:cNvSpPr/>
            <p:nvPr/>
          </p:nvSpPr>
          <p:spPr>
            <a:xfrm>
              <a:off x="93345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  <p:sp>
          <p:nvSpPr>
            <p:cNvPr id="44" name="Line 44"/>
            <p:cNvSpPr/>
            <p:nvPr/>
          </p:nvSpPr>
          <p:spPr>
            <a:xfrm flipV="1">
              <a:off x="10287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472738" y="239839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光合 / 呼吸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430000" y="2114550"/>
            <a:ext cx="347663" cy="723900"/>
            <a:chOff x="11430000" y="2114550"/>
            <a:chExt cx="347663" cy="723900"/>
          </a:xfrm>
        </p:grpSpPr>
        <p:sp>
          <p:nvSpPr>
            <p:cNvPr id="47" name="Line 47"/>
            <p:cNvSpPr/>
            <p:nvPr/>
          </p:nvSpPr>
          <p:spPr>
            <a:xfrm flipV="1">
              <a:off x="11430000" y="2114550"/>
              <a:ext cx="1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lgDash"/>
              <a:headEnd type="triangle" w="med" len="lg"/>
              <a:tailEnd type="triangle" w="med" len="lg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525822" y="23983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蒸腾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876800" y="3095625"/>
            <a:ext cx="438150" cy="1"/>
            <a:chOff x="4876800" y="3095625"/>
            <a:chExt cx="438150" cy="1"/>
          </a:xfrm>
        </p:grpSpPr>
        <p:sp>
          <p:nvSpPr>
            <p:cNvPr id="50" name="Line 50"/>
            <p:cNvSpPr/>
            <p:nvPr/>
          </p:nvSpPr>
          <p:spPr>
            <a:xfrm>
              <a:off x="4876800" y="3095625"/>
              <a:ext cx="4381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lgDash"/>
              <a:tailEnd type="triangle" w="med" len="lg"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4876800" y="3381375"/>
            <a:ext cx="438150" cy="1"/>
            <a:chOff x="4876800" y="3381375"/>
            <a:chExt cx="438150" cy="1"/>
          </a:xfrm>
        </p:grpSpPr>
        <p:sp>
          <p:nvSpPr>
            <p:cNvPr id="52" name="Line 52"/>
            <p:cNvSpPr/>
            <p:nvPr/>
          </p:nvSpPr>
          <p:spPr>
            <a:xfrm flipH="1">
              <a:off x="4876800" y="3381375"/>
              <a:ext cx="4381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4210050"/>
            <a:ext cx="1" cy="533400"/>
            <a:chOff x="2381250" y="4210050"/>
            <a:chExt cx="1" cy="533400"/>
          </a:xfrm>
        </p:grpSpPr>
        <p:sp>
          <p:nvSpPr>
            <p:cNvPr id="54" name="Line 54"/>
            <p:cNvSpPr/>
            <p:nvPr/>
          </p:nvSpPr>
          <p:spPr>
            <a:xfrm>
              <a:off x="2381250" y="4210050"/>
              <a:ext cx="1" cy="5334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620000" y="2114550"/>
            <a:ext cx="1" cy="2628900"/>
            <a:chOff x="7620000" y="2114550"/>
            <a:chExt cx="1" cy="2628900"/>
          </a:xfrm>
        </p:grpSpPr>
        <p:sp>
          <p:nvSpPr>
            <p:cNvPr id="56" name="Line 56"/>
            <p:cNvSpPr/>
            <p:nvPr/>
          </p:nvSpPr>
          <p:spPr>
            <a:xfrm flipV="1">
              <a:off x="7620000" y="2114550"/>
              <a:ext cx="1" cy="26289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med" len="lg"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81000" y="5829300"/>
            <a:ext cx="11430000" cy="400050"/>
            <a:chOff x="381000" y="5829300"/>
            <a:chExt cx="11430000" cy="400050"/>
          </a:xfrm>
        </p:grpSpPr>
        <p:sp>
          <p:nvSpPr>
            <p:cNvPr id="58" name="Rectangle 58"/>
            <p:cNvSpPr/>
            <p:nvPr/>
          </p:nvSpPr>
          <p:spPr>
            <a:xfrm>
              <a:off x="381000" y="5829300"/>
              <a:ext cx="11430000" cy="400050"/>
            </a:xfrm>
            <a:prstGeom prst="roundRect">
              <a:avLst>
                <a:gd name="adj" fmla="val 28571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0847" y="5971699"/>
              <a:ext cx="73241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注记：硅酸盐风化贡献缓慢的负气候倾向；碳酸盐岩回收不是同等净大气 CO₂ 汇。 Volcanic degassing 沿右廊道返回大气。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376238" y="6532245"/>
            <a:ext cx="38800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Redrawn from approved sources: W-02, C-01, C-04, C-05, F-01.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16_W3_QoderCN_Slides18-20_34_v01">
  <a:themeElements>
    <a:clrScheme name="L16_W3_QoderCN_Slides18-20_34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3_QoderCN_Slides18-20_34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3_QoderCN_Slides18-20_34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16_W3_QoderCN_Slides18-20_34_v01">
  <a:themeElements>
    <a:clrScheme name="L16_W3_QoderCN_Slides18-20_34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3_QoderCN_Slides18-20_34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3_QoderCN_Slides18-20_34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2026-09-14T08:50:58Z</dcterms:created>
  <dcterms:modified xsi:type="dcterms:W3CDTF">2026-09-14T08:50:58Z</dcterms:modified>
  <cp:category/>
  <cp:contentStatus/>
</cp:coreProperties>
</file>