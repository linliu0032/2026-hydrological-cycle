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一页我们看到地球水的分布极不均匀，这一页把这种不均匀拆成三级。第一级是全部水，总量约等于一点四乘以十的九次方立方公里，其中海洋占百分之九十五点九六，绝对主导；图上那条深蓝色的长条就是海洋，剩下的浅色小段才是全部非海洋储库。第二级是淡水储库：冰川与极地冰占全部水的百分之二点九七，地下水占百分之一点零五，注意地下水并非全部易利用。第三级是易利用的表层淡水：湖泊与河流只占百分之零点零零九，大气占百分之零点零零一，生物圈只有百分之零点零零零一。三行条使用同一个"占全部水"的线性刻度，所以条长逐级急剧变短本身就是结论；极小的段只保留最小可见宽度，数值一律以标签为准。一句话收束：最大的水库是海洋，但人类最易利用的表层淡水只占极小份额。那么储库大就意味着更新快吗？下一页我们看停留时间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这一页要区分两个经常被混在一起的属性：储量回答"存了多少"，更新速度回答"多久换一遍"，后者的量度就是停留时间，也就是一定量的水或某化学物质在储库中停留的平均时间，这个定义来自 Understanding Earth；而本页的全部数值停留时间来自中文教材表三之一。看这条从快到慢的阶梯：大气只要九天，土壤水一到两个月，河流与季节性冰雪两到六个月；进入年尺度后，浅层地下水要一百到两百年，海洋三千二百年，深层地下水一万年，南极冰盖长达两万年。再把储量放进来对照：海洋储量十三点三八亿立方公里，是表里最大的储库，停留时间却是三千二百年；大气水储量只有一万二千九百立方公里，九天就更新一遍。所以大储库不等于更新快，储量和停留时间必须分开读。这也意味着：快储库以日到月的尺度响应变化，慢储库要以千年到万年的尺度响应，判断系统反应时必须先看它落在阶梯的哪一段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16_W2_QoderCN_Slides07-08_v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16_W2_QoderCN_Slides07-08_v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6629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1.4 最大的水库并不是可用淡水 | Most Water Is Not Accessible Freshwater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7506" y="299085"/>
              <a:ext cx="1599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WATER DISTRIBUTION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071542" cy="357093"/>
            <a:chOff x="381000" y="914400"/>
            <a:chExt cx="5071542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49080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海洋占绝对多数，淡水很小，易利用的表层淡水更小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1000" y="1447800"/>
            <a:ext cx="6724650" cy="4781550"/>
            <a:chOff x="381000" y="1447800"/>
            <a:chExt cx="6724650" cy="478155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6724650" cy="4781550"/>
            </a:xfrm>
            <a:prstGeom prst="roundRect">
              <a:avLst>
                <a:gd name="adj" fmla="val 239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42110"/>
              <a:ext cx="4756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全球水的三级递减 | Three-level hierarchy of Earth's water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03885" y="2012156"/>
              <a:ext cx="6101715" cy="2788444"/>
              <a:chOff x="603885" y="2012156"/>
              <a:chExt cx="6101715" cy="2788444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603885" y="2012156"/>
                <a:ext cx="6101715" cy="616744"/>
                <a:chOff x="603885" y="2012156"/>
                <a:chExt cx="6101715" cy="616744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603885" y="2012156"/>
                  <a:ext cx="232779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全部水 | All water</a:t>
                  </a:r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 xml:space="preserve"> ≈ 1.4×10^9 km³</a:t>
                  </a:r>
                </a:p>
              </p:txBody>
            </p:sp>
            <p:sp>
              <p:nvSpPr>
                <p:cNvPr id="12" name="Rectangle 12"/>
                <p:cNvSpPr/>
                <p:nvPr/>
              </p:nvSpPr>
              <p:spPr>
                <a:xfrm>
                  <a:off x="609600" y="2247900"/>
                  <a:ext cx="5849302" cy="381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3" name="Rectangle 13"/>
                <p:cNvSpPr/>
                <p:nvPr/>
              </p:nvSpPr>
              <p:spPr>
                <a:xfrm>
                  <a:off x="6458902" y="2247900"/>
                  <a:ext cx="246698" cy="3810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4405628" y="2380774"/>
                  <a:ext cx="194297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海洋 95.96% · 1.40×10^9 km³</a:t>
                  </a: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603885" y="3021806"/>
                <a:ext cx="3508254" cy="835533"/>
                <a:chOff x="603885" y="3021806"/>
                <a:chExt cx="3508254" cy="835533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603885" y="3021806"/>
                  <a:ext cx="350825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淡水储库 | Freshwater reservoirs</a:t>
                  </a:r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 xml:space="preserve"> 占全部水的比例</a:t>
                  </a:r>
                </a:p>
              </p:txBody>
            </p:sp>
            <p:sp>
              <p:nvSpPr>
                <p:cNvPr id="17" name="Rectangle 17"/>
                <p:cNvSpPr/>
                <p:nvPr/>
              </p:nvSpPr>
              <p:spPr>
                <a:xfrm>
                  <a:off x="609600" y="3257550"/>
                  <a:ext cx="180975" cy="381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790575" y="3257550"/>
                  <a:ext cx="63818" cy="381000"/>
                </a:xfrm>
                <a:prstGeom prst="rect">
                  <a:avLst/>
                </a:prstGeom>
                <a:solidFill>
                  <a:srgbClr val="3D7BD9"/>
                </a:solidFill>
                <a:ln>
                  <a:noFill/>
                </a:ln>
              </p:spPr>
            </p:sp>
            <p:sp>
              <p:nvSpPr>
                <p:cNvPr id="19" name="Rectangle 19"/>
                <p:cNvSpPr/>
                <p:nvPr/>
              </p:nvSpPr>
              <p:spPr>
                <a:xfrm>
                  <a:off x="854392" y="3257550"/>
                  <a:ext cx="38100" cy="3810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85647" y="3285649"/>
                  <a:ext cx="233842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冰川 / 极地冰 2.97% · 4.34×10^7 km³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985647" y="3476149"/>
                  <a:ext cx="299806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地下水 1.05% · 1.54×10^7 km³ — 并非全部易利用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85647" y="3666649"/>
                  <a:ext cx="227906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湖泊 / 河流 0.009% · 1.27×10^5 km³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603885" y="4183856"/>
                <a:ext cx="4465623" cy="616744"/>
                <a:chOff x="603885" y="4183856"/>
                <a:chExt cx="4465623" cy="616744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603885" y="4183856"/>
                  <a:ext cx="446562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易利用的表层淡水 | Accessible surface freshwater</a:t>
                  </a:r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 xml:space="preserve"> 湖泊与河流</a:t>
                  </a:r>
                </a:p>
              </p:txBody>
            </p:sp>
            <p:sp>
              <p:nvSpPr>
                <p:cNvPr id="25" name="Rectangle 25"/>
                <p:cNvSpPr/>
                <p:nvPr/>
              </p:nvSpPr>
              <p:spPr>
                <a:xfrm>
                  <a:off x="609600" y="4419600"/>
                  <a:ext cx="38100" cy="3810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95147" y="4552474"/>
                  <a:ext cx="348619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湖泊 / 河流 0.009% · 1.27×10^5 km³ — 占全部水极小份额</a:t>
                  </a:r>
                </a:p>
              </p:txBody>
            </p:sp>
          </p:grpSp>
        </p:grpSp>
        <p:sp>
          <p:nvSpPr>
            <p:cNvPr id="29" name="TextBox 29"/>
            <p:cNvSpPr txBox="1"/>
            <p:nvPr/>
          </p:nvSpPr>
          <p:spPr>
            <a:xfrm>
              <a:off x="604838" y="5236845"/>
              <a:ext cx="4821555" cy="385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注：三行条均按同一“占全部水”线性刻度绘制；极小段以最小可见条宽显示，数值以标签为准。</a:t>
              </a:r>
              <a:br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大气 0.001% 与生物圈 0.0001% 为另列的极小储库，未计入淡水行。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34250" y="1447800"/>
            <a:ext cx="4476750" cy="1409700"/>
            <a:chOff x="7334250" y="1447800"/>
            <a:chExt cx="4476750" cy="1409700"/>
          </a:xfrm>
        </p:grpSpPr>
        <p:sp>
          <p:nvSpPr>
            <p:cNvPr id="31" name="Rectangle 31"/>
            <p:cNvSpPr/>
            <p:nvPr/>
          </p:nvSpPr>
          <p:spPr>
            <a:xfrm>
              <a:off x="7334250" y="1447800"/>
              <a:ext cx="4476750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56754" y="1623060"/>
              <a:ext cx="2688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海洋占绝对多数 | Oceans dominate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52182" y="1964055"/>
              <a:ext cx="35091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95.96% · 1.40×10^9 km³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57897" y="2390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最大储库，但并非可直接利用的淡水来源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34250" y="2971800"/>
            <a:ext cx="4476750" cy="1504950"/>
            <a:chOff x="7334250" y="2971800"/>
            <a:chExt cx="4476750" cy="1504950"/>
          </a:xfrm>
        </p:grpSpPr>
        <p:sp>
          <p:nvSpPr>
            <p:cNvPr id="36" name="Rectangle 36"/>
            <p:cNvSpPr/>
            <p:nvPr/>
          </p:nvSpPr>
          <p:spPr>
            <a:xfrm>
              <a:off x="7334250" y="2971800"/>
              <a:ext cx="447675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56754" y="3147060"/>
              <a:ext cx="34599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淡水锁在冰与地下 | Freshwater locked away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7135" y="3479006"/>
              <a:ext cx="267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冰川 / 极地冰 2.97% · 4.34×10^7 km³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7135" y="3745706"/>
              <a:ext cx="219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地下水 1.05% · 1.54×10^7 km³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7897" y="4047649"/>
              <a:ext cx="28859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地下水并非全部易利用；湖泊与河流仅 0.009%。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334250" y="4591050"/>
            <a:ext cx="4476750" cy="1638300"/>
            <a:chOff x="7334250" y="4591050"/>
            <a:chExt cx="4476750" cy="1638300"/>
          </a:xfrm>
        </p:grpSpPr>
        <p:sp>
          <p:nvSpPr>
            <p:cNvPr id="42" name="Rectangle 42"/>
            <p:cNvSpPr/>
            <p:nvPr/>
          </p:nvSpPr>
          <p:spPr>
            <a:xfrm>
              <a:off x="7334250" y="4591050"/>
              <a:ext cx="4476750" cy="1638300"/>
            </a:xfrm>
            <a:prstGeom prst="roundRect">
              <a:avLst>
                <a:gd name="adj" fmla="val 6977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56754" y="47663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易利用的表层淡水极少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57135" y="5098256"/>
              <a:ext cx="2604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湖泊 / 河流 0.009% · 1.27×10^5 km³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57135" y="536495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 0.001% · 生物圈 0.0001%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562850" y="5676900"/>
              <a:ext cx="4019550" cy="381000"/>
            </a:xfrm>
            <a:prstGeom prst="roundRect">
              <a:avLst>
                <a:gd name="adj" fmla="val 25000"/>
              </a:avLst>
            </a:prstGeom>
            <a:solidFill>
              <a:srgbClr val="DCEA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35721" y="57950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人类最易利用的水只占极小份额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376238" y="6532245"/>
            <a:ext cx="317268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Ch.17, Fig. 17.1, PDF pp.1647–1649.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688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1.5 储量 ≠ 更新速度 | Storage ≠ Turnover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84485" y="299085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RESIDENCE TIME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284241" cy="357093"/>
            <a:chOff x="381000" y="914400"/>
            <a:chExt cx="52842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1207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储量与更新速度是两个不同属性：大储库不一定更新快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81000" y="1447800"/>
            <a:ext cx="6724650" cy="4781550"/>
            <a:chOff x="381000" y="1447800"/>
            <a:chExt cx="6724650" cy="478155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6724650" cy="4781550"/>
            </a:xfrm>
            <a:prstGeom prst="roundRect">
              <a:avLst>
                <a:gd name="adj" fmla="val 239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42110"/>
              <a:ext cx="4698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七个水储库的停留时间 | Residence time of seven reservoirs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203835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noFill/>
            <a:ln w="9525">
              <a:solidFill>
                <a:srgbClr val="B8C7D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03920" y="2047399"/>
              <a:ext cx="1144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快 Fast turnover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28675" y="1962150"/>
              <a:ext cx="6048375" cy="383857"/>
              <a:chOff x="828675" y="1962150"/>
              <a:chExt cx="6048375" cy="383857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828675" y="2028825"/>
                <a:ext cx="171450" cy="171450"/>
              </a:xfrm>
              <a:prstGeom prst="ellipse">
                <a:avLst/>
              </a:prstGeom>
              <a:solidFill>
                <a:srgbClr val="3D7BD9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75385" y="1974056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大气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76338" y="2169795"/>
                <a:ext cx="70403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Atmosphere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5334000" y="19621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rgbClr val="F0F5F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975736" y="2056924"/>
                <a:ext cx="2595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 日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28675" y="2571750"/>
              <a:ext cx="6048375" cy="383857"/>
              <a:chOff x="828675" y="2571750"/>
              <a:chExt cx="6048375" cy="383857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828675" y="2638425"/>
                <a:ext cx="171450" cy="171450"/>
              </a:xfrm>
              <a:prstGeom prst="ellipse">
                <a:avLst/>
              </a:prstGeom>
              <a:solidFill>
                <a:srgbClr val="3D7BD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75385" y="2583656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土壤水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76338" y="2779395"/>
                <a:ext cx="61302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Soil water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334000" y="25717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rgbClr val="F0F5F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899547" y="2666524"/>
                <a:ext cx="41195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1–2 月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8675" y="3181350"/>
              <a:ext cx="6048375" cy="383857"/>
              <a:chOff x="828675" y="3181350"/>
              <a:chExt cx="6048375" cy="383857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828675" y="3248025"/>
                <a:ext cx="171450" cy="171450"/>
              </a:xfrm>
              <a:prstGeom prst="ellipse">
                <a:avLst/>
              </a:prstGeom>
              <a:solidFill>
                <a:srgbClr val="3D7BD9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75385" y="31932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河流与季节性冰雪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6338" y="3388995"/>
                <a:ext cx="158882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Rivers &amp; seasonal snow/ice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334000" y="31813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rgbClr val="F0F5FC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899547" y="3276124"/>
                <a:ext cx="41195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2–6 月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28675" y="3790950"/>
              <a:ext cx="6048375" cy="383857"/>
              <a:chOff x="828675" y="3790950"/>
              <a:chExt cx="6048375" cy="383857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828675" y="38576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175385" y="38028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浅层地下水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76338" y="3998595"/>
                <a:ext cx="12370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Shallow groundwater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334000" y="37909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747171" y="3885724"/>
                <a:ext cx="7167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100–200 年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28675" y="4400550"/>
              <a:ext cx="6048375" cy="383857"/>
              <a:chOff x="828675" y="4400550"/>
              <a:chExt cx="6048375" cy="383857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828675" y="44672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175385" y="4412456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海洋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76338" y="4608195"/>
                <a:ext cx="3709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Ocean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334000" y="44005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823359" y="4495324"/>
                <a:ext cx="5643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3,200 年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28675" y="5010150"/>
              <a:ext cx="6048375" cy="383857"/>
              <a:chOff x="828675" y="5010150"/>
              <a:chExt cx="6048375" cy="383857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828675" y="50768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175385" y="50220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深层地下水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176338" y="5217795"/>
                <a:ext cx="10736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Deep groundwater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5334000" y="50101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785265" y="5104924"/>
                <a:ext cx="64052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10,000 年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28675" y="5619750"/>
              <a:ext cx="6048375" cy="383857"/>
              <a:chOff x="828675" y="5619750"/>
              <a:chExt cx="6048375" cy="383857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28675" y="56864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175385" y="56316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南极冰盖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176338" y="5827395"/>
                <a:ext cx="115828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Antarctic ice sheet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5334000" y="56197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785265" y="5714524"/>
                <a:ext cx="64052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20,000 年</a:t>
                </a:r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4010879" y="6028849"/>
              <a:ext cx="1137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慢 Slow turnover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334250" y="1447800"/>
            <a:ext cx="4476750" cy="1524000"/>
            <a:chOff x="7334250" y="1447800"/>
            <a:chExt cx="4476750" cy="1524000"/>
          </a:xfrm>
        </p:grpSpPr>
        <p:sp>
          <p:nvSpPr>
            <p:cNvPr id="57" name="Rectangle 57"/>
            <p:cNvSpPr/>
            <p:nvPr/>
          </p:nvSpPr>
          <p:spPr>
            <a:xfrm>
              <a:off x="7334250" y="1447800"/>
              <a:ext cx="4476750" cy="1524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56754" y="1623060"/>
              <a:ext cx="2041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停留时间 | Residence Time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57135" y="1955006"/>
              <a:ext cx="157607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一定量的水或某化学物质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在储库中停留的平均时间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57897" y="2542699"/>
              <a:ext cx="33625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定义：UE 8e, Ch.17, p.1650; Ch.12, pp.1205–1206.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334250" y="3086100"/>
            <a:ext cx="4476750" cy="1638300"/>
            <a:chOff x="7334250" y="3086100"/>
            <a:chExt cx="4476750" cy="1638300"/>
          </a:xfrm>
        </p:grpSpPr>
        <p:sp>
          <p:nvSpPr>
            <p:cNvPr id="62" name="Rectangle 62"/>
            <p:cNvSpPr/>
            <p:nvPr/>
          </p:nvSpPr>
          <p:spPr>
            <a:xfrm>
              <a:off x="7334250" y="3086100"/>
              <a:ext cx="4476750" cy="1638300"/>
            </a:xfrm>
            <a:prstGeom prst="roundRect">
              <a:avLst>
                <a:gd name="adj" fmla="val 697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56754" y="3261360"/>
              <a:ext cx="2934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储量 ≠ 更新速度 | Storage ≠ turnover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57135" y="35933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海洋：储量 13.38 亿 km³ · 停留 3,200 年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57135" y="3860006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大气：储量 12,900 km³ · 停留 9 日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562850" y="4152900"/>
              <a:ext cx="4019550" cy="381000"/>
            </a:xfrm>
            <a:prstGeom prst="roundRect">
              <a:avLst>
                <a:gd name="adj" fmla="val 25000"/>
              </a:avLst>
            </a:prstGeom>
            <a:solidFill>
              <a:srgbClr val="DCEAF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984365" y="427101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大储库 ≠ 更新快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334250" y="4838700"/>
            <a:ext cx="4476750" cy="1390650"/>
            <a:chOff x="7334250" y="4838700"/>
            <a:chExt cx="4476750" cy="1390650"/>
          </a:xfrm>
        </p:grpSpPr>
        <p:sp>
          <p:nvSpPr>
            <p:cNvPr id="69" name="Rectangle 69"/>
            <p:cNvSpPr/>
            <p:nvPr/>
          </p:nvSpPr>
          <p:spPr>
            <a:xfrm>
              <a:off x="7334250" y="4838700"/>
              <a:ext cx="4476750" cy="1390650"/>
            </a:xfrm>
            <a:prstGeom prst="roundRect">
              <a:avLst>
                <a:gd name="adj" fmla="val 8219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56754" y="5013960"/>
              <a:ext cx="3319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不同的时钟，不同的响应 | Different clocks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57135" y="534590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快储库以日—月尺度更新；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57135" y="5612606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慢储库以千年—万年尺度响应。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57897" y="58954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停留时间控制储库响应快慢。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376238" y="6532245"/>
            <a:ext cx="74157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地球系统与演变, Table 3-1, p.94 (PDF p.9); residence-time definition: UE 8e, Ch.17, p.1650; Ch.12, pp.1205–1206.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16_W2_QoderCN_Slides07-08_v01">
  <a:themeElements>
    <a:clrScheme name="L16_W2_QoderCN_Slides07-08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W2_QoderCN_Slides07-08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W2_QoderCN_Slides07-08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16_W2_QoderCN_Slides07-08_v01">
  <a:themeElements>
    <a:clrScheme name="L16_W2_QoderCN_Slides07-08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W2_QoderCN_Slides07-08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W2_QoderCN_Slides07-08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2026-09-11T09:24:56Z</dcterms:created>
  <dcterms:modified xsi:type="dcterms:W3CDTF">2026-09-11T09:24:56Z</dcterms:modified>
  <cp:category/>
  <cp:contentStatus/>
</cp:coreProperties>
</file>