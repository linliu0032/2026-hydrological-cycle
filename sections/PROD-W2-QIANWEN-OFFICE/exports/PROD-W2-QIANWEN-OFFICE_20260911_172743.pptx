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冰冻圈讲成一座"会移动的水库"。请学生先看左边这张原生剖面图：最上面一条浅蓝带是大气圈，注意术语是"大气圈"而不是别的写法；下面左侧灰色基岩上覆白色圆顶，是陆地冰，也就是冰盖和冰川；海岸处那块贴着陆缘、浮在海面上的白色楔形体是冰架；海面上几片白色薄块是海冰，它完全漂浮。四组箭头是这一页的重点：向下的蓝箭头是积累，雪落到冰面上把水存进陆地冰；向上的浅蓝箭头是蒸发与升华，把水送回大气圈；横向的浅蓝箭头是消融，冰融化后把水交给海洋；海冰那里的双向箭头是季节变化，表示海冰每年生长与融化、在水圈与大气圈之间来回交换。右边第一张卡片是海平面效应，三行要逐行读：大陆冰积累和扩张会把水从海洋搬走，海平面下降；大陆冰融化把水还回海洋，海平面上升；而海冰本来就浮在海面上，它融化不直接抬升海平面，这和大陆冰融化不是一回事，英文行 Floating sea-ice melt 不等于 continental-ice melt 就是在钉这个区别。右边第二张卡片只给一套数据，即中文教材表 3-2 的海平面当量：南极冰盖 58.3 米、格陵兰冰盖 7.36 米、冰川 0.41 米，单位是米，表示这些冰若全部融化可抬升的海平面量级；这里刻意不引入理解地球图 17.1 的绝对体积，两套数据不混用。最下面一条提示把交换和气候连起来：冰面反照率高、储水又影响海平面，所以冰冻圈交换同时连接气候。来源是地球系统与演变第三章 3.2.1.3 节与表 3-2、理解地球第八版第十二章 1159 到 1162 页、以及地球画像第五版 881 页关于海洋与大陆冰重新分配的论述。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这一页的任务是纠正一个常见印象：水循环不只发生在表层。左边整幅保留中文教材图 3-13（编号 W-06），没有裁切、没有拉伸，作为证据图。请学生按右边第一张卡片的五步顺序读图：第一步是表层与海洋水；第二步是含水洋壳与沉积物，海水随板块物质一起进入岩石；第三步是俯冲，把含水的洋壳和沉积物带入地球内部；第四步是地幔深部储存；第五步是熔融与火山作用把水送回表层与大气圈，循环闭合。这个方向不能讲反：俯冲是向内的输入，火山与熔融是向外的返回。右边第二张卡片解释图例：深蓝色是俯冲板块，浅蓝箭头表示水向地幔方向输运，黄色箭头表示水向表层方向输运，410、660、2900、5150 千米是原图标注的深度边界，含义都取自原图，不要自行改写。这一页不要求背数字：深部通量属于选讲内容，不是记忆目标，所以页面上没有放通量数值，也不引入热液井、地下水资源管理或推测性的地幔总水量。来源是地球系统与演变图 3-13、印刷页 106（PDF 第 21 页），即 W-06；HB 第九章已批准的挥发分循环文字只作支持性背景，没有画到页面上。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QIANWEN-OFF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QIANWEN-OFFI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fdd7d9358532a3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567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1.13 冰冻圈：会移动的水库 | Cryosphere as a Water Reservoir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冰冻圈是一座会移动的水库：积累与消融同时改变储水、海平面与气候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81000" y="1466850"/>
            <a:ext cx="6667500" cy="4572000"/>
            <a:chOff x="381000" y="1466850"/>
            <a:chExt cx="6667500" cy="4572000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6667500" cy="4572000"/>
            </a:xfrm>
            <a:prstGeom prst="roundRect">
              <a:avLst>
                <a:gd name="adj" fmla="val 2500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38300"/>
              <a:ext cx="6286500" cy="495300"/>
            </a:xfrm>
            <a:prstGeom prst="roundRect">
              <a:avLst>
                <a:gd name="adj" fmla="val 15385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185" y="1821656"/>
              <a:ext cx="1421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大气圈 Atmosphere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41793" y="1837849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降水 · 蒸发 · 升华交换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857500"/>
              <a:ext cx="2857500" cy="2495550"/>
            </a:xfrm>
            <a:prstGeom prst="rect">
              <a:avLst/>
            </a:prstGeom>
            <a:solidFill>
              <a:srgbClr val="D6DCE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463800"/>
              <a:ext cx="2857500" cy="393700"/>
            </a:xfrm>
            <a:custGeom>
              <a:avLst/>
              <a:gdLst/>
              <a:ahLst/>
              <a:cxnLst/>
              <a:rect l="l" t="t" r="r" b="b"/>
              <a:pathLst>
                <a:path w="2857500" h="393700">
                  <a:moveTo>
                    <a:pt x="0" y="393700"/>
                  </a:moveTo>
                  <a:cubicBezTo>
                    <a:pt x="952500" y="0"/>
                    <a:pt x="1905000" y="0"/>
                    <a:pt x="2857500" y="39370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4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3689" y="2618899"/>
              <a:ext cx="1993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冰盖 / 冰川 Ice sheet / Glacier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2857500"/>
              <a:ext cx="3429000" cy="2495550"/>
            </a:xfrm>
            <a:prstGeom prst="rect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25133" y="5022056"/>
              <a:ext cx="836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海洋 Ocean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238500" y="2857500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0" y="0"/>
                  </a:moveTo>
                  <a:lnTo>
                    <a:pt x="914400" y="0"/>
                  </a:lnTo>
                  <a:lnTo>
                    <a:pt x="704850" y="209550"/>
                  </a:lnTo>
                  <a:lnTo>
                    <a:pt x="114300" y="19050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E4FA8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000500" y="2705100"/>
              <a:ext cx="438150" cy="190500"/>
            </a:xfrm>
            <a:custGeom>
              <a:avLst/>
              <a:gdLst/>
              <a:ahLst/>
              <a:cxnLst/>
              <a:rect l="l" t="t" r="r" b="b"/>
              <a:pathLst>
                <a:path w="438150" h="190500">
                  <a:moveTo>
                    <a:pt x="43815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4A55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1797" y="2637949"/>
              <a:ext cx="903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冰架 Ice shelf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762500" y="2781300"/>
              <a:ext cx="571500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524500" y="2781300"/>
              <a:ext cx="476250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2781300"/>
              <a:ext cx="523875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02684" y="2637949"/>
              <a:ext cx="7866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海冰 Sea ice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333500" y="2171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1266825" y="23431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2381250" y="22098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D7BD9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2314575" y="21336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505200" y="29527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3D7BD9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4019550" y="2895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5715000" y="24955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5648325" y="24193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5648325" y="27051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71500" y="54864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547" y="5647849"/>
              <a:ext cx="1262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↓ 积累 Accumulation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76297" y="5647849"/>
              <a:ext cx="1614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↑ 蒸发 / 升华 Evaporation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86047" y="5647849"/>
              <a:ext cx="9009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→ 消融 Melting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19547" y="5647849"/>
              <a:ext cx="1245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↕ 季节变化 Seasonal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39000" y="1466850"/>
            <a:ext cx="4572000" cy="2343150"/>
            <a:chOff x="7239000" y="1466850"/>
            <a:chExt cx="4572000" cy="2343150"/>
          </a:xfrm>
        </p:grpSpPr>
        <p:sp>
          <p:nvSpPr>
            <p:cNvPr id="40" name="Rectangle 40"/>
            <p:cNvSpPr/>
            <p:nvPr/>
          </p:nvSpPr>
          <p:spPr>
            <a:xfrm>
              <a:off x="7239000" y="1466850"/>
              <a:ext cx="4572000" cy="2343150"/>
            </a:xfrm>
            <a:prstGeom prst="roundRect">
              <a:avLst>
                <a:gd name="adj" fmla="val 4878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23404" y="1642110"/>
              <a:ext cx="2347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海平面效应 | Sea-level effect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23785" y="19740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大陆冰积累、扩张 → 海平面下降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23785" y="22979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大陆冰融化 → 海平面上升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23785" y="26217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海冰漂浮于海面，融化不直接抬升海平面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24547" y="2942749"/>
              <a:ext cx="2830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Floating sea-ice melt ≠ continental-ice melt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24547" y="3209449"/>
              <a:ext cx="3358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Sea-level change tracks continental ice, not sea ice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239000" y="3952875"/>
            <a:ext cx="4572000" cy="1428750"/>
            <a:chOff x="7239000" y="3952875"/>
            <a:chExt cx="45720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7239000" y="3952875"/>
              <a:ext cx="4572000" cy="1428750"/>
            </a:xfrm>
            <a:prstGeom prst="roundRect">
              <a:avLst>
                <a:gd name="adj" fmla="val 8000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3404" y="4128135"/>
              <a:ext cx="2634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海平面当量 | Sea-level equivalent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3785" y="4441031"/>
              <a:ext cx="2735326" cy="79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南极冰盖 Antarctic ice sheet · 58.3 m</a:t>
              </a:r>
              <a:br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格陵兰冰盖 Greenland ice sheet · 7.36 m</a:t>
              </a:r>
              <a:br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冰川 Glaciers · 0.41 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239000" y="5524500"/>
            <a:ext cx="4572000" cy="514350"/>
            <a:chOff x="7239000" y="5524500"/>
            <a:chExt cx="4572000" cy="514350"/>
          </a:xfrm>
        </p:grpSpPr>
        <p:sp>
          <p:nvSpPr>
            <p:cNvPr id="52" name="Rectangle 52"/>
            <p:cNvSpPr/>
            <p:nvPr/>
          </p:nvSpPr>
          <p:spPr>
            <a:xfrm>
              <a:off x="7239000" y="5524500"/>
              <a:ext cx="4572000" cy="514350"/>
            </a:xfrm>
            <a:prstGeom prst="roundRect">
              <a:avLst>
                <a:gd name="adj" fmla="val 22222"/>
              </a:avLst>
            </a:prstGeom>
            <a:solidFill>
              <a:srgbClr val="E8EFF8"/>
            </a:solidFill>
            <a:ln w="9525">
              <a:solidFill>
                <a:srgbClr val="D6DCE5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24547" y="5724049"/>
              <a:ext cx="380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交换同时改变反照率与海平面 → 连接气候 Connects to climate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376238" y="6532245"/>
            <a:ext cx="80757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Source: 地球系统与演变, Ch.3 §3.2.1.3 &amp; Table 3-2, PDF pp.15–19 (print pp.100–104); UE 8e, Ch.12, PDF pp.1159–1162; EP 5e, p.881.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87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1.14 水也进入岩石和地球内部 | Deep Water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836637" cy="357093"/>
            <a:chOff x="381000" y="914400"/>
            <a:chExt cx="78366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水循环不只在表层：俯冲把水带入地球内部，熔融与火山再把它送回表层与大气圈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1466850"/>
            <a:ext cx="6667500" cy="4581239"/>
            <a:chOff x="381000" y="1466850"/>
            <a:chExt cx="6667500" cy="4581239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6667500" cy="4572000"/>
            </a:xfrm>
            <a:prstGeom prst="roundRect">
              <a:avLst>
                <a:gd name="adj" fmla="val 2500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0" y="1619250"/>
              <a:ext cx="6105525" cy="4191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953417" y="5857399"/>
              <a:ext cx="3522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图 3-13 地球内部的水循环（W-06，整幅保留，未裁切）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0" y="1466850"/>
            <a:ext cx="4572000" cy="2724150"/>
            <a:chOff x="7239000" y="1466850"/>
            <a:chExt cx="4572000" cy="2724150"/>
          </a:xfrm>
        </p:grpSpPr>
        <p:sp>
          <p:nvSpPr>
            <p:cNvPr id="13" name="Rectangle 13"/>
            <p:cNvSpPr/>
            <p:nvPr/>
          </p:nvSpPr>
          <p:spPr>
            <a:xfrm>
              <a:off x="7239000" y="1466850"/>
              <a:ext cx="4572000" cy="2724150"/>
            </a:xfrm>
            <a:prstGeom prst="roundRect">
              <a:avLst>
                <a:gd name="adj" fmla="val 4196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3404" y="1642110"/>
              <a:ext cx="2498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读图顺序 | Reading the pathway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48550" y="1962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9803" y="2018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66685" y="2002631"/>
              <a:ext cx="2628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表层与海洋水 Surface &amp; ocean water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48550" y="2343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19803" y="2399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66685" y="2383631"/>
              <a:ext cx="3224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含水洋壳与沉积物 Hydrated crust &amp; sediment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48550" y="2724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19803" y="2780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6685" y="2764631"/>
              <a:ext cx="30113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俯冲带入地幔 Subduction carries water in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48550" y="3105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9803" y="3161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6685" y="3145631"/>
              <a:ext cx="2462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地幔深部储存 Deep mantle storage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448550" y="3486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19803" y="3542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6685" y="3526631"/>
              <a:ext cx="3072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熔融与火山返回 Melting &amp; volcanism return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4547" y="3876199"/>
              <a:ext cx="2732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返回表层与大气圈，循环闭合 Closes the loop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39000" y="4333875"/>
            <a:ext cx="4572000" cy="1704975"/>
            <a:chOff x="7239000" y="4333875"/>
            <a:chExt cx="4572000" cy="1704975"/>
          </a:xfrm>
        </p:grpSpPr>
        <p:sp>
          <p:nvSpPr>
            <p:cNvPr id="32" name="Rectangle 32"/>
            <p:cNvSpPr/>
            <p:nvPr/>
          </p:nvSpPr>
          <p:spPr>
            <a:xfrm>
              <a:off x="7239000" y="4333875"/>
              <a:ext cx="4572000" cy="1704975"/>
            </a:xfrm>
            <a:prstGeom prst="roundRect">
              <a:avLst>
                <a:gd name="adj" fmla="val 6704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3404" y="4509135"/>
              <a:ext cx="266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箭头与边界 | Arrows &amp; boundaries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4547" y="4819174"/>
              <a:ext cx="3028061" cy="933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深蓝色 = 俯冲板块 Subducting slab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浅蓝箭头 = 水向地幔 Water toward mantle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黄色箭头 = 水向表层 Water toward surface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深度边界 Depth bounds: 410 / 660 / 2900 / 5150 km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4738" y="5808345"/>
              <a:ext cx="2965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边界与箭头含义取自原图标注 As printed in Fig. 3-13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81105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Source: 地球系统与演变, Fig. 3-13, p.106 (PDF p.21) = W-06; supporting context: HB Ch.9 approved volatile-cycling text (not plotted).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QIANWEN-OFFICE">
  <a:themeElements>
    <a:clrScheme name="PROD-W2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2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QIANWEN-OFFICE">
  <a:themeElements>
    <a:clrScheme name="PROD-W2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2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2026-09-11T09:27:43Z</dcterms:created>
  <dcterms:modified xsi:type="dcterms:W3CDTF">2026-09-11T09:27:43Z</dcterms:modified>
  <cp:category/>
  <cp:contentStatus/>
</cp:coreProperties>
</file>