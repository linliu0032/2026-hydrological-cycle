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沿着一条路径从海洋的溶解碳一直读到岩石。左边第一段是海水中的溶解无机碳，也就是以碳酸氢根和碳酸根形式存在的碳。第二段是生物成壳：海洋生物把溶解碳拿来建造钙质壳体与骨骼。第三段是碳酸盐颗粒：壳体破碎以后变成碳酸钙颗粒，向海底沉降。第四段是沉积与埋藏：颗粒在海底堆积，被后来的沉积物覆盖，埋进地下。第五段是碳酸盐岩：经过压实与胶结，碳以碳酸盐岩的形式回到岩石圈。五个方框之间的箭头方向都是向前的，这条路径本身是连续的，中间没有跳步。这里要提醒一句：按照图 4-9，海洋把碳送入深处一共有三条不同的路径，生物泵走有机碳，物理泵走随环流下沉的溶解碳，碳酸盐路径走钙质颗粒；本页只沿碳酸盐这一条走，另外两条不在这页展开。最后看下面这条可选反应式：钙离子加上两个碳酸氢根离子，生成碳酸钙、水和二氧化碳。教材给出这个式子，是为了说明碳酸盐泵在形成碳酸盐的时候可能把二氧化碳放出来，所以碳酸盐路径不能简单当成一个单向吸碳的过程，它必须和埋藏放在一起看，才谈得上是不是净的大气碳汇。本页不做碳酸盐平衡的定量计算，只看方向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水循环正式接进碳循环。先看上面这条因果链：大气中的二氧化碳先溶解在雨水里，形成很弱的碳酸；这种含二氧化碳的水去侵蚀岩石，发生化学风化；风化把岩石里的成分变成溶解产物；溶解产物被河流带走，最后进入海洋并储存在沉积物里。这条链的起点是降水，所以水循环一进入，碳循环就多了一条通路。真正要讲清楚的是下面两张卡片的区别。左边是硅酸盐风化：二氧化碳溶进水以后，与硅酸盐矿物反应，把大气中的碳转入岩石圈的碳酸盐，并在很长的时间尺度上把它留在那里，因此这一支是净的大气碳去向，教材给出的特征简式是硅酸钙加二氧化碳生成碳酸钙加二氧化硅。右边是碳酸盐风化：碳酸盐岩先被溶解，溶解出来的碳随河流进入海洋，随后又在海洋里重新形成碳酸盐沉积下来；溶解与重新沉淀两件事相抵，所以这一支不带来净的大气碳变化，它属于循环，而不是净汇。课堂上一定要把这两支分开讲，不能笼统地说“风化吸收二氧化碳”。本页不使用任何数值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把慢地质路径按方向完整走一遍，顺序不能颠倒。第一段是风化与河流输送：降水溶入二氧化碳以后侵蚀岩石，风化产物由河流带走。第二段是沉积与埋藏：碳酸盐与有机碳在海底沉积下来，随后被埋入地下，从表层系统里退出。第三段是俯冲与变质：板块俯冲把已经埋藏的碳带入地球深部，经过变质作用在那里长期储存。第四段是火山脱气：火山活动把深部的碳重新送回大气，于是这条慢循环完成一个回合。上面和下面的箭头标出了这条路径的进出口：二氧化碳从大气进入风化，最后又从火山回到大气。中间这条深部储存带写着沉积物、沉积岩与地幔，要让学生注意到，碳在这里停留的时间远远长于在表层储库里的时间。这一页是依据教材图 4-16 做的忠实双语原生简化，保留了原图的路径和方向，没有放置那张很密的原始栅格图，也没有把图 4-17 的数值拿来和它合成一个新预算。本页也不展开早期大气的历史。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要回答一个问题：碳在储库之间跑得有多快。上面那条窄条先把三个词分开，储库表示某个地方存了多少碳，通量表示每年转移多少，停留时间表示一份碳平均在里面停留多久；这三个是不同的问题，不能混着用。中间这一大块是主面板，来源是教材图 4-15，横轴是对数轴，每一格代表十倍。四条色带分别是四类路径的时钟：大气、生物圈与表层海之间最快，大约是十的一次方到十的二次方年；深层海慢一档，大约是十的二次方到十的二次方以上的千年级；沉积物更慢，大约是十的三次方到十的五次方年；地质储库最慢，超过十的五次方年。要强调一句：储库最大不等于响应最快，地质储库最大，但它的时钟最慢。下面那块浅色区域是另一个独立面板，来源是教材图 4-16，它给的是更宽的区间，表层库、沉积物库、变质库与地幔库各自的跨度都比主面板更宽、更粗。这两个面板来自两张不同的教材图，区间和口径都不一样，所以它们各自保留原图的区间与单位，不合并、不插值，也不跨图换算精度。本页是本任务里唯一允许出现数值的页面，原因就是这一页的来源行明确写出了图 4-15 与图 4-16。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这一页是一次课堂检查，不是新知识。左边是已批准使用的教材图 12.19，图上把大气、陆地、海洋和地质储库四个区域分了区，方框代表储库，箭头代表通量，箭头旁边写着通量的大小。右边上面是任务提示：请学生在图上任选一条通路，然后说清楚四件事——起点储库和终点储库是什么，中间的过程或者通量是什么，这条通路相对是快还是慢，以及它属于生物、海洋还是地质路径。下面这张读图提示告诉学生怎么下手：先找方框再读箭头，方向由箭头给出。要特别提醒的是，不要要求背下图上的全部数字；图上的一百二十和八十吉吨碳每年是总交换量，不是净碳汇，这一点在讲第二十三页时已经强调过。答案不唯一，下面给出三条都可以接受的通路作为参考。第一条是光合作用：从大气到陆地植物，过程是光合作用，属于生物路径，速度快。第二条是海气交换：大气和海洋之间双向交换二氧化碳，属于海洋路径，速度也快；要注意它是双向的，图上那支箭头标的是总交换量。第三条是碳酸盐沉积：海洋中的碳酸钙沉到沉积物里，属于地质路径，速度慢。也可以接受另外一些通路，例如风化把大气中的二氧化碳带进陆地，或者火山活动把地质储库里的碳送回大气。判断标准是学生能不能把四件事都说全，而不是选了哪一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收束碳循环第二部分，用四句话把前面几页串起来，不新增内容。第一句，碳存在哪里：大气、生命与土壤、海洋、沉积物与岩石，共同构成碳的储库体系。第二句，快速通路：光合作用、呼吸作用与海气交换，把碳在大气与表层之间快速搬运，这是前面快速碳循环那一组的内容。第三句，与岩石相连：碳酸盐形成、埋藏、俯冲与脱气，把表层的碳一路接到岩石圈，这是慢地质路径那一组的内容。第四句，不同的时钟：每条路径的速度不同，这决定了每个储库受到扰动之后多快做出响应；最大的储库并不等于最快的响应。四句话覆盖了本部分的四个要点，另外只作回顾，不再引入新的图件，也不再引入新的数字。从这里开始，第三部分要把水和碳放回同一个气候系统里看，进入耦合与反馈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ROD-W3-WORKBUDD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ROD-W3-WORKBUDD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1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e66e7026df0aa33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71801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2.8 碳酸盐：海洋、生命与岩石的连接 | Carbonates: Ocean–Life–Rock Connection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985838" cy="357093"/>
            <a:chOff x="381000" y="914400"/>
            <a:chExt cx="6985838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溶解碳经生物、碳酸盐、沉积物到岩石，是一条连续路径，而非单向吸碳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81000" y="1428750"/>
            <a:ext cx="11430000" cy="3333750"/>
            <a:chOff x="381000" y="1428750"/>
            <a:chExt cx="11430000" cy="333375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3333750"/>
            </a:xfrm>
            <a:prstGeom prst="roundRect">
              <a:avLst>
                <a:gd name="adj" fmla="val 34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23060"/>
              <a:ext cx="24139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五段路径 | The carbonate path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04850" y="2038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355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904" y="2137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海水溶解碳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2599849"/>
              <a:ext cx="100558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溶解无机碳 DIC：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HCO₃⁻ 与 CO₃²⁻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溶于海水中的碳。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59080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74320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87655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971800" y="2038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9050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0385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生物成壳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23997" y="2599849"/>
              <a:ext cx="88112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生物利用溶解碳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建造钙质壳体与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骨骼。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85775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501015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14350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238750" y="2038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5745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70804" y="2137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碳酸盐颗粒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90947" y="2599849"/>
              <a:ext cx="912241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壳体破碎后成为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CaCO₃ 颗粒，向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海底沉降。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12470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C2410C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727710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7505700" y="2038350"/>
              <a:ext cx="342900" cy="3429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440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37754" y="2137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沉积与埋藏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57897" y="2599849"/>
              <a:ext cx="100558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颗粒在海底堆积，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被后续沉积物覆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盖并埋入地下。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9391650" y="276225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C2410C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9544050" y="269557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677400" y="1905000"/>
              <a:ext cx="1905000" cy="1714500"/>
            </a:xfrm>
            <a:prstGeom prst="roundRect">
              <a:avLst>
                <a:gd name="adj" fmla="val 5556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9772650" y="2038350"/>
              <a:ext cx="342900" cy="342900"/>
            </a:xfrm>
            <a:prstGeom prst="ellipse">
              <a:avLst/>
            </a:prstGeom>
            <a:solidFill>
              <a:srgbClr val="7A4A3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891358" y="2137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047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碳酸盐岩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24847" y="2599849"/>
              <a:ext cx="881126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经压实与胶结成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为碳酸盐岩，碳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回到岩石圈。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9600" y="3848100"/>
              <a:ext cx="109728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3247" y="4009549"/>
              <a:ext cx="7958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 4-9 已区分三条下沉路径：生物泵（有机碳）、物理泵（溶解碳随环流下沉）与碳酸盐路径（钙质颗粒）；本页只沿碳酸盐这一条走。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3247" y="423814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本页不进入碳酸盐平衡的定量计算。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81000" y="4914900"/>
            <a:ext cx="7086600" cy="1314450"/>
            <a:chOff x="381000" y="4914900"/>
            <a:chExt cx="7086600" cy="1314450"/>
          </a:xfrm>
        </p:grpSpPr>
        <p:sp>
          <p:nvSpPr>
            <p:cNvPr id="48" name="Rectangle 48"/>
            <p:cNvSpPr/>
            <p:nvPr/>
          </p:nvSpPr>
          <p:spPr>
            <a:xfrm>
              <a:off x="381000" y="4914900"/>
              <a:ext cx="7086600" cy="1314450"/>
            </a:xfrm>
            <a:prstGeom prst="roundRect">
              <a:avLst>
                <a:gd name="adj" fmla="val 8696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3504" y="5090160"/>
              <a:ext cx="24313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可选反应式 | Optional reaction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2361" y="5389721"/>
              <a:ext cx="36952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Ca²⁺ + 2HCO₃⁻ → CaCO₃ + H₂O + CO₂↑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4647" y="5724049"/>
              <a:ext cx="47702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教材用该式说明碳酸盐泵可能释放 CO₂；本页只作定性方向，不做平衡计算。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58100" y="4914900"/>
            <a:ext cx="4152900" cy="1314450"/>
            <a:chOff x="7658100" y="4914900"/>
            <a:chExt cx="4152900" cy="1314450"/>
          </a:xfrm>
        </p:grpSpPr>
        <p:sp>
          <p:nvSpPr>
            <p:cNvPr id="53" name="Rectangle 53"/>
            <p:cNvSpPr/>
            <p:nvPr/>
          </p:nvSpPr>
          <p:spPr>
            <a:xfrm>
              <a:off x="7658100" y="4914900"/>
              <a:ext cx="4152900" cy="1314450"/>
            </a:xfrm>
            <a:prstGeom prst="roundRect">
              <a:avLst>
                <a:gd name="adj" fmla="val 869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880604" y="5090160"/>
              <a:ext cx="2688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不是单向吸碳 | Not a one-way sink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80985" y="5384006"/>
              <a:ext cx="200279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形成碳酸盐会放出 CO₂，因此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碳酸盐路径必须与埋藏一起看，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才谈得上是不是净的大气碳汇。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376238" y="6532245"/>
            <a:ext cx="830935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 Ch.4 §4.3.2–4.3.3, 图 4-9/4-10, PDF pp.68–71; UE 8e, Ch.12, PDF pp.1206–1208, 1212–1213 (C-04 redraw basis).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6672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2.9 风化：水循环开始影响碳循环 | Weathering: Where Water Meets Carbon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825551" cy="357093"/>
            <a:chOff x="381000" y="914400"/>
            <a:chExt cx="682555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66210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水与 CO₂ 共同驱动风化；只有硅酸盐风化把大气碳长期转入岩石圈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81000" y="1428750"/>
            <a:ext cx="11430000" cy="2000250"/>
            <a:chOff x="381000" y="1428750"/>
            <a:chExt cx="11430000" cy="200025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200025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03504" y="1604010"/>
              <a:ext cx="16501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因果链 | Causal chain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904" y="2137410"/>
              <a:ext cx="738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大气 CO₂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428399"/>
              <a:ext cx="1078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 降水 Rainwater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24384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3D7BD9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25908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3D7BD9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8194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0F5FC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65704" y="21374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弱碳酸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66847" y="2428399"/>
              <a:ext cx="14160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H₂CO₃ · Carbonic acid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6482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8006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292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755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岩石风化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76647" y="2428399"/>
              <a:ext cx="13134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Chemical weathering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70104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2390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853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溶解产物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86447" y="2428399"/>
              <a:ext cx="1221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Dissolved products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067800" y="2314575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9220200" y="22479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448800" y="1885950"/>
              <a:ext cx="1809750" cy="857250"/>
            </a:xfrm>
            <a:prstGeom prst="roundRect">
              <a:avLst>
                <a:gd name="adj" fmla="val 11111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95104" y="2137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河流输送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96247" y="2428399"/>
              <a:ext cx="10455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 海洋与沉积储存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4647" y="2961799"/>
              <a:ext cx="50490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水的参与从降水开始：CO₂ 溶于雨水形成弱碳酸，这是水循环接入碳循环的入口。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3581400"/>
            <a:ext cx="5562600" cy="2647950"/>
            <a:chOff x="381000" y="3581400"/>
            <a:chExt cx="5562600" cy="2647950"/>
          </a:xfrm>
        </p:grpSpPr>
        <p:sp>
          <p:nvSpPr>
            <p:cNvPr id="36" name="Rectangle 36"/>
            <p:cNvSpPr/>
            <p:nvPr/>
          </p:nvSpPr>
          <p:spPr>
            <a:xfrm>
              <a:off x="381000" y="3581400"/>
              <a:ext cx="5562600" cy="2647950"/>
            </a:xfrm>
            <a:prstGeom prst="roundRect">
              <a:avLst>
                <a:gd name="adj" fmla="val 4317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3504" y="3851910"/>
              <a:ext cx="2575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硅酸盐风化 | Silicate weathering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4133850"/>
              <a:ext cx="1619250" cy="2476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8995" y="4200049"/>
              <a:ext cx="11004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长期净汇 Net sink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3885" y="4564856"/>
              <a:ext cx="2166366" cy="1058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CO₂ 溶于水后与硅酸盐矿物反应，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把大气中的碳转入岩石圈的碳酸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盐，并在很长的时间尺度上把它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留在这里，因此这是一个净的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大气碳去向。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" y="5676900"/>
              <a:ext cx="5105400" cy="400050"/>
            </a:xfrm>
            <a:prstGeom prst="roundRect">
              <a:avLst>
                <a:gd name="adj" fmla="val 19048"/>
              </a:avLst>
            </a:prstGeom>
            <a:solidFill>
              <a:schemeClr val="lt1"/>
            </a:solidFill>
            <a:ln w="9525">
              <a:solidFill>
                <a:srgbClr val="F0CFC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6285" y="5812631"/>
              <a:ext cx="3044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特征简式：CaSiO₃ + CO₂ → CaCO₃ + SiO₂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248400" y="3581400"/>
            <a:ext cx="5562600" cy="2647950"/>
            <a:chOff x="6248400" y="3581400"/>
            <a:chExt cx="5562600" cy="2647950"/>
          </a:xfrm>
        </p:grpSpPr>
        <p:sp>
          <p:nvSpPr>
            <p:cNvPr id="44" name="Rectangle 44"/>
            <p:cNvSpPr/>
            <p:nvPr/>
          </p:nvSpPr>
          <p:spPr>
            <a:xfrm>
              <a:off x="6248400" y="3581400"/>
              <a:ext cx="5562600" cy="2647950"/>
            </a:xfrm>
            <a:prstGeom prst="roundRect">
              <a:avLst>
                <a:gd name="adj" fmla="val 431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70904" y="3851910"/>
              <a:ext cx="2795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碳酸盐风化 | Carbonate weathering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77000" y="4133850"/>
              <a:ext cx="18097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87016" y="4200049"/>
              <a:ext cx="15897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 Recycling · 无净变化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1285" y="4564856"/>
              <a:ext cx="2002790" cy="1058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碳酸盐岩先被溶解，溶解出来的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碳随河流进入海洋，随后又在海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洋里重新形成碳酸盐沉积下来。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溶解与重新沉淀相抵，所以这一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支不带来净的大气碳变化。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77000" y="5676900"/>
              <a:ext cx="5105400" cy="400050"/>
            </a:xfrm>
            <a:prstGeom prst="roundRect">
              <a:avLst>
                <a:gd name="adj" fmla="val 1904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23685" y="5812631"/>
              <a:ext cx="3663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溶解与再沉淀相抵 | Dissolution ≈ re-precipitation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376238" y="6532245"/>
            <a:ext cx="77090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Ch.12, PDF pp.1212–1213; 地球系统与演变 Ch.4 §4.5.1, 图 4-16, PDF p.80; HB Ch.9 pp.246–249; EP pp.765, 878.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020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2.10 慢碳循环 | Slow Geological Carbon Cycle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7411237" cy="357093"/>
            <a:chOff x="381000" y="914400"/>
            <a:chExt cx="7411237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风化与河流输送、沉积埋藏、俯冲变质、火山脱气，首尾相接构成慢地质路径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81000" y="1428750"/>
            <a:ext cx="11430000" cy="4800600"/>
            <a:chOff x="381000" y="1428750"/>
            <a:chExt cx="114300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847850"/>
              <a:ext cx="10972800" cy="609600"/>
            </a:xfrm>
            <a:prstGeom prst="roundRect">
              <a:avLst>
                <a:gd name="adj" fmla="val 15625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3247" y="1990249"/>
              <a:ext cx="13205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ATMOSPHERE · 大气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57511" y="2118360"/>
              <a:ext cx="2276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大气 CO₂ | Atmospheric CO₂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504" y="1565910"/>
              <a:ext cx="3762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四段方向序列 | Four-stage directional pathway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809750" y="249555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1714500" y="2743200"/>
              <a:ext cx="190500" cy="209550"/>
            </a:xfrm>
            <a:custGeom>
              <a:avLst/>
              <a:gdLst/>
              <a:ahLst/>
              <a:cxnLst/>
              <a:rect l="l" t="t" r="r" b="b"/>
              <a:pathLst>
                <a:path w="190500" h="209550">
                  <a:moveTo>
                    <a:pt x="0" y="0"/>
                  </a:moveTo>
                  <a:lnTo>
                    <a:pt x="95250" y="20955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76247" y="2637949"/>
              <a:ext cx="8671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CO₂ 进入风化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0382250" y="25527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rgbClr val="C2410C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10287000" y="2457450"/>
              <a:ext cx="190500" cy="209550"/>
            </a:xfrm>
            <a:custGeom>
              <a:avLst/>
              <a:gdLst/>
              <a:ahLst/>
              <a:cxnLst/>
              <a:rect l="l" t="t" r="r" b="b"/>
              <a:pathLst>
                <a:path w="190500" h="209550">
                  <a:moveTo>
                    <a:pt x="0" y="209550"/>
                  </a:moveTo>
                  <a:lnTo>
                    <a:pt x="95250" y="0"/>
                  </a:lnTo>
                  <a:lnTo>
                    <a:pt x="190500" y="20955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29697" y="26569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返回大气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81050" y="3181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97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32154" y="32804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风化与河流输送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382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3247" y="3647599"/>
              <a:ext cx="19075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Weathering &amp; river transport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3247" y="3914299"/>
              <a:ext cx="1559433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降水溶入 CO₂ 后侵蚀岩石，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产物由河流带走。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067050" y="37338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3219450" y="36671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4671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638550" y="31813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572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9654" y="3280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沉积与埋藏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36957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690747" y="3647599"/>
              <a:ext cx="14389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Sedimentation &amp; burial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90747" y="3914299"/>
              <a:ext cx="1254506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碳酸盐与有机碳沉积，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随后被埋入地下。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924550" y="37338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6076950" y="36671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3246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496050" y="3181350"/>
              <a:ext cx="342900" cy="3429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147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47154" y="32804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俯冲与变质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5532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48247" y="3647599"/>
              <a:ext cx="17756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Subduction &amp; metamorphism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48247" y="3914299"/>
              <a:ext cx="1378966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板块俯冲把碳带入深部，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经变质作用长期储存。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782050" y="3733800"/>
              <a:ext cx="209550" cy="9525"/>
            </a:xfrm>
            <a:custGeom>
              <a:avLst/>
              <a:gdLst/>
              <a:ahLst/>
              <a:cxnLst/>
              <a:rect l="l" t="t" r="r" b="b"/>
              <a:pathLst>
                <a:path w="209550" h="952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38100">
              <a:solidFill>
                <a:srgbClr val="7A4A33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8934450" y="3667125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0"/>
                  </a:moveTo>
                  <a:lnTo>
                    <a:pt x="1333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182100" y="2990850"/>
              <a:ext cx="2400300" cy="1485900"/>
            </a:xfrm>
            <a:prstGeom prst="roundRect">
              <a:avLst>
                <a:gd name="adj" fmla="val 6410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9353550" y="3181350"/>
              <a:ext cx="342900" cy="342900"/>
            </a:xfrm>
            <a:prstGeom prst="ellipse">
              <a:avLst/>
            </a:prstGeom>
            <a:solidFill>
              <a:srgbClr val="7A4A3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72258" y="3280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04654" y="32804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火山脱气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9410700" y="352425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05747" y="3647599"/>
              <a:ext cx="1187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Volcanic degassing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05747" y="3914299"/>
              <a:ext cx="1254506" cy="400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火山把碳送回大气，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完成一个慢循环回合。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4667250" y="4495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28575">
              <a:solidFill>
                <a:srgbClr val="7A4A33"/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4591050" y="455295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0"/>
                  </a:moveTo>
                  <a:lnTo>
                    <a:pt x="76200" y="17145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56" name="Line 56"/>
            <p:cNvSpPr/>
            <p:nvPr/>
          </p:nvSpPr>
          <p:spPr>
            <a:xfrm>
              <a:off x="7524750" y="4495800"/>
              <a:ext cx="9525" cy="76200"/>
            </a:xfrm>
            <a:custGeom>
              <a:avLst/>
              <a:gdLst/>
              <a:ahLst/>
              <a:cxnLst/>
              <a:rect l="l" t="t" r="r" b="b"/>
              <a:pathLst>
                <a:path w="952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28575">
              <a:solidFill>
                <a:srgbClr val="7A4A33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7448550" y="455295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0"/>
                  </a:moveTo>
                  <a:lnTo>
                    <a:pt x="76200" y="17145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7A4A33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9600" y="4743450"/>
              <a:ext cx="10972800" cy="571500"/>
            </a:xfrm>
            <a:prstGeom prst="roundRect">
              <a:avLst>
                <a:gd name="adj" fmla="val 16667"/>
              </a:avLst>
            </a:prstGeom>
            <a:solidFill>
              <a:srgbClr val="FDECDD"/>
            </a:solidFill>
            <a:ln w="9525">
              <a:solidFill>
                <a:srgbClr val="F0CFC2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33247" y="4847749"/>
              <a:ext cx="16944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DEEP STORAGE · 深部储存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2485" y="5060156"/>
              <a:ext cx="3826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沉积物 · 沉积岩 · 地幔：碳在这里停留的时间远长于表层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9600" y="5448300"/>
              <a:ext cx="10972800" cy="742950"/>
            </a:xfrm>
            <a:prstGeom prst="roundRect">
              <a:avLst>
                <a:gd name="adj" fmla="val 1282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32104" y="5566410"/>
              <a:ext cx="1762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图件说明 | Figure note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2485" y="5784056"/>
              <a:ext cx="382346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本页为教材图 4-16 的忠实双语原生简化，保留路径与方向；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不放置密集栅格，也不与图 4-17 的数值合成新预算。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376238" y="6532245"/>
            <a:ext cx="85138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 Ch.4 §4.5.1–4.5.2, 图 4-16/4-17, PDF pp.79–81; UE 8e Ch.12, PDF pp.1209, 1212–1213; EP Ch.23 Fig.23.6; HB Ch.9.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619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2.11 碳循环的多个时钟 | Multiple Carbon Timescales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135040" cy="357093"/>
            <a:chOff x="381000" y="914400"/>
            <a:chExt cx="6135040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9715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生物、海洋、沉积与地质，四条路径以四个不同档位的时钟运行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81000" y="1428750"/>
            <a:ext cx="11430000" cy="609600"/>
            <a:chOff x="381000" y="1428750"/>
            <a:chExt cx="11430000" cy="609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114300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81150"/>
              <a:ext cx="3505200" cy="3048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50746" y="1685449"/>
              <a:ext cx="1622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储库 Reservoir = 存了多少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43400" y="1581150"/>
              <a:ext cx="3505200" cy="3048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328418" y="1685449"/>
              <a:ext cx="15351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通量 Flux = 每年转移多少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77200" y="1581150"/>
              <a:ext cx="3505200" cy="3048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87236" y="1685449"/>
              <a:ext cx="2485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停留时间 Residence Time = 平均停留多久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81000" y="2190750"/>
            <a:ext cx="11430000" cy="2384107"/>
            <a:chOff x="381000" y="2190750"/>
            <a:chExt cx="11430000" cy="2384107"/>
          </a:xfrm>
        </p:grpSpPr>
        <p:sp>
          <p:nvSpPr>
            <p:cNvPr id="17" name="Rectangle 17"/>
            <p:cNvSpPr/>
            <p:nvPr/>
          </p:nvSpPr>
          <p:spPr>
            <a:xfrm>
              <a:off x="381000" y="2190750"/>
              <a:ext cx="11430000" cy="2381250"/>
            </a:xfrm>
            <a:prstGeom prst="roundRect">
              <a:avLst>
                <a:gd name="adj" fmla="val 4800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504" y="2366010"/>
              <a:ext cx="33451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 4-15 锚点 | Four clocks (CN Fig. 4-15)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20040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20052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21017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21030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21995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22007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229725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022985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1239500" y="2743200"/>
              <a:ext cx="9525" cy="1562100"/>
            </a:xfrm>
            <a:custGeom>
              <a:avLst/>
              <a:gdLst/>
              <a:ahLst/>
              <a:cxnLst/>
              <a:rect l="l" t="t" r="r" b="b"/>
              <a:pathLst>
                <a:path w="9525" h="1562100">
                  <a:moveTo>
                    <a:pt x="0" y="0"/>
                  </a:moveTo>
                  <a:lnTo>
                    <a:pt x="0" y="1562100"/>
                  </a:lnTo>
                </a:path>
              </a:pathLst>
            </a:custGeom>
            <a:noFill/>
            <a:ln w="9525">
              <a:solidFill>
                <a:srgbClr val="F0CFC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3885" y="2831306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大气—生物圈—表层海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200400" y="2838450"/>
              <a:ext cx="1000125" cy="1905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90822" y="2885599"/>
              <a:ext cx="860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约 10¹–10² 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3885" y="32123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深层海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200525" y="3219450"/>
              <a:ext cx="1009650" cy="19050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300472" y="3266599"/>
              <a:ext cx="860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约 10²–10³ 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3885" y="35933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沉积物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210175" y="3600450"/>
              <a:ext cx="2009775" cy="190500"/>
            </a:xfrm>
            <a:prstGeom prst="roundRect">
              <a:avLst>
                <a:gd name="adj" fmla="val 20000"/>
              </a:avLst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10247" y="3647599"/>
              <a:ext cx="860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A4A33"/>
                  </a:solidFill>
                  <a:latin typeface="+mn-lt"/>
                  <a:ea typeface="+mn-ea"/>
                  <a:cs typeface="+mn-cs"/>
                </a:rPr>
                <a:t>约 10³–10⁵ 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3885" y="39743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地质储库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19950" y="3981450"/>
              <a:ext cx="4019550" cy="190500"/>
            </a:xfrm>
            <a:prstGeom prst="roundRect">
              <a:avLst>
                <a:gd name="adj" fmla="val 20000"/>
              </a:avLst>
            </a:prstGeom>
            <a:solidFill>
              <a:srgbClr val="7A4A3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431835" y="4028599"/>
              <a:ext cx="7173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大于 10⁵ 年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3200400" y="4305300"/>
              <a:ext cx="8039100" cy="9525"/>
            </a:xfrm>
            <a:custGeom>
              <a:avLst/>
              <a:gdLst/>
              <a:ahLst/>
              <a:cxnLst/>
              <a:rect l="l" t="t" r="r" b="b"/>
              <a:pathLst>
                <a:path w="8039100" h="9525">
                  <a:moveTo>
                    <a:pt x="0" y="0"/>
                  </a:moveTo>
                  <a:lnTo>
                    <a:pt x="80391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4647" y="4238149"/>
              <a:ext cx="12896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对数轴（每格 10 倍）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09568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9580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10545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10³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0558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1523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1535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25007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2513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10⁸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34782" y="4398645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10⁹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81000" y="4724400"/>
            <a:ext cx="11430000" cy="1504950"/>
            <a:chOff x="381000" y="4724400"/>
            <a:chExt cx="11430000" cy="1504950"/>
          </a:xfrm>
        </p:grpSpPr>
        <p:sp>
          <p:nvSpPr>
            <p:cNvPr id="52" name="Rectangle 52"/>
            <p:cNvSpPr/>
            <p:nvPr/>
          </p:nvSpPr>
          <p:spPr>
            <a:xfrm>
              <a:off x="381000" y="4724400"/>
              <a:ext cx="11430000" cy="1504950"/>
            </a:xfrm>
            <a:prstGeom prst="roundRect">
              <a:avLst>
                <a:gd name="adj" fmla="val 759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3504" y="4899660"/>
              <a:ext cx="6917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独立来源面板：图 4-16 的更宽区间 | Separate source panel (CN Fig. 4-16), not merged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96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4004" y="5337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表层库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4385" y="5593556"/>
              <a:ext cx="645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0–10³ 年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3909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575304" y="5337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沉积物库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75685" y="5593556"/>
              <a:ext cx="819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10³–10⁸ 年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1722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56604" y="5337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变质库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56985" y="5593556"/>
              <a:ext cx="819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10⁶–10⁹ 年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953500" y="51816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137904" y="5337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地幔库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38285" y="5593556"/>
              <a:ext cx="819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10⁷–10⁹ 年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4647" y="5990749"/>
              <a:ext cx="40996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两个面板各自保留原图区间与单位，不合并、不插值，也不跨图换算。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376238" y="6532245"/>
            <a:ext cx="836931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地球系统与演变 Ch.4 §4.4.3–4.5.1, 图 4-15 与图 4-16, PDF pp.78–80; UE 8e Ch.12, PDF pp.1205–1206, 1209–1213; EP Ch.23 p.881.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2895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2.12 课堂读图 | Concept Check 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6670511" cy="357093"/>
            <a:chOff x="381000" y="914400"/>
            <a:chExt cx="667051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650706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任选图 12.19 上的一条通路，按储库、通量、快慢与领域把它说清楚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1000" y="1428750"/>
            <a:ext cx="6096000" cy="4800600"/>
            <a:chOff x="381000" y="1428750"/>
            <a:chExt cx="6096000" cy="48006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6096000" cy="4800600"/>
            </a:xfrm>
            <a:prstGeom prst="roundRect">
              <a:avLst>
                <a:gd name="adj" fmla="val 23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275" y="1543050"/>
              <a:ext cx="5495925" cy="4572000"/>
            </a:xfrm>
            <a:prstGeom prst="rect">
              <a:avLst/>
            </a:prstGeom>
          </p:spPr>
        </p:pic>
      </p:grpSp>
      <p:grpSp>
        <p:nvGrpSpPr>
          <p:cNvPr id="31" name="Group 31"/>
          <p:cNvGrpSpPr/>
          <p:nvPr/>
        </p:nvGrpSpPr>
        <p:grpSpPr>
          <a:xfrm>
            <a:off x="6629400" y="1428750"/>
            <a:ext cx="5181600" cy="3028950"/>
            <a:chOff x="6629400" y="1428750"/>
            <a:chExt cx="5181600" cy="3028950"/>
          </a:xfrm>
        </p:grpSpPr>
        <p:sp>
          <p:nvSpPr>
            <p:cNvPr id="12" name="Rectangle 12"/>
            <p:cNvSpPr/>
            <p:nvPr/>
          </p:nvSpPr>
          <p:spPr>
            <a:xfrm>
              <a:off x="6629400" y="1428750"/>
              <a:ext cx="5181600" cy="3028950"/>
            </a:xfrm>
            <a:prstGeom prst="roundRect">
              <a:avLst>
                <a:gd name="adj" fmla="val 3774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51904" y="1604010"/>
              <a:ext cx="1417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任务提示 | Prompt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52285" y="1897856"/>
              <a:ext cx="24765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在图 12.19 上任选一条通路，说出：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905625" y="22574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05453" y="23426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09485" y="22407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起点储库与终点储库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10247" y="2447449"/>
              <a:ext cx="162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Start and end reservoirs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905625" y="2752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05453" y="28379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9485" y="27360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中间的过程或通量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10247" y="2942749"/>
              <a:ext cx="1261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process or flux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905625" y="32480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05453" y="33332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09485" y="32313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这条通路是快还是慢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10247" y="3438049"/>
              <a:ext cx="812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Fast or slow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905625" y="37433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05453" y="38285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09485" y="37266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属于生物、海洋还是地质路径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0247" y="3933349"/>
              <a:ext cx="21182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Biological, oceanic, or geological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29400" y="4610100"/>
            <a:ext cx="5181600" cy="1619250"/>
            <a:chOff x="6629400" y="4610100"/>
            <a:chExt cx="5181600" cy="1619250"/>
          </a:xfrm>
        </p:grpSpPr>
        <p:sp>
          <p:nvSpPr>
            <p:cNvPr id="32" name="Rectangle 32"/>
            <p:cNvSpPr/>
            <p:nvPr/>
          </p:nvSpPr>
          <p:spPr>
            <a:xfrm>
              <a:off x="6629400" y="4610100"/>
              <a:ext cx="5181600" cy="1619250"/>
            </a:xfrm>
            <a:prstGeom prst="roundRect">
              <a:avLst>
                <a:gd name="adj" fmla="val 7059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51904" y="4785360"/>
              <a:ext cx="1719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读图提示 | Reading aid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2285" y="5098256"/>
              <a:ext cx="257175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先找方框（储库），再读箭头（通量）：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大气、陆地、海洋与地质四区在图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上有明确分区，箭头还给方向。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53047" y="583834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不要求背下图上全部数字。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76238" y="6532245"/>
            <a:ext cx="57957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Fig. 12.19, PDF pp.1209–1213; 地球系统与演变 Ch.4, 图 4-9/4-16, PDF pp.68–80.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"/>
            <a:chOff x="0" y="0"/>
            <a:chExt cx="12192000" cy="685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74142" y="282892"/>
              <a:ext cx="4238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2.13 第二部分总结 | Carbon Links Life to Rocks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686898" y="299085"/>
              <a:ext cx="1130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C7D7F2"/>
                  </a:solidFill>
                  <a:latin typeface="+mn-lt"/>
                  <a:ea typeface="+mn-ea"/>
                  <a:cs typeface="+mn-cs"/>
                </a:rPr>
                <a:t>CARBON 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914400"/>
            <a:ext cx="5709641" cy="357093"/>
            <a:chOff x="381000" y="914400"/>
            <a:chExt cx="5709641" cy="357093"/>
          </a:xfrm>
        </p:grpSpPr>
        <p:sp>
          <p:nvSpPr>
            <p:cNvPr id="6" name="Rectangle 6"/>
            <p:cNvSpPr/>
            <p:nvPr/>
          </p:nvSpPr>
          <p:spPr>
            <a:xfrm>
              <a:off x="381000" y="914400"/>
              <a:ext cx="57150" cy="266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449" y="963454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碳循环从快速的生物与海气交换，延伸到缓慢的岩石圈交换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1000" y="1428750"/>
            <a:ext cx="5562600" cy="2247900"/>
            <a:chOff x="381000" y="1428750"/>
            <a:chExt cx="5562600" cy="2247900"/>
          </a:xfrm>
        </p:grpSpPr>
        <p:sp>
          <p:nvSpPr>
            <p:cNvPr id="9" name="Rectangle 9"/>
            <p:cNvSpPr/>
            <p:nvPr/>
          </p:nvSpPr>
          <p:spPr>
            <a:xfrm>
              <a:off x="381000" y="14287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619250"/>
              <a:ext cx="381000" cy="381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1158" y="17373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0704" y="1737360"/>
              <a:ext cx="2753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碳存在哪里 | Where carbon resides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885" y="22217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大气、生命与土壤、海洋、沉积物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与岩石，共同构成碳的储库体系。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4647" y="2999899"/>
              <a:ext cx="33460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Atmosphere · life and soil · ocean · sediment · rock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48400" y="1428750"/>
            <a:ext cx="5562600" cy="2247900"/>
            <a:chOff x="6248400" y="1428750"/>
            <a:chExt cx="5562600" cy="2247900"/>
          </a:xfrm>
        </p:grpSpPr>
        <p:sp>
          <p:nvSpPr>
            <p:cNvPr id="16" name="Rectangle 16"/>
            <p:cNvSpPr/>
            <p:nvPr/>
          </p:nvSpPr>
          <p:spPr>
            <a:xfrm>
              <a:off x="6248400" y="14287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rgbClr val="FDF4EF"/>
            </a:solidFill>
            <a:ln w="9525">
              <a:solidFill>
                <a:srgbClr val="F0CFC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400800" y="1619250"/>
              <a:ext cx="381000" cy="381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38558" y="17373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28104" y="1737360"/>
              <a:ext cx="22107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快速通路 | Faster pathways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1285" y="22217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光合作用、呼吸作用与海气交换，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把碳在大气与表层之间快速搬运。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72047" y="2999899"/>
              <a:ext cx="31279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Photosynthesis · respiration · air–sea exchange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81000" y="3981450"/>
            <a:ext cx="5562600" cy="2247900"/>
            <a:chOff x="381000" y="3981450"/>
            <a:chExt cx="5562600" cy="2247900"/>
          </a:xfrm>
        </p:grpSpPr>
        <p:sp>
          <p:nvSpPr>
            <p:cNvPr id="23" name="Rectangle 23"/>
            <p:cNvSpPr/>
            <p:nvPr/>
          </p:nvSpPr>
          <p:spPr>
            <a:xfrm>
              <a:off x="381000" y="39814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33400" y="4171950"/>
              <a:ext cx="381000" cy="3810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1158" y="4290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0704" y="4290060"/>
              <a:ext cx="2254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与岩石相连 | Linked to rocks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3885" y="47744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碳酸盐形成、埋藏、俯冲与脱气，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把表层碳一路接到岩石圈。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4647" y="5552599"/>
              <a:ext cx="3490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Carbonate formation · burial · subduction · degassing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48400" y="3981450"/>
            <a:ext cx="5562600" cy="2247900"/>
            <a:chOff x="6248400" y="3981450"/>
            <a:chExt cx="5562600" cy="2247900"/>
          </a:xfrm>
        </p:grpSpPr>
        <p:sp>
          <p:nvSpPr>
            <p:cNvPr id="30" name="Rectangle 30"/>
            <p:cNvSpPr/>
            <p:nvPr/>
          </p:nvSpPr>
          <p:spPr>
            <a:xfrm>
              <a:off x="6248400" y="3981450"/>
              <a:ext cx="5562600" cy="2247900"/>
            </a:xfrm>
            <a:prstGeom prst="roundRect">
              <a:avLst>
                <a:gd name="adj" fmla="val 508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400800" y="4171950"/>
              <a:ext cx="381000" cy="3810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38558" y="42900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28104" y="4290060"/>
              <a:ext cx="23467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不同的时钟 | Different clocks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71285" y="4774406"/>
              <a:ext cx="214503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每条路径的速度不同，这决定每个</a:t>
              </a:r>
              <a:br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储库受到扰动后多快做出响应。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2047" y="5552599"/>
              <a:ext cx="25606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Response speed depends on the pathway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76238" y="6532245"/>
            <a:ext cx="60621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Source: UE 8e, Ch.12; 地球系统与演变 Ch.4; EP Ch.23. Part II synthesis of the accepted Slides 21–32.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672964" y="65322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ROD-W3-WORKBUDDY">
  <a:themeElements>
    <a:clrScheme name="PROD-W3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3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3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ROD-W3-WORKBUDDY">
  <a:themeElements>
    <a:clrScheme name="PROD-W3-WORKBUDDY">
      <a:dk1>
        <a:srgbClr val="1A2230"/>
      </a:dk1>
      <a:lt1>
        <a:srgbClr val="FFFFFF"/>
      </a:lt1>
      <a:dk2>
        <a:srgbClr val="1F497D"/>
      </a:dk2>
      <a:lt2>
        <a:srgbClr val="F7F9FC"/>
      </a:lt2>
      <a:accent1>
        <a:srgbClr val="0E3F8C"/>
      </a:accent1>
      <a:accent2>
        <a:srgbClr val="1E4FA8"/>
      </a:accent2>
      <a:accent3>
        <a:srgbClr val="EA580C"/>
      </a:accent3>
      <a:accent4>
        <a:srgbClr val="0E3F8C"/>
      </a:accent4>
      <a:accent5>
        <a:srgbClr val="4A5568"/>
      </a:accent5>
      <a:accent6>
        <a:srgbClr val="D6DCE5"/>
      </a:accent6>
      <a:hlink>
        <a:srgbClr val="1E4FA8"/>
      </a:hlink>
      <a:folHlink>
        <a:srgbClr val="EA580C"/>
      </a:folHlink>
    </a:clrScheme>
    <a:fontScheme name="PROD-W3-WORKBUDD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D-W3-WORKBUDD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2026-09-14T08:44:07Z</dcterms:created>
  <dcterms:modified xsi:type="dcterms:W3CDTF">2026-09-14T08:44:07Z</dcterms:modified>
  <cp:category/>
  <cp:contentStatus/>
</cp:coreProperties>
</file>