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沿着一条路径从海洋的溶解碳一直读到岩石。左边第一段是海水中的溶解无机碳，也就是以碳酸氢根和碳酸根形式存在的碳。第二段是生物成壳：海洋生物把溶解碳拿来建造钙质壳体与骨骼。第三段是碳酸盐颗粒：壳体破碎以后变成碳酸钙颗粒，向海底沉降。第四段是沉积与埋藏：颗粒在海底堆积，被后来的沉积物覆盖，埋进地下。第五段是碳酸盐岩：经过压实与胶结，碳以碳酸盐岩的形式回到岩石圈。五个方框之间的箭头方向都是向前的，这条路径本身是连续的，中间没有跳步。这里要提醒一句：按照图 4-9，海洋把碳送入深处一共有三条不同的路径，生物泵走有机碳，物理泵走随环流下沉的溶解碳，碳酸盐路径走钙质颗粒；本页只沿碳酸盐这一条走，另外两条不在这页展开。最后看下面这条可选反应式：钙离子加上两个碳酸氢根离子，生成碳酸钙、水和二氧化碳。教材给出这个式子，是为了说明碳酸盐泵在形成碳酸盐的时候可能把二氧化碳放出来，所以碳酸盐路径不能简单当成一个单向吸碳的过程，它必须和埋藏放在一起看，才谈得上是不是净的大气碳汇。本页不做碳酸盐平衡的定量计算，只看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正式接进碳循环。先看上面这条因果链：大气中的二氧化碳先溶解在雨水里，形成很弱的碳酸；这种含二氧化碳的水去侵蚀岩石，发生化学风化；风化把岩石里的成分变成溶解产物；溶解产物被河流带走，最后进入海洋并储存在沉积物里。这条链的起点是降水，所以水循环一进入，碳循环就多了一条通路。真正要讲清楚的是下面两张卡片的区别。左边是硅酸盐风化：二氧化碳溶进水以后，与硅酸盐矿物反应，把大气中的碳转入岩石圈的碳酸盐，并在很长的时间尺度上把它留在那里，因此这一支是净的大气碳去向，教材给出的特征简式是硅酸钙加二氧化碳生成碳酸钙加二氧化硅。右边是碳酸盐风化：碳酸盐岩先被溶解，溶解出来的碳随河流进入海洋，随后又在海洋里重新形成碳酸盐沉积下来；溶解与重新沉淀两件事相抵，所以这一支不带来净的大气碳变化，它属于循环，而不是净汇。课堂上一定要把这两支分开讲，不能笼统地说“风化吸收二氧化碳”。本页不使用任何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慢地质路径按方向完整走一遍，顺序不能颠倒。第一段是风化与河流输送：降水溶入二氧化碳以后侵蚀岩石，风化产物由河流带走。第二段是沉积与埋藏：碳酸盐与有机碳在海底沉积下来，随后被埋入地下，从表层系统里退出。第三段是俯冲与变质：板块俯冲把已经埋藏的碳带入地球深部，经过变质作用在那里长期储存。第四段是火山脱气：火山活动把深部的碳重新送回大气，于是这条慢循环完成一个回合。上面和下面的箭头标出了这条路径的进出口：二氧化碳从大气进入风化，最后又从火山回到大气。中间这条深部储存带写着沉积物、沉积岩与地幔，要让学生注意到，碳在这里停留的时间远远长于在表层储库里的时间。这一页是依据教材图 4-16 做的忠实双语原生简化，保留了原图的路径和方向，没有放置那张很密的原始栅格图，也没有把图 4-17 的数值拿来和它合成一个新预算。本页也不展开早期大气的历史。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回答一个问题：碳在储库之间跑得有多快。上面那条窄条先把三个词分开，储库表示某个地方存了多少碳，通量表示每年转移多少，停留时间表示一份碳平均在里面停留多久；这三个是不同的问题，不能混着用。中间这一大块是主面板，来源是教材图 4-15，横轴是对数轴，每一格代表十倍。四条色带分别是四类路径的时钟：大气、生物圈与表层海之间最快，大约是十的一次方到十的二次方年；深层海慢一档，大约是十的二次方到十的二次方以上的千年级；沉积物更慢，大约是十的三次方到十的五次方年；地质储库最慢，超过十的五次方年。要强调一句：储库最大不等于响应最快，地质储库最大，但它的时钟最慢。下面那块浅色区域是另一个独立面板，来源是教材图 4-16，它给的是更宽的区间，表层库、沉积物库、变质库与地幔库各自的跨度都比主面板更宽、更粗。这两个面板来自两张不同的教材图，区间和口径都不一样，所以它们各自保留原图的区间与单位，不合并、不插值，也不跨图换算精度。本页是本任务里唯一允许出现数值的页面，原因就是这一页的来源行明确写出了图 4-15 与图 4-16。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这一页是一次课堂检查，不是新知识。左边是已批准使用的教材图 12.19，图上把大气、陆地、海洋和地质储库四个区域分了区，方框代表储库，箭头代表通量，箭头旁边写着通量的大小。右边上面是任务提示：请学生在图上任选一条通路，然后说清楚四件事——起点储库和终点储库是什么，中间的过程或者通量是什么，这条通路相对是快还是慢，以及它属于生物、海洋还是地质路径。下面这张读图提示告诉学生怎么下手：先找方框再读箭头，方向由箭头给出。要特别提醒的是，不要要求背下图上的全部数字；图上的一百二十和八十吉吨碳每年是总交换量，不是净碳汇，这一点在讲第二十三页时已经强调过。答案不唯一，下面给出三条都可以接受的通路作为参考。第一条是光合作用：从大气到陆地植物，过程是光合作用，属于生物路径，速度快。第二条是海气交换：大气和海洋之间双向交换二氧化碳，属于海洋路径，速度也快；要注意它是双向的，图上那支箭头标的是总交换量。第三条是碳酸盐沉积：海洋中的碳酸钙沉到沉积物里，属于地质路径，速度慢。也可以接受另外一些通路，例如风化把大气中的二氧化碳带进陆地，或者火山活动把地质储库里的碳送回大气。判断标准是学生能不能把四件事都说全，而不是选了哪一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收束碳循环第二部分，用四句话把前面几页串起来，不新增内容。第一句，碳存在哪里：大气、生命与土壤、海洋、沉积物与岩石，共同构成碳的储库体系。第二句，快速通路：光合作用、呼吸作用与海气交换，把碳在大气与表层之间快速搬运，这是前面快速碳循环那一组的内容。第三句，与岩石相连：碳酸盐形成、埋藏、俯冲与脱气，把表层的碳一路接到岩石圈，这是慢地质路径那一组的内容。第四句，不同的时钟：每条路径的速度不同，这决定了每个储库受到扰动之后多快做出响应；最大的储库并不等于最快的响应。四句话覆盖了本部分的四个要点，另外只作回顾，不再引入新的图件，也不再引入新的数字。从这里开始，第三部分要把水和碳放回同一个气候系统里看，进入耦合与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7180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 碳酸盐：海洋、生命与岩石的连接 | Carbonates: Ocean–Life–Rock Connection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985838" cy="357093"/>
            <a:chOff x="381000" y="914400"/>
            <a:chExt cx="698583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溶解碳经生物、碳酸盐、沉积物到岩石，是一条连续路径，而非单向吸碳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428750"/>
            <a:ext cx="11430000" cy="3333750"/>
            <a:chOff x="381000" y="1428750"/>
            <a:chExt cx="11430000" cy="33337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4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五段路径 | The carbonate path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35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海水溶解碳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溶解无机碳 DIC：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HCO₃⁻ 与 CO₃²⁻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溶于海水中的碳。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908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432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765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7180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905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生物成壳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399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生物利用溶解碳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建造钙质壳体与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骨骼。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577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101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35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387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74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08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碳酸盐颗粒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0947" y="2599849"/>
              <a:ext cx="91224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壳体破碎后成为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CaCO₃ 颗粒，向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海底沉降。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1247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2771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5700" y="2038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4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77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789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颗粒在海底堆积，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被后续沉积物覆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盖并埋入地下。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3916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440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774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772650" y="2038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913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47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碳酸盐岩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2484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经压实与胶结成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为碳酸盐岩，碳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回到岩石圈。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38481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247" y="4009549"/>
              <a:ext cx="7958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4-9 已区分三条下沉路径：生物泵（有机碳）、物理泵（溶解碳随环流下沉）与碳酸盐路径（钙质颗粒）；本页只沿碳酸盐这一条走。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247" y="42381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本页不进入碳酸盐平衡的定量计算。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4914900"/>
            <a:ext cx="7086600" cy="1314450"/>
            <a:chOff x="381000" y="4914900"/>
            <a:chExt cx="7086600" cy="1314450"/>
          </a:xfrm>
        </p:grpSpPr>
        <p:sp>
          <p:nvSpPr>
            <p:cNvPr id="48" name="Rectangle 48"/>
            <p:cNvSpPr/>
            <p:nvPr/>
          </p:nvSpPr>
          <p:spPr>
            <a:xfrm>
              <a:off x="381000" y="4914900"/>
              <a:ext cx="70866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3504" y="5090160"/>
              <a:ext cx="2431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可选反应式 | Optional reaction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361" y="5389721"/>
              <a:ext cx="3695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Ca²⁺ + 2HCO₃⁻ → CaCO₃ + H₂O + CO₂↑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" y="5724049"/>
              <a:ext cx="4770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教材用该式说明碳酸盐泵可能释放 CO₂；本页只作定性方向，不做平衡计算。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58100" y="4914900"/>
            <a:ext cx="4152900" cy="1314450"/>
            <a:chOff x="7658100" y="4914900"/>
            <a:chExt cx="4152900" cy="1314450"/>
          </a:xfrm>
        </p:grpSpPr>
        <p:sp>
          <p:nvSpPr>
            <p:cNvPr id="53" name="Rectangle 53"/>
            <p:cNvSpPr/>
            <p:nvPr/>
          </p:nvSpPr>
          <p:spPr>
            <a:xfrm>
              <a:off x="7658100" y="4914900"/>
              <a:ext cx="4152900" cy="131445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80604" y="5090160"/>
              <a:ext cx="2688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不是单向吸碳 | Not a one-way sink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0985" y="5384006"/>
              <a:ext cx="200279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形成碳酸盐会放出 CO₂，因此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碳酸盐路径必须与埋藏一起看，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才谈得上是不是净的大气碳汇。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3093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§4.3.2–4.3.3, 图 4-9/4-10, PDF pp.68–71; UE 8e, Ch.12, PDF pp.1206–1208, 1212–1213 (C-04 redraw basis).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7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2.9 风化：水循环开始影响碳循环 | Weathering: Where Water Meets Carbon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25551" cy="357093"/>
            <a:chOff x="381000" y="914400"/>
            <a:chExt cx="682555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621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水与 CO₂ 共同驱动风化；只有硅酸盐风化把大气碳长期转入岩石圈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428750"/>
            <a:ext cx="11430000" cy="2000250"/>
            <a:chOff x="381000" y="1428750"/>
            <a:chExt cx="1143000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04010"/>
              <a:ext cx="1650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因果链 | Causal chain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137410"/>
              <a:ext cx="73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大气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28399"/>
              <a:ext cx="1078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降水 Rainwater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384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908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194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5704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弱碳酸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6847" y="2428399"/>
              <a:ext cx="141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H₂CO₃ · Carbonic acid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8006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55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岩石风化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6647" y="2428399"/>
              <a:ext cx="1313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Chemical weathering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104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53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447" y="24283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Dissolved products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678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92202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51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河流输送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6247" y="2428399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海洋与沉积储存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2961799"/>
              <a:ext cx="5049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水的参与从降水开始：CO₂ 溶于雨水形成弱碳酸，这是水循环接入碳循环的入口。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581400"/>
            <a:ext cx="5562600" cy="2647950"/>
            <a:chOff x="381000" y="3581400"/>
            <a:chExt cx="5562600" cy="2647950"/>
          </a:xfrm>
        </p:grpSpPr>
        <p:sp>
          <p:nvSpPr>
            <p:cNvPr id="36" name="Rectangle 36"/>
            <p:cNvSpPr/>
            <p:nvPr/>
          </p:nvSpPr>
          <p:spPr>
            <a:xfrm>
              <a:off x="3810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3851910"/>
              <a:ext cx="257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硅酸盐风化 | Silicate weathering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3385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995" y="4200049"/>
              <a:ext cx="1100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长期净汇 Net sink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885" y="4564856"/>
              <a:ext cx="2166366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CO₂ 溶于水后与硅酸盐矿物反应，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把大气中的碳转入岩石圈的碳酸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盐，并在很长的时间尺度上把它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留在这里，因此这是一个净的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大气碳去向。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5812631"/>
              <a:ext cx="304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特征简式：CaSiO₃ + CO₂ → CaCO₃ + SiO₂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581400"/>
            <a:ext cx="5562600" cy="2647950"/>
            <a:chOff x="6248400" y="3581400"/>
            <a:chExt cx="5562600" cy="26479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0904" y="3851910"/>
              <a:ext cx="2795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碳酸盐风化 | Carbonate weathering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13385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7016" y="4200049"/>
              <a:ext cx="158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 Recycling · 无净变化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4564856"/>
              <a:ext cx="200279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碳酸盐岩先被溶解，溶解出来的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碳随河流进入海洋，随后又在海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洋里重新形成碳酸盐沉积下来。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溶解与重新沉淀相抵，所以这一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支不带来净的大气碳变化。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3685" y="5812631"/>
              <a:ext cx="3663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溶解与再沉淀相抵 | Dissolution ≈ re-precipitation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77090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pp.1212–1213; 地球系统与演变 Ch.4 §4.5.1, 图 4-16, PDF p.80; HB Ch.9 pp.246–249; EP pp.765, 878.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02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2.10 慢碳循环 | Slow Geological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411237" cy="357093"/>
            <a:chOff x="381000" y="914400"/>
            <a:chExt cx="74112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风化与河流输送、沉积埋藏、俯冲变质、火山脱气，首尾相接构成慢地质路径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478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247" y="19902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7511" y="2118360"/>
              <a:ext cx="2276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1565910"/>
              <a:ext cx="376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四段方向序列 | Four-stage directional pathway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4955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14500" y="2743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95250" y="2095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76247" y="2637949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CO₂ 进入风化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382250" y="2552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287000" y="24574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209550"/>
                  </a:moveTo>
                  <a:lnTo>
                    <a:pt x="95250" y="0"/>
                  </a:lnTo>
                  <a:lnTo>
                    <a:pt x="190500" y="2095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9697" y="2656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返回大气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2154" y="3280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风化与河流输送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3647599"/>
              <a:ext cx="1907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Weathering &amp; river transport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3914299"/>
              <a:ext cx="1559433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降水溶入 CO₂ 后侵蚀岩石，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产物由河流带走。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67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19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67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385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7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95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90747" y="3647599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Sedimentation &amp; burial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碳酸盐与有机碳沉积，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随后被埋入地下。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245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769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24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96050" y="3181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1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俯冲与变质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53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247" y="3647599"/>
              <a:ext cx="1775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Subduction &amp; metamorphism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8247" y="3914299"/>
              <a:ext cx="137896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板块俯冲把碳带入深部，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经变质作用长期储存。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82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34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82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353550" y="3181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2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465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火山脱气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410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5747" y="3647599"/>
              <a:ext cx="1187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Volcanic degassing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05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火山把碳送回大气，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完成一个慢循环回合。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672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910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5247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4485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7434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247" y="4847749"/>
              <a:ext cx="169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DEEP STORAGE · 深部储存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485" y="5060156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· 沉积岩 · 地幔：碳在这里停留的时间远长于表层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544830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5566410"/>
              <a:ext cx="1762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图件说明 | Figure note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485" y="5784056"/>
              <a:ext cx="38234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本页为教材图 4-16 的忠实双语原生简化，保留路径与方向；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不放置密集栅格，也不与图 4-17 的数值合成新预算。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6238" y="6532245"/>
            <a:ext cx="8513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§4.5.1–4.5.2, 图 4-16/4-17, PDF pp.79–81; UE 8e Ch.12, PDF pp.1209, 1212–1213; EP Ch.23 Fig.23.6; HB Ch.9.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61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2.11 碳循环的多个时钟 | Multiple Carbon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生物、海洋、沉积与地质，四条路径以四个不同档位的时钟运行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428750"/>
            <a:ext cx="11430000" cy="609600"/>
            <a:chOff x="381000" y="142875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0746" y="1685449"/>
              <a:ext cx="1622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 Reservoir = 存了多少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434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28418" y="1685449"/>
              <a:ext cx="1535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 Flux = 每年转移多少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772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7236" y="1685449"/>
              <a:ext cx="248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 Residence Time = 平均停留多久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2190750"/>
            <a:ext cx="11430000" cy="2384107"/>
            <a:chOff x="381000" y="2190750"/>
            <a:chExt cx="11430000" cy="2384107"/>
          </a:xfrm>
        </p:grpSpPr>
        <p:sp>
          <p:nvSpPr>
            <p:cNvPr id="17" name="Rectangle 17"/>
            <p:cNvSpPr/>
            <p:nvPr/>
          </p:nvSpPr>
          <p:spPr>
            <a:xfrm>
              <a:off x="381000" y="2190750"/>
              <a:ext cx="11430000" cy="2381250"/>
            </a:xfrm>
            <a:prstGeom prst="roundRect">
              <a:avLst>
                <a:gd name="adj" fmla="val 48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366010"/>
              <a:ext cx="3345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 4-15 锚点 | Four clocks (CN Fig. 4-15)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004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005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2101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200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297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2298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2395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28313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大气—生物圈—表层海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00400" y="2838450"/>
              <a:ext cx="1000125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90822" y="2885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10¹–10²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3212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深层海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00525" y="3219450"/>
              <a:ext cx="1009650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00472" y="3266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10²–10³ 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885" y="3593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0175" y="3600450"/>
              <a:ext cx="2009775" cy="190500"/>
            </a:xfrm>
            <a:prstGeom prst="roundRect">
              <a:avLst>
                <a:gd name="adj" fmla="val 2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0247" y="3647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10³–10⁵ 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885" y="3974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地质储库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9950" y="3981450"/>
              <a:ext cx="4019550" cy="190500"/>
            </a:xfrm>
            <a:prstGeom prst="roundRect">
              <a:avLst>
                <a:gd name="adj" fmla="val 20000"/>
              </a:avLst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31835" y="4028599"/>
              <a:ext cx="717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 10⁵ 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430530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647" y="4238149"/>
              <a:ext cx="128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对数轴（每格 10 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956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58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4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5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2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3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250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251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347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4724400"/>
            <a:ext cx="11430000" cy="1504950"/>
            <a:chOff x="381000" y="4724400"/>
            <a:chExt cx="11430000" cy="1504950"/>
          </a:xfrm>
        </p:grpSpPr>
        <p:sp>
          <p:nvSpPr>
            <p:cNvPr id="52" name="Rectangle 52"/>
            <p:cNvSpPr/>
            <p:nvPr/>
          </p:nvSpPr>
          <p:spPr>
            <a:xfrm>
              <a:off x="381000" y="4724400"/>
              <a:ext cx="114300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504" y="4899660"/>
              <a:ext cx="6917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独立来源面板：图 4-16 的更宽区间 | Separate source panel (CN Fig. 4-16), not merged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0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385" y="5593556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0–10³ 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909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75304" y="533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沉积物库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756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10³–10⁸ 年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722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6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变质库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69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10⁶–10⁹ 年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79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地幔库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82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10⁷–10⁹ 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" y="599074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两个面板各自保留原图区间与单位，不合并、不插值，也不跨图换算。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369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§4.4.3–4.5.1, 图 4-15 与图 4-16, PDF pp.78–80; UE 8e Ch.12, PDF pp.1205–1206, 1209–1213; EP Ch.23 p.881.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2.12 课堂读图 | Concept Check 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670511" cy="357093"/>
            <a:chOff x="381000" y="914400"/>
            <a:chExt cx="667051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5070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任选图 12.19 上的一条通路，按储库、通量、快慢与领域把它说清楚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6096000" cy="4800600"/>
            <a:chOff x="381000" y="1428750"/>
            <a:chExt cx="6096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096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543050"/>
              <a:ext cx="5495925" cy="45720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629400" y="1428750"/>
            <a:ext cx="5181600" cy="3028950"/>
            <a:chOff x="6629400" y="1428750"/>
            <a:chExt cx="51816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629400" y="1428750"/>
              <a:ext cx="5181600" cy="3028950"/>
            </a:xfrm>
            <a:prstGeom prst="roundRect">
              <a:avLst>
                <a:gd name="adj" fmla="val 377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1904" y="1604010"/>
              <a:ext cx="141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任务提示 |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2285" y="18978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 12.19 上任选一条通路，说出：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05625" y="22574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5453" y="2342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9485" y="2240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起点储库与终点储库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0247" y="2447449"/>
              <a:ext cx="162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 and end reservoirs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05625" y="2752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5453" y="2837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中间的过程或通量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0247" y="2942749"/>
              <a:ext cx="1261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process or flux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05625" y="32480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5453" y="3333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3231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这条通路是快还是慢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247" y="3438049"/>
              <a:ext cx="81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 or slow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5625" y="37433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5453" y="3828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7266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属于生物、海洋还是地质路径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247" y="3933349"/>
              <a:ext cx="2118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Biological, oceanic, or geological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610100"/>
            <a:ext cx="5181600" cy="1619250"/>
            <a:chOff x="6629400" y="4610100"/>
            <a:chExt cx="51816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6629400" y="4610100"/>
              <a:ext cx="51816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904" y="4785360"/>
              <a:ext cx="171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读图提示 | Reading aid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098256"/>
              <a:ext cx="25717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先找方框（储库），再读箭头（通量）：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大气、陆地、海洋与地质四区在图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上有明确分区，箭头还给方向。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3047" y="58383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不要求背下图上全部数字。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57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pp.1209–1213; 地球系统与演变 Ch.4, 图 4-9/4-16, PDF pp.68–80.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38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2.13 第二部分总结 | Carbon Links Life to Rocks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碳循环从快速的生物与海气交换，延伸到缓慢的岩石圈交换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5562600" cy="2247900"/>
            <a:chOff x="381000" y="1428750"/>
            <a:chExt cx="5562600" cy="22479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11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1737360"/>
              <a:ext cx="2753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碳存在哪里 | Where carbon resides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大气、生命与土壤、海洋、沉积物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与岩石，共同构成碳的储库体系。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2999899"/>
              <a:ext cx="3346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 · life and soil · ocean · sediment · 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28750"/>
            <a:ext cx="5562600" cy="2247900"/>
            <a:chOff x="6248400" y="1428750"/>
            <a:chExt cx="55626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008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1737360"/>
              <a:ext cx="2210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快速通路 | Faster pathways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光合作用、呼吸作用与海气交换，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把碳在大气与表层之间快速搬运。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047" y="2999899"/>
              <a:ext cx="312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respiration · air–sea exchange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3981450"/>
            <a:ext cx="5562600" cy="2247900"/>
            <a:chOff x="381000" y="3981450"/>
            <a:chExt cx="55626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3810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1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704" y="4290060"/>
              <a:ext cx="225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与岩石相连 | Linked to rocks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碳酸盐形成、埋藏、俯冲与脱气，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把表层碳一路接到岩石圈。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5552599"/>
              <a:ext cx="349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Carbonate formation · burial · subduction · degassing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3981450"/>
            <a:ext cx="5562600" cy="2247900"/>
            <a:chOff x="6248400" y="3981450"/>
            <a:chExt cx="5562600" cy="2247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104" y="4290060"/>
              <a:ext cx="2346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 | Different clocks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2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每条路径的速度不同，这决定每个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储库受到扰动后多快做出响应。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5552599"/>
              <a:ext cx="2560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Response speed depends on the pathway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60621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Ch.12; 地球系统与演变 Ch.4; EP Ch.23. Part II synthesis of the accepted Slides 21–32.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2026-09-14T08:44:54Z</dcterms:created>
  <dcterms:modified xsi:type="dcterms:W3CDTF">2026-09-14T08:44:54Z</dcterms:modified>
  <cp:category/>
  <cp:contentStatus/>
</cp:coreProperties>
</file>