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6"/>
  </p:notesMasterIdLst>
  <p:sldIdLst>
    <p:sldId id="256" r:id="rId7"/>
    <p:sldId id="257" r:id="rId8"/>
    <p:sldId id="258" r:id="rId9"/>
    <p:sldId id="259" r:id="rId10"/>
    <p:sldId id="260" r:id="rId11"/>
    <p:sldId id="261" r:id="rId12"/>
    <p:sldId id="262" r:id="rId13"/>
    <p:sldId id="263" r:id="rId14"/>
    <p:sldId id="264"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  <Relationship Id="rId1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先把"循环"这个词的含义立住。请学生看中间这句核心话：物质在地球系统的储库之间持续迁移，而不是一次性的单向流动。图上有五个储库，分别是大圈、水圈、生物圈、冰冻圈和岩石圈，它们围成一圈，中间的箭头是双向的，表示物质既能进去也能出来。讲的时候可以先问学生：水从哪里来、到哪里去，然后指出每个储库既是来源也是去向。这一页对应理解地球第八版第十二章关于气候系统组成部分的论述，以及中文教材第三、四章把水和碳称为表层系统最重要物质的说法。要点是：接下来无论讲水还是讲碳，用的都是这张"储库加箭头"的图，只是换物质、换时钟。</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给出本讲的阅读框架，四个词：储库、通量、停留时间和反馈。请学生把注意力放在四张卡片上，每张卡片先给英文术语，再给中文解释。第一个词储库，指物质被存放的位置，大小用储量衡量。第二个词通量，指物质在储库之间移动的速率，单位是质量除以时间，例如每年吉吨碳。这里要特别强调储量和通量是两回事，储量大的储库不一定交换得快。第三个词停留时间，衡量储库更新的快慢，大气水大约九天，海洋水大约三千二百年，差距极大。第四个词反馈，正反馈放大初始变化，负反馈反向作用并趋于稳定。底部那条橙色提示是关键：这四个词会在第二部分碳循环里原样复用，框架不变，只是换了物质和时钟。来源是理解地球第八版第一二零五页和第一六四七到一六五零页，以及地球画像第八百八十一页。</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要建立"地球上的水高度不均匀分布"这个直觉。左边的条形图按对数尺度绘制，因为六个储库的体积跨越了五个数量级，用线性尺度后三个会看不见。请学生从上往下读：海洋占百分之九十五点九六，体积约一点四乘以十的九次方立方千米；冰川和极地冰占百分之二点九七；地下水占百分之一点零五；湖泊河流只有百分之零点零零九；大气水百分之零点零零一；生物圈水百分之零点零零零一。右边上方那个大数字九十五点九六强调海洋占绝对多数，其余所有储库加起来只有百分之四点零四。右边下方进一步指出，冰川大多难以直接利用，真正容易利用的表层淡水极少，所以"水很多"不等于"可用的淡水很多"。所有数值只来自理解地球第八版图十七点一，中文教材图三点三只作备用，两套数据没有混用。</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用理解地球第八版图十七点二的全球水量收支，训练学生把箭头方向和数值一起读。先看中间的大气带，它是小储库但交换很快。左边海洋向上蒸发四百三十四，向下降水三百九十八；右边陆地向下降水一百零七，向上蒸散七十一。中间那条橙色横向箭头是大气输送三十六，把海洋净蒸发的水送到陆地上空；底部那条橙色箭头是径流三十六，把陆地的净水送回海洋。请学生自己验算两个闭合：海洋侧四百三十四减三百九十八等于三十六，陆地侧一百零七减七十一等于三十六，两边都是三十六，说明全球收支是闭合的。所有数值单位都是一千立方千米每年。讲的时候强调方向不能搞反：蒸发向上、降水向下、输送从海到陆、径流从陆到海。中文教材图三点十五只作备用，它的面板单位没有和主图混用。</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的核心是：水的相变同时搬运水和能量，而且汽化潜热远大于熔融潜热。左边直接放中文教材图三点十七这张批准的原图，箭头方向和所有数值都原样保留，没有改动。右边三张数值卡片帮学生把图上的数字读清楚：固液之间熔融或冻结约正负八十卡；液态水在零到一百摄氏度之间加热或降温约正负一百卡，这是显热不是相变；液气之间汽化或凝结约正负五百四十卡。下面还保留教材的单位换算，一卡等于四点一八四焦。底部那条橙色提示是本页最重要的结论：气液相变的能量大约是固液相变的七倍，也就是五百四十除以八十，这个不对称正是水循环能够大量搬运能量的原因。讲的时候可以让学生比较这三个数字，体会为什么蒸发和凝结在气候里比融化和冻结更重要。</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是一张原生的、可编辑的过程图，不是截图。请学生看三根向上的箭头，它们代表水返回大气的三条路径。左边是海洋表面的蒸发，中间是陆地表面和土壤的蒸发，右边是植被的蒸腾，用三棵简化的树表示。三根箭头都指向顶部的大气带，说明无论来源是海洋、陆地还是植物，水最终都以水汽形式回到大气。底部那条蓝色定义带把三个过程合并：蒸散等于蒸发加蒸腾，其中蒸发来自海洋和陆地表面，蒸腾来自植被。讲的时候可以补充中文教材第四点三点五节的说法，全球大陆蒸散把大约百分之八十到九十的水返回大气，一棵大树每天蒸腾二百到一千升水。来源还包括理解地球第八版第一六五三到一六五四页和第一一六八页，那里分别讲了蒸发和植物把地下水通过叶片返还大气的过程。</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这一页是从水到碳的过渡，也是第二部分的启动 cue。顶部那条橙色横幅明确告诉学生：现在进入第二部分碳循环，框架不变，变的只是物质和时钟。中间的桥接图把碳放在中心，四个方向分别连接气候、生命、海洋和岩石。请学生注意箭头的颜色：气候和生命用橙色，表示碳的快速生物和大气路径；海洋用蓝色，呼应第一部分的水；岩石用棕色，表示慢地质路径。这四条连接说明碳把气候、生命、海洋和岩石用同一套储库和通量语言串了起来。底部那条框架带把第一部分学过的三个词原样搬过来：储库、通量、停留时间，告诉学生不需要重新学一套语言。来源是理解地球第八版第一二零四到一二零五页关于碳循环定义的论述，以及中文教材第四点一节把碳循环描述为氧化还原过程、生命用光合作用把无机碳转成有机碳的说法。</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有一个必须讲准确的点，请特别注意。左边放的是理解地球第八版图十二点十九这张批准的原图，它是本页唯一的数值数据集。右边的数值升序图只从这张图里取四个储库的总量，按从小到大排列：生物圈五百，大气八百三十，土壤一千五百，海洋三万八千，单位都是吉吨碳。这里要强调，最小的是生物圈五百，不是大气；大气八百三十是第二小。请千万不要把大气说成这些储库里最小的。下面那张灰色卡片是单独的一组，沉积物和岩石圈属于地质储库，图十二点十九没有印出它们的具体总量，所以这一页只作定性处理，不给它们编号，也不并入上面的数值升序，更没有引入第二套数值数据。讲的时候可以问学生：为什么海洋碳这么多，但大气碳的变化对气候影响这么直接，借此引出下一页的碳循环通量。</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一页把水和碳放到同一个框架里对齐，但要点明时钟不同。左边是一张三行两列的对照表，三行是储库、通量、停留时间，两列分别是水和碳。储库这一行，水有海洋、大气、冰雪、地下水、湖泊河流和生物圈，碳有大气、生物圈、土壤、海洋、沉积物和岩石圈。通量这一行，水是蒸发、降水、径流、入渗、地下水流和蒸腾，碳是光合作用、呼吸、分解、海气交换、风化、埋藏和火山脱气。停留时间这一行只做定性比较：水的不同储库时钟差异大，大气以日计、海洋以千年计；碳则有快路径和慢路径并存，时钟跨越多个数量级。右边那个时钟对比帮学生建立直觉：水是单一物质、多个储库时钟；碳是同一物质、快慢两套时钟并存，快的来自生物和海气，慢的来自地质。底部明确写了本页只做定性对齐，不合并成统一的数值时间表。来源是理解地球第八版第一二零五到一二零六页和第一二零九到一二一三页，以及中文教材图四点十五和图四点十六。</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PROD-W1-QIANWEN-OFFICE-VALIDATION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PROD-W1-QIANWEN-OFFICE-VALIDATION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8cb7032a342ce13.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e66e7026df0aa33.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97053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1.1 什么在循环？ | What Is Actually Cycling?</a:t>
              </a:r>
            </a:p>
          </p:txBody>
        </p:sp>
        <p:sp>
          <p:nvSpPr>
            <p:cNvPr id="4" name="TextBox 4"/>
            <p:cNvSpPr txBox="1"/>
            <p:nvPr/>
          </p:nvSpPr>
          <p:spPr>
            <a:xfrm>
              <a:off x="9944405" y="299085"/>
              <a:ext cx="1872691"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EARTH-SYSTEM FRAMING</a:t>
              </a:r>
            </a:p>
          </p:txBody>
        </p:sp>
      </p:grpSp>
      <p:grpSp>
        <p:nvGrpSpPr>
          <p:cNvPr id="8" name="Group 8"/>
          <p:cNvGrpSpPr/>
          <p:nvPr/>
        </p:nvGrpSpPr>
        <p:grpSpPr>
          <a:xfrm>
            <a:off x="381000" y="914400"/>
            <a:ext cx="5709641" cy="357093"/>
            <a:chOff x="381000" y="914400"/>
            <a:chExt cx="5709641"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5546192"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物质在地球系统的储库之间持续迁移，不是一次性单向流动</a:t>
              </a:r>
            </a:p>
          </p:txBody>
        </p:sp>
      </p:grpSp>
      <p:grpSp>
        <p:nvGrpSpPr>
          <p:cNvPr id="54" name="Group 54"/>
          <p:cNvGrpSpPr/>
          <p:nvPr/>
        </p:nvGrpSpPr>
        <p:grpSpPr>
          <a:xfrm>
            <a:off x="381000" y="1466850"/>
            <a:ext cx="11430000" cy="4362450"/>
            <a:chOff x="381000" y="1466850"/>
            <a:chExt cx="11430000" cy="4362450"/>
          </a:xfrm>
        </p:grpSpPr>
        <p:sp>
          <p:nvSpPr>
            <p:cNvPr id="9" name="Rectangle 9"/>
            <p:cNvSpPr/>
            <p:nvPr/>
          </p:nvSpPr>
          <p:spPr>
            <a:xfrm>
              <a:off x="381000" y="1466850"/>
              <a:ext cx="11430000" cy="4362450"/>
            </a:xfrm>
            <a:prstGeom prst="roundRect">
              <a:avLst>
                <a:gd name="adj" fmla="val 2620"/>
              </a:avLst>
            </a:prstGeom>
            <a:solidFill>
              <a:srgbClr val="F7F9FC"/>
            </a:solidFill>
            <a:ln w="9525">
              <a:solidFill>
                <a:srgbClr val="D6DCE5"/>
              </a:solidFill>
            </a:ln>
          </p:spPr>
        </p:sp>
        <p:sp>
          <p:nvSpPr>
            <p:cNvPr id="10" name="Line 10"/>
            <p:cNvSpPr/>
            <p:nvPr/>
          </p:nvSpPr>
          <p:spPr>
            <a:xfrm>
              <a:off x="4762500" y="2724150"/>
              <a:ext cx="876300" cy="628650"/>
            </a:xfrm>
            <a:custGeom>
              <a:avLst/>
              <a:gdLst/>
              <a:ahLst/>
              <a:cxnLst/>
              <a:rect l="l" t="t" r="r" b="b"/>
              <a:pathLst>
                <a:path w="876300" h="628650">
                  <a:moveTo>
                    <a:pt x="876300" y="0"/>
                  </a:moveTo>
                  <a:lnTo>
                    <a:pt x="0" y="628650"/>
                  </a:lnTo>
                </a:path>
              </a:pathLst>
            </a:custGeom>
            <a:noFill/>
            <a:ln w="28575">
              <a:solidFill>
                <a:srgbClr val="3D7BD9"/>
              </a:solidFill>
            </a:ln>
          </p:spPr>
        </p:sp>
        <p:sp>
          <p:nvSpPr>
            <p:cNvPr id="11" name="Polygon 11"/>
            <p:cNvSpPr/>
            <p:nvPr/>
          </p:nvSpPr>
          <p:spPr>
            <a:xfrm>
              <a:off x="4705350" y="3276600"/>
              <a:ext cx="171450" cy="161925"/>
            </a:xfrm>
            <a:custGeom>
              <a:avLst/>
              <a:gdLst/>
              <a:ahLst/>
              <a:cxnLst/>
              <a:rect l="l" t="t" r="r" b="b"/>
              <a:pathLst>
                <a:path w="171450" h="161925">
                  <a:moveTo>
                    <a:pt x="0" y="0"/>
                  </a:moveTo>
                  <a:lnTo>
                    <a:pt x="171450" y="0"/>
                  </a:lnTo>
                  <a:lnTo>
                    <a:pt x="85725" y="161925"/>
                  </a:lnTo>
                  <a:close/>
                </a:path>
              </a:pathLst>
            </a:custGeom>
            <a:solidFill>
              <a:srgbClr val="3D7BD9"/>
            </a:solidFill>
            <a:ln>
              <a:noFill/>
            </a:ln>
          </p:spPr>
        </p:sp>
        <p:sp>
          <p:nvSpPr>
            <p:cNvPr id="12" name="Polygon 12"/>
            <p:cNvSpPr/>
            <p:nvPr/>
          </p:nvSpPr>
          <p:spPr>
            <a:xfrm>
              <a:off x="5524500" y="2638425"/>
              <a:ext cx="171450" cy="161925"/>
            </a:xfrm>
            <a:custGeom>
              <a:avLst/>
              <a:gdLst/>
              <a:ahLst/>
              <a:cxnLst/>
              <a:rect l="l" t="t" r="r" b="b"/>
              <a:pathLst>
                <a:path w="171450" h="161925">
                  <a:moveTo>
                    <a:pt x="171450" y="161925"/>
                  </a:moveTo>
                  <a:lnTo>
                    <a:pt x="0" y="161925"/>
                  </a:lnTo>
                  <a:lnTo>
                    <a:pt x="85725" y="0"/>
                  </a:lnTo>
                  <a:close/>
                </a:path>
              </a:pathLst>
            </a:custGeom>
            <a:solidFill>
              <a:srgbClr val="3D7BD9"/>
            </a:solidFill>
            <a:ln>
              <a:noFill/>
            </a:ln>
          </p:spPr>
        </p:sp>
        <p:sp>
          <p:nvSpPr>
            <p:cNvPr id="13" name="Line 13"/>
            <p:cNvSpPr/>
            <p:nvPr/>
          </p:nvSpPr>
          <p:spPr>
            <a:xfrm>
              <a:off x="6553200" y="2724150"/>
              <a:ext cx="876300" cy="628650"/>
            </a:xfrm>
            <a:custGeom>
              <a:avLst/>
              <a:gdLst/>
              <a:ahLst/>
              <a:cxnLst/>
              <a:rect l="l" t="t" r="r" b="b"/>
              <a:pathLst>
                <a:path w="876300" h="628650">
                  <a:moveTo>
                    <a:pt x="0" y="0"/>
                  </a:moveTo>
                  <a:lnTo>
                    <a:pt x="876300" y="628650"/>
                  </a:lnTo>
                </a:path>
              </a:pathLst>
            </a:custGeom>
            <a:noFill/>
            <a:ln w="28575">
              <a:solidFill>
                <a:srgbClr val="3D7BD9"/>
              </a:solidFill>
            </a:ln>
          </p:spPr>
        </p:sp>
        <p:sp>
          <p:nvSpPr>
            <p:cNvPr id="14" name="Polygon 14"/>
            <p:cNvSpPr/>
            <p:nvPr/>
          </p:nvSpPr>
          <p:spPr>
            <a:xfrm>
              <a:off x="7315200" y="3276600"/>
              <a:ext cx="171450" cy="161925"/>
            </a:xfrm>
            <a:custGeom>
              <a:avLst/>
              <a:gdLst/>
              <a:ahLst/>
              <a:cxnLst/>
              <a:rect l="l" t="t" r="r" b="b"/>
              <a:pathLst>
                <a:path w="171450" h="161925">
                  <a:moveTo>
                    <a:pt x="171450" y="0"/>
                  </a:moveTo>
                  <a:lnTo>
                    <a:pt x="0" y="0"/>
                  </a:lnTo>
                  <a:lnTo>
                    <a:pt x="85725" y="161925"/>
                  </a:lnTo>
                  <a:close/>
                </a:path>
              </a:pathLst>
            </a:custGeom>
            <a:solidFill>
              <a:srgbClr val="3D7BD9"/>
            </a:solidFill>
            <a:ln>
              <a:noFill/>
            </a:ln>
          </p:spPr>
        </p:sp>
        <p:sp>
          <p:nvSpPr>
            <p:cNvPr id="15" name="Polygon 15"/>
            <p:cNvSpPr/>
            <p:nvPr/>
          </p:nvSpPr>
          <p:spPr>
            <a:xfrm>
              <a:off x="6496050" y="2638425"/>
              <a:ext cx="171450" cy="161925"/>
            </a:xfrm>
            <a:custGeom>
              <a:avLst/>
              <a:gdLst/>
              <a:ahLst/>
              <a:cxnLst/>
              <a:rect l="l" t="t" r="r" b="b"/>
              <a:pathLst>
                <a:path w="171450" h="161925">
                  <a:moveTo>
                    <a:pt x="0" y="161925"/>
                  </a:moveTo>
                  <a:lnTo>
                    <a:pt x="171450" y="161925"/>
                  </a:lnTo>
                  <a:lnTo>
                    <a:pt x="85725" y="0"/>
                  </a:lnTo>
                  <a:close/>
                </a:path>
              </a:pathLst>
            </a:custGeom>
            <a:solidFill>
              <a:srgbClr val="3D7BD9"/>
            </a:solidFill>
            <a:ln>
              <a:noFill/>
            </a:ln>
          </p:spPr>
        </p:sp>
        <p:sp>
          <p:nvSpPr>
            <p:cNvPr id="16" name="Line 16"/>
            <p:cNvSpPr/>
            <p:nvPr/>
          </p:nvSpPr>
          <p:spPr>
            <a:xfrm>
              <a:off x="4305300" y="4171950"/>
              <a:ext cx="457200" cy="781050"/>
            </a:xfrm>
            <a:custGeom>
              <a:avLst/>
              <a:gdLst/>
              <a:ahLst/>
              <a:cxnLst/>
              <a:rect l="l" t="t" r="r" b="b"/>
              <a:pathLst>
                <a:path w="457200" h="781050">
                  <a:moveTo>
                    <a:pt x="0" y="0"/>
                  </a:moveTo>
                  <a:lnTo>
                    <a:pt x="457200" y="781050"/>
                  </a:lnTo>
                </a:path>
              </a:pathLst>
            </a:custGeom>
            <a:noFill/>
            <a:ln w="28575">
              <a:solidFill>
                <a:srgbClr val="3D7BD9"/>
              </a:solidFill>
            </a:ln>
          </p:spPr>
        </p:sp>
        <p:sp>
          <p:nvSpPr>
            <p:cNvPr id="17" name="Polygon 17"/>
            <p:cNvSpPr/>
            <p:nvPr/>
          </p:nvSpPr>
          <p:spPr>
            <a:xfrm>
              <a:off x="4610100" y="4876800"/>
              <a:ext cx="171450" cy="152400"/>
            </a:xfrm>
            <a:custGeom>
              <a:avLst/>
              <a:gdLst/>
              <a:ahLst/>
              <a:cxnLst/>
              <a:rect l="l" t="t" r="r" b="b"/>
              <a:pathLst>
                <a:path w="171450" h="152400">
                  <a:moveTo>
                    <a:pt x="95250" y="152400"/>
                  </a:moveTo>
                  <a:lnTo>
                    <a:pt x="0" y="0"/>
                  </a:lnTo>
                  <a:lnTo>
                    <a:pt x="171450" y="0"/>
                  </a:lnTo>
                  <a:close/>
                </a:path>
              </a:pathLst>
            </a:custGeom>
            <a:solidFill>
              <a:srgbClr val="3D7BD9"/>
            </a:solidFill>
            <a:ln>
              <a:noFill/>
            </a:ln>
          </p:spPr>
        </p:sp>
        <p:sp>
          <p:nvSpPr>
            <p:cNvPr id="18" name="Polygon 18"/>
            <p:cNvSpPr/>
            <p:nvPr/>
          </p:nvSpPr>
          <p:spPr>
            <a:xfrm>
              <a:off x="4286250" y="4095750"/>
              <a:ext cx="171450" cy="152400"/>
            </a:xfrm>
            <a:custGeom>
              <a:avLst/>
              <a:gdLst/>
              <a:ahLst/>
              <a:cxnLst/>
              <a:rect l="l" t="t" r="r" b="b"/>
              <a:pathLst>
                <a:path w="171450" h="152400">
                  <a:moveTo>
                    <a:pt x="76200" y="0"/>
                  </a:moveTo>
                  <a:lnTo>
                    <a:pt x="171450" y="152400"/>
                  </a:lnTo>
                  <a:lnTo>
                    <a:pt x="0" y="152400"/>
                  </a:lnTo>
                  <a:close/>
                </a:path>
              </a:pathLst>
            </a:custGeom>
            <a:solidFill>
              <a:srgbClr val="3D7BD9"/>
            </a:solidFill>
            <a:ln>
              <a:noFill/>
            </a:ln>
          </p:spPr>
        </p:sp>
        <p:sp>
          <p:nvSpPr>
            <p:cNvPr id="19" name="Line 19"/>
            <p:cNvSpPr/>
            <p:nvPr/>
          </p:nvSpPr>
          <p:spPr>
            <a:xfrm>
              <a:off x="7429500" y="4171950"/>
              <a:ext cx="457200" cy="781050"/>
            </a:xfrm>
            <a:custGeom>
              <a:avLst/>
              <a:gdLst/>
              <a:ahLst/>
              <a:cxnLst/>
              <a:rect l="l" t="t" r="r" b="b"/>
              <a:pathLst>
                <a:path w="457200" h="781050">
                  <a:moveTo>
                    <a:pt x="457200" y="0"/>
                  </a:moveTo>
                  <a:lnTo>
                    <a:pt x="0" y="781050"/>
                  </a:lnTo>
                </a:path>
              </a:pathLst>
            </a:custGeom>
            <a:noFill/>
            <a:ln w="28575">
              <a:solidFill>
                <a:srgbClr val="3D7BD9"/>
              </a:solidFill>
            </a:ln>
          </p:spPr>
        </p:sp>
        <p:sp>
          <p:nvSpPr>
            <p:cNvPr id="20" name="Polygon 20"/>
            <p:cNvSpPr/>
            <p:nvPr/>
          </p:nvSpPr>
          <p:spPr>
            <a:xfrm>
              <a:off x="7410450" y="4876800"/>
              <a:ext cx="171450" cy="152400"/>
            </a:xfrm>
            <a:custGeom>
              <a:avLst/>
              <a:gdLst/>
              <a:ahLst/>
              <a:cxnLst/>
              <a:rect l="l" t="t" r="r" b="b"/>
              <a:pathLst>
                <a:path w="171450" h="152400">
                  <a:moveTo>
                    <a:pt x="76200" y="152400"/>
                  </a:moveTo>
                  <a:lnTo>
                    <a:pt x="171450" y="0"/>
                  </a:lnTo>
                  <a:lnTo>
                    <a:pt x="0" y="0"/>
                  </a:lnTo>
                  <a:close/>
                </a:path>
              </a:pathLst>
            </a:custGeom>
            <a:solidFill>
              <a:srgbClr val="3D7BD9"/>
            </a:solidFill>
            <a:ln>
              <a:noFill/>
            </a:ln>
          </p:spPr>
        </p:sp>
        <p:sp>
          <p:nvSpPr>
            <p:cNvPr id="21" name="Polygon 21"/>
            <p:cNvSpPr/>
            <p:nvPr/>
          </p:nvSpPr>
          <p:spPr>
            <a:xfrm>
              <a:off x="7734300" y="4095750"/>
              <a:ext cx="171450" cy="152400"/>
            </a:xfrm>
            <a:custGeom>
              <a:avLst/>
              <a:gdLst/>
              <a:ahLst/>
              <a:cxnLst/>
              <a:rect l="l" t="t" r="r" b="b"/>
              <a:pathLst>
                <a:path w="171450" h="152400">
                  <a:moveTo>
                    <a:pt x="95250" y="0"/>
                  </a:moveTo>
                  <a:lnTo>
                    <a:pt x="0" y="152400"/>
                  </a:lnTo>
                  <a:lnTo>
                    <a:pt x="171450" y="152400"/>
                  </a:lnTo>
                  <a:close/>
                </a:path>
              </a:pathLst>
            </a:custGeom>
            <a:solidFill>
              <a:srgbClr val="3D7BD9"/>
            </a:solidFill>
            <a:ln>
              <a:noFill/>
            </a:ln>
          </p:spPr>
        </p:sp>
        <p:sp>
          <p:nvSpPr>
            <p:cNvPr id="22" name="Line 22"/>
            <p:cNvSpPr/>
            <p:nvPr/>
          </p:nvSpPr>
          <p:spPr>
            <a:xfrm>
              <a:off x="5381625" y="5362575"/>
              <a:ext cx="1428750" cy="9525"/>
            </a:xfrm>
            <a:custGeom>
              <a:avLst/>
              <a:gdLst/>
              <a:ahLst/>
              <a:cxnLst/>
              <a:rect l="l" t="t" r="r" b="b"/>
              <a:pathLst>
                <a:path w="1428750" h="9525">
                  <a:moveTo>
                    <a:pt x="0" y="0"/>
                  </a:moveTo>
                  <a:lnTo>
                    <a:pt x="1428750" y="0"/>
                  </a:lnTo>
                </a:path>
              </a:pathLst>
            </a:custGeom>
            <a:noFill/>
            <a:ln w="28575">
              <a:solidFill>
                <a:srgbClr val="3D7BD9"/>
              </a:solidFill>
            </a:ln>
          </p:spPr>
        </p:sp>
        <p:sp>
          <p:nvSpPr>
            <p:cNvPr id="23" name="Polygon 23"/>
            <p:cNvSpPr/>
            <p:nvPr/>
          </p:nvSpPr>
          <p:spPr>
            <a:xfrm>
              <a:off x="6715125" y="5276850"/>
              <a:ext cx="171450" cy="171450"/>
            </a:xfrm>
            <a:custGeom>
              <a:avLst/>
              <a:gdLst/>
              <a:ahLst/>
              <a:cxnLst/>
              <a:rect l="l" t="t" r="r" b="b"/>
              <a:pathLst>
                <a:path w="171450" h="171450">
                  <a:moveTo>
                    <a:pt x="171450" y="85725"/>
                  </a:moveTo>
                  <a:lnTo>
                    <a:pt x="0" y="0"/>
                  </a:lnTo>
                  <a:lnTo>
                    <a:pt x="0" y="171450"/>
                  </a:lnTo>
                  <a:close/>
                </a:path>
              </a:pathLst>
            </a:custGeom>
            <a:solidFill>
              <a:srgbClr val="3D7BD9"/>
            </a:solidFill>
            <a:ln>
              <a:noFill/>
            </a:ln>
          </p:spPr>
        </p:sp>
        <p:sp>
          <p:nvSpPr>
            <p:cNvPr id="24" name="Polygon 24"/>
            <p:cNvSpPr/>
            <p:nvPr/>
          </p:nvSpPr>
          <p:spPr>
            <a:xfrm>
              <a:off x="5305425" y="5276850"/>
              <a:ext cx="171450" cy="171450"/>
            </a:xfrm>
            <a:custGeom>
              <a:avLst/>
              <a:gdLst/>
              <a:ahLst/>
              <a:cxnLst/>
              <a:rect l="l" t="t" r="r" b="b"/>
              <a:pathLst>
                <a:path w="171450" h="171450">
                  <a:moveTo>
                    <a:pt x="0" y="85725"/>
                  </a:moveTo>
                  <a:lnTo>
                    <a:pt x="171450" y="0"/>
                  </a:lnTo>
                  <a:lnTo>
                    <a:pt x="171450" y="171450"/>
                  </a:lnTo>
                  <a:close/>
                </a:path>
              </a:pathLst>
            </a:custGeom>
            <a:solidFill>
              <a:srgbClr val="3D7BD9"/>
            </a:solidFill>
            <a:ln>
              <a:noFill/>
            </a:ln>
          </p:spPr>
        </p:sp>
        <p:grpSp>
          <p:nvGrpSpPr>
            <p:cNvPr id="29" name="Group 29"/>
            <p:cNvGrpSpPr/>
            <p:nvPr/>
          </p:nvGrpSpPr>
          <p:grpSpPr>
            <a:xfrm>
              <a:off x="5238750" y="1866900"/>
              <a:ext cx="1714500" cy="857250"/>
              <a:chOff x="5238750" y="1866900"/>
              <a:chExt cx="1714500" cy="857250"/>
            </a:xfrm>
          </p:grpSpPr>
          <p:sp>
            <p:nvSpPr>
              <p:cNvPr id="25" name="Rectangle 25"/>
              <p:cNvSpPr/>
              <p:nvPr/>
            </p:nvSpPr>
            <p:spPr>
              <a:xfrm>
                <a:off x="5238750" y="1866900"/>
                <a:ext cx="1714500" cy="857250"/>
              </a:xfrm>
              <a:prstGeom prst="roundRect">
                <a:avLst>
                  <a:gd name="adj" fmla="val 13333"/>
                </a:avLst>
              </a:prstGeom>
              <a:solidFill>
                <a:srgbClr val="F0F5FC"/>
              </a:solidFill>
              <a:ln w="19050">
                <a:solidFill>
                  <a:srgbClr val="1E4FA8"/>
                </a:solidFill>
              </a:ln>
            </p:spPr>
          </p:sp>
          <p:sp>
            <p:nvSpPr>
              <p:cNvPr id="26" name="TextBox 26"/>
              <p:cNvSpPr txBox="1"/>
              <p:nvPr/>
            </p:nvSpPr>
            <p:spPr>
              <a:xfrm>
                <a:off x="5831053" y="2053114"/>
                <a:ext cx="529895" cy="249364"/>
              </a:xfrm>
              <a:prstGeom prst="rect">
                <a:avLst/>
              </a:prstGeom>
              <a:noFill/>
              <a:ln>
                <a:noFill/>
              </a:ln>
            </p:spPr>
            <p:txBody>
              <a:bodyPr wrap="none" lIns="0" tIns="0" rIns="0" bIns="0" anchor="t" anchorCtr="0">
                <a:spAutoFit/>
              </a:bodyPr>
              <a:lstStyle/>
              <a:p>
                <a:pPr algn="ctr"/>
                <a:r>
                  <a:rPr lang="zh-CN" sz="1280" b="1" dirty="0">
                    <a:solidFill>
                      <a:srgbClr val="0E3F8C"/>
                    </a:solidFill>
                    <a:latin typeface="Arial"/>
                    <a:ea typeface="Microsoft YaHei"/>
                    <a:cs typeface="Arial"/>
                  </a:rPr>
                  <a:t>大气圈</a:t>
                </a:r>
              </a:p>
            </p:txBody>
          </p:sp>
          <p:sp>
            <p:nvSpPr>
              <p:cNvPr id="27" name="TextBox 27"/>
              <p:cNvSpPr txBox="1"/>
              <p:nvPr/>
            </p:nvSpPr>
            <p:spPr>
              <a:xfrm>
                <a:off x="5712925" y="2314099"/>
                <a:ext cx="766150" cy="190690"/>
              </a:xfrm>
              <a:prstGeom prst="rect">
                <a:avLst/>
              </a:prstGeom>
              <a:noFill/>
              <a:ln>
                <a:noFill/>
              </a:ln>
            </p:spPr>
            <p:txBody>
              <a:bodyPr wrap="none" lIns="0" tIns="0" rIns="0" bIns="0" anchor="t" anchorCtr="0">
                <a:spAutoFit/>
              </a:bodyPr>
              <a:lstStyle/>
              <a:p>
                <a:pPr algn="ctr"/>
                <a:r>
                  <a:rPr lang="en-US" sz="980" dirty="0">
                    <a:solidFill>
                      <a:srgbClr val="3D7BD9"/>
                    </a:solidFill>
                    <a:latin typeface="Arial"/>
                    <a:ea typeface="Arial"/>
                    <a:cs typeface="Arial"/>
                  </a:rPr>
                  <a:t>Atmosphere</a:t>
                </a:r>
              </a:p>
            </p:txBody>
          </p:sp>
          <p:sp>
            <p:nvSpPr>
              <p:cNvPr id="28" name="TextBox 28"/>
              <p:cNvSpPr txBox="1"/>
              <p:nvPr/>
            </p:nvSpPr>
            <p:spPr>
              <a:xfrm>
                <a:off x="5658098" y="2512695"/>
                <a:ext cx="875805"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气体 · 快速交换</a:t>
                </a:r>
              </a:p>
            </p:txBody>
          </p:sp>
        </p:grpSp>
        <p:grpSp>
          <p:nvGrpSpPr>
            <p:cNvPr id="34" name="Group 34"/>
            <p:cNvGrpSpPr/>
            <p:nvPr/>
          </p:nvGrpSpPr>
          <p:grpSpPr>
            <a:xfrm>
              <a:off x="3238500" y="3409950"/>
              <a:ext cx="2095500" cy="857250"/>
              <a:chOff x="3238500" y="3409950"/>
              <a:chExt cx="2095500" cy="857250"/>
            </a:xfrm>
          </p:grpSpPr>
          <p:sp>
            <p:nvSpPr>
              <p:cNvPr id="30" name="Rectangle 30"/>
              <p:cNvSpPr/>
              <p:nvPr/>
            </p:nvSpPr>
            <p:spPr>
              <a:xfrm>
                <a:off x="3238500" y="3409950"/>
                <a:ext cx="2095500" cy="857250"/>
              </a:xfrm>
              <a:prstGeom prst="roundRect">
                <a:avLst>
                  <a:gd name="adj" fmla="val 13333"/>
                </a:avLst>
              </a:prstGeom>
              <a:solidFill>
                <a:srgbClr val="F0F5FC"/>
              </a:solidFill>
              <a:ln w="19050">
                <a:solidFill>
                  <a:srgbClr val="1E4FA8"/>
                </a:solidFill>
              </a:ln>
            </p:spPr>
          </p:sp>
          <p:sp>
            <p:nvSpPr>
              <p:cNvPr id="31" name="TextBox 31"/>
              <p:cNvSpPr txBox="1"/>
              <p:nvPr/>
            </p:nvSpPr>
            <p:spPr>
              <a:xfrm>
                <a:off x="4107459" y="3596164"/>
                <a:ext cx="357581" cy="249364"/>
              </a:xfrm>
              <a:prstGeom prst="rect">
                <a:avLst/>
              </a:prstGeom>
              <a:noFill/>
              <a:ln>
                <a:noFill/>
              </a:ln>
            </p:spPr>
            <p:txBody>
              <a:bodyPr wrap="none" lIns="0" tIns="0" rIns="0" bIns="0" anchor="t" anchorCtr="0">
                <a:spAutoFit/>
              </a:bodyPr>
              <a:lstStyle/>
              <a:p>
                <a:pPr algn="ctr"/>
                <a:r>
                  <a:rPr lang="zh-CN" sz="1280" b="1" dirty="0">
                    <a:solidFill>
                      <a:srgbClr val="0E3F8C"/>
                    </a:solidFill>
                    <a:latin typeface="Arial"/>
                    <a:ea typeface="Microsoft YaHei"/>
                    <a:cs typeface="Arial"/>
                  </a:rPr>
                  <a:t>水圈</a:t>
                </a:r>
              </a:p>
            </p:txBody>
          </p:sp>
          <p:sp>
            <p:nvSpPr>
              <p:cNvPr id="32" name="TextBox 32"/>
              <p:cNvSpPr txBox="1"/>
              <p:nvPr/>
            </p:nvSpPr>
            <p:spPr>
              <a:xfrm>
                <a:off x="3880162" y="3857149"/>
                <a:ext cx="812175" cy="190690"/>
              </a:xfrm>
              <a:prstGeom prst="rect">
                <a:avLst/>
              </a:prstGeom>
              <a:noFill/>
              <a:ln>
                <a:noFill/>
              </a:ln>
            </p:spPr>
            <p:txBody>
              <a:bodyPr wrap="none" lIns="0" tIns="0" rIns="0" bIns="0" anchor="t" anchorCtr="0">
                <a:spAutoFit/>
              </a:bodyPr>
              <a:lstStyle/>
              <a:p>
                <a:pPr algn="ctr"/>
                <a:r>
                  <a:rPr lang="en-US" sz="980" dirty="0">
                    <a:solidFill>
                      <a:srgbClr val="3D7BD9"/>
                    </a:solidFill>
                    <a:latin typeface="Arial"/>
                    <a:ea typeface="Arial"/>
                    <a:cs typeface="Arial"/>
                  </a:rPr>
                  <a:t>Hydrosphere</a:t>
                </a:r>
              </a:p>
            </p:txBody>
          </p:sp>
          <p:sp>
            <p:nvSpPr>
              <p:cNvPr id="33" name="TextBox 33"/>
              <p:cNvSpPr txBox="1"/>
              <p:nvPr/>
            </p:nvSpPr>
            <p:spPr>
              <a:xfrm>
                <a:off x="3527279" y="4055745"/>
                <a:ext cx="1517942"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海洋 · 湖泊 · 河流 · 地下水</a:t>
                </a:r>
              </a:p>
            </p:txBody>
          </p:sp>
        </p:grpSp>
        <p:grpSp>
          <p:nvGrpSpPr>
            <p:cNvPr id="39" name="Group 39"/>
            <p:cNvGrpSpPr/>
            <p:nvPr/>
          </p:nvGrpSpPr>
          <p:grpSpPr>
            <a:xfrm>
              <a:off x="6858000" y="3409950"/>
              <a:ext cx="2095500" cy="857250"/>
              <a:chOff x="6858000" y="3409950"/>
              <a:chExt cx="2095500" cy="857250"/>
            </a:xfrm>
          </p:grpSpPr>
          <p:sp>
            <p:nvSpPr>
              <p:cNvPr id="35" name="Rectangle 35"/>
              <p:cNvSpPr/>
              <p:nvPr/>
            </p:nvSpPr>
            <p:spPr>
              <a:xfrm>
                <a:off x="6858000" y="3409950"/>
                <a:ext cx="2095500" cy="857250"/>
              </a:xfrm>
              <a:prstGeom prst="roundRect">
                <a:avLst>
                  <a:gd name="adj" fmla="val 13333"/>
                </a:avLst>
              </a:prstGeom>
              <a:solidFill>
                <a:srgbClr val="F0F5FC"/>
              </a:solidFill>
              <a:ln w="19050">
                <a:solidFill>
                  <a:srgbClr val="1E4FA8"/>
                </a:solidFill>
              </a:ln>
            </p:spPr>
          </p:sp>
          <p:sp>
            <p:nvSpPr>
              <p:cNvPr id="36" name="TextBox 36"/>
              <p:cNvSpPr txBox="1"/>
              <p:nvPr/>
            </p:nvSpPr>
            <p:spPr>
              <a:xfrm>
                <a:off x="7640803" y="3596164"/>
                <a:ext cx="529895" cy="249364"/>
              </a:xfrm>
              <a:prstGeom prst="rect">
                <a:avLst/>
              </a:prstGeom>
              <a:noFill/>
              <a:ln>
                <a:noFill/>
              </a:ln>
            </p:spPr>
            <p:txBody>
              <a:bodyPr wrap="none" lIns="0" tIns="0" rIns="0" bIns="0" anchor="t" anchorCtr="0">
                <a:spAutoFit/>
              </a:bodyPr>
              <a:lstStyle/>
              <a:p>
                <a:pPr algn="ctr"/>
                <a:r>
                  <a:rPr lang="zh-CN" sz="1280" b="1" dirty="0">
                    <a:solidFill>
                      <a:srgbClr val="0E3F8C"/>
                    </a:solidFill>
                    <a:latin typeface="Arial"/>
                    <a:ea typeface="Microsoft YaHei"/>
                    <a:cs typeface="Arial"/>
                  </a:rPr>
                  <a:t>生物圈</a:t>
                </a:r>
              </a:p>
            </p:txBody>
          </p:sp>
          <p:sp>
            <p:nvSpPr>
              <p:cNvPr id="37" name="TextBox 37"/>
              <p:cNvSpPr txBox="1"/>
              <p:nvPr/>
            </p:nvSpPr>
            <p:spPr>
              <a:xfrm>
                <a:off x="7588817" y="3857149"/>
                <a:ext cx="633865" cy="190690"/>
              </a:xfrm>
              <a:prstGeom prst="rect">
                <a:avLst/>
              </a:prstGeom>
              <a:noFill/>
              <a:ln>
                <a:noFill/>
              </a:ln>
            </p:spPr>
            <p:txBody>
              <a:bodyPr wrap="none" lIns="0" tIns="0" rIns="0" bIns="0" anchor="t" anchorCtr="0">
                <a:spAutoFit/>
              </a:bodyPr>
              <a:lstStyle/>
              <a:p>
                <a:pPr algn="ctr"/>
                <a:r>
                  <a:rPr lang="en-US" sz="980" dirty="0">
                    <a:solidFill>
                      <a:srgbClr val="3D7BD9"/>
                    </a:solidFill>
                    <a:latin typeface="Arial"/>
                    <a:ea typeface="Arial"/>
                    <a:cs typeface="Arial"/>
                  </a:rPr>
                  <a:t>Biosphere</a:t>
                </a:r>
              </a:p>
            </p:txBody>
          </p:sp>
          <p:sp>
            <p:nvSpPr>
              <p:cNvPr id="38" name="TextBox 38"/>
              <p:cNvSpPr txBox="1"/>
              <p:nvPr/>
            </p:nvSpPr>
            <p:spPr>
              <a:xfrm>
                <a:off x="7528427" y="4055745"/>
                <a:ext cx="754647"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生命 · 有机质</a:t>
                </a:r>
              </a:p>
            </p:txBody>
          </p:sp>
        </p:grpSp>
        <p:grpSp>
          <p:nvGrpSpPr>
            <p:cNvPr id="44" name="Group 44"/>
            <p:cNvGrpSpPr/>
            <p:nvPr/>
          </p:nvGrpSpPr>
          <p:grpSpPr>
            <a:xfrm>
              <a:off x="3714750" y="4933950"/>
              <a:ext cx="2095500" cy="857250"/>
              <a:chOff x="3714750" y="4933950"/>
              <a:chExt cx="2095500" cy="857250"/>
            </a:xfrm>
          </p:grpSpPr>
          <p:sp>
            <p:nvSpPr>
              <p:cNvPr id="40" name="Rectangle 40"/>
              <p:cNvSpPr/>
              <p:nvPr/>
            </p:nvSpPr>
            <p:spPr>
              <a:xfrm>
                <a:off x="3714750" y="4933950"/>
                <a:ext cx="2095500" cy="857250"/>
              </a:xfrm>
              <a:prstGeom prst="roundRect">
                <a:avLst>
                  <a:gd name="adj" fmla="val 13333"/>
                </a:avLst>
              </a:prstGeom>
              <a:solidFill>
                <a:srgbClr val="F0F5FC"/>
              </a:solidFill>
              <a:ln w="19050">
                <a:solidFill>
                  <a:srgbClr val="1E4FA8"/>
                </a:solidFill>
              </a:ln>
            </p:spPr>
          </p:sp>
          <p:sp>
            <p:nvSpPr>
              <p:cNvPr id="41" name="TextBox 41"/>
              <p:cNvSpPr txBox="1"/>
              <p:nvPr/>
            </p:nvSpPr>
            <p:spPr>
              <a:xfrm>
                <a:off x="4497553" y="5120164"/>
                <a:ext cx="529895" cy="249364"/>
              </a:xfrm>
              <a:prstGeom prst="rect">
                <a:avLst/>
              </a:prstGeom>
              <a:noFill/>
              <a:ln>
                <a:noFill/>
              </a:ln>
            </p:spPr>
            <p:txBody>
              <a:bodyPr wrap="none" lIns="0" tIns="0" rIns="0" bIns="0" anchor="t" anchorCtr="0">
                <a:spAutoFit/>
              </a:bodyPr>
              <a:lstStyle/>
              <a:p>
                <a:pPr algn="ctr"/>
                <a:r>
                  <a:rPr lang="zh-CN" sz="1280" b="1" dirty="0">
                    <a:solidFill>
                      <a:srgbClr val="0E3F8C"/>
                    </a:solidFill>
                    <a:latin typeface="Arial"/>
                    <a:ea typeface="Microsoft YaHei"/>
                    <a:cs typeface="Arial"/>
                  </a:rPr>
                  <a:t>冰冻圈</a:t>
                </a:r>
              </a:p>
            </p:txBody>
          </p:sp>
          <p:sp>
            <p:nvSpPr>
              <p:cNvPr id="42" name="TextBox 42"/>
              <p:cNvSpPr txBox="1"/>
              <p:nvPr/>
            </p:nvSpPr>
            <p:spPr>
              <a:xfrm>
                <a:off x="4392693" y="5381149"/>
                <a:ext cx="739615" cy="190690"/>
              </a:xfrm>
              <a:prstGeom prst="rect">
                <a:avLst/>
              </a:prstGeom>
              <a:noFill/>
              <a:ln>
                <a:noFill/>
              </a:ln>
            </p:spPr>
            <p:txBody>
              <a:bodyPr wrap="none" lIns="0" tIns="0" rIns="0" bIns="0" anchor="t" anchorCtr="0">
                <a:spAutoFit/>
              </a:bodyPr>
              <a:lstStyle/>
              <a:p>
                <a:pPr algn="ctr"/>
                <a:r>
                  <a:rPr lang="en-US" sz="980" dirty="0">
                    <a:solidFill>
                      <a:srgbClr val="3D7BD9"/>
                    </a:solidFill>
                    <a:latin typeface="Arial"/>
                    <a:ea typeface="Arial"/>
                    <a:cs typeface="Arial"/>
                  </a:rPr>
                  <a:t>Cryosphere</a:t>
                </a:r>
              </a:p>
            </p:txBody>
          </p:sp>
          <p:sp>
            <p:nvSpPr>
              <p:cNvPr id="43" name="TextBox 43"/>
              <p:cNvSpPr txBox="1"/>
              <p:nvPr/>
            </p:nvSpPr>
            <p:spPr>
              <a:xfrm>
                <a:off x="4254932" y="5579745"/>
                <a:ext cx="1015136"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冰盖 · 冰川 · 海冰</a:t>
                </a:r>
              </a:p>
            </p:txBody>
          </p:sp>
        </p:grpSp>
        <p:grpSp>
          <p:nvGrpSpPr>
            <p:cNvPr id="49" name="Group 49"/>
            <p:cNvGrpSpPr/>
            <p:nvPr/>
          </p:nvGrpSpPr>
          <p:grpSpPr>
            <a:xfrm>
              <a:off x="6381750" y="4933950"/>
              <a:ext cx="2095500" cy="857250"/>
              <a:chOff x="6381750" y="4933950"/>
              <a:chExt cx="2095500" cy="857250"/>
            </a:xfrm>
          </p:grpSpPr>
          <p:sp>
            <p:nvSpPr>
              <p:cNvPr id="45" name="Rectangle 45"/>
              <p:cNvSpPr/>
              <p:nvPr/>
            </p:nvSpPr>
            <p:spPr>
              <a:xfrm>
                <a:off x="6381750" y="4933950"/>
                <a:ext cx="2095500" cy="857250"/>
              </a:xfrm>
              <a:prstGeom prst="roundRect">
                <a:avLst>
                  <a:gd name="adj" fmla="val 13333"/>
                </a:avLst>
              </a:prstGeom>
              <a:solidFill>
                <a:srgbClr val="F0F5FC"/>
              </a:solidFill>
              <a:ln w="19050">
                <a:solidFill>
                  <a:srgbClr val="1E4FA8"/>
                </a:solidFill>
              </a:ln>
            </p:spPr>
          </p:sp>
          <p:sp>
            <p:nvSpPr>
              <p:cNvPr id="46" name="TextBox 46"/>
              <p:cNvSpPr txBox="1"/>
              <p:nvPr/>
            </p:nvSpPr>
            <p:spPr>
              <a:xfrm>
                <a:off x="7164553" y="5120164"/>
                <a:ext cx="529895" cy="249364"/>
              </a:xfrm>
              <a:prstGeom prst="rect">
                <a:avLst/>
              </a:prstGeom>
              <a:noFill/>
              <a:ln>
                <a:noFill/>
              </a:ln>
            </p:spPr>
            <p:txBody>
              <a:bodyPr wrap="none" lIns="0" tIns="0" rIns="0" bIns="0" anchor="t" anchorCtr="0">
                <a:spAutoFit/>
              </a:bodyPr>
              <a:lstStyle/>
              <a:p>
                <a:pPr algn="ctr"/>
                <a:r>
                  <a:rPr lang="zh-CN" sz="1280" b="1" dirty="0">
                    <a:solidFill>
                      <a:srgbClr val="0E3F8C"/>
                    </a:solidFill>
                    <a:latin typeface="Arial"/>
                    <a:ea typeface="Microsoft YaHei"/>
                    <a:cs typeface="Arial"/>
                  </a:rPr>
                  <a:t>岩石圈</a:t>
                </a:r>
              </a:p>
            </p:txBody>
          </p:sp>
          <p:sp>
            <p:nvSpPr>
              <p:cNvPr id="47" name="TextBox 47"/>
              <p:cNvSpPr txBox="1"/>
              <p:nvPr/>
            </p:nvSpPr>
            <p:spPr>
              <a:xfrm>
                <a:off x="7039988" y="5381149"/>
                <a:ext cx="779024" cy="190690"/>
              </a:xfrm>
              <a:prstGeom prst="rect">
                <a:avLst/>
              </a:prstGeom>
              <a:noFill/>
              <a:ln>
                <a:noFill/>
              </a:ln>
            </p:spPr>
            <p:txBody>
              <a:bodyPr wrap="none" lIns="0" tIns="0" rIns="0" bIns="0" anchor="t" anchorCtr="0">
                <a:spAutoFit/>
              </a:bodyPr>
              <a:lstStyle/>
              <a:p>
                <a:pPr algn="ctr"/>
                <a:r>
                  <a:rPr lang="en-US" sz="980" dirty="0">
                    <a:solidFill>
                      <a:srgbClr val="3D7BD9"/>
                    </a:solidFill>
                    <a:latin typeface="Arial"/>
                    <a:ea typeface="Arial"/>
                    <a:cs typeface="Arial"/>
                  </a:rPr>
                  <a:t>Lithosphere</a:t>
                </a:r>
              </a:p>
            </p:txBody>
          </p:sp>
          <p:sp>
            <p:nvSpPr>
              <p:cNvPr id="48" name="TextBox 48"/>
              <p:cNvSpPr txBox="1"/>
              <p:nvPr/>
            </p:nvSpPr>
            <p:spPr>
              <a:xfrm>
                <a:off x="6861353" y="5579745"/>
                <a:ext cx="1136294"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沉积物 · 岩石 · 深部</a:t>
                </a:r>
              </a:p>
            </p:txBody>
          </p:sp>
        </p:grpSp>
        <p:grpSp>
          <p:nvGrpSpPr>
            <p:cNvPr id="53" name="Group 53"/>
            <p:cNvGrpSpPr/>
            <p:nvPr/>
          </p:nvGrpSpPr>
          <p:grpSpPr>
            <a:xfrm>
              <a:off x="5286375" y="3695700"/>
              <a:ext cx="1619250" cy="609600"/>
              <a:chOff x="5286375" y="3695700"/>
              <a:chExt cx="1619250" cy="609600"/>
            </a:xfrm>
          </p:grpSpPr>
          <p:sp>
            <p:nvSpPr>
              <p:cNvPr id="50" name="Rectangle 50"/>
              <p:cNvSpPr/>
              <p:nvPr/>
            </p:nvSpPr>
            <p:spPr>
              <a:xfrm>
                <a:off x="5286375" y="3695700"/>
                <a:ext cx="1619250" cy="609600"/>
              </a:xfrm>
              <a:prstGeom prst="roundRect">
                <a:avLst>
                  <a:gd name="adj" fmla="val 50000"/>
                </a:avLst>
              </a:prstGeom>
              <a:solidFill>
                <a:srgbClr val="0E3F8C"/>
              </a:solidFill>
              <a:ln>
                <a:noFill/>
              </a:ln>
            </p:spPr>
          </p:sp>
          <p:sp>
            <p:nvSpPr>
              <p:cNvPr id="51" name="TextBox 51"/>
              <p:cNvSpPr txBox="1"/>
              <p:nvPr/>
            </p:nvSpPr>
            <p:spPr>
              <a:xfrm>
                <a:off x="5666613" y="3849052"/>
                <a:ext cx="858774" cy="205359"/>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物质持续迁移</a:t>
                </a:r>
              </a:p>
            </p:txBody>
          </p:sp>
          <p:sp>
            <p:nvSpPr>
              <p:cNvPr id="52" name="TextBox 52"/>
              <p:cNvSpPr txBox="1"/>
              <p:nvPr/>
            </p:nvSpPr>
            <p:spPr>
              <a:xfrm>
                <a:off x="5286673" y="4074795"/>
                <a:ext cx="1618655" cy="176212"/>
              </a:xfrm>
              <a:prstGeom prst="rect">
                <a:avLst/>
              </a:prstGeom>
              <a:noFill/>
              <a:ln>
                <a:noFill/>
              </a:ln>
            </p:spPr>
            <p:txBody>
              <a:bodyPr wrap="none" lIns="0" tIns="0" rIns="0" bIns="0" anchor="t" anchorCtr="0">
                <a:spAutoFit/>
              </a:bodyPr>
              <a:lstStyle/>
              <a:p>
                <a:pPr algn="ctr"/>
                <a:r>
                  <a:rPr lang="en-US" sz="900" dirty="0">
                    <a:solidFill>
                      <a:srgbClr val="C7D7F2"/>
                    </a:solidFill>
                    <a:latin typeface="Arial"/>
                    <a:ea typeface="Arial"/>
                    <a:cs typeface="Arial"/>
                  </a:rPr>
                  <a:t>Matter cycles continuously</a:t>
                </a:r>
              </a:p>
            </p:txBody>
          </p:sp>
        </p:grpSp>
      </p:grpSp>
      <p:grpSp>
        <p:nvGrpSpPr>
          <p:cNvPr id="57" name="Group 57"/>
          <p:cNvGrpSpPr/>
          <p:nvPr/>
        </p:nvGrpSpPr>
        <p:grpSpPr>
          <a:xfrm>
            <a:off x="375285" y="5974556"/>
            <a:ext cx="6821109" cy="220028"/>
            <a:chOff x="375285" y="5974556"/>
            <a:chExt cx="6821109" cy="220028"/>
          </a:xfrm>
        </p:grpSpPr>
        <p:sp>
          <p:nvSpPr>
            <p:cNvPr id="55" name="TextBox 55"/>
            <p:cNvSpPr txBox="1"/>
            <p:nvPr/>
          </p:nvSpPr>
          <p:spPr>
            <a:xfrm>
              <a:off x="375285" y="5974556"/>
              <a:ext cx="765302" cy="220028"/>
            </a:xfrm>
            <a:prstGeom prst="rect">
              <a:avLst/>
            </a:prstGeom>
            <a:noFill/>
            <a:ln>
              <a:noFill/>
            </a:ln>
          </p:spPr>
          <p:txBody>
            <a:bodyPr wrap="none" lIns="0" tIns="0" rIns="0" bIns="0" anchor="t" anchorCtr="0">
              <a:spAutoFit/>
            </a:bodyPr>
            <a:lstStyle/>
            <a:p>
              <a:pPr algn="l"/>
              <a:r>
                <a:rPr lang="zh-CN" sz="1120" b="1" dirty="0">
                  <a:solidFill>
                    <a:srgbClr val="1A2230"/>
                  </a:solidFill>
                  <a:latin typeface="Arial"/>
                  <a:ea typeface="Microsoft YaHei"/>
                  <a:cs typeface="Arial"/>
                </a:rPr>
                <a:t>读图要点：</a:t>
              </a:r>
            </a:p>
          </p:txBody>
        </p:sp>
        <p:sp>
          <p:nvSpPr>
            <p:cNvPr id="56" name="TextBox 56"/>
            <p:cNvSpPr txBox="1"/>
            <p:nvPr/>
          </p:nvSpPr>
          <p:spPr>
            <a:xfrm>
              <a:off x="1289685" y="5974556"/>
              <a:ext cx="5906709" cy="220028"/>
            </a:xfrm>
            <a:prstGeom prst="rect">
              <a:avLst/>
            </a:prstGeom>
            <a:noFill/>
            <a:ln>
              <a:noFill/>
            </a:ln>
          </p:spPr>
          <p:txBody>
            <a:bodyPr wrap="none" lIns="0" tIns="0" rIns="0" bIns="0" anchor="t" anchorCtr="0">
              <a:spAutoFit/>
            </a:bodyPr>
            <a:lstStyle/>
            <a:p>
              <a:pPr algn="l"/>
              <a:r>
                <a:rPr lang="zh-CN" sz="1120" dirty="0">
                  <a:solidFill>
                    <a:srgbClr val="4A5568"/>
                  </a:solidFill>
                  <a:latin typeface="Arial"/>
                  <a:ea typeface="Microsoft YaHei"/>
                  <a:cs typeface="Arial"/>
                </a:rPr>
                <a:t>水和碳是同一条主线——它们在五大储库之间往返，箭头方向表示通量，而不是单向消耗。</a:t>
              </a:r>
            </a:p>
          </p:txBody>
        </p:sp>
      </p:grpSp>
      <p:sp>
        <p:nvSpPr>
          <p:cNvPr id="58" name="TextBox 58"/>
          <p:cNvSpPr txBox="1"/>
          <p:nvPr/>
        </p:nvSpPr>
        <p:spPr>
          <a:xfrm>
            <a:off x="376238" y="6532245"/>
            <a:ext cx="618450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UE 8e, Ch.12, Components of the Climate System, PDF pp.1146–1147; 地球系统与演变, Chs.3–4.</a:t>
            </a:r>
          </a:p>
        </p:txBody>
      </p:sp>
      <p:sp>
        <p:nvSpPr>
          <p:cNvPr id="59" name="TextBox 59"/>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04</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5727883"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1.2 读懂全球循环的四个词 | Four Ideas for Reading Global Cycles</a:t>
              </a:r>
            </a:p>
          </p:txBody>
        </p:sp>
        <p:sp>
          <p:nvSpPr>
            <p:cNvPr id="4" name="TextBox 4"/>
            <p:cNvSpPr txBox="1"/>
            <p:nvPr/>
          </p:nvSpPr>
          <p:spPr>
            <a:xfrm>
              <a:off x="10191902" y="299085"/>
              <a:ext cx="1625194"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READING FRAMEWORK</a:t>
              </a:r>
            </a:p>
          </p:txBody>
        </p:sp>
      </p:grpSp>
      <p:grpSp>
        <p:nvGrpSpPr>
          <p:cNvPr id="8" name="Group 8"/>
          <p:cNvGrpSpPr/>
          <p:nvPr/>
        </p:nvGrpSpPr>
        <p:grpSpPr>
          <a:xfrm>
            <a:off x="381000" y="914400"/>
            <a:ext cx="7696093" cy="357093"/>
            <a:chOff x="381000" y="914400"/>
            <a:chExt cx="7696093"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7532644"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同一套语言：Reservoir · Flux · Residence Time · Feedback 适用于水和碳</a:t>
              </a:r>
            </a:p>
          </p:txBody>
        </p:sp>
      </p:grpSp>
      <p:grpSp>
        <p:nvGrpSpPr>
          <p:cNvPr id="17" name="Group 17"/>
          <p:cNvGrpSpPr/>
          <p:nvPr/>
        </p:nvGrpSpPr>
        <p:grpSpPr>
          <a:xfrm>
            <a:off x="381000" y="1466850"/>
            <a:ext cx="5619750" cy="2076450"/>
            <a:chOff x="381000" y="1466850"/>
            <a:chExt cx="5619750" cy="2076450"/>
          </a:xfrm>
        </p:grpSpPr>
        <p:sp>
          <p:nvSpPr>
            <p:cNvPr id="9" name="Rectangle 9"/>
            <p:cNvSpPr/>
            <p:nvPr/>
          </p:nvSpPr>
          <p:spPr>
            <a:xfrm>
              <a:off x="381000" y="1466850"/>
              <a:ext cx="5619750" cy="2076450"/>
            </a:xfrm>
            <a:prstGeom prst="roundRect">
              <a:avLst>
                <a:gd name="adj" fmla="val 5505"/>
              </a:avLst>
            </a:prstGeom>
            <a:solidFill>
              <a:srgbClr val="F0F5FC"/>
            </a:solidFill>
            <a:ln w="9525">
              <a:solidFill>
                <a:srgbClr val="D6DCE5"/>
              </a:solidFill>
            </a:ln>
          </p:spPr>
        </p:sp>
        <p:sp>
          <p:nvSpPr>
            <p:cNvPr id="10" name="Ellipse 10"/>
            <p:cNvSpPr/>
            <p:nvPr/>
          </p:nvSpPr>
          <p:spPr>
            <a:xfrm>
              <a:off x="590550" y="1676400"/>
              <a:ext cx="457200" cy="457200"/>
            </a:xfrm>
            <a:prstGeom prst="ellipse">
              <a:avLst/>
            </a:prstGeom>
            <a:solidFill>
              <a:srgbClr val="1E4FA8"/>
            </a:solidFill>
            <a:ln>
              <a:noFill/>
            </a:ln>
          </p:spPr>
        </p:sp>
        <p:sp>
          <p:nvSpPr>
            <p:cNvPr id="11" name="TextBox 11"/>
            <p:cNvSpPr txBox="1"/>
            <p:nvPr/>
          </p:nvSpPr>
          <p:spPr>
            <a:xfrm>
              <a:off x="759815" y="18354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Arial"/>
                  <a:ea typeface="Arial"/>
                  <a:cs typeface="Arial"/>
                </a:rPr>
                <a:t>1</a:t>
              </a:r>
            </a:p>
          </p:txBody>
        </p:sp>
        <p:sp>
          <p:nvSpPr>
            <p:cNvPr id="12" name="TextBox 12"/>
            <p:cNvSpPr txBox="1"/>
            <p:nvPr/>
          </p:nvSpPr>
          <p:spPr>
            <a:xfrm>
              <a:off x="1192530" y="1704975"/>
              <a:ext cx="1488440" cy="293370"/>
            </a:xfrm>
            <a:prstGeom prst="rect">
              <a:avLst/>
            </a:prstGeom>
            <a:noFill/>
            <a:ln>
              <a:noFill/>
            </a:ln>
          </p:spPr>
          <p:txBody>
            <a:bodyPr wrap="none" lIns="0" tIns="0" rIns="0" bIns="0" anchor="t" anchorCtr="0">
              <a:spAutoFit/>
            </a:bodyPr>
            <a:lstStyle/>
            <a:p>
              <a:pPr algn="l"/>
              <a:r>
                <a:rPr lang="zh-CN" sz="1500" b="1" dirty="0">
                  <a:solidFill>
                    <a:srgbClr val="0E3F8C"/>
                  </a:solidFill>
                  <a:latin typeface="Arial"/>
                  <a:ea typeface="Microsoft YaHei"/>
                  <a:cs typeface="Arial"/>
                </a:rPr>
                <a:t>Reservoir 储库</a:t>
              </a:r>
            </a:p>
          </p:txBody>
        </p:sp>
        <p:sp>
          <p:nvSpPr>
            <p:cNvPr id="13" name="TextBox 13"/>
            <p:cNvSpPr txBox="1"/>
            <p:nvPr/>
          </p:nvSpPr>
          <p:spPr>
            <a:xfrm>
              <a:off x="1195197" y="2009299"/>
              <a:ext cx="3354271" cy="190690"/>
            </a:xfrm>
            <a:prstGeom prst="rect">
              <a:avLst/>
            </a:prstGeom>
            <a:noFill/>
            <a:ln>
              <a:noFill/>
            </a:ln>
          </p:spPr>
          <p:txBody>
            <a:bodyPr wrap="none" lIns="0" tIns="0" rIns="0" bIns="0" anchor="t" anchorCtr="0">
              <a:spAutoFit/>
            </a:bodyPr>
            <a:lstStyle/>
            <a:p>
              <a:pPr algn="l"/>
              <a:r>
                <a:rPr lang="en-US" sz="980" dirty="0">
                  <a:solidFill>
                    <a:srgbClr val="3D7BD9"/>
                  </a:solidFill>
                  <a:latin typeface="Arial"/>
                  <a:ea typeface="Arial"/>
                  <a:cs typeface="Arial"/>
                </a:rPr>
                <a:t>a place / component that stores water or chemicals</a:t>
              </a:r>
            </a:p>
          </p:txBody>
        </p:sp>
        <p:sp>
          <p:nvSpPr>
            <p:cNvPr id="14" name="Line 14"/>
            <p:cNvSpPr/>
            <p:nvPr/>
          </p:nvSpPr>
          <p:spPr>
            <a:xfrm>
              <a:off x="628650" y="2324100"/>
              <a:ext cx="5124450" cy="9525"/>
            </a:xfrm>
            <a:custGeom>
              <a:avLst/>
              <a:gdLst/>
              <a:ahLst/>
              <a:cxnLst/>
              <a:rect l="l" t="t" r="r" b="b"/>
              <a:pathLst>
                <a:path w="5124450" h="9525">
                  <a:moveTo>
                    <a:pt x="0" y="0"/>
                  </a:moveTo>
                  <a:lnTo>
                    <a:pt x="5124450" y="0"/>
                  </a:lnTo>
                </a:path>
              </a:pathLst>
            </a:custGeom>
            <a:noFill/>
            <a:ln w="9525">
              <a:solidFill>
                <a:srgbClr val="B8C7DC"/>
              </a:solidFill>
            </a:ln>
          </p:spPr>
        </p:sp>
        <p:sp>
          <p:nvSpPr>
            <p:cNvPr id="15" name="TextBox 15"/>
            <p:cNvSpPr txBox="1"/>
            <p:nvPr/>
          </p:nvSpPr>
          <p:spPr>
            <a:xfrm>
              <a:off x="622935" y="2488406"/>
              <a:ext cx="2870454" cy="467678"/>
            </a:xfrm>
            <a:prstGeom prst="rect">
              <a:avLst/>
            </a:prstGeom>
            <a:noFill/>
            <a:ln>
              <a:noFill/>
            </a:ln>
          </p:spPr>
          <p:txBody>
            <a:bodyPr wrap="none" lIns="0" tIns="0" rIns="0" bIns="0" anchor="t" anchorCtr="0">
              <a:spAutoFit/>
            </a:bodyPr>
            <a:lstStyle/>
            <a:p>
              <a:pPr algn="l">
                <a:lnSpc>
                  <a:spcPts val="1950"/>
                </a:lnSpc>
              </a:pPr>
              <a:r>
                <a:rPr lang="zh-CN" sz="1120" dirty="0">
                  <a:solidFill>
                    <a:srgbClr val="1A2230"/>
                  </a:solidFill>
                  <a:latin typeface="Arial"/>
                  <a:ea typeface="Microsoft YaHei"/>
                  <a:cs typeface="Arial"/>
                </a:rPr>
                <a:t>物质被"存放"的位置。储库大小用储量衡量，</a:t>
              </a:r>
              <a:br/>
              <a:r>
                <a:rPr lang="zh-CN" sz="1120" dirty="0">
                  <a:solidFill>
                    <a:srgbClr val="1A2230"/>
                  </a:solidFill>
                  <a:latin typeface="Arial"/>
                  <a:ea typeface="Microsoft YaHei"/>
                  <a:cs typeface="Arial"/>
                </a:rPr>
                <a:t>例如海洋、大气、生物圈、土壤、岩石。</a:t>
              </a:r>
            </a:p>
          </p:txBody>
        </p:sp>
        <p:sp>
          <p:nvSpPr>
            <p:cNvPr id="16" name="TextBox 16"/>
            <p:cNvSpPr txBox="1"/>
            <p:nvPr/>
          </p:nvSpPr>
          <p:spPr>
            <a:xfrm>
              <a:off x="623697" y="3133249"/>
              <a:ext cx="3176168"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例：海洋是水圈最大储库；大气是碳的快速交换储库。</a:t>
              </a:r>
            </a:p>
          </p:txBody>
        </p:sp>
      </p:grpSp>
      <p:grpSp>
        <p:nvGrpSpPr>
          <p:cNvPr id="26" name="Group 26"/>
          <p:cNvGrpSpPr/>
          <p:nvPr/>
        </p:nvGrpSpPr>
        <p:grpSpPr>
          <a:xfrm>
            <a:off x="6191250" y="1466850"/>
            <a:ext cx="5619750" cy="2076450"/>
            <a:chOff x="6191250" y="1466850"/>
            <a:chExt cx="5619750" cy="2076450"/>
          </a:xfrm>
        </p:grpSpPr>
        <p:sp>
          <p:nvSpPr>
            <p:cNvPr id="18" name="Rectangle 18"/>
            <p:cNvSpPr/>
            <p:nvPr/>
          </p:nvSpPr>
          <p:spPr>
            <a:xfrm>
              <a:off x="6191250" y="1466850"/>
              <a:ext cx="5619750" cy="2076450"/>
            </a:xfrm>
            <a:prstGeom prst="roundRect">
              <a:avLst>
                <a:gd name="adj" fmla="val 5505"/>
              </a:avLst>
            </a:prstGeom>
            <a:solidFill>
              <a:srgbClr val="F0F5FC"/>
            </a:solidFill>
            <a:ln w="9525">
              <a:solidFill>
                <a:srgbClr val="D6DCE5"/>
              </a:solidFill>
            </a:ln>
          </p:spPr>
        </p:sp>
        <p:sp>
          <p:nvSpPr>
            <p:cNvPr id="19" name="Ellipse 19"/>
            <p:cNvSpPr/>
            <p:nvPr/>
          </p:nvSpPr>
          <p:spPr>
            <a:xfrm>
              <a:off x="6400800" y="1676400"/>
              <a:ext cx="457200" cy="457200"/>
            </a:xfrm>
            <a:prstGeom prst="ellipse">
              <a:avLst/>
            </a:prstGeom>
            <a:solidFill>
              <a:srgbClr val="1E4FA8"/>
            </a:solidFill>
            <a:ln>
              <a:noFill/>
            </a:ln>
          </p:spPr>
        </p:sp>
        <p:sp>
          <p:nvSpPr>
            <p:cNvPr id="20" name="TextBox 20"/>
            <p:cNvSpPr txBox="1"/>
            <p:nvPr/>
          </p:nvSpPr>
          <p:spPr>
            <a:xfrm>
              <a:off x="6570065" y="18354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Arial"/>
                  <a:ea typeface="Arial"/>
                  <a:cs typeface="Arial"/>
                </a:rPr>
                <a:t>2</a:t>
              </a:r>
            </a:p>
          </p:txBody>
        </p:sp>
        <p:sp>
          <p:nvSpPr>
            <p:cNvPr id="21" name="TextBox 21"/>
            <p:cNvSpPr txBox="1"/>
            <p:nvPr/>
          </p:nvSpPr>
          <p:spPr>
            <a:xfrm>
              <a:off x="7002780" y="1704975"/>
              <a:ext cx="908625" cy="293370"/>
            </a:xfrm>
            <a:prstGeom prst="rect">
              <a:avLst/>
            </a:prstGeom>
            <a:noFill/>
            <a:ln>
              <a:noFill/>
            </a:ln>
          </p:spPr>
          <p:txBody>
            <a:bodyPr wrap="none" lIns="0" tIns="0" rIns="0" bIns="0" anchor="t" anchorCtr="0">
              <a:spAutoFit/>
            </a:bodyPr>
            <a:lstStyle/>
            <a:p>
              <a:pPr algn="l"/>
              <a:r>
                <a:rPr lang="zh-CN" sz="1500" b="1" dirty="0">
                  <a:solidFill>
                    <a:srgbClr val="0E3F8C"/>
                  </a:solidFill>
                  <a:latin typeface="Arial"/>
                  <a:ea typeface="Microsoft YaHei"/>
                  <a:cs typeface="Arial"/>
                </a:rPr>
                <a:t>Flux 通量</a:t>
              </a:r>
            </a:p>
          </p:txBody>
        </p:sp>
        <p:sp>
          <p:nvSpPr>
            <p:cNvPr id="22" name="TextBox 22"/>
            <p:cNvSpPr txBox="1"/>
            <p:nvPr/>
          </p:nvSpPr>
          <p:spPr>
            <a:xfrm>
              <a:off x="7005447" y="2009299"/>
              <a:ext cx="3103608" cy="190690"/>
            </a:xfrm>
            <a:prstGeom prst="rect">
              <a:avLst/>
            </a:prstGeom>
            <a:noFill/>
            <a:ln>
              <a:noFill/>
            </a:ln>
          </p:spPr>
          <p:txBody>
            <a:bodyPr wrap="none" lIns="0" tIns="0" rIns="0" bIns="0" anchor="t" anchorCtr="0">
              <a:spAutoFit/>
            </a:bodyPr>
            <a:lstStyle/>
            <a:p>
              <a:pPr algn="l"/>
              <a:r>
                <a:rPr lang="en-US" sz="980" dirty="0">
                  <a:solidFill>
                    <a:srgbClr val="3D7BD9"/>
                  </a:solidFill>
                  <a:latin typeface="Arial"/>
                  <a:ea typeface="Arial"/>
                  <a:cs typeface="Arial"/>
                </a:rPr>
                <a:t>flow / transport from one reservoir to another</a:t>
              </a:r>
            </a:p>
          </p:txBody>
        </p:sp>
        <p:sp>
          <p:nvSpPr>
            <p:cNvPr id="23" name="Line 23"/>
            <p:cNvSpPr/>
            <p:nvPr/>
          </p:nvSpPr>
          <p:spPr>
            <a:xfrm>
              <a:off x="6438900" y="2324100"/>
              <a:ext cx="5124450" cy="9525"/>
            </a:xfrm>
            <a:custGeom>
              <a:avLst/>
              <a:gdLst/>
              <a:ahLst/>
              <a:cxnLst/>
              <a:rect l="l" t="t" r="r" b="b"/>
              <a:pathLst>
                <a:path w="5124450" h="9525">
                  <a:moveTo>
                    <a:pt x="0" y="0"/>
                  </a:moveTo>
                  <a:lnTo>
                    <a:pt x="5124450" y="0"/>
                  </a:lnTo>
                </a:path>
              </a:pathLst>
            </a:custGeom>
            <a:noFill/>
            <a:ln w="9525">
              <a:solidFill>
                <a:srgbClr val="B8C7DC"/>
              </a:solidFill>
            </a:ln>
          </p:spPr>
        </p:sp>
        <p:sp>
          <p:nvSpPr>
            <p:cNvPr id="24" name="TextBox 24"/>
            <p:cNvSpPr txBox="1"/>
            <p:nvPr/>
          </p:nvSpPr>
          <p:spPr>
            <a:xfrm>
              <a:off x="6433185" y="2488406"/>
              <a:ext cx="2785110" cy="467678"/>
            </a:xfrm>
            <a:prstGeom prst="rect">
              <a:avLst/>
            </a:prstGeom>
            <a:noFill/>
            <a:ln>
              <a:noFill/>
            </a:ln>
          </p:spPr>
          <p:txBody>
            <a:bodyPr wrap="none" lIns="0" tIns="0" rIns="0" bIns="0" anchor="t" anchorCtr="0">
              <a:spAutoFit/>
            </a:bodyPr>
            <a:lstStyle/>
            <a:p>
              <a:pPr algn="l">
                <a:lnSpc>
                  <a:spcPts val="1950"/>
                </a:lnSpc>
              </a:pPr>
              <a:r>
                <a:rPr lang="zh-CN" sz="1120" dirty="0">
                  <a:solidFill>
                    <a:srgbClr val="1A2230"/>
                  </a:solidFill>
                  <a:latin typeface="Arial"/>
                  <a:ea typeface="Microsoft YaHei"/>
                  <a:cs typeface="Arial"/>
                </a:rPr>
                <a:t>物质在储库之间的"移动速率"，单位是</a:t>
              </a:r>
              <a:br/>
              <a:r>
                <a:rPr lang="zh-CN" sz="1120" dirty="0">
                  <a:solidFill>
                    <a:srgbClr val="1A2230"/>
                  </a:solidFill>
                  <a:latin typeface="Arial"/>
                  <a:ea typeface="Microsoft YaHei"/>
                  <a:cs typeface="Arial"/>
                </a:rPr>
                <a:t>质量/时间，例如 Gt C/yr 或 10³ km³/yr。</a:t>
              </a:r>
            </a:p>
          </p:txBody>
        </p:sp>
        <p:sp>
          <p:nvSpPr>
            <p:cNvPr id="25" name="TextBox 25"/>
            <p:cNvSpPr txBox="1"/>
            <p:nvPr/>
          </p:nvSpPr>
          <p:spPr>
            <a:xfrm>
              <a:off x="6433947" y="3133249"/>
              <a:ext cx="3308096"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例：蒸发、降水、径流、光合作用、火山脱气都是通量。</a:t>
              </a:r>
            </a:p>
          </p:txBody>
        </p:sp>
      </p:grpSp>
      <p:grpSp>
        <p:nvGrpSpPr>
          <p:cNvPr id="35" name="Group 35"/>
          <p:cNvGrpSpPr/>
          <p:nvPr/>
        </p:nvGrpSpPr>
        <p:grpSpPr>
          <a:xfrm>
            <a:off x="381000" y="3714750"/>
            <a:ext cx="5619750" cy="2076450"/>
            <a:chOff x="381000" y="3714750"/>
            <a:chExt cx="5619750" cy="2076450"/>
          </a:xfrm>
        </p:grpSpPr>
        <p:sp>
          <p:nvSpPr>
            <p:cNvPr id="27" name="Rectangle 27"/>
            <p:cNvSpPr/>
            <p:nvPr/>
          </p:nvSpPr>
          <p:spPr>
            <a:xfrm>
              <a:off x="381000" y="3714750"/>
              <a:ext cx="5619750" cy="2076450"/>
            </a:xfrm>
            <a:prstGeom prst="roundRect">
              <a:avLst>
                <a:gd name="adj" fmla="val 5505"/>
              </a:avLst>
            </a:prstGeom>
            <a:solidFill>
              <a:srgbClr val="F7F9FC"/>
            </a:solidFill>
            <a:ln w="9525">
              <a:solidFill>
                <a:srgbClr val="D6DCE5"/>
              </a:solidFill>
            </a:ln>
          </p:spPr>
        </p:sp>
        <p:sp>
          <p:nvSpPr>
            <p:cNvPr id="28" name="Ellipse 28"/>
            <p:cNvSpPr/>
            <p:nvPr/>
          </p:nvSpPr>
          <p:spPr>
            <a:xfrm>
              <a:off x="590550" y="3924300"/>
              <a:ext cx="457200" cy="457200"/>
            </a:xfrm>
            <a:prstGeom prst="ellipse">
              <a:avLst/>
            </a:prstGeom>
            <a:solidFill>
              <a:srgbClr val="3D7BD9"/>
            </a:solidFill>
            <a:ln>
              <a:noFill/>
            </a:ln>
          </p:spPr>
        </p:sp>
        <p:sp>
          <p:nvSpPr>
            <p:cNvPr id="29" name="TextBox 29"/>
            <p:cNvSpPr txBox="1"/>
            <p:nvPr/>
          </p:nvSpPr>
          <p:spPr>
            <a:xfrm>
              <a:off x="759815" y="40833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Arial"/>
                  <a:ea typeface="Arial"/>
                  <a:cs typeface="Arial"/>
                </a:rPr>
                <a:t>3</a:t>
              </a:r>
            </a:p>
          </p:txBody>
        </p:sp>
        <p:sp>
          <p:nvSpPr>
            <p:cNvPr id="30" name="TextBox 30"/>
            <p:cNvSpPr txBox="1"/>
            <p:nvPr/>
          </p:nvSpPr>
          <p:spPr>
            <a:xfrm>
              <a:off x="1192530" y="3952875"/>
              <a:ext cx="2423347" cy="293370"/>
            </a:xfrm>
            <a:prstGeom prst="rect">
              <a:avLst/>
            </a:prstGeom>
            <a:noFill/>
            <a:ln>
              <a:noFill/>
            </a:ln>
          </p:spPr>
          <p:txBody>
            <a:bodyPr wrap="none" lIns="0" tIns="0" rIns="0" bIns="0" anchor="t" anchorCtr="0">
              <a:spAutoFit/>
            </a:bodyPr>
            <a:lstStyle/>
            <a:p>
              <a:pPr algn="l"/>
              <a:r>
                <a:rPr lang="zh-CN" sz="1500" b="1" dirty="0">
                  <a:solidFill>
                    <a:srgbClr val="0E3F8C"/>
                  </a:solidFill>
                  <a:latin typeface="Arial"/>
                  <a:ea typeface="Microsoft YaHei"/>
                  <a:cs typeface="Arial"/>
                </a:rPr>
                <a:t>Residence Time 停留时间</a:t>
              </a:r>
            </a:p>
          </p:txBody>
        </p:sp>
        <p:sp>
          <p:nvSpPr>
            <p:cNvPr id="31" name="TextBox 31"/>
            <p:cNvSpPr txBox="1"/>
            <p:nvPr/>
          </p:nvSpPr>
          <p:spPr>
            <a:xfrm>
              <a:off x="1195197" y="4257199"/>
              <a:ext cx="2938699" cy="190690"/>
            </a:xfrm>
            <a:prstGeom prst="rect">
              <a:avLst/>
            </a:prstGeom>
            <a:noFill/>
            <a:ln>
              <a:noFill/>
            </a:ln>
          </p:spPr>
          <p:txBody>
            <a:bodyPr wrap="none" lIns="0" tIns="0" rIns="0" bIns="0" anchor="t" anchorCtr="0">
              <a:spAutoFit/>
            </a:bodyPr>
            <a:lstStyle/>
            <a:p>
              <a:pPr algn="l"/>
              <a:r>
                <a:rPr lang="en-US" sz="980" dirty="0">
                  <a:solidFill>
                    <a:srgbClr val="3D7BD9"/>
                  </a:solidFill>
                  <a:latin typeface="Arial"/>
                  <a:ea typeface="Arial"/>
                  <a:cs typeface="Arial"/>
                </a:rPr>
                <a:t>average time a quantity spends in a reservoir</a:t>
              </a:r>
            </a:p>
          </p:txBody>
        </p:sp>
        <p:sp>
          <p:nvSpPr>
            <p:cNvPr id="32" name="Line 32"/>
            <p:cNvSpPr/>
            <p:nvPr/>
          </p:nvSpPr>
          <p:spPr>
            <a:xfrm>
              <a:off x="628650" y="4572000"/>
              <a:ext cx="5124450" cy="9525"/>
            </a:xfrm>
            <a:custGeom>
              <a:avLst/>
              <a:gdLst/>
              <a:ahLst/>
              <a:cxnLst/>
              <a:rect l="l" t="t" r="r" b="b"/>
              <a:pathLst>
                <a:path w="5124450" h="9525">
                  <a:moveTo>
                    <a:pt x="0" y="0"/>
                  </a:moveTo>
                  <a:lnTo>
                    <a:pt x="5124450" y="0"/>
                  </a:lnTo>
                </a:path>
              </a:pathLst>
            </a:custGeom>
            <a:noFill/>
            <a:ln w="9525">
              <a:solidFill>
                <a:srgbClr val="D6DCE5"/>
              </a:solidFill>
            </a:ln>
          </p:spPr>
        </p:sp>
        <p:sp>
          <p:nvSpPr>
            <p:cNvPr id="33" name="TextBox 33"/>
            <p:cNvSpPr txBox="1"/>
            <p:nvPr/>
          </p:nvSpPr>
          <p:spPr>
            <a:xfrm>
              <a:off x="622935" y="4736306"/>
              <a:ext cx="3282950" cy="467678"/>
            </a:xfrm>
            <a:prstGeom prst="rect">
              <a:avLst/>
            </a:prstGeom>
            <a:noFill/>
            <a:ln>
              <a:noFill/>
            </a:ln>
          </p:spPr>
          <p:txBody>
            <a:bodyPr wrap="none" lIns="0" tIns="0" rIns="0" bIns="0" anchor="t" anchorCtr="0">
              <a:spAutoFit/>
            </a:bodyPr>
            <a:lstStyle/>
            <a:p>
              <a:pPr algn="l">
                <a:lnSpc>
                  <a:spcPts val="1950"/>
                </a:lnSpc>
              </a:pPr>
              <a:r>
                <a:rPr lang="zh-CN" sz="1120" dirty="0">
                  <a:solidFill>
                    <a:srgbClr val="1A2230"/>
                  </a:solidFill>
                  <a:latin typeface="Arial"/>
                  <a:ea typeface="Microsoft YaHei"/>
                  <a:cs typeface="Arial"/>
                </a:rPr>
                <a:t>衡量储库"更新快慢"，不是储库大小。</a:t>
              </a:r>
              <a:br/>
              <a:r>
                <a:rPr lang="zh-CN" sz="1120" dirty="0">
                  <a:solidFill>
                    <a:srgbClr val="1A2230"/>
                  </a:solidFill>
                  <a:latin typeface="Arial"/>
                  <a:ea typeface="Microsoft YaHei"/>
                  <a:cs typeface="Arial"/>
                </a:rPr>
                <a:t>大储库不一定更新快，小储库可以交换 very fast。</a:t>
              </a:r>
            </a:p>
          </p:txBody>
        </p:sp>
        <p:sp>
          <p:nvSpPr>
            <p:cNvPr id="34" name="TextBox 34"/>
            <p:cNvSpPr txBox="1"/>
            <p:nvPr/>
          </p:nvSpPr>
          <p:spPr>
            <a:xfrm>
              <a:off x="623697" y="5381149"/>
              <a:ext cx="3473877"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例：大气水约 9 日；海洋水约 3,200 年（CN 表 3-1）。</a:t>
              </a:r>
            </a:p>
          </p:txBody>
        </p:sp>
      </p:grpSp>
      <p:grpSp>
        <p:nvGrpSpPr>
          <p:cNvPr id="44" name="Group 44"/>
          <p:cNvGrpSpPr/>
          <p:nvPr/>
        </p:nvGrpSpPr>
        <p:grpSpPr>
          <a:xfrm>
            <a:off x="6191250" y="3714750"/>
            <a:ext cx="5619750" cy="2076450"/>
            <a:chOff x="6191250" y="3714750"/>
            <a:chExt cx="5619750" cy="2076450"/>
          </a:xfrm>
        </p:grpSpPr>
        <p:sp>
          <p:nvSpPr>
            <p:cNvPr id="36" name="Rectangle 36"/>
            <p:cNvSpPr/>
            <p:nvPr/>
          </p:nvSpPr>
          <p:spPr>
            <a:xfrm>
              <a:off x="6191250" y="3714750"/>
              <a:ext cx="5619750" cy="2076450"/>
            </a:xfrm>
            <a:prstGeom prst="roundRect">
              <a:avLst>
                <a:gd name="adj" fmla="val 5505"/>
              </a:avLst>
            </a:prstGeom>
            <a:solidFill>
              <a:srgbClr val="F7F9FC"/>
            </a:solidFill>
            <a:ln w="9525">
              <a:solidFill>
                <a:srgbClr val="D6DCE5"/>
              </a:solidFill>
            </a:ln>
          </p:spPr>
        </p:sp>
        <p:sp>
          <p:nvSpPr>
            <p:cNvPr id="37" name="Ellipse 37"/>
            <p:cNvSpPr/>
            <p:nvPr/>
          </p:nvSpPr>
          <p:spPr>
            <a:xfrm>
              <a:off x="6400800" y="3924300"/>
              <a:ext cx="457200" cy="457200"/>
            </a:xfrm>
            <a:prstGeom prst="ellipse">
              <a:avLst/>
            </a:prstGeom>
            <a:solidFill>
              <a:srgbClr val="3D7BD9"/>
            </a:solidFill>
            <a:ln>
              <a:noFill/>
            </a:ln>
          </p:spPr>
        </p:sp>
        <p:sp>
          <p:nvSpPr>
            <p:cNvPr id="38" name="TextBox 38"/>
            <p:cNvSpPr txBox="1"/>
            <p:nvPr/>
          </p:nvSpPr>
          <p:spPr>
            <a:xfrm>
              <a:off x="6570065" y="4083368"/>
              <a:ext cx="118669"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Arial"/>
                  <a:ea typeface="Arial"/>
                  <a:cs typeface="Arial"/>
                </a:rPr>
                <a:t>4</a:t>
              </a:r>
            </a:p>
          </p:txBody>
        </p:sp>
        <p:sp>
          <p:nvSpPr>
            <p:cNvPr id="39" name="TextBox 39"/>
            <p:cNvSpPr txBox="1"/>
            <p:nvPr/>
          </p:nvSpPr>
          <p:spPr>
            <a:xfrm>
              <a:off x="7002780" y="3952875"/>
              <a:ext cx="1425533" cy="293370"/>
            </a:xfrm>
            <a:prstGeom prst="rect">
              <a:avLst/>
            </a:prstGeom>
            <a:noFill/>
            <a:ln>
              <a:noFill/>
            </a:ln>
          </p:spPr>
          <p:txBody>
            <a:bodyPr wrap="none" lIns="0" tIns="0" rIns="0" bIns="0" anchor="t" anchorCtr="0">
              <a:spAutoFit/>
            </a:bodyPr>
            <a:lstStyle/>
            <a:p>
              <a:pPr algn="l"/>
              <a:r>
                <a:rPr lang="zh-CN" sz="1500" b="1" dirty="0">
                  <a:solidFill>
                    <a:srgbClr val="0E3F8C"/>
                  </a:solidFill>
                  <a:latin typeface="Arial"/>
                  <a:ea typeface="Microsoft YaHei"/>
                  <a:cs typeface="Arial"/>
                </a:rPr>
                <a:t>Feedback 反馈</a:t>
              </a:r>
            </a:p>
          </p:txBody>
        </p:sp>
        <p:sp>
          <p:nvSpPr>
            <p:cNvPr id="40" name="TextBox 40"/>
            <p:cNvSpPr txBox="1"/>
            <p:nvPr/>
          </p:nvSpPr>
          <p:spPr>
            <a:xfrm>
              <a:off x="7005447" y="4257199"/>
              <a:ext cx="3308096" cy="190690"/>
            </a:xfrm>
            <a:prstGeom prst="rect">
              <a:avLst/>
            </a:prstGeom>
            <a:noFill/>
            <a:ln>
              <a:noFill/>
            </a:ln>
          </p:spPr>
          <p:txBody>
            <a:bodyPr wrap="none" lIns="0" tIns="0" rIns="0" bIns="0" anchor="t" anchorCtr="0">
              <a:spAutoFit/>
            </a:bodyPr>
            <a:lstStyle/>
            <a:p>
              <a:pPr algn="l"/>
              <a:r>
                <a:rPr lang="en-US" sz="980" dirty="0">
                  <a:solidFill>
                    <a:srgbClr val="3D7BD9"/>
                  </a:solidFill>
                  <a:latin typeface="Arial"/>
                  <a:ea typeface="Arial"/>
                  <a:cs typeface="Arial"/>
                </a:rPr>
                <a:t>how an induced change responds to an initial change</a:t>
              </a:r>
            </a:p>
          </p:txBody>
        </p:sp>
        <p:sp>
          <p:nvSpPr>
            <p:cNvPr id="41" name="Line 41"/>
            <p:cNvSpPr/>
            <p:nvPr/>
          </p:nvSpPr>
          <p:spPr>
            <a:xfrm>
              <a:off x="6438900" y="4572000"/>
              <a:ext cx="5124450" cy="9525"/>
            </a:xfrm>
            <a:custGeom>
              <a:avLst/>
              <a:gdLst/>
              <a:ahLst/>
              <a:cxnLst/>
              <a:rect l="l" t="t" r="r" b="b"/>
              <a:pathLst>
                <a:path w="5124450" h="9525">
                  <a:moveTo>
                    <a:pt x="0" y="0"/>
                  </a:moveTo>
                  <a:lnTo>
                    <a:pt x="5124450" y="0"/>
                  </a:lnTo>
                </a:path>
              </a:pathLst>
            </a:custGeom>
            <a:noFill/>
            <a:ln w="9525">
              <a:solidFill>
                <a:srgbClr val="D6DCE5"/>
              </a:solidFill>
            </a:ln>
          </p:spPr>
        </p:sp>
        <p:sp>
          <p:nvSpPr>
            <p:cNvPr id="42" name="TextBox 42"/>
            <p:cNvSpPr txBox="1"/>
            <p:nvPr/>
          </p:nvSpPr>
          <p:spPr>
            <a:xfrm>
              <a:off x="6433185" y="4736306"/>
              <a:ext cx="3140710" cy="467678"/>
            </a:xfrm>
            <a:prstGeom prst="rect">
              <a:avLst/>
            </a:prstGeom>
            <a:noFill/>
            <a:ln>
              <a:noFill/>
            </a:ln>
          </p:spPr>
          <p:txBody>
            <a:bodyPr wrap="none" lIns="0" tIns="0" rIns="0" bIns="0" anchor="t" anchorCtr="0">
              <a:spAutoFit/>
            </a:bodyPr>
            <a:lstStyle/>
            <a:p>
              <a:pPr algn="l">
                <a:lnSpc>
                  <a:spcPts val="1950"/>
                </a:lnSpc>
              </a:pPr>
              <a:r>
                <a:rPr lang="zh-CN" sz="1120" dirty="0">
                  <a:solidFill>
                    <a:srgbClr val="1A2230"/>
                  </a:solidFill>
                  <a:latin typeface="Arial"/>
                  <a:ea typeface="Microsoft YaHei"/>
                  <a:cs typeface="Arial"/>
                </a:rPr>
                <a:t>正反馈放大初始变化；负反馈反向作用、</a:t>
              </a:r>
              <a:br/>
              <a:r>
                <a:rPr lang="zh-CN" sz="1120" dirty="0">
                  <a:solidFill>
                    <a:srgbClr val="1A2230"/>
                  </a:solidFill>
                  <a:latin typeface="Arial"/>
                  <a:ea typeface="Microsoft YaHei"/>
                  <a:cs typeface="Arial"/>
                </a:rPr>
                <a:t>趋于稳定。判断系统响应必须同时看方向和速度。</a:t>
              </a:r>
            </a:p>
          </p:txBody>
        </p:sp>
        <p:sp>
          <p:nvSpPr>
            <p:cNvPr id="43" name="TextBox 43"/>
            <p:cNvSpPr txBox="1"/>
            <p:nvPr/>
          </p:nvSpPr>
          <p:spPr>
            <a:xfrm>
              <a:off x="6433947" y="5381149"/>
              <a:ext cx="3176168"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例：水汽反馈（正）；岩石风化恒温器（慢负反馈）。</a:t>
              </a:r>
            </a:p>
          </p:txBody>
        </p:sp>
      </p:grpSp>
      <p:grpSp>
        <p:nvGrpSpPr>
          <p:cNvPr id="47" name="Group 47"/>
          <p:cNvGrpSpPr/>
          <p:nvPr/>
        </p:nvGrpSpPr>
        <p:grpSpPr>
          <a:xfrm>
            <a:off x="381000" y="5943600"/>
            <a:ext cx="11430000" cy="304800"/>
            <a:chOff x="381000" y="5943600"/>
            <a:chExt cx="11430000" cy="304800"/>
          </a:xfrm>
        </p:grpSpPr>
        <p:sp>
          <p:nvSpPr>
            <p:cNvPr id="45" name="Rectangle 45"/>
            <p:cNvSpPr/>
            <p:nvPr/>
          </p:nvSpPr>
          <p:spPr>
            <a:xfrm>
              <a:off x="381000" y="5943600"/>
              <a:ext cx="11430000" cy="304800"/>
            </a:xfrm>
            <a:prstGeom prst="roundRect">
              <a:avLst>
                <a:gd name="adj" fmla="val 31250"/>
              </a:avLst>
            </a:prstGeom>
            <a:solidFill>
              <a:srgbClr val="FDECDD"/>
            </a:solidFill>
            <a:ln w="9525">
              <a:solidFill>
                <a:srgbClr val="F0CFC2"/>
              </a:solidFill>
            </a:ln>
          </p:spPr>
        </p:sp>
        <p:sp>
          <p:nvSpPr>
            <p:cNvPr id="46" name="TextBox 46"/>
            <p:cNvSpPr txBox="1"/>
            <p:nvPr/>
          </p:nvSpPr>
          <p:spPr>
            <a:xfrm>
              <a:off x="3616783" y="6030278"/>
              <a:ext cx="4958433" cy="205359"/>
            </a:xfrm>
            <a:prstGeom prst="rect">
              <a:avLst/>
            </a:prstGeom>
            <a:noFill/>
            <a:ln>
              <a:noFill/>
            </a:ln>
          </p:spPr>
          <p:txBody>
            <a:bodyPr wrap="none" lIns="0" tIns="0" rIns="0" bIns="0" anchor="t" anchorCtr="0">
              <a:spAutoFit/>
            </a:bodyPr>
            <a:lstStyle/>
            <a:p>
              <a:pPr algn="ctr"/>
              <a:r>
                <a:rPr lang="zh-CN" sz="1050" b="1" dirty="0">
                  <a:solidFill>
                    <a:srgbClr val="C2410C"/>
                  </a:solidFill>
                  <a:latin typeface="Arial"/>
                  <a:ea typeface="Microsoft YaHei"/>
                  <a:cs typeface="Arial"/>
                </a:rPr>
                <a:t>这四个词会在 Part II 碳循环里原样复用——框架不变，只是换了物质和时钟。</a:t>
              </a:r>
            </a:p>
          </p:txBody>
        </p:sp>
      </p:grpSp>
      <p:sp>
        <p:nvSpPr>
          <p:cNvPr id="48" name="TextBox 48"/>
          <p:cNvSpPr txBox="1"/>
          <p:nvPr/>
        </p:nvSpPr>
        <p:spPr>
          <a:xfrm>
            <a:off x="376238" y="6532245"/>
            <a:ext cx="393099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PDF p.1205 &amp; pp.1647–1650; EP 5e, Ch.23, p.881.</a:t>
            </a:r>
          </a:p>
        </p:txBody>
      </p:sp>
      <p:sp>
        <p:nvSpPr>
          <p:cNvPr id="49" name="TextBox 49"/>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05</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436494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1.3 地球的水在哪里？ | Where Is Earth's Water?</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6773139" cy="357093"/>
            <a:chOff x="381000" y="914400"/>
            <a:chExt cx="6773139"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609690"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地球上的水高度不均匀分布：海洋占绝大多数，易利用的表层淡水极少</a:t>
              </a:r>
            </a:p>
          </p:txBody>
        </p:sp>
      </p:grpSp>
      <p:grpSp>
        <p:nvGrpSpPr>
          <p:cNvPr id="36" name="Group 36"/>
          <p:cNvGrpSpPr/>
          <p:nvPr/>
        </p:nvGrpSpPr>
        <p:grpSpPr>
          <a:xfrm>
            <a:off x="381000" y="1466850"/>
            <a:ext cx="7239000" cy="4191000"/>
            <a:chOff x="381000" y="1466850"/>
            <a:chExt cx="7239000" cy="4191000"/>
          </a:xfrm>
        </p:grpSpPr>
        <p:sp>
          <p:nvSpPr>
            <p:cNvPr id="9" name="Rectangle 9"/>
            <p:cNvSpPr/>
            <p:nvPr/>
          </p:nvSpPr>
          <p:spPr>
            <a:xfrm>
              <a:off x="381000" y="1466850"/>
              <a:ext cx="7239000" cy="4191000"/>
            </a:xfrm>
            <a:prstGeom prst="roundRect">
              <a:avLst>
                <a:gd name="adj" fmla="val 2727"/>
              </a:avLst>
            </a:prstGeom>
            <a:solidFill>
              <a:srgbClr val="F7F9FC"/>
            </a:solidFill>
            <a:ln w="9525">
              <a:solidFill>
                <a:srgbClr val="D6DCE5"/>
              </a:solidFill>
            </a:ln>
          </p:spPr>
        </p:sp>
        <p:sp>
          <p:nvSpPr>
            <p:cNvPr id="10" name="TextBox 10"/>
            <p:cNvSpPr txBox="1"/>
            <p:nvPr/>
          </p:nvSpPr>
          <p:spPr>
            <a:xfrm>
              <a:off x="622935" y="1650206"/>
              <a:ext cx="3053944"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全球水储库分布 | Global water reservoirs</a:t>
              </a:r>
            </a:p>
          </p:txBody>
        </p:sp>
        <p:sp>
          <p:nvSpPr>
            <p:cNvPr id="11" name="TextBox 11"/>
            <p:cNvSpPr txBox="1"/>
            <p:nvPr/>
          </p:nvSpPr>
          <p:spPr>
            <a:xfrm>
              <a:off x="623888" y="1884045"/>
              <a:ext cx="2886605"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条长按 log₁₀(体积 km³) 绘制 · 数据：UE Fig. 17.1</a:t>
              </a:r>
            </a:p>
          </p:txBody>
        </p:sp>
        <p:grpSp>
          <p:nvGrpSpPr>
            <p:cNvPr id="15" name="Group 15"/>
            <p:cNvGrpSpPr/>
            <p:nvPr/>
          </p:nvGrpSpPr>
          <p:grpSpPr>
            <a:xfrm>
              <a:off x="623316" y="2210752"/>
              <a:ext cx="5815584" cy="382905"/>
              <a:chOff x="623316" y="2210752"/>
              <a:chExt cx="5815584" cy="382905"/>
            </a:xfrm>
          </p:grpSpPr>
          <p:sp>
            <p:nvSpPr>
              <p:cNvPr id="12" name="TextBox 12"/>
              <p:cNvSpPr txBox="1"/>
              <p:nvPr/>
            </p:nvSpPr>
            <p:spPr>
              <a:xfrm>
                <a:off x="623316" y="2210752"/>
                <a:ext cx="1280871"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海洋 Ocean / seas</a:t>
                </a:r>
              </a:p>
            </p:txBody>
          </p:sp>
          <p:sp>
            <p:nvSpPr>
              <p:cNvPr id="13" name="TextBox 13"/>
              <p:cNvSpPr txBox="1"/>
              <p:nvPr/>
            </p:nvSpPr>
            <p:spPr>
              <a:xfrm>
                <a:off x="623888" y="2417445"/>
                <a:ext cx="136649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95.96% · 1.40×10⁹ km³</a:t>
                </a:r>
              </a:p>
            </p:txBody>
          </p:sp>
          <p:sp>
            <p:nvSpPr>
              <p:cNvPr id="14" name="Rectangle 14"/>
              <p:cNvSpPr/>
              <p:nvPr/>
            </p:nvSpPr>
            <p:spPr>
              <a:xfrm>
                <a:off x="2476500" y="2228850"/>
                <a:ext cx="3962400" cy="247650"/>
              </a:xfrm>
              <a:prstGeom prst="roundRect">
                <a:avLst>
                  <a:gd name="adj" fmla="val 15385"/>
                </a:avLst>
              </a:prstGeom>
              <a:solidFill>
                <a:srgbClr val="1E4FA8"/>
              </a:solidFill>
              <a:ln>
                <a:noFill/>
              </a:ln>
            </p:spPr>
          </p:sp>
        </p:grpSp>
        <p:grpSp>
          <p:nvGrpSpPr>
            <p:cNvPr id="19" name="Group 19"/>
            <p:cNvGrpSpPr/>
            <p:nvPr/>
          </p:nvGrpSpPr>
          <p:grpSpPr>
            <a:xfrm>
              <a:off x="623316" y="2782252"/>
              <a:ext cx="4844034" cy="382905"/>
              <a:chOff x="623316" y="2782252"/>
              <a:chExt cx="4844034" cy="382905"/>
            </a:xfrm>
          </p:grpSpPr>
          <p:sp>
            <p:nvSpPr>
              <p:cNvPr id="16" name="TextBox 16"/>
              <p:cNvSpPr txBox="1"/>
              <p:nvPr/>
            </p:nvSpPr>
            <p:spPr>
              <a:xfrm>
                <a:off x="623316" y="2782252"/>
                <a:ext cx="2142836"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冰川/极地冰 Glacier &amp; polar ice</a:t>
                </a:r>
              </a:p>
            </p:txBody>
          </p:sp>
          <p:sp>
            <p:nvSpPr>
              <p:cNvPr id="17" name="TextBox 17"/>
              <p:cNvSpPr txBox="1"/>
              <p:nvPr/>
            </p:nvSpPr>
            <p:spPr>
              <a:xfrm>
                <a:off x="623888" y="2988945"/>
                <a:ext cx="1299858"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2.97% · 4.34×10⁷ km³</a:t>
                </a:r>
              </a:p>
            </p:txBody>
          </p:sp>
          <p:sp>
            <p:nvSpPr>
              <p:cNvPr id="18" name="Rectangle 18"/>
              <p:cNvSpPr/>
              <p:nvPr/>
            </p:nvSpPr>
            <p:spPr>
              <a:xfrm>
                <a:off x="2476500" y="2800350"/>
                <a:ext cx="2990850" cy="247650"/>
              </a:xfrm>
              <a:prstGeom prst="roundRect">
                <a:avLst>
                  <a:gd name="adj" fmla="val 15385"/>
                </a:avLst>
              </a:prstGeom>
              <a:solidFill>
                <a:srgbClr val="3D7BD9"/>
              </a:solidFill>
              <a:ln>
                <a:noFill/>
              </a:ln>
            </p:spPr>
          </p:sp>
        </p:grpSp>
        <p:grpSp>
          <p:nvGrpSpPr>
            <p:cNvPr id="23" name="Group 23"/>
            <p:cNvGrpSpPr/>
            <p:nvPr/>
          </p:nvGrpSpPr>
          <p:grpSpPr>
            <a:xfrm>
              <a:off x="623316" y="3353752"/>
              <a:ext cx="4558284" cy="382905"/>
              <a:chOff x="623316" y="3353752"/>
              <a:chExt cx="4558284" cy="382905"/>
            </a:xfrm>
          </p:grpSpPr>
          <p:sp>
            <p:nvSpPr>
              <p:cNvPr id="20" name="TextBox 20"/>
              <p:cNvSpPr txBox="1"/>
              <p:nvPr/>
            </p:nvSpPr>
            <p:spPr>
              <a:xfrm>
                <a:off x="623316" y="3353752"/>
                <a:ext cx="1414047"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地下水 Groundwater</a:t>
                </a:r>
              </a:p>
            </p:txBody>
          </p:sp>
          <p:sp>
            <p:nvSpPr>
              <p:cNvPr id="21" name="TextBox 21"/>
              <p:cNvSpPr txBox="1"/>
              <p:nvPr/>
            </p:nvSpPr>
            <p:spPr>
              <a:xfrm>
                <a:off x="623888" y="3560445"/>
                <a:ext cx="1299858"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1.05% · 1.54×10⁷ km³</a:t>
                </a:r>
              </a:p>
            </p:txBody>
          </p:sp>
          <p:sp>
            <p:nvSpPr>
              <p:cNvPr id="22" name="Rectangle 22"/>
              <p:cNvSpPr/>
              <p:nvPr/>
            </p:nvSpPr>
            <p:spPr>
              <a:xfrm>
                <a:off x="2476500" y="3371850"/>
                <a:ext cx="2705100" cy="247650"/>
              </a:xfrm>
              <a:prstGeom prst="roundRect">
                <a:avLst>
                  <a:gd name="adj" fmla="val 15385"/>
                </a:avLst>
              </a:prstGeom>
              <a:solidFill>
                <a:srgbClr val="3D7BD9"/>
              </a:solidFill>
              <a:ln>
                <a:noFill/>
              </a:ln>
            </p:spPr>
          </p:sp>
        </p:grpSp>
        <p:grpSp>
          <p:nvGrpSpPr>
            <p:cNvPr id="27" name="Group 27"/>
            <p:cNvGrpSpPr/>
            <p:nvPr/>
          </p:nvGrpSpPr>
          <p:grpSpPr>
            <a:xfrm>
              <a:off x="623316" y="3925252"/>
              <a:ext cx="3215259" cy="382905"/>
              <a:chOff x="623316" y="3925252"/>
              <a:chExt cx="3215259" cy="382905"/>
            </a:xfrm>
          </p:grpSpPr>
          <p:sp>
            <p:nvSpPr>
              <p:cNvPr id="24" name="TextBox 24"/>
              <p:cNvSpPr txBox="1"/>
              <p:nvPr/>
            </p:nvSpPr>
            <p:spPr>
              <a:xfrm>
                <a:off x="623316" y="3925252"/>
                <a:ext cx="1742603"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湖泊/河流 Lakes &amp; rivers</a:t>
                </a:r>
              </a:p>
            </p:txBody>
          </p:sp>
          <p:sp>
            <p:nvSpPr>
              <p:cNvPr id="25" name="TextBox 25"/>
              <p:cNvSpPr txBox="1"/>
              <p:nvPr/>
            </p:nvSpPr>
            <p:spPr>
              <a:xfrm>
                <a:off x="623888" y="4131945"/>
                <a:ext cx="136649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0.009% · 1.27×10⁵ km³</a:t>
                </a:r>
              </a:p>
            </p:txBody>
          </p:sp>
          <p:sp>
            <p:nvSpPr>
              <p:cNvPr id="26" name="Rectangle 26"/>
              <p:cNvSpPr/>
              <p:nvPr/>
            </p:nvSpPr>
            <p:spPr>
              <a:xfrm>
                <a:off x="2476500" y="3943350"/>
                <a:ext cx="1362075" cy="247650"/>
              </a:xfrm>
              <a:prstGeom prst="roundRect">
                <a:avLst>
                  <a:gd name="adj" fmla="val 15385"/>
                </a:avLst>
              </a:prstGeom>
              <a:solidFill>
                <a:srgbClr val="6FA3E8"/>
              </a:solidFill>
              <a:ln>
                <a:noFill/>
              </a:ln>
            </p:spPr>
          </p:sp>
        </p:grpSp>
        <p:grpSp>
          <p:nvGrpSpPr>
            <p:cNvPr id="31" name="Group 31"/>
            <p:cNvGrpSpPr/>
            <p:nvPr/>
          </p:nvGrpSpPr>
          <p:grpSpPr>
            <a:xfrm>
              <a:off x="623316" y="4496752"/>
              <a:ext cx="2615184" cy="382905"/>
              <a:chOff x="623316" y="4496752"/>
              <a:chExt cx="2615184" cy="382905"/>
            </a:xfrm>
          </p:grpSpPr>
          <p:sp>
            <p:nvSpPr>
              <p:cNvPr id="28" name="TextBox 28"/>
              <p:cNvSpPr txBox="1"/>
              <p:nvPr/>
            </p:nvSpPr>
            <p:spPr>
              <a:xfrm>
                <a:off x="623316" y="4496752"/>
                <a:ext cx="1190522"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大气 Atmosphere</a:t>
                </a:r>
              </a:p>
            </p:txBody>
          </p:sp>
          <p:sp>
            <p:nvSpPr>
              <p:cNvPr id="29" name="TextBox 29"/>
              <p:cNvSpPr txBox="1"/>
              <p:nvPr/>
            </p:nvSpPr>
            <p:spPr>
              <a:xfrm>
                <a:off x="623888" y="4703445"/>
                <a:ext cx="1299858"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0.001% · 1.5×10⁴ km³</a:t>
                </a:r>
              </a:p>
            </p:txBody>
          </p:sp>
          <p:sp>
            <p:nvSpPr>
              <p:cNvPr id="30" name="Rectangle 30"/>
              <p:cNvSpPr/>
              <p:nvPr/>
            </p:nvSpPr>
            <p:spPr>
              <a:xfrm>
                <a:off x="2476500" y="4514850"/>
                <a:ext cx="762000" cy="247650"/>
              </a:xfrm>
              <a:prstGeom prst="roundRect">
                <a:avLst>
                  <a:gd name="adj" fmla="val 15385"/>
                </a:avLst>
              </a:prstGeom>
              <a:solidFill>
                <a:srgbClr val="6FA3E8"/>
              </a:solidFill>
              <a:ln>
                <a:noFill/>
              </a:ln>
            </p:spPr>
          </p:sp>
        </p:grpSp>
        <p:grpSp>
          <p:nvGrpSpPr>
            <p:cNvPr id="35" name="Group 35"/>
            <p:cNvGrpSpPr/>
            <p:nvPr/>
          </p:nvGrpSpPr>
          <p:grpSpPr>
            <a:xfrm>
              <a:off x="623316" y="5068252"/>
              <a:ext cx="2043684" cy="382905"/>
              <a:chOff x="623316" y="5068252"/>
              <a:chExt cx="2043684" cy="382905"/>
            </a:xfrm>
          </p:grpSpPr>
          <p:sp>
            <p:nvSpPr>
              <p:cNvPr id="32" name="TextBox 32"/>
              <p:cNvSpPr txBox="1"/>
              <p:nvPr/>
            </p:nvSpPr>
            <p:spPr>
              <a:xfrm>
                <a:off x="623316" y="5068252"/>
                <a:ext cx="1184148"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生物圈 Biosphere</a:t>
                </a:r>
              </a:p>
            </p:txBody>
          </p:sp>
          <p:sp>
            <p:nvSpPr>
              <p:cNvPr id="33" name="TextBox 33"/>
              <p:cNvSpPr txBox="1"/>
              <p:nvPr/>
            </p:nvSpPr>
            <p:spPr>
              <a:xfrm>
                <a:off x="623888" y="5274945"/>
                <a:ext cx="1233221"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0.0001% · 2×10³ km³</a:t>
                </a:r>
              </a:p>
            </p:txBody>
          </p:sp>
          <p:sp>
            <p:nvSpPr>
              <p:cNvPr id="34" name="Rectangle 34"/>
              <p:cNvSpPr/>
              <p:nvPr/>
            </p:nvSpPr>
            <p:spPr>
              <a:xfrm>
                <a:off x="2476500" y="5086350"/>
                <a:ext cx="190500" cy="247650"/>
              </a:xfrm>
              <a:prstGeom prst="roundRect">
                <a:avLst>
                  <a:gd name="adj" fmla="val 20000"/>
                </a:avLst>
              </a:prstGeom>
              <a:solidFill>
                <a:srgbClr val="6FA3E8"/>
              </a:solidFill>
              <a:ln>
                <a:noFill/>
              </a:ln>
            </p:spPr>
          </p:sp>
        </p:grpSp>
      </p:grpSp>
      <p:grpSp>
        <p:nvGrpSpPr>
          <p:cNvPr id="43" name="Group 43"/>
          <p:cNvGrpSpPr/>
          <p:nvPr/>
        </p:nvGrpSpPr>
        <p:grpSpPr>
          <a:xfrm>
            <a:off x="7810500" y="1466850"/>
            <a:ext cx="4000500" cy="2000250"/>
            <a:chOff x="7810500" y="1466850"/>
            <a:chExt cx="4000500" cy="2000250"/>
          </a:xfrm>
        </p:grpSpPr>
        <p:sp>
          <p:nvSpPr>
            <p:cNvPr id="37" name="Rectangle 37"/>
            <p:cNvSpPr/>
            <p:nvPr/>
          </p:nvSpPr>
          <p:spPr>
            <a:xfrm>
              <a:off x="7810500" y="1466850"/>
              <a:ext cx="4000500" cy="2000250"/>
            </a:xfrm>
            <a:prstGeom prst="roundRect">
              <a:avLst>
                <a:gd name="adj" fmla="val 5714"/>
              </a:avLst>
            </a:prstGeom>
            <a:solidFill>
              <a:srgbClr val="F0F5FC"/>
            </a:solidFill>
            <a:ln w="19050">
              <a:solidFill>
                <a:srgbClr val="1E4FA8"/>
              </a:solidFill>
            </a:ln>
          </p:spPr>
        </p:sp>
        <p:sp>
          <p:nvSpPr>
            <p:cNvPr id="38" name="TextBox 38"/>
            <p:cNvSpPr txBox="1"/>
            <p:nvPr/>
          </p:nvSpPr>
          <p:spPr>
            <a:xfrm>
              <a:off x="8052435" y="1688306"/>
              <a:ext cx="1066851"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海洋占绝对多数</a:t>
              </a:r>
            </a:p>
          </p:txBody>
        </p:sp>
        <p:sp>
          <p:nvSpPr>
            <p:cNvPr id="39" name="TextBox 39"/>
            <p:cNvSpPr txBox="1"/>
            <p:nvPr/>
          </p:nvSpPr>
          <p:spPr>
            <a:xfrm>
              <a:off x="8039100" y="1946910"/>
              <a:ext cx="2115960" cy="819150"/>
            </a:xfrm>
            <a:prstGeom prst="rect">
              <a:avLst/>
            </a:prstGeom>
            <a:noFill/>
            <a:ln>
              <a:noFill/>
            </a:ln>
          </p:spPr>
          <p:txBody>
            <a:bodyPr wrap="none" lIns="0" tIns="0" rIns="0" bIns="0" anchor="t" anchorCtr="0">
              <a:spAutoFit/>
            </a:bodyPr>
            <a:lstStyle/>
            <a:p>
              <a:pPr algn="l"/>
              <a:r>
                <a:rPr lang="en-US" sz="4200" b="1" dirty="0">
                  <a:solidFill>
                    <a:srgbClr val="1E4FA8"/>
                  </a:solidFill>
                  <a:latin typeface="Arial"/>
                  <a:ea typeface="Arial"/>
                  <a:cs typeface="Arial"/>
                </a:rPr>
                <a:t>95.96%</a:t>
              </a:r>
            </a:p>
          </p:txBody>
        </p:sp>
        <p:sp>
          <p:nvSpPr>
            <p:cNvPr id="40" name="TextBox 40"/>
            <p:cNvSpPr txBox="1"/>
            <p:nvPr/>
          </p:nvSpPr>
          <p:spPr>
            <a:xfrm>
              <a:off x="8052816" y="2591752"/>
              <a:ext cx="2729728" cy="205359"/>
            </a:xfrm>
            <a:prstGeom prst="rect">
              <a:avLst/>
            </a:prstGeom>
            <a:noFill/>
            <a:ln>
              <a:noFill/>
            </a:ln>
          </p:spPr>
          <p:txBody>
            <a:bodyPr wrap="none" lIns="0" tIns="0" rIns="0" bIns="0" anchor="t" anchorCtr="0">
              <a:spAutoFit/>
            </a:bodyPr>
            <a:lstStyle/>
            <a:p>
              <a:pPr algn="l"/>
              <a:r>
                <a:rPr lang="en-US" sz="1050" dirty="0">
                  <a:solidFill>
                    <a:srgbClr val="4A5568"/>
                  </a:solidFill>
                  <a:latin typeface="Arial"/>
                  <a:ea typeface="Arial"/>
                  <a:cs typeface="Arial"/>
                </a:rPr>
                <a:t>of all Earth's water is in oceans / seas</a:t>
              </a:r>
            </a:p>
          </p:txBody>
        </p:sp>
        <p:sp>
          <p:nvSpPr>
            <p:cNvPr id="41" name="Line 41"/>
            <p:cNvSpPr/>
            <p:nvPr/>
          </p:nvSpPr>
          <p:spPr>
            <a:xfrm>
              <a:off x="8058150" y="2895600"/>
              <a:ext cx="3505200" cy="9525"/>
            </a:xfrm>
            <a:custGeom>
              <a:avLst/>
              <a:gdLst/>
              <a:ahLst/>
              <a:cxnLst/>
              <a:rect l="l" t="t" r="r" b="b"/>
              <a:pathLst>
                <a:path w="3505200" h="9525">
                  <a:moveTo>
                    <a:pt x="0" y="0"/>
                  </a:moveTo>
                  <a:lnTo>
                    <a:pt x="3505200" y="0"/>
                  </a:lnTo>
                </a:path>
              </a:pathLst>
            </a:custGeom>
            <a:noFill/>
            <a:ln w="9525">
              <a:solidFill>
                <a:srgbClr val="B8C7DC"/>
              </a:solidFill>
            </a:ln>
          </p:spPr>
        </p:sp>
        <p:sp>
          <p:nvSpPr>
            <p:cNvPr id="42" name="TextBox 42"/>
            <p:cNvSpPr txBox="1"/>
            <p:nvPr/>
          </p:nvSpPr>
          <p:spPr>
            <a:xfrm>
              <a:off x="8052816" y="3048952"/>
              <a:ext cx="1763067" cy="205359"/>
            </a:xfrm>
            <a:prstGeom prst="rect">
              <a:avLst/>
            </a:prstGeom>
            <a:noFill/>
            <a:ln>
              <a:noFill/>
            </a:ln>
          </p:spPr>
          <p:txBody>
            <a:bodyPr wrap="none" lIns="0" tIns="0" rIns="0" bIns="0" anchor="t" anchorCtr="0">
              <a:spAutoFit/>
            </a:bodyPr>
            <a:lstStyle/>
            <a:p>
              <a:pPr algn="l"/>
              <a:r>
                <a:rPr lang="zh-CN" sz="1050" dirty="0">
                  <a:solidFill>
                    <a:srgbClr val="1A2230"/>
                  </a:solidFill>
                  <a:latin typeface="Arial"/>
                  <a:ea typeface="Microsoft YaHei"/>
                  <a:cs typeface="Arial"/>
                </a:rPr>
                <a:t xml:space="preserve">其余全部储库合计仅 </a:t>
              </a:r>
              <a:r>
                <a:rPr lang="en-US" sz="1050" b="1" dirty="0">
                  <a:solidFill>
                    <a:srgbClr val="1E4FA8"/>
                  </a:solidFill>
                  <a:latin typeface="Arial"/>
                  <a:ea typeface="Arial"/>
                  <a:cs typeface="Arial"/>
                </a:rPr>
                <a:t>4.04%</a:t>
              </a:r>
            </a:p>
          </p:txBody>
        </p:sp>
      </p:grpSp>
      <p:grpSp>
        <p:nvGrpSpPr>
          <p:cNvPr id="49" name="Group 49"/>
          <p:cNvGrpSpPr/>
          <p:nvPr/>
        </p:nvGrpSpPr>
        <p:grpSpPr>
          <a:xfrm>
            <a:off x="7810500" y="3657600"/>
            <a:ext cx="4000500" cy="2000250"/>
            <a:chOff x="7810500" y="3657600"/>
            <a:chExt cx="4000500" cy="2000250"/>
          </a:xfrm>
        </p:grpSpPr>
        <p:sp>
          <p:nvSpPr>
            <p:cNvPr id="44" name="Rectangle 44"/>
            <p:cNvSpPr/>
            <p:nvPr/>
          </p:nvSpPr>
          <p:spPr>
            <a:xfrm>
              <a:off x="7810500" y="3657600"/>
              <a:ext cx="4000500" cy="2000250"/>
            </a:xfrm>
            <a:prstGeom prst="roundRect">
              <a:avLst>
                <a:gd name="adj" fmla="val 5714"/>
              </a:avLst>
            </a:prstGeom>
            <a:solidFill>
              <a:srgbClr val="FDF4EF"/>
            </a:solidFill>
            <a:ln w="9525">
              <a:solidFill>
                <a:srgbClr val="F0CFC2"/>
              </a:solidFill>
            </a:ln>
          </p:spPr>
        </p:sp>
        <p:sp>
          <p:nvSpPr>
            <p:cNvPr id="45" name="TextBox 45"/>
            <p:cNvSpPr txBox="1"/>
            <p:nvPr/>
          </p:nvSpPr>
          <p:spPr>
            <a:xfrm>
              <a:off x="8052435" y="3879056"/>
              <a:ext cx="1519174"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Arial"/>
                  <a:ea typeface="Microsoft YaHei"/>
                  <a:cs typeface="Arial"/>
                </a:rPr>
                <a:t>易利用的表层淡水更少</a:t>
              </a:r>
            </a:p>
          </p:txBody>
        </p:sp>
        <p:sp>
          <p:nvSpPr>
            <p:cNvPr id="46" name="TextBox 46"/>
            <p:cNvSpPr txBox="1"/>
            <p:nvPr/>
          </p:nvSpPr>
          <p:spPr>
            <a:xfrm>
              <a:off x="8052816" y="4230052"/>
              <a:ext cx="2424303" cy="662559"/>
            </a:xfrm>
            <a:prstGeom prst="rect">
              <a:avLst/>
            </a:prstGeom>
            <a:noFill/>
            <a:ln>
              <a:noFill/>
            </a:ln>
          </p:spPr>
          <p:txBody>
            <a:bodyPr wrap="none" lIns="0" tIns="0" rIns="0" bIns="0" anchor="t" anchorCtr="0">
              <a:spAutoFit/>
            </a:bodyPr>
            <a:lstStyle/>
            <a:p>
              <a:pPr algn="l">
                <a:lnSpc>
                  <a:spcPts val="1800"/>
                </a:lnSpc>
              </a:pPr>
              <a:r>
                <a:rPr lang="zh-CN" sz="1050" dirty="0">
                  <a:solidFill>
                    <a:srgbClr val="1A2230"/>
                  </a:solidFill>
                  <a:latin typeface="Arial"/>
                  <a:ea typeface="Microsoft YaHei"/>
                  <a:cs typeface="Arial"/>
                </a:rPr>
                <a:t>冰川/极地冰 2.97% 大多难以直接利用；</a:t>
              </a:r>
              <a:br/>
              <a:r>
                <a:rPr lang="zh-CN" sz="1050" dirty="0">
                  <a:solidFill>
                    <a:srgbClr val="1A2230"/>
                  </a:solidFill>
                  <a:latin typeface="Arial"/>
                  <a:ea typeface="Microsoft YaHei"/>
                  <a:cs typeface="Arial"/>
                </a:rPr>
                <a:t>湖泊与河流合计仅 0.009%，</a:t>
              </a:r>
              <a:br/>
              <a:r>
                <a:rPr lang="zh-CN" sz="1050" dirty="0">
                  <a:solidFill>
                    <a:srgbClr val="1A2230"/>
                  </a:solidFill>
                  <a:latin typeface="Arial"/>
                  <a:ea typeface="Microsoft YaHei"/>
                  <a:cs typeface="Arial"/>
                </a:rPr>
                <a:t>大气水 0.001%，生物圈水 0.0001%。</a:t>
              </a:r>
            </a:p>
          </p:txBody>
        </p:sp>
        <p:sp>
          <p:nvSpPr>
            <p:cNvPr id="47" name="Rectangle 47"/>
            <p:cNvSpPr/>
            <p:nvPr/>
          </p:nvSpPr>
          <p:spPr>
            <a:xfrm>
              <a:off x="8058150" y="5143500"/>
              <a:ext cx="3505200" cy="323850"/>
            </a:xfrm>
            <a:prstGeom prst="roundRect">
              <a:avLst>
                <a:gd name="adj" fmla="val 29412"/>
              </a:avLst>
            </a:prstGeom>
            <a:solidFill>
              <a:srgbClr val="FDECDD"/>
            </a:solidFill>
            <a:ln>
              <a:noFill/>
            </a:ln>
          </p:spPr>
        </p:sp>
        <p:sp>
          <p:nvSpPr>
            <p:cNvPr id="48" name="TextBox 48"/>
            <p:cNvSpPr txBox="1"/>
            <p:nvPr/>
          </p:nvSpPr>
          <p:spPr>
            <a:xfrm>
              <a:off x="8914131" y="5247799"/>
              <a:ext cx="1793237" cy="190690"/>
            </a:xfrm>
            <a:prstGeom prst="rect">
              <a:avLst/>
            </a:prstGeom>
            <a:noFill/>
            <a:ln>
              <a:noFill/>
            </a:ln>
          </p:spPr>
          <p:txBody>
            <a:bodyPr wrap="none" lIns="0" tIns="0" rIns="0" bIns="0" anchor="t" anchorCtr="0">
              <a:spAutoFit/>
            </a:bodyPr>
            <a:lstStyle/>
            <a:p>
              <a:pPr algn="ctr"/>
              <a:r>
                <a:rPr lang="zh-CN" sz="980" b="1" dirty="0">
                  <a:solidFill>
                    <a:srgbClr val="C2410C"/>
                  </a:solidFill>
                  <a:latin typeface="Arial"/>
                  <a:ea typeface="Microsoft YaHei"/>
                  <a:cs typeface="Arial"/>
                </a:rPr>
                <a:t>"水很多" ≠ "可用的淡水很多"</a:t>
              </a:r>
            </a:p>
          </p:txBody>
        </p:sp>
      </p:grpSp>
      <p:sp>
        <p:nvSpPr>
          <p:cNvPr id="50" name="TextBox 50"/>
          <p:cNvSpPr txBox="1"/>
          <p:nvPr/>
        </p:nvSpPr>
        <p:spPr>
          <a:xfrm>
            <a:off x="376238" y="6532245"/>
            <a:ext cx="7270447"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Ch.17, Fig. 17.1, PDF pp.1647–1649. W-01 (CN Fig. 3-3) is approved backup only; datasets are not mixed.</a:t>
            </a:r>
          </a:p>
        </p:txBody>
      </p:sp>
      <p:sp>
        <p:nvSpPr>
          <p:cNvPr id="51" name="TextBox 51"/>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06</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4823615"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1.7 海洋与陆地的水量收支 | Ocean–Land Water Budget</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7140045" cy="357093"/>
            <a:chOff x="381000" y="914400"/>
            <a:chExt cx="7140045"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976596"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海洋净蒸发 36 经大气输送到陆地，再由径流 36 返回海洋——全球收支闭合</a:t>
              </a:r>
            </a:p>
          </p:txBody>
        </p:sp>
      </p:grpSp>
      <p:grpSp>
        <p:nvGrpSpPr>
          <p:cNvPr id="49" name="Group 49"/>
          <p:cNvGrpSpPr/>
          <p:nvPr/>
        </p:nvGrpSpPr>
        <p:grpSpPr>
          <a:xfrm>
            <a:off x="381000" y="1466850"/>
            <a:ext cx="11430000" cy="4191000"/>
            <a:chOff x="381000" y="1466850"/>
            <a:chExt cx="11430000" cy="4191000"/>
          </a:xfrm>
        </p:grpSpPr>
        <p:sp>
          <p:nvSpPr>
            <p:cNvPr id="9" name="Rectangle 9"/>
            <p:cNvSpPr/>
            <p:nvPr/>
          </p:nvSpPr>
          <p:spPr>
            <a:xfrm>
              <a:off x="381000" y="1466850"/>
              <a:ext cx="11430000" cy="4191000"/>
            </a:xfrm>
            <a:prstGeom prst="roundRect">
              <a:avLst>
                <a:gd name="adj" fmla="val 2727"/>
              </a:avLst>
            </a:prstGeom>
            <a:solidFill>
              <a:srgbClr val="F7F9FC"/>
            </a:solidFill>
            <a:ln w="9525">
              <a:solidFill>
                <a:srgbClr val="D6DCE5"/>
              </a:solidFill>
            </a:ln>
          </p:spPr>
        </p:sp>
        <p:grpSp>
          <p:nvGrpSpPr>
            <p:cNvPr id="13" name="Group 13"/>
            <p:cNvGrpSpPr/>
            <p:nvPr/>
          </p:nvGrpSpPr>
          <p:grpSpPr>
            <a:xfrm>
              <a:off x="762000" y="1695450"/>
              <a:ext cx="10668000" cy="819150"/>
              <a:chOff x="762000" y="1695450"/>
              <a:chExt cx="10668000" cy="819150"/>
            </a:xfrm>
          </p:grpSpPr>
          <p:sp>
            <p:nvSpPr>
              <p:cNvPr id="10" name="Rectangle 10"/>
              <p:cNvSpPr/>
              <p:nvPr/>
            </p:nvSpPr>
            <p:spPr>
              <a:xfrm>
                <a:off x="762000" y="1695450"/>
                <a:ext cx="10668000" cy="819150"/>
              </a:xfrm>
              <a:prstGeom prst="roundRect">
                <a:avLst>
                  <a:gd name="adj" fmla="val 13953"/>
                </a:avLst>
              </a:prstGeom>
              <a:solidFill>
                <a:srgbClr val="F0F5FC"/>
              </a:solidFill>
              <a:ln w="19050">
                <a:solidFill>
                  <a:srgbClr val="3D7BD9"/>
                </a:solidFill>
              </a:ln>
            </p:spPr>
          </p:sp>
          <p:sp>
            <p:nvSpPr>
              <p:cNvPr id="11" name="TextBox 11"/>
              <p:cNvSpPr txBox="1"/>
              <p:nvPr/>
            </p:nvSpPr>
            <p:spPr>
              <a:xfrm>
                <a:off x="5330664" y="1873568"/>
                <a:ext cx="1530671" cy="264033"/>
              </a:xfrm>
              <a:prstGeom prst="rect">
                <a:avLst/>
              </a:prstGeom>
              <a:noFill/>
              <a:ln>
                <a:noFill/>
              </a:ln>
            </p:spPr>
            <p:txBody>
              <a:bodyPr wrap="none" lIns="0" tIns="0" rIns="0" bIns="0" anchor="t" anchorCtr="0">
                <a:spAutoFit/>
              </a:bodyPr>
              <a:lstStyle/>
              <a:p>
                <a:pPr algn="ctr"/>
                <a:r>
                  <a:rPr lang="zh-CN" sz="1350" b="1" dirty="0">
                    <a:solidFill>
                      <a:srgbClr val="0E3F8C"/>
                    </a:solidFill>
                    <a:latin typeface="Arial"/>
                    <a:ea typeface="Microsoft YaHei"/>
                    <a:cs typeface="Arial"/>
                  </a:rPr>
                  <a:t>大气 Atmosphere</a:t>
                </a:r>
              </a:p>
            </p:txBody>
          </p:sp>
          <p:sp>
            <p:nvSpPr>
              <p:cNvPr id="12" name="TextBox 12"/>
              <p:cNvSpPr txBox="1"/>
              <p:nvPr/>
            </p:nvSpPr>
            <p:spPr>
              <a:xfrm>
                <a:off x="4314906" y="2180749"/>
                <a:ext cx="3562187" cy="190690"/>
              </a:xfrm>
              <a:prstGeom prst="rect">
                <a:avLst/>
              </a:prstGeom>
              <a:noFill/>
              <a:ln>
                <a:noFill/>
              </a:ln>
            </p:spPr>
            <p:txBody>
              <a:bodyPr wrap="none" lIns="0" tIns="0" rIns="0" bIns="0" anchor="t" anchorCtr="0">
                <a:spAutoFit/>
              </a:bodyPr>
              <a:lstStyle/>
              <a:p>
                <a:pPr algn="ctr"/>
                <a:r>
                  <a:rPr lang="zh-CN" sz="980" dirty="0">
                    <a:solidFill>
                      <a:srgbClr val="4A5568"/>
                    </a:solidFill>
                    <a:latin typeface="Arial"/>
                    <a:ea typeface="Microsoft YaHei"/>
                    <a:cs typeface="Arial"/>
                  </a:rPr>
                  <a:t>小储库 · 快速交换 · 横向水汽输送 Atmospheric transport</a:t>
                </a:r>
              </a:p>
            </p:txBody>
          </p:sp>
        </p:grpSp>
        <p:grpSp>
          <p:nvGrpSpPr>
            <p:cNvPr id="18" name="Group 18"/>
            <p:cNvGrpSpPr/>
            <p:nvPr/>
          </p:nvGrpSpPr>
          <p:grpSpPr>
            <a:xfrm>
              <a:off x="762000" y="4095750"/>
              <a:ext cx="4381500" cy="1333500"/>
              <a:chOff x="762000" y="4095750"/>
              <a:chExt cx="4381500" cy="1333500"/>
            </a:xfrm>
          </p:grpSpPr>
          <p:sp>
            <p:nvSpPr>
              <p:cNvPr id="14" name="Rectangle 14"/>
              <p:cNvSpPr/>
              <p:nvPr/>
            </p:nvSpPr>
            <p:spPr>
              <a:xfrm>
                <a:off x="762000" y="4095750"/>
                <a:ext cx="4381500" cy="1333500"/>
              </a:xfrm>
              <a:prstGeom prst="roundRect">
                <a:avLst>
                  <a:gd name="adj" fmla="val 8571"/>
                </a:avLst>
              </a:prstGeom>
              <a:solidFill>
                <a:srgbClr val="1E4FA8"/>
              </a:solidFill>
              <a:ln>
                <a:noFill/>
              </a:ln>
            </p:spPr>
          </p:sp>
          <p:sp>
            <p:nvSpPr>
              <p:cNvPr id="15" name="TextBox 15"/>
              <p:cNvSpPr txBox="1"/>
              <p:nvPr/>
            </p:nvSpPr>
            <p:spPr>
              <a:xfrm>
                <a:off x="2336442" y="4412932"/>
                <a:ext cx="1232615"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Arial"/>
                    <a:ea typeface="Microsoft YaHei"/>
                    <a:cs typeface="Arial"/>
                  </a:rPr>
                  <a:t>海洋 Ocean</a:t>
                </a:r>
              </a:p>
            </p:txBody>
          </p:sp>
          <p:sp>
            <p:nvSpPr>
              <p:cNvPr id="16" name="TextBox 16"/>
              <p:cNvSpPr txBox="1"/>
              <p:nvPr/>
            </p:nvSpPr>
            <p:spPr>
              <a:xfrm>
                <a:off x="2173089" y="4782502"/>
                <a:ext cx="1559322" cy="205359"/>
              </a:xfrm>
              <a:prstGeom prst="rect">
                <a:avLst/>
              </a:prstGeom>
              <a:noFill/>
              <a:ln>
                <a:noFill/>
              </a:ln>
            </p:spPr>
            <p:txBody>
              <a:bodyPr wrap="none" lIns="0" tIns="0" rIns="0" bIns="0" anchor="t" anchorCtr="0">
                <a:spAutoFit/>
              </a:bodyPr>
              <a:lstStyle/>
              <a:p>
                <a:pPr algn="ctr"/>
                <a:r>
                  <a:rPr lang="zh-CN" sz="1050" dirty="0">
                    <a:solidFill>
                      <a:srgbClr val="C7D7F2"/>
                    </a:solidFill>
                    <a:latin typeface="Arial"/>
                    <a:ea typeface="Microsoft YaHei"/>
                    <a:cs typeface="Arial"/>
                  </a:rPr>
                  <a:t>Evaporation 蒸发 434 ↑</a:t>
                </a:r>
              </a:p>
            </p:txBody>
          </p:sp>
          <p:sp>
            <p:nvSpPr>
              <p:cNvPr id="17" name="TextBox 17"/>
              <p:cNvSpPr txBox="1"/>
              <p:nvPr/>
            </p:nvSpPr>
            <p:spPr>
              <a:xfrm>
                <a:off x="2131109" y="5030152"/>
                <a:ext cx="1643282" cy="205359"/>
              </a:xfrm>
              <a:prstGeom prst="rect">
                <a:avLst/>
              </a:prstGeom>
              <a:noFill/>
              <a:ln>
                <a:noFill/>
              </a:ln>
            </p:spPr>
            <p:txBody>
              <a:bodyPr wrap="none" lIns="0" tIns="0" rIns="0" bIns="0" anchor="t" anchorCtr="0">
                <a:spAutoFit/>
              </a:bodyPr>
              <a:lstStyle/>
              <a:p>
                <a:pPr algn="ctr"/>
                <a:r>
                  <a:rPr lang="zh-CN" sz="1050" dirty="0">
                    <a:solidFill>
                      <a:srgbClr val="C7D7F2"/>
                    </a:solidFill>
                    <a:latin typeface="Arial"/>
                    <a:ea typeface="Microsoft YaHei"/>
                    <a:cs typeface="Arial"/>
                  </a:rPr>
                  <a:t>Precipitation 降水 398 ↓</a:t>
                </a:r>
              </a:p>
            </p:txBody>
          </p:sp>
        </p:grpSp>
        <p:grpSp>
          <p:nvGrpSpPr>
            <p:cNvPr id="23" name="Group 23"/>
            <p:cNvGrpSpPr/>
            <p:nvPr/>
          </p:nvGrpSpPr>
          <p:grpSpPr>
            <a:xfrm>
              <a:off x="7048500" y="4095750"/>
              <a:ext cx="4381500" cy="1333500"/>
              <a:chOff x="7048500" y="4095750"/>
              <a:chExt cx="4381500" cy="1333500"/>
            </a:xfrm>
          </p:grpSpPr>
          <p:sp>
            <p:nvSpPr>
              <p:cNvPr id="19" name="Rectangle 19"/>
              <p:cNvSpPr/>
              <p:nvPr/>
            </p:nvSpPr>
            <p:spPr>
              <a:xfrm>
                <a:off x="7048500" y="4095750"/>
                <a:ext cx="4381500" cy="1333500"/>
              </a:xfrm>
              <a:prstGeom prst="roundRect">
                <a:avLst>
                  <a:gd name="adj" fmla="val 8571"/>
                </a:avLst>
              </a:prstGeom>
              <a:solidFill>
                <a:srgbClr val="3D7BD9"/>
              </a:solidFill>
              <a:ln>
                <a:noFill/>
              </a:ln>
            </p:spPr>
          </p:sp>
          <p:sp>
            <p:nvSpPr>
              <p:cNvPr id="20" name="TextBox 20"/>
              <p:cNvSpPr txBox="1"/>
              <p:nvPr/>
            </p:nvSpPr>
            <p:spPr>
              <a:xfrm>
                <a:off x="8709940" y="4412932"/>
                <a:ext cx="1058620"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Arial"/>
                    <a:ea typeface="Microsoft YaHei"/>
                    <a:cs typeface="Arial"/>
                  </a:rPr>
                  <a:t>陆地 Land</a:t>
                </a:r>
              </a:p>
            </p:txBody>
          </p:sp>
          <p:sp>
            <p:nvSpPr>
              <p:cNvPr id="21" name="TextBox 21"/>
              <p:cNvSpPr txBox="1"/>
              <p:nvPr/>
            </p:nvSpPr>
            <p:spPr>
              <a:xfrm>
                <a:off x="8417609" y="4782502"/>
                <a:ext cx="1643282" cy="205359"/>
              </a:xfrm>
              <a:prstGeom prst="rect">
                <a:avLst/>
              </a:prstGeom>
              <a:noFill/>
              <a:ln>
                <a:noFill/>
              </a:ln>
            </p:spPr>
            <p:txBody>
              <a:bodyPr wrap="none" lIns="0" tIns="0" rIns="0" bIns="0" anchor="t" anchorCtr="0">
                <a:spAutoFit/>
              </a:bodyPr>
              <a:lstStyle/>
              <a:p>
                <a:pPr algn="ctr"/>
                <a:r>
                  <a:rPr lang="zh-CN" sz="1050" dirty="0">
                    <a:solidFill>
                      <a:srgbClr val="E8EFF8"/>
                    </a:solidFill>
                    <a:latin typeface="Arial"/>
                    <a:ea typeface="Microsoft YaHei"/>
                    <a:cs typeface="Arial"/>
                  </a:rPr>
                  <a:t>Precipitation 降水 107 ↓</a:t>
                </a:r>
              </a:p>
            </p:txBody>
          </p:sp>
          <p:sp>
            <p:nvSpPr>
              <p:cNvPr id="22" name="TextBox 22"/>
              <p:cNvSpPr txBox="1"/>
              <p:nvPr/>
            </p:nvSpPr>
            <p:spPr>
              <a:xfrm>
                <a:off x="8244892" y="5030152"/>
                <a:ext cx="1988715" cy="205359"/>
              </a:xfrm>
              <a:prstGeom prst="rect">
                <a:avLst/>
              </a:prstGeom>
              <a:noFill/>
              <a:ln>
                <a:noFill/>
              </a:ln>
            </p:spPr>
            <p:txBody>
              <a:bodyPr wrap="none" lIns="0" tIns="0" rIns="0" bIns="0" anchor="t" anchorCtr="0">
                <a:spAutoFit/>
              </a:bodyPr>
              <a:lstStyle/>
              <a:p>
                <a:pPr algn="ctr"/>
                <a:r>
                  <a:rPr lang="zh-CN" sz="1050" dirty="0">
                    <a:solidFill>
                      <a:srgbClr val="E8EFF8"/>
                    </a:solidFill>
                    <a:latin typeface="Arial"/>
                    <a:ea typeface="Microsoft YaHei"/>
                    <a:cs typeface="Arial"/>
                  </a:rPr>
                  <a:t>Evapotranspiration 蒸散 71 ↑</a:t>
                </a:r>
              </a:p>
            </p:txBody>
          </p:sp>
        </p:grpSp>
        <p:sp>
          <p:nvSpPr>
            <p:cNvPr id="24" name="Line 24"/>
            <p:cNvSpPr/>
            <p:nvPr/>
          </p:nvSpPr>
          <p:spPr>
            <a:xfrm>
              <a:off x="1905000" y="2590800"/>
              <a:ext cx="9525" cy="1504950"/>
            </a:xfrm>
            <a:custGeom>
              <a:avLst/>
              <a:gdLst/>
              <a:ahLst/>
              <a:cxnLst/>
              <a:rect l="l" t="t" r="r" b="b"/>
              <a:pathLst>
                <a:path w="9525" h="1504950">
                  <a:moveTo>
                    <a:pt x="0" y="1504950"/>
                  </a:moveTo>
                  <a:lnTo>
                    <a:pt x="0" y="0"/>
                  </a:lnTo>
                </a:path>
              </a:pathLst>
            </a:custGeom>
            <a:noFill/>
            <a:ln w="57150">
              <a:solidFill>
                <a:srgbClr val="1E4FA8"/>
              </a:solidFill>
            </a:ln>
          </p:spPr>
        </p:sp>
        <p:sp>
          <p:nvSpPr>
            <p:cNvPr id="25" name="Polygon 25"/>
            <p:cNvSpPr/>
            <p:nvPr/>
          </p:nvSpPr>
          <p:spPr>
            <a:xfrm>
              <a:off x="1790700" y="2495550"/>
              <a:ext cx="228600" cy="209550"/>
            </a:xfrm>
            <a:custGeom>
              <a:avLst/>
              <a:gdLst/>
              <a:ahLst/>
              <a:cxnLst/>
              <a:rect l="l" t="t" r="r" b="b"/>
              <a:pathLst>
                <a:path w="228600" h="209550">
                  <a:moveTo>
                    <a:pt x="0" y="209550"/>
                  </a:moveTo>
                  <a:lnTo>
                    <a:pt x="228600" y="209550"/>
                  </a:lnTo>
                  <a:lnTo>
                    <a:pt x="114300" y="0"/>
                  </a:lnTo>
                  <a:close/>
                </a:path>
              </a:pathLst>
            </a:custGeom>
            <a:solidFill>
              <a:srgbClr val="1E4FA8"/>
            </a:solidFill>
            <a:ln>
              <a:noFill/>
            </a:ln>
          </p:spPr>
        </p:sp>
        <p:sp>
          <p:nvSpPr>
            <p:cNvPr id="26" name="Rectangle 26"/>
            <p:cNvSpPr/>
            <p:nvPr/>
          </p:nvSpPr>
          <p:spPr>
            <a:xfrm>
              <a:off x="1333500" y="3143250"/>
              <a:ext cx="1143000" cy="323850"/>
            </a:xfrm>
            <a:prstGeom prst="roundRect">
              <a:avLst>
                <a:gd name="adj" fmla="val 23529"/>
              </a:avLst>
            </a:prstGeom>
            <a:solidFill>
              <a:srgbClr val="FFFFFF"/>
            </a:solidFill>
            <a:ln w="9525">
              <a:solidFill>
                <a:srgbClr val="1E4FA8"/>
              </a:solidFill>
            </a:ln>
          </p:spPr>
        </p:sp>
        <p:sp>
          <p:nvSpPr>
            <p:cNvPr id="27" name="TextBox 27"/>
            <p:cNvSpPr txBox="1"/>
            <p:nvPr/>
          </p:nvSpPr>
          <p:spPr>
            <a:xfrm>
              <a:off x="1636993" y="3239452"/>
              <a:ext cx="536014" cy="205359"/>
            </a:xfrm>
            <a:prstGeom prst="rect">
              <a:avLst/>
            </a:prstGeom>
            <a:noFill/>
            <a:ln>
              <a:noFill/>
            </a:ln>
          </p:spPr>
          <p:txBody>
            <a:bodyPr wrap="none" lIns="0" tIns="0" rIns="0" bIns="0" anchor="t" anchorCtr="0">
              <a:spAutoFit/>
            </a:bodyPr>
            <a:lstStyle/>
            <a:p>
              <a:pPr algn="ctr"/>
              <a:r>
                <a:rPr lang="en-US" sz="1050" b="1" dirty="0">
                  <a:solidFill>
                    <a:srgbClr val="1E4FA8"/>
                  </a:solidFill>
                  <a:latin typeface="Arial"/>
                  <a:ea typeface="Arial"/>
                  <a:cs typeface="Arial"/>
                </a:rPr>
                <a:t>E 434 ↑</a:t>
              </a:r>
            </a:p>
          </p:txBody>
        </p:sp>
        <p:sp>
          <p:nvSpPr>
            <p:cNvPr id="28" name="Line 28"/>
            <p:cNvSpPr/>
            <p:nvPr/>
          </p:nvSpPr>
          <p:spPr>
            <a:xfrm>
              <a:off x="3810000" y="2514600"/>
              <a:ext cx="9525" cy="1504950"/>
            </a:xfrm>
            <a:custGeom>
              <a:avLst/>
              <a:gdLst/>
              <a:ahLst/>
              <a:cxnLst/>
              <a:rect l="l" t="t" r="r" b="b"/>
              <a:pathLst>
                <a:path w="9525" h="1504950">
                  <a:moveTo>
                    <a:pt x="0" y="0"/>
                  </a:moveTo>
                  <a:lnTo>
                    <a:pt x="0" y="1504950"/>
                  </a:lnTo>
                </a:path>
              </a:pathLst>
            </a:custGeom>
            <a:noFill/>
            <a:ln w="57150">
              <a:solidFill>
                <a:srgbClr val="3D7BD9"/>
              </a:solidFill>
            </a:ln>
          </p:spPr>
        </p:sp>
        <p:sp>
          <p:nvSpPr>
            <p:cNvPr id="29" name="Polygon 29"/>
            <p:cNvSpPr/>
            <p:nvPr/>
          </p:nvSpPr>
          <p:spPr>
            <a:xfrm>
              <a:off x="3695700" y="3905250"/>
              <a:ext cx="228600" cy="209550"/>
            </a:xfrm>
            <a:custGeom>
              <a:avLst/>
              <a:gdLst/>
              <a:ahLst/>
              <a:cxnLst/>
              <a:rect l="l" t="t" r="r" b="b"/>
              <a:pathLst>
                <a:path w="228600" h="209550">
                  <a:moveTo>
                    <a:pt x="0" y="0"/>
                  </a:moveTo>
                  <a:lnTo>
                    <a:pt x="228600" y="0"/>
                  </a:lnTo>
                  <a:lnTo>
                    <a:pt x="114300" y="209550"/>
                  </a:lnTo>
                  <a:close/>
                </a:path>
              </a:pathLst>
            </a:custGeom>
            <a:solidFill>
              <a:srgbClr val="3D7BD9"/>
            </a:solidFill>
            <a:ln>
              <a:noFill/>
            </a:ln>
          </p:spPr>
        </p:sp>
        <p:sp>
          <p:nvSpPr>
            <p:cNvPr id="30" name="Rectangle 30"/>
            <p:cNvSpPr/>
            <p:nvPr/>
          </p:nvSpPr>
          <p:spPr>
            <a:xfrm>
              <a:off x="3238500" y="3143250"/>
              <a:ext cx="1143000" cy="323850"/>
            </a:xfrm>
            <a:prstGeom prst="roundRect">
              <a:avLst>
                <a:gd name="adj" fmla="val 23529"/>
              </a:avLst>
            </a:prstGeom>
            <a:solidFill>
              <a:srgbClr val="FFFFFF"/>
            </a:solidFill>
            <a:ln w="9525">
              <a:solidFill>
                <a:srgbClr val="3D7BD9"/>
              </a:solidFill>
            </a:ln>
          </p:spPr>
        </p:sp>
        <p:sp>
          <p:nvSpPr>
            <p:cNvPr id="31" name="TextBox 31"/>
            <p:cNvSpPr txBox="1"/>
            <p:nvPr/>
          </p:nvSpPr>
          <p:spPr>
            <a:xfrm>
              <a:off x="3541993" y="3239452"/>
              <a:ext cx="536014" cy="205359"/>
            </a:xfrm>
            <a:prstGeom prst="rect">
              <a:avLst/>
            </a:prstGeom>
            <a:noFill/>
            <a:ln>
              <a:noFill/>
            </a:ln>
          </p:spPr>
          <p:txBody>
            <a:bodyPr wrap="none" lIns="0" tIns="0" rIns="0" bIns="0" anchor="t" anchorCtr="0">
              <a:spAutoFit/>
            </a:bodyPr>
            <a:lstStyle/>
            <a:p>
              <a:pPr algn="ctr"/>
              <a:r>
                <a:rPr lang="en-US" sz="1050" b="1" dirty="0">
                  <a:solidFill>
                    <a:srgbClr val="3D7BD9"/>
                  </a:solidFill>
                  <a:latin typeface="Arial"/>
                  <a:ea typeface="Arial"/>
                  <a:cs typeface="Arial"/>
                </a:rPr>
                <a:t>P 398 ↓</a:t>
              </a:r>
            </a:p>
          </p:txBody>
        </p:sp>
        <p:sp>
          <p:nvSpPr>
            <p:cNvPr id="32" name="Line 32"/>
            <p:cNvSpPr/>
            <p:nvPr/>
          </p:nvSpPr>
          <p:spPr>
            <a:xfrm>
              <a:off x="5334000" y="2105025"/>
              <a:ext cx="1447800" cy="9525"/>
            </a:xfrm>
            <a:custGeom>
              <a:avLst/>
              <a:gdLst/>
              <a:ahLst/>
              <a:cxnLst/>
              <a:rect l="l" t="t" r="r" b="b"/>
              <a:pathLst>
                <a:path w="1447800" h="9525">
                  <a:moveTo>
                    <a:pt x="0" y="0"/>
                  </a:moveTo>
                  <a:lnTo>
                    <a:pt x="1447800" y="0"/>
                  </a:lnTo>
                </a:path>
              </a:pathLst>
            </a:custGeom>
            <a:noFill/>
            <a:ln w="57150">
              <a:solidFill>
                <a:srgbClr val="EA580C"/>
              </a:solidFill>
            </a:ln>
          </p:spPr>
        </p:sp>
        <p:sp>
          <p:nvSpPr>
            <p:cNvPr id="33" name="Polygon 33"/>
            <p:cNvSpPr/>
            <p:nvPr/>
          </p:nvSpPr>
          <p:spPr>
            <a:xfrm>
              <a:off x="6667500" y="1990725"/>
              <a:ext cx="209550" cy="228600"/>
            </a:xfrm>
            <a:custGeom>
              <a:avLst/>
              <a:gdLst/>
              <a:ahLst/>
              <a:cxnLst/>
              <a:rect l="l" t="t" r="r" b="b"/>
              <a:pathLst>
                <a:path w="209550" h="228600">
                  <a:moveTo>
                    <a:pt x="0" y="0"/>
                  </a:moveTo>
                  <a:lnTo>
                    <a:pt x="0" y="228600"/>
                  </a:lnTo>
                  <a:lnTo>
                    <a:pt x="209550" y="114300"/>
                  </a:lnTo>
                  <a:close/>
                </a:path>
              </a:pathLst>
            </a:custGeom>
            <a:solidFill>
              <a:srgbClr val="EA580C"/>
            </a:solidFill>
            <a:ln>
              <a:noFill/>
            </a:ln>
          </p:spPr>
        </p:sp>
        <p:sp>
          <p:nvSpPr>
            <p:cNvPr id="34" name="Rectangle 34"/>
            <p:cNvSpPr/>
            <p:nvPr/>
          </p:nvSpPr>
          <p:spPr>
            <a:xfrm>
              <a:off x="5295900" y="1771650"/>
              <a:ext cx="1524000" cy="285750"/>
            </a:xfrm>
            <a:prstGeom prst="roundRect">
              <a:avLst>
                <a:gd name="adj" fmla="val 26667"/>
              </a:avLst>
            </a:prstGeom>
            <a:solidFill>
              <a:srgbClr val="FDECDD"/>
            </a:solidFill>
            <a:ln w="9525">
              <a:solidFill>
                <a:srgbClr val="EA580C"/>
              </a:solidFill>
            </a:ln>
          </p:spPr>
        </p:sp>
        <p:sp>
          <p:nvSpPr>
            <p:cNvPr id="35" name="TextBox 35"/>
            <p:cNvSpPr txBox="1"/>
            <p:nvPr/>
          </p:nvSpPr>
          <p:spPr>
            <a:xfrm>
              <a:off x="5397458" y="1856899"/>
              <a:ext cx="1320885" cy="190690"/>
            </a:xfrm>
            <a:prstGeom prst="rect">
              <a:avLst/>
            </a:prstGeom>
            <a:noFill/>
            <a:ln>
              <a:noFill/>
            </a:ln>
          </p:spPr>
          <p:txBody>
            <a:bodyPr wrap="none" lIns="0" tIns="0" rIns="0" bIns="0" anchor="t" anchorCtr="0">
              <a:spAutoFit/>
            </a:bodyPr>
            <a:lstStyle/>
            <a:p>
              <a:pPr algn="ctr"/>
              <a:r>
                <a:rPr lang="zh-CN" sz="980" b="1" dirty="0">
                  <a:solidFill>
                    <a:srgbClr val="C2410C"/>
                  </a:solidFill>
                  <a:latin typeface="Arial"/>
                  <a:ea typeface="Microsoft YaHei"/>
                  <a:cs typeface="Arial"/>
                </a:rPr>
                <a:t>Transport 输送 36 →</a:t>
              </a:r>
            </a:p>
          </p:txBody>
        </p:sp>
        <p:sp>
          <p:nvSpPr>
            <p:cNvPr id="36" name="Line 36"/>
            <p:cNvSpPr/>
            <p:nvPr/>
          </p:nvSpPr>
          <p:spPr>
            <a:xfrm>
              <a:off x="8382000" y="2514600"/>
              <a:ext cx="9525" cy="1504950"/>
            </a:xfrm>
            <a:custGeom>
              <a:avLst/>
              <a:gdLst/>
              <a:ahLst/>
              <a:cxnLst/>
              <a:rect l="l" t="t" r="r" b="b"/>
              <a:pathLst>
                <a:path w="9525" h="1504950">
                  <a:moveTo>
                    <a:pt x="0" y="0"/>
                  </a:moveTo>
                  <a:lnTo>
                    <a:pt x="0" y="1504950"/>
                  </a:lnTo>
                </a:path>
              </a:pathLst>
            </a:custGeom>
            <a:noFill/>
            <a:ln w="57150">
              <a:solidFill>
                <a:srgbClr val="3D7BD9"/>
              </a:solidFill>
            </a:ln>
          </p:spPr>
        </p:sp>
        <p:sp>
          <p:nvSpPr>
            <p:cNvPr id="37" name="Polygon 37"/>
            <p:cNvSpPr/>
            <p:nvPr/>
          </p:nvSpPr>
          <p:spPr>
            <a:xfrm>
              <a:off x="8267700" y="3905250"/>
              <a:ext cx="228600" cy="209550"/>
            </a:xfrm>
            <a:custGeom>
              <a:avLst/>
              <a:gdLst/>
              <a:ahLst/>
              <a:cxnLst/>
              <a:rect l="l" t="t" r="r" b="b"/>
              <a:pathLst>
                <a:path w="228600" h="209550">
                  <a:moveTo>
                    <a:pt x="0" y="0"/>
                  </a:moveTo>
                  <a:lnTo>
                    <a:pt x="228600" y="0"/>
                  </a:lnTo>
                  <a:lnTo>
                    <a:pt x="114300" y="209550"/>
                  </a:lnTo>
                  <a:close/>
                </a:path>
              </a:pathLst>
            </a:custGeom>
            <a:solidFill>
              <a:srgbClr val="3D7BD9"/>
            </a:solidFill>
            <a:ln>
              <a:noFill/>
            </a:ln>
          </p:spPr>
        </p:sp>
        <p:sp>
          <p:nvSpPr>
            <p:cNvPr id="38" name="Rectangle 38"/>
            <p:cNvSpPr/>
            <p:nvPr/>
          </p:nvSpPr>
          <p:spPr>
            <a:xfrm>
              <a:off x="7810500" y="3143250"/>
              <a:ext cx="1143000" cy="323850"/>
            </a:xfrm>
            <a:prstGeom prst="roundRect">
              <a:avLst>
                <a:gd name="adj" fmla="val 23529"/>
              </a:avLst>
            </a:prstGeom>
            <a:solidFill>
              <a:srgbClr val="FFFFFF"/>
            </a:solidFill>
            <a:ln w="9525">
              <a:solidFill>
                <a:srgbClr val="3D7BD9"/>
              </a:solidFill>
            </a:ln>
          </p:spPr>
        </p:sp>
        <p:sp>
          <p:nvSpPr>
            <p:cNvPr id="39" name="TextBox 39"/>
            <p:cNvSpPr txBox="1"/>
            <p:nvPr/>
          </p:nvSpPr>
          <p:spPr>
            <a:xfrm>
              <a:off x="8113993" y="3239452"/>
              <a:ext cx="536014" cy="205359"/>
            </a:xfrm>
            <a:prstGeom prst="rect">
              <a:avLst/>
            </a:prstGeom>
            <a:noFill/>
            <a:ln>
              <a:noFill/>
            </a:ln>
          </p:spPr>
          <p:txBody>
            <a:bodyPr wrap="none" lIns="0" tIns="0" rIns="0" bIns="0" anchor="t" anchorCtr="0">
              <a:spAutoFit/>
            </a:bodyPr>
            <a:lstStyle/>
            <a:p>
              <a:pPr algn="ctr"/>
              <a:r>
                <a:rPr lang="en-US" sz="1050" b="1" dirty="0">
                  <a:solidFill>
                    <a:srgbClr val="3D7BD9"/>
                  </a:solidFill>
                  <a:latin typeface="Arial"/>
                  <a:ea typeface="Arial"/>
                  <a:cs typeface="Arial"/>
                </a:rPr>
                <a:t>P 107 ↓</a:t>
              </a:r>
            </a:p>
          </p:txBody>
        </p:sp>
        <p:sp>
          <p:nvSpPr>
            <p:cNvPr id="40" name="Line 40"/>
            <p:cNvSpPr/>
            <p:nvPr/>
          </p:nvSpPr>
          <p:spPr>
            <a:xfrm>
              <a:off x="10287000" y="2590800"/>
              <a:ext cx="9525" cy="1504950"/>
            </a:xfrm>
            <a:custGeom>
              <a:avLst/>
              <a:gdLst/>
              <a:ahLst/>
              <a:cxnLst/>
              <a:rect l="l" t="t" r="r" b="b"/>
              <a:pathLst>
                <a:path w="9525" h="1504950">
                  <a:moveTo>
                    <a:pt x="0" y="1504950"/>
                  </a:moveTo>
                  <a:lnTo>
                    <a:pt x="0" y="0"/>
                  </a:lnTo>
                </a:path>
              </a:pathLst>
            </a:custGeom>
            <a:noFill/>
            <a:ln w="57150">
              <a:solidFill>
                <a:srgbClr val="1E4FA8"/>
              </a:solidFill>
            </a:ln>
          </p:spPr>
        </p:sp>
        <p:sp>
          <p:nvSpPr>
            <p:cNvPr id="41" name="Polygon 41"/>
            <p:cNvSpPr/>
            <p:nvPr/>
          </p:nvSpPr>
          <p:spPr>
            <a:xfrm>
              <a:off x="10172700" y="2495550"/>
              <a:ext cx="228600" cy="209550"/>
            </a:xfrm>
            <a:custGeom>
              <a:avLst/>
              <a:gdLst/>
              <a:ahLst/>
              <a:cxnLst/>
              <a:rect l="l" t="t" r="r" b="b"/>
              <a:pathLst>
                <a:path w="228600" h="209550">
                  <a:moveTo>
                    <a:pt x="0" y="209550"/>
                  </a:moveTo>
                  <a:lnTo>
                    <a:pt x="228600" y="209550"/>
                  </a:lnTo>
                  <a:lnTo>
                    <a:pt x="114300" y="0"/>
                  </a:lnTo>
                  <a:close/>
                </a:path>
              </a:pathLst>
            </a:custGeom>
            <a:solidFill>
              <a:srgbClr val="1E4FA8"/>
            </a:solidFill>
            <a:ln>
              <a:noFill/>
            </a:ln>
          </p:spPr>
        </p:sp>
        <p:sp>
          <p:nvSpPr>
            <p:cNvPr id="42" name="Rectangle 42"/>
            <p:cNvSpPr/>
            <p:nvPr/>
          </p:nvSpPr>
          <p:spPr>
            <a:xfrm>
              <a:off x="9715500" y="3143250"/>
              <a:ext cx="1143000" cy="323850"/>
            </a:xfrm>
            <a:prstGeom prst="roundRect">
              <a:avLst>
                <a:gd name="adj" fmla="val 23529"/>
              </a:avLst>
            </a:prstGeom>
            <a:solidFill>
              <a:srgbClr val="FFFFFF"/>
            </a:solidFill>
            <a:ln w="9525">
              <a:solidFill>
                <a:srgbClr val="1E4FA8"/>
              </a:solidFill>
            </a:ln>
          </p:spPr>
        </p:sp>
        <p:sp>
          <p:nvSpPr>
            <p:cNvPr id="43" name="TextBox 43"/>
            <p:cNvSpPr txBox="1"/>
            <p:nvPr/>
          </p:nvSpPr>
          <p:spPr>
            <a:xfrm>
              <a:off x="10062119" y="3239452"/>
              <a:ext cx="449763" cy="205359"/>
            </a:xfrm>
            <a:prstGeom prst="rect">
              <a:avLst/>
            </a:prstGeom>
            <a:noFill/>
            <a:ln>
              <a:noFill/>
            </a:ln>
          </p:spPr>
          <p:txBody>
            <a:bodyPr wrap="none" lIns="0" tIns="0" rIns="0" bIns="0" anchor="t" anchorCtr="0">
              <a:spAutoFit/>
            </a:bodyPr>
            <a:lstStyle/>
            <a:p>
              <a:pPr algn="ctr"/>
              <a:r>
                <a:rPr lang="en-US" sz="1050" b="1" dirty="0">
                  <a:solidFill>
                    <a:srgbClr val="1E4FA8"/>
                  </a:solidFill>
                  <a:latin typeface="Arial"/>
                  <a:ea typeface="Arial"/>
                  <a:cs typeface="Arial"/>
                </a:rPr>
                <a:t>E 71 ↑</a:t>
              </a:r>
            </a:p>
          </p:txBody>
        </p:sp>
        <p:sp>
          <p:nvSpPr>
            <p:cNvPr id="44" name="Line 44"/>
            <p:cNvSpPr/>
            <p:nvPr/>
          </p:nvSpPr>
          <p:spPr>
            <a:xfrm>
              <a:off x="5219700" y="4762500"/>
              <a:ext cx="1828800" cy="9525"/>
            </a:xfrm>
            <a:custGeom>
              <a:avLst/>
              <a:gdLst/>
              <a:ahLst/>
              <a:cxnLst/>
              <a:rect l="l" t="t" r="r" b="b"/>
              <a:pathLst>
                <a:path w="1828800" h="9525">
                  <a:moveTo>
                    <a:pt x="1828800" y="0"/>
                  </a:moveTo>
                  <a:lnTo>
                    <a:pt x="0" y="0"/>
                  </a:lnTo>
                </a:path>
              </a:pathLst>
            </a:custGeom>
            <a:noFill/>
            <a:ln w="57150">
              <a:solidFill>
                <a:srgbClr val="EA580C"/>
              </a:solidFill>
            </a:ln>
          </p:spPr>
        </p:sp>
        <p:sp>
          <p:nvSpPr>
            <p:cNvPr id="45" name="Polygon 45"/>
            <p:cNvSpPr/>
            <p:nvPr/>
          </p:nvSpPr>
          <p:spPr>
            <a:xfrm>
              <a:off x="5124450" y="4648200"/>
              <a:ext cx="209550" cy="228600"/>
            </a:xfrm>
            <a:custGeom>
              <a:avLst/>
              <a:gdLst/>
              <a:ahLst/>
              <a:cxnLst/>
              <a:rect l="l" t="t" r="r" b="b"/>
              <a:pathLst>
                <a:path w="209550" h="228600">
                  <a:moveTo>
                    <a:pt x="209550" y="0"/>
                  </a:moveTo>
                  <a:lnTo>
                    <a:pt x="209550" y="228600"/>
                  </a:lnTo>
                  <a:lnTo>
                    <a:pt x="0" y="114300"/>
                  </a:lnTo>
                  <a:close/>
                </a:path>
              </a:pathLst>
            </a:custGeom>
            <a:solidFill>
              <a:srgbClr val="EA580C"/>
            </a:solidFill>
            <a:ln>
              <a:noFill/>
            </a:ln>
          </p:spPr>
        </p:sp>
        <p:sp>
          <p:nvSpPr>
            <p:cNvPr id="46" name="Rectangle 46"/>
            <p:cNvSpPr/>
            <p:nvPr/>
          </p:nvSpPr>
          <p:spPr>
            <a:xfrm>
              <a:off x="5524500" y="4591050"/>
              <a:ext cx="1333500" cy="323850"/>
            </a:xfrm>
            <a:prstGeom prst="roundRect">
              <a:avLst>
                <a:gd name="adj" fmla="val 23529"/>
              </a:avLst>
            </a:prstGeom>
            <a:solidFill>
              <a:srgbClr val="FDECDD"/>
            </a:solidFill>
            <a:ln w="9525">
              <a:solidFill>
                <a:srgbClr val="EA580C"/>
              </a:solidFill>
            </a:ln>
          </p:spPr>
        </p:sp>
        <p:sp>
          <p:nvSpPr>
            <p:cNvPr id="47" name="TextBox 47"/>
            <p:cNvSpPr txBox="1"/>
            <p:nvPr/>
          </p:nvSpPr>
          <p:spPr>
            <a:xfrm>
              <a:off x="5605012" y="4687252"/>
              <a:ext cx="1172477" cy="205359"/>
            </a:xfrm>
            <a:prstGeom prst="rect">
              <a:avLst/>
            </a:prstGeom>
            <a:noFill/>
            <a:ln>
              <a:noFill/>
            </a:ln>
          </p:spPr>
          <p:txBody>
            <a:bodyPr wrap="none" lIns="0" tIns="0" rIns="0" bIns="0" anchor="t" anchorCtr="0">
              <a:spAutoFit/>
            </a:bodyPr>
            <a:lstStyle/>
            <a:p>
              <a:pPr algn="ctr"/>
              <a:r>
                <a:rPr lang="zh-CN" sz="1050" b="1" dirty="0">
                  <a:solidFill>
                    <a:srgbClr val="C2410C"/>
                  </a:solidFill>
                  <a:latin typeface="Arial"/>
                  <a:ea typeface="Microsoft YaHei"/>
                  <a:cs typeface="Arial"/>
                </a:rPr>
                <a:t>Runoff 径流 36 ←</a:t>
              </a:r>
            </a:p>
          </p:txBody>
        </p:sp>
        <p:sp>
          <p:nvSpPr>
            <p:cNvPr id="48" name="TextBox 48"/>
            <p:cNvSpPr txBox="1"/>
            <p:nvPr/>
          </p:nvSpPr>
          <p:spPr>
            <a:xfrm>
              <a:off x="4413763" y="5465445"/>
              <a:ext cx="3364475"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单位 Units: ×10³ km³/yr · 箭头方向保留 UE Fig. 17.2 原意</a:t>
              </a:r>
            </a:p>
          </p:txBody>
        </p:sp>
      </p:grpSp>
      <p:grpSp>
        <p:nvGrpSpPr>
          <p:cNvPr id="54" name="Group 54"/>
          <p:cNvGrpSpPr/>
          <p:nvPr/>
        </p:nvGrpSpPr>
        <p:grpSpPr>
          <a:xfrm>
            <a:off x="381000" y="5829300"/>
            <a:ext cx="11430000" cy="419100"/>
            <a:chOff x="381000" y="5829300"/>
            <a:chExt cx="11430000" cy="419100"/>
          </a:xfrm>
        </p:grpSpPr>
        <p:sp>
          <p:nvSpPr>
            <p:cNvPr id="50" name="Rectangle 50"/>
            <p:cNvSpPr/>
            <p:nvPr/>
          </p:nvSpPr>
          <p:spPr>
            <a:xfrm>
              <a:off x="381000" y="5829300"/>
              <a:ext cx="5619750" cy="419100"/>
            </a:xfrm>
            <a:prstGeom prst="roundRect">
              <a:avLst>
                <a:gd name="adj" fmla="val 22727"/>
              </a:avLst>
            </a:prstGeom>
            <a:solidFill>
              <a:srgbClr val="F0F5FC"/>
            </a:solidFill>
            <a:ln w="9525">
              <a:solidFill>
                <a:srgbClr val="1E4FA8"/>
              </a:solidFill>
            </a:ln>
          </p:spPr>
        </p:sp>
        <p:sp>
          <p:nvSpPr>
            <p:cNvPr id="51" name="TextBox 51"/>
            <p:cNvSpPr txBox="1"/>
            <p:nvPr/>
          </p:nvSpPr>
          <p:spPr>
            <a:xfrm>
              <a:off x="1357586" y="5974556"/>
              <a:ext cx="3666578" cy="220028"/>
            </a:xfrm>
            <a:prstGeom prst="rect">
              <a:avLst/>
            </a:prstGeom>
            <a:noFill/>
            <a:ln>
              <a:noFill/>
            </a:ln>
          </p:spPr>
          <p:txBody>
            <a:bodyPr wrap="none" lIns="0" tIns="0" rIns="0" bIns="0" anchor="t" anchorCtr="0">
              <a:spAutoFit/>
            </a:bodyPr>
            <a:lstStyle/>
            <a:p>
              <a:pPr algn="ctr"/>
              <a:r>
                <a:rPr lang="zh-CN" sz="1120" b="1" dirty="0">
                  <a:solidFill>
                    <a:srgbClr val="0E3F8C"/>
                  </a:solidFill>
                  <a:latin typeface="Arial"/>
                  <a:ea typeface="Microsoft YaHei"/>
                  <a:cs typeface="Arial"/>
                </a:rPr>
                <a:t>海洋侧闭合：434 − 398 = 36（净蒸发 → 输送到陆地）</a:t>
              </a:r>
            </a:p>
          </p:txBody>
        </p:sp>
        <p:sp>
          <p:nvSpPr>
            <p:cNvPr id="52" name="Rectangle 52"/>
            <p:cNvSpPr/>
            <p:nvPr/>
          </p:nvSpPr>
          <p:spPr>
            <a:xfrm>
              <a:off x="6191250" y="5829300"/>
              <a:ext cx="5619750" cy="419100"/>
            </a:xfrm>
            <a:prstGeom prst="roundRect">
              <a:avLst>
                <a:gd name="adj" fmla="val 22727"/>
              </a:avLst>
            </a:prstGeom>
            <a:solidFill>
              <a:srgbClr val="F0F5FC"/>
            </a:solidFill>
            <a:ln w="9525">
              <a:solidFill>
                <a:srgbClr val="1E4FA8"/>
              </a:solidFill>
            </a:ln>
          </p:spPr>
        </p:sp>
        <p:sp>
          <p:nvSpPr>
            <p:cNvPr id="53" name="TextBox 53"/>
            <p:cNvSpPr txBox="1"/>
            <p:nvPr/>
          </p:nvSpPr>
          <p:spPr>
            <a:xfrm>
              <a:off x="7135985" y="5974556"/>
              <a:ext cx="3730281" cy="220028"/>
            </a:xfrm>
            <a:prstGeom prst="rect">
              <a:avLst/>
            </a:prstGeom>
            <a:noFill/>
            <a:ln>
              <a:noFill/>
            </a:ln>
          </p:spPr>
          <p:txBody>
            <a:bodyPr wrap="none" lIns="0" tIns="0" rIns="0" bIns="0" anchor="t" anchorCtr="0">
              <a:spAutoFit/>
            </a:bodyPr>
            <a:lstStyle/>
            <a:p>
              <a:pPr algn="ctr"/>
              <a:r>
                <a:rPr lang="zh-CN" sz="1120" b="1" dirty="0">
                  <a:solidFill>
                    <a:srgbClr val="0E3F8C"/>
                  </a:solidFill>
                  <a:latin typeface="Arial"/>
                  <a:ea typeface="Microsoft YaHei"/>
                  <a:cs typeface="Arial"/>
                </a:rPr>
                <a:t>陆地侧闭合：107 − 71 = 36（净降水 → 径流返回海洋）</a:t>
              </a:r>
            </a:p>
          </p:txBody>
        </p:sp>
      </p:grpSp>
      <p:sp>
        <p:nvSpPr>
          <p:cNvPr id="55" name="TextBox 55"/>
          <p:cNvSpPr txBox="1"/>
          <p:nvPr/>
        </p:nvSpPr>
        <p:spPr>
          <a:xfrm>
            <a:off x="376238" y="6532245"/>
            <a:ext cx="748234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Ch.17, Fig. 17.2, PDF pp.1652, 1655. W-03 (CN Fig. 3-15) is approved backup only; panel units are not mixed.</a:t>
            </a:r>
          </a:p>
        </p:txBody>
      </p:sp>
      <p:sp>
        <p:nvSpPr>
          <p:cNvPr id="56" name="TextBox 56"/>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10</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886306"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1.8 水的三相转换 | Phase Changes of Water</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4858842" cy="357093"/>
            <a:chOff x="381000" y="914400"/>
            <a:chExt cx="4858842"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4695393"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相变同时搬运水和能量：汽化潜热远大于熔融潜热</a:t>
              </a:r>
            </a:p>
          </p:txBody>
        </p:sp>
      </p:grpSp>
      <p:grpSp>
        <p:nvGrpSpPr>
          <p:cNvPr id="11" name="Group 11"/>
          <p:cNvGrpSpPr/>
          <p:nvPr/>
        </p:nvGrpSpPr>
        <p:grpSpPr>
          <a:xfrm>
            <a:off x="381000" y="1466850"/>
            <a:ext cx="7429500" cy="4191000"/>
            <a:chOff x="381000" y="1466850"/>
            <a:chExt cx="7429500" cy="4191000"/>
          </a:xfrm>
        </p:grpSpPr>
        <p:sp>
          <p:nvSpPr>
            <p:cNvPr id="9" name="Rectangle 9"/>
            <p:cNvSpPr/>
            <p:nvPr/>
          </p:nvSpPr>
          <p:spPr>
            <a:xfrm>
              <a:off x="381000" y="1466850"/>
              <a:ext cx="7429500" cy="4191000"/>
            </a:xfrm>
            <a:prstGeom prst="roundRect">
              <a:avLst>
                <a:gd name="adj" fmla="val 2727"/>
              </a:avLst>
            </a:prstGeom>
            <a:solidFill>
              <a:srgbClr val="FFFFFF"/>
            </a:solidFill>
            <a:ln w="9525">
              <a:solidFill>
                <a:srgbClr val="D6DCE5"/>
              </a:solidFill>
            </a:ln>
          </p:spPr>
        </p:sp>
        <p:pic>
          <p:nvPicPr>
            <p:cNvPr id="10" name="Image 10"/>
            <p:cNvPicPr>
              <a:picLocks noChangeAspect="1"/>
            </p:cNvPicPr>
            <p:nvPr/>
          </p:nvPicPr>
          <p:blipFill>
            <a:blip r:embed="rId2"/>
            <a:stretch>
              <a:fillRect/>
            </a:stretch>
          </p:blipFill>
          <p:spPr>
            <a:xfrm>
              <a:off x="571500" y="1621924"/>
              <a:ext cx="7048500" cy="3957053"/>
            </a:xfrm>
            <a:prstGeom prst="rect">
              <a:avLst/>
            </a:prstGeom>
          </p:spPr>
        </p:pic>
      </p:grpSp>
      <p:grpSp>
        <p:nvGrpSpPr>
          <p:cNvPr id="16" name="Group 16"/>
          <p:cNvGrpSpPr/>
          <p:nvPr/>
        </p:nvGrpSpPr>
        <p:grpSpPr>
          <a:xfrm>
            <a:off x="8001000" y="1466850"/>
            <a:ext cx="3810000" cy="952500"/>
            <a:chOff x="8001000" y="1466850"/>
            <a:chExt cx="3810000" cy="952500"/>
          </a:xfrm>
        </p:grpSpPr>
        <p:sp>
          <p:nvSpPr>
            <p:cNvPr id="12" name="Rectangle 12"/>
            <p:cNvSpPr/>
            <p:nvPr/>
          </p:nvSpPr>
          <p:spPr>
            <a:xfrm>
              <a:off x="8001000" y="1466850"/>
              <a:ext cx="3810000" cy="952500"/>
            </a:xfrm>
            <a:prstGeom prst="roundRect">
              <a:avLst>
                <a:gd name="adj" fmla="val 12000"/>
              </a:avLst>
            </a:prstGeom>
            <a:solidFill>
              <a:srgbClr val="F0F5FC"/>
            </a:solidFill>
            <a:ln w="9525">
              <a:solidFill>
                <a:srgbClr val="D6DCE5"/>
              </a:solidFill>
            </a:ln>
          </p:spPr>
        </p:sp>
        <p:sp>
          <p:nvSpPr>
            <p:cNvPr id="13" name="TextBox 13"/>
            <p:cNvSpPr txBox="1"/>
            <p:nvPr/>
          </p:nvSpPr>
          <p:spPr>
            <a:xfrm>
              <a:off x="8242935" y="1688306"/>
              <a:ext cx="2183419"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熔融 / 冻结 Fusion ↔ Freezing</a:t>
              </a:r>
            </a:p>
          </p:txBody>
        </p:sp>
        <p:sp>
          <p:nvSpPr>
            <p:cNvPr id="14" name="TextBox 14"/>
            <p:cNvSpPr txBox="1"/>
            <p:nvPr/>
          </p:nvSpPr>
          <p:spPr>
            <a:xfrm>
              <a:off x="8237982" y="1925955"/>
              <a:ext cx="1034503" cy="410718"/>
            </a:xfrm>
            <a:prstGeom prst="rect">
              <a:avLst/>
            </a:prstGeom>
            <a:noFill/>
            <a:ln>
              <a:noFill/>
            </a:ln>
          </p:spPr>
          <p:txBody>
            <a:bodyPr wrap="none" lIns="0" tIns="0" rIns="0" bIns="0" anchor="t" anchorCtr="0">
              <a:spAutoFit/>
            </a:bodyPr>
            <a:lstStyle/>
            <a:p>
              <a:pPr algn="l"/>
              <a:r>
                <a:rPr lang="en-US" sz="2100" b="1" dirty="0">
                  <a:solidFill>
                    <a:srgbClr val="1E4FA8"/>
                  </a:solidFill>
                  <a:latin typeface="Arial"/>
                  <a:ea typeface="Arial"/>
                  <a:cs typeface="Arial"/>
                </a:rPr>
                <a:t>±80 Cal</a:t>
              </a:r>
            </a:p>
          </p:txBody>
        </p:sp>
        <p:sp>
          <p:nvSpPr>
            <p:cNvPr id="15" name="TextBox 15"/>
            <p:cNvSpPr txBox="1"/>
            <p:nvPr/>
          </p:nvSpPr>
          <p:spPr>
            <a:xfrm>
              <a:off x="9615297" y="2047399"/>
              <a:ext cx="992767"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固 ↔ 液 相变潜热</a:t>
              </a:r>
            </a:p>
          </p:txBody>
        </p:sp>
      </p:grpSp>
      <p:grpSp>
        <p:nvGrpSpPr>
          <p:cNvPr id="21" name="Group 21"/>
          <p:cNvGrpSpPr/>
          <p:nvPr/>
        </p:nvGrpSpPr>
        <p:grpSpPr>
          <a:xfrm>
            <a:off x="8001000" y="2552700"/>
            <a:ext cx="3810000" cy="952500"/>
            <a:chOff x="8001000" y="2552700"/>
            <a:chExt cx="3810000" cy="952500"/>
          </a:xfrm>
        </p:grpSpPr>
        <p:sp>
          <p:nvSpPr>
            <p:cNvPr id="17" name="Rectangle 17"/>
            <p:cNvSpPr/>
            <p:nvPr/>
          </p:nvSpPr>
          <p:spPr>
            <a:xfrm>
              <a:off x="8001000" y="2552700"/>
              <a:ext cx="3810000" cy="952500"/>
            </a:xfrm>
            <a:prstGeom prst="roundRect">
              <a:avLst>
                <a:gd name="adj" fmla="val 12000"/>
              </a:avLst>
            </a:prstGeom>
            <a:solidFill>
              <a:srgbClr val="F7F9FC"/>
            </a:solidFill>
            <a:ln w="9525">
              <a:solidFill>
                <a:srgbClr val="D6DCE5"/>
              </a:solidFill>
            </a:ln>
          </p:spPr>
        </p:sp>
        <p:sp>
          <p:nvSpPr>
            <p:cNvPr id="18" name="TextBox 18"/>
            <p:cNvSpPr txBox="1"/>
            <p:nvPr/>
          </p:nvSpPr>
          <p:spPr>
            <a:xfrm>
              <a:off x="8242935" y="2774156"/>
              <a:ext cx="1585401"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加热 / 降温 0–100 °C</a:t>
              </a:r>
            </a:p>
          </p:txBody>
        </p:sp>
        <p:sp>
          <p:nvSpPr>
            <p:cNvPr id="19" name="TextBox 19"/>
            <p:cNvSpPr txBox="1"/>
            <p:nvPr/>
          </p:nvSpPr>
          <p:spPr>
            <a:xfrm>
              <a:off x="8237982" y="3011805"/>
              <a:ext cx="1200843" cy="410718"/>
            </a:xfrm>
            <a:prstGeom prst="rect">
              <a:avLst/>
            </a:prstGeom>
            <a:noFill/>
            <a:ln>
              <a:noFill/>
            </a:ln>
          </p:spPr>
          <p:txBody>
            <a:bodyPr wrap="none" lIns="0" tIns="0" rIns="0" bIns="0" anchor="t" anchorCtr="0">
              <a:spAutoFit/>
            </a:bodyPr>
            <a:lstStyle/>
            <a:p>
              <a:pPr algn="l"/>
              <a:r>
                <a:rPr lang="en-US" sz="2100" b="1" dirty="0">
                  <a:solidFill>
                    <a:srgbClr val="3D7BD9"/>
                  </a:solidFill>
                  <a:latin typeface="Arial"/>
                  <a:ea typeface="Arial"/>
                  <a:cs typeface="Arial"/>
                </a:rPr>
                <a:t>±100 Cal</a:t>
              </a:r>
            </a:p>
          </p:txBody>
        </p:sp>
        <p:sp>
          <p:nvSpPr>
            <p:cNvPr id="20" name="TextBox 20"/>
            <p:cNvSpPr txBox="1"/>
            <p:nvPr/>
          </p:nvSpPr>
          <p:spPr>
            <a:xfrm>
              <a:off x="9615297" y="3133249"/>
              <a:ext cx="1329182"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液态水显热（非相变）</a:t>
              </a:r>
            </a:p>
          </p:txBody>
        </p:sp>
      </p:grpSp>
      <p:grpSp>
        <p:nvGrpSpPr>
          <p:cNvPr id="26" name="Group 26"/>
          <p:cNvGrpSpPr/>
          <p:nvPr/>
        </p:nvGrpSpPr>
        <p:grpSpPr>
          <a:xfrm>
            <a:off x="8001000" y="3638550"/>
            <a:ext cx="3810000" cy="952500"/>
            <a:chOff x="8001000" y="3638550"/>
            <a:chExt cx="3810000" cy="952500"/>
          </a:xfrm>
        </p:grpSpPr>
        <p:sp>
          <p:nvSpPr>
            <p:cNvPr id="22" name="Rectangle 22"/>
            <p:cNvSpPr/>
            <p:nvPr/>
          </p:nvSpPr>
          <p:spPr>
            <a:xfrm>
              <a:off x="8001000" y="3638550"/>
              <a:ext cx="3810000" cy="952500"/>
            </a:xfrm>
            <a:prstGeom prst="roundRect">
              <a:avLst>
                <a:gd name="adj" fmla="val 12000"/>
              </a:avLst>
            </a:prstGeom>
            <a:solidFill>
              <a:srgbClr val="F0F5FC"/>
            </a:solidFill>
            <a:ln w="19050">
              <a:solidFill>
                <a:srgbClr val="1E4FA8"/>
              </a:solidFill>
            </a:ln>
          </p:spPr>
        </p:sp>
        <p:sp>
          <p:nvSpPr>
            <p:cNvPr id="23" name="TextBox 23"/>
            <p:cNvSpPr txBox="1"/>
            <p:nvPr/>
          </p:nvSpPr>
          <p:spPr>
            <a:xfrm>
              <a:off x="8242935" y="3860006"/>
              <a:ext cx="3011224"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汽化 / 凝结 Vaporization ↔ Condensation</a:t>
              </a:r>
            </a:p>
          </p:txBody>
        </p:sp>
        <p:sp>
          <p:nvSpPr>
            <p:cNvPr id="24" name="TextBox 24"/>
            <p:cNvSpPr txBox="1"/>
            <p:nvPr/>
          </p:nvSpPr>
          <p:spPr>
            <a:xfrm>
              <a:off x="8237982" y="4097655"/>
              <a:ext cx="1200843" cy="410718"/>
            </a:xfrm>
            <a:prstGeom prst="rect">
              <a:avLst/>
            </a:prstGeom>
            <a:noFill/>
            <a:ln>
              <a:noFill/>
            </a:ln>
          </p:spPr>
          <p:txBody>
            <a:bodyPr wrap="none" lIns="0" tIns="0" rIns="0" bIns="0" anchor="t" anchorCtr="0">
              <a:spAutoFit/>
            </a:bodyPr>
            <a:lstStyle/>
            <a:p>
              <a:pPr algn="l"/>
              <a:r>
                <a:rPr lang="en-US" sz="2100" b="1" dirty="0">
                  <a:solidFill>
                    <a:srgbClr val="1E4FA8"/>
                  </a:solidFill>
                  <a:latin typeface="Arial"/>
                  <a:ea typeface="Arial"/>
                  <a:cs typeface="Arial"/>
                </a:rPr>
                <a:t>±540 Cal</a:t>
              </a:r>
            </a:p>
          </p:txBody>
        </p:sp>
        <p:sp>
          <p:nvSpPr>
            <p:cNvPr id="25" name="TextBox 25"/>
            <p:cNvSpPr txBox="1"/>
            <p:nvPr/>
          </p:nvSpPr>
          <p:spPr>
            <a:xfrm>
              <a:off x="9615297" y="4219099"/>
              <a:ext cx="992767"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液 ↔ 气 相变潜热</a:t>
              </a:r>
            </a:p>
          </p:txBody>
        </p:sp>
      </p:grpSp>
      <p:grpSp>
        <p:nvGrpSpPr>
          <p:cNvPr id="31" name="Group 31"/>
          <p:cNvGrpSpPr/>
          <p:nvPr/>
        </p:nvGrpSpPr>
        <p:grpSpPr>
          <a:xfrm>
            <a:off x="8001000" y="4724400"/>
            <a:ext cx="3810000" cy="936307"/>
            <a:chOff x="8001000" y="4724400"/>
            <a:chExt cx="3810000" cy="936307"/>
          </a:xfrm>
        </p:grpSpPr>
        <p:sp>
          <p:nvSpPr>
            <p:cNvPr id="27" name="Rectangle 27"/>
            <p:cNvSpPr/>
            <p:nvPr/>
          </p:nvSpPr>
          <p:spPr>
            <a:xfrm>
              <a:off x="8001000" y="4724400"/>
              <a:ext cx="3810000" cy="933450"/>
            </a:xfrm>
            <a:prstGeom prst="roundRect">
              <a:avLst>
                <a:gd name="adj" fmla="val 12245"/>
              </a:avLst>
            </a:prstGeom>
            <a:solidFill>
              <a:srgbClr val="FDF4EF"/>
            </a:solidFill>
            <a:ln w="9525">
              <a:solidFill>
                <a:srgbClr val="F0CFC2"/>
              </a:solidFill>
            </a:ln>
          </p:spPr>
        </p:sp>
        <p:sp>
          <p:nvSpPr>
            <p:cNvPr id="28" name="TextBox 28"/>
            <p:cNvSpPr txBox="1"/>
            <p:nvPr/>
          </p:nvSpPr>
          <p:spPr>
            <a:xfrm>
              <a:off x="8243316" y="4934902"/>
              <a:ext cx="922740" cy="205359"/>
            </a:xfrm>
            <a:prstGeom prst="rect">
              <a:avLst/>
            </a:prstGeom>
            <a:noFill/>
            <a:ln>
              <a:noFill/>
            </a:ln>
          </p:spPr>
          <p:txBody>
            <a:bodyPr wrap="none" lIns="0" tIns="0" rIns="0" bIns="0" anchor="t" anchorCtr="0">
              <a:spAutoFit/>
            </a:bodyPr>
            <a:lstStyle/>
            <a:p>
              <a:pPr algn="l"/>
              <a:r>
                <a:rPr lang="zh-CN" sz="1050" b="1" dirty="0">
                  <a:solidFill>
                    <a:srgbClr val="C2410C"/>
                  </a:solidFill>
                  <a:latin typeface="Arial"/>
                  <a:ea typeface="Microsoft YaHei"/>
                  <a:cs typeface="Arial"/>
                </a:rPr>
                <a:t>单位换算 Unit</a:t>
              </a:r>
            </a:p>
          </p:txBody>
        </p:sp>
        <p:sp>
          <p:nvSpPr>
            <p:cNvPr id="29" name="TextBox 29"/>
            <p:cNvSpPr txBox="1"/>
            <p:nvPr/>
          </p:nvSpPr>
          <p:spPr>
            <a:xfrm>
              <a:off x="8240268" y="5213032"/>
              <a:ext cx="1695574" cy="322707"/>
            </a:xfrm>
            <a:prstGeom prst="rect">
              <a:avLst/>
            </a:prstGeom>
            <a:noFill/>
            <a:ln>
              <a:noFill/>
            </a:ln>
          </p:spPr>
          <p:txBody>
            <a:bodyPr wrap="none" lIns="0" tIns="0" rIns="0" bIns="0" anchor="t" anchorCtr="0">
              <a:spAutoFit/>
            </a:bodyPr>
            <a:lstStyle/>
            <a:p>
              <a:pPr algn="l"/>
              <a:r>
                <a:rPr lang="en-US" sz="1650" b="1" dirty="0">
                  <a:solidFill>
                    <a:srgbClr val="1A2230"/>
                  </a:solidFill>
                  <a:latin typeface="Arial"/>
                  <a:ea typeface="Arial"/>
                  <a:cs typeface="Arial"/>
                </a:rPr>
                <a:t>1 Cal = 4.184 J</a:t>
              </a:r>
            </a:p>
          </p:txBody>
        </p:sp>
        <p:sp>
          <p:nvSpPr>
            <p:cNvPr id="30" name="TextBox 30"/>
            <p:cNvSpPr txBox="1"/>
            <p:nvPr/>
          </p:nvSpPr>
          <p:spPr>
            <a:xfrm>
              <a:off x="8243888" y="5484495"/>
              <a:ext cx="1584579" cy="176212"/>
            </a:xfrm>
            <a:prstGeom prst="rect">
              <a:avLst/>
            </a:prstGeom>
            <a:noFill/>
            <a:ln>
              <a:noFill/>
            </a:ln>
          </p:spPr>
          <p:txBody>
            <a:bodyPr wrap="none" lIns="0" tIns="0" rIns="0" bIns="0" anchor="t" anchorCtr="0">
              <a:spAutoFit/>
            </a:bodyPr>
            <a:lstStyle/>
            <a:p>
              <a:pPr algn="l"/>
              <a:r>
                <a:rPr lang="zh-CN" sz="900" dirty="0">
                  <a:solidFill>
                    <a:srgbClr val="7A4A33"/>
                  </a:solidFill>
                  <a:latin typeface="Arial"/>
                  <a:ea typeface="Microsoft YaHei"/>
                  <a:cs typeface="Arial"/>
                </a:rPr>
                <a:t>教材原值保留，未做单位改写</a:t>
              </a:r>
            </a:p>
          </p:txBody>
        </p:sp>
      </p:grpSp>
      <p:grpSp>
        <p:nvGrpSpPr>
          <p:cNvPr id="34" name="Group 34"/>
          <p:cNvGrpSpPr/>
          <p:nvPr/>
        </p:nvGrpSpPr>
        <p:grpSpPr>
          <a:xfrm>
            <a:off x="381000" y="5829300"/>
            <a:ext cx="11430000" cy="419100"/>
            <a:chOff x="381000" y="5829300"/>
            <a:chExt cx="11430000" cy="419100"/>
          </a:xfrm>
        </p:grpSpPr>
        <p:sp>
          <p:nvSpPr>
            <p:cNvPr id="32" name="Rectangle 32"/>
            <p:cNvSpPr/>
            <p:nvPr/>
          </p:nvSpPr>
          <p:spPr>
            <a:xfrm>
              <a:off x="381000" y="5829300"/>
              <a:ext cx="11430000" cy="419100"/>
            </a:xfrm>
            <a:prstGeom prst="roundRect">
              <a:avLst>
                <a:gd name="adj" fmla="val 22727"/>
              </a:avLst>
            </a:prstGeom>
            <a:solidFill>
              <a:srgbClr val="FDECDD"/>
            </a:solidFill>
            <a:ln w="9525">
              <a:solidFill>
                <a:srgbClr val="F0CFC2"/>
              </a:solidFill>
            </a:ln>
          </p:spPr>
        </p:sp>
        <p:sp>
          <p:nvSpPr>
            <p:cNvPr id="33" name="TextBox 33"/>
            <p:cNvSpPr txBox="1"/>
            <p:nvPr/>
          </p:nvSpPr>
          <p:spPr>
            <a:xfrm>
              <a:off x="3088367" y="5974556"/>
              <a:ext cx="6015267" cy="220028"/>
            </a:xfrm>
            <a:prstGeom prst="rect">
              <a:avLst/>
            </a:prstGeom>
            <a:noFill/>
            <a:ln>
              <a:noFill/>
            </a:ln>
          </p:spPr>
          <p:txBody>
            <a:bodyPr wrap="none" lIns="0" tIns="0" rIns="0" bIns="0" anchor="t" anchorCtr="0">
              <a:spAutoFit/>
            </a:bodyPr>
            <a:lstStyle/>
            <a:p>
              <a:pPr algn="ctr"/>
              <a:r>
                <a:rPr lang="zh-CN" sz="1120" b="1" dirty="0">
                  <a:solidFill>
                    <a:srgbClr val="C2410C"/>
                  </a:solidFill>
                  <a:latin typeface="Arial"/>
                  <a:ea typeface="Microsoft YaHei"/>
                  <a:cs typeface="Arial"/>
                </a:rPr>
                <a:t>气–液相变能量 ≈ 固–液相变能量的 7 倍（540 / 80）——这是水循环搬运能量的关键不对称</a:t>
              </a:r>
            </a:p>
          </p:txBody>
        </p:sp>
      </p:grpSp>
      <p:sp>
        <p:nvSpPr>
          <p:cNvPr id="35" name="TextBox 35"/>
          <p:cNvSpPr txBox="1"/>
          <p:nvPr/>
        </p:nvSpPr>
        <p:spPr>
          <a:xfrm>
            <a:off x="376238" y="6532245"/>
            <a:ext cx="786035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地球系统与演变, Ch.3 §3.3.2, Fig. 3-17 (W-05), p.112 (PDF p.27). Arrow directions and displayed values preserved intact.</a:t>
            </a:r>
          </a:p>
        </p:txBody>
      </p:sp>
      <p:sp>
        <p:nvSpPr>
          <p:cNvPr id="36" name="TextBox 36"/>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11</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4604069"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1.9 蒸发与蒸散 | Evaporation &amp; Evapotranspiration</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5071542" cy="357093"/>
            <a:chOff x="381000" y="914400"/>
            <a:chExt cx="5071542"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4908093"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海洋、陆地表面和植被通过蒸发与蒸腾把水返还大气</a:t>
              </a:r>
            </a:p>
          </p:txBody>
        </p:sp>
      </p:grpSp>
      <p:grpSp>
        <p:nvGrpSpPr>
          <p:cNvPr id="51" name="Group 51"/>
          <p:cNvGrpSpPr/>
          <p:nvPr/>
        </p:nvGrpSpPr>
        <p:grpSpPr>
          <a:xfrm>
            <a:off x="381000" y="1466850"/>
            <a:ext cx="11430000" cy="4191000"/>
            <a:chOff x="381000" y="1466850"/>
            <a:chExt cx="11430000" cy="4191000"/>
          </a:xfrm>
        </p:grpSpPr>
        <p:sp>
          <p:nvSpPr>
            <p:cNvPr id="9" name="Rectangle 9"/>
            <p:cNvSpPr/>
            <p:nvPr/>
          </p:nvSpPr>
          <p:spPr>
            <a:xfrm>
              <a:off x="381000" y="1466850"/>
              <a:ext cx="11430000" cy="4191000"/>
            </a:xfrm>
            <a:prstGeom prst="roundRect">
              <a:avLst>
                <a:gd name="adj" fmla="val 2727"/>
              </a:avLst>
            </a:prstGeom>
            <a:solidFill>
              <a:srgbClr val="F7F9FC"/>
            </a:solidFill>
            <a:ln w="9525">
              <a:solidFill>
                <a:srgbClr val="D6DCE5"/>
              </a:solidFill>
            </a:ln>
          </p:spPr>
        </p:sp>
        <p:grpSp>
          <p:nvGrpSpPr>
            <p:cNvPr id="13" name="Group 13"/>
            <p:cNvGrpSpPr/>
            <p:nvPr/>
          </p:nvGrpSpPr>
          <p:grpSpPr>
            <a:xfrm>
              <a:off x="762000" y="1695450"/>
              <a:ext cx="10668000" cy="723900"/>
              <a:chOff x="762000" y="1695450"/>
              <a:chExt cx="10668000" cy="723900"/>
            </a:xfrm>
          </p:grpSpPr>
          <p:sp>
            <p:nvSpPr>
              <p:cNvPr id="10" name="Rectangle 10"/>
              <p:cNvSpPr/>
              <p:nvPr/>
            </p:nvSpPr>
            <p:spPr>
              <a:xfrm>
                <a:off x="762000" y="1695450"/>
                <a:ext cx="10668000" cy="723900"/>
              </a:xfrm>
              <a:prstGeom prst="roundRect">
                <a:avLst>
                  <a:gd name="adj" fmla="val 15789"/>
                </a:avLst>
              </a:prstGeom>
              <a:solidFill>
                <a:srgbClr val="F0F5FC"/>
              </a:solidFill>
              <a:ln w="19050">
                <a:solidFill>
                  <a:srgbClr val="3D7BD9"/>
                </a:solidFill>
              </a:ln>
            </p:spPr>
          </p:sp>
          <p:sp>
            <p:nvSpPr>
              <p:cNvPr id="11" name="TextBox 11"/>
              <p:cNvSpPr txBox="1"/>
              <p:nvPr/>
            </p:nvSpPr>
            <p:spPr>
              <a:xfrm>
                <a:off x="5330664" y="1854518"/>
                <a:ext cx="1530671" cy="264033"/>
              </a:xfrm>
              <a:prstGeom prst="rect">
                <a:avLst/>
              </a:prstGeom>
              <a:noFill/>
              <a:ln>
                <a:noFill/>
              </a:ln>
            </p:spPr>
            <p:txBody>
              <a:bodyPr wrap="none" lIns="0" tIns="0" rIns="0" bIns="0" anchor="t" anchorCtr="0">
                <a:spAutoFit/>
              </a:bodyPr>
              <a:lstStyle/>
              <a:p>
                <a:pPr algn="ctr"/>
                <a:r>
                  <a:rPr lang="zh-CN" sz="1350" b="1" dirty="0">
                    <a:solidFill>
                      <a:srgbClr val="0E3F8C"/>
                    </a:solidFill>
                    <a:latin typeface="Arial"/>
                    <a:ea typeface="Microsoft YaHei"/>
                    <a:cs typeface="Arial"/>
                  </a:rPr>
                  <a:t>大气 Atmosphere</a:t>
                </a:r>
              </a:p>
            </p:txBody>
          </p:sp>
          <p:sp>
            <p:nvSpPr>
              <p:cNvPr id="12" name="TextBox 12"/>
              <p:cNvSpPr txBox="1"/>
              <p:nvPr/>
            </p:nvSpPr>
            <p:spPr>
              <a:xfrm>
                <a:off x="4780888" y="2142649"/>
                <a:ext cx="2630225" cy="190690"/>
              </a:xfrm>
              <a:prstGeom prst="rect">
                <a:avLst/>
              </a:prstGeom>
              <a:noFill/>
              <a:ln>
                <a:noFill/>
              </a:ln>
            </p:spPr>
            <p:txBody>
              <a:bodyPr wrap="none" lIns="0" tIns="0" rIns="0" bIns="0" anchor="t" anchorCtr="0">
                <a:spAutoFit/>
              </a:bodyPr>
              <a:lstStyle/>
              <a:p>
                <a:pPr algn="ctr"/>
                <a:r>
                  <a:rPr lang="zh-CN" sz="980" dirty="0">
                    <a:solidFill>
                      <a:srgbClr val="4A5568"/>
                    </a:solidFill>
                    <a:latin typeface="Arial"/>
                    <a:ea typeface="Microsoft YaHei"/>
                    <a:cs typeface="Arial"/>
                  </a:rPr>
                  <a:t>水汽 Water vapor 返回 · 小储库、快速交换</a:t>
                </a:r>
              </a:p>
            </p:txBody>
          </p:sp>
        </p:grpSp>
        <p:grpSp>
          <p:nvGrpSpPr>
            <p:cNvPr id="20" name="Group 20"/>
            <p:cNvGrpSpPr/>
            <p:nvPr/>
          </p:nvGrpSpPr>
          <p:grpSpPr>
            <a:xfrm>
              <a:off x="762000" y="3619500"/>
              <a:ext cx="3238500" cy="1809750"/>
              <a:chOff x="762000" y="3619500"/>
              <a:chExt cx="3238500" cy="1809750"/>
            </a:xfrm>
          </p:grpSpPr>
          <p:sp>
            <p:nvSpPr>
              <p:cNvPr id="14" name="Rectangle 14"/>
              <p:cNvSpPr/>
              <p:nvPr/>
            </p:nvSpPr>
            <p:spPr>
              <a:xfrm>
                <a:off x="762000" y="3619500"/>
                <a:ext cx="3238500" cy="1809750"/>
              </a:xfrm>
              <a:prstGeom prst="roundRect">
                <a:avLst>
                  <a:gd name="adj" fmla="val 6316"/>
                </a:avLst>
              </a:prstGeom>
              <a:solidFill>
                <a:srgbClr val="1E4FA8"/>
              </a:solidFill>
              <a:ln>
                <a:noFill/>
              </a:ln>
            </p:spPr>
          </p:sp>
          <p:sp>
            <p:nvSpPr>
              <p:cNvPr id="15" name="Freeform 15"/>
              <p:cNvSpPr/>
              <p:nvPr/>
            </p:nvSpPr>
            <p:spPr>
              <a:xfrm>
                <a:off x="952500" y="4019550"/>
                <a:ext cx="2857500" cy="152400"/>
              </a:xfrm>
              <a:custGeom>
                <a:avLst/>
                <a:gdLst/>
                <a:ahLst/>
                <a:cxnLst/>
                <a:rect l="l" t="t" r="r" b="b"/>
                <a:pathLst>
                  <a:path w="2857500" h="152400">
                    <a:moveTo>
                      <a:pt x="0" y="76200"/>
                    </a:moveTo>
                    <a:cubicBezTo>
                      <a:pt x="254000" y="0"/>
                      <a:pt x="508000" y="0"/>
                      <a:pt x="762000" y="76200"/>
                    </a:cubicBezTo>
                    <a:cubicBezTo>
                      <a:pt x="1016000" y="152400"/>
                      <a:pt x="1270000" y="152400"/>
                      <a:pt x="1524000" y="76200"/>
                    </a:cubicBezTo>
                    <a:cubicBezTo>
                      <a:pt x="1778000" y="0"/>
                      <a:pt x="2032000" y="0"/>
                      <a:pt x="2286000" y="76200"/>
                    </a:cubicBezTo>
                    <a:cubicBezTo>
                      <a:pt x="2540000" y="152400"/>
                      <a:pt x="2730500" y="152400"/>
                      <a:pt x="2857500" y="76200"/>
                    </a:cubicBezTo>
                  </a:path>
                </a:pathLst>
              </a:custGeom>
              <a:noFill/>
              <a:ln w="28575">
                <a:solidFill>
                  <a:srgbClr val="C7D7F2"/>
                </a:solidFill>
              </a:ln>
            </p:spPr>
          </p:sp>
          <p:sp>
            <p:nvSpPr>
              <p:cNvPr id="16" name="Freeform 16"/>
              <p:cNvSpPr/>
              <p:nvPr/>
            </p:nvSpPr>
            <p:spPr>
              <a:xfrm>
                <a:off x="952500" y="4305300"/>
                <a:ext cx="2857500" cy="152400"/>
              </a:xfrm>
              <a:custGeom>
                <a:avLst/>
                <a:gdLst/>
                <a:ahLst/>
                <a:cxnLst/>
                <a:rect l="l" t="t" r="r" b="b"/>
                <a:pathLst>
                  <a:path w="2857500" h="152400">
                    <a:moveTo>
                      <a:pt x="0" y="76200"/>
                    </a:moveTo>
                    <a:cubicBezTo>
                      <a:pt x="254000" y="0"/>
                      <a:pt x="508000" y="0"/>
                      <a:pt x="762000" y="76200"/>
                    </a:cubicBezTo>
                    <a:cubicBezTo>
                      <a:pt x="1016000" y="152400"/>
                      <a:pt x="1270000" y="152400"/>
                      <a:pt x="1524000" y="76200"/>
                    </a:cubicBezTo>
                    <a:cubicBezTo>
                      <a:pt x="1778000" y="0"/>
                      <a:pt x="2032000" y="0"/>
                      <a:pt x="2286000" y="76200"/>
                    </a:cubicBezTo>
                    <a:cubicBezTo>
                      <a:pt x="2540000" y="152400"/>
                      <a:pt x="2730500" y="152400"/>
                      <a:pt x="2857500" y="76200"/>
                    </a:cubicBezTo>
                  </a:path>
                </a:pathLst>
              </a:custGeom>
              <a:noFill/>
              <a:ln w="28575">
                <a:solidFill>
                  <a:srgbClr val="C7D7F2"/>
                </a:solidFill>
              </a:ln>
            </p:spPr>
          </p:sp>
          <p:sp>
            <p:nvSpPr>
              <p:cNvPr id="17" name="TextBox 17"/>
              <p:cNvSpPr txBox="1"/>
              <p:nvPr/>
            </p:nvSpPr>
            <p:spPr>
              <a:xfrm>
                <a:off x="2010918" y="4712018"/>
                <a:ext cx="7406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海洋表面</a:t>
                </a:r>
              </a:p>
            </p:txBody>
          </p:sp>
          <p:sp>
            <p:nvSpPr>
              <p:cNvPr id="18" name="TextBox 18"/>
              <p:cNvSpPr txBox="1"/>
              <p:nvPr/>
            </p:nvSpPr>
            <p:spPr>
              <a:xfrm>
                <a:off x="1905745" y="5000149"/>
                <a:ext cx="951010" cy="190690"/>
              </a:xfrm>
              <a:prstGeom prst="rect">
                <a:avLst/>
              </a:prstGeom>
              <a:noFill/>
              <a:ln>
                <a:noFill/>
              </a:ln>
            </p:spPr>
            <p:txBody>
              <a:bodyPr wrap="none" lIns="0" tIns="0" rIns="0" bIns="0" anchor="t" anchorCtr="0">
                <a:spAutoFit/>
              </a:bodyPr>
              <a:lstStyle/>
              <a:p>
                <a:pPr algn="ctr"/>
                <a:r>
                  <a:rPr lang="en-US" sz="980" dirty="0">
                    <a:solidFill>
                      <a:srgbClr val="C7D7F2"/>
                    </a:solidFill>
                    <a:latin typeface="Arial"/>
                    <a:ea typeface="Arial"/>
                    <a:cs typeface="Arial"/>
                  </a:rPr>
                  <a:t>Ocean surface</a:t>
                </a:r>
              </a:p>
            </p:txBody>
          </p:sp>
          <p:sp>
            <p:nvSpPr>
              <p:cNvPr id="19" name="TextBox 19"/>
              <p:cNvSpPr txBox="1"/>
              <p:nvPr/>
            </p:nvSpPr>
            <p:spPr>
              <a:xfrm>
                <a:off x="1883273" y="5217795"/>
                <a:ext cx="995955" cy="176212"/>
              </a:xfrm>
              <a:prstGeom prst="rect">
                <a:avLst/>
              </a:prstGeom>
              <a:noFill/>
              <a:ln>
                <a:noFill/>
              </a:ln>
            </p:spPr>
            <p:txBody>
              <a:bodyPr wrap="none" lIns="0" tIns="0" rIns="0" bIns="0" anchor="t" anchorCtr="0">
                <a:spAutoFit/>
              </a:bodyPr>
              <a:lstStyle/>
              <a:p>
                <a:pPr algn="ctr"/>
                <a:r>
                  <a:rPr lang="zh-CN" sz="900" dirty="0">
                    <a:solidFill>
                      <a:srgbClr val="C7D7F2"/>
                    </a:solidFill>
                    <a:latin typeface="Arial"/>
                    <a:ea typeface="Microsoft YaHei"/>
                    <a:cs typeface="Arial"/>
                  </a:rPr>
                  <a:t>Evaporation 蒸发</a:t>
                </a:r>
              </a:p>
            </p:txBody>
          </p:sp>
        </p:grpSp>
        <p:grpSp>
          <p:nvGrpSpPr>
            <p:cNvPr id="28" name="Group 28"/>
            <p:cNvGrpSpPr/>
            <p:nvPr/>
          </p:nvGrpSpPr>
          <p:grpSpPr>
            <a:xfrm>
              <a:off x="4476750" y="3619500"/>
              <a:ext cx="3238500" cy="1809750"/>
              <a:chOff x="4476750" y="3619500"/>
              <a:chExt cx="3238500" cy="1809750"/>
            </a:xfrm>
          </p:grpSpPr>
          <p:sp>
            <p:nvSpPr>
              <p:cNvPr id="21" name="Rectangle 21"/>
              <p:cNvSpPr/>
              <p:nvPr/>
            </p:nvSpPr>
            <p:spPr>
              <a:xfrm>
                <a:off x="4476750" y="3619500"/>
                <a:ext cx="3238500" cy="1809750"/>
              </a:xfrm>
              <a:prstGeom prst="roundRect">
                <a:avLst>
                  <a:gd name="adj" fmla="val 6316"/>
                </a:avLst>
              </a:prstGeom>
              <a:solidFill>
                <a:srgbClr val="7A4A33"/>
              </a:solidFill>
              <a:ln>
                <a:noFill/>
              </a:ln>
            </p:spPr>
          </p:sp>
          <p:sp>
            <p:nvSpPr>
              <p:cNvPr id="22" name="Line 22"/>
              <p:cNvSpPr/>
              <p:nvPr/>
            </p:nvSpPr>
            <p:spPr>
              <a:xfrm>
                <a:off x="4667250" y="4095750"/>
                <a:ext cx="2857500" cy="9525"/>
              </a:xfrm>
              <a:custGeom>
                <a:avLst/>
                <a:gdLst/>
                <a:ahLst/>
                <a:cxnLst/>
                <a:rect l="l" t="t" r="r" b="b"/>
                <a:pathLst>
                  <a:path w="2857500" h="9525">
                    <a:moveTo>
                      <a:pt x="0" y="0"/>
                    </a:moveTo>
                    <a:lnTo>
                      <a:pt x="2857500" y="0"/>
                    </a:lnTo>
                  </a:path>
                </a:pathLst>
              </a:custGeom>
              <a:noFill/>
              <a:ln w="19050">
                <a:solidFill>
                  <a:srgbClr val="A9755A"/>
                </a:solidFill>
              </a:ln>
            </p:spPr>
          </p:sp>
          <p:sp>
            <p:nvSpPr>
              <p:cNvPr id="23" name="Line 23"/>
              <p:cNvSpPr/>
              <p:nvPr/>
            </p:nvSpPr>
            <p:spPr>
              <a:xfrm>
                <a:off x="4667250" y="4286250"/>
                <a:ext cx="2857500" cy="9525"/>
              </a:xfrm>
              <a:custGeom>
                <a:avLst/>
                <a:gdLst/>
                <a:ahLst/>
                <a:cxnLst/>
                <a:rect l="l" t="t" r="r" b="b"/>
                <a:pathLst>
                  <a:path w="2857500" h="9525">
                    <a:moveTo>
                      <a:pt x="0" y="0"/>
                    </a:moveTo>
                    <a:lnTo>
                      <a:pt x="2857500" y="0"/>
                    </a:lnTo>
                  </a:path>
                </a:pathLst>
              </a:custGeom>
              <a:noFill/>
              <a:ln w="19050">
                <a:solidFill>
                  <a:srgbClr val="A9755A"/>
                </a:solidFill>
              </a:ln>
            </p:spPr>
          </p:sp>
          <p:sp>
            <p:nvSpPr>
              <p:cNvPr id="24" name="Line 24"/>
              <p:cNvSpPr/>
              <p:nvPr/>
            </p:nvSpPr>
            <p:spPr>
              <a:xfrm>
                <a:off x="4667250" y="4476750"/>
                <a:ext cx="2857500" cy="9525"/>
              </a:xfrm>
              <a:custGeom>
                <a:avLst/>
                <a:gdLst/>
                <a:ahLst/>
                <a:cxnLst/>
                <a:rect l="l" t="t" r="r" b="b"/>
                <a:pathLst>
                  <a:path w="2857500" h="9525">
                    <a:moveTo>
                      <a:pt x="0" y="0"/>
                    </a:moveTo>
                    <a:lnTo>
                      <a:pt x="2857500" y="0"/>
                    </a:lnTo>
                  </a:path>
                </a:pathLst>
              </a:custGeom>
              <a:noFill/>
              <a:ln w="19050">
                <a:solidFill>
                  <a:srgbClr val="A9755A"/>
                </a:solidFill>
              </a:ln>
            </p:spPr>
          </p:sp>
          <p:sp>
            <p:nvSpPr>
              <p:cNvPr id="25" name="TextBox 25"/>
              <p:cNvSpPr txBox="1"/>
              <p:nvPr/>
            </p:nvSpPr>
            <p:spPr>
              <a:xfrm>
                <a:off x="5434207" y="4712018"/>
                <a:ext cx="1323585"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陆地表面 / 土壤</a:t>
                </a:r>
              </a:p>
            </p:txBody>
          </p:sp>
          <p:sp>
            <p:nvSpPr>
              <p:cNvPr id="26" name="TextBox 26"/>
              <p:cNvSpPr txBox="1"/>
              <p:nvPr/>
            </p:nvSpPr>
            <p:spPr>
              <a:xfrm>
                <a:off x="5481890" y="5000149"/>
                <a:ext cx="1228220" cy="190690"/>
              </a:xfrm>
              <a:prstGeom prst="rect">
                <a:avLst/>
              </a:prstGeom>
              <a:noFill/>
              <a:ln>
                <a:noFill/>
              </a:ln>
            </p:spPr>
            <p:txBody>
              <a:bodyPr wrap="none" lIns="0" tIns="0" rIns="0" bIns="0" anchor="t" anchorCtr="0">
                <a:spAutoFit/>
              </a:bodyPr>
              <a:lstStyle/>
              <a:p>
                <a:pPr algn="ctr"/>
                <a:r>
                  <a:rPr lang="en-US" sz="980" dirty="0">
                    <a:solidFill>
                      <a:srgbClr val="F0CFC2"/>
                    </a:solidFill>
                    <a:latin typeface="Arial"/>
                    <a:ea typeface="Arial"/>
                    <a:cs typeface="Arial"/>
                  </a:rPr>
                  <a:t>Land surface / soil</a:t>
                </a:r>
              </a:p>
            </p:txBody>
          </p:sp>
          <p:sp>
            <p:nvSpPr>
              <p:cNvPr id="27" name="TextBox 27"/>
              <p:cNvSpPr txBox="1"/>
              <p:nvPr/>
            </p:nvSpPr>
            <p:spPr>
              <a:xfrm>
                <a:off x="5598023" y="5217795"/>
                <a:ext cx="995955" cy="176212"/>
              </a:xfrm>
              <a:prstGeom prst="rect">
                <a:avLst/>
              </a:prstGeom>
              <a:noFill/>
              <a:ln>
                <a:noFill/>
              </a:ln>
            </p:spPr>
            <p:txBody>
              <a:bodyPr wrap="none" lIns="0" tIns="0" rIns="0" bIns="0" anchor="t" anchorCtr="0">
                <a:spAutoFit/>
              </a:bodyPr>
              <a:lstStyle/>
              <a:p>
                <a:pPr algn="ctr"/>
                <a:r>
                  <a:rPr lang="zh-CN" sz="900" dirty="0">
                    <a:solidFill>
                      <a:srgbClr val="F0CFC2"/>
                    </a:solidFill>
                    <a:latin typeface="Arial"/>
                    <a:ea typeface="Microsoft YaHei"/>
                    <a:cs typeface="Arial"/>
                  </a:rPr>
                  <a:t>Evaporation 蒸发</a:t>
                </a:r>
              </a:p>
            </p:txBody>
          </p:sp>
        </p:grpSp>
        <p:grpSp>
          <p:nvGrpSpPr>
            <p:cNvPr id="38" name="Group 38"/>
            <p:cNvGrpSpPr/>
            <p:nvPr/>
          </p:nvGrpSpPr>
          <p:grpSpPr>
            <a:xfrm>
              <a:off x="8191500" y="3619500"/>
              <a:ext cx="3238500" cy="1809750"/>
              <a:chOff x="8191500" y="3619500"/>
              <a:chExt cx="3238500" cy="1809750"/>
            </a:xfrm>
          </p:grpSpPr>
          <p:sp>
            <p:nvSpPr>
              <p:cNvPr id="29" name="Rectangle 29"/>
              <p:cNvSpPr/>
              <p:nvPr/>
            </p:nvSpPr>
            <p:spPr>
              <a:xfrm>
                <a:off x="8191500" y="3619500"/>
                <a:ext cx="3238500" cy="1809750"/>
              </a:xfrm>
              <a:prstGeom prst="roundRect">
                <a:avLst>
                  <a:gd name="adj" fmla="val 6316"/>
                </a:avLst>
              </a:prstGeom>
              <a:solidFill>
                <a:srgbClr val="FDF4EF"/>
              </a:solidFill>
              <a:ln w="19050">
                <a:solidFill>
                  <a:srgbClr val="F0CFC2"/>
                </a:solidFill>
              </a:ln>
            </p:spPr>
          </p:sp>
          <p:sp>
            <p:nvSpPr>
              <p:cNvPr id="30" name="Rectangle 30"/>
              <p:cNvSpPr/>
              <p:nvPr/>
            </p:nvSpPr>
            <p:spPr>
              <a:xfrm>
                <a:off x="8191500" y="4953000"/>
                <a:ext cx="3238500" cy="476250"/>
              </a:xfrm>
              <a:prstGeom prst="rect">
                <a:avLst/>
              </a:prstGeom>
              <a:solidFill>
                <a:srgbClr val="4A7C3F"/>
              </a:solidFill>
              <a:ln>
                <a:noFill/>
              </a:ln>
            </p:spPr>
          </p:sp>
          <p:sp>
            <p:nvSpPr>
              <p:cNvPr id="31" name="Polygon 31"/>
              <p:cNvSpPr/>
              <p:nvPr/>
            </p:nvSpPr>
            <p:spPr>
              <a:xfrm>
                <a:off x="8667750" y="4095750"/>
                <a:ext cx="571500" cy="571500"/>
              </a:xfrm>
              <a:custGeom>
                <a:avLst/>
                <a:gdLst/>
                <a:ahLst/>
                <a:cxnLst/>
                <a:rect l="l" t="t" r="r" b="b"/>
                <a:pathLst>
                  <a:path w="571500" h="571500">
                    <a:moveTo>
                      <a:pt x="285750" y="0"/>
                    </a:moveTo>
                    <a:lnTo>
                      <a:pt x="571500" y="571500"/>
                    </a:lnTo>
                    <a:lnTo>
                      <a:pt x="0" y="571500"/>
                    </a:lnTo>
                    <a:close/>
                  </a:path>
                </a:pathLst>
              </a:custGeom>
              <a:solidFill>
                <a:srgbClr val="4A7C3F"/>
              </a:solidFill>
              <a:ln>
                <a:noFill/>
              </a:ln>
            </p:spPr>
          </p:sp>
          <p:sp>
            <p:nvSpPr>
              <p:cNvPr id="32" name="Rectangle 32"/>
              <p:cNvSpPr/>
              <p:nvPr/>
            </p:nvSpPr>
            <p:spPr>
              <a:xfrm>
                <a:off x="8905875" y="4667250"/>
                <a:ext cx="95250" cy="285750"/>
              </a:xfrm>
              <a:prstGeom prst="rect">
                <a:avLst/>
              </a:prstGeom>
              <a:solidFill>
                <a:srgbClr val="7A4A33"/>
              </a:solidFill>
              <a:ln>
                <a:noFill/>
              </a:ln>
            </p:spPr>
          </p:sp>
          <p:sp>
            <p:nvSpPr>
              <p:cNvPr id="33" name="Polygon 33"/>
              <p:cNvSpPr/>
              <p:nvPr/>
            </p:nvSpPr>
            <p:spPr>
              <a:xfrm>
                <a:off x="9429750" y="3905250"/>
                <a:ext cx="762000" cy="762000"/>
              </a:xfrm>
              <a:custGeom>
                <a:avLst/>
                <a:gdLst/>
                <a:ahLst/>
                <a:cxnLst/>
                <a:rect l="l" t="t" r="r" b="b"/>
                <a:pathLst>
                  <a:path w="762000" h="762000">
                    <a:moveTo>
                      <a:pt x="381000" y="0"/>
                    </a:moveTo>
                    <a:lnTo>
                      <a:pt x="762000" y="762000"/>
                    </a:lnTo>
                    <a:lnTo>
                      <a:pt x="0" y="762000"/>
                    </a:lnTo>
                    <a:close/>
                  </a:path>
                </a:pathLst>
              </a:custGeom>
              <a:solidFill>
                <a:srgbClr val="4A7C3F"/>
              </a:solidFill>
              <a:ln>
                <a:noFill/>
              </a:ln>
            </p:spPr>
          </p:sp>
          <p:sp>
            <p:nvSpPr>
              <p:cNvPr id="34" name="Rectangle 34"/>
              <p:cNvSpPr/>
              <p:nvPr/>
            </p:nvSpPr>
            <p:spPr>
              <a:xfrm>
                <a:off x="9763125" y="4667250"/>
                <a:ext cx="95250" cy="285750"/>
              </a:xfrm>
              <a:prstGeom prst="rect">
                <a:avLst/>
              </a:prstGeom>
              <a:solidFill>
                <a:srgbClr val="7A4A33"/>
              </a:solidFill>
              <a:ln>
                <a:noFill/>
              </a:ln>
            </p:spPr>
          </p:sp>
          <p:sp>
            <p:nvSpPr>
              <p:cNvPr id="35" name="Polygon 35"/>
              <p:cNvSpPr/>
              <p:nvPr/>
            </p:nvSpPr>
            <p:spPr>
              <a:xfrm>
                <a:off x="10382250" y="4095750"/>
                <a:ext cx="571500" cy="571500"/>
              </a:xfrm>
              <a:custGeom>
                <a:avLst/>
                <a:gdLst/>
                <a:ahLst/>
                <a:cxnLst/>
                <a:rect l="l" t="t" r="r" b="b"/>
                <a:pathLst>
                  <a:path w="571500" h="571500">
                    <a:moveTo>
                      <a:pt x="285750" y="0"/>
                    </a:moveTo>
                    <a:lnTo>
                      <a:pt x="571500" y="571500"/>
                    </a:lnTo>
                    <a:lnTo>
                      <a:pt x="0" y="571500"/>
                    </a:lnTo>
                    <a:close/>
                  </a:path>
                </a:pathLst>
              </a:custGeom>
              <a:solidFill>
                <a:srgbClr val="4A7C3F"/>
              </a:solidFill>
              <a:ln>
                <a:noFill/>
              </a:ln>
            </p:spPr>
          </p:sp>
          <p:sp>
            <p:nvSpPr>
              <p:cNvPr id="36" name="Rectangle 36"/>
              <p:cNvSpPr/>
              <p:nvPr/>
            </p:nvSpPr>
            <p:spPr>
              <a:xfrm>
                <a:off x="10620375" y="4667250"/>
                <a:ext cx="95250" cy="285750"/>
              </a:xfrm>
              <a:prstGeom prst="rect">
                <a:avLst/>
              </a:prstGeom>
              <a:solidFill>
                <a:srgbClr val="7A4A33"/>
              </a:solidFill>
              <a:ln>
                <a:noFill/>
              </a:ln>
            </p:spPr>
          </p:sp>
          <p:sp>
            <p:nvSpPr>
              <p:cNvPr id="37" name="TextBox 37"/>
              <p:cNvSpPr txBox="1"/>
              <p:nvPr/>
            </p:nvSpPr>
            <p:spPr>
              <a:xfrm>
                <a:off x="9036457" y="5209699"/>
                <a:ext cx="154858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Arial"/>
                    <a:ea typeface="Microsoft YaHei"/>
                    <a:cs typeface="Arial"/>
                  </a:rPr>
                  <a:t>植被 Transpiration 蒸腾</a:t>
                </a:r>
              </a:p>
            </p:txBody>
          </p:sp>
        </p:grpSp>
        <p:sp>
          <p:nvSpPr>
            <p:cNvPr id="39" name="Line 39"/>
            <p:cNvSpPr/>
            <p:nvPr/>
          </p:nvSpPr>
          <p:spPr>
            <a:xfrm>
              <a:off x="2381250" y="2495550"/>
              <a:ext cx="9525" cy="1123950"/>
            </a:xfrm>
            <a:custGeom>
              <a:avLst/>
              <a:gdLst/>
              <a:ahLst/>
              <a:cxnLst/>
              <a:rect l="l" t="t" r="r" b="b"/>
              <a:pathLst>
                <a:path w="9525" h="1123950">
                  <a:moveTo>
                    <a:pt x="0" y="1123950"/>
                  </a:moveTo>
                  <a:lnTo>
                    <a:pt x="0" y="0"/>
                  </a:lnTo>
                </a:path>
              </a:pathLst>
            </a:custGeom>
            <a:noFill/>
            <a:ln w="57150">
              <a:solidFill>
                <a:srgbClr val="1E4FA8"/>
              </a:solidFill>
            </a:ln>
          </p:spPr>
        </p:sp>
        <p:sp>
          <p:nvSpPr>
            <p:cNvPr id="40" name="Polygon 40"/>
            <p:cNvSpPr/>
            <p:nvPr/>
          </p:nvSpPr>
          <p:spPr>
            <a:xfrm>
              <a:off x="2266950" y="2400300"/>
              <a:ext cx="228600" cy="209550"/>
            </a:xfrm>
            <a:custGeom>
              <a:avLst/>
              <a:gdLst/>
              <a:ahLst/>
              <a:cxnLst/>
              <a:rect l="l" t="t" r="r" b="b"/>
              <a:pathLst>
                <a:path w="228600" h="209550">
                  <a:moveTo>
                    <a:pt x="0" y="209550"/>
                  </a:moveTo>
                  <a:lnTo>
                    <a:pt x="228600" y="209550"/>
                  </a:lnTo>
                  <a:lnTo>
                    <a:pt x="114300" y="0"/>
                  </a:lnTo>
                  <a:close/>
                </a:path>
              </a:pathLst>
            </a:custGeom>
            <a:solidFill>
              <a:srgbClr val="1E4FA8"/>
            </a:solidFill>
            <a:ln>
              <a:noFill/>
            </a:ln>
          </p:spPr>
        </p:sp>
        <p:sp>
          <p:nvSpPr>
            <p:cNvPr id="41" name="Rectangle 41"/>
            <p:cNvSpPr/>
            <p:nvPr/>
          </p:nvSpPr>
          <p:spPr>
            <a:xfrm>
              <a:off x="1714500" y="2857500"/>
              <a:ext cx="1333500" cy="304800"/>
            </a:xfrm>
            <a:prstGeom prst="roundRect">
              <a:avLst>
                <a:gd name="adj" fmla="val 25000"/>
              </a:avLst>
            </a:prstGeom>
            <a:solidFill>
              <a:srgbClr val="FFFFFF"/>
            </a:solidFill>
            <a:ln w="9525">
              <a:solidFill>
                <a:srgbClr val="1E4FA8"/>
              </a:solidFill>
            </a:ln>
          </p:spPr>
        </p:sp>
        <p:sp>
          <p:nvSpPr>
            <p:cNvPr id="42" name="TextBox 42"/>
            <p:cNvSpPr txBox="1"/>
            <p:nvPr/>
          </p:nvSpPr>
          <p:spPr>
            <a:xfrm>
              <a:off x="1913335" y="2952274"/>
              <a:ext cx="935831" cy="190690"/>
            </a:xfrm>
            <a:prstGeom prst="rect">
              <a:avLst/>
            </a:prstGeom>
            <a:noFill/>
            <a:ln>
              <a:noFill/>
            </a:ln>
          </p:spPr>
          <p:txBody>
            <a:bodyPr wrap="none" lIns="0" tIns="0" rIns="0" bIns="0" anchor="t" anchorCtr="0">
              <a:spAutoFit/>
            </a:bodyPr>
            <a:lstStyle/>
            <a:p>
              <a:pPr algn="ctr"/>
              <a:r>
                <a:rPr lang="en-US" sz="980" b="1" dirty="0">
                  <a:solidFill>
                    <a:srgbClr val="1E4FA8"/>
                  </a:solidFill>
                  <a:latin typeface="Arial"/>
                  <a:ea typeface="Arial"/>
                  <a:cs typeface="Arial"/>
                </a:rPr>
                <a:t>Evaporation ↑</a:t>
              </a:r>
            </a:p>
          </p:txBody>
        </p:sp>
        <p:sp>
          <p:nvSpPr>
            <p:cNvPr id="43" name="Line 43"/>
            <p:cNvSpPr/>
            <p:nvPr/>
          </p:nvSpPr>
          <p:spPr>
            <a:xfrm>
              <a:off x="6096000" y="2495550"/>
              <a:ext cx="9525" cy="1123950"/>
            </a:xfrm>
            <a:custGeom>
              <a:avLst/>
              <a:gdLst/>
              <a:ahLst/>
              <a:cxnLst/>
              <a:rect l="l" t="t" r="r" b="b"/>
              <a:pathLst>
                <a:path w="9525" h="1123950">
                  <a:moveTo>
                    <a:pt x="0" y="1123950"/>
                  </a:moveTo>
                  <a:lnTo>
                    <a:pt x="0" y="0"/>
                  </a:lnTo>
                </a:path>
              </a:pathLst>
            </a:custGeom>
            <a:noFill/>
            <a:ln w="57150">
              <a:solidFill>
                <a:srgbClr val="1E4FA8"/>
              </a:solidFill>
            </a:ln>
          </p:spPr>
        </p:sp>
        <p:sp>
          <p:nvSpPr>
            <p:cNvPr id="44" name="Polygon 44"/>
            <p:cNvSpPr/>
            <p:nvPr/>
          </p:nvSpPr>
          <p:spPr>
            <a:xfrm>
              <a:off x="5981700" y="2400300"/>
              <a:ext cx="228600" cy="209550"/>
            </a:xfrm>
            <a:custGeom>
              <a:avLst/>
              <a:gdLst/>
              <a:ahLst/>
              <a:cxnLst/>
              <a:rect l="l" t="t" r="r" b="b"/>
              <a:pathLst>
                <a:path w="228600" h="209550">
                  <a:moveTo>
                    <a:pt x="0" y="209550"/>
                  </a:moveTo>
                  <a:lnTo>
                    <a:pt x="228600" y="209550"/>
                  </a:lnTo>
                  <a:lnTo>
                    <a:pt x="114300" y="0"/>
                  </a:lnTo>
                  <a:close/>
                </a:path>
              </a:pathLst>
            </a:custGeom>
            <a:solidFill>
              <a:srgbClr val="1E4FA8"/>
            </a:solidFill>
            <a:ln>
              <a:noFill/>
            </a:ln>
          </p:spPr>
        </p:sp>
        <p:sp>
          <p:nvSpPr>
            <p:cNvPr id="45" name="Rectangle 45"/>
            <p:cNvSpPr/>
            <p:nvPr/>
          </p:nvSpPr>
          <p:spPr>
            <a:xfrm>
              <a:off x="5429250" y="2857500"/>
              <a:ext cx="1333500" cy="304800"/>
            </a:xfrm>
            <a:prstGeom prst="roundRect">
              <a:avLst>
                <a:gd name="adj" fmla="val 25000"/>
              </a:avLst>
            </a:prstGeom>
            <a:solidFill>
              <a:srgbClr val="FFFFFF"/>
            </a:solidFill>
            <a:ln w="9525">
              <a:solidFill>
                <a:srgbClr val="1E4FA8"/>
              </a:solidFill>
            </a:ln>
          </p:spPr>
        </p:sp>
        <p:sp>
          <p:nvSpPr>
            <p:cNvPr id="46" name="TextBox 46"/>
            <p:cNvSpPr txBox="1"/>
            <p:nvPr/>
          </p:nvSpPr>
          <p:spPr>
            <a:xfrm>
              <a:off x="5628085" y="2952274"/>
              <a:ext cx="935831" cy="190690"/>
            </a:xfrm>
            <a:prstGeom prst="rect">
              <a:avLst/>
            </a:prstGeom>
            <a:noFill/>
            <a:ln>
              <a:noFill/>
            </a:ln>
          </p:spPr>
          <p:txBody>
            <a:bodyPr wrap="none" lIns="0" tIns="0" rIns="0" bIns="0" anchor="t" anchorCtr="0">
              <a:spAutoFit/>
            </a:bodyPr>
            <a:lstStyle/>
            <a:p>
              <a:pPr algn="ctr"/>
              <a:r>
                <a:rPr lang="en-US" sz="980" b="1" dirty="0">
                  <a:solidFill>
                    <a:srgbClr val="1E4FA8"/>
                  </a:solidFill>
                  <a:latin typeface="Arial"/>
                  <a:ea typeface="Arial"/>
                  <a:cs typeface="Arial"/>
                </a:rPr>
                <a:t>Evaporation ↑</a:t>
              </a:r>
            </a:p>
          </p:txBody>
        </p:sp>
        <p:sp>
          <p:nvSpPr>
            <p:cNvPr id="47" name="Line 47"/>
            <p:cNvSpPr/>
            <p:nvPr/>
          </p:nvSpPr>
          <p:spPr>
            <a:xfrm>
              <a:off x="9810750" y="2495550"/>
              <a:ext cx="9525" cy="1123950"/>
            </a:xfrm>
            <a:custGeom>
              <a:avLst/>
              <a:gdLst/>
              <a:ahLst/>
              <a:cxnLst/>
              <a:rect l="l" t="t" r="r" b="b"/>
              <a:pathLst>
                <a:path w="9525" h="1123950">
                  <a:moveTo>
                    <a:pt x="0" y="1123950"/>
                  </a:moveTo>
                  <a:lnTo>
                    <a:pt x="0" y="0"/>
                  </a:lnTo>
                </a:path>
              </a:pathLst>
            </a:custGeom>
            <a:noFill/>
            <a:ln w="57150">
              <a:solidFill>
                <a:srgbClr val="EA580C"/>
              </a:solidFill>
            </a:ln>
          </p:spPr>
        </p:sp>
        <p:sp>
          <p:nvSpPr>
            <p:cNvPr id="48" name="Polygon 48"/>
            <p:cNvSpPr/>
            <p:nvPr/>
          </p:nvSpPr>
          <p:spPr>
            <a:xfrm>
              <a:off x="9696450" y="2400300"/>
              <a:ext cx="228600" cy="209550"/>
            </a:xfrm>
            <a:custGeom>
              <a:avLst/>
              <a:gdLst/>
              <a:ahLst/>
              <a:cxnLst/>
              <a:rect l="l" t="t" r="r" b="b"/>
              <a:pathLst>
                <a:path w="228600" h="209550">
                  <a:moveTo>
                    <a:pt x="0" y="209550"/>
                  </a:moveTo>
                  <a:lnTo>
                    <a:pt x="228600" y="209550"/>
                  </a:lnTo>
                  <a:lnTo>
                    <a:pt x="114300" y="0"/>
                  </a:lnTo>
                  <a:close/>
                </a:path>
              </a:pathLst>
            </a:custGeom>
            <a:solidFill>
              <a:srgbClr val="EA580C"/>
            </a:solidFill>
            <a:ln>
              <a:noFill/>
            </a:ln>
          </p:spPr>
        </p:sp>
        <p:sp>
          <p:nvSpPr>
            <p:cNvPr id="49" name="Rectangle 49"/>
            <p:cNvSpPr/>
            <p:nvPr/>
          </p:nvSpPr>
          <p:spPr>
            <a:xfrm>
              <a:off x="9144000" y="2857500"/>
              <a:ext cx="1333500" cy="304800"/>
            </a:xfrm>
            <a:prstGeom prst="roundRect">
              <a:avLst>
                <a:gd name="adj" fmla="val 25000"/>
              </a:avLst>
            </a:prstGeom>
            <a:solidFill>
              <a:srgbClr val="FFFFFF"/>
            </a:solidFill>
            <a:ln w="9525">
              <a:solidFill>
                <a:srgbClr val="EA580C"/>
              </a:solidFill>
            </a:ln>
          </p:spPr>
        </p:sp>
        <p:sp>
          <p:nvSpPr>
            <p:cNvPr id="50" name="TextBox 50"/>
            <p:cNvSpPr txBox="1"/>
            <p:nvPr/>
          </p:nvSpPr>
          <p:spPr>
            <a:xfrm>
              <a:off x="9284070" y="2952274"/>
              <a:ext cx="1053359" cy="190690"/>
            </a:xfrm>
            <a:prstGeom prst="rect">
              <a:avLst/>
            </a:prstGeom>
            <a:noFill/>
            <a:ln>
              <a:noFill/>
            </a:ln>
          </p:spPr>
          <p:txBody>
            <a:bodyPr wrap="none" lIns="0" tIns="0" rIns="0" bIns="0" anchor="t" anchorCtr="0">
              <a:spAutoFit/>
            </a:bodyPr>
            <a:lstStyle/>
            <a:p>
              <a:pPr algn="ctr"/>
              <a:r>
                <a:rPr lang="en-US" sz="980" b="1" dirty="0">
                  <a:solidFill>
                    <a:srgbClr val="C2410C"/>
                  </a:solidFill>
                  <a:latin typeface="Arial"/>
                  <a:ea typeface="Arial"/>
                  <a:cs typeface="Arial"/>
                </a:rPr>
                <a:t>Transpiration ↑</a:t>
              </a:r>
            </a:p>
          </p:txBody>
        </p:sp>
      </p:grpSp>
      <p:grpSp>
        <p:nvGrpSpPr>
          <p:cNvPr id="54" name="Group 54"/>
          <p:cNvGrpSpPr/>
          <p:nvPr/>
        </p:nvGrpSpPr>
        <p:grpSpPr>
          <a:xfrm>
            <a:off x="381000" y="5829300"/>
            <a:ext cx="11430000" cy="419100"/>
            <a:chOff x="381000" y="5829300"/>
            <a:chExt cx="11430000" cy="419100"/>
          </a:xfrm>
        </p:grpSpPr>
        <p:sp>
          <p:nvSpPr>
            <p:cNvPr id="52" name="Rectangle 52"/>
            <p:cNvSpPr/>
            <p:nvPr/>
          </p:nvSpPr>
          <p:spPr>
            <a:xfrm>
              <a:off x="381000" y="5829300"/>
              <a:ext cx="11430000" cy="419100"/>
            </a:xfrm>
            <a:prstGeom prst="roundRect">
              <a:avLst>
                <a:gd name="adj" fmla="val 22727"/>
              </a:avLst>
            </a:prstGeom>
            <a:solidFill>
              <a:srgbClr val="F0F5FC"/>
            </a:solidFill>
            <a:ln w="9525">
              <a:solidFill>
                <a:srgbClr val="1E4FA8"/>
              </a:solidFill>
            </a:ln>
          </p:spPr>
        </p:sp>
        <p:sp>
          <p:nvSpPr>
            <p:cNvPr id="53" name="TextBox 53"/>
            <p:cNvSpPr txBox="1"/>
            <p:nvPr/>
          </p:nvSpPr>
          <p:spPr>
            <a:xfrm>
              <a:off x="2645542" y="5974556"/>
              <a:ext cx="6900916" cy="220028"/>
            </a:xfrm>
            <a:prstGeom prst="rect">
              <a:avLst/>
            </a:prstGeom>
            <a:noFill/>
            <a:ln>
              <a:noFill/>
            </a:ln>
          </p:spPr>
          <p:txBody>
            <a:bodyPr wrap="none" lIns="0" tIns="0" rIns="0" bIns="0" anchor="t" anchorCtr="0">
              <a:spAutoFit/>
            </a:bodyPr>
            <a:lstStyle/>
            <a:p>
              <a:pPr algn="ctr"/>
              <a:r>
                <a:rPr lang="zh-CN" sz="1120" b="1" dirty="0">
                  <a:solidFill>
                    <a:srgbClr val="0E3F8C"/>
                  </a:solidFill>
                  <a:latin typeface="Arial"/>
                  <a:ea typeface="Microsoft YaHei"/>
                  <a:cs typeface="Arial"/>
                </a:rPr>
                <a:t>Evapotranspiration 蒸散 = Evaporation 蒸发（海洋 + 陆地表面） + Transpiration 蒸腾（植被）</a:t>
              </a:r>
            </a:p>
          </p:txBody>
        </p:sp>
      </p:grpSp>
      <p:sp>
        <p:nvSpPr>
          <p:cNvPr id="55" name="TextBox 55"/>
          <p:cNvSpPr txBox="1"/>
          <p:nvPr/>
        </p:nvSpPr>
        <p:spPr>
          <a:xfrm>
            <a:off x="376238" y="6532245"/>
            <a:ext cx="7518389"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地球系统与演变, Ch.4 §4.3.5, PDF pp.73–74; UE 8e, Ch.17 PDF pp.1653–1654 &amp; Ch.12 p.1168. Native process diagram.</a:t>
            </a:r>
          </a:p>
        </p:txBody>
      </p:sp>
      <p:sp>
        <p:nvSpPr>
          <p:cNvPr id="56" name="TextBox 56"/>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12</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37995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2.1 为什么接下来讲碳？ | Why Carbon?</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CARBON CYCLE</a:t>
              </a:r>
            </a:p>
          </p:txBody>
        </p:sp>
      </p:grpSp>
      <p:grpSp>
        <p:nvGrpSpPr>
          <p:cNvPr id="8" name="Group 8"/>
          <p:cNvGrpSpPr/>
          <p:nvPr/>
        </p:nvGrpSpPr>
        <p:grpSpPr>
          <a:xfrm>
            <a:off x="381000" y="914400"/>
            <a:ext cx="7160252" cy="357093"/>
            <a:chOff x="381000" y="914400"/>
            <a:chExt cx="7160252" cy="357093"/>
          </a:xfrm>
        </p:grpSpPr>
        <p:sp>
          <p:nvSpPr>
            <p:cNvPr id="6" name="Rectangle 6"/>
            <p:cNvSpPr/>
            <p:nvPr/>
          </p:nvSpPr>
          <p:spPr>
            <a:xfrm>
              <a:off x="381000" y="914400"/>
              <a:ext cx="57150" cy="266700"/>
            </a:xfrm>
            <a:prstGeom prst="roundRect">
              <a:avLst>
                <a:gd name="adj" fmla="val 50000"/>
              </a:avLst>
            </a:prstGeom>
            <a:solidFill>
              <a:srgbClr val="EA580C"/>
            </a:solidFill>
            <a:ln>
              <a:noFill/>
            </a:ln>
          </p:spPr>
        </p:sp>
        <p:sp>
          <p:nvSpPr>
            <p:cNvPr id="7" name="TextBox 7"/>
            <p:cNvSpPr txBox="1"/>
            <p:nvPr/>
          </p:nvSpPr>
          <p:spPr>
            <a:xfrm>
              <a:off x="544449" y="963454"/>
              <a:ext cx="6996803"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Arial"/>
                  <a:ea typeface="Microsoft YaHei"/>
                  <a:cs typeface="Arial"/>
                </a:rPr>
                <a:t>碳用同一套 reservoir / flux 语言，把气候、生命、海洋与岩石连接起来</a:t>
              </a:r>
            </a:p>
          </p:txBody>
        </p:sp>
      </p:grpSp>
      <p:grpSp>
        <p:nvGrpSpPr>
          <p:cNvPr id="12" name="Group 12"/>
          <p:cNvGrpSpPr/>
          <p:nvPr/>
        </p:nvGrpSpPr>
        <p:grpSpPr>
          <a:xfrm>
            <a:off x="381000" y="1466850"/>
            <a:ext cx="11430000" cy="495300"/>
            <a:chOff x="381000" y="1466850"/>
            <a:chExt cx="11430000" cy="495300"/>
          </a:xfrm>
        </p:grpSpPr>
        <p:sp>
          <p:nvSpPr>
            <p:cNvPr id="9" name="Rectangle 9"/>
            <p:cNvSpPr/>
            <p:nvPr/>
          </p:nvSpPr>
          <p:spPr>
            <a:xfrm>
              <a:off x="381000" y="1466850"/>
              <a:ext cx="11430000" cy="495300"/>
            </a:xfrm>
            <a:prstGeom prst="roundRect">
              <a:avLst>
                <a:gd name="adj" fmla="val 23077"/>
              </a:avLst>
            </a:prstGeom>
            <a:solidFill>
              <a:srgbClr val="EA580C"/>
            </a:solidFill>
            <a:ln>
              <a:noFill/>
            </a:ln>
          </p:spPr>
        </p:sp>
        <p:sp>
          <p:nvSpPr>
            <p:cNvPr id="10" name="TextBox 10"/>
            <p:cNvSpPr txBox="1"/>
            <p:nvPr/>
          </p:nvSpPr>
          <p:spPr>
            <a:xfrm>
              <a:off x="755142" y="1635442"/>
              <a:ext cx="2659858"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PART II · 碳循环 Carbon Cycle</a:t>
              </a:r>
            </a:p>
          </p:txBody>
        </p:sp>
        <p:sp>
          <p:nvSpPr>
            <p:cNvPr id="11" name="TextBox 11"/>
            <p:cNvSpPr txBox="1"/>
            <p:nvPr/>
          </p:nvSpPr>
          <p:spPr>
            <a:xfrm>
              <a:off x="8838504" y="1659731"/>
              <a:ext cx="2597211" cy="220028"/>
            </a:xfrm>
            <a:prstGeom prst="rect">
              <a:avLst/>
            </a:prstGeom>
            <a:noFill/>
            <a:ln>
              <a:noFill/>
            </a:ln>
          </p:spPr>
          <p:txBody>
            <a:bodyPr wrap="none" lIns="0" tIns="0" rIns="0" bIns="0" anchor="t" anchorCtr="0">
              <a:spAutoFit/>
            </a:bodyPr>
            <a:lstStyle/>
            <a:p>
              <a:pPr algn="r"/>
              <a:r>
                <a:rPr lang="zh-CN" sz="1120" dirty="0">
                  <a:solidFill>
                    <a:srgbClr val="FDECDD"/>
                  </a:solidFill>
                  <a:latin typeface="Arial"/>
                  <a:ea typeface="Microsoft YaHei"/>
                  <a:cs typeface="Arial"/>
                </a:rPr>
                <a:t>现在启用 · 框架不变，物质和时钟改变</a:t>
              </a:r>
            </a:p>
          </p:txBody>
        </p:sp>
      </p:grpSp>
      <p:grpSp>
        <p:nvGrpSpPr>
          <p:cNvPr id="50" name="Group 50"/>
          <p:cNvGrpSpPr/>
          <p:nvPr/>
        </p:nvGrpSpPr>
        <p:grpSpPr>
          <a:xfrm>
            <a:off x="381000" y="2114550"/>
            <a:ext cx="11430000" cy="3048000"/>
            <a:chOff x="381000" y="2114550"/>
            <a:chExt cx="11430000" cy="3048000"/>
          </a:xfrm>
        </p:grpSpPr>
        <p:sp>
          <p:nvSpPr>
            <p:cNvPr id="13" name="Rectangle 13"/>
            <p:cNvSpPr/>
            <p:nvPr/>
          </p:nvSpPr>
          <p:spPr>
            <a:xfrm>
              <a:off x="381000" y="2114550"/>
              <a:ext cx="11430000" cy="3048000"/>
            </a:xfrm>
            <a:prstGeom prst="roundRect">
              <a:avLst>
                <a:gd name="adj" fmla="val 3750"/>
              </a:avLst>
            </a:prstGeom>
            <a:solidFill>
              <a:srgbClr val="FDF4EF"/>
            </a:solidFill>
            <a:ln w="9525">
              <a:solidFill>
                <a:srgbClr val="F0CFC2"/>
              </a:solidFill>
            </a:ln>
          </p:spPr>
        </p:sp>
        <p:grpSp>
          <p:nvGrpSpPr>
            <p:cNvPr id="18" name="Group 18"/>
            <p:cNvGrpSpPr/>
            <p:nvPr/>
          </p:nvGrpSpPr>
          <p:grpSpPr>
            <a:xfrm>
              <a:off x="1143000" y="2495550"/>
              <a:ext cx="2476500" cy="914400"/>
              <a:chOff x="1143000" y="2495550"/>
              <a:chExt cx="2476500" cy="914400"/>
            </a:xfrm>
          </p:grpSpPr>
          <p:sp>
            <p:nvSpPr>
              <p:cNvPr id="14" name="Rectangle 14"/>
              <p:cNvSpPr/>
              <p:nvPr/>
            </p:nvSpPr>
            <p:spPr>
              <a:xfrm>
                <a:off x="1143000" y="2495550"/>
                <a:ext cx="2476500" cy="914400"/>
              </a:xfrm>
              <a:prstGeom prst="roundRect">
                <a:avLst>
                  <a:gd name="adj" fmla="val 12500"/>
                </a:avLst>
              </a:prstGeom>
              <a:solidFill>
                <a:srgbClr val="FFFFFF"/>
              </a:solidFill>
              <a:ln w="19050">
                <a:solidFill>
                  <a:srgbClr val="EA580C"/>
                </a:solidFill>
              </a:ln>
            </p:spPr>
          </p:sp>
          <p:sp>
            <p:nvSpPr>
              <p:cNvPr id="15" name="TextBox 15"/>
              <p:cNvSpPr txBox="1"/>
              <p:nvPr/>
            </p:nvSpPr>
            <p:spPr>
              <a:xfrm>
                <a:off x="1849961" y="2719864"/>
                <a:ext cx="1062578" cy="249364"/>
              </a:xfrm>
              <a:prstGeom prst="rect">
                <a:avLst/>
              </a:prstGeom>
              <a:noFill/>
              <a:ln>
                <a:noFill/>
              </a:ln>
            </p:spPr>
            <p:txBody>
              <a:bodyPr wrap="none" lIns="0" tIns="0" rIns="0" bIns="0" anchor="t" anchorCtr="0">
                <a:spAutoFit/>
              </a:bodyPr>
              <a:lstStyle/>
              <a:p>
                <a:pPr algn="ctr"/>
                <a:r>
                  <a:rPr lang="zh-CN" sz="1280" b="1" dirty="0">
                    <a:solidFill>
                      <a:srgbClr val="C2410C"/>
                    </a:solidFill>
                    <a:latin typeface="Arial"/>
                    <a:ea typeface="Microsoft YaHei"/>
                    <a:cs typeface="Arial"/>
                  </a:rPr>
                  <a:t>气候 Climate</a:t>
                </a:r>
              </a:p>
            </p:txBody>
          </p:sp>
          <p:sp>
            <p:nvSpPr>
              <p:cNvPr id="16" name="TextBox 16"/>
              <p:cNvSpPr txBox="1"/>
              <p:nvPr/>
            </p:nvSpPr>
            <p:spPr>
              <a:xfrm>
                <a:off x="1728109" y="2999899"/>
                <a:ext cx="1306281" cy="190690"/>
              </a:xfrm>
              <a:prstGeom prst="rect">
                <a:avLst/>
              </a:prstGeom>
              <a:noFill/>
              <a:ln>
                <a:noFill/>
              </a:ln>
            </p:spPr>
            <p:txBody>
              <a:bodyPr wrap="none" lIns="0" tIns="0" rIns="0" bIns="0" anchor="t" anchorCtr="0">
                <a:spAutoFit/>
              </a:bodyPr>
              <a:lstStyle/>
              <a:p>
                <a:pPr algn="ctr"/>
                <a:r>
                  <a:rPr lang="zh-CN" sz="980" dirty="0">
                    <a:solidFill>
                      <a:srgbClr val="7A4A33"/>
                    </a:solidFill>
                    <a:latin typeface="Arial"/>
                    <a:ea typeface="Microsoft YaHei"/>
                    <a:cs typeface="Arial"/>
                  </a:rPr>
                  <a:t>大气 CO₂ · 温室效应</a:t>
                </a:r>
              </a:p>
            </p:txBody>
          </p:sp>
          <p:sp>
            <p:nvSpPr>
              <p:cNvPr id="17" name="TextBox 17"/>
              <p:cNvSpPr txBox="1"/>
              <p:nvPr/>
            </p:nvSpPr>
            <p:spPr>
              <a:xfrm>
                <a:off x="1805149" y="3198495"/>
                <a:ext cx="1152202" cy="176212"/>
              </a:xfrm>
              <a:prstGeom prst="rect">
                <a:avLst/>
              </a:prstGeom>
              <a:noFill/>
              <a:ln>
                <a:noFill/>
              </a:ln>
            </p:spPr>
            <p:txBody>
              <a:bodyPr wrap="none" lIns="0" tIns="0" rIns="0" bIns="0" anchor="t" anchorCtr="0">
                <a:spAutoFit/>
              </a:bodyPr>
              <a:lstStyle/>
              <a:p>
                <a:pPr algn="ctr"/>
                <a:r>
                  <a:rPr lang="en-US" sz="900" dirty="0">
                    <a:solidFill>
                      <a:srgbClr val="4A5568"/>
                    </a:solidFill>
                    <a:latin typeface="Arial"/>
                    <a:ea typeface="Arial"/>
                    <a:cs typeface="Arial"/>
                  </a:rPr>
                  <a:t>Greenhouse forcing</a:t>
                </a:r>
              </a:p>
            </p:txBody>
          </p:sp>
        </p:grpSp>
        <p:grpSp>
          <p:nvGrpSpPr>
            <p:cNvPr id="23" name="Group 23"/>
            <p:cNvGrpSpPr/>
            <p:nvPr/>
          </p:nvGrpSpPr>
          <p:grpSpPr>
            <a:xfrm>
              <a:off x="8572500" y="2495550"/>
              <a:ext cx="2476500" cy="914400"/>
              <a:chOff x="8572500" y="2495550"/>
              <a:chExt cx="2476500" cy="914400"/>
            </a:xfrm>
          </p:grpSpPr>
          <p:sp>
            <p:nvSpPr>
              <p:cNvPr id="19" name="Rectangle 19"/>
              <p:cNvSpPr/>
              <p:nvPr/>
            </p:nvSpPr>
            <p:spPr>
              <a:xfrm>
                <a:off x="8572500" y="2495550"/>
                <a:ext cx="2476500" cy="914400"/>
              </a:xfrm>
              <a:prstGeom prst="roundRect">
                <a:avLst>
                  <a:gd name="adj" fmla="val 12500"/>
                </a:avLst>
              </a:prstGeom>
              <a:solidFill>
                <a:srgbClr val="FFFFFF"/>
              </a:solidFill>
              <a:ln w="19050">
                <a:solidFill>
                  <a:srgbClr val="EA580C"/>
                </a:solidFill>
              </a:ln>
            </p:spPr>
          </p:sp>
          <p:sp>
            <p:nvSpPr>
              <p:cNvPr id="20" name="TextBox 20"/>
              <p:cNvSpPr txBox="1"/>
              <p:nvPr/>
            </p:nvSpPr>
            <p:spPr>
              <a:xfrm>
                <a:off x="9423095" y="2719864"/>
                <a:ext cx="775310" cy="249364"/>
              </a:xfrm>
              <a:prstGeom prst="rect">
                <a:avLst/>
              </a:prstGeom>
              <a:noFill/>
              <a:ln>
                <a:noFill/>
              </a:ln>
            </p:spPr>
            <p:txBody>
              <a:bodyPr wrap="none" lIns="0" tIns="0" rIns="0" bIns="0" anchor="t" anchorCtr="0">
                <a:spAutoFit/>
              </a:bodyPr>
              <a:lstStyle/>
              <a:p>
                <a:pPr algn="ctr"/>
                <a:r>
                  <a:rPr lang="zh-CN" sz="1280" b="1" dirty="0">
                    <a:solidFill>
                      <a:srgbClr val="C2410C"/>
                    </a:solidFill>
                    <a:latin typeface="Arial"/>
                    <a:ea typeface="Microsoft YaHei"/>
                    <a:cs typeface="Arial"/>
                  </a:rPr>
                  <a:t>生命 Life</a:t>
                </a:r>
              </a:p>
            </p:txBody>
          </p:sp>
          <p:sp>
            <p:nvSpPr>
              <p:cNvPr id="21" name="TextBox 21"/>
              <p:cNvSpPr txBox="1"/>
              <p:nvPr/>
            </p:nvSpPr>
            <p:spPr>
              <a:xfrm>
                <a:off x="9126370" y="2999899"/>
                <a:ext cx="1368760" cy="190690"/>
              </a:xfrm>
              <a:prstGeom prst="rect">
                <a:avLst/>
              </a:prstGeom>
              <a:noFill/>
              <a:ln>
                <a:noFill/>
              </a:ln>
            </p:spPr>
            <p:txBody>
              <a:bodyPr wrap="none" lIns="0" tIns="0" rIns="0" bIns="0" anchor="t" anchorCtr="0">
                <a:spAutoFit/>
              </a:bodyPr>
              <a:lstStyle/>
              <a:p>
                <a:pPr algn="ctr"/>
                <a:r>
                  <a:rPr lang="zh-CN" sz="980" dirty="0">
                    <a:solidFill>
                      <a:srgbClr val="7A4A33"/>
                    </a:solidFill>
                    <a:latin typeface="Arial"/>
                    <a:ea typeface="Microsoft YaHei"/>
                    <a:cs typeface="Arial"/>
                  </a:rPr>
                  <a:t>光合作用 · 呼吸 · 分解</a:t>
                </a:r>
              </a:p>
            </p:txBody>
          </p:sp>
          <p:sp>
            <p:nvSpPr>
              <p:cNvPr id="22" name="TextBox 22"/>
              <p:cNvSpPr txBox="1"/>
              <p:nvPr/>
            </p:nvSpPr>
            <p:spPr>
              <a:xfrm>
                <a:off x="8944913" y="3198495"/>
                <a:ext cx="1731674" cy="176212"/>
              </a:xfrm>
              <a:prstGeom prst="rect">
                <a:avLst/>
              </a:prstGeom>
              <a:noFill/>
              <a:ln>
                <a:noFill/>
              </a:ln>
            </p:spPr>
            <p:txBody>
              <a:bodyPr wrap="none" lIns="0" tIns="0" rIns="0" bIns="0" anchor="t" anchorCtr="0">
                <a:spAutoFit/>
              </a:bodyPr>
              <a:lstStyle/>
              <a:p>
                <a:pPr algn="ctr"/>
                <a:r>
                  <a:rPr lang="en-US" sz="900" dirty="0">
                    <a:solidFill>
                      <a:srgbClr val="4A5568"/>
                    </a:solidFill>
                    <a:latin typeface="Arial"/>
                    <a:ea typeface="Arial"/>
                    <a:cs typeface="Arial"/>
                  </a:rPr>
                  <a:t>Photosynthesis · Respiration</a:t>
                </a:r>
              </a:p>
            </p:txBody>
          </p:sp>
        </p:grpSp>
        <p:grpSp>
          <p:nvGrpSpPr>
            <p:cNvPr id="28" name="Group 28"/>
            <p:cNvGrpSpPr/>
            <p:nvPr/>
          </p:nvGrpSpPr>
          <p:grpSpPr>
            <a:xfrm>
              <a:off x="1143000" y="4000500"/>
              <a:ext cx="2476500" cy="914400"/>
              <a:chOff x="1143000" y="4000500"/>
              <a:chExt cx="2476500" cy="914400"/>
            </a:xfrm>
          </p:grpSpPr>
          <p:sp>
            <p:nvSpPr>
              <p:cNvPr id="24" name="Rectangle 24"/>
              <p:cNvSpPr/>
              <p:nvPr/>
            </p:nvSpPr>
            <p:spPr>
              <a:xfrm>
                <a:off x="1143000" y="4000500"/>
                <a:ext cx="2476500" cy="914400"/>
              </a:xfrm>
              <a:prstGeom prst="roundRect">
                <a:avLst>
                  <a:gd name="adj" fmla="val 12500"/>
                </a:avLst>
              </a:prstGeom>
              <a:solidFill>
                <a:srgbClr val="FFFFFF"/>
              </a:solidFill>
              <a:ln w="19050">
                <a:solidFill>
                  <a:srgbClr val="1E4FA8"/>
                </a:solidFill>
              </a:ln>
            </p:spPr>
          </p:sp>
          <p:sp>
            <p:nvSpPr>
              <p:cNvPr id="25" name="TextBox 25"/>
              <p:cNvSpPr txBox="1"/>
              <p:nvPr/>
            </p:nvSpPr>
            <p:spPr>
              <a:xfrm>
                <a:off x="1903170" y="4224814"/>
                <a:ext cx="956160" cy="249364"/>
              </a:xfrm>
              <a:prstGeom prst="rect">
                <a:avLst/>
              </a:prstGeom>
              <a:noFill/>
              <a:ln>
                <a:noFill/>
              </a:ln>
            </p:spPr>
            <p:txBody>
              <a:bodyPr wrap="none" lIns="0" tIns="0" rIns="0" bIns="0" anchor="t" anchorCtr="0">
                <a:spAutoFit/>
              </a:bodyPr>
              <a:lstStyle/>
              <a:p>
                <a:pPr algn="ctr"/>
                <a:r>
                  <a:rPr lang="zh-CN" sz="1280" b="1" dirty="0">
                    <a:solidFill>
                      <a:srgbClr val="0E3F8C"/>
                    </a:solidFill>
                    <a:latin typeface="Arial"/>
                    <a:ea typeface="Microsoft YaHei"/>
                    <a:cs typeface="Arial"/>
                  </a:rPr>
                  <a:t>海洋 Ocean</a:t>
                </a:r>
              </a:p>
            </p:txBody>
          </p:sp>
          <p:sp>
            <p:nvSpPr>
              <p:cNvPr id="26" name="TextBox 26"/>
              <p:cNvSpPr txBox="1"/>
              <p:nvPr/>
            </p:nvSpPr>
            <p:spPr>
              <a:xfrm>
                <a:off x="1696870" y="4504849"/>
                <a:ext cx="1368760" cy="190690"/>
              </a:xfrm>
              <a:prstGeom prst="rect">
                <a:avLst/>
              </a:prstGeom>
              <a:noFill/>
              <a:ln>
                <a:noFill/>
              </a:ln>
            </p:spPr>
            <p:txBody>
              <a:bodyPr wrap="none" lIns="0" tIns="0" rIns="0" bIns="0" anchor="t" anchorCtr="0">
                <a:spAutoFit/>
              </a:bodyPr>
              <a:lstStyle/>
              <a:p>
                <a:pPr algn="ctr"/>
                <a:r>
                  <a:rPr lang="zh-CN" sz="980" dirty="0">
                    <a:solidFill>
                      <a:srgbClr val="4A5568"/>
                    </a:solidFill>
                    <a:latin typeface="Arial"/>
                    <a:ea typeface="Microsoft YaHei"/>
                    <a:cs typeface="Arial"/>
                  </a:rPr>
                  <a:t>溶解 · 海气交换 · 碳泵</a:t>
                </a:r>
              </a:p>
            </p:txBody>
          </p:sp>
          <p:sp>
            <p:nvSpPr>
              <p:cNvPr id="27" name="TextBox 27"/>
              <p:cNvSpPr txBox="1"/>
              <p:nvPr/>
            </p:nvSpPr>
            <p:spPr>
              <a:xfrm>
                <a:off x="1620832" y="4703445"/>
                <a:ext cx="1520836" cy="176212"/>
              </a:xfrm>
              <a:prstGeom prst="rect">
                <a:avLst/>
              </a:prstGeom>
              <a:noFill/>
              <a:ln>
                <a:noFill/>
              </a:ln>
            </p:spPr>
            <p:txBody>
              <a:bodyPr wrap="none" lIns="0" tIns="0" rIns="0" bIns="0" anchor="t" anchorCtr="0">
                <a:spAutoFit/>
              </a:bodyPr>
              <a:lstStyle/>
              <a:p>
                <a:pPr algn="ctr"/>
                <a:r>
                  <a:rPr lang="en-US" sz="900" dirty="0">
                    <a:solidFill>
                      <a:srgbClr val="4A5568"/>
                    </a:solidFill>
                    <a:latin typeface="Arial"/>
                    <a:ea typeface="Arial"/>
                    <a:cs typeface="Arial"/>
                  </a:rPr>
                  <a:t>Air–sea exchange · Pumps</a:t>
                </a:r>
              </a:p>
            </p:txBody>
          </p:sp>
        </p:grpSp>
        <p:grpSp>
          <p:nvGrpSpPr>
            <p:cNvPr id="33" name="Group 33"/>
            <p:cNvGrpSpPr/>
            <p:nvPr/>
          </p:nvGrpSpPr>
          <p:grpSpPr>
            <a:xfrm>
              <a:off x="8572500" y="4000500"/>
              <a:ext cx="2476500" cy="914400"/>
              <a:chOff x="8572500" y="4000500"/>
              <a:chExt cx="2476500" cy="914400"/>
            </a:xfrm>
          </p:grpSpPr>
          <p:sp>
            <p:nvSpPr>
              <p:cNvPr id="29" name="Rectangle 29"/>
              <p:cNvSpPr/>
              <p:nvPr/>
            </p:nvSpPr>
            <p:spPr>
              <a:xfrm>
                <a:off x="8572500" y="4000500"/>
                <a:ext cx="2476500" cy="914400"/>
              </a:xfrm>
              <a:prstGeom prst="roundRect">
                <a:avLst>
                  <a:gd name="adj" fmla="val 12500"/>
                </a:avLst>
              </a:prstGeom>
              <a:solidFill>
                <a:srgbClr val="FFFFFF"/>
              </a:solidFill>
              <a:ln w="19050">
                <a:solidFill>
                  <a:srgbClr val="7A4A33"/>
                </a:solidFill>
              </a:ln>
            </p:spPr>
          </p:sp>
          <p:sp>
            <p:nvSpPr>
              <p:cNvPr id="30" name="TextBox 30"/>
              <p:cNvSpPr txBox="1"/>
              <p:nvPr/>
            </p:nvSpPr>
            <p:spPr>
              <a:xfrm>
                <a:off x="9350968" y="4224814"/>
                <a:ext cx="919564" cy="249364"/>
              </a:xfrm>
              <a:prstGeom prst="rect">
                <a:avLst/>
              </a:prstGeom>
              <a:noFill/>
              <a:ln>
                <a:noFill/>
              </a:ln>
            </p:spPr>
            <p:txBody>
              <a:bodyPr wrap="none" lIns="0" tIns="0" rIns="0" bIns="0" anchor="t" anchorCtr="0">
                <a:spAutoFit/>
              </a:bodyPr>
              <a:lstStyle/>
              <a:p>
                <a:pPr algn="ctr"/>
                <a:r>
                  <a:rPr lang="zh-CN" sz="1280" b="1" dirty="0">
                    <a:solidFill>
                      <a:srgbClr val="7A4A33"/>
                    </a:solidFill>
                    <a:latin typeface="Arial"/>
                    <a:ea typeface="Microsoft YaHei"/>
                    <a:cs typeface="Arial"/>
                  </a:rPr>
                  <a:t>岩石 Rocks</a:t>
                </a:r>
              </a:p>
            </p:txBody>
          </p:sp>
          <p:sp>
            <p:nvSpPr>
              <p:cNvPr id="31" name="TextBox 31"/>
              <p:cNvSpPr txBox="1"/>
              <p:nvPr/>
            </p:nvSpPr>
            <p:spPr>
              <a:xfrm>
                <a:off x="9126370" y="4504849"/>
                <a:ext cx="1368760" cy="190690"/>
              </a:xfrm>
              <a:prstGeom prst="rect">
                <a:avLst/>
              </a:prstGeom>
              <a:noFill/>
              <a:ln>
                <a:noFill/>
              </a:ln>
            </p:spPr>
            <p:txBody>
              <a:bodyPr wrap="none" lIns="0" tIns="0" rIns="0" bIns="0" anchor="t" anchorCtr="0">
                <a:spAutoFit/>
              </a:bodyPr>
              <a:lstStyle/>
              <a:p>
                <a:pPr algn="ctr"/>
                <a:r>
                  <a:rPr lang="zh-CN" sz="980" dirty="0">
                    <a:solidFill>
                      <a:srgbClr val="4A5568"/>
                    </a:solidFill>
                    <a:latin typeface="Arial"/>
                    <a:ea typeface="Microsoft YaHei"/>
                    <a:cs typeface="Arial"/>
                  </a:rPr>
                  <a:t>风化 · 沉积 · 火山脱气</a:t>
                </a:r>
              </a:p>
            </p:txBody>
          </p:sp>
          <p:sp>
            <p:nvSpPr>
              <p:cNvPr id="32" name="TextBox 32"/>
              <p:cNvSpPr txBox="1"/>
              <p:nvPr/>
            </p:nvSpPr>
            <p:spPr>
              <a:xfrm>
                <a:off x="8875883" y="4703445"/>
                <a:ext cx="1869735" cy="176212"/>
              </a:xfrm>
              <a:prstGeom prst="rect">
                <a:avLst/>
              </a:prstGeom>
              <a:noFill/>
              <a:ln>
                <a:noFill/>
              </a:ln>
            </p:spPr>
            <p:txBody>
              <a:bodyPr wrap="none" lIns="0" tIns="0" rIns="0" bIns="0" anchor="t" anchorCtr="0">
                <a:spAutoFit/>
              </a:bodyPr>
              <a:lstStyle/>
              <a:p>
                <a:pPr algn="ctr"/>
                <a:r>
                  <a:rPr lang="en-US" sz="900" dirty="0">
                    <a:solidFill>
                      <a:srgbClr val="4A5568"/>
                    </a:solidFill>
                    <a:latin typeface="Arial"/>
                    <a:ea typeface="Arial"/>
                    <a:cs typeface="Arial"/>
                  </a:rPr>
                  <a:t>Weathering · Burial · Degassing</a:t>
                </a:r>
              </a:p>
            </p:txBody>
          </p:sp>
        </p:grpSp>
        <p:grpSp>
          <p:nvGrpSpPr>
            <p:cNvPr id="37" name="Group 37"/>
            <p:cNvGrpSpPr/>
            <p:nvPr/>
          </p:nvGrpSpPr>
          <p:grpSpPr>
            <a:xfrm>
              <a:off x="5048250" y="3238500"/>
              <a:ext cx="2095500" cy="952500"/>
              <a:chOff x="5048250" y="3238500"/>
              <a:chExt cx="2095500" cy="952500"/>
            </a:xfrm>
          </p:grpSpPr>
          <p:sp>
            <p:nvSpPr>
              <p:cNvPr id="34" name="Rectangle 34"/>
              <p:cNvSpPr/>
              <p:nvPr/>
            </p:nvSpPr>
            <p:spPr>
              <a:xfrm>
                <a:off x="5048250" y="3238500"/>
                <a:ext cx="2095500" cy="952500"/>
              </a:xfrm>
              <a:prstGeom prst="roundRect">
                <a:avLst>
                  <a:gd name="adj" fmla="val 50000"/>
                </a:avLst>
              </a:prstGeom>
              <a:solidFill>
                <a:srgbClr val="C2410C"/>
              </a:solidFill>
              <a:ln>
                <a:noFill/>
              </a:ln>
            </p:spPr>
          </p:sp>
          <p:sp>
            <p:nvSpPr>
              <p:cNvPr id="35" name="TextBox 35"/>
              <p:cNvSpPr txBox="1"/>
              <p:nvPr/>
            </p:nvSpPr>
            <p:spPr>
              <a:xfrm>
                <a:off x="5551736" y="3460432"/>
                <a:ext cx="1088528" cy="322707"/>
              </a:xfrm>
              <a:prstGeom prst="rect">
                <a:avLst/>
              </a:prstGeom>
              <a:noFill/>
              <a:ln>
                <a:noFill/>
              </a:ln>
            </p:spPr>
            <p:txBody>
              <a:bodyPr wrap="none" lIns="0" tIns="0" rIns="0" bIns="0" anchor="t" anchorCtr="0">
                <a:spAutoFit/>
              </a:bodyPr>
              <a:lstStyle/>
              <a:p>
                <a:pPr algn="ctr"/>
                <a:r>
                  <a:rPr lang="zh-CN" sz="1650" b="1" dirty="0">
                    <a:solidFill>
                      <a:srgbClr val="FFFFFF"/>
                    </a:solidFill>
                    <a:latin typeface="Arial"/>
                    <a:ea typeface="Microsoft YaHei"/>
                    <a:cs typeface="Arial"/>
                  </a:rPr>
                  <a:t>碳 Carbon</a:t>
                </a:r>
              </a:p>
            </p:txBody>
          </p:sp>
          <p:sp>
            <p:nvSpPr>
              <p:cNvPr id="36" name="TextBox 36"/>
              <p:cNvSpPr txBox="1"/>
              <p:nvPr/>
            </p:nvSpPr>
            <p:spPr>
              <a:xfrm>
                <a:off x="5461093" y="3819049"/>
                <a:ext cx="1269815" cy="190690"/>
              </a:xfrm>
              <a:prstGeom prst="rect">
                <a:avLst/>
              </a:prstGeom>
              <a:noFill/>
              <a:ln>
                <a:noFill/>
              </a:ln>
            </p:spPr>
            <p:txBody>
              <a:bodyPr wrap="none" lIns="0" tIns="0" rIns="0" bIns="0" anchor="t" anchorCtr="0">
                <a:spAutoFit/>
              </a:bodyPr>
              <a:lstStyle/>
              <a:p>
                <a:pPr algn="ctr"/>
                <a:r>
                  <a:rPr lang="zh-CN" sz="980" dirty="0">
                    <a:solidFill>
                      <a:srgbClr val="FDECDD"/>
                    </a:solidFill>
                    <a:latin typeface="Arial"/>
                    <a:ea typeface="Microsoft YaHei"/>
                    <a:cs typeface="Arial"/>
                  </a:rPr>
                  <a:t>同一套储库–通量语言</a:t>
                </a:r>
              </a:p>
            </p:txBody>
          </p:sp>
        </p:grpSp>
        <p:sp>
          <p:nvSpPr>
            <p:cNvPr id="38" name="Line 38"/>
            <p:cNvSpPr/>
            <p:nvPr/>
          </p:nvSpPr>
          <p:spPr>
            <a:xfrm>
              <a:off x="3619500" y="2952750"/>
              <a:ext cx="1371600" cy="552450"/>
            </a:xfrm>
            <a:custGeom>
              <a:avLst/>
              <a:gdLst/>
              <a:ahLst/>
              <a:cxnLst/>
              <a:rect l="l" t="t" r="r" b="b"/>
              <a:pathLst>
                <a:path w="1371600" h="552450">
                  <a:moveTo>
                    <a:pt x="0" y="0"/>
                  </a:moveTo>
                  <a:lnTo>
                    <a:pt x="1371600" y="552450"/>
                  </a:lnTo>
                </a:path>
              </a:pathLst>
            </a:custGeom>
            <a:noFill/>
            <a:ln w="38100">
              <a:solidFill>
                <a:srgbClr val="EA580C"/>
              </a:solidFill>
            </a:ln>
          </p:spPr>
        </p:sp>
        <p:sp>
          <p:nvSpPr>
            <p:cNvPr id="39" name="Polygon 39"/>
            <p:cNvSpPr/>
            <p:nvPr/>
          </p:nvSpPr>
          <p:spPr>
            <a:xfrm>
              <a:off x="4876800" y="3390900"/>
              <a:ext cx="190500" cy="190500"/>
            </a:xfrm>
            <a:custGeom>
              <a:avLst/>
              <a:gdLst/>
              <a:ahLst/>
              <a:cxnLst/>
              <a:rect l="l" t="t" r="r" b="b"/>
              <a:pathLst>
                <a:path w="190500" h="190500">
                  <a:moveTo>
                    <a:pt x="38100" y="0"/>
                  </a:moveTo>
                  <a:lnTo>
                    <a:pt x="190500" y="152400"/>
                  </a:lnTo>
                  <a:lnTo>
                    <a:pt x="0" y="190500"/>
                  </a:lnTo>
                  <a:close/>
                </a:path>
              </a:pathLst>
            </a:custGeom>
            <a:solidFill>
              <a:srgbClr val="EA580C"/>
            </a:solidFill>
            <a:ln>
              <a:noFill/>
            </a:ln>
          </p:spPr>
        </p:sp>
        <p:sp>
          <p:nvSpPr>
            <p:cNvPr id="40" name="Polygon 40"/>
            <p:cNvSpPr/>
            <p:nvPr/>
          </p:nvSpPr>
          <p:spPr>
            <a:xfrm>
              <a:off x="3543300" y="2876550"/>
              <a:ext cx="190500" cy="190500"/>
            </a:xfrm>
            <a:custGeom>
              <a:avLst/>
              <a:gdLst/>
              <a:ahLst/>
              <a:cxnLst/>
              <a:rect l="l" t="t" r="r" b="b"/>
              <a:pathLst>
                <a:path w="190500" h="190500">
                  <a:moveTo>
                    <a:pt x="152400" y="190500"/>
                  </a:moveTo>
                  <a:lnTo>
                    <a:pt x="0" y="38100"/>
                  </a:lnTo>
                  <a:lnTo>
                    <a:pt x="190500" y="0"/>
                  </a:lnTo>
                  <a:close/>
                </a:path>
              </a:pathLst>
            </a:custGeom>
            <a:solidFill>
              <a:srgbClr val="EA580C"/>
            </a:solidFill>
            <a:ln>
              <a:noFill/>
            </a:ln>
          </p:spPr>
        </p:sp>
        <p:sp>
          <p:nvSpPr>
            <p:cNvPr id="41" name="Line 41"/>
            <p:cNvSpPr/>
            <p:nvPr/>
          </p:nvSpPr>
          <p:spPr>
            <a:xfrm>
              <a:off x="7200900" y="2952750"/>
              <a:ext cx="1371600" cy="552450"/>
            </a:xfrm>
            <a:custGeom>
              <a:avLst/>
              <a:gdLst/>
              <a:ahLst/>
              <a:cxnLst/>
              <a:rect l="l" t="t" r="r" b="b"/>
              <a:pathLst>
                <a:path w="1371600" h="552450">
                  <a:moveTo>
                    <a:pt x="1371600" y="0"/>
                  </a:moveTo>
                  <a:lnTo>
                    <a:pt x="0" y="552450"/>
                  </a:lnTo>
                </a:path>
              </a:pathLst>
            </a:custGeom>
            <a:noFill/>
            <a:ln w="38100">
              <a:solidFill>
                <a:srgbClr val="EA580C"/>
              </a:solidFill>
            </a:ln>
          </p:spPr>
        </p:sp>
        <p:sp>
          <p:nvSpPr>
            <p:cNvPr id="42" name="Polygon 42"/>
            <p:cNvSpPr/>
            <p:nvPr/>
          </p:nvSpPr>
          <p:spPr>
            <a:xfrm>
              <a:off x="7124700" y="3390900"/>
              <a:ext cx="190500" cy="190500"/>
            </a:xfrm>
            <a:custGeom>
              <a:avLst/>
              <a:gdLst/>
              <a:ahLst/>
              <a:cxnLst/>
              <a:rect l="l" t="t" r="r" b="b"/>
              <a:pathLst>
                <a:path w="190500" h="190500">
                  <a:moveTo>
                    <a:pt x="152400" y="0"/>
                  </a:moveTo>
                  <a:lnTo>
                    <a:pt x="0" y="152400"/>
                  </a:lnTo>
                  <a:lnTo>
                    <a:pt x="190500" y="190500"/>
                  </a:lnTo>
                  <a:close/>
                </a:path>
              </a:pathLst>
            </a:custGeom>
            <a:solidFill>
              <a:srgbClr val="EA580C"/>
            </a:solidFill>
            <a:ln>
              <a:noFill/>
            </a:ln>
          </p:spPr>
        </p:sp>
        <p:sp>
          <p:nvSpPr>
            <p:cNvPr id="43" name="Polygon 43"/>
            <p:cNvSpPr/>
            <p:nvPr/>
          </p:nvSpPr>
          <p:spPr>
            <a:xfrm>
              <a:off x="8458200" y="2876550"/>
              <a:ext cx="190500" cy="190500"/>
            </a:xfrm>
            <a:custGeom>
              <a:avLst/>
              <a:gdLst/>
              <a:ahLst/>
              <a:cxnLst/>
              <a:rect l="l" t="t" r="r" b="b"/>
              <a:pathLst>
                <a:path w="190500" h="190500">
                  <a:moveTo>
                    <a:pt x="38100" y="190500"/>
                  </a:moveTo>
                  <a:lnTo>
                    <a:pt x="190500" y="38100"/>
                  </a:lnTo>
                  <a:lnTo>
                    <a:pt x="0" y="0"/>
                  </a:lnTo>
                  <a:close/>
                </a:path>
              </a:pathLst>
            </a:custGeom>
            <a:solidFill>
              <a:srgbClr val="EA580C"/>
            </a:solidFill>
            <a:ln>
              <a:noFill/>
            </a:ln>
          </p:spPr>
        </p:sp>
        <p:sp>
          <p:nvSpPr>
            <p:cNvPr id="44" name="Line 44"/>
            <p:cNvSpPr/>
            <p:nvPr/>
          </p:nvSpPr>
          <p:spPr>
            <a:xfrm>
              <a:off x="3619500" y="3924300"/>
              <a:ext cx="1371600" cy="533400"/>
            </a:xfrm>
            <a:custGeom>
              <a:avLst/>
              <a:gdLst/>
              <a:ahLst/>
              <a:cxnLst/>
              <a:rect l="l" t="t" r="r" b="b"/>
              <a:pathLst>
                <a:path w="1371600" h="533400">
                  <a:moveTo>
                    <a:pt x="0" y="533400"/>
                  </a:moveTo>
                  <a:lnTo>
                    <a:pt x="1371600" y="0"/>
                  </a:lnTo>
                </a:path>
              </a:pathLst>
            </a:custGeom>
            <a:noFill/>
            <a:ln w="38100">
              <a:solidFill>
                <a:srgbClr val="1E4FA8"/>
              </a:solidFill>
            </a:ln>
          </p:spPr>
        </p:sp>
        <p:sp>
          <p:nvSpPr>
            <p:cNvPr id="45" name="Polygon 45"/>
            <p:cNvSpPr/>
            <p:nvPr/>
          </p:nvSpPr>
          <p:spPr>
            <a:xfrm>
              <a:off x="4876800" y="3848100"/>
              <a:ext cx="190500" cy="190500"/>
            </a:xfrm>
            <a:custGeom>
              <a:avLst/>
              <a:gdLst/>
              <a:ahLst/>
              <a:cxnLst/>
              <a:rect l="l" t="t" r="r" b="b"/>
              <a:pathLst>
                <a:path w="190500" h="190500">
                  <a:moveTo>
                    <a:pt x="38100" y="190500"/>
                  </a:moveTo>
                  <a:lnTo>
                    <a:pt x="190500" y="38100"/>
                  </a:lnTo>
                  <a:lnTo>
                    <a:pt x="0" y="0"/>
                  </a:lnTo>
                  <a:close/>
                </a:path>
              </a:pathLst>
            </a:custGeom>
            <a:solidFill>
              <a:srgbClr val="1E4FA8"/>
            </a:solidFill>
            <a:ln>
              <a:noFill/>
            </a:ln>
          </p:spPr>
        </p:sp>
        <p:sp>
          <p:nvSpPr>
            <p:cNvPr id="46" name="Polygon 46"/>
            <p:cNvSpPr/>
            <p:nvPr/>
          </p:nvSpPr>
          <p:spPr>
            <a:xfrm>
              <a:off x="3543300" y="4343400"/>
              <a:ext cx="190500" cy="190500"/>
            </a:xfrm>
            <a:custGeom>
              <a:avLst/>
              <a:gdLst/>
              <a:ahLst/>
              <a:cxnLst/>
              <a:rect l="l" t="t" r="r" b="b"/>
              <a:pathLst>
                <a:path w="190500" h="190500">
                  <a:moveTo>
                    <a:pt x="152400" y="0"/>
                  </a:moveTo>
                  <a:lnTo>
                    <a:pt x="0" y="152400"/>
                  </a:lnTo>
                  <a:lnTo>
                    <a:pt x="190500" y="190500"/>
                  </a:lnTo>
                  <a:close/>
                </a:path>
              </a:pathLst>
            </a:custGeom>
            <a:solidFill>
              <a:srgbClr val="1E4FA8"/>
            </a:solidFill>
            <a:ln>
              <a:noFill/>
            </a:ln>
          </p:spPr>
        </p:sp>
        <p:sp>
          <p:nvSpPr>
            <p:cNvPr id="47" name="Line 47"/>
            <p:cNvSpPr/>
            <p:nvPr/>
          </p:nvSpPr>
          <p:spPr>
            <a:xfrm>
              <a:off x="7200900" y="3924300"/>
              <a:ext cx="1371600" cy="533400"/>
            </a:xfrm>
            <a:custGeom>
              <a:avLst/>
              <a:gdLst/>
              <a:ahLst/>
              <a:cxnLst/>
              <a:rect l="l" t="t" r="r" b="b"/>
              <a:pathLst>
                <a:path w="1371600" h="533400">
                  <a:moveTo>
                    <a:pt x="1371600" y="533400"/>
                  </a:moveTo>
                  <a:lnTo>
                    <a:pt x="0" y="0"/>
                  </a:lnTo>
                </a:path>
              </a:pathLst>
            </a:custGeom>
            <a:noFill/>
            <a:ln w="38100">
              <a:solidFill>
                <a:srgbClr val="7A4A33"/>
              </a:solidFill>
            </a:ln>
          </p:spPr>
        </p:sp>
        <p:sp>
          <p:nvSpPr>
            <p:cNvPr id="48" name="Polygon 48"/>
            <p:cNvSpPr/>
            <p:nvPr/>
          </p:nvSpPr>
          <p:spPr>
            <a:xfrm>
              <a:off x="7124700" y="3848100"/>
              <a:ext cx="190500" cy="190500"/>
            </a:xfrm>
            <a:custGeom>
              <a:avLst/>
              <a:gdLst/>
              <a:ahLst/>
              <a:cxnLst/>
              <a:rect l="l" t="t" r="r" b="b"/>
              <a:pathLst>
                <a:path w="190500" h="190500">
                  <a:moveTo>
                    <a:pt x="152400" y="190500"/>
                  </a:moveTo>
                  <a:lnTo>
                    <a:pt x="0" y="38100"/>
                  </a:lnTo>
                  <a:lnTo>
                    <a:pt x="190500" y="0"/>
                  </a:lnTo>
                  <a:close/>
                </a:path>
              </a:pathLst>
            </a:custGeom>
            <a:solidFill>
              <a:srgbClr val="7A4A33"/>
            </a:solidFill>
            <a:ln>
              <a:noFill/>
            </a:ln>
          </p:spPr>
        </p:sp>
        <p:sp>
          <p:nvSpPr>
            <p:cNvPr id="49" name="Polygon 49"/>
            <p:cNvSpPr/>
            <p:nvPr/>
          </p:nvSpPr>
          <p:spPr>
            <a:xfrm>
              <a:off x="8458200" y="4343400"/>
              <a:ext cx="190500" cy="190500"/>
            </a:xfrm>
            <a:custGeom>
              <a:avLst/>
              <a:gdLst/>
              <a:ahLst/>
              <a:cxnLst/>
              <a:rect l="l" t="t" r="r" b="b"/>
              <a:pathLst>
                <a:path w="190500" h="190500">
                  <a:moveTo>
                    <a:pt x="38100" y="0"/>
                  </a:moveTo>
                  <a:lnTo>
                    <a:pt x="190500" y="152400"/>
                  </a:lnTo>
                  <a:lnTo>
                    <a:pt x="0" y="190500"/>
                  </a:lnTo>
                  <a:close/>
                </a:path>
              </a:pathLst>
            </a:custGeom>
            <a:solidFill>
              <a:srgbClr val="7A4A33"/>
            </a:solidFill>
            <a:ln>
              <a:noFill/>
            </a:ln>
          </p:spPr>
        </p:sp>
      </p:grpSp>
      <p:grpSp>
        <p:nvGrpSpPr>
          <p:cNvPr id="59" name="Group 59"/>
          <p:cNvGrpSpPr/>
          <p:nvPr/>
        </p:nvGrpSpPr>
        <p:grpSpPr>
          <a:xfrm>
            <a:off x="381000" y="5314950"/>
            <a:ext cx="11430000" cy="933450"/>
            <a:chOff x="381000" y="5314950"/>
            <a:chExt cx="11430000" cy="933450"/>
          </a:xfrm>
        </p:grpSpPr>
        <p:sp>
          <p:nvSpPr>
            <p:cNvPr id="51" name="Rectangle 51"/>
            <p:cNvSpPr/>
            <p:nvPr/>
          </p:nvSpPr>
          <p:spPr>
            <a:xfrm>
              <a:off x="381000" y="5314950"/>
              <a:ext cx="11430000" cy="933450"/>
            </a:xfrm>
            <a:prstGeom prst="roundRect">
              <a:avLst>
                <a:gd name="adj" fmla="val 12245"/>
              </a:avLst>
            </a:prstGeom>
            <a:solidFill>
              <a:srgbClr val="F7F9FC"/>
            </a:solidFill>
            <a:ln w="9525">
              <a:solidFill>
                <a:srgbClr val="D6DCE5"/>
              </a:solidFill>
            </a:ln>
          </p:spPr>
        </p:sp>
        <p:sp>
          <p:nvSpPr>
            <p:cNvPr id="52" name="TextBox 52"/>
            <p:cNvSpPr txBox="1"/>
            <p:nvPr/>
          </p:nvSpPr>
          <p:spPr>
            <a:xfrm>
              <a:off x="622935" y="5498306"/>
              <a:ext cx="5453720"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从 Part I 带过来的同一套框架 | Same framework carried over from water</a:t>
              </a:r>
            </a:p>
          </p:txBody>
        </p:sp>
        <p:sp>
          <p:nvSpPr>
            <p:cNvPr id="53" name="Rectangle 53"/>
            <p:cNvSpPr/>
            <p:nvPr/>
          </p:nvSpPr>
          <p:spPr>
            <a:xfrm>
              <a:off x="628650" y="5772150"/>
              <a:ext cx="3429000" cy="323850"/>
            </a:xfrm>
            <a:prstGeom prst="roundRect">
              <a:avLst>
                <a:gd name="adj" fmla="val 29412"/>
              </a:avLst>
            </a:prstGeom>
            <a:solidFill>
              <a:srgbClr val="F0F5FC"/>
            </a:solidFill>
            <a:ln w="9525">
              <a:solidFill>
                <a:srgbClr val="1E4FA8"/>
              </a:solidFill>
            </a:ln>
          </p:spPr>
        </p:sp>
        <p:sp>
          <p:nvSpPr>
            <p:cNvPr id="54" name="TextBox 54"/>
            <p:cNvSpPr txBox="1"/>
            <p:nvPr/>
          </p:nvSpPr>
          <p:spPr>
            <a:xfrm>
              <a:off x="1822196" y="5868352"/>
              <a:ext cx="1041908" cy="205359"/>
            </a:xfrm>
            <a:prstGeom prst="rect">
              <a:avLst/>
            </a:prstGeom>
            <a:noFill/>
            <a:ln>
              <a:noFill/>
            </a:ln>
          </p:spPr>
          <p:txBody>
            <a:bodyPr wrap="none" lIns="0" tIns="0" rIns="0" bIns="0" anchor="t" anchorCtr="0">
              <a:spAutoFit/>
            </a:bodyPr>
            <a:lstStyle/>
            <a:p>
              <a:pPr algn="ctr"/>
              <a:r>
                <a:rPr lang="zh-CN" sz="1050" b="1" dirty="0">
                  <a:solidFill>
                    <a:srgbClr val="1E4FA8"/>
                  </a:solidFill>
                  <a:latin typeface="Arial"/>
                  <a:ea typeface="Microsoft YaHei"/>
                  <a:cs typeface="Arial"/>
                </a:rPr>
                <a:t>Reservoir 储库</a:t>
              </a:r>
            </a:p>
          </p:txBody>
        </p:sp>
        <p:sp>
          <p:nvSpPr>
            <p:cNvPr id="55" name="Rectangle 55"/>
            <p:cNvSpPr/>
            <p:nvPr/>
          </p:nvSpPr>
          <p:spPr>
            <a:xfrm>
              <a:off x="4248150" y="5772150"/>
              <a:ext cx="3429000" cy="323850"/>
            </a:xfrm>
            <a:prstGeom prst="roundRect">
              <a:avLst>
                <a:gd name="adj" fmla="val 29412"/>
              </a:avLst>
            </a:prstGeom>
            <a:solidFill>
              <a:srgbClr val="F0F5FC"/>
            </a:solidFill>
            <a:ln w="9525">
              <a:solidFill>
                <a:srgbClr val="1E4FA8"/>
              </a:solidFill>
            </a:ln>
          </p:spPr>
        </p:sp>
        <p:sp>
          <p:nvSpPr>
            <p:cNvPr id="56" name="TextBox 56"/>
            <p:cNvSpPr txBox="1"/>
            <p:nvPr/>
          </p:nvSpPr>
          <p:spPr>
            <a:xfrm>
              <a:off x="5644631" y="5868352"/>
              <a:ext cx="636038" cy="205359"/>
            </a:xfrm>
            <a:prstGeom prst="rect">
              <a:avLst/>
            </a:prstGeom>
            <a:noFill/>
            <a:ln>
              <a:noFill/>
            </a:ln>
          </p:spPr>
          <p:txBody>
            <a:bodyPr wrap="none" lIns="0" tIns="0" rIns="0" bIns="0" anchor="t" anchorCtr="0">
              <a:spAutoFit/>
            </a:bodyPr>
            <a:lstStyle/>
            <a:p>
              <a:pPr algn="ctr"/>
              <a:r>
                <a:rPr lang="zh-CN" sz="1050" b="1" dirty="0">
                  <a:solidFill>
                    <a:srgbClr val="1E4FA8"/>
                  </a:solidFill>
                  <a:latin typeface="Arial"/>
                  <a:ea typeface="Microsoft YaHei"/>
                  <a:cs typeface="Arial"/>
                </a:rPr>
                <a:t>Flux 通量</a:t>
              </a:r>
            </a:p>
          </p:txBody>
        </p:sp>
        <p:sp>
          <p:nvSpPr>
            <p:cNvPr id="57" name="Rectangle 57"/>
            <p:cNvSpPr/>
            <p:nvPr/>
          </p:nvSpPr>
          <p:spPr>
            <a:xfrm>
              <a:off x="7867650" y="5772150"/>
              <a:ext cx="3695700" cy="323850"/>
            </a:xfrm>
            <a:prstGeom prst="roundRect">
              <a:avLst>
                <a:gd name="adj" fmla="val 29412"/>
              </a:avLst>
            </a:prstGeom>
            <a:solidFill>
              <a:srgbClr val="F0F5FC"/>
            </a:solidFill>
            <a:ln w="9525">
              <a:solidFill>
                <a:srgbClr val="1E4FA8"/>
              </a:solidFill>
            </a:ln>
          </p:spPr>
        </p:sp>
        <p:sp>
          <p:nvSpPr>
            <p:cNvPr id="58" name="TextBox 58"/>
            <p:cNvSpPr txBox="1"/>
            <p:nvPr/>
          </p:nvSpPr>
          <p:spPr>
            <a:xfrm>
              <a:off x="8867329" y="5868352"/>
              <a:ext cx="1696343" cy="205359"/>
            </a:xfrm>
            <a:prstGeom prst="rect">
              <a:avLst/>
            </a:prstGeom>
            <a:noFill/>
            <a:ln>
              <a:noFill/>
            </a:ln>
          </p:spPr>
          <p:txBody>
            <a:bodyPr wrap="none" lIns="0" tIns="0" rIns="0" bIns="0" anchor="t" anchorCtr="0">
              <a:spAutoFit/>
            </a:bodyPr>
            <a:lstStyle/>
            <a:p>
              <a:pPr algn="ctr"/>
              <a:r>
                <a:rPr lang="zh-CN" sz="1050" b="1" dirty="0">
                  <a:solidFill>
                    <a:srgbClr val="1E4FA8"/>
                  </a:solidFill>
                  <a:latin typeface="Arial"/>
                  <a:ea typeface="Microsoft YaHei"/>
                  <a:cs typeface="Arial"/>
                </a:rPr>
                <a:t>Residence Time 停留时间</a:t>
              </a:r>
            </a:p>
          </p:txBody>
        </p:sp>
      </p:grpSp>
      <p:sp>
        <p:nvSpPr>
          <p:cNvPr id="60" name="TextBox 60"/>
          <p:cNvSpPr txBox="1"/>
          <p:nvPr/>
        </p:nvSpPr>
        <p:spPr>
          <a:xfrm>
            <a:off x="376238" y="6532245"/>
            <a:ext cx="6160045"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UE 8e, Ch.12, The Carbon Cycle, PDF pp.1204–1205; 地球系统与演变, Ch.4 §4.1, PDF pp.57–58.</a:t>
            </a:r>
          </a:p>
        </p:txBody>
      </p:sp>
      <p:sp>
        <p:nvSpPr>
          <p:cNvPr id="61" name="TextBox 61"/>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21</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54331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2.2 碳储存在哪里？ | Carbon Reservoirs</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CARBON CYCLE</a:t>
              </a:r>
            </a:p>
          </p:txBody>
        </p:sp>
      </p:grpSp>
      <p:grpSp>
        <p:nvGrpSpPr>
          <p:cNvPr id="8" name="Group 8"/>
          <p:cNvGrpSpPr/>
          <p:nvPr/>
        </p:nvGrpSpPr>
        <p:grpSpPr>
          <a:xfrm>
            <a:off x="381000" y="914400"/>
            <a:ext cx="10516848" cy="350520"/>
            <a:chOff x="381000" y="914400"/>
            <a:chExt cx="10516848" cy="350520"/>
          </a:xfrm>
        </p:grpSpPr>
        <p:sp>
          <p:nvSpPr>
            <p:cNvPr id="6" name="Rectangle 6"/>
            <p:cNvSpPr/>
            <p:nvPr/>
          </p:nvSpPr>
          <p:spPr>
            <a:xfrm>
              <a:off x="381000" y="914400"/>
              <a:ext cx="57150" cy="266700"/>
            </a:xfrm>
            <a:prstGeom prst="roundRect">
              <a:avLst>
                <a:gd name="adj" fmla="val 50000"/>
              </a:avLst>
            </a:prstGeom>
            <a:solidFill>
              <a:srgbClr val="EA580C"/>
            </a:solidFill>
            <a:ln>
              <a:noFill/>
            </a:ln>
          </p:spPr>
        </p:sp>
        <p:sp>
          <p:nvSpPr>
            <p:cNvPr id="7" name="TextBox 7"/>
            <p:cNvSpPr txBox="1"/>
            <p:nvPr/>
          </p:nvSpPr>
          <p:spPr>
            <a:xfrm>
              <a:off x="544830" y="971550"/>
              <a:ext cx="10353018" cy="293370"/>
            </a:xfrm>
            <a:prstGeom prst="rect">
              <a:avLst/>
            </a:prstGeom>
            <a:noFill/>
            <a:ln>
              <a:noFill/>
            </a:ln>
          </p:spPr>
          <p:txBody>
            <a:bodyPr wrap="none" lIns="0" tIns="0" rIns="0" bIns="0" anchor="t" anchorCtr="0">
              <a:spAutoFit/>
            </a:bodyPr>
            <a:lstStyle/>
            <a:p>
              <a:pPr algn="l"/>
              <a:r>
                <a:rPr lang="zh-CN" sz="1500" b="1" dirty="0">
                  <a:solidFill>
                    <a:srgbClr val="C2410C"/>
                  </a:solidFill>
                  <a:latin typeface="Arial"/>
                  <a:ea typeface="Microsoft YaHei"/>
                  <a:cs typeface="Arial"/>
                </a:rPr>
                <a:t>C-01 数值升序：生物圈 500 &lt; 大气 830 &lt; 土壤 1500 &lt; 海洋 38,000 Gt C；沉积物与岩石圈另作定性地质储库</a:t>
              </a:r>
            </a:p>
          </p:txBody>
        </p:sp>
      </p:grpSp>
      <p:grpSp>
        <p:nvGrpSpPr>
          <p:cNvPr id="12" name="Group 12"/>
          <p:cNvGrpSpPr/>
          <p:nvPr/>
        </p:nvGrpSpPr>
        <p:grpSpPr>
          <a:xfrm>
            <a:off x="381000" y="1466850"/>
            <a:ext cx="4953000" cy="4191000"/>
            <a:chOff x="381000" y="1466850"/>
            <a:chExt cx="4953000" cy="4191000"/>
          </a:xfrm>
        </p:grpSpPr>
        <p:sp>
          <p:nvSpPr>
            <p:cNvPr id="9" name="Rectangle 9"/>
            <p:cNvSpPr/>
            <p:nvPr/>
          </p:nvSpPr>
          <p:spPr>
            <a:xfrm>
              <a:off x="381000" y="1466850"/>
              <a:ext cx="4953000" cy="4191000"/>
            </a:xfrm>
            <a:prstGeom prst="roundRect">
              <a:avLst>
                <a:gd name="adj" fmla="val 2727"/>
              </a:avLst>
            </a:prstGeom>
            <a:solidFill>
              <a:srgbClr val="FFFFFF"/>
            </a:solidFill>
            <a:ln w="9525">
              <a:solidFill>
                <a:srgbClr val="D6DCE5"/>
              </a:solidFill>
            </a:ln>
          </p:spPr>
        </p:sp>
        <p:sp>
          <p:nvSpPr>
            <p:cNvPr id="10" name="TextBox 10"/>
            <p:cNvSpPr txBox="1"/>
            <p:nvPr/>
          </p:nvSpPr>
          <p:spPr>
            <a:xfrm>
              <a:off x="623316" y="1639252"/>
              <a:ext cx="1830114"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教材证据 | Evidence figure</a:t>
              </a:r>
            </a:p>
          </p:txBody>
        </p:sp>
        <p:pic>
          <p:nvPicPr>
            <p:cNvPr id="11" name="Image 11"/>
            <p:cNvPicPr>
              <a:picLocks noChangeAspect="1"/>
            </p:cNvPicPr>
            <p:nvPr/>
          </p:nvPicPr>
          <p:blipFill>
            <a:blip r:embed="rId2"/>
            <a:stretch>
              <a:fillRect/>
            </a:stretch>
          </p:blipFill>
          <p:spPr>
            <a:xfrm>
              <a:off x="670567" y="1885950"/>
              <a:ext cx="4373867" cy="3638550"/>
            </a:xfrm>
            <a:prstGeom prst="rect">
              <a:avLst/>
            </a:prstGeom>
          </p:spPr>
        </p:pic>
      </p:grpSp>
      <p:grpSp>
        <p:nvGrpSpPr>
          <p:cNvPr id="34" name="Group 34"/>
          <p:cNvGrpSpPr/>
          <p:nvPr/>
        </p:nvGrpSpPr>
        <p:grpSpPr>
          <a:xfrm>
            <a:off x="5524500" y="1466850"/>
            <a:ext cx="6286500" cy="2514600"/>
            <a:chOff x="5524500" y="1466850"/>
            <a:chExt cx="6286500" cy="2514600"/>
          </a:xfrm>
        </p:grpSpPr>
        <p:sp>
          <p:nvSpPr>
            <p:cNvPr id="13" name="Rectangle 13"/>
            <p:cNvSpPr/>
            <p:nvPr/>
          </p:nvSpPr>
          <p:spPr>
            <a:xfrm>
              <a:off x="5524500" y="1466850"/>
              <a:ext cx="6286500" cy="2514600"/>
            </a:xfrm>
            <a:prstGeom prst="roundRect">
              <a:avLst>
                <a:gd name="adj" fmla="val 4545"/>
              </a:avLst>
            </a:prstGeom>
            <a:solidFill>
              <a:srgbClr val="FDF4EF"/>
            </a:solidFill>
            <a:ln w="9525">
              <a:solidFill>
                <a:srgbClr val="F0CFC2"/>
              </a:solidFill>
            </a:ln>
          </p:spPr>
        </p:sp>
        <p:sp>
          <p:nvSpPr>
            <p:cNvPr id="14" name="TextBox 14"/>
            <p:cNvSpPr txBox="1"/>
            <p:nvPr/>
          </p:nvSpPr>
          <p:spPr>
            <a:xfrm>
              <a:off x="5766435" y="1631156"/>
              <a:ext cx="3724597"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Arial"/>
                  <a:ea typeface="Microsoft YaHei"/>
                  <a:cs typeface="Arial"/>
                </a:rPr>
                <a:t>C-01 数值升序 | Numerical ascending order (Gt C)</a:t>
              </a:r>
            </a:p>
          </p:txBody>
        </p:sp>
        <p:sp>
          <p:nvSpPr>
            <p:cNvPr id="15" name="TextBox 15"/>
            <p:cNvSpPr txBox="1"/>
            <p:nvPr/>
          </p:nvSpPr>
          <p:spPr>
            <a:xfrm>
              <a:off x="5767388" y="1845945"/>
              <a:ext cx="3779177" cy="176212"/>
            </a:xfrm>
            <a:prstGeom prst="rect">
              <a:avLst/>
            </a:prstGeom>
            <a:noFill/>
            <a:ln>
              <a:noFill/>
            </a:ln>
          </p:spPr>
          <p:txBody>
            <a:bodyPr wrap="none" lIns="0" tIns="0" rIns="0" bIns="0" anchor="t" anchorCtr="0">
              <a:spAutoFit/>
            </a:bodyPr>
            <a:lstStyle/>
            <a:p>
              <a:pPr algn="l"/>
              <a:r>
                <a:rPr lang="zh-CN" sz="900" dirty="0">
                  <a:solidFill>
                    <a:srgbClr val="7A4A33"/>
                  </a:solidFill>
                  <a:latin typeface="Arial"/>
                  <a:ea typeface="Microsoft YaHei"/>
                  <a:cs typeface="Arial"/>
                </a:rPr>
                <a:t>条长按 log₁₀(储量) 绘制 · 唯一数值数据集：UE Fig. 12.19 (C-01)</a:t>
              </a:r>
            </a:p>
          </p:txBody>
        </p:sp>
        <p:grpSp>
          <p:nvGrpSpPr>
            <p:cNvPr id="19" name="Group 19"/>
            <p:cNvGrpSpPr/>
            <p:nvPr/>
          </p:nvGrpSpPr>
          <p:grpSpPr>
            <a:xfrm>
              <a:off x="5766816" y="2095500"/>
              <a:ext cx="2198659" cy="282511"/>
              <a:chOff x="5766816" y="2095500"/>
              <a:chExt cx="2198659" cy="282511"/>
            </a:xfrm>
          </p:grpSpPr>
          <p:sp>
            <p:nvSpPr>
              <p:cNvPr id="16" name="TextBox 16"/>
              <p:cNvSpPr txBox="1"/>
              <p:nvPr/>
            </p:nvSpPr>
            <p:spPr>
              <a:xfrm>
                <a:off x="5766816" y="2172652"/>
                <a:ext cx="1184148"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生物圈 Biosphere</a:t>
                </a:r>
              </a:p>
            </p:txBody>
          </p:sp>
          <p:sp>
            <p:nvSpPr>
              <p:cNvPr id="17" name="Rectangle 17"/>
              <p:cNvSpPr/>
              <p:nvPr/>
            </p:nvSpPr>
            <p:spPr>
              <a:xfrm>
                <a:off x="7239000" y="2095500"/>
                <a:ext cx="381000" cy="266700"/>
              </a:xfrm>
              <a:prstGeom prst="roundRect">
                <a:avLst>
                  <a:gd name="adj" fmla="val 14286"/>
                </a:avLst>
              </a:prstGeom>
              <a:solidFill>
                <a:srgbClr val="EA580C"/>
              </a:solidFill>
              <a:ln>
                <a:noFill/>
              </a:ln>
            </p:spPr>
          </p:sp>
          <p:sp>
            <p:nvSpPr>
              <p:cNvPr id="18" name="TextBox 18"/>
              <p:cNvSpPr txBox="1"/>
              <p:nvPr/>
            </p:nvSpPr>
            <p:spPr>
              <a:xfrm>
                <a:off x="7709916" y="2172652"/>
                <a:ext cx="255559" cy="205359"/>
              </a:xfrm>
              <a:prstGeom prst="rect">
                <a:avLst/>
              </a:prstGeom>
              <a:noFill/>
              <a:ln>
                <a:noFill/>
              </a:ln>
            </p:spPr>
            <p:txBody>
              <a:bodyPr wrap="none" lIns="0" tIns="0" rIns="0" bIns="0" anchor="t" anchorCtr="0">
                <a:spAutoFit/>
              </a:bodyPr>
              <a:lstStyle/>
              <a:p>
                <a:pPr algn="l"/>
                <a:r>
                  <a:rPr lang="en-US" sz="1050" b="1" dirty="0">
                    <a:solidFill>
                      <a:srgbClr val="C2410C"/>
                    </a:solidFill>
                    <a:latin typeface="Arial"/>
                    <a:ea typeface="Arial"/>
                    <a:cs typeface="Arial"/>
                  </a:rPr>
                  <a:t>500</a:t>
                </a:r>
              </a:p>
            </p:txBody>
          </p:sp>
        </p:grpSp>
        <p:grpSp>
          <p:nvGrpSpPr>
            <p:cNvPr id="23" name="Group 23"/>
            <p:cNvGrpSpPr/>
            <p:nvPr/>
          </p:nvGrpSpPr>
          <p:grpSpPr>
            <a:xfrm>
              <a:off x="5766816" y="2514600"/>
              <a:ext cx="2617759" cy="282511"/>
              <a:chOff x="5766816" y="2514600"/>
              <a:chExt cx="2617759" cy="282511"/>
            </a:xfrm>
          </p:grpSpPr>
          <p:sp>
            <p:nvSpPr>
              <p:cNvPr id="20" name="TextBox 20"/>
              <p:cNvSpPr txBox="1"/>
              <p:nvPr/>
            </p:nvSpPr>
            <p:spPr>
              <a:xfrm>
                <a:off x="5766816" y="2591752"/>
                <a:ext cx="1190522"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大气 Atmosphere</a:t>
                </a:r>
              </a:p>
            </p:txBody>
          </p:sp>
          <p:sp>
            <p:nvSpPr>
              <p:cNvPr id="21" name="Rectangle 21"/>
              <p:cNvSpPr/>
              <p:nvPr/>
            </p:nvSpPr>
            <p:spPr>
              <a:xfrm>
                <a:off x="7239000" y="2514600"/>
                <a:ext cx="800100" cy="266700"/>
              </a:xfrm>
              <a:prstGeom prst="roundRect">
                <a:avLst>
                  <a:gd name="adj" fmla="val 14286"/>
                </a:avLst>
              </a:prstGeom>
              <a:solidFill>
                <a:srgbClr val="EA580C"/>
              </a:solidFill>
              <a:ln>
                <a:noFill/>
              </a:ln>
            </p:spPr>
          </p:sp>
          <p:sp>
            <p:nvSpPr>
              <p:cNvPr id="22" name="TextBox 22"/>
              <p:cNvSpPr txBox="1"/>
              <p:nvPr/>
            </p:nvSpPr>
            <p:spPr>
              <a:xfrm>
                <a:off x="8129016" y="2591752"/>
                <a:ext cx="255559" cy="205359"/>
              </a:xfrm>
              <a:prstGeom prst="rect">
                <a:avLst/>
              </a:prstGeom>
              <a:noFill/>
              <a:ln>
                <a:noFill/>
              </a:ln>
            </p:spPr>
            <p:txBody>
              <a:bodyPr wrap="none" lIns="0" tIns="0" rIns="0" bIns="0" anchor="t" anchorCtr="0">
                <a:spAutoFit/>
              </a:bodyPr>
              <a:lstStyle/>
              <a:p>
                <a:pPr algn="l"/>
                <a:r>
                  <a:rPr lang="en-US" sz="1050" b="1" dirty="0">
                    <a:solidFill>
                      <a:srgbClr val="C2410C"/>
                    </a:solidFill>
                    <a:latin typeface="Arial"/>
                    <a:ea typeface="Arial"/>
                    <a:cs typeface="Arial"/>
                  </a:rPr>
                  <a:t>830</a:t>
                </a:r>
              </a:p>
            </p:txBody>
          </p:sp>
        </p:grpSp>
        <p:grpSp>
          <p:nvGrpSpPr>
            <p:cNvPr id="27" name="Group 27"/>
            <p:cNvGrpSpPr/>
            <p:nvPr/>
          </p:nvGrpSpPr>
          <p:grpSpPr>
            <a:xfrm>
              <a:off x="5766816" y="2933700"/>
              <a:ext cx="3266794" cy="282511"/>
              <a:chOff x="5766816" y="2933700"/>
              <a:chExt cx="3266794" cy="282511"/>
            </a:xfrm>
          </p:grpSpPr>
          <p:sp>
            <p:nvSpPr>
              <p:cNvPr id="24" name="TextBox 24"/>
              <p:cNvSpPr txBox="1"/>
              <p:nvPr/>
            </p:nvSpPr>
            <p:spPr>
              <a:xfrm>
                <a:off x="5766816" y="3010852"/>
                <a:ext cx="679322"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土壤 Soils</a:t>
                </a:r>
              </a:p>
            </p:txBody>
          </p:sp>
          <p:sp>
            <p:nvSpPr>
              <p:cNvPr id="25" name="Rectangle 25"/>
              <p:cNvSpPr/>
              <p:nvPr/>
            </p:nvSpPr>
            <p:spPr>
              <a:xfrm>
                <a:off x="7239000" y="2933700"/>
                <a:ext cx="1285875" cy="266700"/>
              </a:xfrm>
              <a:prstGeom prst="roundRect">
                <a:avLst>
                  <a:gd name="adj" fmla="val 14286"/>
                </a:avLst>
              </a:prstGeom>
              <a:solidFill>
                <a:srgbClr val="EA580C"/>
              </a:solidFill>
              <a:ln>
                <a:noFill/>
              </a:ln>
            </p:spPr>
          </p:sp>
          <p:sp>
            <p:nvSpPr>
              <p:cNvPr id="26" name="TextBox 26"/>
              <p:cNvSpPr txBox="1"/>
              <p:nvPr/>
            </p:nvSpPr>
            <p:spPr>
              <a:xfrm>
                <a:off x="8614791" y="3010852"/>
                <a:ext cx="418819" cy="205359"/>
              </a:xfrm>
              <a:prstGeom prst="rect">
                <a:avLst/>
              </a:prstGeom>
              <a:noFill/>
              <a:ln>
                <a:noFill/>
              </a:ln>
            </p:spPr>
            <p:txBody>
              <a:bodyPr wrap="none" lIns="0" tIns="0" rIns="0" bIns="0" anchor="t" anchorCtr="0">
                <a:spAutoFit/>
              </a:bodyPr>
              <a:lstStyle/>
              <a:p>
                <a:pPr algn="l"/>
                <a:r>
                  <a:rPr lang="en-US" sz="1050" b="1" dirty="0">
                    <a:solidFill>
                      <a:srgbClr val="C2410C"/>
                    </a:solidFill>
                    <a:latin typeface="Arial"/>
                    <a:ea typeface="Arial"/>
                    <a:cs typeface="Arial"/>
                  </a:rPr>
                  <a:t>1,500</a:t>
                </a:r>
              </a:p>
            </p:txBody>
          </p:sp>
        </p:grpSp>
        <p:grpSp>
          <p:nvGrpSpPr>
            <p:cNvPr id="31" name="Group 31"/>
            <p:cNvGrpSpPr/>
            <p:nvPr/>
          </p:nvGrpSpPr>
          <p:grpSpPr>
            <a:xfrm>
              <a:off x="5766816" y="3352800"/>
              <a:ext cx="5434584" cy="282511"/>
              <a:chOff x="5766816" y="3352800"/>
              <a:chExt cx="5434584" cy="282511"/>
            </a:xfrm>
          </p:grpSpPr>
          <p:sp>
            <p:nvSpPr>
              <p:cNvPr id="28" name="TextBox 28"/>
              <p:cNvSpPr txBox="1"/>
              <p:nvPr/>
            </p:nvSpPr>
            <p:spPr>
              <a:xfrm>
                <a:off x="5766816" y="3429952"/>
                <a:ext cx="784391" cy="205359"/>
              </a:xfrm>
              <a:prstGeom prst="rect">
                <a:avLst/>
              </a:prstGeom>
              <a:noFill/>
              <a:ln>
                <a:noFill/>
              </a:ln>
            </p:spPr>
            <p:txBody>
              <a:bodyPr wrap="none" lIns="0" tIns="0" rIns="0" bIns="0" anchor="t" anchorCtr="0">
                <a:spAutoFit/>
              </a:bodyPr>
              <a:lstStyle/>
              <a:p>
                <a:pPr algn="l"/>
                <a:r>
                  <a:rPr lang="zh-CN" sz="1050" b="1" dirty="0">
                    <a:solidFill>
                      <a:srgbClr val="1A2230"/>
                    </a:solidFill>
                    <a:latin typeface="Arial"/>
                    <a:ea typeface="Microsoft YaHei"/>
                    <a:cs typeface="Arial"/>
                  </a:rPr>
                  <a:t>海洋 Ocean</a:t>
                </a:r>
              </a:p>
            </p:txBody>
          </p:sp>
          <p:sp>
            <p:nvSpPr>
              <p:cNvPr id="29" name="Rectangle 29"/>
              <p:cNvSpPr/>
              <p:nvPr/>
            </p:nvSpPr>
            <p:spPr>
              <a:xfrm>
                <a:off x="7239000" y="3352800"/>
                <a:ext cx="3962400" cy="266700"/>
              </a:xfrm>
              <a:prstGeom prst="roundRect">
                <a:avLst>
                  <a:gd name="adj" fmla="val 14286"/>
                </a:avLst>
              </a:prstGeom>
              <a:solidFill>
                <a:srgbClr val="C2410C"/>
              </a:solidFill>
              <a:ln>
                <a:noFill/>
              </a:ln>
            </p:spPr>
          </p:sp>
          <p:sp>
            <p:nvSpPr>
              <p:cNvPr id="30" name="TextBox 30"/>
              <p:cNvSpPr txBox="1"/>
              <p:nvPr/>
            </p:nvSpPr>
            <p:spPr>
              <a:xfrm>
                <a:off x="10611035" y="3429952"/>
                <a:ext cx="500449" cy="205359"/>
              </a:xfrm>
              <a:prstGeom prst="rect">
                <a:avLst/>
              </a:prstGeom>
              <a:noFill/>
              <a:ln>
                <a:noFill/>
              </a:ln>
            </p:spPr>
            <p:txBody>
              <a:bodyPr wrap="none" lIns="0" tIns="0" rIns="0" bIns="0" anchor="t" anchorCtr="0">
                <a:spAutoFit/>
              </a:bodyPr>
              <a:lstStyle/>
              <a:p>
                <a:pPr algn="r"/>
                <a:r>
                  <a:rPr lang="en-US" sz="1050" b="1" dirty="0">
                    <a:solidFill>
                      <a:srgbClr val="FFFFFF"/>
                    </a:solidFill>
                    <a:latin typeface="Arial"/>
                    <a:ea typeface="Arial"/>
                    <a:cs typeface="Arial"/>
                  </a:rPr>
                  <a:t>38,000</a:t>
                </a:r>
              </a:p>
            </p:txBody>
          </p:sp>
        </p:grpSp>
        <p:sp>
          <p:nvSpPr>
            <p:cNvPr id="32" name="Rectangle 32"/>
            <p:cNvSpPr/>
            <p:nvPr/>
          </p:nvSpPr>
          <p:spPr>
            <a:xfrm>
              <a:off x="5772150" y="3695700"/>
              <a:ext cx="5791200" cy="209550"/>
            </a:xfrm>
            <a:prstGeom prst="roundRect">
              <a:avLst>
                <a:gd name="adj" fmla="val 27273"/>
              </a:avLst>
            </a:prstGeom>
            <a:solidFill>
              <a:srgbClr val="FDECDD"/>
            </a:solidFill>
            <a:ln>
              <a:noFill/>
            </a:ln>
          </p:spPr>
        </p:sp>
        <p:sp>
          <p:nvSpPr>
            <p:cNvPr id="33" name="TextBox 33"/>
            <p:cNvSpPr txBox="1"/>
            <p:nvPr/>
          </p:nvSpPr>
          <p:spPr>
            <a:xfrm>
              <a:off x="6799164" y="3742849"/>
              <a:ext cx="3737172" cy="190690"/>
            </a:xfrm>
            <a:prstGeom prst="rect">
              <a:avLst/>
            </a:prstGeom>
            <a:noFill/>
            <a:ln>
              <a:noFill/>
            </a:ln>
          </p:spPr>
          <p:txBody>
            <a:bodyPr wrap="none" lIns="0" tIns="0" rIns="0" bIns="0" anchor="t" anchorCtr="0">
              <a:spAutoFit/>
            </a:bodyPr>
            <a:lstStyle/>
            <a:p>
              <a:pPr algn="ctr"/>
              <a:r>
                <a:rPr lang="zh-CN" sz="980" b="1" dirty="0">
                  <a:solidFill>
                    <a:srgbClr val="C2410C"/>
                  </a:solidFill>
                  <a:latin typeface="Arial"/>
                  <a:ea typeface="Microsoft YaHei"/>
                  <a:cs typeface="Arial"/>
                </a:rPr>
                <a:t>500 &lt; 830 &lt; 1500 &lt; 38,000 Gt C（生物圈最小，海洋最大）</a:t>
              </a:r>
            </a:p>
          </p:txBody>
        </p:sp>
      </p:grpSp>
      <p:grpSp>
        <p:nvGrpSpPr>
          <p:cNvPr id="46" name="Group 46"/>
          <p:cNvGrpSpPr/>
          <p:nvPr/>
        </p:nvGrpSpPr>
        <p:grpSpPr>
          <a:xfrm>
            <a:off x="5524500" y="4095750"/>
            <a:ext cx="6286500" cy="1562100"/>
            <a:chOff x="5524500" y="4095750"/>
            <a:chExt cx="6286500" cy="1562100"/>
          </a:xfrm>
        </p:grpSpPr>
        <p:sp>
          <p:nvSpPr>
            <p:cNvPr id="35" name="Rectangle 35"/>
            <p:cNvSpPr/>
            <p:nvPr/>
          </p:nvSpPr>
          <p:spPr>
            <a:xfrm>
              <a:off x="5524500" y="4095750"/>
              <a:ext cx="6286500" cy="1562100"/>
            </a:xfrm>
            <a:prstGeom prst="roundRect">
              <a:avLst>
                <a:gd name="adj" fmla="val 7317"/>
              </a:avLst>
            </a:prstGeom>
            <a:solidFill>
              <a:srgbClr val="F7F9FC"/>
            </a:solidFill>
            <a:ln w="9525">
              <a:solidFill>
                <a:srgbClr val="D6DCE5"/>
              </a:solidFill>
            </a:ln>
          </p:spPr>
        </p:sp>
        <p:sp>
          <p:nvSpPr>
            <p:cNvPr id="36" name="TextBox 36"/>
            <p:cNvSpPr txBox="1"/>
            <p:nvPr/>
          </p:nvSpPr>
          <p:spPr>
            <a:xfrm>
              <a:off x="5766435" y="4260056"/>
              <a:ext cx="4766475"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地质储库（定性，单独一组）| Geological reservoirs (qualitative)</a:t>
              </a:r>
            </a:p>
          </p:txBody>
        </p:sp>
        <p:sp>
          <p:nvSpPr>
            <p:cNvPr id="37" name="Rectangle 37"/>
            <p:cNvSpPr/>
            <p:nvPr/>
          </p:nvSpPr>
          <p:spPr>
            <a:xfrm>
              <a:off x="5772150" y="4533900"/>
              <a:ext cx="2762250" cy="457200"/>
            </a:xfrm>
            <a:prstGeom prst="roundRect">
              <a:avLst>
                <a:gd name="adj" fmla="val 20833"/>
              </a:avLst>
            </a:prstGeom>
            <a:solidFill>
              <a:srgbClr val="FFFFFF"/>
            </a:solidFill>
            <a:ln w="19050">
              <a:solidFill>
                <a:srgbClr val="7A4A33"/>
              </a:solidFill>
            </a:ln>
          </p:spPr>
        </p:sp>
        <p:sp>
          <p:nvSpPr>
            <p:cNvPr id="38" name="TextBox 38"/>
            <p:cNvSpPr txBox="1"/>
            <p:nvPr/>
          </p:nvSpPr>
          <p:spPr>
            <a:xfrm>
              <a:off x="6549116" y="4641056"/>
              <a:ext cx="1208318" cy="220028"/>
            </a:xfrm>
            <a:prstGeom prst="rect">
              <a:avLst/>
            </a:prstGeom>
            <a:noFill/>
            <a:ln>
              <a:noFill/>
            </a:ln>
          </p:spPr>
          <p:txBody>
            <a:bodyPr wrap="none" lIns="0" tIns="0" rIns="0" bIns="0" anchor="t" anchorCtr="0">
              <a:spAutoFit/>
            </a:bodyPr>
            <a:lstStyle/>
            <a:p>
              <a:pPr algn="ctr"/>
              <a:r>
                <a:rPr lang="zh-CN" sz="1120" b="1" dirty="0">
                  <a:solidFill>
                    <a:srgbClr val="7A4A33"/>
                  </a:solidFill>
                  <a:latin typeface="Arial"/>
                  <a:ea typeface="Microsoft YaHei"/>
                  <a:cs typeface="Arial"/>
                </a:rPr>
                <a:t>沉积物 Sediment</a:t>
              </a:r>
            </a:p>
          </p:txBody>
        </p:sp>
        <p:sp>
          <p:nvSpPr>
            <p:cNvPr id="39" name="TextBox 39"/>
            <p:cNvSpPr txBox="1"/>
            <p:nvPr/>
          </p:nvSpPr>
          <p:spPr>
            <a:xfrm>
              <a:off x="6594215" y="4836795"/>
              <a:ext cx="1118121"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碳酸盐 · 有机质埋藏</a:t>
              </a:r>
            </a:p>
          </p:txBody>
        </p:sp>
        <p:sp>
          <p:nvSpPr>
            <p:cNvPr id="40" name="Rectangle 40"/>
            <p:cNvSpPr/>
            <p:nvPr/>
          </p:nvSpPr>
          <p:spPr>
            <a:xfrm>
              <a:off x="8724900" y="4533900"/>
              <a:ext cx="2838450" cy="457200"/>
            </a:xfrm>
            <a:prstGeom prst="roundRect">
              <a:avLst>
                <a:gd name="adj" fmla="val 20833"/>
              </a:avLst>
            </a:prstGeom>
            <a:solidFill>
              <a:srgbClr val="FFFFFF"/>
            </a:solidFill>
            <a:ln w="19050">
              <a:solidFill>
                <a:srgbClr val="7A4A33"/>
              </a:solidFill>
            </a:ln>
          </p:spPr>
        </p:sp>
        <p:sp>
          <p:nvSpPr>
            <p:cNvPr id="41" name="TextBox 41"/>
            <p:cNvSpPr txBox="1"/>
            <p:nvPr/>
          </p:nvSpPr>
          <p:spPr>
            <a:xfrm>
              <a:off x="9425745" y="4641056"/>
              <a:ext cx="1436760" cy="220028"/>
            </a:xfrm>
            <a:prstGeom prst="rect">
              <a:avLst/>
            </a:prstGeom>
            <a:noFill/>
            <a:ln>
              <a:noFill/>
            </a:ln>
          </p:spPr>
          <p:txBody>
            <a:bodyPr wrap="none" lIns="0" tIns="0" rIns="0" bIns="0" anchor="t" anchorCtr="0">
              <a:spAutoFit/>
            </a:bodyPr>
            <a:lstStyle/>
            <a:p>
              <a:pPr algn="ctr"/>
              <a:r>
                <a:rPr lang="zh-CN" sz="1120" b="1" dirty="0">
                  <a:solidFill>
                    <a:srgbClr val="7A4A33"/>
                  </a:solidFill>
                  <a:latin typeface="Arial"/>
                  <a:ea typeface="Microsoft YaHei"/>
                  <a:cs typeface="Arial"/>
                </a:rPr>
                <a:t>岩石圈 Lithosphere</a:t>
              </a:r>
            </a:p>
          </p:txBody>
        </p:sp>
        <p:sp>
          <p:nvSpPr>
            <p:cNvPr id="42" name="TextBox 42"/>
            <p:cNvSpPr txBox="1"/>
            <p:nvPr/>
          </p:nvSpPr>
          <p:spPr>
            <a:xfrm>
              <a:off x="9394241" y="4836795"/>
              <a:ext cx="1499768"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沉积岩 · 化石燃料 · 慢循环</a:t>
              </a:r>
            </a:p>
          </p:txBody>
        </p:sp>
        <p:sp>
          <p:nvSpPr>
            <p:cNvPr id="43" name="Rectangle 43"/>
            <p:cNvSpPr/>
            <p:nvPr/>
          </p:nvSpPr>
          <p:spPr>
            <a:xfrm>
              <a:off x="5772150" y="5143500"/>
              <a:ext cx="5791200" cy="381000"/>
            </a:xfrm>
            <a:prstGeom prst="roundRect">
              <a:avLst>
                <a:gd name="adj" fmla="val 20000"/>
              </a:avLst>
            </a:prstGeom>
            <a:solidFill>
              <a:srgbClr val="FDECDD"/>
            </a:solidFill>
            <a:ln w="9525">
              <a:solidFill>
                <a:srgbClr val="F0CFC2"/>
              </a:solidFill>
            </a:ln>
          </p:spPr>
        </p:sp>
        <p:sp>
          <p:nvSpPr>
            <p:cNvPr id="44" name="TextBox 44"/>
            <p:cNvSpPr txBox="1"/>
            <p:nvPr/>
          </p:nvSpPr>
          <p:spPr>
            <a:xfrm>
              <a:off x="7470838" y="5217795"/>
              <a:ext cx="2393823" cy="176212"/>
            </a:xfrm>
            <a:prstGeom prst="rect">
              <a:avLst/>
            </a:prstGeom>
            <a:noFill/>
            <a:ln>
              <a:noFill/>
            </a:ln>
          </p:spPr>
          <p:txBody>
            <a:bodyPr wrap="none" lIns="0" tIns="0" rIns="0" bIns="0" anchor="t" anchorCtr="0">
              <a:spAutoFit/>
            </a:bodyPr>
            <a:lstStyle/>
            <a:p>
              <a:pPr algn="ctr"/>
              <a:r>
                <a:rPr lang="zh-CN" sz="900" b="1" dirty="0">
                  <a:solidFill>
                    <a:srgbClr val="C2410C"/>
                  </a:solidFill>
                  <a:latin typeface="Arial"/>
                  <a:ea typeface="Microsoft YaHei"/>
                  <a:cs typeface="Arial"/>
                </a:rPr>
                <a:t>C-01 未印出沉积物与岩石圈的具体总量。</a:t>
              </a:r>
            </a:p>
          </p:txBody>
        </p:sp>
        <p:sp>
          <p:nvSpPr>
            <p:cNvPr id="45" name="TextBox 45"/>
            <p:cNvSpPr txBox="1"/>
            <p:nvPr/>
          </p:nvSpPr>
          <p:spPr>
            <a:xfrm>
              <a:off x="7087934" y="5370195"/>
              <a:ext cx="3159633" cy="176212"/>
            </a:xfrm>
            <a:prstGeom prst="rect">
              <a:avLst/>
            </a:prstGeom>
            <a:noFill/>
            <a:ln>
              <a:noFill/>
            </a:ln>
          </p:spPr>
          <p:txBody>
            <a:bodyPr wrap="none" lIns="0" tIns="0" rIns="0" bIns="0" anchor="t" anchorCtr="0">
              <a:spAutoFit/>
            </a:bodyPr>
            <a:lstStyle/>
            <a:p>
              <a:pPr algn="ctr"/>
              <a:r>
                <a:rPr lang="zh-CN" sz="900" dirty="0">
                  <a:solidFill>
                    <a:srgbClr val="7A4A33"/>
                  </a:solidFill>
                  <a:latin typeface="Arial"/>
                  <a:ea typeface="Microsoft YaHei"/>
                  <a:cs typeface="Arial"/>
                </a:rPr>
                <a:t>它们不并入上面的数值升序，也不引入第二套数值数据集。</a:t>
              </a:r>
            </a:p>
          </p:txBody>
        </p:sp>
      </p:grpSp>
      <p:sp>
        <p:nvSpPr>
          <p:cNvPr id="47" name="TextBox 47"/>
          <p:cNvSpPr txBox="1"/>
          <p:nvPr/>
        </p:nvSpPr>
        <p:spPr>
          <a:xfrm>
            <a:off x="376238" y="6532245"/>
            <a:ext cx="7611816"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Ch.12, Fig. 12.19 (C-01), PDF p.1209 — sole numerical dataset. Geological reservoirs kept qualitative per C-01.</a:t>
            </a:r>
          </a:p>
        </p:txBody>
      </p:sp>
      <p:sp>
        <p:nvSpPr>
          <p:cNvPr id="48" name="TextBox 48"/>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22</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6611233"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2.4 同样的语言，不同的时间尺度 | Same Framework, Different Timescales</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CARBON CYCLE</a:t>
              </a:r>
            </a:p>
          </p:txBody>
        </p:sp>
      </p:grpSp>
      <p:grpSp>
        <p:nvGrpSpPr>
          <p:cNvPr id="8" name="Group 8"/>
          <p:cNvGrpSpPr/>
          <p:nvPr/>
        </p:nvGrpSpPr>
        <p:grpSpPr>
          <a:xfrm>
            <a:off x="381000" y="914400"/>
            <a:ext cx="7159895" cy="357093"/>
            <a:chOff x="381000" y="914400"/>
            <a:chExt cx="7159895" cy="357093"/>
          </a:xfrm>
        </p:grpSpPr>
        <p:sp>
          <p:nvSpPr>
            <p:cNvPr id="6" name="Rectangle 6"/>
            <p:cNvSpPr/>
            <p:nvPr/>
          </p:nvSpPr>
          <p:spPr>
            <a:xfrm>
              <a:off x="381000" y="914400"/>
              <a:ext cx="57150" cy="266700"/>
            </a:xfrm>
            <a:prstGeom prst="roundRect">
              <a:avLst>
                <a:gd name="adj" fmla="val 50000"/>
              </a:avLst>
            </a:prstGeom>
            <a:solidFill>
              <a:srgbClr val="EA580C"/>
            </a:solidFill>
            <a:ln>
              <a:noFill/>
            </a:ln>
          </p:spPr>
        </p:sp>
        <p:sp>
          <p:nvSpPr>
            <p:cNvPr id="7" name="TextBox 7"/>
            <p:cNvSpPr txBox="1"/>
            <p:nvPr/>
          </p:nvSpPr>
          <p:spPr>
            <a:xfrm>
              <a:off x="544449" y="963454"/>
              <a:ext cx="6996446"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Arial"/>
                  <a:ea typeface="Microsoft YaHei"/>
                  <a:cs typeface="Arial"/>
                </a:rPr>
                <a:t>水和碳共享 Reservoir / Flux / Residence Time 语言，但时钟差异巨大</a:t>
              </a:r>
            </a:p>
          </p:txBody>
        </p:sp>
      </p:grpSp>
      <p:grpSp>
        <p:nvGrpSpPr>
          <p:cNvPr id="44" name="Group 44"/>
          <p:cNvGrpSpPr/>
          <p:nvPr/>
        </p:nvGrpSpPr>
        <p:grpSpPr>
          <a:xfrm>
            <a:off x="381000" y="1466850"/>
            <a:ext cx="7429500" cy="4191000"/>
            <a:chOff x="381000" y="1466850"/>
            <a:chExt cx="7429500" cy="4191000"/>
          </a:xfrm>
        </p:grpSpPr>
        <p:sp>
          <p:nvSpPr>
            <p:cNvPr id="9" name="Rectangle 9"/>
            <p:cNvSpPr/>
            <p:nvPr/>
          </p:nvSpPr>
          <p:spPr>
            <a:xfrm>
              <a:off x="381000" y="1466850"/>
              <a:ext cx="7429500" cy="4191000"/>
            </a:xfrm>
            <a:prstGeom prst="roundRect">
              <a:avLst>
                <a:gd name="adj" fmla="val 2727"/>
              </a:avLst>
            </a:prstGeom>
            <a:solidFill>
              <a:srgbClr val="F7F9FC"/>
            </a:solidFill>
            <a:ln w="9525">
              <a:solidFill>
                <a:srgbClr val="D6DCE5"/>
              </a:solidFill>
            </a:ln>
          </p:spPr>
        </p:sp>
        <p:sp>
          <p:nvSpPr>
            <p:cNvPr id="10" name="Rectangle 10"/>
            <p:cNvSpPr/>
            <p:nvPr/>
          </p:nvSpPr>
          <p:spPr>
            <a:xfrm>
              <a:off x="381000" y="1466850"/>
              <a:ext cx="7429500" cy="476250"/>
            </a:xfrm>
            <a:prstGeom prst="roundRect">
              <a:avLst>
                <a:gd name="adj" fmla="val 24000"/>
              </a:avLst>
            </a:prstGeom>
            <a:solidFill>
              <a:srgbClr val="0E3F8C"/>
            </a:solidFill>
            <a:ln>
              <a:noFill/>
            </a:ln>
          </p:spPr>
        </p:sp>
        <p:sp>
          <p:nvSpPr>
            <p:cNvPr id="11" name="Rectangle 11"/>
            <p:cNvSpPr/>
            <p:nvPr/>
          </p:nvSpPr>
          <p:spPr>
            <a:xfrm>
              <a:off x="381000" y="1714500"/>
              <a:ext cx="7429500" cy="228600"/>
            </a:xfrm>
            <a:prstGeom prst="rect">
              <a:avLst/>
            </a:prstGeom>
            <a:solidFill>
              <a:srgbClr val="0E3F8C"/>
            </a:solidFill>
            <a:ln>
              <a:noFill/>
            </a:ln>
          </p:spPr>
        </p:sp>
        <p:sp>
          <p:nvSpPr>
            <p:cNvPr id="12" name="TextBox 12"/>
            <p:cNvSpPr txBox="1"/>
            <p:nvPr/>
          </p:nvSpPr>
          <p:spPr>
            <a:xfrm>
              <a:off x="726015" y="1650206"/>
              <a:ext cx="1214970"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Arial"/>
                  <a:ea typeface="Microsoft YaHei"/>
                  <a:cs typeface="Arial"/>
                </a:rPr>
                <a:t>框架 Framework</a:t>
              </a:r>
            </a:p>
          </p:txBody>
        </p:sp>
        <p:sp>
          <p:nvSpPr>
            <p:cNvPr id="13" name="TextBox 13"/>
            <p:cNvSpPr txBox="1"/>
            <p:nvPr/>
          </p:nvSpPr>
          <p:spPr>
            <a:xfrm>
              <a:off x="3324998" y="1650206"/>
              <a:ext cx="684254" cy="220028"/>
            </a:xfrm>
            <a:prstGeom prst="rect">
              <a:avLst/>
            </a:prstGeom>
            <a:noFill/>
            <a:ln>
              <a:noFill/>
            </a:ln>
          </p:spPr>
          <p:txBody>
            <a:bodyPr wrap="none" lIns="0" tIns="0" rIns="0" bIns="0" anchor="t" anchorCtr="0">
              <a:spAutoFit/>
            </a:bodyPr>
            <a:lstStyle/>
            <a:p>
              <a:pPr algn="ctr"/>
              <a:r>
                <a:rPr lang="zh-CN" sz="1120" b="1" dirty="0">
                  <a:solidFill>
                    <a:srgbClr val="C7D7F2"/>
                  </a:solidFill>
                  <a:latin typeface="Arial"/>
                  <a:ea typeface="Microsoft YaHei"/>
                  <a:cs typeface="Arial"/>
                </a:rPr>
                <a:t>水 Water</a:t>
              </a:r>
            </a:p>
          </p:txBody>
        </p:sp>
        <p:sp>
          <p:nvSpPr>
            <p:cNvPr id="14" name="TextBox 14"/>
            <p:cNvSpPr txBox="1"/>
            <p:nvPr/>
          </p:nvSpPr>
          <p:spPr>
            <a:xfrm>
              <a:off x="6059910" y="1650206"/>
              <a:ext cx="738931" cy="220028"/>
            </a:xfrm>
            <a:prstGeom prst="rect">
              <a:avLst/>
            </a:prstGeom>
            <a:noFill/>
            <a:ln>
              <a:noFill/>
            </a:ln>
          </p:spPr>
          <p:txBody>
            <a:bodyPr wrap="none" lIns="0" tIns="0" rIns="0" bIns="0" anchor="t" anchorCtr="0">
              <a:spAutoFit/>
            </a:bodyPr>
            <a:lstStyle/>
            <a:p>
              <a:pPr algn="ctr"/>
              <a:r>
                <a:rPr lang="zh-CN" sz="1120" b="1" dirty="0">
                  <a:solidFill>
                    <a:srgbClr val="FDECDD"/>
                  </a:solidFill>
                  <a:latin typeface="Arial"/>
                  <a:ea typeface="Microsoft YaHei"/>
                  <a:cs typeface="Arial"/>
                </a:rPr>
                <a:t>碳 Carbon</a:t>
              </a:r>
            </a:p>
          </p:txBody>
        </p:sp>
        <p:sp>
          <p:nvSpPr>
            <p:cNvPr id="15" name="Line 15"/>
            <p:cNvSpPr/>
            <p:nvPr/>
          </p:nvSpPr>
          <p:spPr>
            <a:xfrm>
              <a:off x="2286000" y="1943100"/>
              <a:ext cx="9525" cy="3714750"/>
            </a:xfrm>
            <a:custGeom>
              <a:avLst/>
              <a:gdLst/>
              <a:ahLst/>
              <a:cxnLst/>
              <a:rect l="l" t="t" r="r" b="b"/>
              <a:pathLst>
                <a:path w="9525" h="3714750">
                  <a:moveTo>
                    <a:pt x="0" y="0"/>
                  </a:moveTo>
                  <a:lnTo>
                    <a:pt x="0" y="3714750"/>
                  </a:lnTo>
                </a:path>
              </a:pathLst>
            </a:custGeom>
            <a:noFill/>
            <a:ln w="9525">
              <a:solidFill>
                <a:srgbClr val="D6DCE5"/>
              </a:solidFill>
            </a:ln>
          </p:spPr>
        </p:sp>
        <p:sp>
          <p:nvSpPr>
            <p:cNvPr id="16" name="Line 16"/>
            <p:cNvSpPr/>
            <p:nvPr/>
          </p:nvSpPr>
          <p:spPr>
            <a:xfrm>
              <a:off x="5048250" y="1943100"/>
              <a:ext cx="9525" cy="3714750"/>
            </a:xfrm>
            <a:custGeom>
              <a:avLst/>
              <a:gdLst/>
              <a:ahLst/>
              <a:cxnLst/>
              <a:rect l="l" t="t" r="r" b="b"/>
              <a:pathLst>
                <a:path w="9525" h="3714750">
                  <a:moveTo>
                    <a:pt x="0" y="0"/>
                  </a:moveTo>
                  <a:lnTo>
                    <a:pt x="0" y="3714750"/>
                  </a:lnTo>
                </a:path>
              </a:pathLst>
            </a:custGeom>
            <a:noFill/>
            <a:ln w="9525">
              <a:solidFill>
                <a:srgbClr val="D6DCE5"/>
              </a:solidFill>
            </a:ln>
          </p:spPr>
        </p:sp>
        <p:grpSp>
          <p:nvGrpSpPr>
            <p:cNvPr id="24" name="Group 24"/>
            <p:cNvGrpSpPr/>
            <p:nvPr/>
          </p:nvGrpSpPr>
          <p:grpSpPr>
            <a:xfrm>
              <a:off x="381000" y="1943100"/>
              <a:ext cx="6119813" cy="1238250"/>
              <a:chOff x="381000" y="1943100"/>
              <a:chExt cx="6119813" cy="1238250"/>
            </a:xfrm>
          </p:grpSpPr>
          <p:sp>
            <p:nvSpPr>
              <p:cNvPr id="17" name="Rectangle 17"/>
              <p:cNvSpPr/>
              <p:nvPr/>
            </p:nvSpPr>
            <p:spPr>
              <a:xfrm>
                <a:off x="381000" y="1943100"/>
                <a:ext cx="1905000" cy="1238250"/>
              </a:xfrm>
              <a:prstGeom prst="rect">
                <a:avLst/>
              </a:prstGeom>
              <a:solidFill>
                <a:srgbClr val="F0F5FC"/>
              </a:solidFill>
              <a:ln>
                <a:noFill/>
              </a:ln>
            </p:spPr>
          </p:sp>
          <p:sp>
            <p:nvSpPr>
              <p:cNvPr id="18" name="TextBox 18"/>
              <p:cNvSpPr txBox="1"/>
              <p:nvPr/>
            </p:nvSpPr>
            <p:spPr>
              <a:xfrm>
                <a:off x="926287" y="2327910"/>
                <a:ext cx="814426" cy="234696"/>
              </a:xfrm>
              <a:prstGeom prst="rect">
                <a:avLst/>
              </a:prstGeom>
              <a:noFill/>
              <a:ln>
                <a:noFill/>
              </a:ln>
            </p:spPr>
            <p:txBody>
              <a:bodyPr wrap="none" lIns="0" tIns="0" rIns="0" bIns="0" anchor="t" anchorCtr="0">
                <a:spAutoFit/>
              </a:bodyPr>
              <a:lstStyle/>
              <a:p>
                <a:pPr algn="ctr"/>
                <a:r>
                  <a:rPr lang="en-US" sz="1200" b="1" dirty="0">
                    <a:solidFill>
                      <a:srgbClr val="0E3F8C"/>
                    </a:solidFill>
                    <a:latin typeface="Arial"/>
                    <a:ea typeface="Arial"/>
                    <a:cs typeface="Arial"/>
                  </a:rPr>
                  <a:t>Reservoir</a:t>
                </a:r>
              </a:p>
            </p:txBody>
          </p:sp>
          <p:sp>
            <p:nvSpPr>
              <p:cNvPr id="19" name="TextBox 19"/>
              <p:cNvSpPr txBox="1"/>
              <p:nvPr/>
            </p:nvSpPr>
            <p:spPr>
              <a:xfrm>
                <a:off x="1186815" y="2591752"/>
                <a:ext cx="293370" cy="205359"/>
              </a:xfrm>
              <a:prstGeom prst="rect">
                <a:avLst/>
              </a:prstGeom>
              <a:noFill/>
              <a:ln>
                <a:noFill/>
              </a:ln>
            </p:spPr>
            <p:txBody>
              <a:bodyPr wrap="none" lIns="0" tIns="0" rIns="0" bIns="0" anchor="t" anchorCtr="0">
                <a:spAutoFit/>
              </a:bodyPr>
              <a:lstStyle/>
              <a:p>
                <a:pPr algn="ctr"/>
                <a:r>
                  <a:rPr lang="zh-CN" sz="1050" dirty="0">
                    <a:solidFill>
                      <a:srgbClr val="1A2230"/>
                    </a:solidFill>
                    <a:latin typeface="Arial"/>
                    <a:ea typeface="Microsoft YaHei"/>
                    <a:cs typeface="Arial"/>
                  </a:rPr>
                  <a:t>储库</a:t>
                </a:r>
              </a:p>
            </p:txBody>
          </p:sp>
          <p:sp>
            <p:nvSpPr>
              <p:cNvPr id="20" name="TextBox 20"/>
              <p:cNvSpPr txBox="1"/>
              <p:nvPr/>
            </p:nvSpPr>
            <p:spPr>
              <a:xfrm>
                <a:off x="2471166" y="2172652"/>
                <a:ext cx="1117473" cy="662559"/>
              </a:xfrm>
              <a:prstGeom prst="rect">
                <a:avLst/>
              </a:prstGeom>
              <a:noFill/>
              <a:ln>
                <a:noFill/>
              </a:ln>
            </p:spPr>
            <p:txBody>
              <a:bodyPr wrap="none" lIns="0" tIns="0" rIns="0" bIns="0" anchor="t" anchorCtr="0">
                <a:spAutoFit/>
              </a:bodyPr>
              <a:lstStyle/>
              <a:p>
                <a:pPr algn="l">
                  <a:lnSpc>
                    <a:spcPts val="1800"/>
                  </a:lnSpc>
                </a:pPr>
                <a:r>
                  <a:rPr lang="zh-CN" sz="1050" dirty="0">
                    <a:solidFill>
                      <a:srgbClr val="1A2230"/>
                    </a:solidFill>
                    <a:latin typeface="Arial"/>
                    <a:ea typeface="Microsoft YaHei"/>
                    <a:cs typeface="Arial"/>
                  </a:rPr>
                  <a:t>海洋 · 大气 · 冰雪</a:t>
                </a:r>
                <a:br/>
                <a:r>
                  <a:rPr lang="zh-CN" sz="1050" dirty="0">
                    <a:solidFill>
                      <a:srgbClr val="1A2230"/>
                    </a:solidFill>
                    <a:latin typeface="Arial"/>
                    <a:ea typeface="Microsoft YaHei"/>
                    <a:cs typeface="Arial"/>
                  </a:rPr>
                  <a:t>地下水 · 湖泊河流</a:t>
                </a:r>
                <a:br/>
                <a:r>
                  <a:rPr lang="zh-CN" sz="1050" dirty="0">
                    <a:solidFill>
                      <a:srgbClr val="1A2230"/>
                    </a:solidFill>
                    <a:latin typeface="Arial"/>
                    <a:ea typeface="Microsoft YaHei"/>
                    <a:cs typeface="Arial"/>
                  </a:rPr>
                  <a:t>生物圈</a:t>
                </a:r>
              </a:p>
            </p:txBody>
          </p:sp>
          <p:sp>
            <p:nvSpPr>
              <p:cNvPr id="21" name="TextBox 21"/>
              <p:cNvSpPr txBox="1"/>
              <p:nvPr/>
            </p:nvSpPr>
            <p:spPr>
              <a:xfrm>
                <a:off x="2471738" y="2912745"/>
                <a:ext cx="742371"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UE Fig. 17.1</a:t>
                </a:r>
              </a:p>
            </p:txBody>
          </p:sp>
          <p:sp>
            <p:nvSpPr>
              <p:cNvPr id="22" name="TextBox 22"/>
              <p:cNvSpPr txBox="1"/>
              <p:nvPr/>
            </p:nvSpPr>
            <p:spPr>
              <a:xfrm>
                <a:off x="5233416" y="2172652"/>
                <a:ext cx="1250823" cy="662559"/>
              </a:xfrm>
              <a:prstGeom prst="rect">
                <a:avLst/>
              </a:prstGeom>
              <a:noFill/>
              <a:ln>
                <a:noFill/>
              </a:ln>
            </p:spPr>
            <p:txBody>
              <a:bodyPr wrap="none" lIns="0" tIns="0" rIns="0" bIns="0" anchor="t" anchorCtr="0">
                <a:spAutoFit/>
              </a:bodyPr>
              <a:lstStyle/>
              <a:p>
                <a:pPr algn="l">
                  <a:lnSpc>
                    <a:spcPts val="1800"/>
                  </a:lnSpc>
                </a:pPr>
                <a:r>
                  <a:rPr lang="zh-CN" sz="1050" dirty="0">
                    <a:solidFill>
                      <a:srgbClr val="1A2230"/>
                    </a:solidFill>
                    <a:latin typeface="Arial"/>
                    <a:ea typeface="Microsoft YaHei"/>
                    <a:cs typeface="Arial"/>
                  </a:rPr>
                  <a:t>大气 · 生物圈 · 土壤</a:t>
                </a:r>
                <a:br/>
                <a:r>
                  <a:rPr lang="zh-CN" sz="1050" dirty="0">
                    <a:solidFill>
                      <a:srgbClr val="1A2230"/>
                    </a:solidFill>
                    <a:latin typeface="Arial"/>
                    <a:ea typeface="Microsoft YaHei"/>
                    <a:cs typeface="Arial"/>
                  </a:rPr>
                  <a:t>海洋 · 沉积物</a:t>
                </a:r>
                <a:br/>
                <a:r>
                  <a:rPr lang="zh-CN" sz="1050" dirty="0">
                    <a:solidFill>
                      <a:srgbClr val="1A2230"/>
                    </a:solidFill>
                    <a:latin typeface="Arial"/>
                    <a:ea typeface="Microsoft YaHei"/>
                    <a:cs typeface="Arial"/>
                  </a:rPr>
                  <a:t>岩石圈</a:t>
                </a:r>
              </a:p>
            </p:txBody>
          </p:sp>
          <p:sp>
            <p:nvSpPr>
              <p:cNvPr id="23" name="TextBox 23"/>
              <p:cNvSpPr txBox="1"/>
              <p:nvPr/>
            </p:nvSpPr>
            <p:spPr>
              <a:xfrm>
                <a:off x="5233988" y="2912745"/>
                <a:ext cx="126682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UE Fig. 12.19 (C-01)</a:t>
                </a:r>
              </a:p>
            </p:txBody>
          </p:sp>
        </p:grpSp>
        <p:sp>
          <p:nvSpPr>
            <p:cNvPr id="25" name="Line 25"/>
            <p:cNvSpPr/>
            <p:nvPr/>
          </p:nvSpPr>
          <p:spPr>
            <a:xfrm>
              <a:off x="381000" y="3181350"/>
              <a:ext cx="7429500" cy="9525"/>
            </a:xfrm>
            <a:custGeom>
              <a:avLst/>
              <a:gdLst/>
              <a:ahLst/>
              <a:cxnLst/>
              <a:rect l="l" t="t" r="r" b="b"/>
              <a:pathLst>
                <a:path w="7429500" h="9525">
                  <a:moveTo>
                    <a:pt x="0" y="0"/>
                  </a:moveTo>
                  <a:lnTo>
                    <a:pt x="7429500" y="0"/>
                  </a:lnTo>
                </a:path>
              </a:pathLst>
            </a:custGeom>
            <a:noFill/>
            <a:ln w="9525">
              <a:solidFill>
                <a:srgbClr val="D6DCE5"/>
              </a:solidFill>
            </a:ln>
          </p:spPr>
        </p:sp>
        <p:grpSp>
          <p:nvGrpSpPr>
            <p:cNvPr id="33" name="Group 33"/>
            <p:cNvGrpSpPr/>
            <p:nvPr/>
          </p:nvGrpSpPr>
          <p:grpSpPr>
            <a:xfrm>
              <a:off x="381000" y="3181350"/>
              <a:ext cx="6503587" cy="1238250"/>
              <a:chOff x="381000" y="3181350"/>
              <a:chExt cx="6503587" cy="1238250"/>
            </a:xfrm>
          </p:grpSpPr>
          <p:sp>
            <p:nvSpPr>
              <p:cNvPr id="26" name="Rectangle 26"/>
              <p:cNvSpPr/>
              <p:nvPr/>
            </p:nvSpPr>
            <p:spPr>
              <a:xfrm>
                <a:off x="381000" y="3181350"/>
                <a:ext cx="1905000" cy="1238250"/>
              </a:xfrm>
              <a:prstGeom prst="rect">
                <a:avLst/>
              </a:prstGeom>
              <a:solidFill>
                <a:srgbClr val="F0F5FC"/>
              </a:solidFill>
              <a:ln>
                <a:noFill/>
              </a:ln>
            </p:spPr>
          </p:sp>
          <p:sp>
            <p:nvSpPr>
              <p:cNvPr id="27" name="TextBox 27"/>
              <p:cNvSpPr txBox="1"/>
              <p:nvPr/>
            </p:nvSpPr>
            <p:spPr>
              <a:xfrm>
                <a:off x="1159683" y="3566160"/>
                <a:ext cx="347634" cy="234696"/>
              </a:xfrm>
              <a:prstGeom prst="rect">
                <a:avLst/>
              </a:prstGeom>
              <a:noFill/>
              <a:ln>
                <a:noFill/>
              </a:ln>
            </p:spPr>
            <p:txBody>
              <a:bodyPr wrap="none" lIns="0" tIns="0" rIns="0" bIns="0" anchor="t" anchorCtr="0">
                <a:spAutoFit/>
              </a:bodyPr>
              <a:lstStyle/>
              <a:p>
                <a:pPr algn="ctr"/>
                <a:r>
                  <a:rPr lang="en-US" sz="1200" b="1" dirty="0">
                    <a:solidFill>
                      <a:srgbClr val="0E3F8C"/>
                    </a:solidFill>
                    <a:latin typeface="Arial"/>
                    <a:ea typeface="Arial"/>
                    <a:cs typeface="Arial"/>
                  </a:rPr>
                  <a:t>Flux</a:t>
                </a:r>
              </a:p>
            </p:txBody>
          </p:sp>
          <p:sp>
            <p:nvSpPr>
              <p:cNvPr id="28" name="TextBox 28"/>
              <p:cNvSpPr txBox="1"/>
              <p:nvPr/>
            </p:nvSpPr>
            <p:spPr>
              <a:xfrm>
                <a:off x="1186815" y="3830002"/>
                <a:ext cx="293370" cy="205359"/>
              </a:xfrm>
              <a:prstGeom prst="rect">
                <a:avLst/>
              </a:prstGeom>
              <a:noFill/>
              <a:ln>
                <a:noFill/>
              </a:ln>
            </p:spPr>
            <p:txBody>
              <a:bodyPr wrap="none" lIns="0" tIns="0" rIns="0" bIns="0" anchor="t" anchorCtr="0">
                <a:spAutoFit/>
              </a:bodyPr>
              <a:lstStyle/>
              <a:p>
                <a:pPr algn="ctr"/>
                <a:r>
                  <a:rPr lang="zh-CN" sz="1050" dirty="0">
                    <a:solidFill>
                      <a:srgbClr val="1A2230"/>
                    </a:solidFill>
                    <a:latin typeface="Arial"/>
                    <a:ea typeface="Microsoft YaHei"/>
                    <a:cs typeface="Arial"/>
                  </a:rPr>
                  <a:t>通量</a:t>
                </a:r>
              </a:p>
            </p:txBody>
          </p:sp>
          <p:sp>
            <p:nvSpPr>
              <p:cNvPr id="29" name="TextBox 29"/>
              <p:cNvSpPr txBox="1"/>
              <p:nvPr/>
            </p:nvSpPr>
            <p:spPr>
              <a:xfrm>
                <a:off x="2471166" y="3410902"/>
                <a:ext cx="1117473" cy="662559"/>
              </a:xfrm>
              <a:prstGeom prst="rect">
                <a:avLst/>
              </a:prstGeom>
              <a:noFill/>
              <a:ln>
                <a:noFill/>
              </a:ln>
            </p:spPr>
            <p:txBody>
              <a:bodyPr wrap="none" lIns="0" tIns="0" rIns="0" bIns="0" anchor="t" anchorCtr="0">
                <a:spAutoFit/>
              </a:bodyPr>
              <a:lstStyle/>
              <a:p>
                <a:pPr algn="l">
                  <a:lnSpc>
                    <a:spcPts val="1800"/>
                  </a:lnSpc>
                </a:pPr>
                <a:r>
                  <a:rPr lang="zh-CN" sz="1050" dirty="0">
                    <a:solidFill>
                      <a:srgbClr val="1A2230"/>
                    </a:solidFill>
                    <a:latin typeface="Arial"/>
                    <a:ea typeface="Microsoft YaHei"/>
                    <a:cs typeface="Arial"/>
                  </a:rPr>
                  <a:t>蒸发 · 降水 · 径流</a:t>
                </a:r>
                <a:br/>
                <a:r>
                  <a:rPr lang="zh-CN" sz="1050" dirty="0">
                    <a:solidFill>
                      <a:srgbClr val="1A2230"/>
                    </a:solidFill>
                    <a:latin typeface="Arial"/>
                    <a:ea typeface="Microsoft YaHei"/>
                    <a:cs typeface="Arial"/>
                  </a:rPr>
                  <a:t>入渗 · 地下水流</a:t>
                </a:r>
                <a:br/>
                <a:r>
                  <a:rPr lang="zh-CN" sz="1050" dirty="0">
                    <a:solidFill>
                      <a:srgbClr val="1A2230"/>
                    </a:solidFill>
                    <a:latin typeface="Arial"/>
                    <a:ea typeface="Microsoft YaHei"/>
                    <a:cs typeface="Arial"/>
                  </a:rPr>
                  <a:t>蒸腾</a:t>
                </a:r>
              </a:p>
            </p:txBody>
          </p:sp>
          <p:sp>
            <p:nvSpPr>
              <p:cNvPr id="30" name="TextBox 30"/>
              <p:cNvSpPr txBox="1"/>
              <p:nvPr/>
            </p:nvSpPr>
            <p:spPr>
              <a:xfrm>
                <a:off x="2471738" y="4150995"/>
                <a:ext cx="742371"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UE Fig. 17.2</a:t>
                </a:r>
              </a:p>
            </p:txBody>
          </p:sp>
          <p:sp>
            <p:nvSpPr>
              <p:cNvPr id="31" name="TextBox 31"/>
              <p:cNvSpPr txBox="1"/>
              <p:nvPr/>
            </p:nvSpPr>
            <p:spPr>
              <a:xfrm>
                <a:off x="5233416" y="3410902"/>
                <a:ext cx="1384173" cy="662559"/>
              </a:xfrm>
              <a:prstGeom prst="rect">
                <a:avLst/>
              </a:prstGeom>
              <a:noFill/>
              <a:ln>
                <a:noFill/>
              </a:ln>
            </p:spPr>
            <p:txBody>
              <a:bodyPr wrap="none" lIns="0" tIns="0" rIns="0" bIns="0" anchor="t" anchorCtr="0">
                <a:spAutoFit/>
              </a:bodyPr>
              <a:lstStyle/>
              <a:p>
                <a:pPr algn="l">
                  <a:lnSpc>
                    <a:spcPts val="1800"/>
                  </a:lnSpc>
                </a:pPr>
                <a:r>
                  <a:rPr lang="zh-CN" sz="1050" dirty="0">
                    <a:solidFill>
                      <a:srgbClr val="1A2230"/>
                    </a:solidFill>
                    <a:latin typeface="Arial"/>
                    <a:ea typeface="Microsoft YaHei"/>
                    <a:cs typeface="Arial"/>
                  </a:rPr>
                  <a:t>光合作用 · 呼吸 · 分解</a:t>
                </a:r>
                <a:br/>
                <a:r>
                  <a:rPr lang="zh-CN" sz="1050" dirty="0">
                    <a:solidFill>
                      <a:srgbClr val="1A2230"/>
                    </a:solidFill>
                    <a:latin typeface="Arial"/>
                    <a:ea typeface="Microsoft YaHei"/>
                    <a:cs typeface="Arial"/>
                  </a:rPr>
                  <a:t>海气交换 · 风化</a:t>
                </a:r>
                <a:br/>
                <a:r>
                  <a:rPr lang="zh-CN" sz="1050" dirty="0">
                    <a:solidFill>
                      <a:srgbClr val="1A2230"/>
                    </a:solidFill>
                    <a:latin typeface="Arial"/>
                    <a:ea typeface="Microsoft YaHei"/>
                    <a:cs typeface="Arial"/>
                  </a:rPr>
                  <a:t>埋藏 · 火山脱气</a:t>
                </a:r>
              </a:p>
            </p:txBody>
          </p:sp>
          <p:sp>
            <p:nvSpPr>
              <p:cNvPr id="32" name="TextBox 32"/>
              <p:cNvSpPr txBox="1"/>
              <p:nvPr/>
            </p:nvSpPr>
            <p:spPr>
              <a:xfrm>
                <a:off x="5233988" y="4150995"/>
                <a:ext cx="1650599"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UE Fig. 12.19; CN Fig. 4-16</a:t>
                </a:r>
              </a:p>
            </p:txBody>
          </p:sp>
        </p:grpSp>
        <p:sp>
          <p:nvSpPr>
            <p:cNvPr id="34" name="Line 34"/>
            <p:cNvSpPr/>
            <p:nvPr/>
          </p:nvSpPr>
          <p:spPr>
            <a:xfrm>
              <a:off x="381000" y="4419600"/>
              <a:ext cx="7429500" cy="9525"/>
            </a:xfrm>
            <a:custGeom>
              <a:avLst/>
              <a:gdLst/>
              <a:ahLst/>
              <a:cxnLst/>
              <a:rect l="l" t="t" r="r" b="b"/>
              <a:pathLst>
                <a:path w="7429500" h="9525">
                  <a:moveTo>
                    <a:pt x="0" y="0"/>
                  </a:moveTo>
                  <a:lnTo>
                    <a:pt x="7429500" y="0"/>
                  </a:lnTo>
                </a:path>
              </a:pathLst>
            </a:custGeom>
            <a:noFill/>
            <a:ln w="9525">
              <a:solidFill>
                <a:srgbClr val="D6DCE5"/>
              </a:solidFill>
            </a:ln>
          </p:spPr>
        </p:sp>
        <p:grpSp>
          <p:nvGrpSpPr>
            <p:cNvPr id="43" name="Group 43"/>
            <p:cNvGrpSpPr/>
            <p:nvPr/>
          </p:nvGrpSpPr>
          <p:grpSpPr>
            <a:xfrm>
              <a:off x="381000" y="4419600"/>
              <a:ext cx="6699543" cy="1238250"/>
              <a:chOff x="381000" y="4419600"/>
              <a:chExt cx="6699543" cy="1238250"/>
            </a:xfrm>
          </p:grpSpPr>
          <p:sp>
            <p:nvSpPr>
              <p:cNvPr id="35" name="Rectangle 35"/>
              <p:cNvSpPr/>
              <p:nvPr/>
            </p:nvSpPr>
            <p:spPr>
              <a:xfrm>
                <a:off x="381000" y="4419600"/>
                <a:ext cx="1905000" cy="1238250"/>
              </a:xfrm>
              <a:prstGeom prst="rect">
                <a:avLst/>
              </a:prstGeom>
              <a:solidFill>
                <a:srgbClr val="F0F5FC"/>
              </a:solidFill>
              <a:ln>
                <a:noFill/>
              </a:ln>
            </p:spPr>
          </p:sp>
          <p:sp>
            <p:nvSpPr>
              <p:cNvPr id="36" name="TextBox 36"/>
              <p:cNvSpPr txBox="1"/>
              <p:nvPr/>
            </p:nvSpPr>
            <p:spPr>
              <a:xfrm>
                <a:off x="926287" y="4728210"/>
                <a:ext cx="814426" cy="234696"/>
              </a:xfrm>
              <a:prstGeom prst="rect">
                <a:avLst/>
              </a:prstGeom>
              <a:noFill/>
              <a:ln>
                <a:noFill/>
              </a:ln>
            </p:spPr>
            <p:txBody>
              <a:bodyPr wrap="none" lIns="0" tIns="0" rIns="0" bIns="0" anchor="t" anchorCtr="0">
                <a:spAutoFit/>
              </a:bodyPr>
              <a:lstStyle/>
              <a:p>
                <a:pPr algn="ctr"/>
                <a:r>
                  <a:rPr lang="en-US" sz="1200" b="1" dirty="0">
                    <a:solidFill>
                      <a:srgbClr val="0E3F8C"/>
                    </a:solidFill>
                    <a:latin typeface="Arial"/>
                    <a:ea typeface="Arial"/>
                    <a:cs typeface="Arial"/>
                  </a:rPr>
                  <a:t>Residence</a:t>
                </a:r>
              </a:p>
            </p:txBody>
          </p:sp>
          <p:sp>
            <p:nvSpPr>
              <p:cNvPr id="37" name="TextBox 37"/>
              <p:cNvSpPr txBox="1"/>
              <p:nvPr/>
            </p:nvSpPr>
            <p:spPr>
              <a:xfrm>
                <a:off x="1142481" y="4937760"/>
                <a:ext cx="382038" cy="234696"/>
              </a:xfrm>
              <a:prstGeom prst="rect">
                <a:avLst/>
              </a:prstGeom>
              <a:noFill/>
              <a:ln>
                <a:noFill/>
              </a:ln>
            </p:spPr>
            <p:txBody>
              <a:bodyPr wrap="none" lIns="0" tIns="0" rIns="0" bIns="0" anchor="t" anchorCtr="0">
                <a:spAutoFit/>
              </a:bodyPr>
              <a:lstStyle/>
              <a:p>
                <a:pPr algn="ctr"/>
                <a:r>
                  <a:rPr lang="en-US" sz="1200" b="1" dirty="0">
                    <a:solidFill>
                      <a:srgbClr val="0E3F8C"/>
                    </a:solidFill>
                    <a:latin typeface="Arial"/>
                    <a:ea typeface="Arial"/>
                    <a:cs typeface="Arial"/>
                  </a:rPr>
                  <a:t>Time</a:t>
                </a:r>
              </a:p>
            </p:txBody>
          </p:sp>
          <p:sp>
            <p:nvSpPr>
              <p:cNvPr id="38" name="TextBox 38"/>
              <p:cNvSpPr txBox="1"/>
              <p:nvPr/>
            </p:nvSpPr>
            <p:spPr>
              <a:xfrm>
                <a:off x="1045464" y="5201602"/>
                <a:ext cx="576072" cy="205359"/>
              </a:xfrm>
              <a:prstGeom prst="rect">
                <a:avLst/>
              </a:prstGeom>
              <a:noFill/>
              <a:ln>
                <a:noFill/>
              </a:ln>
            </p:spPr>
            <p:txBody>
              <a:bodyPr wrap="none" lIns="0" tIns="0" rIns="0" bIns="0" anchor="t" anchorCtr="0">
                <a:spAutoFit/>
              </a:bodyPr>
              <a:lstStyle/>
              <a:p>
                <a:pPr algn="ctr"/>
                <a:r>
                  <a:rPr lang="zh-CN" sz="1050" dirty="0">
                    <a:solidFill>
                      <a:srgbClr val="1A2230"/>
                    </a:solidFill>
                    <a:latin typeface="Arial"/>
                    <a:ea typeface="Microsoft YaHei"/>
                    <a:cs typeface="Arial"/>
                  </a:rPr>
                  <a:t>停留时间</a:t>
                </a:r>
              </a:p>
            </p:txBody>
          </p:sp>
          <p:sp>
            <p:nvSpPr>
              <p:cNvPr id="39" name="TextBox 39"/>
              <p:cNvSpPr txBox="1"/>
              <p:nvPr/>
            </p:nvSpPr>
            <p:spPr>
              <a:xfrm>
                <a:off x="2471166" y="4649152"/>
                <a:ext cx="1744218" cy="433959"/>
              </a:xfrm>
              <a:prstGeom prst="rect">
                <a:avLst/>
              </a:prstGeom>
              <a:noFill/>
              <a:ln>
                <a:noFill/>
              </a:ln>
            </p:spPr>
            <p:txBody>
              <a:bodyPr wrap="none" lIns="0" tIns="0" rIns="0" bIns="0" anchor="t" anchorCtr="0">
                <a:spAutoFit/>
              </a:bodyPr>
              <a:lstStyle/>
              <a:p>
                <a:pPr algn="l">
                  <a:lnSpc>
                    <a:spcPts val="1800"/>
                  </a:lnSpc>
                </a:pPr>
                <a:r>
                  <a:rPr lang="zh-CN" sz="1050" dirty="0">
                    <a:solidFill>
                      <a:srgbClr val="1A2230"/>
                    </a:solidFill>
                    <a:latin typeface="Arial"/>
                    <a:ea typeface="Microsoft YaHei"/>
                    <a:cs typeface="Arial"/>
                  </a:rPr>
                  <a:t>不同储库时钟差异大：</a:t>
                </a:r>
                <a:br/>
                <a:r>
                  <a:rPr lang="zh-CN" sz="1050" dirty="0">
                    <a:solidFill>
                      <a:srgbClr val="1A2230"/>
                    </a:solidFill>
                    <a:latin typeface="Arial"/>
                    <a:ea typeface="Microsoft YaHei"/>
                    <a:cs typeface="Arial"/>
                  </a:rPr>
                  <a:t>大气以日计，海洋以千年计。</a:t>
                </a:r>
              </a:p>
            </p:txBody>
          </p:sp>
          <p:sp>
            <p:nvSpPr>
              <p:cNvPr id="40" name="TextBox 40"/>
              <p:cNvSpPr txBox="1"/>
              <p:nvPr/>
            </p:nvSpPr>
            <p:spPr>
              <a:xfrm>
                <a:off x="2471738" y="5293995"/>
                <a:ext cx="210258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CN 表 3-1（定性引用，不合并数值）</a:t>
                </a:r>
              </a:p>
            </p:txBody>
          </p:sp>
          <p:sp>
            <p:nvSpPr>
              <p:cNvPr id="41" name="TextBox 41"/>
              <p:cNvSpPr txBox="1"/>
              <p:nvPr/>
            </p:nvSpPr>
            <p:spPr>
              <a:xfrm>
                <a:off x="5233416" y="4649152"/>
                <a:ext cx="1417510" cy="662559"/>
              </a:xfrm>
              <a:prstGeom prst="rect">
                <a:avLst/>
              </a:prstGeom>
              <a:noFill/>
              <a:ln>
                <a:noFill/>
              </a:ln>
            </p:spPr>
            <p:txBody>
              <a:bodyPr wrap="none" lIns="0" tIns="0" rIns="0" bIns="0" anchor="t" anchorCtr="0">
                <a:spAutoFit/>
              </a:bodyPr>
              <a:lstStyle/>
              <a:p>
                <a:pPr algn="l">
                  <a:lnSpc>
                    <a:spcPts val="1800"/>
                  </a:lnSpc>
                </a:pPr>
                <a:r>
                  <a:rPr lang="zh-CN" sz="1050" dirty="0">
                    <a:solidFill>
                      <a:srgbClr val="1A2230"/>
                    </a:solidFill>
                    <a:latin typeface="Arial"/>
                    <a:ea typeface="Microsoft YaHei"/>
                    <a:cs typeface="Arial"/>
                  </a:rPr>
                  <a:t>快路径（生物/海气）与</a:t>
                </a:r>
                <a:br/>
                <a:r>
                  <a:rPr lang="zh-CN" sz="1050" dirty="0">
                    <a:solidFill>
                      <a:srgbClr val="1A2230"/>
                    </a:solidFill>
                    <a:latin typeface="Arial"/>
                    <a:ea typeface="Microsoft YaHei"/>
                    <a:cs typeface="Arial"/>
                  </a:rPr>
                  <a:t>慢路径（地质）并存，</a:t>
                </a:r>
                <a:br/>
                <a:r>
                  <a:rPr lang="zh-CN" sz="1050" dirty="0">
                    <a:solidFill>
                      <a:srgbClr val="1A2230"/>
                    </a:solidFill>
                    <a:latin typeface="Arial"/>
                    <a:ea typeface="Microsoft YaHei"/>
                    <a:cs typeface="Arial"/>
                  </a:rPr>
                  <a:t>时钟跨越多个数量级。</a:t>
                </a:r>
              </a:p>
            </p:txBody>
          </p:sp>
          <p:sp>
            <p:nvSpPr>
              <p:cNvPr id="42" name="TextBox 42"/>
              <p:cNvSpPr txBox="1"/>
              <p:nvPr/>
            </p:nvSpPr>
            <p:spPr>
              <a:xfrm>
                <a:off x="5233988" y="5427345"/>
                <a:ext cx="184655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UE pp.1209–1213; CN Fig. 4-15</a:t>
                </a:r>
              </a:p>
            </p:txBody>
          </p:sp>
        </p:grpSp>
      </p:grpSp>
      <p:grpSp>
        <p:nvGrpSpPr>
          <p:cNvPr id="74" name="Group 74"/>
          <p:cNvGrpSpPr/>
          <p:nvPr/>
        </p:nvGrpSpPr>
        <p:grpSpPr>
          <a:xfrm>
            <a:off x="8001000" y="1466850"/>
            <a:ext cx="3810000" cy="4191000"/>
            <a:chOff x="8001000" y="1466850"/>
            <a:chExt cx="3810000" cy="4191000"/>
          </a:xfrm>
        </p:grpSpPr>
        <p:sp>
          <p:nvSpPr>
            <p:cNvPr id="45" name="Rectangle 45"/>
            <p:cNvSpPr/>
            <p:nvPr/>
          </p:nvSpPr>
          <p:spPr>
            <a:xfrm>
              <a:off x="8001000" y="1466850"/>
              <a:ext cx="3810000" cy="4191000"/>
            </a:xfrm>
            <a:prstGeom prst="roundRect">
              <a:avLst>
                <a:gd name="adj" fmla="val 3000"/>
              </a:avLst>
            </a:prstGeom>
            <a:solidFill>
              <a:srgbClr val="FDF4EF"/>
            </a:solidFill>
            <a:ln w="9525">
              <a:solidFill>
                <a:srgbClr val="F0CFC2"/>
              </a:solidFill>
            </a:ln>
          </p:spPr>
        </p:sp>
        <p:sp>
          <p:nvSpPr>
            <p:cNvPr id="46" name="TextBox 46"/>
            <p:cNvSpPr txBox="1"/>
            <p:nvPr/>
          </p:nvSpPr>
          <p:spPr>
            <a:xfrm>
              <a:off x="8242935" y="1669256"/>
              <a:ext cx="2039053"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Arial"/>
                  <a:ea typeface="Microsoft YaHei"/>
                  <a:cs typeface="Arial"/>
                </a:rPr>
                <a:t>时钟对比 | Clock difference</a:t>
              </a:r>
            </a:p>
          </p:txBody>
        </p:sp>
        <p:grpSp>
          <p:nvGrpSpPr>
            <p:cNvPr id="55" name="Group 55"/>
            <p:cNvGrpSpPr/>
            <p:nvPr/>
          </p:nvGrpSpPr>
          <p:grpSpPr>
            <a:xfrm>
              <a:off x="8248650" y="1962150"/>
              <a:ext cx="3314700" cy="1181100"/>
              <a:chOff x="8248650" y="1962150"/>
              <a:chExt cx="3314700" cy="1181100"/>
            </a:xfrm>
          </p:grpSpPr>
          <p:sp>
            <p:nvSpPr>
              <p:cNvPr id="47" name="Rectangle 47"/>
              <p:cNvSpPr/>
              <p:nvPr/>
            </p:nvSpPr>
            <p:spPr>
              <a:xfrm>
                <a:off x="8248650" y="1962150"/>
                <a:ext cx="3314700" cy="1181100"/>
              </a:xfrm>
              <a:prstGeom prst="roundRect">
                <a:avLst>
                  <a:gd name="adj" fmla="val 9677"/>
                </a:avLst>
              </a:prstGeom>
              <a:solidFill>
                <a:srgbClr val="FFFFFF"/>
              </a:solidFill>
              <a:ln w="19050">
                <a:solidFill>
                  <a:srgbClr val="1E4FA8"/>
                </a:solidFill>
              </a:ln>
            </p:spPr>
          </p:sp>
          <p:sp>
            <p:nvSpPr>
              <p:cNvPr id="48" name="Ellipse 48"/>
              <p:cNvSpPr/>
              <p:nvPr/>
            </p:nvSpPr>
            <p:spPr>
              <a:xfrm>
                <a:off x="8439150" y="2171700"/>
                <a:ext cx="647700" cy="647700"/>
              </a:xfrm>
              <a:prstGeom prst="ellipse">
                <a:avLst/>
              </a:prstGeom>
              <a:solidFill>
                <a:srgbClr val="F0F5FC"/>
              </a:solidFill>
              <a:ln w="28575">
                <a:solidFill>
                  <a:srgbClr val="1E4FA8"/>
                </a:solidFill>
              </a:ln>
            </p:spPr>
          </p:sp>
          <p:sp>
            <p:nvSpPr>
              <p:cNvPr id="49" name="Line 49"/>
              <p:cNvSpPr/>
              <p:nvPr/>
            </p:nvSpPr>
            <p:spPr>
              <a:xfrm>
                <a:off x="8763000" y="2266950"/>
                <a:ext cx="9525" cy="228600"/>
              </a:xfrm>
              <a:custGeom>
                <a:avLst/>
                <a:gdLst/>
                <a:ahLst/>
                <a:cxnLst/>
                <a:rect l="l" t="t" r="r" b="b"/>
                <a:pathLst>
                  <a:path w="9525" h="228600">
                    <a:moveTo>
                      <a:pt x="0" y="228600"/>
                    </a:moveTo>
                    <a:lnTo>
                      <a:pt x="0" y="0"/>
                    </a:lnTo>
                  </a:path>
                </a:pathLst>
              </a:custGeom>
              <a:noFill/>
              <a:ln w="28575">
                <a:solidFill>
                  <a:srgbClr val="1E4FA8"/>
                </a:solidFill>
              </a:ln>
            </p:spPr>
          </p:sp>
          <p:sp>
            <p:nvSpPr>
              <p:cNvPr id="50" name="Line 50"/>
              <p:cNvSpPr/>
              <p:nvPr/>
            </p:nvSpPr>
            <p:spPr>
              <a:xfrm>
                <a:off x="8763000" y="2495550"/>
                <a:ext cx="171450" cy="95250"/>
              </a:xfrm>
              <a:custGeom>
                <a:avLst/>
                <a:gdLst/>
                <a:ahLst/>
                <a:cxnLst/>
                <a:rect l="l" t="t" r="r" b="b"/>
                <a:pathLst>
                  <a:path w="171450" h="95250">
                    <a:moveTo>
                      <a:pt x="0" y="0"/>
                    </a:moveTo>
                    <a:lnTo>
                      <a:pt x="171450" y="95250"/>
                    </a:lnTo>
                  </a:path>
                </a:pathLst>
              </a:custGeom>
              <a:noFill/>
              <a:ln w="28575">
                <a:solidFill>
                  <a:srgbClr val="1E4FA8"/>
                </a:solidFill>
              </a:ln>
            </p:spPr>
          </p:sp>
          <p:sp>
            <p:nvSpPr>
              <p:cNvPr id="51" name="TextBox 51"/>
              <p:cNvSpPr txBox="1"/>
              <p:nvPr/>
            </p:nvSpPr>
            <p:spPr>
              <a:xfrm>
                <a:off x="9252585" y="2202656"/>
                <a:ext cx="684254"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水 Water</a:t>
                </a:r>
              </a:p>
            </p:txBody>
          </p:sp>
          <p:sp>
            <p:nvSpPr>
              <p:cNvPr id="52" name="TextBox 52"/>
              <p:cNvSpPr txBox="1"/>
              <p:nvPr/>
            </p:nvSpPr>
            <p:spPr>
              <a:xfrm>
                <a:off x="9253347" y="2447449"/>
                <a:ext cx="1461110"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单一物质，多个储库时钟</a:t>
                </a:r>
              </a:p>
            </p:txBody>
          </p:sp>
          <p:sp>
            <p:nvSpPr>
              <p:cNvPr id="53" name="TextBox 53"/>
              <p:cNvSpPr txBox="1"/>
              <p:nvPr/>
            </p:nvSpPr>
            <p:spPr>
              <a:xfrm>
                <a:off x="9253347" y="2656999"/>
                <a:ext cx="1593037"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从日到千年，差异来自储库</a:t>
                </a:r>
              </a:p>
            </p:txBody>
          </p:sp>
          <p:sp>
            <p:nvSpPr>
              <p:cNvPr id="54" name="TextBox 54"/>
              <p:cNvSpPr txBox="1"/>
              <p:nvPr/>
            </p:nvSpPr>
            <p:spPr>
              <a:xfrm>
                <a:off x="9253538" y="2882741"/>
                <a:ext cx="1525737" cy="161925"/>
              </a:xfrm>
              <a:prstGeom prst="rect">
                <a:avLst/>
              </a:prstGeom>
              <a:noFill/>
              <a:ln>
                <a:noFill/>
              </a:ln>
            </p:spPr>
            <p:txBody>
              <a:bodyPr wrap="none" lIns="0" tIns="0" rIns="0" bIns="0" anchor="t" anchorCtr="0">
                <a:spAutoFit/>
              </a:bodyPr>
              <a:lstStyle/>
              <a:p>
                <a:pPr algn="l"/>
                <a:r>
                  <a:rPr lang="en-US" sz="820" dirty="0">
                    <a:solidFill>
                      <a:srgbClr val="4A5568"/>
                    </a:solidFill>
                    <a:latin typeface="Arial"/>
                    <a:ea typeface="Arial"/>
                    <a:cs typeface="Arial"/>
                  </a:rPr>
                  <a:t>One substance, many clocks</a:t>
                </a:r>
              </a:p>
            </p:txBody>
          </p:sp>
        </p:grpSp>
        <p:grpSp>
          <p:nvGrpSpPr>
            <p:cNvPr id="70" name="Group 70"/>
            <p:cNvGrpSpPr/>
            <p:nvPr/>
          </p:nvGrpSpPr>
          <p:grpSpPr>
            <a:xfrm>
              <a:off x="8248650" y="3276600"/>
              <a:ext cx="3314700" cy="1485900"/>
              <a:chOff x="8248650" y="3276600"/>
              <a:chExt cx="3314700" cy="1485900"/>
            </a:xfrm>
          </p:grpSpPr>
          <p:sp>
            <p:nvSpPr>
              <p:cNvPr id="56" name="Rectangle 56"/>
              <p:cNvSpPr/>
              <p:nvPr/>
            </p:nvSpPr>
            <p:spPr>
              <a:xfrm>
                <a:off x="8248650" y="3276600"/>
                <a:ext cx="3314700" cy="1485900"/>
              </a:xfrm>
              <a:prstGeom prst="roundRect">
                <a:avLst>
                  <a:gd name="adj" fmla="val 7692"/>
                </a:avLst>
              </a:prstGeom>
              <a:solidFill>
                <a:srgbClr val="FFFFFF"/>
              </a:solidFill>
              <a:ln w="19050">
                <a:solidFill>
                  <a:srgbClr val="EA580C"/>
                </a:solidFill>
              </a:ln>
            </p:spPr>
          </p:sp>
          <p:sp>
            <p:nvSpPr>
              <p:cNvPr id="57" name="TextBox 57"/>
              <p:cNvSpPr txBox="1"/>
              <p:nvPr/>
            </p:nvSpPr>
            <p:spPr>
              <a:xfrm>
                <a:off x="8433435" y="3440906"/>
                <a:ext cx="738931"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Arial"/>
                    <a:ea typeface="Microsoft YaHei"/>
                    <a:cs typeface="Arial"/>
                  </a:rPr>
                  <a:t>碳 Carbon</a:t>
                </a:r>
              </a:p>
            </p:txBody>
          </p:sp>
          <p:sp>
            <p:nvSpPr>
              <p:cNvPr id="58" name="TextBox 58"/>
              <p:cNvSpPr txBox="1"/>
              <p:nvPr/>
            </p:nvSpPr>
            <p:spPr>
              <a:xfrm>
                <a:off x="8434197" y="3666649"/>
                <a:ext cx="1724965"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同一物质，快慢两套时钟并存</a:t>
                </a:r>
              </a:p>
            </p:txBody>
          </p:sp>
          <p:sp>
            <p:nvSpPr>
              <p:cNvPr id="59" name="Ellipse 59"/>
              <p:cNvSpPr/>
              <p:nvPr/>
            </p:nvSpPr>
            <p:spPr>
              <a:xfrm>
                <a:off x="8477250" y="3943350"/>
                <a:ext cx="495300" cy="495300"/>
              </a:xfrm>
              <a:prstGeom prst="ellipse">
                <a:avLst/>
              </a:prstGeom>
              <a:solidFill>
                <a:srgbClr val="FDECDD"/>
              </a:solidFill>
              <a:ln w="28575">
                <a:solidFill>
                  <a:srgbClr val="EA580C"/>
                </a:solidFill>
              </a:ln>
            </p:spPr>
          </p:sp>
          <p:sp>
            <p:nvSpPr>
              <p:cNvPr id="60" name="Line 60"/>
              <p:cNvSpPr/>
              <p:nvPr/>
            </p:nvSpPr>
            <p:spPr>
              <a:xfrm>
                <a:off x="8724900" y="4019550"/>
                <a:ext cx="9525" cy="171450"/>
              </a:xfrm>
              <a:custGeom>
                <a:avLst/>
                <a:gdLst/>
                <a:ahLst/>
                <a:cxnLst/>
                <a:rect l="l" t="t" r="r" b="b"/>
                <a:pathLst>
                  <a:path w="9525" h="171450">
                    <a:moveTo>
                      <a:pt x="0" y="171450"/>
                    </a:moveTo>
                    <a:lnTo>
                      <a:pt x="0" y="0"/>
                    </a:lnTo>
                  </a:path>
                </a:pathLst>
              </a:custGeom>
              <a:noFill/>
              <a:ln w="28575">
                <a:solidFill>
                  <a:srgbClr val="EA580C"/>
                </a:solidFill>
              </a:ln>
            </p:spPr>
          </p:sp>
          <p:sp>
            <p:nvSpPr>
              <p:cNvPr id="61" name="Line 61"/>
              <p:cNvSpPr/>
              <p:nvPr/>
            </p:nvSpPr>
            <p:spPr>
              <a:xfrm>
                <a:off x="8724900" y="4191000"/>
                <a:ext cx="133350" cy="76200"/>
              </a:xfrm>
              <a:custGeom>
                <a:avLst/>
                <a:gdLst/>
                <a:ahLst/>
                <a:cxnLst/>
                <a:rect l="l" t="t" r="r" b="b"/>
                <a:pathLst>
                  <a:path w="133350" h="76200">
                    <a:moveTo>
                      <a:pt x="0" y="0"/>
                    </a:moveTo>
                    <a:lnTo>
                      <a:pt x="133350" y="76200"/>
                    </a:lnTo>
                  </a:path>
                </a:pathLst>
              </a:custGeom>
              <a:noFill/>
              <a:ln w="28575">
                <a:solidFill>
                  <a:srgbClr val="EA580C"/>
                </a:solidFill>
              </a:ln>
            </p:spPr>
          </p:sp>
          <p:sp>
            <p:nvSpPr>
              <p:cNvPr id="62" name="TextBox 62"/>
              <p:cNvSpPr txBox="1"/>
              <p:nvPr/>
            </p:nvSpPr>
            <p:spPr>
              <a:xfrm>
                <a:off x="8524224" y="4521041"/>
                <a:ext cx="401352" cy="161925"/>
              </a:xfrm>
              <a:prstGeom prst="rect">
                <a:avLst/>
              </a:prstGeom>
              <a:noFill/>
              <a:ln>
                <a:noFill/>
              </a:ln>
            </p:spPr>
            <p:txBody>
              <a:bodyPr wrap="none" lIns="0" tIns="0" rIns="0" bIns="0" anchor="t" anchorCtr="0">
                <a:spAutoFit/>
              </a:bodyPr>
              <a:lstStyle/>
              <a:p>
                <a:pPr algn="ctr"/>
                <a:r>
                  <a:rPr lang="zh-CN" sz="820" dirty="0">
                    <a:solidFill>
                      <a:srgbClr val="C2410C"/>
                    </a:solidFill>
                    <a:latin typeface="Arial"/>
                    <a:ea typeface="Microsoft YaHei"/>
                    <a:cs typeface="Arial"/>
                  </a:rPr>
                  <a:t>快 Fast</a:t>
                </a:r>
              </a:p>
            </p:txBody>
          </p:sp>
          <p:sp>
            <p:nvSpPr>
              <p:cNvPr id="63" name="Ellipse 63"/>
              <p:cNvSpPr/>
              <p:nvPr/>
            </p:nvSpPr>
            <p:spPr>
              <a:xfrm>
                <a:off x="9334500" y="3943350"/>
                <a:ext cx="495300" cy="495300"/>
              </a:xfrm>
              <a:prstGeom prst="ellipse">
                <a:avLst/>
              </a:prstGeom>
              <a:solidFill>
                <a:srgbClr val="FDECDD"/>
              </a:solidFill>
              <a:ln w="28575">
                <a:solidFill>
                  <a:srgbClr val="7A4A33"/>
                </a:solidFill>
              </a:ln>
            </p:spPr>
          </p:sp>
          <p:sp>
            <p:nvSpPr>
              <p:cNvPr id="64" name="Line 64"/>
              <p:cNvSpPr/>
              <p:nvPr/>
            </p:nvSpPr>
            <p:spPr>
              <a:xfrm>
                <a:off x="9582150" y="3981450"/>
                <a:ext cx="9525" cy="209550"/>
              </a:xfrm>
              <a:custGeom>
                <a:avLst/>
                <a:gdLst/>
                <a:ahLst/>
                <a:cxnLst/>
                <a:rect l="l" t="t" r="r" b="b"/>
                <a:pathLst>
                  <a:path w="9525" h="209550">
                    <a:moveTo>
                      <a:pt x="0" y="209550"/>
                    </a:moveTo>
                    <a:lnTo>
                      <a:pt x="0" y="0"/>
                    </a:lnTo>
                  </a:path>
                </a:pathLst>
              </a:custGeom>
              <a:noFill/>
              <a:ln w="28575">
                <a:solidFill>
                  <a:srgbClr val="7A4A33"/>
                </a:solidFill>
              </a:ln>
            </p:spPr>
          </p:sp>
          <p:sp>
            <p:nvSpPr>
              <p:cNvPr id="65" name="Line 65"/>
              <p:cNvSpPr/>
              <p:nvPr/>
            </p:nvSpPr>
            <p:spPr>
              <a:xfrm>
                <a:off x="9582150" y="4191000"/>
                <a:ext cx="152400" cy="114300"/>
              </a:xfrm>
              <a:custGeom>
                <a:avLst/>
                <a:gdLst/>
                <a:ahLst/>
                <a:cxnLst/>
                <a:rect l="l" t="t" r="r" b="b"/>
                <a:pathLst>
                  <a:path w="152400" h="114300">
                    <a:moveTo>
                      <a:pt x="0" y="0"/>
                    </a:moveTo>
                    <a:lnTo>
                      <a:pt x="152400" y="114300"/>
                    </a:lnTo>
                  </a:path>
                </a:pathLst>
              </a:custGeom>
              <a:noFill/>
              <a:ln w="28575">
                <a:solidFill>
                  <a:srgbClr val="7A4A33"/>
                </a:solidFill>
              </a:ln>
            </p:spPr>
          </p:sp>
          <p:sp>
            <p:nvSpPr>
              <p:cNvPr id="66" name="TextBox 66"/>
              <p:cNvSpPr txBox="1"/>
              <p:nvPr/>
            </p:nvSpPr>
            <p:spPr>
              <a:xfrm>
                <a:off x="9384273" y="4521041"/>
                <a:ext cx="395754" cy="161925"/>
              </a:xfrm>
              <a:prstGeom prst="rect">
                <a:avLst/>
              </a:prstGeom>
              <a:noFill/>
              <a:ln>
                <a:noFill/>
              </a:ln>
            </p:spPr>
            <p:txBody>
              <a:bodyPr wrap="none" lIns="0" tIns="0" rIns="0" bIns="0" anchor="t" anchorCtr="0">
                <a:spAutoFit/>
              </a:bodyPr>
              <a:lstStyle/>
              <a:p>
                <a:pPr algn="ctr"/>
                <a:r>
                  <a:rPr lang="zh-CN" sz="820" dirty="0">
                    <a:solidFill>
                      <a:srgbClr val="7A4A33"/>
                    </a:solidFill>
                    <a:latin typeface="Arial"/>
                    <a:ea typeface="Microsoft YaHei"/>
                    <a:cs typeface="Arial"/>
                  </a:rPr>
                  <a:t>慢 Slow</a:t>
                </a:r>
              </a:p>
            </p:txBody>
          </p:sp>
          <p:sp>
            <p:nvSpPr>
              <p:cNvPr id="67" name="TextBox 67"/>
              <p:cNvSpPr txBox="1"/>
              <p:nvPr/>
            </p:nvSpPr>
            <p:spPr>
              <a:xfrm>
                <a:off x="10091738" y="4036695"/>
                <a:ext cx="633489" cy="176212"/>
              </a:xfrm>
              <a:prstGeom prst="rect">
                <a:avLst/>
              </a:prstGeom>
              <a:noFill/>
              <a:ln>
                <a:noFill/>
              </a:ln>
            </p:spPr>
            <p:txBody>
              <a:bodyPr wrap="none" lIns="0" tIns="0" rIns="0" bIns="0" anchor="t" anchorCtr="0">
                <a:spAutoFit/>
              </a:bodyPr>
              <a:lstStyle/>
              <a:p>
                <a:pPr algn="l"/>
                <a:r>
                  <a:rPr lang="zh-CN" sz="900" dirty="0">
                    <a:solidFill>
                      <a:srgbClr val="1A2230"/>
                    </a:solidFill>
                    <a:latin typeface="Arial"/>
                    <a:ea typeface="Microsoft YaHei"/>
                    <a:cs typeface="Arial"/>
                  </a:rPr>
                  <a:t>生物 / 海气</a:t>
                </a:r>
              </a:p>
            </p:txBody>
          </p:sp>
          <p:sp>
            <p:nvSpPr>
              <p:cNvPr id="68" name="TextBox 68"/>
              <p:cNvSpPr txBox="1"/>
              <p:nvPr/>
            </p:nvSpPr>
            <p:spPr>
              <a:xfrm>
                <a:off x="10091738" y="4246245"/>
                <a:ext cx="421462" cy="176212"/>
              </a:xfrm>
              <a:prstGeom prst="rect">
                <a:avLst/>
              </a:prstGeom>
              <a:noFill/>
              <a:ln>
                <a:noFill/>
              </a:ln>
            </p:spPr>
            <p:txBody>
              <a:bodyPr wrap="none" lIns="0" tIns="0" rIns="0" bIns="0" anchor="t" anchorCtr="0">
                <a:spAutoFit/>
              </a:bodyPr>
              <a:lstStyle/>
              <a:p>
                <a:pPr algn="l"/>
                <a:r>
                  <a:rPr lang="zh-CN" sz="900" dirty="0">
                    <a:solidFill>
                      <a:srgbClr val="1A2230"/>
                    </a:solidFill>
                    <a:latin typeface="Arial"/>
                    <a:ea typeface="Microsoft YaHei"/>
                    <a:cs typeface="Arial"/>
                  </a:rPr>
                  <a:t>vs 地质</a:t>
                </a:r>
              </a:p>
            </p:txBody>
          </p:sp>
          <p:sp>
            <p:nvSpPr>
              <p:cNvPr id="69" name="TextBox 69"/>
              <p:cNvSpPr txBox="1"/>
              <p:nvPr/>
            </p:nvSpPr>
            <p:spPr>
              <a:xfrm>
                <a:off x="10091738" y="4463891"/>
                <a:ext cx="1084081" cy="161925"/>
              </a:xfrm>
              <a:prstGeom prst="rect">
                <a:avLst/>
              </a:prstGeom>
              <a:noFill/>
              <a:ln>
                <a:noFill/>
              </a:ln>
            </p:spPr>
            <p:txBody>
              <a:bodyPr wrap="none" lIns="0" tIns="0" rIns="0" bIns="0" anchor="t" anchorCtr="0">
                <a:spAutoFit/>
              </a:bodyPr>
              <a:lstStyle/>
              <a:p>
                <a:pPr algn="l"/>
                <a:r>
                  <a:rPr lang="en-US" sz="820" dirty="0">
                    <a:solidFill>
                      <a:srgbClr val="4A5568"/>
                    </a:solidFill>
                    <a:latin typeface="Arial"/>
                    <a:ea typeface="Arial"/>
                    <a:cs typeface="Arial"/>
                  </a:rPr>
                  <a:t>Fast bio vs slow geo</a:t>
                </a:r>
              </a:p>
            </p:txBody>
          </p:sp>
        </p:grpSp>
        <p:sp>
          <p:nvSpPr>
            <p:cNvPr id="71" name="Rectangle 71"/>
            <p:cNvSpPr/>
            <p:nvPr/>
          </p:nvSpPr>
          <p:spPr>
            <a:xfrm>
              <a:off x="8248650" y="4933950"/>
              <a:ext cx="3314700" cy="552450"/>
            </a:xfrm>
            <a:prstGeom prst="roundRect">
              <a:avLst>
                <a:gd name="adj" fmla="val 17241"/>
              </a:avLst>
            </a:prstGeom>
            <a:solidFill>
              <a:srgbClr val="FDECDD"/>
            </a:solidFill>
            <a:ln w="9525">
              <a:solidFill>
                <a:srgbClr val="F0CFC2"/>
              </a:solidFill>
            </a:ln>
          </p:spPr>
        </p:sp>
        <p:sp>
          <p:nvSpPr>
            <p:cNvPr id="72" name="TextBox 72"/>
            <p:cNvSpPr txBox="1"/>
            <p:nvPr/>
          </p:nvSpPr>
          <p:spPr>
            <a:xfrm>
              <a:off x="9373337" y="5057299"/>
              <a:ext cx="1065327" cy="190690"/>
            </a:xfrm>
            <a:prstGeom prst="rect">
              <a:avLst/>
            </a:prstGeom>
            <a:noFill/>
            <a:ln>
              <a:noFill/>
            </a:ln>
          </p:spPr>
          <p:txBody>
            <a:bodyPr wrap="none" lIns="0" tIns="0" rIns="0" bIns="0" anchor="t" anchorCtr="0">
              <a:spAutoFit/>
            </a:bodyPr>
            <a:lstStyle/>
            <a:p>
              <a:pPr algn="ctr"/>
              <a:r>
                <a:rPr lang="zh-CN" sz="980" b="1" dirty="0">
                  <a:solidFill>
                    <a:srgbClr val="C2410C"/>
                  </a:solidFill>
                  <a:latin typeface="Arial"/>
                  <a:ea typeface="Microsoft YaHei"/>
                  <a:cs typeface="Arial"/>
                </a:rPr>
                <a:t>本页只做定性对齐</a:t>
              </a:r>
            </a:p>
          </p:txBody>
        </p:sp>
        <p:sp>
          <p:nvSpPr>
            <p:cNvPr id="73" name="TextBox 73"/>
            <p:cNvSpPr txBox="1"/>
            <p:nvPr/>
          </p:nvSpPr>
          <p:spPr>
            <a:xfrm>
              <a:off x="8754706" y="5255895"/>
              <a:ext cx="2302587" cy="176212"/>
            </a:xfrm>
            <a:prstGeom prst="rect">
              <a:avLst/>
            </a:prstGeom>
            <a:noFill/>
            <a:ln>
              <a:noFill/>
            </a:ln>
          </p:spPr>
          <p:txBody>
            <a:bodyPr wrap="none" lIns="0" tIns="0" rIns="0" bIns="0" anchor="t" anchorCtr="0">
              <a:spAutoFit/>
            </a:bodyPr>
            <a:lstStyle/>
            <a:p>
              <a:pPr algn="ctr"/>
              <a:r>
                <a:rPr lang="zh-CN" sz="900" dirty="0">
                  <a:solidFill>
                    <a:srgbClr val="7A4A33"/>
                  </a:solidFill>
                  <a:latin typeface="Arial"/>
                  <a:ea typeface="Microsoft YaHei"/>
                  <a:cs typeface="Arial"/>
                </a:rPr>
                <a:t>不合并成统一数值时间表 No unified table</a:t>
              </a:r>
            </a:p>
          </p:txBody>
        </p:sp>
      </p:grpSp>
      <p:sp>
        <p:nvSpPr>
          <p:cNvPr id="75" name="TextBox 75"/>
          <p:cNvSpPr txBox="1"/>
          <p:nvPr/>
        </p:nvSpPr>
        <p:spPr>
          <a:xfrm>
            <a:off x="376238" y="6532245"/>
            <a:ext cx="6536871"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UE 8e, PDF pp.1205–1206 &amp; 1209–1213; 地球系统与演变, Figs. 4-15 &amp; 4-16. Qualitative alignment only.</a:t>
            </a:r>
          </a:p>
        </p:txBody>
      </p:sp>
      <p:sp>
        <p:nvSpPr>
          <p:cNvPr id="76" name="TextBox 76"/>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24</a:t>
            </a:r>
          </a:p>
        </p:txBody>
      </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PROD-W1-QIANWEN-OFFICE-VALIDATION">
  <a:themeElements>
    <a:clrScheme name="PROD-W1-QIANWEN-OFFICE-VALIDATION">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OD-W1-QIANWEN-OFFICE-VALIDATION">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1-QIANWEN-OFFICE-VALIDATIO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PROD-W1-QIANWEN-OFFICE-VALIDATION">
  <a:themeElements>
    <a:clrScheme name="PROD-W1-QIANWEN-OFFICE-VALIDATION">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OD-W1-QIANWEN-OFFICE-VALIDATION">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1-QIANWEN-OFFICE-VALIDATIO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2026-09-11T07:41:52Z</dcterms:created>
  <dcterms:modified xsi:type="dcterms:W3CDTF">2026-09-11T07:41:52Z</dcterms:modified>
  <cp:category/>
  <cp:contentStatus/>
</cp:coreProperties>
</file>