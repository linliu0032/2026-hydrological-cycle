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问"什么在循环"，答案不只是水。先看这张图：大气圈、水圈、冰冻圈、岩石圈和生物圈，是组成气候系统的五个组分，每个组分都在储存并输送质量和能量。双向箭头表示，物质在这些储库之间持续地来回迁移；循环不是一条单向路径，而是彼此连接的迁移网络。本讲要追踪的，是表层系统最重要的两种迁移物质：水和碳。还要注意时间尺度：迁移阶段短则可以只有几小时，长则可达数百万年。记住这幅"组分加迁移"的图景，下面一页我们给出阅读一切循环的四个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这一页的四个词，是阅读所有全球循环的共同框架。第一个词，储库 reservoir：储存水或化学物质的场所或组分，比如海洋、大气、植被和岩石；水循环和碳循环共用这同一个词。第二个词，通量 flux：物质从一个储库向另一个储库的流动或输送；读图时一定要把储量单位和通量单位分开来看。第三个词，停留时间 residence time：一定量的水或某化学物质分子在储库中停留的平均时间；要特别提醒，大储库不一定更新快。第四个词，反馈 feedback：系统变化诱发的过程反过来影响初始变化，同向放大是正反馈，反向抑制是负反馈，第三部分会专门展开。同一套词既读水循环也读碳循环，而且稳态可以包含持续通量。接下来就用这个框架看第一个问题：地球的水到底在哪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地球的水在哪里？这张图只用一套数据，就是 Understanding Earth 图十七点一的水分布数据。全球总水量约等于一点四乘以十的九次方立方公里，也就是大约十四亿立方公里；在日到百年乃至地质短尺度上，总水量可以视为恒定。再看分布有多不均匀：海洋占了百分之九十五点九六，绝对主导；其次是冰川与极地冰，约百分之二点九七；再次是地下水，约百分之一点零五。其余储库各自都不足百分之一：湖泊与河流只有百分之零点零零九，大气百分之零点零零一，生物圈更是只有百分之零点零零零一。注意图上条长按占比线性绘制，极小的储库只保留了最小可见条宽，数值一律以标签为准。结论只有一句话：人类最易利用的表层淡水，只占全球水量的极小部分。下一页我们会把这个分布再拆开看：为什么最大的水库并不是可用的淡水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16_W1_QoderCN_Slides04-06_v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16_W1_QoderCN_Slides04-06_v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970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1.1 什么在循环？ | What Is Actually Cycling?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EARTH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922340" cy="357093"/>
            <a:chOff x="381000" y="914400"/>
            <a:chExt cx="59223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物质在地球系统各储库之间持续迁移，循环不是一条单向路径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38650" y="2257425"/>
            <a:ext cx="3314700" cy="2647950"/>
            <a:chOff x="4438650" y="2257425"/>
            <a:chExt cx="3314700" cy="2647950"/>
          </a:xfrm>
        </p:grpSpPr>
        <p:sp>
          <p:nvSpPr>
            <p:cNvPr id="9" name="Line 9"/>
            <p:cNvSpPr/>
            <p:nvPr/>
          </p:nvSpPr>
          <p:spPr>
            <a:xfrm flipV="1">
              <a:off x="6096000" y="2257425"/>
              <a:ext cx="1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headEnd type="triangle" w="med" len="lg"/>
              <a:tailEnd type="triangle" w="med" len="lg"/>
            </a:ln>
          </p:spPr>
        </p:sp>
        <p:sp>
          <p:nvSpPr>
            <p:cNvPr id="10" name="Line 10"/>
            <p:cNvSpPr/>
            <p:nvPr/>
          </p:nvSpPr>
          <p:spPr>
            <a:xfrm flipV="1">
              <a:off x="6981825" y="3219450"/>
              <a:ext cx="771525" cy="25717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headEnd type="triangle" w="med" len="lg"/>
              <a:tailEnd type="triangle" w="med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6648450" y="4514850"/>
              <a:ext cx="276225" cy="3905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headEnd type="triangle" w="med" len="lg"/>
              <a:tailEnd type="triangle" w="med" len="lg"/>
            </a:ln>
          </p:spPr>
        </p:sp>
        <p:sp>
          <p:nvSpPr>
            <p:cNvPr id="12" name="Line 12"/>
            <p:cNvSpPr/>
            <p:nvPr/>
          </p:nvSpPr>
          <p:spPr>
            <a:xfrm flipH="1">
              <a:off x="5267325" y="4514850"/>
              <a:ext cx="276225" cy="3905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headEnd type="triangle" w="med" len="lg"/>
              <a:tailEnd type="triangle" w="med" len="lg"/>
            </a:ln>
          </p:spPr>
        </p:sp>
        <p:sp>
          <p:nvSpPr>
            <p:cNvPr id="13" name="Line 13"/>
            <p:cNvSpPr/>
            <p:nvPr/>
          </p:nvSpPr>
          <p:spPr>
            <a:xfrm flipH="1" flipV="1">
              <a:off x="4438650" y="3219450"/>
              <a:ext cx="771525" cy="25717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headEnd type="triangle" w="med" len="lg"/>
              <a:tailEnd type="triangle" w="med" len="lg"/>
            </a:ln>
          </p:spPr>
        </p:sp>
        <p:sp>
          <p:nvSpPr>
            <p:cNvPr id="14" name="Ellipse 14"/>
            <p:cNvSpPr/>
            <p:nvPr/>
          </p:nvSpPr>
          <p:spPr>
            <a:xfrm>
              <a:off x="5276850" y="2943225"/>
              <a:ext cx="1638300" cy="163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06440" y="3446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地球系统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537" y="3723799"/>
              <a:ext cx="882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Earth System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5448" y="39604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储存与输送质量和能量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1552575"/>
            <a:ext cx="2286000" cy="609600"/>
            <a:chOff x="4953000" y="1552575"/>
            <a:chExt cx="2286000" cy="609600"/>
          </a:xfrm>
        </p:grpSpPr>
        <p:sp>
          <p:nvSpPr>
            <p:cNvPr id="19" name="Rectangle 19"/>
            <p:cNvSpPr/>
            <p:nvPr/>
          </p:nvSpPr>
          <p:spPr>
            <a:xfrm>
              <a:off x="4953000" y="1552575"/>
              <a:ext cx="2286000" cy="609600"/>
            </a:xfrm>
            <a:prstGeom prst="roundRect">
              <a:avLst>
                <a:gd name="adj" fmla="val 187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47588" y="1680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大气圈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2925" y="1961674"/>
              <a:ext cx="766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Atmosphere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48600" y="2867025"/>
            <a:ext cx="2286000" cy="609600"/>
            <a:chOff x="7848600" y="2867025"/>
            <a:chExt cx="2286000" cy="609600"/>
          </a:xfrm>
        </p:grpSpPr>
        <p:sp>
          <p:nvSpPr>
            <p:cNvPr id="23" name="Rectangle 23"/>
            <p:cNvSpPr/>
            <p:nvPr/>
          </p:nvSpPr>
          <p:spPr>
            <a:xfrm>
              <a:off x="7848600" y="2867025"/>
              <a:ext cx="2286000" cy="609600"/>
            </a:xfrm>
            <a:prstGeom prst="roundRect">
              <a:avLst>
                <a:gd name="adj" fmla="val 187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43188" y="29946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冰冻圈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21793" y="3276124"/>
              <a:ext cx="739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Cryosphere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43700" y="5000625"/>
            <a:ext cx="2286000" cy="609600"/>
            <a:chOff x="6743700" y="5000625"/>
            <a:chExt cx="2286000" cy="609600"/>
          </a:xfrm>
        </p:grpSpPr>
        <p:sp>
          <p:nvSpPr>
            <p:cNvPr id="27" name="Rectangle 27"/>
            <p:cNvSpPr/>
            <p:nvPr/>
          </p:nvSpPr>
          <p:spPr>
            <a:xfrm>
              <a:off x="6743700" y="5000625"/>
              <a:ext cx="2286000" cy="609600"/>
            </a:xfrm>
            <a:prstGeom prst="roundRect">
              <a:avLst>
                <a:gd name="adj" fmla="val 18750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19060" y="5128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0612" y="5409724"/>
              <a:ext cx="812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Hydrosphere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162300" y="5000625"/>
            <a:ext cx="2286000" cy="609600"/>
            <a:chOff x="3162300" y="5000625"/>
            <a:chExt cx="2286000" cy="609600"/>
          </a:xfrm>
        </p:grpSpPr>
        <p:sp>
          <p:nvSpPr>
            <p:cNvPr id="31" name="Rectangle 31"/>
            <p:cNvSpPr/>
            <p:nvPr/>
          </p:nvSpPr>
          <p:spPr>
            <a:xfrm>
              <a:off x="3162300" y="5000625"/>
              <a:ext cx="2286000" cy="609600"/>
            </a:xfrm>
            <a:prstGeom prst="roundRect">
              <a:avLst>
                <a:gd name="adj" fmla="val 187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56888" y="51282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岩石圈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15788" y="5409724"/>
              <a:ext cx="779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Lithosphere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057400" y="2867025"/>
            <a:ext cx="2286000" cy="609600"/>
            <a:chOff x="2057400" y="2867025"/>
            <a:chExt cx="2286000" cy="609600"/>
          </a:xfrm>
        </p:grpSpPr>
        <p:sp>
          <p:nvSpPr>
            <p:cNvPr id="35" name="Rectangle 35"/>
            <p:cNvSpPr/>
            <p:nvPr/>
          </p:nvSpPr>
          <p:spPr>
            <a:xfrm>
              <a:off x="2057400" y="2867025"/>
              <a:ext cx="2286000" cy="609600"/>
            </a:xfrm>
            <a:prstGeom prst="roundRect">
              <a:avLst>
                <a:gd name="adj" fmla="val 187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51988" y="29946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生物圈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83467" y="3276124"/>
              <a:ext cx="633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Biosphere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81000" y="5753100"/>
            <a:ext cx="11430000" cy="495300"/>
            <a:chOff x="381000" y="5753100"/>
            <a:chExt cx="11430000" cy="495300"/>
          </a:xfrm>
        </p:grpSpPr>
        <p:sp>
          <p:nvSpPr>
            <p:cNvPr id="39" name="Rectangle 39"/>
            <p:cNvSpPr/>
            <p:nvPr/>
          </p:nvSpPr>
          <p:spPr>
            <a:xfrm>
              <a:off x="381000" y="5753100"/>
              <a:ext cx="11430000" cy="495300"/>
            </a:xfrm>
            <a:prstGeom prst="roundRect">
              <a:avLst>
                <a:gd name="adj" fmla="val 23077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9600" y="586740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6707" y="5943124"/>
              <a:ext cx="4639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水 H₂O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62100" y="58674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68144" y="5943124"/>
              <a:ext cx="273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碳 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70785" y="59269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表层系统最重要的两种迁移物质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8547" y="5926931"/>
              <a:ext cx="4029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迁移阶段：数小时至数百万年 · hours to millions of years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76238" y="6532245"/>
            <a:ext cx="76812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Components of the Climate System, PDF pp.1146–1147; 地球系统与演变 Chs.3–4; EP 5e, Ch.23, PDF p.881.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727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1.2 读懂全球循环的四个词 | Four Ideas for Reading Global Cycles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1902" y="299085"/>
              <a:ext cx="1625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READING FRAMEWORK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922340" cy="357093"/>
            <a:chOff x="381000" y="914400"/>
            <a:chExt cx="59223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储库、通量、停留时间与反馈是阅读一切全球循环的共同框架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1000" y="1447800"/>
            <a:ext cx="5619750" cy="2000250"/>
            <a:chOff x="381000" y="1447800"/>
            <a:chExt cx="5619750" cy="20002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561975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90550" y="17526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2" y="18873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961" y="1732121"/>
              <a:ext cx="9637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Reservoir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3104" y="2004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93186" y="2028349"/>
              <a:ext cx="1931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物质在哪里 · Where matter is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23431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6285" y="25646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储存水或化学物质的场所或组分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28122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例：海洋、大气、植被、岩石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0951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水循环与碳循环共用同一个词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91250" y="1447800"/>
            <a:ext cx="5619750" cy="2000250"/>
            <a:chOff x="6191250" y="1447800"/>
            <a:chExt cx="561975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191250" y="1447800"/>
              <a:ext cx="561975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1752600"/>
              <a:ext cx="457200" cy="4572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9982" y="18873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22211" y="1732121"/>
              <a:ext cx="411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Flux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3354" y="2004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18271" y="2028349"/>
              <a:ext cx="191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移动多快 · How fast it moves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572250" y="23431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6535" y="2564606"/>
              <a:ext cx="18605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物质从一个储库向另一个储库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的流动或输送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7297" y="30951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储量单位与通量单位要分开读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81000" y="3676650"/>
            <a:ext cx="5619750" cy="2000250"/>
            <a:chOff x="381000" y="3676650"/>
            <a:chExt cx="5619750" cy="2000250"/>
          </a:xfrm>
        </p:grpSpPr>
        <p:sp>
          <p:nvSpPr>
            <p:cNvPr id="30" name="Rectangle 30"/>
            <p:cNvSpPr/>
            <p:nvPr/>
          </p:nvSpPr>
          <p:spPr>
            <a:xfrm>
              <a:off x="381000" y="3676650"/>
              <a:ext cx="561975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90550" y="39814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9732" y="411622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1961" y="3960971"/>
              <a:ext cx="1462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Residence Time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13104" y="4232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70609" y="4257199"/>
              <a:ext cx="1854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停留多久 · How long it stays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45720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285" y="4793456"/>
              <a:ext cx="18605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一定量的水或某化学物质分子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在储库中停留的平均时间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53239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大储库不一定更新快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191250" y="3676650"/>
            <a:ext cx="5619750" cy="2000250"/>
            <a:chOff x="6191250" y="3676650"/>
            <a:chExt cx="5619750" cy="2000250"/>
          </a:xfrm>
        </p:grpSpPr>
        <p:sp>
          <p:nvSpPr>
            <p:cNvPr id="40" name="Rectangle 40"/>
            <p:cNvSpPr/>
            <p:nvPr/>
          </p:nvSpPr>
          <p:spPr>
            <a:xfrm>
              <a:off x="6191250" y="3676650"/>
              <a:ext cx="5619750" cy="2000250"/>
            </a:xfrm>
            <a:prstGeom prst="roundRect">
              <a:avLst>
                <a:gd name="adj" fmla="val 571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400800" y="39814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982" y="411622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22211" y="3960971"/>
              <a:ext cx="9038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Feedback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23354" y="4232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53226" y="4257199"/>
              <a:ext cx="20817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方向如何 · Amplifies or opposes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572250" y="45720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6535" y="4793456"/>
              <a:ext cx="171831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系统变化诱发的过程反过来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影响初始变化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7297" y="5323999"/>
              <a:ext cx="23450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正（放大）· 负（抑制）· 第三部分展开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5867400"/>
            <a:ext cx="11430000" cy="419100"/>
            <a:chOff x="381000" y="5867400"/>
            <a:chExt cx="11430000" cy="419100"/>
          </a:xfrm>
        </p:grpSpPr>
        <p:sp>
          <p:nvSpPr>
            <p:cNvPr id="50" name="Rectangle 50"/>
            <p:cNvSpPr/>
            <p:nvPr/>
          </p:nvSpPr>
          <p:spPr>
            <a:xfrm>
              <a:off x="381000" y="5867400"/>
              <a:ext cx="11430000" cy="419100"/>
            </a:xfrm>
            <a:prstGeom prst="roundRect">
              <a:avLst>
                <a:gd name="adj" fmla="val 27273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085" y="6012656"/>
              <a:ext cx="5454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同一套词读两个循环：从</a:t>
              </a:r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水循环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</a:t>
              </a:r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碳循环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稳态 steady state 可以包含持续通量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376238" y="6532245"/>
            <a:ext cx="53060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p.1205; Ch.17, PDF pp.1647–1650; EP 5e, Ch.23, PDF p.881.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364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1.3 地球的水在哪里？ | Where Is Earth's Water?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80776" y="29908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WATER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347739" cy="357093"/>
            <a:chOff x="381000" y="914400"/>
            <a:chExt cx="63477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地球水的分布极不均匀：海洋占绝对多数，易利用的表层淡水极少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447800"/>
            <a:ext cx="6724650" cy="4781550"/>
            <a:chOff x="381000" y="1447800"/>
            <a:chExt cx="6724650" cy="47815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6724650" cy="4781550"/>
            </a:xfrm>
            <a:prstGeom prst="roundRect">
              <a:avLst>
                <a:gd name="adj" fmla="val 239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42110"/>
              <a:ext cx="3797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全球水储库分布 | Distribution of Earth's water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03885" y="1943100"/>
              <a:ext cx="6139815" cy="3584257"/>
              <a:chOff x="603885" y="1943100"/>
              <a:chExt cx="6139815" cy="3584257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552700" y="1943100"/>
                <a:ext cx="9525" cy="3562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62350">
                    <a:moveTo>
                      <a:pt x="0" y="0"/>
                    </a:moveTo>
                    <a:lnTo>
                      <a:pt x="0" y="3562350"/>
                    </a:lnTo>
                  </a:path>
                </a:pathLst>
              </a:custGeom>
              <a:noFill/>
              <a:ln w="9525">
                <a:solidFill>
                  <a:srgbClr val="B8C7DC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603885" y="2012156"/>
                <a:ext cx="6139815" cy="371951"/>
                <a:chOff x="603885" y="2012156"/>
                <a:chExt cx="6139815" cy="371951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603885" y="2012156"/>
                  <a:ext cx="31297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海洋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04838" y="2207895"/>
                  <a:ext cx="77762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Ocean &amp; seas</a:t>
                  </a:r>
                </a:p>
              </p:txBody>
            </p:sp>
            <p:sp>
              <p:nvSpPr>
                <p:cNvPr id="14" name="Rectangle 14"/>
                <p:cNvSpPr/>
                <p:nvPr/>
              </p:nvSpPr>
              <p:spPr>
                <a:xfrm>
                  <a:off x="2552700" y="2019300"/>
                  <a:ext cx="4191000" cy="2667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996790" y="2095024"/>
                  <a:ext cx="163756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95.96% · 1.40×10^9 km³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03885" y="2640806"/>
                <a:ext cx="3659957" cy="371951"/>
                <a:chOff x="603885" y="2640806"/>
                <a:chExt cx="3659957" cy="371951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603885" y="2640806"/>
                  <a:ext cx="91607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冰川与极地冰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04838" y="2836545"/>
                  <a:ext cx="113420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Glaciers &amp; polar ice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2552700" y="2647950"/>
                  <a:ext cx="129540" cy="2667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776347" y="2723674"/>
                  <a:ext cx="148749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2.97% · 4.34×10^7 km³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603885" y="3269456"/>
                <a:ext cx="3574232" cy="371951"/>
                <a:chOff x="603885" y="3269456"/>
                <a:chExt cx="3574232" cy="371951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603885" y="3269456"/>
                  <a:ext cx="46375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地下水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04838" y="3465195"/>
                  <a:ext cx="77065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Groundwater</a:t>
                  </a:r>
                </a:p>
              </p:txBody>
            </p:sp>
            <p:sp>
              <p:nvSpPr>
                <p:cNvPr id="24" name="Rectangle 24"/>
                <p:cNvSpPr/>
                <p:nvPr/>
              </p:nvSpPr>
              <p:spPr>
                <a:xfrm>
                  <a:off x="2552700" y="3276600"/>
                  <a:ext cx="45720" cy="266700"/>
                </a:xfrm>
                <a:prstGeom prst="rect">
                  <a:avLst/>
                </a:prstGeom>
                <a:solidFill>
                  <a:srgbClr val="3D7BD9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2690622" y="3352324"/>
                  <a:ext cx="148749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1.05% · 1.54×10^7 km³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603885" y="3898106"/>
                <a:ext cx="3646792" cy="371951"/>
                <a:chOff x="603885" y="3898106"/>
                <a:chExt cx="3646792" cy="371951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603885" y="3898106"/>
                  <a:ext cx="76530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湖泊与河流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04838" y="4093845"/>
                  <a:ext cx="85590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Lakes &amp; rivers</a:t>
                  </a:r>
                </a:p>
              </p:txBody>
            </p:sp>
            <p:sp>
              <p:nvSpPr>
                <p:cNvPr id="29" name="Rectangle 29"/>
                <p:cNvSpPr/>
                <p:nvPr/>
              </p:nvSpPr>
              <p:spPr>
                <a:xfrm>
                  <a:off x="2552700" y="3905250"/>
                  <a:ext cx="47625" cy="2667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690622" y="3980974"/>
                  <a:ext cx="156005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0.009% · 1.27×10^5 km³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03885" y="4526756"/>
                <a:ext cx="3574232" cy="371951"/>
                <a:chOff x="603885" y="4526756"/>
                <a:chExt cx="3574232" cy="371951"/>
              </a:xfrm>
            </p:grpSpPr>
            <p:sp>
              <p:nvSpPr>
                <p:cNvPr id="32" name="TextBox 32"/>
                <p:cNvSpPr txBox="1"/>
                <p:nvPr/>
              </p:nvSpPr>
              <p:spPr>
                <a:xfrm>
                  <a:off x="603885" y="4526756"/>
                  <a:ext cx="31297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大气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04838" y="4722495"/>
                  <a:ext cx="70403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Atmosphere</a:t>
                  </a:r>
                </a:p>
              </p:txBody>
            </p:sp>
            <p:sp>
              <p:nvSpPr>
                <p:cNvPr id="34" name="Rectangle 34"/>
                <p:cNvSpPr/>
                <p:nvPr/>
              </p:nvSpPr>
              <p:spPr>
                <a:xfrm>
                  <a:off x="2552700" y="4533900"/>
                  <a:ext cx="47625" cy="2667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2690622" y="4609624"/>
                  <a:ext cx="148749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0.001% · 1.5×10^4 km³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03885" y="5155406"/>
                <a:ext cx="3501672" cy="371951"/>
                <a:chOff x="603885" y="5155406"/>
                <a:chExt cx="3501672" cy="371951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603885" y="5155406"/>
                  <a:ext cx="46375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生物圈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04838" y="5351145"/>
                  <a:ext cx="58254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Biosphere</a:t>
                  </a:r>
                </a:p>
              </p:txBody>
            </p:sp>
            <p:sp>
              <p:nvSpPr>
                <p:cNvPr id="39" name="Rectangle 39"/>
                <p:cNvSpPr/>
                <p:nvPr/>
              </p:nvSpPr>
              <p:spPr>
                <a:xfrm>
                  <a:off x="2552700" y="5162550"/>
                  <a:ext cx="47625" cy="2667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2690622" y="5238274"/>
                  <a:ext cx="141493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0.0001% · 2×10^3 km³</a:t>
                  </a:r>
                </a:p>
              </p:txBody>
            </p:sp>
          </p:grpSp>
        </p:grpSp>
        <p:sp>
          <p:nvSpPr>
            <p:cNvPr id="43" name="TextBox 43"/>
            <p:cNvSpPr txBox="1"/>
            <p:nvPr/>
          </p:nvSpPr>
          <p:spPr>
            <a:xfrm>
              <a:off x="604838" y="5751195"/>
              <a:ext cx="49224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注：条长按占比线性绘制；占比小于 0.01% 的储库以最小可见条宽显示，数值以标签为准。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334250" y="1447800"/>
            <a:ext cx="4476750" cy="1219200"/>
            <a:chOff x="7334250" y="1447800"/>
            <a:chExt cx="4476750" cy="1219200"/>
          </a:xfrm>
        </p:grpSpPr>
        <p:sp>
          <p:nvSpPr>
            <p:cNvPr id="45" name="Rectangle 45"/>
            <p:cNvSpPr/>
            <p:nvPr/>
          </p:nvSpPr>
          <p:spPr>
            <a:xfrm>
              <a:off x="7334250" y="1447800"/>
              <a:ext cx="447675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56754" y="1623060"/>
              <a:ext cx="163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总水量 | Total water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2182" y="1945005"/>
              <a:ext cx="22179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≈ 1.4×10^9 km³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57897" y="2333149"/>
              <a:ext cx="2833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14 亿 km³；日—百年至地质短尺度上视为恒定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334250" y="2781300"/>
            <a:ext cx="4476750" cy="1600200"/>
            <a:chOff x="7334250" y="2781300"/>
            <a:chExt cx="4476750" cy="1600200"/>
          </a:xfrm>
        </p:grpSpPr>
        <p:sp>
          <p:nvSpPr>
            <p:cNvPr id="50" name="Rectangle 50"/>
            <p:cNvSpPr/>
            <p:nvPr/>
          </p:nvSpPr>
          <p:spPr>
            <a:xfrm>
              <a:off x="7334250" y="2781300"/>
              <a:ext cx="4476750" cy="16002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56754" y="2956560"/>
              <a:ext cx="2688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海洋占绝对多数 | Oceans dominate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7135" y="3288506"/>
              <a:ext cx="1907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 Ocean/seas：95.96%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7135" y="35742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其次：冰川与极地冰 2.97%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57135" y="3860006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再次：地下水 1.05%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57897" y="414289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其余储库各自都不足 0.01%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334250" y="4495800"/>
            <a:ext cx="4476750" cy="1733550"/>
            <a:chOff x="7334250" y="4495800"/>
            <a:chExt cx="4476750" cy="1733550"/>
          </a:xfrm>
        </p:grpSpPr>
        <p:sp>
          <p:nvSpPr>
            <p:cNvPr id="57" name="Rectangle 57"/>
            <p:cNvSpPr/>
            <p:nvPr/>
          </p:nvSpPr>
          <p:spPr>
            <a:xfrm>
              <a:off x="7334250" y="4495800"/>
              <a:ext cx="4476750" cy="1733550"/>
            </a:xfrm>
            <a:prstGeom prst="roundRect">
              <a:avLst>
                <a:gd name="adj" fmla="val 6593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56754" y="4671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易利用的表层淡水极少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57135" y="5003006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湖泊与河流 0.009% · 大气 0.001%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57135" y="5269706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生物圈 0.0001%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62850" y="5600700"/>
              <a:ext cx="4019550" cy="419100"/>
            </a:xfrm>
            <a:prstGeom prst="roundRect">
              <a:avLst>
                <a:gd name="adj" fmla="val 22727"/>
              </a:avLst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16493" y="57378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最易利用的表层淡水占比极小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376238" y="6532245"/>
            <a:ext cx="52065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Ch.17, Fig. 17.1, PDF pp.1647–1649; total volume: Ch.17, PDF p.1651.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16_W1_QoderCN_Slides04-06_v01">
  <a:themeElements>
    <a:clrScheme name="L16_W1_QoderCN_Slides04-06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1_QoderCN_Slides04-06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1_QoderCN_Slides04-06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16_W1_QoderCN_Slides04-06_v01">
  <a:themeElements>
    <a:clrScheme name="L16_W1_QoderCN_Slides04-06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1_QoderCN_Slides04-06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1_QoderCN_Slides04-06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2026-09-11T03:57:09Z</dcterms:created>
  <dcterms:modified xsi:type="dcterms:W3CDTF">2026-09-11T03:57:09Z</dcterms:modified>
  <cp:category/>
  <cp:contentStatus/>
</cp:coreProperties>
</file>