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讲陆地生命这条快通路，全页不使用任何数值，重点在过程和方向。先看最上面这一层：大气是整张图的枢纽，碳以二氧化碳的形式停在这里。往下读三条通路，箭头方向一定要说清。第一条是光合作用，箭头向下，大气中的二氧化碳被固定成植物有机碳。第二条是呼吸作用，箭头向上，植物和动物把有机碳氧化利用之后，把碳交还大气。第三条是微生物分解，箭头同样向上，枯落物和土壤里的碳被分解者送回大气。还有一条更细的箭头向右，把枯落物和死亡有机质从植被带进土壤储库，它不是第四种通路，而是让上面这个环真正闭合起来的物理衔接。接着要特别强调右下角的土壤：土壤不是箭头之间的空隙，枯落物与死亡有机质在其中不断积累，它是一个实实在在的碳储库，这一点在右边那张卡片里也写了。为什么把这个环节叫快速碳循环？因为这里的碳在植被与土壤之间不断被取用、又不断归还大气，周转明显快于地质储库，所以单独归入快速碳循环这一组；本页只作快慢的定性比较，不给出具体年限。最后留一句尾巴：同一片叶子上，光合固碳和蒸腾失水是同时发生的，这就是碳循环与水循环在植物身上的接触点，本页只点一下，不展开耦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要打破一个常见的误解：海洋并不总是一个单向吸碳的汇。左边这张图是本页唯一的数值来源，所以正负约定必须读准。先看右下角第一张卡片的读数规则：红色一侧是正值，表示海水在这一带放出二氧化碳，也就是碳源；紫蓝色一侧是负值，表示海水在这一带吸收二氧化碳，也就是碳汇。单位是净通量，写成克每平方米每年，色标大致从负一百零八到正一百零八；图上原本的色标、单位和正负号都完整保留，没有裁掉，也没有改写。那为什么会有这种空间差异？温度、海水组成，尤其是风的混合作用和浪花飞溅，共同决定二氧化碳溶解和释放的快慢；高纬度的冷海更容易吸收，上升流区域和暖水区更容易放出。所以右边最后那张卡片的结论是：同一片海洋在不同区域分别表现为碳源或碳汇，“海洋是碳汇”这句话只有限定区域和时段之后才成立。这里还要提醒一句：本页只用这一张图这一套通量数据，不叠加其他总交换数值，避免把不同来源的数字混在一起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2-WORKBUDD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2-WORKBUDD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00c7e1005107c78.png"/>
  <Relationship Id="rId3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5354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2.5 快速碳循环：陆地生命 | Fast Carbon Cycle: Life on Land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135040" cy="357093"/>
            <a:chOff x="381000" y="914400"/>
            <a:chExt cx="613504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光合作用、呼吸与分解，把碳在大气、植被和土壤之间快速搬运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1000" y="1428750"/>
            <a:ext cx="8153400" cy="4800600"/>
            <a:chOff x="381000" y="1428750"/>
            <a:chExt cx="81534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81534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23060"/>
              <a:ext cx="2124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过程环 | The fast land loop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905000"/>
              <a:ext cx="7696200" cy="723900"/>
            </a:xfrm>
            <a:prstGeom prst="roundRect">
              <a:avLst>
                <a:gd name="adj" fmla="val 13158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3247" y="2066449"/>
              <a:ext cx="1320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ATMOSPHERE · 大气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10463" y="2265521"/>
              <a:ext cx="26944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大气 CO₂ | Atmospheric CO₂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14500" y="27241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619250" y="43243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9525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98904" y="2975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光合作用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0047" y="3190399"/>
              <a:ext cx="9967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Photosynthesis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0047" y="3399949"/>
              <a:ext cx="1445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 CO₂ → 植物有机碳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333750" y="28003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17145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238500" y="2724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9525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18154" y="2975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呼吸作用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9297" y="3190399"/>
              <a:ext cx="7458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Respiration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19297" y="3399949"/>
              <a:ext cx="1166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有机碳 → 大气 CO₂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38950" y="28003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17145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743700" y="2724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9525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23354" y="2975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微生物分解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24497" y="3190399"/>
              <a:ext cx="9175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Decomposition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4497" y="3399949"/>
              <a:ext cx="1166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土壤碳 → 大气 CO₂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" y="4591050"/>
              <a:ext cx="3943350" cy="1371600"/>
            </a:xfrm>
            <a:prstGeom prst="roundRect">
              <a:avLst>
                <a:gd name="adj" fmla="val 694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2104" y="4766310"/>
              <a:ext cx="27010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陆地植被 | Terrestrial vegetation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" y="504825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0096" y="5114449"/>
              <a:ext cx="939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储库 Reservoir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485" y="544115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植物有机碳：光合固定的碳先进入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植被，再通过呼吸与枯落物离开。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91150" y="4591050"/>
              <a:ext cx="2914650" cy="1371600"/>
            </a:xfrm>
            <a:prstGeom prst="roundRect">
              <a:avLst>
                <a:gd name="adj" fmla="val 6944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13654" y="4766310"/>
              <a:ext cx="1882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土壤碳储库 | Soil carbon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619750" y="5048250"/>
              <a:ext cx="2457450" cy="723900"/>
            </a:xfrm>
            <a:prstGeom prst="roundRect">
              <a:avLst>
                <a:gd name="adj" fmla="val 7895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695950" y="5286375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5695950" y="5514975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5876925" y="5143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334125" y="5143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791325" y="5143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105525" y="53721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019925" y="53721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562725" y="56007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477125" y="56007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705725" y="53721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14797" y="5819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枯落物与死亡有机质在此积累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4648200" y="5334000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5181600" y="5267325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0"/>
                  </a:moveTo>
                  <a:lnTo>
                    <a:pt x="1714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04324" y="5038249"/>
              <a:ext cx="935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枯落物 | Litter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763000" y="1428750"/>
            <a:ext cx="3048000" cy="1590389"/>
            <a:chOff x="8763000" y="1428750"/>
            <a:chExt cx="3048000" cy="1590389"/>
          </a:xfrm>
        </p:grpSpPr>
        <p:sp>
          <p:nvSpPr>
            <p:cNvPr id="52" name="Rectangle 52"/>
            <p:cNvSpPr/>
            <p:nvPr/>
          </p:nvSpPr>
          <p:spPr>
            <a:xfrm>
              <a:off x="8763000" y="1428750"/>
              <a:ext cx="3048000" cy="1562100"/>
            </a:xfrm>
            <a:prstGeom prst="roundRect">
              <a:avLst>
                <a:gd name="adj" fmla="val 7317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85504" y="1604010"/>
              <a:ext cx="2263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为什么叫“快速” | Why “fast”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85885" y="1916906"/>
              <a:ext cx="200279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植被与土壤中的碳周转很快，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不断被取用、又不断归还大气。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991600" y="2362200"/>
              <a:ext cx="2590800" cy="609600"/>
            </a:xfrm>
            <a:prstGeom prst="roundRect">
              <a:avLst>
                <a:gd name="adj" fmla="val 12500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00947" y="2447449"/>
              <a:ext cx="2399538" cy="571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表层生物储库周转快于地质储库</a:t>
              </a:r>
              <a:br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Surface biological reservoirs turn over</a:t>
              </a:r>
              <a:br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faster than geological reservoirs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763000" y="3143250"/>
            <a:ext cx="3048000" cy="1562100"/>
            <a:chOff x="8763000" y="3143250"/>
            <a:chExt cx="3048000" cy="1562100"/>
          </a:xfrm>
        </p:grpSpPr>
        <p:sp>
          <p:nvSpPr>
            <p:cNvPr id="58" name="Rectangle 58"/>
            <p:cNvSpPr/>
            <p:nvPr/>
          </p:nvSpPr>
          <p:spPr>
            <a:xfrm>
              <a:off x="8763000" y="3143250"/>
              <a:ext cx="3048000" cy="1562100"/>
            </a:xfrm>
            <a:prstGeom prst="roundRect">
              <a:avLst>
                <a:gd name="adj" fmla="val 731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985504" y="33185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土壤是真实储库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85885" y="3631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枯落物与死亡有机质在其中积累，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土壤因此成为一个独立的碳储库。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86647" y="4180999"/>
              <a:ext cx="13338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Reservoir, not a gap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763000" y="4857750"/>
            <a:ext cx="3048000" cy="1371600"/>
            <a:chOff x="8763000" y="4857750"/>
            <a:chExt cx="3048000" cy="1371600"/>
          </a:xfrm>
        </p:grpSpPr>
        <p:sp>
          <p:nvSpPr>
            <p:cNvPr id="63" name="Rectangle 63"/>
            <p:cNvSpPr/>
            <p:nvPr/>
          </p:nvSpPr>
          <p:spPr>
            <a:xfrm>
              <a:off x="8763000" y="4857750"/>
              <a:ext cx="3048000" cy="13716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985504" y="5033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与水循环的交会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85885" y="5345906"/>
              <a:ext cx="214503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同一片叶子上，光合固碳与蒸腾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失水同时发生；这是两个循环在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植物上的接触点（本页不展开）。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986647" y="5990749"/>
              <a:ext cx="20260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Photosynthesis · transpiration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376238" y="6532245"/>
            <a:ext cx="88849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Atmosphere–Biosphere Gas Exchange, PDF pp.1211–1212; 地球系统与演变, Ch.4 §4.2.2、§4.3.4–§4.3.5, PDF pp.61–62, 71–74.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3305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2.6 海气之间的碳交换 | Air–Sea Carbon Exchange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305280" cy="357093"/>
            <a:chOff x="381000" y="914400"/>
            <a:chExt cx="630528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14183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海洋既能吸收、也能释放 CO₂；它不是处处、时时的单向碳汇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428750"/>
            <a:ext cx="5715000" cy="4800600"/>
            <a:chOff x="381000" y="1428750"/>
            <a:chExt cx="5715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5715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025" y="1524000"/>
              <a:ext cx="5314950" cy="4610100"/>
            </a:xfrm>
            <a:prstGeom prst="rect">
              <a:avLst/>
            </a:prstGeom>
          </p:spPr>
        </p:pic>
      </p:grpSp>
      <p:grpSp>
        <p:nvGrpSpPr>
          <p:cNvPr id="23" name="Group 23"/>
          <p:cNvGrpSpPr/>
          <p:nvPr/>
        </p:nvGrpSpPr>
        <p:grpSpPr>
          <a:xfrm>
            <a:off x="6438900" y="1428750"/>
            <a:ext cx="5372100" cy="1866900"/>
            <a:chOff x="6438900" y="1428750"/>
            <a:chExt cx="5372100" cy="1866900"/>
          </a:xfrm>
        </p:grpSpPr>
        <p:sp>
          <p:nvSpPr>
            <p:cNvPr id="12" name="Rectangle 12"/>
            <p:cNvSpPr/>
            <p:nvPr/>
          </p:nvSpPr>
          <p:spPr>
            <a:xfrm>
              <a:off x="6438900" y="1428750"/>
              <a:ext cx="5372100" cy="1866900"/>
            </a:xfrm>
            <a:prstGeom prst="roundRect">
              <a:avLst>
                <a:gd name="adj" fmla="val 6122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61404" y="1623060"/>
              <a:ext cx="25415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读数规则 | How to read this map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0" y="1924050"/>
              <a:ext cx="495300" cy="323850"/>
            </a:xfrm>
            <a:prstGeom prst="roundRect">
              <a:avLst>
                <a:gd name="adj" fmla="val 23529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52713" y="19988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0054" y="1965960"/>
              <a:ext cx="159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正值：海水放出 CO₂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1197" y="2199799"/>
              <a:ext cx="2167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Positive = seawater releases CO₂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0" y="2400300"/>
              <a:ext cx="495300" cy="32385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52713" y="247507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90054" y="2442210"/>
              <a:ext cx="159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负值：海水吸收 CO₂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91197" y="2676049"/>
              <a:ext cx="21616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Negative = seawater absorbs CO₂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785" y="3021806"/>
              <a:ext cx="303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 净通量 g/(m²·a)；色标约 −108 … +108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38900" y="3448050"/>
            <a:ext cx="5372100" cy="1676400"/>
            <a:chOff x="6438900" y="3448050"/>
            <a:chExt cx="5372100" cy="1676400"/>
          </a:xfrm>
        </p:grpSpPr>
        <p:sp>
          <p:nvSpPr>
            <p:cNvPr id="24" name="Rectangle 24"/>
            <p:cNvSpPr/>
            <p:nvPr/>
          </p:nvSpPr>
          <p:spPr>
            <a:xfrm>
              <a:off x="6438900" y="3448050"/>
              <a:ext cx="5372100" cy="1676400"/>
            </a:xfrm>
            <a:prstGeom prst="roundRect">
              <a:avLst>
                <a:gd name="adj" fmla="val 681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61404" y="3642360"/>
              <a:ext cx="2663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什么在控制交换 | What controls it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1785" y="3955256"/>
              <a:ext cx="228727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温度、海水组成，尤其风混合与浪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花飞溅，决定溶解与释放的快慢；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高纬冷海更易吸收，上升流区放出。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2547" y="4714399"/>
              <a:ext cx="26200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Temperature · composition · wind mixing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38900" y="5276850"/>
            <a:ext cx="5372100" cy="952500"/>
            <a:chOff x="6438900" y="5276850"/>
            <a:chExt cx="5372100" cy="952500"/>
          </a:xfrm>
        </p:grpSpPr>
        <p:sp>
          <p:nvSpPr>
            <p:cNvPr id="29" name="Rectangle 29"/>
            <p:cNvSpPr/>
            <p:nvPr/>
          </p:nvSpPr>
          <p:spPr>
            <a:xfrm>
              <a:off x="6438900" y="5276850"/>
              <a:ext cx="5372100" cy="952500"/>
            </a:xfrm>
            <a:prstGeom prst="roundRect">
              <a:avLst>
                <a:gd name="adj" fmla="val 12000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1404" y="54521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海洋不是单向碳汇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785" y="5726906"/>
              <a:ext cx="302691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同一片海洋在不同区域，分别表现为</a:t>
              </a:r>
              <a:br/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碳源或碳汇——“海洋是碳汇”要限定区域与时段。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76238" y="6532245"/>
            <a:ext cx="72361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地球系统与演变, Fig. 4-8, p.153 (PDF p.68); UE 8e, Ch.12, Atmosphere–Ocean Gas Exchange, PDF pp.1210–1211.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2-WORKBUDDY">
  <a:themeElements>
    <a:clrScheme name="PROD-W2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2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2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2-WORKBUDDY">
  <a:themeElements>
    <a:clrScheme name="PROD-W2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2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2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2026-09-12T08:04:19Z</dcterms:created>
  <dcterms:modified xsi:type="dcterms:W3CDTF">2026-09-12T08:04:19Z</dcterms:modified>
  <cp:category/>
  <cp:contentStatus/>
</cp:coreProperties>
</file>