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B1D65FB-559D-424A-8FEC-08C8E53D960C}" type="datetimeFigureOut">
              <a:rPr lang="zh-CN" altLang="en-US" smtClean="0"/>
              <a:t>2026/9/15</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7F93FF9-6405-4D11-B812-9603B98F62DB}" type="slidenum">
              <a:rPr lang="zh-CN" altLang="en-US" smtClean="0"/>
              <a:t>‹#›</a:t>
            </a:fld>
            <a:endParaRPr lang="zh-CN" altLang="en-US"/>
          </a:p>
        </p:txBody>
      </p:sp>
    </p:spTree>
    <p:extLst>
      <p:ext uri="{BB962C8B-B14F-4D97-AF65-F5344CB8AC3E}">
        <p14:creationId xmlns:p14="http://schemas.microsoft.com/office/powerpoint/2010/main" val="12731385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这一讲把水循环和碳循环放在同一个地球系统框架中理解。我们会反复使用六个关键词：储库、通量、停留时间、耦合、反馈和时间尺度。重点不是记住孤立名词，而是看清物质储存在哪里、怎样转移，以及这些转移如何影响气候。</a:t>
            </a:r>
          </a:p>
        </p:txBody>
      </p:sp>
    </p:spTree>
    <p:extLst>
      <p:ext uri="{BB962C8B-B14F-4D97-AF65-F5344CB8AC3E}">
        <p14:creationId xmlns:p14="http://schemas.microsoft.com/office/powerpoint/2010/main" val="34925508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完成本讲后，首先要能识别水循环的主要储库和通量，并区分储量、通量与停留时间。随后要能描述碳的主要储库，以及快速的生物和海洋路径与缓慢的地质路径。更进一步，我们要解释水和碳如何连接大气、海洋、岩石与生命，并用初始变化和诱发变化的方向区分正反馈与负反馈。最后，把方向与时间尺度结合起来，预测地球系统受到扰动后的响应。</a:t>
            </a:r>
          </a:p>
        </p:txBody>
      </p:sp>
    </p:spTree>
    <p:extLst>
      <p:ext uri="{BB962C8B-B14F-4D97-AF65-F5344CB8AC3E}">
        <p14:creationId xmlns:p14="http://schemas.microsoft.com/office/powerpoint/2010/main" val="114446726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课程分为三个连续部分。第一部分建立水循环的储库、通量、停留时间，以及地表与深部之间的联系；第二部分用同样的语言阅读快速和缓慢碳循环，并重点认识海洋碳泵。第三部分把水和碳重新耦合到同一个气候系统中，用反馈符号和响应时间判断系统变化。阅读顺序是水、碳、耦合与反馈。</a:t>
            </a:r>
          </a:p>
        </p:txBody>
      </p:sp>
    </p:spTree>
    <p:extLst>
      <p:ext uri="{BB962C8B-B14F-4D97-AF65-F5344CB8AC3E}">
        <p14:creationId xmlns:p14="http://schemas.microsoft.com/office/powerpoint/2010/main" val="163401037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问"什么在循环"，答案不只是水。先看这张图：大气圈、水圈、冰冻圈、岩石圈和生物圈，是组成气候系统的五个组分，每个组分都在储存并输送质量和能量。双向箭头表示，物质在这些储库之间持续地来回迁移；循环不是一条单向路径，而是彼此连接的迁移网络。本讲要追踪的，是表层系统最重要的两种迁移物质：水和碳。还要注意时间尺度：迁移阶段短则可以只有几小时，长则可达数百万年。记住这幅"组分加迁移"的图景，下面一页我们给出阅读一切循环的四个词。</a:t>
            </a:r>
          </a:p>
        </p:txBody>
      </p:sp>
    </p:spTree>
    <p:extLst>
      <p:ext uri="{BB962C8B-B14F-4D97-AF65-F5344CB8AC3E}">
        <p14:creationId xmlns:p14="http://schemas.microsoft.com/office/powerpoint/2010/main" val="285727507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这一页的四个词，是阅读所有全球循环的共同框架。第一个词，储库 reservoir：储存水或化学物质的场所或组分，比如海洋、大气、植被和岩石；水循环和碳循环共用这同一个词。第二个词，通量 flux：物质从一个储库向另一个储库的流动或输送；读图时一定要把储量单位和通量单位分开来看。第三个词，停留时间 residence time：一定量的水或某化学物质分子在储库中停留的平均时间；要特别提醒，大储库不一定更新快。第四个词，反馈 feedback：系统变化诱发的过程反过来影响初始变化，同向放大是正反馈，反向抑制是负反馈，第三部分会专门展开。同一套词既读水循环也读碳循环，而且稳态可以包含持续通量。接下来就用这个框架看第一个问题：地球的水到底在哪里。</a:t>
            </a:r>
          </a:p>
        </p:txBody>
      </p:sp>
    </p:spTree>
    <p:extLst>
      <p:ext uri="{BB962C8B-B14F-4D97-AF65-F5344CB8AC3E}">
        <p14:creationId xmlns:p14="http://schemas.microsoft.com/office/powerpoint/2010/main" val="363866138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地球的水在哪里？这张图只用一套数据，就是 Understanding Earth 图十七点一的水分布数据。全球总水量约等于一点四乘以十的九次方立方公里，也就是大约十四亿立方公里；在日到百年乃至地质短尺度上，总水量可以视为恒定。再看分布有多不均匀：海洋占了百分之九十五点九六，绝对主导；其次是冰川与极地冰，约百分之二点九七；再次是地下水，约百分之一点零五。其余储库各自都不足百分之一：湖泊与河流只有百分之零点零零九，大气百分之零点零零一，生物圈更是只有百分之零点零零零一。注意图上条长按占比线性绘制，极小的储库只保留了最小可见条宽，数值一律以标签为准。结论只有一句话：人类最易利用的表层淡水，只占全球水量的极小部分。下一页我们会把这个分布再拆开看：为什么最大的水库并不是可用的淡水。</a:t>
            </a:r>
          </a:p>
        </p:txBody>
      </p:sp>
    </p:spTree>
    <p:extLst>
      <p:ext uri="{BB962C8B-B14F-4D97-AF65-F5344CB8AC3E}">
        <p14:creationId xmlns:p14="http://schemas.microsoft.com/office/powerpoint/2010/main" val="212770588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上一页我们看到地球水的分布极不均匀，这一页把这种不均匀拆成三级。第一级是全部水，总量约等于一点四乘以十的九次方立方公里，其中海洋占百分之九十五点九六，绝对主导；图上那条深蓝色的长条就是海洋，剩下的浅色小段才是全部非海洋储库。第二级是淡水储库：冰川与极地冰占全部水的百分之二点九七，地下水占百分之一点零五，注意地下水并非全部易利用。第三级是易利用的表层淡水，只指湖泊与河流，仅占全部水的百分之零点零零九。至于大气的百分之零点零零一和生物圈的百分之零点零零零一，它们是另外的微小储库：既没有计入上面的淡水行，也不属于易利用的表层淡水。三行条使用同一个"占全部水"的线性刻度，所以条长逐级急剧变短本身就是结论；极小的段只保留最小可见宽度，数值一律以标签为准。一句话收束：最大的水库是海洋，但人类最易利用的表层淡水只占极小份额。那么储库大就意味着更新快吗？下一页我们看停留时间。</a:t>
            </a:r>
          </a:p>
        </p:txBody>
      </p:sp>
    </p:spTree>
    <p:extLst>
      <p:ext uri="{BB962C8B-B14F-4D97-AF65-F5344CB8AC3E}">
        <p14:creationId xmlns:p14="http://schemas.microsoft.com/office/powerpoint/2010/main" val="92563694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这一页要区分两个经常被混在一起的属性：储量回答"存了多少"，更新速度回答"多久换一遍"，后者的量度就是停留时间，也就是一定量的水或某化学物质在储库中停留的平均时间，这个定义来自 Understanding Earth；而本页的全部数值停留时间来自中文教材表三之一。看这条从快到慢的阶梯：大气只要九天，土壤水一到两个月，河流与季节性冰雪两到六个月；进入年尺度后，浅层地下水要一百到两百年，海洋三千二百年，深层地下水一万年，南极冰盖长达两万年。再把储量放进来对照：海洋储量十三点三八亿立方公里，是表里最大的储库，停留时间却是三千二百年；大气水储量只有一万二千九百立方公里，九天就更新一遍。所以大储库不等于更新快，储量和停留时间必须分开读。这也意味着：快储库以日到月的尺度响应变化，慢储库要以千年到万年的尺度响应，判断系统反应时必须先看它落在阶梯的哪一段。</a:t>
            </a:r>
          </a:p>
        </p:txBody>
      </p:sp>
    </p:spTree>
    <p:extLst>
      <p:ext uri="{BB962C8B-B14F-4D97-AF65-F5344CB8AC3E}">
        <p14:creationId xmlns:p14="http://schemas.microsoft.com/office/powerpoint/2010/main" val="135366682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面对全球水循环图，先不要急着追箭头，而要先找储库，包括海洋、大气、冰雪、陆地生命和地下水。第二步才是沿箭头识别蒸发、大气输送、降水、径流、入渗与地下水流等通量，这些过程彼此连接，形成回路而不是一条单向路径。第三步追踪驱动力：太阳能驱动蒸发和大气输送，重力推动降水、径流与下渗。图中海洋覆盖地球表面约百分之七十一，这说明海洋是理解全球水循环时不可忽略的背景储库。</a:t>
            </a:r>
          </a:p>
        </p:txBody>
      </p:sp>
    </p:spTree>
    <p:extLst>
      <p:ext uri="{BB962C8B-B14F-4D97-AF65-F5344CB8AC3E}">
        <p14:creationId xmlns:p14="http://schemas.microsoft.com/office/powerpoint/2010/main" val="114441734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这一页用一套内部一致的教材全球收支数据，说明海洋和陆地怎样通过大气和径流闭合。海洋每年蒸发四百三十四、降水三百九十八，多出的三十六以水汽形式经大气净输送到陆地；陆地每年降水一百零七、蒸散七十一，净得到的三十六恰好等于回到海洋的径流。两个差额都等于三十六：海洋蒸发减降水等于三十六，陆地降水减蒸散也等于三十六，二者方向相反、数量相等，全球水量因此收支平衡。读图时先看两个储库面板里向上的蒸发和向下的降水，再沿顶部大气带向左的输送箭头与底部向右的径流箭头，就能看到一个闭合回路。本页所有数字单位均为乘以一千立方千米每年，来自 Understanding Earth 图十七点二这一套数据，不与其他教材图件的面板单位混用。</a:t>
            </a:r>
          </a:p>
        </p:txBody>
      </p:sp>
    </p:spTree>
    <p:extLst>
      <p:ext uri="{BB962C8B-B14F-4D97-AF65-F5344CB8AC3E}">
        <p14:creationId xmlns:p14="http://schemas.microsoft.com/office/powerpoint/2010/main" val="189157972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这张教材原图展示水在固态冰、液态水和气态水汽之间转换时，水和能量一起转移。上方橙色箭头是吸热过程：熔融需要八十卡，把水从零度加热到一百度需要一百卡，蒸发汽化需要五百四十卡；下方蓝色箭头是逆向的放热过程：冻结释放八十卡，降温释放一百卡，凝结释放五百四十卡，箭头方向和全部数值都保持原图不变。右侧三张卡片给出简明英文对照：三态名称、吸热清单和放热清单。汽化潜热五百四十卡约为熔融潜热八十卡的七倍，说明同样质量的水，气液相变搬运的能量远大于固液相变，这正是蒸发吸热、凝结释放潜热从而驱动大气能量输送的物理基础。单位换算关系是一卡等于四点一八四焦耳。</a:t>
            </a:r>
          </a:p>
        </p:txBody>
      </p:sp>
    </p:spTree>
    <p:extLst>
      <p:ext uri="{BB962C8B-B14F-4D97-AF65-F5344CB8AC3E}">
        <p14:creationId xmlns:p14="http://schemas.microsoft.com/office/powerpoint/2010/main" val="202891167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水返回大气有三条并行路径：海洋表面的蒸发是最大的蒸发源，陆地土壤和地表水体也直接蒸发，植物则通过根系吸收土壤水、再由叶片把水汽释放出去，这一过程叫蒸腾。蒸发和蒸腾合起来称为蒸散，对应图中深蓝色条带给出的等式。蒸腾与光合作用在植物体内同时发生，并不是两个互不相干的过程，因此植被把水循环和碳循环连接在一起。中文教材估计，陆地约百分之八十到九十的来水经蒸散返回大气，一棵大树每天蒸腾约二百到一千升、每年吸水约一百五十吨，陆地吸收的太阳能约有一半用于蒸腾，说明蒸散既是水循环环节，也是能量循环环节。需要说明，蒸发与蒸腾两个过程在指定的英文教材章节中分别出现，合称蒸散是本课程采用的汇总术语。</a:t>
            </a:r>
          </a:p>
        </p:txBody>
      </p:sp>
    </p:spTree>
    <p:extLst>
      <p:ext uri="{BB962C8B-B14F-4D97-AF65-F5344CB8AC3E}">
        <p14:creationId xmlns:p14="http://schemas.microsoft.com/office/powerpoint/2010/main" val="372416994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这一页讲大气作为水储库的两个特点：储量很小、交换很快。中文教材表三之一给出，大气中水的总储量只有一万二千九百立方千米，大约是海洋储量的十万分之一，平均滞留时间只有九天，如果全部一次性降下，只相当于全球二点五厘米厚的水层。水在这个小储库里走一条四步快速回路：第一步，太阳加热海面和陆地，水蒸发成水汽进入大气；第二步，大气运动把水汽从海洋上空输送到陆地上空；第三步，湿空气上升冷却，水汽凝结成微小云滴；第四步，云滴碰撞长大，以雨、雪等形式形成降水回到地表。储量小不等于作用小，正是大约九天一次的快速周转，让大气成为海陆之间最活跃的输水通道；全球大气环流的细节本页不展开。</a:t>
            </a:r>
          </a:p>
        </p:txBody>
      </p:sp>
    </p:spTree>
    <p:extLst>
      <p:ext uri="{BB962C8B-B14F-4D97-AF65-F5344CB8AC3E}">
        <p14:creationId xmlns:p14="http://schemas.microsoft.com/office/powerpoint/2010/main" val="364093547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降水落地后并不是只有一个去向，而是在三条路径之间分配。第一条是蒸散，一部分水直接蒸发，或被植物蒸腾后返回大气。第二条是径流，按照教材的广义定义，径流既包括沿地表漫流的地表径流，也包括先入渗到近地表、之后又回到地表并汇入河道的水，所以入渗不等于水被永久移出径流。第三条是入渗，水通过土壤和岩石的孔隙、裂隙向下运动，其中较浅的部分形成壤中流回归地表，更深的部分继续下渗，成为下一页要讲的地下水。图中的坡面剖面展示三条路径的方向：蒸散向上，地表径流沿坡面进入河道，入渗向下并且有一条浅层回流。三者各占多少受气候、地形、岩土和植被控制，教材没有给出、本页也不编造全球统一的百分比，这是过程示意，不是定量比例。</a:t>
            </a:r>
          </a:p>
        </p:txBody>
      </p:sp>
    </p:spTree>
    <p:extLst>
      <p:ext uri="{BB962C8B-B14F-4D97-AF65-F5344CB8AC3E}">
        <p14:creationId xmlns:p14="http://schemas.microsoft.com/office/powerpoint/2010/main" val="75017140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地下水这一页只讲三件事：补给、储存、排泄。补给是近期降水入渗，穿过未饱和的包气带到达地下水位，形成地下水；地下水位以下是饱水带，水在其中储存并以非常慢的速度流动，这是第二步储存；第三步排泄，是地下水最终以泉、河流、蒸发或入海的方式回到地表。长期来看补给量约等于排泄量，储库规模和地下水位因此保持稳定。慢是这一页的重点：表三之一显示，浅层地下水滞留时间约一百到二百年，深层地下水可达约一万年，而大气水只有九天，相差四到六个数量级，所以地下水是水循环里缓冲能力很强、但响应很慢的路径。孔隙度、含水层工程、抽水形成的降落漏斗以及污染治理，都超出本页范围，留到后续课程。</a:t>
            </a:r>
          </a:p>
        </p:txBody>
      </p:sp>
    </p:spTree>
    <p:extLst>
      <p:ext uri="{BB962C8B-B14F-4D97-AF65-F5344CB8AC3E}">
        <p14:creationId xmlns:p14="http://schemas.microsoft.com/office/powerpoint/2010/main" val="93272913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这一页把冰冻圈讲成一座"会移动的水库"。请学生先看左边这张原生剖面图：最上面一条浅蓝带是大气圈，注意术语是"大气圈"而不是别的写法；下面左侧灰色基岩上覆白色圆顶，是陆地冰，也就是冰盖和冰川；海岸处那块贴着陆缘、浮在海面上的白色楔形体是冰架；海面上几片白色薄块是海冰，它完全漂浮。四组箭头是这一页的重点：向下的蓝箭头是积累，雪落到冰面上把水存进陆地冰；向上的浅蓝箭头是蒸发与升华，把水送回大气圈；横向的浅蓝箭头是消融，冰融化后把水交给海洋；海冰那里的双向箭头是季节变化，表示海冰每年生长与融化、在水圈与大气圈之间来回交换。右边第一张卡片是海平面效应，三行要逐行读：大陆冰积累和扩张会把水从海洋搬走，海平面下降；大陆冰融化把水还回海洋，海平面上升；而海冰本来就浮在海面上，它融化不直接抬升海平面，这和大陆冰融化不是一回事，英文行 Floating sea-ice melt 不等于 continental-ice melt 就是在钉这个区别。右边第二张卡片只给一套数据，即中文教材表 3-2 的海平面当量：南极冰盖 58.3 米、格陵兰冰盖 7.36 米、冰川 0.41 米，单位是米，表示这些冰若全部融化可抬升的海平面量级；这里刻意不引入理解地球图 17.1 的绝对体积，两套数据不混用。最下面一条提示把交换和气候连起来：冰面反照率高、储水又影响海平面，所以冰冻圈交换同时连接气候。来源是地球系统与演变第三章 3.2.1.3 节与表 3-2、理解地球第八版第十二章 1159 到 1162 页、以及地球画像第五版 881 页关于海洋与大陆冰重新分配的论述。</a:t>
            </a:r>
          </a:p>
        </p:txBody>
      </p:sp>
    </p:spTree>
    <p:extLst>
      <p:ext uri="{BB962C8B-B14F-4D97-AF65-F5344CB8AC3E}">
        <p14:creationId xmlns:p14="http://schemas.microsoft.com/office/powerpoint/2010/main" val="153248002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这一页的任务是纠正一个常见印象：水循环不只发生在表层。左边整幅保留中文教材图 3-13（编号 W-06），没有裁切、没有拉伸，作为证据图。请学生按右边第一张卡片的五步顺序读图：第一步是表层与海洋水；第二步是含水洋壳与沉积物，海水随板块物质一起进入岩石；第三步是俯冲，把含水的洋壳和沉积物带入地球内部；第四步是地幔深部储存；第五步是熔融与火山作用把水送回表层与大气圈，循环闭合。这个方向不能讲反：俯冲是向内的输入，火山与熔融是向外的返回。右边第二张卡片解释图例：深蓝色是俯冲板块，浅蓝箭头表示水向地幔方向输运，黄色箭头表示水向表层方向输运，410、660、2900、5150 千米是原图标注的深度边界，含义都取自原图，不要自行改写。这一页不要求背数字：深部通量属于选讲内容，不是记忆目标，所以页面上没有放通量数值，也不引入热液井、地下水资源管理或推测性的地幔总水量。来源是地球系统与演变图 3-13、印刷页 106（PDF 第 21 页），即 W-06；HB 第九章已批准的挥发分循环文字只作支持性背景，没有画到页面上。</a:t>
            </a:r>
          </a:p>
        </p:txBody>
      </p:sp>
    </p:spTree>
    <p:extLst>
      <p:ext uri="{BB962C8B-B14F-4D97-AF65-F5344CB8AC3E}">
        <p14:creationId xmlns:p14="http://schemas.microsoft.com/office/powerpoint/2010/main" val="173033451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这一页把水循环放进整个地球系统来看。图上有四个节点：大气圈、海洋、陆地与生命、岩石与深部。先看表层：海洋与大气之间有蒸发和降水两条方向相反的箭头；陆地与大气之间同样有降水向下、蒸腾与生物转移向上；陆地上的水通过径流回到海洋，又通过入渗进入地下。再看深部：俯冲把水带入地球内部，火山作用把水返回表层，这两个方向沿用中文教材图三之十三的原始方向；风化则把岩石中的溶质释放出来，随水输送到海洋。所以水循环不是一张表层流程图：它同时连接大气、海洋、生命、岩石和深部地球，并在这些储库之间搬运质量与能量；水还是溶剂和搬运介质，相变过程同时输送潜热。本页依据 Understanding Earth 第十二章与第十七章、中文教材第三章、Earth Portrait 第二十三章和 How to Build a Habitable Planet 第九章的批准来源行重绘，不引入新的数值预算。</a:t>
            </a:r>
          </a:p>
        </p:txBody>
      </p:sp>
    </p:spTree>
    <p:extLst>
      <p:ext uri="{BB962C8B-B14F-4D97-AF65-F5344CB8AC3E}">
        <p14:creationId xmlns:p14="http://schemas.microsoft.com/office/powerpoint/2010/main" val="87951522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这一页是课堂读图题，答案不在画面上，而在你们的读图过程里。请看左侧这幅 Earth Portrait 的全球水循环图，依次完成四个任务：第一，至少指出四个储库；第二，至少指出四个通量，也就是图中的箭头；第三，指出一条较快的路径和一条较慢的路径；第四，找出太阳能从哪里进入循环。给一点提示性的答案键，供讨论后核对：储库可以答海洋、大气、冰雪、陆地与生物、地下含水层；通量可以答蒸发、蒸腾、升华、凝结与降水、径流、入渗、地下水流；较快的路径是海洋与大气之间的蒸发—降水回路，较慢的路径是地下水流或冰雪的融化返回；太阳能从驱动蒸发和大气水汽输送进入循环，这与 Understanding Earth 第十七章的表述一致。图上标签保持完整，没有做数值计算，也没有混用其他图件的数值。</a:t>
            </a:r>
          </a:p>
        </p:txBody>
      </p:sp>
    </p:spTree>
    <p:extLst>
      <p:ext uri="{BB962C8B-B14F-4D97-AF65-F5344CB8AC3E}">
        <p14:creationId xmlns:p14="http://schemas.microsoft.com/office/powerpoint/2010/main" val="240399634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第一部分用五条结论收束。第一，水在储库之间迁移：海洋、大气、冰雪、陆地与地下水通过通量持续交换。第二，相变输送能量：蒸发吸热、凝结放热，水循环同时是能量循环。第三，径流与地下水搬运溶质和沉积物，把陆地的物质带向海洋。第四，水塑造地表：侵蚀与沉积持续改变地形。第五，表层循环与俯冲—火山的深部路径共同把水送入并送出岩石圈，连接各大圈层。讲完这五条，第一部分结束，休息十分钟；下一部分我们用同一套储库、通量、停留时间的语言进入碳循环。本页全部结论来自 Understanding Earth 第十二、十七章、中文教材第三章和 Earth Portrait Interlude F 与第二十三章的批准来源行，没有新增事实或数值。</a:t>
            </a:r>
          </a:p>
        </p:txBody>
      </p:sp>
    </p:spTree>
    <p:extLst>
      <p:ext uri="{BB962C8B-B14F-4D97-AF65-F5344CB8AC3E}">
        <p14:creationId xmlns:p14="http://schemas.microsoft.com/office/powerpoint/2010/main" val="256477601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第一部分我们用储库、通量和停留时间读完了水循环。进入第二部分之前，先说明为什么下一个主题是碳。课程位置很清楚：第二部分现在正式开始，把同一套语言用到碳循环上，第三部分再把水和碳放回同一个气候系统。这里不需要重新定义概念，储库、通量与停留时间这三个词直接沿用。碳的价值在于它同时连接气候、生命、海洋与岩石，它把温室效应、光合作用、海水溶解和岩石储存串在一条链条上。要提醒的是，碳循环不等于只看大气二氧化碳，大气只是其中一个环节。</a:t>
            </a:r>
          </a:p>
        </p:txBody>
      </p:sp>
    </p:spTree>
    <p:extLst>
      <p:ext uri="{BB962C8B-B14F-4D97-AF65-F5344CB8AC3E}">
        <p14:creationId xmlns:p14="http://schemas.microsoft.com/office/powerpoint/2010/main" val="24948048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左边这张图是本页唯一的数值来源，所有数字都取自这一张图，不与其它数据集混用。右边把这四个数值储库按自小而大排列：一、生物圈五百吉吨碳；二、大气八百三十；三、土壤一千五百；四、海洋三万八千。所以四个当中最小的是生物圈，大气排在它后面；相对海洋和土壤，两者都只是小储库，但大气并不是最小的那一个。沉积物和岩石圈作为单独的一组地质储库列在下方，图中没有给出它们的总量，因此只作定性描述，不参与上面的数值排序，它们才是量级最大的储库。由此得到本页的结论：碳主要储存在海洋、沉积物和岩石里，大气只是一个小储库；同时要记住，最大的储库并不意味着最快的响应。</a:t>
            </a:r>
          </a:p>
        </p:txBody>
      </p:sp>
    </p:spTree>
    <p:extLst>
      <p:ext uri="{BB962C8B-B14F-4D97-AF65-F5344CB8AC3E}">
        <p14:creationId xmlns:p14="http://schemas.microsoft.com/office/powerpoint/2010/main" val="405852303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读碳循环图时，框表示储库，单位是吉吨碳；箭头表示通量，单位是吉吨碳每年。图中的一百二十和八十吉吨碳每年是高频总交换，不能直接当作净碳汇。生物过程和海气交换的通量较高、交换较快，而硅酸盐风化与火山返回都小于零点一吉吨碳每年，代表缓慢的地质通量。因此，大储库、快交换和净变化是三个不同问题，储库不等于通量。</a:t>
            </a:r>
          </a:p>
        </p:txBody>
      </p:sp>
    </p:spTree>
    <p:extLst>
      <p:ext uri="{BB962C8B-B14F-4D97-AF65-F5344CB8AC3E}">
        <p14:creationId xmlns:p14="http://schemas.microsoft.com/office/powerpoint/2010/main" val="313497786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这一页把水和碳并排放。中间一列是共用的三个词：储库、通量和停留时间。前两行的表述方式两侧完全一样，水的储库和碳的储库都可以用同一句话来描述，通量也是如此。真正的差别出现在第三行。水循环里更新最快的是大气，最慢的是冰盖和深层地下水；碳循环里最快的是表层库，最慢的是沉积物与岩石。也就是说，两边都可以问"这个储库多久更新一次"，但答案的档位并不相同。具体数值与单位，分别见前面水循环部分的表格和教材图四之十五、图四之十六，本页不新建数值表。</a:t>
            </a:r>
          </a:p>
        </p:txBody>
      </p:sp>
    </p:spTree>
    <p:extLst>
      <p:ext uri="{BB962C8B-B14F-4D97-AF65-F5344CB8AC3E}">
        <p14:creationId xmlns:p14="http://schemas.microsoft.com/office/powerpoint/2010/main" val="178922565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这一页讲陆地生命这条快通路，全页不使用任何数值，重点在过程和方向。先看最上面这一层：大气是整张图的枢纽，碳以二氧化碳的形式停在这里。往下读三条通路，箭头方向一定要说清。第一条是光合作用，箭头向下，大气中的二氧化碳被固定成植物有机碳。第二条是呼吸作用，箭头向上，植物和动物把有机碳氧化利用之后，把碳交还大气。第三条是微生物分解，箭头同样向上，枯落物和土壤里的碳被分解者送回大气。还有一条更细的箭头向右，把枯落物和死亡有机质从植被带进土壤储库，它不是第四种通路，而是让上面这个环真正闭合起来的物理衔接。接着要特别强调右下角的土壤：土壤不是箭头之间的空隙，枯落物与死亡有机质在其中不断积累，它是一个实实在在的碳储库，这一点在右边那张卡片里也写了。为什么把这个环节叫快速碳循环？因为这里的碳在植被与土壤之间不断被取用、又不断归还大气，周转明显快于地质储库，所以单独归入快速碳循环这一组；本页只作快慢的定性比较，不给出具体年限。最后留一句尾巴：同一片叶子上，光合固碳和蒸腾失水是同时发生的，这就是碳循环与水循环在植物身上的接触点，本页只点一下，不展开耦合。</a:t>
            </a:r>
          </a:p>
        </p:txBody>
      </p:sp>
    </p:spTree>
    <p:extLst>
      <p:ext uri="{BB962C8B-B14F-4D97-AF65-F5344CB8AC3E}">
        <p14:creationId xmlns:p14="http://schemas.microsoft.com/office/powerpoint/2010/main" val="184237688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这一页要打破一个常见的误解：海洋并不总是一个单向吸碳的汇。左边这张图是本页唯一的数值来源，所以正负约定必须读准。先看右下角第一张卡片的读数规则：红色一侧是正值，表示海水在这一带放出二氧化碳，也就是碳源；紫蓝色一侧是负值，表示海水在这一带吸收二氧化碳，也就是碳汇。单位是净通量，写成克每平方米每年，色标大致从负一百零八到正一百零八；图上原本的色标、单位和正负号都完整保留，没有裁掉，也没有改写。那为什么会有这种空间差异？温度、海水组成，尤其是风的混合作用和浪花飞溅，共同决定二氧化碳溶解和释放的快慢；高纬度的冷海更容易吸收，上升流区域和暖水区更容易放出。所以右边最后那张卡片的结论是：同一片海洋在不同区域分别表现为碳源或碳汇，“海洋是碳汇”这句话只有限定区域和时段之后才成立。这里还要提醒一句：本页只用这一张图这一套通量数据，不叠加其他总交换数值，避免把不同来源的数字混在一起。</a:t>
            </a:r>
          </a:p>
        </p:txBody>
      </p:sp>
    </p:spTree>
    <p:extLst>
      <p:ext uri="{BB962C8B-B14F-4D97-AF65-F5344CB8AC3E}">
        <p14:creationId xmlns:p14="http://schemas.microsoft.com/office/powerpoint/2010/main" val="339995549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大气二氧化碳进入表层海洋后，可以沿三条路径向深处转移。物理泵依靠低温提高溶解度，并随深水形成和环流把溶解无机碳带到深海；生物泵先由光合作用形成有机碳，再通过颗粒下沉和深处分解完成转移。碳酸盐路径把生物成壳、沉降与碳酸钙埋藏连接到沉积物和岩石。教材支持的背景事实是，深层水的无机碳浓度约比表层高百分之十五；关键仍是区分三条路径的机制与箭头方向。</a:t>
            </a:r>
          </a:p>
        </p:txBody>
      </p:sp>
    </p:spTree>
    <p:extLst>
      <p:ext uri="{BB962C8B-B14F-4D97-AF65-F5344CB8AC3E}">
        <p14:creationId xmlns:p14="http://schemas.microsoft.com/office/powerpoint/2010/main" val="141186967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这一页沿着一条路径从海洋的溶解碳一直读到岩石。左边第一段是海水中的溶解无机碳，也就是以碳酸氢根和碳酸根形式存在的碳。第二段是生物成壳：海洋生物把溶解碳拿来建造钙质壳体与骨骼。第三段是碳酸盐颗粒：壳体破碎以后变成碳酸钙颗粒，向海底沉降。第四段是沉积与埋藏：颗粒在海底堆积，被后来的沉积物覆盖，埋进地下。第五段是碳酸盐岩：经过压实与胶结，碳以碳酸盐岩的形式回到岩石圈。五个方框之间的箭头方向都是向前的，这条路径本身是连续的，中间没有跳步。这里要提醒一句：按照图 4-9，海洋把碳送入深处一共有三条不同的路径，生物泵走有机碳，物理泵走随环流下沉的溶解碳，碳酸盐路径走钙质颗粒；本页只沿碳酸盐这一条走，另外两条不在这页展开。最后看下面这条可选反应式：钙离子加上两个碳酸氢根离子，生成碳酸钙、水和二氧化碳。教材给出这个式子，是为了说明碳酸盐泵在形成碳酸盐的时候可能把二氧化碳放出来，所以碳酸盐路径不能简单当成一个单向吸碳的过程，它必须和埋藏放在一起看，才谈得上是不是净的大气碳汇。本页不做碳酸盐平衡的定量计算，只看方向。</a:t>
            </a:r>
          </a:p>
        </p:txBody>
      </p:sp>
    </p:spTree>
    <p:extLst>
      <p:ext uri="{BB962C8B-B14F-4D97-AF65-F5344CB8AC3E}">
        <p14:creationId xmlns:p14="http://schemas.microsoft.com/office/powerpoint/2010/main" val="28065391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这一页把水循环正式接进碳循环。先看上面这条因果链：大气中的二氧化碳先溶解在雨水里，形成很弱的碳酸；这种含二氧化碳的水去侵蚀岩石，发生化学风化；风化把岩石里的成分变成溶解产物；溶解产物被河流带走，最后进入海洋并储存在沉积物里。这条链的起点是降水，所以水循环一进入，碳循环就多了一条通路。真正要讲清楚的是下面两张卡片的区别。左边是硅酸盐风化：二氧化碳溶进水以后，与硅酸盐矿物反应，把大气中的碳转入岩石圈的碳酸盐，并在很长的时间尺度上把它留在那里，因此这一支是净的大气碳去向，教材给出的特征简式是硅酸钙加二氧化碳生成碳酸钙加二氧化硅。右边是碳酸盐风化：碳酸盐岩先被溶解，溶解出来的碳随河流进入海洋，随后又在海洋里重新形成碳酸盐沉积下来；溶解与重新沉淀两件事相抵，所以这一支不带来净的大气碳变化，它属于循环，而不是净汇。课堂上一定要把这两支分开讲，不能笼统地说“风化吸收二氧化碳”。本页不使用任何数值。</a:t>
            </a:r>
          </a:p>
        </p:txBody>
      </p:sp>
    </p:spTree>
    <p:extLst>
      <p:ext uri="{BB962C8B-B14F-4D97-AF65-F5344CB8AC3E}">
        <p14:creationId xmlns:p14="http://schemas.microsoft.com/office/powerpoint/2010/main" val="99461428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这一页把慢地质路径按方向完整走一遍，顺序不能颠倒。第一段是风化与河流输送：降水溶入二氧化碳以后侵蚀岩石，风化产物由河流带走。第二段是沉积与埋藏：碳酸盐与有机碳在海底沉积下来，随后被埋入地下，从表层系统里退出。第三段是俯冲与变质：板块俯冲把已经埋藏的碳带入地球深部，经过变质作用在那里长期储存。第四段是火山脱气：火山活动把深部的碳重新送回大气，于是这条慢循环完成一个回合。上面和下面的箭头标出了这条路径的进出口：二氧化碳从大气进入风化，最后又从火山回到大气。中间这条深部储存带写着沉积物、沉积岩与地幔，要让学生注意到，碳在这里停留的时间远远长于在表层储库里的时间。这一页是依据教材图 4-16 做的忠实双语原生简化，保留了原图的路径和方向，没有放置那张很密的原始栅格图，也没有把图 4-17 的数值拿来和它合成一个新预算。本页也不展开早期大气的历史。</a:t>
            </a:r>
          </a:p>
        </p:txBody>
      </p:sp>
    </p:spTree>
    <p:extLst>
      <p:ext uri="{BB962C8B-B14F-4D97-AF65-F5344CB8AC3E}">
        <p14:creationId xmlns:p14="http://schemas.microsoft.com/office/powerpoint/2010/main" val="384380860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这一页要回答一个问题：碳在储库之间跑得有多快。上面那条窄条先把三个词分开，储库表示某个地方存了多少碳，通量表示每年转移多少，停留时间表示一份碳平均在里面停留多久；这三个是不同的问题，不能混着用。中间这一大块是主面板，来源是教材图 4-15，横轴是对数轴，每一格代表十倍。四条色带分别是四类路径的时钟：大气、生物圈与表层海之间最快，大约是十的一次方到十的二次方年；深层海慢一档，大约是十的二次方到十的二次方以上的千年级；沉积物更慢，大约是十的三次方到十的五次方年；地质储库最慢，超过十的五次方年。要强调一句：储库最大不等于响应最快，地质储库最大，但它的时钟最慢。下面那块浅色区域是另一个独立面板，来源是教材图 4-16，它给的是更宽的区间，表层库、沉积物库、变质库与地幔库各自的跨度都比主面板更宽、更粗。这两个面板来自两张不同的教材图，区间和口径都不一样，所以它们各自保留原图的区间与单位，不合并、不插值，也不跨图换算精度。本页是本任务里唯一允许出现数值的页面，原因就是这一页的来源行明确写出了图 4-15 与图 4-16。</a:t>
            </a:r>
          </a:p>
        </p:txBody>
      </p:sp>
    </p:spTree>
    <p:extLst>
      <p:ext uri="{BB962C8B-B14F-4D97-AF65-F5344CB8AC3E}">
        <p14:creationId xmlns:p14="http://schemas.microsoft.com/office/powerpoint/2010/main" val="403221227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这一页是一次课堂检查，不是新知识。左边是已批准使用的教材图 12.19，图上把大气、陆地、海洋和地质储库四个区域分了区，方框代表储库，箭头代表通量，箭头旁边写着通量的大小。右边上面是任务提示：请学生在图上任选一条通路，然后说清楚四件事——起点储库和终点储库是什么，中间的过程或者通量是什么，这条通路相对是快还是慢，以及它属于生物、海洋还是地质路径。下面这张读图提示告诉学生怎么下手：先找方框再读箭头，方向由箭头给出。要特别提醒的是，不要要求背下图上的全部数字；图上的一百二十和八十吉吨碳每年是总交换量，不是净碳汇，这一点在讲第二十三页时已经强调过。答案不唯一，下面给出三条都可以接受的通路作为参考。第一条是光合作用：从大气到陆地植物，过程是光合作用，属于生物路径，速度快。第二条是海气交换：大气和海洋之间双向交换二氧化碳，属于海洋路径，速度也快；要注意它是双向的，图上那支箭头标的是总交换量。第三条是碳酸盐沉积：海洋中的碳酸钙沉到沉积物里，属于地质路径，速度慢。也可以接受另外一些通路，例如风化把大气中的二氧化碳带进陆地，或者火山活动把地质储库里的碳送回大气。判断标准是学生能不能把四件事都说全，而不是选了哪一条。</a:t>
            </a:r>
          </a:p>
        </p:txBody>
      </p:sp>
    </p:spTree>
    <p:extLst>
      <p:ext uri="{BB962C8B-B14F-4D97-AF65-F5344CB8AC3E}">
        <p14:creationId xmlns:p14="http://schemas.microsoft.com/office/powerpoint/2010/main" val="406268592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这一页收束碳循环第二部分，用四句话把前面几页串起来，不新增内容。第一句，碳存在哪里：大气、生命与土壤、海洋、沉积物与岩石，共同构成碳的储库体系。第二句，快速通路：光合作用、呼吸作用与海气交换，把碳在大气与表层之间快速搬运，这是前面快速碳循环那一组的内容。第三句，与岩石相连：碳酸盐形成、埋藏、俯冲与脱气，把表层的碳一路接到岩石圈，这是慢地质路径那一组的内容。第四句，不同的时钟：每条路径的速度不同，这决定了每个储库受到扰动之后多快做出响应；最大的储库并不等于最快的响应。四句话覆盖了本部分的四个要点，另外只作回顾，不再引入新的图件，也不再引入新的数字。从这里开始，第三部分要把水和碳放回同一个气候系统里看，进入耦合与反馈。</a:t>
            </a:r>
          </a:p>
        </p:txBody>
      </p:sp>
    </p:spTree>
    <p:extLst>
      <p:ext uri="{BB962C8B-B14F-4D97-AF65-F5344CB8AC3E}">
        <p14:creationId xmlns:p14="http://schemas.microsoft.com/office/powerpoint/2010/main" val="95895735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这一页把水循环和碳循环放进同一张图。橙色实线是碳通量，蓝色虚线是水通量，右上角有图例。碳的路径有六条：海洋与大气之间的二氧化碳交换；生命通过光合作用吸收、通过呼吸作用返回二氧化碳；大气中的二氧化碳与水一起驱动岩石风化；风化产物以溶解和碳酸盐的形式进入海洋；海洋中的碳经埋藏和俯冲进入沉积与岩石；岩石圈的碳再经火山脱气返回大气。水的路径穿插其间：海洋与大气的水交换、生命的蒸腾、以及水参与风化，正是这些水过程让碳得以在圈层之间转移。请注意图下方的注记：硅酸盐风化贡献的是缓慢的负气候倾向，而碳酸盐岩的回收并不构成同等的大气二氧化碳净汇，这是 Understanding Earth 明确区分的两点。本页为批准的重绘简报 I-02，依据 W-02、C-01、C-04、C-05、F-01 与 Source Matrix 批准文本重绘，只做定性整合，不合并任何图件的数值预算。</a:t>
            </a:r>
          </a:p>
        </p:txBody>
      </p:sp>
    </p:spTree>
    <p:extLst>
      <p:ext uri="{BB962C8B-B14F-4D97-AF65-F5344CB8AC3E}">
        <p14:creationId xmlns:p14="http://schemas.microsoft.com/office/powerpoint/2010/main" val="19149995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正反馈和负反馈描述的是作用方向，不是在评价结果好坏。判断时先明确初始变化，再跟踪它诱发的变化，最后比较诱发作用与初始方向。若两者同向，回路会放大或加强原变化，这是正反馈；若诱发作用反向，回路会抑制变化并使系统趋于稳定，这是负反馈。最可靠的判断方法始终是：找初始变化、跟踪诱发变化、比较最终作用方向。</a:t>
            </a:r>
          </a:p>
        </p:txBody>
      </p:sp>
    </p:spTree>
    <p:extLst>
      <p:ext uri="{BB962C8B-B14F-4D97-AF65-F5344CB8AC3E}">
        <p14:creationId xmlns:p14="http://schemas.microsoft.com/office/powerpoint/2010/main" val="189058669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这一页讲水汽反馈，是一条正反馈回路。请学生沿五张卡片从左往右读：第一步是初始增温，这是初始变化，卡片用深蓝边框单独标出；第二步蒸发增加，尤其是海洋蒸发增强；第三步大气水汽增多，水汽进入大气圈；第四步水汽吸收并再辐射长波辐射，温室效应加强；第五步进一步增温。下面那条回环箭头把第五步接回第一步，表示诱发变化与初始变化同向、沿原方向继续放大，所以深蓝签块标的是 Positive Feedback 正反馈，判断依据是方向而不是好坏。右边浅色卡片钉住一个常见误区：水汽在这里是对初始增温的反馈，不是一个独立初始强迫，不能把它讲成自己启动的驱动因素。这一页不需要任何数字，也不重新讲授第十五讲的温室效应本身。来源是理解地球第八版第十二章 PDF 第一一七七页，以及地球画像第五版第二十三章 883 到 884 页；中文教材第三章 PDF 第 10 页和 27 到 28 页只作相变背景支持。</a:t>
            </a:r>
          </a:p>
        </p:txBody>
      </p:sp>
    </p:spTree>
    <p:extLst>
      <p:ext uri="{BB962C8B-B14F-4D97-AF65-F5344CB8AC3E}">
        <p14:creationId xmlns:p14="http://schemas.microsoft.com/office/powerpoint/2010/main" val="382327424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这一页讲冰–反照率反馈，结构与上一页完全同族，方便学生套用同一套读法。五步依次是：初始增温；冰雪减少、覆盖面积缩小；反照率下降，卡片里给了简短双语定义，反照率就是地表反射率；地表吸收的太阳能增加；进一步增温。回环箭头同样把末步接回第一步，诱发变化与初始变化同向，因此是 Positive Feedback 正反馈。右边浅色卡片给出反照率的双语定义；教师边界提醒：本页不引入冰量数据、海平面数值或雪球地球历史；讲的时候也不要顺势说"海冰融化抬升海平面"，漂浮海冰融化与陆地冰融化对海平面的作用不同，那一区分属于冰冻圈页的内容，不在本页展开。来源是理解地球第八版第十二章 PDF 第一一七七页、地球系统与演变第三章 3.3.2.3 节 PDF 第 39 到 40 页，HB 第九章 251 到 252 页只作机制背景。</a:t>
            </a:r>
          </a:p>
        </p:txBody>
      </p:sp>
    </p:spTree>
    <p:extLst>
      <p:ext uri="{BB962C8B-B14F-4D97-AF65-F5344CB8AC3E}">
        <p14:creationId xmlns:p14="http://schemas.microsoft.com/office/powerpoint/2010/main" val="302927823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从大气二氧化碳增加或温度升高开始，更暖、更湿和雨水酸性更强的条件会加速硅酸盐风化。风化消耗二氧化碳，并增加进入海洋的钙离子等溶解产物，随后通过碳酸钙埋藏把碳转移到长期储库，使大气二氧化碳下降并产生冷却趋势。这个最终作用反对初始增温，因此构成缓慢的负反馈；响应时间大于十的五次方到十的七次方年。反向来看，冷却会减弱水汽和酸性、降低风化与二氧化碳去除，而火山输入可逐渐重建大气碳储库。这里必须限定为硅酸盐风化，不能把碳酸盐岩风化表述成同等的净大气二氧化碳汇。</a:t>
            </a:r>
          </a:p>
        </p:txBody>
      </p:sp>
    </p:spTree>
    <p:extLst>
      <p:ext uri="{BB962C8B-B14F-4D97-AF65-F5344CB8AC3E}">
        <p14:creationId xmlns:p14="http://schemas.microsoft.com/office/powerpoint/2010/main" val="299999321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这一页讲生命参与的反馈，是一个有边界的代表性负反馈，步骤比前两页少一步。第一步是大气 CO₂ 增加，这是初始变化；第二步植物生长可能增加，注意这是条件式措辞，是"可能增加、可促进"而不是"必然促进"；第三步植物把更多 CO₂ 固定进有机质，完成碳吸收；第四步大气 CO₂ 与温室增温相对初始变化被降低。回环箭头把第四步接回第一步，但方向作用是反对初始变化、抑制并趋于稳定，所以签块标 Negative Feedback 负反馈。右边浅色卡片把边界写清楚：这是条件式表述，不声称无限生长、永久补偿，也不声称现今已测得的净汇；同样不扩展到养分限制、生态系统学、政策或土地管理。页面上没有任何通量或响应时间数字，因为任务未授权。CO₂ 用橙色标记，只在这一页出现，用来把碳的线索从第二部分接过来。来源是理解地球第八版第十二章 PDF 第一一七八页，UE 第一一六八页与已批准的中文教材第四章行只作过程背景。</a:t>
            </a:r>
          </a:p>
        </p:txBody>
      </p:sp>
    </p:spTree>
    <p:extLst>
      <p:ext uri="{BB962C8B-B14F-4D97-AF65-F5344CB8AC3E}">
        <p14:creationId xmlns:p14="http://schemas.microsoft.com/office/powerpoint/2010/main" val="421058429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这一页要纠正一个常见误解：反馈并不是按同一个速度运行的。图上把五个反馈家族对齐到同一条定性时间轴上，从左到右表示从快到慢的相对位置，而不是一张精确的统一响应时间表，教材本身也没有给出这样一张表。辐射收支对辐射强迫的响应几乎是即时的，落在即时到数天的位置；水文与水汽反馈跟随大气水的快速周转，大气中的水大约不到九天就交换一次，可以作为快速端的锚点。冰冻圈跨越很宽，从季节积雪、海冰一直到山地冰川和冰盖，也就是季节到冰期尺度。生物圈涉及植物生长等生物过程，教材没有给出统一的定量响应时间，所以这一条故意画成贯穿整条时间轴的中性虚线条带，不落入任何时间区间，提醒大家不要给它分配时间区间或精确时钟。最慢的是硅酸盐风化恒温器，响应时间在十万到千万年量级，用克制的橙色标出。结论是：慢的负反馈无法立刻抵消快的正反馈，判断一个系统会怎样变化，必须同时看反馈方向和响应时钟。还要提醒，强迫与反馈不是一回事，教材中关于不同时间尺度气候变化带的划分不能直接当作每个反馈的响应时间。</a:t>
            </a:r>
          </a:p>
        </p:txBody>
      </p:sp>
    </p:spTree>
    <p:extLst>
      <p:ext uri="{BB962C8B-B14F-4D97-AF65-F5344CB8AC3E}">
        <p14:creationId xmlns:p14="http://schemas.microsoft.com/office/powerpoint/2010/main" val="146150357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这是一道课堂练习，页面本身是一张待完成的因果图，完整答案不放在可见页面上，由学生在三条路径上现场补全。顶部是唯一给定的初始扰动：温度升高。学生需要完成四项任务：补全至少两条响应路径，给每条路径标注正反馈或负反馈，指出哪条路径响应更快，再指出哪条更慢。右下角给出的四个可用环节全部来自前面第三十六到三十九页，不引入新机制。教师用的参考答案如下。第一条是水汽正反馈：升温使蒸发增强，大气水汽增多，温室效应增强，进一步升温，符号为正，速度很快，属于天到季节量级，依据是 UE 一千一百七十七页和 EP 八百八十三到八百八十四页。第二条是冰反照率正反馈：升温使冰雪减少，地表反照率下降，吸收的太阳能量增多，进一步升温，符号为正，速度从季节到冰期不等，依据是 UE 一千一百七十七页和《地球系统与演变》第三十九到四十页。第三条是硅酸盐风化负反馈：增暖增湿使风化加速，把大气中的二氧化碳转入碳酸盐，从而抑制初始升温，符号为负，速度最慢，在十万到千万年量级，依据是 HB 第九章二百四十八到二百四十九页并配合 UE 一千二百一十二到一千二百一十三页。植物生长固碳可以作为第四条可接受路径：二氧化碳升高刺激生长、植物吸收更多碳，符号为负，但教材没有给响应时间，不能给它配精确时钟。讲评时必须强调，正反馈和负反馈指的是放大还是抑制初始变化，不是好与坏；最快的是水汽和辐射类响应，最慢的是风化恒温器，这正好呼应上一页关于不同时钟的结论。</a:t>
            </a:r>
          </a:p>
        </p:txBody>
      </p:sp>
    </p:spTree>
    <p:extLst>
      <p:ext uri="{BB962C8B-B14F-4D97-AF65-F5344CB8AC3E}">
        <p14:creationId xmlns:p14="http://schemas.microsoft.com/office/powerpoint/2010/main" val="389634646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这一页给出四道候选题，正式作业由教师从中选一道到两道，页面上不提供答案。第一题是概念题，要求学生定义储库、通量和停留时间，并解释为什么储量很大的储库更新不一定快，评分时看学生能否用停留时间等于储量除以通量这一关系说明大储量配合大通量时停留时间仍可能很长。第二题是比较题，要求从储库、过程和相对时间尺度三方面比较快速与缓慢碳循环路径，评分看学生是否把大气生物圈的快速交换与岩石圈的缓慢风化埋藏区分开。第三题是耦合题，要求以风化、海洋输送或生物过程为例说明水如何把水循环与碳循环连接起来，三条路径举出任意一条并讲清因果即可。第四题是因果推理题，要求从一次升温出发各写一条正反馈和一条负反馈路径并比较响应快慢，评分看链条是否闭合、符号判定是否正确，以及是否意识到慢负反馈不能即时抵消快正反馈。四道题分别覆盖概念理解、比较解释、系统耦合和因果推理，不另外增加政策题或超纲计算。</a:t>
            </a:r>
          </a:p>
        </p:txBody>
      </p:sp>
    </p:spTree>
    <p:extLst>
      <p:ext uri="{BB962C8B-B14F-4D97-AF65-F5344CB8AC3E}">
        <p14:creationId xmlns:p14="http://schemas.microsoft.com/office/powerpoint/2010/main" val="1453370949"/>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这一页是全讲核心术语的收束，按共同框架、水文过程、碳与耦合三组列出，共二十个术语，英文以 UE 教材为准，中文以《地球系统与演变》为准，页面只列术语，不展开新定义。共同框架组六个：储库是物质的存放单元，通量是单位时间的转移量，停留时间是物质在储库中的平均滞留时长，反馈是输出回过来影响输入的过程，正反馈放大初始变化，负反馈抑制或稳定初始变化，正负不是好坏。水文过程组七个：水文循环是水在各储库间的循环，蒸发是液态水变为水汽，蒸散包括蒸发与植物蒸腾，径流是地表水流，入渗是水渗入地下，地下水是储存在孔隙含水层中的水，冰冻圈是地球表层所有冻结水的总称。碳与耦合组七个：碳循环是碳在各储库间的循环，光合作用把二氧化碳固定为有机碳，呼吸作用把有机碳氧化释放二氧化碳，风化是水与二氧化碳等参与的岩石化学蚀变过程，硅酸盐风化可形成长期净二氧化碳去向，而碳酸盐风化不是同等净汇，碳酸盐是碳在岩石圈的主要赋存形式，生物泵靠海洋生物把碳向深层输送，物理泵靠海水溶解与环流输送碳。复习时提醒学生，这些术语前面都已讲过，这里只做对照与巩固，不引入新概念。</a:t>
            </a:r>
          </a:p>
        </p:txBody>
      </p:sp>
    </p:spTree>
    <p:extLst>
      <p:ext uri="{BB962C8B-B14F-4D97-AF65-F5344CB8AC3E}">
        <p14:creationId xmlns:p14="http://schemas.microsoft.com/office/powerpoint/2010/main" val="127576303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最后把六条结论合在一起。第一，水和碳通过通量在储库之间迁移，储量不等于通量；第二，停留时间控制储库响应快慢，大储库不一定更新快。第三，水循环搬运物质和能量，并连接大气、海洋、岩石与生命；第四，碳循环同时包含快速的生物和海洋路径与缓慢的地质路径。第五，水通过风化、海气交换和生命过程把水循环与碳循环耦合起来；第六，正反馈放大变化，负反馈抑制变化，判断系统响应必须同时看方向和时间尺度。这六个关键词共同构成阅读地球系统循环的框架：储库、通量、停留时间、耦合、反馈和时间尺度。</a:t>
            </a:r>
          </a:p>
        </p:txBody>
      </p:sp>
    </p:spTree>
    <p:extLst>
      <p:ext uri="{BB962C8B-B14F-4D97-AF65-F5344CB8AC3E}">
        <p14:creationId xmlns:p14="http://schemas.microsoft.com/office/powerpoint/2010/main" val="2163093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CC643EE-2EE2-B35A-23A2-F486CF9A4D3F}"/>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E15AD7CE-A3AC-2BEC-8DB2-3D28FEF9585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8A5BEE59-1056-CF13-3D6F-F10459022B9D}"/>
              </a:ext>
            </a:extLst>
          </p:cNvPr>
          <p:cNvSpPr>
            <a:spLocks noGrp="1"/>
          </p:cNvSpPr>
          <p:nvPr>
            <p:ph type="dt" sz="half" idx="10"/>
          </p:nvPr>
        </p:nvSpPr>
        <p:spPr/>
        <p:txBody>
          <a:bodyPr/>
          <a:lstStyle/>
          <a:p>
            <a:fld id="{7A4F292D-56DB-4376-A4EA-3565420C5DA5}" type="datetimeFigureOut">
              <a:rPr lang="zh-CN" altLang="en-US" smtClean="0"/>
              <a:t>2026/9/15</a:t>
            </a:fld>
            <a:endParaRPr lang="zh-CN" altLang="en-US"/>
          </a:p>
        </p:txBody>
      </p:sp>
      <p:sp>
        <p:nvSpPr>
          <p:cNvPr id="5" name="页脚占位符 4">
            <a:extLst>
              <a:ext uri="{FF2B5EF4-FFF2-40B4-BE49-F238E27FC236}">
                <a16:creationId xmlns:a16="http://schemas.microsoft.com/office/drawing/2014/main" id="{A65F0D32-5ECA-BE69-961A-64C13FD5908C}"/>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F5337655-72E4-4E6F-A666-2CAF69B65B90}"/>
              </a:ext>
            </a:extLst>
          </p:cNvPr>
          <p:cNvSpPr>
            <a:spLocks noGrp="1"/>
          </p:cNvSpPr>
          <p:nvPr>
            <p:ph type="sldNum" sz="quarter" idx="12"/>
          </p:nvPr>
        </p:nvSpPr>
        <p:spPr/>
        <p:txBody>
          <a:bodyPr/>
          <a:lstStyle/>
          <a:p>
            <a:fld id="{162D2832-D0AE-4A08-B8C1-236B08B45683}" type="slidenum">
              <a:rPr lang="zh-CN" altLang="en-US" smtClean="0"/>
              <a:t>‹#›</a:t>
            </a:fld>
            <a:endParaRPr lang="zh-CN" altLang="en-US"/>
          </a:p>
        </p:txBody>
      </p:sp>
    </p:spTree>
    <p:extLst>
      <p:ext uri="{BB962C8B-B14F-4D97-AF65-F5344CB8AC3E}">
        <p14:creationId xmlns:p14="http://schemas.microsoft.com/office/powerpoint/2010/main" val="36818776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66A9014-4499-EA9B-826D-3D9066918555}"/>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C43CC434-8287-19B1-67D9-930B04C06973}"/>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BF9A2836-8F45-4879-27C5-C1356B4E2562}"/>
              </a:ext>
            </a:extLst>
          </p:cNvPr>
          <p:cNvSpPr>
            <a:spLocks noGrp="1"/>
          </p:cNvSpPr>
          <p:nvPr>
            <p:ph type="dt" sz="half" idx="10"/>
          </p:nvPr>
        </p:nvSpPr>
        <p:spPr/>
        <p:txBody>
          <a:bodyPr/>
          <a:lstStyle/>
          <a:p>
            <a:fld id="{7A4F292D-56DB-4376-A4EA-3565420C5DA5}" type="datetimeFigureOut">
              <a:rPr lang="zh-CN" altLang="en-US" smtClean="0"/>
              <a:t>2026/9/15</a:t>
            </a:fld>
            <a:endParaRPr lang="zh-CN" altLang="en-US"/>
          </a:p>
        </p:txBody>
      </p:sp>
      <p:sp>
        <p:nvSpPr>
          <p:cNvPr id="5" name="页脚占位符 4">
            <a:extLst>
              <a:ext uri="{FF2B5EF4-FFF2-40B4-BE49-F238E27FC236}">
                <a16:creationId xmlns:a16="http://schemas.microsoft.com/office/drawing/2014/main" id="{291757C1-81DB-A961-DD30-B463AFA604C2}"/>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ED780AEB-02A8-DB63-6BFB-8F583587637F}"/>
              </a:ext>
            </a:extLst>
          </p:cNvPr>
          <p:cNvSpPr>
            <a:spLocks noGrp="1"/>
          </p:cNvSpPr>
          <p:nvPr>
            <p:ph type="sldNum" sz="quarter" idx="12"/>
          </p:nvPr>
        </p:nvSpPr>
        <p:spPr/>
        <p:txBody>
          <a:bodyPr/>
          <a:lstStyle/>
          <a:p>
            <a:fld id="{162D2832-D0AE-4A08-B8C1-236B08B45683}" type="slidenum">
              <a:rPr lang="zh-CN" altLang="en-US" smtClean="0"/>
              <a:t>‹#›</a:t>
            </a:fld>
            <a:endParaRPr lang="zh-CN" altLang="en-US"/>
          </a:p>
        </p:txBody>
      </p:sp>
    </p:spTree>
    <p:extLst>
      <p:ext uri="{BB962C8B-B14F-4D97-AF65-F5344CB8AC3E}">
        <p14:creationId xmlns:p14="http://schemas.microsoft.com/office/powerpoint/2010/main" val="5657025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E4B9CF9-96A8-0E55-871B-C663CA84A973}"/>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1DDD6130-4889-7F1B-D46B-08EE0D09A66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3179D7F0-B183-3D96-5FE5-F37BD4137B1B}"/>
              </a:ext>
            </a:extLst>
          </p:cNvPr>
          <p:cNvSpPr>
            <a:spLocks noGrp="1"/>
          </p:cNvSpPr>
          <p:nvPr>
            <p:ph type="dt" sz="half" idx="10"/>
          </p:nvPr>
        </p:nvSpPr>
        <p:spPr/>
        <p:txBody>
          <a:bodyPr/>
          <a:lstStyle/>
          <a:p>
            <a:fld id="{7A4F292D-56DB-4376-A4EA-3565420C5DA5}" type="datetimeFigureOut">
              <a:rPr lang="zh-CN" altLang="en-US" smtClean="0"/>
              <a:t>2026/9/15</a:t>
            </a:fld>
            <a:endParaRPr lang="zh-CN" altLang="en-US"/>
          </a:p>
        </p:txBody>
      </p:sp>
      <p:sp>
        <p:nvSpPr>
          <p:cNvPr id="5" name="页脚占位符 4">
            <a:extLst>
              <a:ext uri="{FF2B5EF4-FFF2-40B4-BE49-F238E27FC236}">
                <a16:creationId xmlns:a16="http://schemas.microsoft.com/office/drawing/2014/main" id="{34F4D3C7-100A-1DCE-CF9B-2843A9DDC619}"/>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8EE7AE19-1842-1E3B-E672-A551BD4C5124}"/>
              </a:ext>
            </a:extLst>
          </p:cNvPr>
          <p:cNvSpPr>
            <a:spLocks noGrp="1"/>
          </p:cNvSpPr>
          <p:nvPr>
            <p:ph type="sldNum" sz="quarter" idx="12"/>
          </p:nvPr>
        </p:nvSpPr>
        <p:spPr/>
        <p:txBody>
          <a:bodyPr/>
          <a:lstStyle/>
          <a:p>
            <a:fld id="{162D2832-D0AE-4A08-B8C1-236B08B45683}" type="slidenum">
              <a:rPr lang="zh-CN" altLang="en-US" smtClean="0"/>
              <a:t>‹#›</a:t>
            </a:fld>
            <a:endParaRPr lang="zh-CN" altLang="en-US"/>
          </a:p>
        </p:txBody>
      </p:sp>
    </p:spTree>
    <p:extLst>
      <p:ext uri="{BB962C8B-B14F-4D97-AF65-F5344CB8AC3E}">
        <p14:creationId xmlns:p14="http://schemas.microsoft.com/office/powerpoint/2010/main" val="1114504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FF5F7A7-598C-EAE8-D508-45561A1B434B}"/>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B327828E-9DEA-0A3B-2A6C-15273F1ED33D}"/>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523F5742-E2C9-967C-F30A-9E95C508DE8D}"/>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FC2D4FE3-9855-CE1E-2B8A-CC59BB03A653}"/>
              </a:ext>
            </a:extLst>
          </p:cNvPr>
          <p:cNvSpPr>
            <a:spLocks noGrp="1"/>
          </p:cNvSpPr>
          <p:nvPr>
            <p:ph type="dt" sz="half" idx="10"/>
          </p:nvPr>
        </p:nvSpPr>
        <p:spPr/>
        <p:txBody>
          <a:bodyPr/>
          <a:lstStyle/>
          <a:p>
            <a:fld id="{7A4F292D-56DB-4376-A4EA-3565420C5DA5}" type="datetimeFigureOut">
              <a:rPr lang="zh-CN" altLang="en-US" smtClean="0"/>
              <a:t>2026/9/15</a:t>
            </a:fld>
            <a:endParaRPr lang="zh-CN" altLang="en-US"/>
          </a:p>
        </p:txBody>
      </p:sp>
      <p:sp>
        <p:nvSpPr>
          <p:cNvPr id="6" name="页脚占位符 5">
            <a:extLst>
              <a:ext uri="{FF2B5EF4-FFF2-40B4-BE49-F238E27FC236}">
                <a16:creationId xmlns:a16="http://schemas.microsoft.com/office/drawing/2014/main" id="{6F91F154-88A9-24E3-F4FA-08AEEC6B5D62}"/>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17002B63-5F0E-F171-E35E-0D281BB40E27}"/>
              </a:ext>
            </a:extLst>
          </p:cNvPr>
          <p:cNvSpPr>
            <a:spLocks noGrp="1"/>
          </p:cNvSpPr>
          <p:nvPr>
            <p:ph type="sldNum" sz="quarter" idx="12"/>
          </p:nvPr>
        </p:nvSpPr>
        <p:spPr/>
        <p:txBody>
          <a:bodyPr/>
          <a:lstStyle/>
          <a:p>
            <a:fld id="{162D2832-D0AE-4A08-B8C1-236B08B45683}" type="slidenum">
              <a:rPr lang="zh-CN" altLang="en-US" smtClean="0"/>
              <a:t>‹#›</a:t>
            </a:fld>
            <a:endParaRPr lang="zh-CN" altLang="en-US"/>
          </a:p>
        </p:txBody>
      </p:sp>
    </p:spTree>
    <p:extLst>
      <p:ext uri="{BB962C8B-B14F-4D97-AF65-F5344CB8AC3E}">
        <p14:creationId xmlns:p14="http://schemas.microsoft.com/office/powerpoint/2010/main" val="11476557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BBBE639-A85E-BC8E-2737-2B321D91BA9C}"/>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C22E4AC6-8F20-705B-9158-FFE321EBAF9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5832BD5A-3E3F-8D3E-5D57-26290AA5B303}"/>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458E5E42-1836-C3F6-8B11-9377EB292A6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0695DE43-C270-78FD-0698-4BCACAD24B50}"/>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C9F5405C-098D-3573-5955-8880C0BA1187}"/>
              </a:ext>
            </a:extLst>
          </p:cNvPr>
          <p:cNvSpPr>
            <a:spLocks noGrp="1"/>
          </p:cNvSpPr>
          <p:nvPr>
            <p:ph type="dt" sz="half" idx="10"/>
          </p:nvPr>
        </p:nvSpPr>
        <p:spPr/>
        <p:txBody>
          <a:bodyPr/>
          <a:lstStyle/>
          <a:p>
            <a:fld id="{7A4F292D-56DB-4376-A4EA-3565420C5DA5}" type="datetimeFigureOut">
              <a:rPr lang="zh-CN" altLang="en-US" smtClean="0"/>
              <a:t>2026/9/15</a:t>
            </a:fld>
            <a:endParaRPr lang="zh-CN" altLang="en-US"/>
          </a:p>
        </p:txBody>
      </p:sp>
      <p:sp>
        <p:nvSpPr>
          <p:cNvPr id="8" name="页脚占位符 7">
            <a:extLst>
              <a:ext uri="{FF2B5EF4-FFF2-40B4-BE49-F238E27FC236}">
                <a16:creationId xmlns:a16="http://schemas.microsoft.com/office/drawing/2014/main" id="{97F63613-D00E-BCFA-35E3-27680BC7B7F9}"/>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19314C46-E072-6765-BBA7-5866B11C9479}"/>
              </a:ext>
            </a:extLst>
          </p:cNvPr>
          <p:cNvSpPr>
            <a:spLocks noGrp="1"/>
          </p:cNvSpPr>
          <p:nvPr>
            <p:ph type="sldNum" sz="quarter" idx="12"/>
          </p:nvPr>
        </p:nvSpPr>
        <p:spPr/>
        <p:txBody>
          <a:bodyPr/>
          <a:lstStyle/>
          <a:p>
            <a:fld id="{162D2832-D0AE-4A08-B8C1-236B08B45683}" type="slidenum">
              <a:rPr lang="zh-CN" altLang="en-US" smtClean="0"/>
              <a:t>‹#›</a:t>
            </a:fld>
            <a:endParaRPr lang="zh-CN" altLang="en-US"/>
          </a:p>
        </p:txBody>
      </p:sp>
    </p:spTree>
    <p:extLst>
      <p:ext uri="{BB962C8B-B14F-4D97-AF65-F5344CB8AC3E}">
        <p14:creationId xmlns:p14="http://schemas.microsoft.com/office/powerpoint/2010/main" val="6634586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A753435-567C-98C8-B830-88C1E4EDA93F}"/>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8EF9142F-6C10-57DF-CFE1-1302DD01D045}"/>
              </a:ext>
            </a:extLst>
          </p:cNvPr>
          <p:cNvSpPr>
            <a:spLocks noGrp="1"/>
          </p:cNvSpPr>
          <p:nvPr>
            <p:ph type="dt" sz="half" idx="10"/>
          </p:nvPr>
        </p:nvSpPr>
        <p:spPr/>
        <p:txBody>
          <a:bodyPr/>
          <a:lstStyle/>
          <a:p>
            <a:fld id="{7A4F292D-56DB-4376-A4EA-3565420C5DA5}" type="datetimeFigureOut">
              <a:rPr lang="zh-CN" altLang="en-US" smtClean="0"/>
              <a:t>2026/9/15</a:t>
            </a:fld>
            <a:endParaRPr lang="zh-CN" altLang="en-US"/>
          </a:p>
        </p:txBody>
      </p:sp>
      <p:sp>
        <p:nvSpPr>
          <p:cNvPr id="4" name="页脚占位符 3">
            <a:extLst>
              <a:ext uri="{FF2B5EF4-FFF2-40B4-BE49-F238E27FC236}">
                <a16:creationId xmlns:a16="http://schemas.microsoft.com/office/drawing/2014/main" id="{7EB85A2E-FFBF-28B4-B767-DC14194E437B}"/>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770A809C-E94E-B775-B27D-87021E1E9161}"/>
              </a:ext>
            </a:extLst>
          </p:cNvPr>
          <p:cNvSpPr>
            <a:spLocks noGrp="1"/>
          </p:cNvSpPr>
          <p:nvPr>
            <p:ph type="sldNum" sz="quarter" idx="12"/>
          </p:nvPr>
        </p:nvSpPr>
        <p:spPr/>
        <p:txBody>
          <a:bodyPr/>
          <a:lstStyle/>
          <a:p>
            <a:fld id="{162D2832-D0AE-4A08-B8C1-236B08B45683}" type="slidenum">
              <a:rPr lang="zh-CN" altLang="en-US" smtClean="0"/>
              <a:t>‹#›</a:t>
            </a:fld>
            <a:endParaRPr lang="zh-CN" altLang="en-US"/>
          </a:p>
        </p:txBody>
      </p:sp>
    </p:spTree>
    <p:extLst>
      <p:ext uri="{BB962C8B-B14F-4D97-AF65-F5344CB8AC3E}">
        <p14:creationId xmlns:p14="http://schemas.microsoft.com/office/powerpoint/2010/main" val="19233016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F905F57A-04FF-2722-38A9-8B18095327E3}"/>
              </a:ext>
            </a:extLst>
          </p:cNvPr>
          <p:cNvSpPr>
            <a:spLocks noGrp="1"/>
          </p:cNvSpPr>
          <p:nvPr>
            <p:ph type="dt" sz="half" idx="10"/>
          </p:nvPr>
        </p:nvSpPr>
        <p:spPr/>
        <p:txBody>
          <a:bodyPr/>
          <a:lstStyle/>
          <a:p>
            <a:fld id="{7A4F292D-56DB-4376-A4EA-3565420C5DA5}" type="datetimeFigureOut">
              <a:rPr lang="zh-CN" altLang="en-US" smtClean="0"/>
              <a:t>2026/9/15</a:t>
            </a:fld>
            <a:endParaRPr lang="zh-CN" altLang="en-US"/>
          </a:p>
        </p:txBody>
      </p:sp>
      <p:sp>
        <p:nvSpPr>
          <p:cNvPr id="3" name="页脚占位符 2">
            <a:extLst>
              <a:ext uri="{FF2B5EF4-FFF2-40B4-BE49-F238E27FC236}">
                <a16:creationId xmlns:a16="http://schemas.microsoft.com/office/drawing/2014/main" id="{06BCAC74-DB01-387F-6A29-30549C00885E}"/>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C250F4EA-3938-41C6-0430-864667F63E0F}"/>
              </a:ext>
            </a:extLst>
          </p:cNvPr>
          <p:cNvSpPr>
            <a:spLocks noGrp="1"/>
          </p:cNvSpPr>
          <p:nvPr>
            <p:ph type="sldNum" sz="quarter" idx="12"/>
          </p:nvPr>
        </p:nvSpPr>
        <p:spPr/>
        <p:txBody>
          <a:bodyPr/>
          <a:lstStyle/>
          <a:p>
            <a:fld id="{162D2832-D0AE-4A08-B8C1-236B08B45683}" type="slidenum">
              <a:rPr lang="zh-CN" altLang="en-US" smtClean="0"/>
              <a:t>‹#›</a:t>
            </a:fld>
            <a:endParaRPr lang="zh-CN" altLang="en-US"/>
          </a:p>
        </p:txBody>
      </p:sp>
    </p:spTree>
    <p:extLst>
      <p:ext uri="{BB962C8B-B14F-4D97-AF65-F5344CB8AC3E}">
        <p14:creationId xmlns:p14="http://schemas.microsoft.com/office/powerpoint/2010/main" val="20719553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BC7C4D8-0F8F-068D-0EC4-8A94AEF0D8CE}"/>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86575F76-F0BC-9081-9A41-07DE1A9A1B5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C1410058-EC16-12EC-5C26-780B89AED45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3FDA59C8-6033-0B7E-DA06-409D47ADD98E}"/>
              </a:ext>
            </a:extLst>
          </p:cNvPr>
          <p:cNvSpPr>
            <a:spLocks noGrp="1"/>
          </p:cNvSpPr>
          <p:nvPr>
            <p:ph type="dt" sz="half" idx="10"/>
          </p:nvPr>
        </p:nvSpPr>
        <p:spPr/>
        <p:txBody>
          <a:bodyPr/>
          <a:lstStyle/>
          <a:p>
            <a:fld id="{7A4F292D-56DB-4376-A4EA-3565420C5DA5}" type="datetimeFigureOut">
              <a:rPr lang="zh-CN" altLang="en-US" smtClean="0"/>
              <a:t>2026/9/15</a:t>
            </a:fld>
            <a:endParaRPr lang="zh-CN" altLang="en-US"/>
          </a:p>
        </p:txBody>
      </p:sp>
      <p:sp>
        <p:nvSpPr>
          <p:cNvPr id="6" name="页脚占位符 5">
            <a:extLst>
              <a:ext uri="{FF2B5EF4-FFF2-40B4-BE49-F238E27FC236}">
                <a16:creationId xmlns:a16="http://schemas.microsoft.com/office/drawing/2014/main" id="{3CB4C093-604A-B720-05FA-95D1A543645F}"/>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352172D2-787C-5BE5-A3BB-9AA7E2A2D2FA}"/>
              </a:ext>
            </a:extLst>
          </p:cNvPr>
          <p:cNvSpPr>
            <a:spLocks noGrp="1"/>
          </p:cNvSpPr>
          <p:nvPr>
            <p:ph type="sldNum" sz="quarter" idx="12"/>
          </p:nvPr>
        </p:nvSpPr>
        <p:spPr/>
        <p:txBody>
          <a:bodyPr/>
          <a:lstStyle/>
          <a:p>
            <a:fld id="{162D2832-D0AE-4A08-B8C1-236B08B45683}" type="slidenum">
              <a:rPr lang="zh-CN" altLang="en-US" smtClean="0"/>
              <a:t>‹#›</a:t>
            </a:fld>
            <a:endParaRPr lang="zh-CN" altLang="en-US"/>
          </a:p>
        </p:txBody>
      </p:sp>
    </p:spTree>
    <p:extLst>
      <p:ext uri="{BB962C8B-B14F-4D97-AF65-F5344CB8AC3E}">
        <p14:creationId xmlns:p14="http://schemas.microsoft.com/office/powerpoint/2010/main" val="3942811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2FF9E0F-E4AF-FEB2-3341-AE2E9396A8FA}"/>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76778498-1F20-6C00-36AF-8D495657471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12B4422F-2BAE-316B-D062-E6786EC36C9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2AD95D61-6FC2-E5A6-8B31-480864D8DC42}"/>
              </a:ext>
            </a:extLst>
          </p:cNvPr>
          <p:cNvSpPr>
            <a:spLocks noGrp="1"/>
          </p:cNvSpPr>
          <p:nvPr>
            <p:ph type="dt" sz="half" idx="10"/>
          </p:nvPr>
        </p:nvSpPr>
        <p:spPr/>
        <p:txBody>
          <a:bodyPr/>
          <a:lstStyle/>
          <a:p>
            <a:fld id="{7A4F292D-56DB-4376-A4EA-3565420C5DA5}" type="datetimeFigureOut">
              <a:rPr lang="zh-CN" altLang="en-US" smtClean="0"/>
              <a:t>2026/9/15</a:t>
            </a:fld>
            <a:endParaRPr lang="zh-CN" altLang="en-US"/>
          </a:p>
        </p:txBody>
      </p:sp>
      <p:sp>
        <p:nvSpPr>
          <p:cNvPr id="6" name="页脚占位符 5">
            <a:extLst>
              <a:ext uri="{FF2B5EF4-FFF2-40B4-BE49-F238E27FC236}">
                <a16:creationId xmlns:a16="http://schemas.microsoft.com/office/drawing/2014/main" id="{FD196865-D5DD-EFCC-B5E4-0717AB7B6A7D}"/>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9A4C7962-24D5-63E9-FAE8-49CD15E76197}"/>
              </a:ext>
            </a:extLst>
          </p:cNvPr>
          <p:cNvSpPr>
            <a:spLocks noGrp="1"/>
          </p:cNvSpPr>
          <p:nvPr>
            <p:ph type="sldNum" sz="quarter" idx="12"/>
          </p:nvPr>
        </p:nvSpPr>
        <p:spPr/>
        <p:txBody>
          <a:bodyPr/>
          <a:lstStyle/>
          <a:p>
            <a:fld id="{162D2832-D0AE-4A08-B8C1-236B08B45683}" type="slidenum">
              <a:rPr lang="zh-CN" altLang="en-US" smtClean="0"/>
              <a:t>‹#›</a:t>
            </a:fld>
            <a:endParaRPr lang="zh-CN" altLang="en-US"/>
          </a:p>
        </p:txBody>
      </p:sp>
    </p:spTree>
    <p:extLst>
      <p:ext uri="{BB962C8B-B14F-4D97-AF65-F5344CB8AC3E}">
        <p14:creationId xmlns:p14="http://schemas.microsoft.com/office/powerpoint/2010/main" val="14700728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A3E3AF2-B137-73D8-54EC-C552F3AD4A97}"/>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94A82AD0-4448-5FDC-C54C-C00CE07C372C}"/>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AEDD529A-0A02-E2DC-8DB9-76FBE585812D}"/>
              </a:ext>
            </a:extLst>
          </p:cNvPr>
          <p:cNvSpPr>
            <a:spLocks noGrp="1"/>
          </p:cNvSpPr>
          <p:nvPr>
            <p:ph type="dt" sz="half" idx="10"/>
          </p:nvPr>
        </p:nvSpPr>
        <p:spPr/>
        <p:txBody>
          <a:bodyPr/>
          <a:lstStyle/>
          <a:p>
            <a:fld id="{7A4F292D-56DB-4376-A4EA-3565420C5DA5}" type="datetimeFigureOut">
              <a:rPr lang="zh-CN" altLang="en-US" smtClean="0"/>
              <a:t>2026/9/15</a:t>
            </a:fld>
            <a:endParaRPr lang="zh-CN" altLang="en-US"/>
          </a:p>
        </p:txBody>
      </p:sp>
      <p:sp>
        <p:nvSpPr>
          <p:cNvPr id="5" name="页脚占位符 4">
            <a:extLst>
              <a:ext uri="{FF2B5EF4-FFF2-40B4-BE49-F238E27FC236}">
                <a16:creationId xmlns:a16="http://schemas.microsoft.com/office/drawing/2014/main" id="{5291F093-8F4B-8646-86AE-EA0DA70EB605}"/>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D1E3E48C-D786-6A5B-B647-6F1043F2F750}"/>
              </a:ext>
            </a:extLst>
          </p:cNvPr>
          <p:cNvSpPr>
            <a:spLocks noGrp="1"/>
          </p:cNvSpPr>
          <p:nvPr>
            <p:ph type="sldNum" sz="quarter" idx="12"/>
          </p:nvPr>
        </p:nvSpPr>
        <p:spPr/>
        <p:txBody>
          <a:bodyPr/>
          <a:lstStyle/>
          <a:p>
            <a:fld id="{162D2832-D0AE-4A08-B8C1-236B08B45683}" type="slidenum">
              <a:rPr lang="zh-CN" altLang="en-US" smtClean="0"/>
              <a:t>‹#›</a:t>
            </a:fld>
            <a:endParaRPr lang="zh-CN" altLang="en-US"/>
          </a:p>
        </p:txBody>
      </p:sp>
    </p:spTree>
    <p:extLst>
      <p:ext uri="{BB962C8B-B14F-4D97-AF65-F5344CB8AC3E}">
        <p14:creationId xmlns:p14="http://schemas.microsoft.com/office/powerpoint/2010/main" val="26715281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C22085B7-C5D7-2B48-3E60-559FE6DC4259}"/>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0B78773C-24C4-6D1B-3FBC-22F8E014C05B}"/>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EB9BE767-DE0D-FF93-A1F3-99DD704F4AFA}"/>
              </a:ext>
            </a:extLst>
          </p:cNvPr>
          <p:cNvSpPr>
            <a:spLocks noGrp="1"/>
          </p:cNvSpPr>
          <p:nvPr>
            <p:ph type="dt" sz="half" idx="10"/>
          </p:nvPr>
        </p:nvSpPr>
        <p:spPr/>
        <p:txBody>
          <a:bodyPr/>
          <a:lstStyle/>
          <a:p>
            <a:fld id="{7A4F292D-56DB-4376-A4EA-3565420C5DA5}" type="datetimeFigureOut">
              <a:rPr lang="zh-CN" altLang="en-US" smtClean="0"/>
              <a:t>2026/9/15</a:t>
            </a:fld>
            <a:endParaRPr lang="zh-CN" altLang="en-US"/>
          </a:p>
        </p:txBody>
      </p:sp>
      <p:sp>
        <p:nvSpPr>
          <p:cNvPr id="5" name="页脚占位符 4">
            <a:extLst>
              <a:ext uri="{FF2B5EF4-FFF2-40B4-BE49-F238E27FC236}">
                <a16:creationId xmlns:a16="http://schemas.microsoft.com/office/drawing/2014/main" id="{DF09902D-1CC8-2CDC-38E8-CE4B393DA1E1}"/>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6E2E8C1C-9A3B-738C-2065-A9C6B24CB9AE}"/>
              </a:ext>
            </a:extLst>
          </p:cNvPr>
          <p:cNvSpPr>
            <a:spLocks noGrp="1"/>
          </p:cNvSpPr>
          <p:nvPr>
            <p:ph type="sldNum" sz="quarter" idx="12"/>
          </p:nvPr>
        </p:nvSpPr>
        <p:spPr/>
        <p:txBody>
          <a:bodyPr/>
          <a:lstStyle/>
          <a:p>
            <a:fld id="{162D2832-D0AE-4A08-B8C1-236B08B45683}" type="slidenum">
              <a:rPr lang="zh-CN" altLang="en-US" smtClean="0"/>
              <a:t>‹#›</a:t>
            </a:fld>
            <a:endParaRPr lang="zh-CN" altLang="en-US"/>
          </a:p>
        </p:txBody>
      </p:sp>
    </p:spTree>
    <p:extLst>
      <p:ext uri="{BB962C8B-B14F-4D97-AF65-F5344CB8AC3E}">
        <p14:creationId xmlns:p14="http://schemas.microsoft.com/office/powerpoint/2010/main" val="3039322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1F1E23C1-51D2-6C86-047B-D236E691CA4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672C9814-A79C-E7E4-B19A-4ABA4685209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E5CADF4A-D48F-587C-F288-DDD1F4C056A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A4F292D-56DB-4376-A4EA-3565420C5DA5}" type="datetimeFigureOut">
              <a:rPr lang="zh-CN" altLang="en-US" smtClean="0"/>
              <a:t>2026/9/15</a:t>
            </a:fld>
            <a:endParaRPr lang="zh-CN" altLang="en-US"/>
          </a:p>
        </p:txBody>
      </p:sp>
      <p:sp>
        <p:nvSpPr>
          <p:cNvPr id="5" name="页脚占位符 4">
            <a:extLst>
              <a:ext uri="{FF2B5EF4-FFF2-40B4-BE49-F238E27FC236}">
                <a16:creationId xmlns:a16="http://schemas.microsoft.com/office/drawing/2014/main" id="{41194FB3-6096-9515-41EB-EC80A3712F5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zh-CN" altLang="en-US"/>
          </a:p>
        </p:txBody>
      </p:sp>
      <p:sp>
        <p:nvSpPr>
          <p:cNvPr id="6" name="灯片编号占位符 5">
            <a:extLst>
              <a:ext uri="{FF2B5EF4-FFF2-40B4-BE49-F238E27FC236}">
                <a16:creationId xmlns:a16="http://schemas.microsoft.com/office/drawing/2014/main" id="{08F1B6E4-54BF-C265-A46E-24E788A7DED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62D2832-D0AE-4A08-B8C1-236B08B45683}" type="slidenum">
              <a:rPr lang="zh-CN" altLang="en-US" smtClean="0"/>
              <a:t>‹#›</a:t>
            </a:fld>
            <a:endParaRPr lang="zh-CN" altLang="en-US"/>
          </a:p>
        </p:txBody>
      </p:sp>
    </p:spTree>
    <p:extLst>
      <p:ext uri="{BB962C8B-B14F-4D97-AF65-F5344CB8AC3E}">
        <p14:creationId xmlns:p14="http://schemas.microsoft.com/office/powerpoint/2010/main" val="272990076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71450" cy="6858000"/>
          </a:xfrm>
          <a:prstGeom prst="rect">
            <a:avLst/>
          </a:prstGeom>
          <a:solidFill>
            <a:schemeClr val="accent2"/>
          </a:solidFill>
          <a:ln>
            <a:noFill/>
          </a:ln>
        </p:spPr>
      </p:sp>
      <p:sp>
        <p:nvSpPr>
          <p:cNvPr id="3" name="Rectangle 3"/>
          <p:cNvSpPr/>
          <p:nvPr/>
        </p:nvSpPr>
        <p:spPr>
          <a:xfrm>
            <a:off x="171450" y="0"/>
            <a:ext cx="57150" cy="6858000"/>
          </a:xfrm>
          <a:prstGeom prst="rect">
            <a:avLst/>
          </a:prstGeom>
          <a:solidFill>
            <a:schemeClr val="accent3"/>
          </a:solidFill>
          <a:ln>
            <a:noFill/>
          </a:ln>
        </p:spPr>
      </p:sp>
      <p:grpSp>
        <p:nvGrpSpPr>
          <p:cNvPr id="5" name="Group 5"/>
          <p:cNvGrpSpPr/>
          <p:nvPr/>
        </p:nvGrpSpPr>
        <p:grpSpPr>
          <a:xfrm>
            <a:off x="526161" y="589121"/>
            <a:ext cx="3216884" cy="278702"/>
            <a:chOff x="526161" y="589121"/>
            <a:chExt cx="3216884" cy="278702"/>
          </a:xfrm>
        </p:grpSpPr>
        <p:sp>
          <p:nvSpPr>
            <p:cNvPr id="4" name="TextBox 4"/>
            <p:cNvSpPr txBox="1"/>
            <p:nvPr/>
          </p:nvSpPr>
          <p:spPr>
            <a:xfrm>
              <a:off x="526161" y="589121"/>
              <a:ext cx="3216884" cy="278702"/>
            </a:xfrm>
            <a:prstGeom prst="rect">
              <a:avLst/>
            </a:prstGeom>
            <a:noFill/>
            <a:ln>
              <a:noFill/>
            </a:ln>
          </p:spPr>
          <p:txBody>
            <a:bodyPr wrap="none" lIns="0" tIns="0" rIns="0" bIns="0" anchor="t" anchorCtr="0">
              <a:spAutoFit/>
            </a:bodyPr>
            <a:lstStyle/>
            <a:p>
              <a:pPr algn="l"/>
              <a:r>
                <a:rPr lang="zh-CN" sz="1420" b="1" dirty="0">
                  <a:solidFill>
                    <a:schemeClr val="accent1"/>
                  </a:solidFill>
                  <a:latin typeface="+mn-lt"/>
                  <a:ea typeface="+mn-ea"/>
                  <a:cs typeface="+mn-cs"/>
                </a:rPr>
                <a:t>EOE111 · EARTH SYSTEM SCIENCE</a:t>
              </a:r>
            </a:p>
          </p:txBody>
        </p:sp>
      </p:grpSp>
      <p:grpSp>
        <p:nvGrpSpPr>
          <p:cNvPr id="8" name="Group 8"/>
          <p:cNvGrpSpPr/>
          <p:nvPr/>
        </p:nvGrpSpPr>
        <p:grpSpPr>
          <a:xfrm>
            <a:off x="514350" y="1381125"/>
            <a:ext cx="5558790" cy="2061782"/>
            <a:chOff x="514350" y="1381125"/>
            <a:chExt cx="5558790" cy="2061782"/>
          </a:xfrm>
        </p:grpSpPr>
        <p:sp>
          <p:nvSpPr>
            <p:cNvPr id="6" name="TextBox 6"/>
            <p:cNvSpPr txBox="1"/>
            <p:nvPr/>
          </p:nvSpPr>
          <p:spPr>
            <a:xfrm>
              <a:off x="514350" y="1381125"/>
              <a:ext cx="5558790" cy="1543050"/>
            </a:xfrm>
            <a:prstGeom prst="rect">
              <a:avLst/>
            </a:prstGeom>
            <a:noFill/>
            <a:ln>
              <a:noFill/>
            </a:ln>
          </p:spPr>
          <p:txBody>
            <a:bodyPr wrap="none" lIns="0" tIns="0" rIns="0" bIns="0" anchor="t" anchorCtr="0">
              <a:spAutoFit/>
            </a:bodyPr>
            <a:lstStyle/>
            <a:p>
              <a:pPr algn="l">
                <a:lnSpc>
                  <a:spcPts val="5250"/>
                </a:lnSpc>
              </a:pPr>
              <a:r>
                <a:rPr lang="zh-CN" sz="4500" b="1" dirty="0">
                  <a:solidFill>
                    <a:schemeClr val="accent1"/>
                  </a:solidFill>
                  <a:latin typeface="+mn-lt"/>
                  <a:ea typeface="+mn-ea"/>
                  <a:cs typeface="+mn-cs"/>
                </a:rPr>
                <a:t>Lecture 16:</a:t>
              </a:r>
              <a:br/>
              <a:r>
                <a:rPr lang="zh-CN" sz="4500" b="1" dirty="0">
                  <a:solidFill>
                    <a:schemeClr val="accent1"/>
                  </a:solidFill>
                  <a:latin typeface="+mn-lt"/>
                  <a:ea typeface="+mn-ea"/>
                  <a:cs typeface="+mn-cs"/>
                </a:rPr>
                <a:t>Hydrological Cycles</a:t>
              </a:r>
            </a:p>
          </p:txBody>
        </p:sp>
        <p:sp>
          <p:nvSpPr>
            <p:cNvPr id="7" name="TextBox 7"/>
            <p:cNvSpPr txBox="1"/>
            <p:nvPr/>
          </p:nvSpPr>
          <p:spPr>
            <a:xfrm>
              <a:off x="539496" y="2944178"/>
              <a:ext cx="2825365" cy="498729"/>
            </a:xfrm>
            <a:prstGeom prst="rect">
              <a:avLst/>
            </a:prstGeom>
            <a:noFill/>
            <a:ln>
              <a:noFill/>
            </a:ln>
          </p:spPr>
          <p:txBody>
            <a:bodyPr wrap="none" lIns="0" tIns="0" rIns="0" bIns="0" anchor="t" anchorCtr="0">
              <a:spAutoFit/>
            </a:bodyPr>
            <a:lstStyle/>
            <a:p>
              <a:pPr algn="l"/>
              <a:r>
                <a:rPr lang="zh-CN" sz="2550" b="1" dirty="0">
                  <a:solidFill>
                    <a:schemeClr val="dk1"/>
                  </a:solidFill>
                  <a:latin typeface="+mn-lt"/>
                  <a:ea typeface="+mn-ea"/>
                  <a:cs typeface="+mn-cs"/>
                </a:rPr>
                <a:t>第16讲：水文循环</a:t>
              </a:r>
            </a:p>
          </p:txBody>
        </p:sp>
      </p:grpSp>
      <p:grpSp>
        <p:nvGrpSpPr>
          <p:cNvPr id="12" name="Group 12"/>
          <p:cNvGrpSpPr/>
          <p:nvPr/>
        </p:nvGrpSpPr>
        <p:grpSpPr>
          <a:xfrm>
            <a:off x="545211" y="3752850"/>
            <a:ext cx="6769989" cy="841534"/>
            <a:chOff x="545211" y="3752850"/>
            <a:chExt cx="6769989" cy="841534"/>
          </a:xfrm>
        </p:grpSpPr>
        <p:sp>
          <p:nvSpPr>
            <p:cNvPr id="9" name="Rectangle 9"/>
            <p:cNvSpPr/>
            <p:nvPr/>
          </p:nvSpPr>
          <p:spPr>
            <a:xfrm>
              <a:off x="552450" y="3752850"/>
              <a:ext cx="6762750" cy="19050"/>
            </a:xfrm>
            <a:prstGeom prst="rect">
              <a:avLst/>
            </a:prstGeom>
            <a:solidFill>
              <a:schemeClr val="accent6"/>
            </a:solidFill>
            <a:ln>
              <a:noFill/>
            </a:ln>
          </p:spPr>
        </p:sp>
        <p:sp>
          <p:nvSpPr>
            <p:cNvPr id="10" name="TextBox 10"/>
            <p:cNvSpPr txBox="1"/>
            <p:nvPr/>
          </p:nvSpPr>
          <p:spPr>
            <a:xfrm>
              <a:off x="545211" y="3989546"/>
              <a:ext cx="2939232" cy="278702"/>
            </a:xfrm>
            <a:prstGeom prst="rect">
              <a:avLst/>
            </a:prstGeom>
            <a:noFill/>
            <a:ln>
              <a:noFill/>
            </a:ln>
          </p:spPr>
          <p:txBody>
            <a:bodyPr wrap="none" lIns="0" tIns="0" rIns="0" bIns="0" anchor="t" anchorCtr="0">
              <a:spAutoFit/>
            </a:bodyPr>
            <a:lstStyle/>
            <a:p>
              <a:pPr algn="l"/>
              <a:r>
                <a:rPr lang="zh-CN" sz="1420" dirty="0">
                  <a:solidFill>
                    <a:schemeClr val="dk1"/>
                  </a:solidFill>
                  <a:latin typeface="+mn-lt"/>
                  <a:ea typeface="+mn-ea"/>
                  <a:cs typeface="+mn-cs"/>
                </a:rPr>
                <a:t>水循环 · 碳循环 · 耦合与气候反馈</a:t>
              </a:r>
            </a:p>
          </p:txBody>
        </p:sp>
        <p:sp>
          <p:nvSpPr>
            <p:cNvPr id="11" name="TextBox 11"/>
            <p:cNvSpPr txBox="1"/>
            <p:nvPr/>
          </p:nvSpPr>
          <p:spPr>
            <a:xfrm>
              <a:off x="546735" y="4374356"/>
              <a:ext cx="4182876" cy="220028"/>
            </a:xfrm>
            <a:prstGeom prst="rect">
              <a:avLst/>
            </a:prstGeom>
            <a:noFill/>
            <a:ln>
              <a:noFill/>
            </a:ln>
          </p:spPr>
          <p:txBody>
            <a:bodyPr wrap="none" lIns="0" tIns="0" rIns="0" bIns="0" anchor="t" anchorCtr="0">
              <a:spAutoFit/>
            </a:bodyPr>
            <a:lstStyle/>
            <a:p>
              <a:pPr algn="l"/>
              <a:r>
                <a:rPr lang="zh-CN" sz="1120" dirty="0">
                  <a:solidFill>
                    <a:schemeClr val="accent5"/>
                  </a:solidFill>
                  <a:latin typeface="+mn-lt"/>
                  <a:ea typeface="+mn-ea"/>
                  <a:cs typeface="+mn-cs"/>
                </a:rPr>
                <a:t>Reservoir · Flux · Residence Time · Feedback · Timescale</a:t>
              </a:r>
            </a:p>
          </p:txBody>
        </p:sp>
      </p:grpSp>
      <p:grpSp>
        <p:nvGrpSpPr>
          <p:cNvPr id="21" name="Group 21"/>
          <p:cNvGrpSpPr/>
          <p:nvPr/>
        </p:nvGrpSpPr>
        <p:grpSpPr>
          <a:xfrm>
            <a:off x="8782050" y="1104900"/>
            <a:ext cx="2343150" cy="4171950"/>
            <a:chOff x="8782050" y="1104900"/>
            <a:chExt cx="2343150" cy="4171950"/>
          </a:xfrm>
        </p:grpSpPr>
        <p:sp>
          <p:nvSpPr>
            <p:cNvPr id="13" name="Rectangle 13"/>
            <p:cNvSpPr/>
            <p:nvPr/>
          </p:nvSpPr>
          <p:spPr>
            <a:xfrm>
              <a:off x="8782050" y="1104900"/>
              <a:ext cx="2343150" cy="4171950"/>
            </a:xfrm>
            <a:prstGeom prst="roundRect">
              <a:avLst>
                <a:gd name="adj" fmla="val 4878"/>
              </a:avLst>
            </a:prstGeom>
            <a:solidFill>
              <a:schemeClr val="lt2"/>
            </a:solidFill>
            <a:ln w="9525">
              <a:solidFill>
                <a:schemeClr val="accent6"/>
              </a:solidFill>
            </a:ln>
          </p:spPr>
        </p:sp>
        <p:sp>
          <p:nvSpPr>
            <p:cNvPr id="14" name="Ellipse 14"/>
            <p:cNvSpPr/>
            <p:nvPr/>
          </p:nvSpPr>
          <p:spPr>
            <a:xfrm>
              <a:off x="9229725" y="1447800"/>
              <a:ext cx="1447800" cy="1447800"/>
            </a:xfrm>
            <a:prstGeom prst="ellipse">
              <a:avLst/>
            </a:prstGeom>
            <a:solidFill>
              <a:srgbClr val="F0F5FC"/>
            </a:solidFill>
            <a:ln w="38100">
              <a:solidFill>
                <a:schemeClr val="accent2"/>
              </a:solidFill>
            </a:ln>
          </p:spPr>
        </p:sp>
        <p:sp>
          <p:nvSpPr>
            <p:cNvPr id="15" name="TextBox 15"/>
            <p:cNvSpPr txBox="1"/>
            <p:nvPr/>
          </p:nvSpPr>
          <p:spPr>
            <a:xfrm>
              <a:off x="9588387" y="1801178"/>
              <a:ext cx="730476" cy="498729"/>
            </a:xfrm>
            <a:prstGeom prst="rect">
              <a:avLst/>
            </a:prstGeom>
            <a:noFill/>
            <a:ln>
              <a:noFill/>
            </a:ln>
          </p:spPr>
          <p:txBody>
            <a:bodyPr wrap="none" lIns="0" tIns="0" rIns="0" bIns="0" anchor="t" anchorCtr="0">
              <a:spAutoFit/>
            </a:bodyPr>
            <a:lstStyle/>
            <a:p>
              <a:pPr algn="ctr"/>
              <a:r>
                <a:rPr lang="zh-CN" sz="2550" b="1" dirty="0">
                  <a:solidFill>
                    <a:schemeClr val="accent2"/>
                  </a:solidFill>
                  <a:latin typeface="+mn-lt"/>
                  <a:ea typeface="+mn-ea"/>
                  <a:cs typeface="+mn-cs"/>
                </a:rPr>
                <a:t>H₂O</a:t>
              </a:r>
            </a:p>
          </p:txBody>
        </p:sp>
        <p:sp>
          <p:nvSpPr>
            <p:cNvPr id="16" name="TextBox 16"/>
            <p:cNvSpPr txBox="1"/>
            <p:nvPr/>
          </p:nvSpPr>
          <p:spPr>
            <a:xfrm>
              <a:off x="9469984" y="2307431"/>
              <a:ext cx="967283" cy="220028"/>
            </a:xfrm>
            <a:prstGeom prst="rect">
              <a:avLst/>
            </a:prstGeom>
            <a:noFill/>
            <a:ln>
              <a:noFill/>
            </a:ln>
          </p:spPr>
          <p:txBody>
            <a:bodyPr wrap="none" lIns="0" tIns="0" rIns="0" bIns="0" anchor="t" anchorCtr="0">
              <a:spAutoFit/>
            </a:bodyPr>
            <a:lstStyle/>
            <a:p>
              <a:pPr algn="ctr"/>
              <a:r>
                <a:rPr lang="zh-CN" sz="1120" dirty="0">
                  <a:solidFill>
                    <a:schemeClr val="accent5"/>
                  </a:solidFill>
                  <a:latin typeface="+mn-lt"/>
                  <a:ea typeface="+mn-ea"/>
                  <a:cs typeface="+mn-cs"/>
                </a:rPr>
                <a:t>WATER CYCLE</a:t>
              </a:r>
            </a:p>
          </p:txBody>
        </p:sp>
        <p:sp>
          <p:nvSpPr>
            <p:cNvPr id="17" name="Line 17"/>
            <p:cNvSpPr/>
            <p:nvPr/>
          </p:nvSpPr>
          <p:spPr>
            <a:xfrm>
              <a:off x="9953625" y="2924175"/>
              <a:ext cx="9525" cy="428625"/>
            </a:xfrm>
            <a:custGeom>
              <a:avLst/>
              <a:gdLst/>
              <a:ahLst/>
              <a:cxnLst/>
              <a:rect l="l" t="t" r="r" b="b"/>
              <a:pathLst>
                <a:path w="9525" h="428625">
                  <a:moveTo>
                    <a:pt x="0" y="0"/>
                  </a:moveTo>
                  <a:lnTo>
                    <a:pt x="0" y="428625"/>
                  </a:lnTo>
                </a:path>
              </a:pathLst>
            </a:custGeom>
            <a:noFill/>
            <a:ln w="19050">
              <a:solidFill>
                <a:schemeClr val="accent6"/>
              </a:solidFill>
            </a:ln>
          </p:spPr>
        </p:sp>
        <p:sp>
          <p:nvSpPr>
            <p:cNvPr id="18" name="Ellipse 18"/>
            <p:cNvSpPr/>
            <p:nvPr/>
          </p:nvSpPr>
          <p:spPr>
            <a:xfrm>
              <a:off x="9229725" y="3448050"/>
              <a:ext cx="1447800" cy="1447800"/>
            </a:xfrm>
            <a:prstGeom prst="ellipse">
              <a:avLst/>
            </a:prstGeom>
            <a:solidFill>
              <a:srgbClr val="FDF4EF"/>
            </a:solidFill>
            <a:ln w="38100">
              <a:solidFill>
                <a:schemeClr val="accent3"/>
              </a:solidFill>
            </a:ln>
          </p:spPr>
        </p:sp>
        <p:sp>
          <p:nvSpPr>
            <p:cNvPr id="19" name="TextBox 19"/>
            <p:cNvSpPr txBox="1"/>
            <p:nvPr/>
          </p:nvSpPr>
          <p:spPr>
            <a:xfrm>
              <a:off x="9835938" y="3801428"/>
              <a:ext cx="235374" cy="498729"/>
            </a:xfrm>
            <a:prstGeom prst="rect">
              <a:avLst/>
            </a:prstGeom>
            <a:noFill/>
            <a:ln>
              <a:noFill/>
            </a:ln>
          </p:spPr>
          <p:txBody>
            <a:bodyPr wrap="none" lIns="0" tIns="0" rIns="0" bIns="0" anchor="t" anchorCtr="0">
              <a:spAutoFit/>
            </a:bodyPr>
            <a:lstStyle/>
            <a:p>
              <a:pPr algn="ctr"/>
              <a:r>
                <a:rPr lang="zh-CN" sz="2550" b="1" dirty="0">
                  <a:solidFill>
                    <a:srgbClr val="C2410C"/>
                  </a:solidFill>
                  <a:latin typeface="+mn-lt"/>
                  <a:ea typeface="+mn-ea"/>
                  <a:cs typeface="+mn-cs"/>
                </a:rPr>
                <a:t>C</a:t>
              </a:r>
            </a:p>
          </p:txBody>
        </p:sp>
        <p:sp>
          <p:nvSpPr>
            <p:cNvPr id="20" name="TextBox 20"/>
            <p:cNvSpPr txBox="1"/>
            <p:nvPr/>
          </p:nvSpPr>
          <p:spPr>
            <a:xfrm>
              <a:off x="9426174" y="4307681"/>
              <a:ext cx="1054903" cy="220028"/>
            </a:xfrm>
            <a:prstGeom prst="rect">
              <a:avLst/>
            </a:prstGeom>
            <a:noFill/>
            <a:ln>
              <a:noFill/>
            </a:ln>
          </p:spPr>
          <p:txBody>
            <a:bodyPr wrap="none" lIns="0" tIns="0" rIns="0" bIns="0" anchor="t" anchorCtr="0">
              <a:spAutoFit/>
            </a:bodyPr>
            <a:lstStyle/>
            <a:p>
              <a:pPr algn="ctr"/>
              <a:r>
                <a:rPr lang="zh-CN" sz="1120" dirty="0">
                  <a:solidFill>
                    <a:srgbClr val="7A4A33"/>
                  </a:solidFill>
                  <a:latin typeface="+mn-lt"/>
                  <a:ea typeface="+mn-ea"/>
                  <a:cs typeface="+mn-cs"/>
                </a:rPr>
                <a:t>CARBON CYCLE</a:t>
              </a:r>
            </a:p>
          </p:txBody>
        </p:sp>
      </p:grpSp>
      <p:grpSp>
        <p:nvGrpSpPr>
          <p:cNvPr id="25" name="Group 25"/>
          <p:cNvGrpSpPr/>
          <p:nvPr/>
        </p:nvGrpSpPr>
        <p:grpSpPr>
          <a:xfrm>
            <a:off x="552450" y="5219700"/>
            <a:ext cx="4479390" cy="618839"/>
            <a:chOff x="552450" y="5219700"/>
            <a:chExt cx="4479390" cy="618839"/>
          </a:xfrm>
        </p:grpSpPr>
        <p:sp>
          <p:nvSpPr>
            <p:cNvPr id="22" name="Rectangle 22"/>
            <p:cNvSpPr/>
            <p:nvPr/>
          </p:nvSpPr>
          <p:spPr>
            <a:xfrm>
              <a:off x="552450" y="5219700"/>
              <a:ext cx="57150" cy="609600"/>
            </a:xfrm>
            <a:prstGeom prst="roundRect">
              <a:avLst>
                <a:gd name="adj" fmla="val 50000"/>
              </a:avLst>
            </a:prstGeom>
            <a:solidFill>
              <a:schemeClr val="accent2"/>
            </a:solidFill>
            <a:ln>
              <a:noFill/>
            </a:ln>
          </p:spPr>
        </p:sp>
        <p:sp>
          <p:nvSpPr>
            <p:cNvPr id="23" name="TextBox 23"/>
            <p:cNvSpPr txBox="1"/>
            <p:nvPr/>
          </p:nvSpPr>
          <p:spPr>
            <a:xfrm>
              <a:off x="773811" y="5351621"/>
              <a:ext cx="2690724" cy="278702"/>
            </a:xfrm>
            <a:prstGeom prst="rect">
              <a:avLst/>
            </a:prstGeom>
            <a:noFill/>
            <a:ln>
              <a:noFill/>
            </a:ln>
          </p:spPr>
          <p:txBody>
            <a:bodyPr wrap="none" lIns="0" tIns="0" rIns="0" bIns="0" anchor="t" anchorCtr="0">
              <a:spAutoFit/>
            </a:bodyPr>
            <a:lstStyle/>
            <a:p>
              <a:pPr algn="l"/>
              <a:r>
                <a:rPr lang="zh-CN" sz="1420" b="1" dirty="0">
                  <a:solidFill>
                    <a:schemeClr val="accent1"/>
                  </a:solidFill>
                  <a:latin typeface="+mn-lt"/>
                  <a:ea typeface="+mn-ea"/>
                  <a:cs typeface="+mn-cs"/>
                </a:rPr>
                <a:t>用共同语言读懂地球系统的循环</a:t>
              </a:r>
            </a:p>
          </p:txBody>
        </p:sp>
        <p:sp>
          <p:nvSpPr>
            <p:cNvPr id="24" name="TextBox 24"/>
            <p:cNvSpPr txBox="1"/>
            <p:nvPr/>
          </p:nvSpPr>
          <p:spPr>
            <a:xfrm>
              <a:off x="776097" y="5647849"/>
              <a:ext cx="4255743" cy="190690"/>
            </a:xfrm>
            <a:prstGeom prst="rect">
              <a:avLst/>
            </a:prstGeom>
            <a:noFill/>
            <a:ln>
              <a:noFill/>
            </a:ln>
          </p:spPr>
          <p:txBody>
            <a:bodyPr wrap="none" lIns="0" tIns="0" rIns="0" bIns="0" anchor="t" anchorCtr="0">
              <a:spAutoFit/>
            </a:bodyPr>
            <a:lstStyle/>
            <a:p>
              <a:pPr algn="l"/>
              <a:r>
                <a:rPr lang="zh-CN" sz="980" dirty="0">
                  <a:solidFill>
                    <a:schemeClr val="accent5"/>
                  </a:solidFill>
                  <a:latin typeface="+mn-lt"/>
                  <a:ea typeface="+mn-ea"/>
                  <a:cs typeface="+mn-cs"/>
                </a:rPr>
                <a:t>Reading cycles as connected reservoirs, transfers and feedbacks</a:t>
              </a:r>
            </a:p>
          </p:txBody>
        </p:sp>
      </p:grpSp>
      <p:grpSp>
        <p:nvGrpSpPr>
          <p:cNvPr id="27" name="Group 27"/>
          <p:cNvGrpSpPr/>
          <p:nvPr/>
        </p:nvGrpSpPr>
        <p:grpSpPr>
          <a:xfrm>
            <a:off x="547688" y="6341745"/>
            <a:ext cx="3881313" cy="176212"/>
            <a:chOff x="547688" y="6341745"/>
            <a:chExt cx="3881313" cy="176212"/>
          </a:xfrm>
        </p:grpSpPr>
        <p:sp>
          <p:nvSpPr>
            <p:cNvPr id="26" name="TextBox 26"/>
            <p:cNvSpPr txBox="1"/>
            <p:nvPr/>
          </p:nvSpPr>
          <p:spPr>
            <a:xfrm>
              <a:off x="547688" y="6341745"/>
              <a:ext cx="3881313" cy="176212"/>
            </a:xfrm>
            <a:prstGeom prst="rect">
              <a:avLst/>
            </a:prstGeom>
            <a:noFill/>
            <a:ln>
              <a:noFill/>
            </a:ln>
          </p:spPr>
          <p:txBody>
            <a:bodyPr wrap="none" lIns="0" tIns="0" rIns="0" bIns="0" anchor="t" anchorCtr="0">
              <a:spAutoFit/>
            </a:bodyPr>
            <a:lstStyle/>
            <a:p>
              <a:pPr algn="l"/>
              <a:r>
                <a:rPr lang="zh-CN" sz="900" dirty="0">
                  <a:solidFill>
                    <a:schemeClr val="accent5"/>
                  </a:solidFill>
                  <a:latin typeface="+mn-lt"/>
                  <a:ea typeface="+mn-ea"/>
                  <a:cs typeface="+mn-cs"/>
                </a:rPr>
                <a:t>Primary reference: Understanding Earth, 8e, Chapters 12 and 17</a:t>
              </a:r>
            </a:p>
          </p:txBody>
        </p:sp>
      </p:grpSp>
    </p:spTree>
    <p:extLst>
      <p:ext uri="{BB962C8B-B14F-4D97-AF65-F5344CB8AC3E}">
        <p14:creationId xmlns:p14="http://schemas.microsoft.com/office/powerpoint/2010/main" val="2334291747"/>
      </p:ext>
    </p:extLst>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5"/>
          <p:cNvGrpSpPr/>
          <p:nvPr/>
        </p:nvGrpSpPr>
        <p:grpSpPr>
          <a:xfrm>
            <a:off x="0" y="0"/>
            <a:ext cx="12192000" cy="685800"/>
            <a:chOff x="0" y="0"/>
            <a:chExt cx="12192000" cy="685800"/>
          </a:xfrm>
        </p:grpSpPr>
        <p:sp>
          <p:nvSpPr>
            <p:cNvPr id="2" name="Rectangle 2"/>
            <p:cNvSpPr/>
            <p:nvPr/>
          </p:nvSpPr>
          <p:spPr>
            <a:xfrm>
              <a:off x="0" y="0"/>
              <a:ext cx="12192000" cy="685800"/>
            </a:xfrm>
            <a:prstGeom prst="rect">
              <a:avLst/>
            </a:prstGeom>
            <a:solidFill>
              <a:schemeClr val="accent1"/>
            </a:solidFill>
            <a:ln>
              <a:noFill/>
            </a:ln>
          </p:spPr>
        </p:sp>
        <p:sp>
          <p:nvSpPr>
            <p:cNvPr id="3" name="TextBox 3"/>
            <p:cNvSpPr txBox="1"/>
            <p:nvPr/>
          </p:nvSpPr>
          <p:spPr>
            <a:xfrm>
              <a:off x="374142" y="282892"/>
              <a:ext cx="3145536" cy="264033"/>
            </a:xfrm>
            <a:prstGeom prst="rect">
              <a:avLst/>
            </a:prstGeom>
            <a:noFill/>
            <a:ln>
              <a:noFill/>
            </a:ln>
          </p:spPr>
          <p:txBody>
            <a:bodyPr wrap="none" lIns="0" tIns="0" rIns="0" bIns="0" anchor="t" anchorCtr="0">
              <a:spAutoFit/>
            </a:bodyPr>
            <a:lstStyle/>
            <a:p>
              <a:pPr algn="l"/>
              <a:r>
                <a:rPr lang="zh-CN" sz="1350" b="1" dirty="0">
                  <a:solidFill>
                    <a:srgbClr val="FFFFFF"/>
                  </a:solidFill>
                  <a:latin typeface="+mn-lt"/>
                  <a:ea typeface="+mn-ea"/>
                  <a:cs typeface="+mn-cs"/>
                </a:rPr>
                <a:t>0.2 学习目标 | Learning Objectives</a:t>
              </a:r>
            </a:p>
          </p:txBody>
        </p:sp>
        <p:sp>
          <p:nvSpPr>
            <p:cNvPr id="4" name="TextBox 4"/>
            <p:cNvSpPr txBox="1"/>
            <p:nvPr/>
          </p:nvSpPr>
          <p:spPr>
            <a:xfrm>
              <a:off x="10430866" y="299085"/>
              <a:ext cx="1386230" cy="234696"/>
            </a:xfrm>
            <a:prstGeom prst="rect">
              <a:avLst/>
            </a:prstGeom>
            <a:noFill/>
            <a:ln>
              <a:noFill/>
            </a:ln>
          </p:spPr>
          <p:txBody>
            <a:bodyPr wrap="none" lIns="0" tIns="0" rIns="0" bIns="0" anchor="t" anchorCtr="0">
              <a:spAutoFit/>
            </a:bodyPr>
            <a:lstStyle/>
            <a:p>
              <a:pPr algn="r"/>
              <a:r>
                <a:rPr lang="zh-CN" sz="1200" dirty="0">
                  <a:solidFill>
                    <a:srgbClr val="C7D7F2"/>
                  </a:solidFill>
                  <a:latin typeface="+mn-lt"/>
                  <a:ea typeface="+mn-ea"/>
                  <a:cs typeface="+mn-cs"/>
                </a:rPr>
                <a:t>COURSE ROADMAP</a:t>
              </a:r>
            </a:p>
          </p:txBody>
        </p:sp>
      </p:grpSp>
      <p:grpSp>
        <p:nvGrpSpPr>
          <p:cNvPr id="8" name="Group 8"/>
          <p:cNvGrpSpPr/>
          <p:nvPr/>
        </p:nvGrpSpPr>
        <p:grpSpPr>
          <a:xfrm>
            <a:off x="381000" y="914400"/>
            <a:ext cx="4433443" cy="357093"/>
            <a:chOff x="381000" y="914400"/>
            <a:chExt cx="4433443" cy="357093"/>
          </a:xfrm>
        </p:grpSpPr>
        <p:sp>
          <p:nvSpPr>
            <p:cNvPr id="6" name="Rectangle 6"/>
            <p:cNvSpPr/>
            <p:nvPr/>
          </p:nvSpPr>
          <p:spPr>
            <a:xfrm>
              <a:off x="381000" y="914400"/>
              <a:ext cx="57150" cy="266700"/>
            </a:xfrm>
            <a:prstGeom prst="roundRect">
              <a:avLst>
                <a:gd name="adj" fmla="val 50000"/>
              </a:avLst>
            </a:prstGeom>
            <a:solidFill>
              <a:schemeClr val="accent2"/>
            </a:solidFill>
            <a:ln>
              <a:noFill/>
            </a:ln>
          </p:spPr>
        </p:sp>
        <p:sp>
          <p:nvSpPr>
            <p:cNvPr id="7" name="TextBox 7"/>
            <p:cNvSpPr txBox="1"/>
            <p:nvPr/>
          </p:nvSpPr>
          <p:spPr>
            <a:xfrm>
              <a:off x="544449" y="963454"/>
              <a:ext cx="4269994" cy="308039"/>
            </a:xfrm>
            <a:prstGeom prst="rect">
              <a:avLst/>
            </a:prstGeom>
            <a:noFill/>
            <a:ln>
              <a:noFill/>
            </a:ln>
          </p:spPr>
          <p:txBody>
            <a:bodyPr wrap="none" lIns="0" tIns="0" rIns="0" bIns="0" anchor="t" anchorCtr="0">
              <a:spAutoFit/>
            </a:bodyPr>
            <a:lstStyle/>
            <a:p>
              <a:pPr algn="l"/>
              <a:r>
                <a:rPr lang="zh-CN" sz="1580" b="1" dirty="0">
                  <a:solidFill>
                    <a:schemeClr val="accent1"/>
                  </a:solidFill>
                  <a:latin typeface="+mn-lt"/>
                  <a:ea typeface="+mn-ea"/>
                  <a:cs typeface="+mn-cs"/>
                </a:rPr>
                <a:t>从储库与通量，推进到耦合、反馈与时间尺度</a:t>
              </a:r>
            </a:p>
          </p:txBody>
        </p:sp>
      </p:grpSp>
      <p:grpSp>
        <p:nvGrpSpPr>
          <p:cNvPr id="14" name="Group 14"/>
          <p:cNvGrpSpPr/>
          <p:nvPr/>
        </p:nvGrpSpPr>
        <p:grpSpPr>
          <a:xfrm>
            <a:off x="381000" y="1409700"/>
            <a:ext cx="11430000" cy="895350"/>
            <a:chOff x="381000" y="1409700"/>
            <a:chExt cx="11430000" cy="895350"/>
          </a:xfrm>
        </p:grpSpPr>
        <p:sp>
          <p:nvSpPr>
            <p:cNvPr id="9" name="Rectangle 9"/>
            <p:cNvSpPr/>
            <p:nvPr/>
          </p:nvSpPr>
          <p:spPr>
            <a:xfrm>
              <a:off x="381000" y="1409700"/>
              <a:ext cx="11430000" cy="895350"/>
            </a:xfrm>
            <a:prstGeom prst="roundRect">
              <a:avLst>
                <a:gd name="adj" fmla="val 12766"/>
              </a:avLst>
            </a:prstGeom>
            <a:solidFill>
              <a:schemeClr val="lt2"/>
            </a:solidFill>
            <a:ln w="9525">
              <a:solidFill>
                <a:schemeClr val="accent6"/>
              </a:solidFill>
            </a:ln>
          </p:spPr>
        </p:sp>
        <p:sp>
          <p:nvSpPr>
            <p:cNvPr id="10" name="Ellipse 10"/>
            <p:cNvSpPr/>
            <p:nvPr/>
          </p:nvSpPr>
          <p:spPr>
            <a:xfrm>
              <a:off x="533400" y="1647825"/>
              <a:ext cx="419100" cy="419100"/>
            </a:xfrm>
            <a:prstGeom prst="ellipse">
              <a:avLst/>
            </a:prstGeom>
            <a:solidFill>
              <a:schemeClr val="accent2"/>
            </a:solidFill>
            <a:ln>
              <a:noFill/>
            </a:ln>
          </p:spPr>
        </p:sp>
        <p:sp>
          <p:nvSpPr>
            <p:cNvPr id="11" name="TextBox 11"/>
            <p:cNvSpPr txBox="1"/>
            <p:nvPr/>
          </p:nvSpPr>
          <p:spPr>
            <a:xfrm>
              <a:off x="690208" y="1784985"/>
              <a:ext cx="105484" cy="234696"/>
            </a:xfrm>
            <a:prstGeom prst="rect">
              <a:avLst/>
            </a:prstGeom>
            <a:noFill/>
            <a:ln>
              <a:noFill/>
            </a:ln>
          </p:spPr>
          <p:txBody>
            <a:bodyPr wrap="none" lIns="0" tIns="0" rIns="0" bIns="0" anchor="t" anchorCtr="0">
              <a:spAutoFit/>
            </a:bodyPr>
            <a:lstStyle/>
            <a:p>
              <a:pPr algn="ctr"/>
              <a:r>
                <a:rPr lang="zh-CN" sz="1200" b="1" dirty="0">
                  <a:solidFill>
                    <a:srgbClr val="FFFFFF"/>
                  </a:solidFill>
                  <a:latin typeface="+mn-lt"/>
                  <a:ea typeface="+mn-ea"/>
                  <a:cs typeface="+mn-cs"/>
                </a:rPr>
                <a:t>1</a:t>
              </a:r>
            </a:p>
          </p:txBody>
        </p:sp>
        <p:sp>
          <p:nvSpPr>
            <p:cNvPr id="12" name="TextBox 12"/>
            <p:cNvSpPr txBox="1"/>
            <p:nvPr/>
          </p:nvSpPr>
          <p:spPr>
            <a:xfrm>
              <a:off x="1099185" y="1612106"/>
              <a:ext cx="4534662" cy="220028"/>
            </a:xfrm>
            <a:prstGeom prst="rect">
              <a:avLst/>
            </a:prstGeom>
            <a:noFill/>
            <a:ln>
              <a:noFill/>
            </a:ln>
          </p:spPr>
          <p:txBody>
            <a:bodyPr wrap="none" lIns="0" tIns="0" rIns="0" bIns="0" anchor="t" anchorCtr="0">
              <a:spAutoFit/>
            </a:bodyPr>
            <a:lstStyle/>
            <a:p>
              <a:pPr algn="l"/>
              <a:r>
                <a:rPr lang="zh-CN" sz="1120" b="1" dirty="0">
                  <a:solidFill>
                    <a:schemeClr val="dk1"/>
                  </a:solidFill>
                  <a:latin typeface="+mn-lt"/>
                  <a:ea typeface="+mn-ea"/>
                  <a:cs typeface="+mn-cs"/>
                </a:rPr>
                <a:t>识别地球水循环的主要储库与通量，并区分储量、通量和停留时间。</a:t>
              </a:r>
            </a:p>
          </p:txBody>
        </p:sp>
        <p:sp>
          <p:nvSpPr>
            <p:cNvPr id="13" name="TextBox 13"/>
            <p:cNvSpPr txBox="1"/>
            <p:nvPr/>
          </p:nvSpPr>
          <p:spPr>
            <a:xfrm>
              <a:off x="1099947" y="1904524"/>
              <a:ext cx="7422009" cy="190690"/>
            </a:xfrm>
            <a:prstGeom prst="rect">
              <a:avLst/>
            </a:prstGeom>
            <a:noFill/>
            <a:ln>
              <a:noFill/>
            </a:ln>
          </p:spPr>
          <p:txBody>
            <a:bodyPr wrap="none" lIns="0" tIns="0" rIns="0" bIns="0" anchor="t" anchorCtr="0">
              <a:spAutoFit/>
            </a:bodyPr>
            <a:lstStyle/>
            <a:p>
              <a:pPr algn="l"/>
              <a:r>
                <a:rPr lang="zh-CN" sz="980" dirty="0">
                  <a:solidFill>
                    <a:schemeClr val="accent5"/>
                  </a:solidFill>
                  <a:latin typeface="+mn-lt"/>
                  <a:ea typeface="+mn-ea"/>
                  <a:cs typeface="+mn-cs"/>
                </a:rPr>
                <a:t>Identify the major reservoirs and fluxes of the hydrologic cycle and distinguish storage, flux, and residence time.</a:t>
              </a:r>
            </a:p>
          </p:txBody>
        </p:sp>
      </p:grpSp>
      <p:grpSp>
        <p:nvGrpSpPr>
          <p:cNvPr id="20" name="Group 20"/>
          <p:cNvGrpSpPr/>
          <p:nvPr/>
        </p:nvGrpSpPr>
        <p:grpSpPr>
          <a:xfrm>
            <a:off x="381000" y="2381250"/>
            <a:ext cx="11430000" cy="895350"/>
            <a:chOff x="381000" y="2381250"/>
            <a:chExt cx="11430000" cy="895350"/>
          </a:xfrm>
        </p:grpSpPr>
        <p:sp>
          <p:nvSpPr>
            <p:cNvPr id="15" name="Rectangle 15"/>
            <p:cNvSpPr/>
            <p:nvPr/>
          </p:nvSpPr>
          <p:spPr>
            <a:xfrm>
              <a:off x="381000" y="2381250"/>
              <a:ext cx="11430000" cy="895350"/>
            </a:xfrm>
            <a:prstGeom prst="roundRect">
              <a:avLst>
                <a:gd name="adj" fmla="val 12766"/>
              </a:avLst>
            </a:prstGeom>
            <a:solidFill>
              <a:schemeClr val="lt2"/>
            </a:solidFill>
            <a:ln w="9525">
              <a:solidFill>
                <a:schemeClr val="accent6"/>
              </a:solidFill>
            </a:ln>
          </p:spPr>
        </p:sp>
        <p:sp>
          <p:nvSpPr>
            <p:cNvPr id="16" name="Ellipse 16"/>
            <p:cNvSpPr/>
            <p:nvPr/>
          </p:nvSpPr>
          <p:spPr>
            <a:xfrm>
              <a:off x="533400" y="2619375"/>
              <a:ext cx="419100" cy="419100"/>
            </a:xfrm>
            <a:prstGeom prst="ellipse">
              <a:avLst/>
            </a:prstGeom>
            <a:solidFill>
              <a:schemeClr val="accent2"/>
            </a:solidFill>
            <a:ln>
              <a:noFill/>
            </a:ln>
          </p:spPr>
        </p:sp>
        <p:sp>
          <p:nvSpPr>
            <p:cNvPr id="17" name="TextBox 17"/>
            <p:cNvSpPr txBox="1"/>
            <p:nvPr/>
          </p:nvSpPr>
          <p:spPr>
            <a:xfrm>
              <a:off x="690208" y="2756535"/>
              <a:ext cx="105484" cy="234696"/>
            </a:xfrm>
            <a:prstGeom prst="rect">
              <a:avLst/>
            </a:prstGeom>
            <a:noFill/>
            <a:ln>
              <a:noFill/>
            </a:ln>
          </p:spPr>
          <p:txBody>
            <a:bodyPr wrap="none" lIns="0" tIns="0" rIns="0" bIns="0" anchor="t" anchorCtr="0">
              <a:spAutoFit/>
            </a:bodyPr>
            <a:lstStyle/>
            <a:p>
              <a:pPr algn="ctr"/>
              <a:r>
                <a:rPr lang="zh-CN" sz="1200" b="1" dirty="0">
                  <a:solidFill>
                    <a:srgbClr val="FFFFFF"/>
                  </a:solidFill>
                  <a:latin typeface="+mn-lt"/>
                  <a:ea typeface="+mn-ea"/>
                  <a:cs typeface="+mn-cs"/>
                </a:rPr>
                <a:t>2</a:t>
              </a:r>
            </a:p>
          </p:txBody>
        </p:sp>
        <p:sp>
          <p:nvSpPr>
            <p:cNvPr id="18" name="TextBox 18"/>
            <p:cNvSpPr txBox="1"/>
            <p:nvPr/>
          </p:nvSpPr>
          <p:spPr>
            <a:xfrm>
              <a:off x="1099185" y="2583656"/>
              <a:ext cx="3931564" cy="220028"/>
            </a:xfrm>
            <a:prstGeom prst="rect">
              <a:avLst/>
            </a:prstGeom>
            <a:noFill/>
            <a:ln>
              <a:noFill/>
            </a:ln>
          </p:spPr>
          <p:txBody>
            <a:bodyPr wrap="none" lIns="0" tIns="0" rIns="0" bIns="0" anchor="t" anchorCtr="0">
              <a:spAutoFit/>
            </a:bodyPr>
            <a:lstStyle/>
            <a:p>
              <a:pPr algn="l"/>
              <a:r>
                <a:rPr lang="zh-CN" sz="1120" b="1" dirty="0">
                  <a:solidFill>
                    <a:schemeClr val="dk1"/>
                  </a:solidFill>
                  <a:latin typeface="+mn-lt"/>
                  <a:ea typeface="+mn-ea"/>
                  <a:cs typeface="+mn-cs"/>
                </a:rPr>
                <a:t>描述全球碳循环的主要储库，以及快速和缓慢碳循环路径。</a:t>
              </a:r>
            </a:p>
          </p:txBody>
        </p:sp>
        <p:sp>
          <p:nvSpPr>
            <p:cNvPr id="19" name="TextBox 19"/>
            <p:cNvSpPr txBox="1"/>
            <p:nvPr/>
          </p:nvSpPr>
          <p:spPr>
            <a:xfrm>
              <a:off x="1099947" y="2876074"/>
              <a:ext cx="6261154" cy="190690"/>
            </a:xfrm>
            <a:prstGeom prst="rect">
              <a:avLst/>
            </a:prstGeom>
            <a:noFill/>
            <a:ln>
              <a:noFill/>
            </a:ln>
          </p:spPr>
          <p:txBody>
            <a:bodyPr wrap="none" lIns="0" tIns="0" rIns="0" bIns="0" anchor="t" anchorCtr="0">
              <a:spAutoFit/>
            </a:bodyPr>
            <a:lstStyle/>
            <a:p>
              <a:pPr algn="l"/>
              <a:r>
                <a:rPr lang="zh-CN" sz="980" dirty="0">
                  <a:solidFill>
                    <a:schemeClr val="accent5"/>
                  </a:solidFill>
                  <a:latin typeface="+mn-lt"/>
                  <a:ea typeface="+mn-ea"/>
                  <a:cs typeface="+mn-cs"/>
                </a:rPr>
                <a:t>Describe the major carbon reservoirs and the fast and slow pathways of the global carbon cycle.</a:t>
              </a:r>
            </a:p>
          </p:txBody>
        </p:sp>
      </p:grpSp>
      <p:grpSp>
        <p:nvGrpSpPr>
          <p:cNvPr id="26" name="Group 26"/>
          <p:cNvGrpSpPr/>
          <p:nvPr/>
        </p:nvGrpSpPr>
        <p:grpSpPr>
          <a:xfrm>
            <a:off x="381000" y="3352800"/>
            <a:ext cx="11430000" cy="895350"/>
            <a:chOff x="381000" y="3352800"/>
            <a:chExt cx="11430000" cy="895350"/>
          </a:xfrm>
        </p:grpSpPr>
        <p:sp>
          <p:nvSpPr>
            <p:cNvPr id="21" name="Rectangle 21"/>
            <p:cNvSpPr/>
            <p:nvPr/>
          </p:nvSpPr>
          <p:spPr>
            <a:xfrm>
              <a:off x="381000" y="3352800"/>
              <a:ext cx="11430000" cy="895350"/>
            </a:xfrm>
            <a:prstGeom prst="roundRect">
              <a:avLst>
                <a:gd name="adj" fmla="val 12766"/>
              </a:avLst>
            </a:prstGeom>
            <a:solidFill>
              <a:schemeClr val="lt2"/>
            </a:solidFill>
            <a:ln w="9525">
              <a:solidFill>
                <a:schemeClr val="accent6"/>
              </a:solidFill>
            </a:ln>
          </p:spPr>
        </p:sp>
        <p:sp>
          <p:nvSpPr>
            <p:cNvPr id="22" name="Ellipse 22"/>
            <p:cNvSpPr/>
            <p:nvPr/>
          </p:nvSpPr>
          <p:spPr>
            <a:xfrm>
              <a:off x="533400" y="3590925"/>
              <a:ext cx="419100" cy="419100"/>
            </a:xfrm>
            <a:prstGeom prst="ellipse">
              <a:avLst/>
            </a:prstGeom>
            <a:solidFill>
              <a:schemeClr val="accent2"/>
            </a:solidFill>
            <a:ln>
              <a:noFill/>
            </a:ln>
          </p:spPr>
        </p:sp>
        <p:sp>
          <p:nvSpPr>
            <p:cNvPr id="23" name="TextBox 23"/>
            <p:cNvSpPr txBox="1"/>
            <p:nvPr/>
          </p:nvSpPr>
          <p:spPr>
            <a:xfrm>
              <a:off x="690208" y="3728085"/>
              <a:ext cx="105484" cy="234696"/>
            </a:xfrm>
            <a:prstGeom prst="rect">
              <a:avLst/>
            </a:prstGeom>
            <a:noFill/>
            <a:ln>
              <a:noFill/>
            </a:ln>
          </p:spPr>
          <p:txBody>
            <a:bodyPr wrap="none" lIns="0" tIns="0" rIns="0" bIns="0" anchor="t" anchorCtr="0">
              <a:spAutoFit/>
            </a:bodyPr>
            <a:lstStyle/>
            <a:p>
              <a:pPr algn="ctr"/>
              <a:r>
                <a:rPr lang="zh-CN" sz="1200" b="1" dirty="0">
                  <a:solidFill>
                    <a:srgbClr val="FFFFFF"/>
                  </a:solidFill>
                  <a:latin typeface="+mn-lt"/>
                  <a:ea typeface="+mn-ea"/>
                  <a:cs typeface="+mn-cs"/>
                </a:rPr>
                <a:t>3</a:t>
              </a:r>
            </a:p>
          </p:txBody>
        </p:sp>
        <p:sp>
          <p:nvSpPr>
            <p:cNvPr id="24" name="TextBox 24"/>
            <p:cNvSpPr txBox="1"/>
            <p:nvPr/>
          </p:nvSpPr>
          <p:spPr>
            <a:xfrm>
              <a:off x="1099185" y="3555206"/>
              <a:ext cx="3177692" cy="220028"/>
            </a:xfrm>
            <a:prstGeom prst="rect">
              <a:avLst/>
            </a:prstGeom>
            <a:noFill/>
            <a:ln>
              <a:noFill/>
            </a:ln>
          </p:spPr>
          <p:txBody>
            <a:bodyPr wrap="none" lIns="0" tIns="0" rIns="0" bIns="0" anchor="t" anchorCtr="0">
              <a:spAutoFit/>
            </a:bodyPr>
            <a:lstStyle/>
            <a:p>
              <a:pPr algn="l"/>
              <a:r>
                <a:rPr lang="zh-CN" sz="1120" b="1" dirty="0">
                  <a:solidFill>
                    <a:schemeClr val="dk1"/>
                  </a:solidFill>
                  <a:latin typeface="+mn-lt"/>
                  <a:ea typeface="+mn-ea"/>
                  <a:cs typeface="+mn-cs"/>
                </a:rPr>
                <a:t>解释水和碳如何连接大气、海洋、岩石与生命。</a:t>
              </a:r>
            </a:p>
          </p:txBody>
        </p:sp>
        <p:sp>
          <p:nvSpPr>
            <p:cNvPr id="25" name="TextBox 25"/>
            <p:cNvSpPr txBox="1"/>
            <p:nvPr/>
          </p:nvSpPr>
          <p:spPr>
            <a:xfrm>
              <a:off x="1099947" y="3847624"/>
              <a:ext cx="5186189" cy="190690"/>
            </a:xfrm>
            <a:prstGeom prst="rect">
              <a:avLst/>
            </a:prstGeom>
            <a:noFill/>
            <a:ln>
              <a:noFill/>
            </a:ln>
          </p:spPr>
          <p:txBody>
            <a:bodyPr wrap="none" lIns="0" tIns="0" rIns="0" bIns="0" anchor="t" anchorCtr="0">
              <a:spAutoFit/>
            </a:bodyPr>
            <a:lstStyle/>
            <a:p>
              <a:pPr algn="l"/>
              <a:r>
                <a:rPr lang="zh-CN" sz="980" dirty="0">
                  <a:solidFill>
                    <a:schemeClr val="accent5"/>
                  </a:solidFill>
                  <a:latin typeface="+mn-lt"/>
                  <a:ea typeface="+mn-ea"/>
                  <a:cs typeface="+mn-cs"/>
                </a:rPr>
                <a:t>Explain how water and carbon connect the atmosphere, oceans, rocks, and life.</a:t>
              </a:r>
            </a:p>
          </p:txBody>
        </p:sp>
      </p:grpSp>
      <p:grpSp>
        <p:nvGrpSpPr>
          <p:cNvPr id="32" name="Group 32"/>
          <p:cNvGrpSpPr/>
          <p:nvPr/>
        </p:nvGrpSpPr>
        <p:grpSpPr>
          <a:xfrm>
            <a:off x="381000" y="4324350"/>
            <a:ext cx="11430000" cy="895350"/>
            <a:chOff x="381000" y="4324350"/>
            <a:chExt cx="11430000" cy="895350"/>
          </a:xfrm>
        </p:grpSpPr>
        <p:sp>
          <p:nvSpPr>
            <p:cNvPr id="27" name="Rectangle 27"/>
            <p:cNvSpPr/>
            <p:nvPr/>
          </p:nvSpPr>
          <p:spPr>
            <a:xfrm>
              <a:off x="381000" y="4324350"/>
              <a:ext cx="11430000" cy="895350"/>
            </a:xfrm>
            <a:prstGeom prst="roundRect">
              <a:avLst>
                <a:gd name="adj" fmla="val 12766"/>
              </a:avLst>
            </a:prstGeom>
            <a:solidFill>
              <a:schemeClr val="lt2"/>
            </a:solidFill>
            <a:ln w="9525">
              <a:solidFill>
                <a:schemeClr val="accent6"/>
              </a:solidFill>
            </a:ln>
          </p:spPr>
        </p:sp>
        <p:sp>
          <p:nvSpPr>
            <p:cNvPr id="28" name="Ellipse 28"/>
            <p:cNvSpPr/>
            <p:nvPr/>
          </p:nvSpPr>
          <p:spPr>
            <a:xfrm>
              <a:off x="533400" y="4562475"/>
              <a:ext cx="419100" cy="419100"/>
            </a:xfrm>
            <a:prstGeom prst="ellipse">
              <a:avLst/>
            </a:prstGeom>
            <a:solidFill>
              <a:schemeClr val="accent3"/>
            </a:solidFill>
            <a:ln>
              <a:noFill/>
            </a:ln>
          </p:spPr>
        </p:sp>
        <p:sp>
          <p:nvSpPr>
            <p:cNvPr id="29" name="TextBox 29"/>
            <p:cNvSpPr txBox="1"/>
            <p:nvPr/>
          </p:nvSpPr>
          <p:spPr>
            <a:xfrm>
              <a:off x="690208" y="4699635"/>
              <a:ext cx="105484" cy="234696"/>
            </a:xfrm>
            <a:prstGeom prst="rect">
              <a:avLst/>
            </a:prstGeom>
            <a:noFill/>
            <a:ln>
              <a:noFill/>
            </a:ln>
          </p:spPr>
          <p:txBody>
            <a:bodyPr wrap="none" lIns="0" tIns="0" rIns="0" bIns="0" anchor="t" anchorCtr="0">
              <a:spAutoFit/>
            </a:bodyPr>
            <a:lstStyle/>
            <a:p>
              <a:pPr algn="ctr"/>
              <a:r>
                <a:rPr lang="zh-CN" sz="1200" b="1" dirty="0">
                  <a:solidFill>
                    <a:srgbClr val="FFFFFF"/>
                  </a:solidFill>
                  <a:latin typeface="+mn-lt"/>
                  <a:ea typeface="+mn-ea"/>
                  <a:cs typeface="+mn-cs"/>
                </a:rPr>
                <a:t>4</a:t>
              </a:r>
            </a:p>
          </p:txBody>
        </p:sp>
        <p:sp>
          <p:nvSpPr>
            <p:cNvPr id="30" name="TextBox 30"/>
            <p:cNvSpPr txBox="1"/>
            <p:nvPr/>
          </p:nvSpPr>
          <p:spPr>
            <a:xfrm>
              <a:off x="1099185" y="4526756"/>
              <a:ext cx="3328467" cy="220028"/>
            </a:xfrm>
            <a:prstGeom prst="rect">
              <a:avLst/>
            </a:prstGeom>
            <a:noFill/>
            <a:ln>
              <a:noFill/>
            </a:ln>
          </p:spPr>
          <p:txBody>
            <a:bodyPr wrap="none" lIns="0" tIns="0" rIns="0" bIns="0" anchor="t" anchorCtr="0">
              <a:spAutoFit/>
            </a:bodyPr>
            <a:lstStyle/>
            <a:p>
              <a:pPr algn="l"/>
              <a:r>
                <a:rPr lang="zh-CN" sz="1120" b="1" dirty="0">
                  <a:solidFill>
                    <a:schemeClr val="dk1"/>
                  </a:solidFill>
                  <a:latin typeface="+mn-lt"/>
                  <a:ea typeface="+mn-ea"/>
                  <a:cs typeface="+mn-cs"/>
                </a:rPr>
                <a:t>区分正反馈与负反馈，并解释典型气候反馈机制。</a:t>
              </a:r>
            </a:p>
          </p:txBody>
        </p:sp>
        <p:sp>
          <p:nvSpPr>
            <p:cNvPr id="31" name="TextBox 31"/>
            <p:cNvSpPr txBox="1"/>
            <p:nvPr/>
          </p:nvSpPr>
          <p:spPr>
            <a:xfrm>
              <a:off x="1099947" y="4819174"/>
              <a:ext cx="6577526" cy="190690"/>
            </a:xfrm>
            <a:prstGeom prst="rect">
              <a:avLst/>
            </a:prstGeom>
            <a:noFill/>
            <a:ln>
              <a:noFill/>
            </a:ln>
          </p:spPr>
          <p:txBody>
            <a:bodyPr wrap="none" lIns="0" tIns="0" rIns="0" bIns="0" anchor="t" anchorCtr="0">
              <a:spAutoFit/>
            </a:bodyPr>
            <a:lstStyle/>
            <a:p>
              <a:pPr algn="l"/>
              <a:r>
                <a:rPr lang="zh-CN" sz="980" dirty="0">
                  <a:solidFill>
                    <a:schemeClr val="accent5"/>
                  </a:solidFill>
                  <a:latin typeface="+mn-lt"/>
                  <a:ea typeface="+mn-ea"/>
                  <a:cs typeface="+mn-cs"/>
                </a:rPr>
                <a:t>Distinguish positive from negative feedback and explain representative climate feedback mechanisms.</a:t>
              </a:r>
            </a:p>
          </p:txBody>
        </p:sp>
      </p:grpSp>
      <p:grpSp>
        <p:nvGrpSpPr>
          <p:cNvPr id="38" name="Group 38"/>
          <p:cNvGrpSpPr/>
          <p:nvPr/>
        </p:nvGrpSpPr>
        <p:grpSpPr>
          <a:xfrm>
            <a:off x="381000" y="5295900"/>
            <a:ext cx="11430000" cy="895350"/>
            <a:chOff x="381000" y="5295900"/>
            <a:chExt cx="11430000" cy="895350"/>
          </a:xfrm>
        </p:grpSpPr>
        <p:sp>
          <p:nvSpPr>
            <p:cNvPr id="33" name="Rectangle 33"/>
            <p:cNvSpPr/>
            <p:nvPr/>
          </p:nvSpPr>
          <p:spPr>
            <a:xfrm>
              <a:off x="381000" y="5295900"/>
              <a:ext cx="11430000" cy="895350"/>
            </a:xfrm>
            <a:prstGeom prst="roundRect">
              <a:avLst>
                <a:gd name="adj" fmla="val 12766"/>
              </a:avLst>
            </a:prstGeom>
            <a:solidFill>
              <a:schemeClr val="lt2"/>
            </a:solidFill>
            <a:ln w="9525">
              <a:solidFill>
                <a:schemeClr val="accent6"/>
              </a:solidFill>
            </a:ln>
          </p:spPr>
        </p:sp>
        <p:sp>
          <p:nvSpPr>
            <p:cNvPr id="34" name="Ellipse 34"/>
            <p:cNvSpPr/>
            <p:nvPr/>
          </p:nvSpPr>
          <p:spPr>
            <a:xfrm>
              <a:off x="533400" y="5534025"/>
              <a:ext cx="419100" cy="419100"/>
            </a:xfrm>
            <a:prstGeom prst="ellipse">
              <a:avLst/>
            </a:prstGeom>
            <a:solidFill>
              <a:schemeClr val="accent3"/>
            </a:solidFill>
            <a:ln>
              <a:noFill/>
            </a:ln>
          </p:spPr>
        </p:sp>
        <p:sp>
          <p:nvSpPr>
            <p:cNvPr id="35" name="TextBox 35"/>
            <p:cNvSpPr txBox="1"/>
            <p:nvPr/>
          </p:nvSpPr>
          <p:spPr>
            <a:xfrm>
              <a:off x="690208" y="5671185"/>
              <a:ext cx="105484" cy="234696"/>
            </a:xfrm>
            <a:prstGeom prst="rect">
              <a:avLst/>
            </a:prstGeom>
            <a:noFill/>
            <a:ln>
              <a:noFill/>
            </a:ln>
          </p:spPr>
          <p:txBody>
            <a:bodyPr wrap="none" lIns="0" tIns="0" rIns="0" bIns="0" anchor="t" anchorCtr="0">
              <a:spAutoFit/>
            </a:bodyPr>
            <a:lstStyle/>
            <a:p>
              <a:pPr algn="ctr"/>
              <a:r>
                <a:rPr lang="zh-CN" sz="1200" b="1" dirty="0">
                  <a:solidFill>
                    <a:srgbClr val="FFFFFF"/>
                  </a:solidFill>
                  <a:latin typeface="+mn-lt"/>
                  <a:ea typeface="+mn-ea"/>
                  <a:cs typeface="+mn-cs"/>
                </a:rPr>
                <a:t>5</a:t>
              </a:r>
            </a:p>
          </p:txBody>
        </p:sp>
        <p:sp>
          <p:nvSpPr>
            <p:cNvPr id="36" name="TextBox 36"/>
            <p:cNvSpPr txBox="1"/>
            <p:nvPr/>
          </p:nvSpPr>
          <p:spPr>
            <a:xfrm>
              <a:off x="1099185" y="5498306"/>
              <a:ext cx="4685436" cy="220028"/>
            </a:xfrm>
            <a:prstGeom prst="rect">
              <a:avLst/>
            </a:prstGeom>
            <a:noFill/>
            <a:ln>
              <a:noFill/>
            </a:ln>
          </p:spPr>
          <p:txBody>
            <a:bodyPr wrap="none" lIns="0" tIns="0" rIns="0" bIns="0" anchor="t" anchorCtr="0">
              <a:spAutoFit/>
            </a:bodyPr>
            <a:lstStyle/>
            <a:p>
              <a:pPr algn="l"/>
              <a:r>
                <a:rPr lang="zh-CN" sz="1120" b="1" dirty="0">
                  <a:solidFill>
                    <a:schemeClr val="dk1"/>
                  </a:solidFill>
                  <a:latin typeface="+mn-lt"/>
                  <a:ea typeface="+mn-ea"/>
                  <a:cs typeface="+mn-cs"/>
                </a:rPr>
                <a:t>比较不同循环和反馈的时间尺度，并预测系统受到扰动后的响应方向。</a:t>
              </a:r>
            </a:p>
          </p:txBody>
        </p:sp>
        <p:sp>
          <p:nvSpPr>
            <p:cNvPr id="37" name="TextBox 37"/>
            <p:cNvSpPr txBox="1"/>
            <p:nvPr/>
          </p:nvSpPr>
          <p:spPr>
            <a:xfrm>
              <a:off x="1099947" y="5790724"/>
              <a:ext cx="7349498" cy="190690"/>
            </a:xfrm>
            <a:prstGeom prst="rect">
              <a:avLst/>
            </a:prstGeom>
            <a:noFill/>
            <a:ln>
              <a:noFill/>
            </a:ln>
          </p:spPr>
          <p:txBody>
            <a:bodyPr wrap="none" lIns="0" tIns="0" rIns="0" bIns="0" anchor="t" anchorCtr="0">
              <a:spAutoFit/>
            </a:bodyPr>
            <a:lstStyle/>
            <a:p>
              <a:pPr algn="l"/>
              <a:r>
                <a:rPr lang="zh-CN" sz="980" dirty="0">
                  <a:solidFill>
                    <a:schemeClr val="accent5"/>
                  </a:solidFill>
                  <a:latin typeface="+mn-lt"/>
                  <a:ea typeface="+mn-ea"/>
                  <a:cs typeface="+mn-cs"/>
                </a:rPr>
                <a:t>Compare the timescales of cycles and feedbacks and predict the direction of system responses to perturbations.</a:t>
              </a:r>
            </a:p>
          </p:txBody>
        </p:sp>
      </p:grpSp>
      <p:sp>
        <p:nvSpPr>
          <p:cNvPr id="39" name="TextBox 39"/>
          <p:cNvSpPr txBox="1"/>
          <p:nvPr/>
        </p:nvSpPr>
        <p:spPr>
          <a:xfrm>
            <a:off x="376238" y="6532245"/>
            <a:ext cx="2393503" cy="176212"/>
          </a:xfrm>
          <a:prstGeom prst="rect">
            <a:avLst/>
          </a:prstGeom>
          <a:noFill/>
          <a:ln>
            <a:noFill/>
          </a:ln>
        </p:spPr>
        <p:txBody>
          <a:bodyPr wrap="none" lIns="0" tIns="0" rIns="0" bIns="0" anchor="t" anchorCtr="0">
            <a:spAutoFit/>
          </a:bodyPr>
          <a:lstStyle/>
          <a:p>
            <a:pPr algn="l"/>
            <a:r>
              <a:rPr lang="zh-CN" sz="900" dirty="0">
                <a:solidFill>
                  <a:schemeClr val="accent5"/>
                </a:solidFill>
                <a:latin typeface="+mn-lt"/>
                <a:ea typeface="+mn-ea"/>
                <a:cs typeface="+mn-cs"/>
              </a:rPr>
              <a:t>Source: Lecture 16 Master Prompt §24.</a:t>
            </a:r>
          </a:p>
        </p:txBody>
      </p:sp>
      <p:sp>
        <p:nvSpPr>
          <p:cNvPr id="40" name="TextBox 40"/>
          <p:cNvSpPr txBox="1"/>
          <p:nvPr/>
        </p:nvSpPr>
        <p:spPr>
          <a:xfrm>
            <a:off x="11672964" y="6532245"/>
            <a:ext cx="142799" cy="176212"/>
          </a:xfrm>
          <a:prstGeom prst="rect">
            <a:avLst/>
          </a:prstGeom>
          <a:noFill/>
          <a:ln>
            <a:noFill/>
          </a:ln>
        </p:spPr>
        <p:txBody>
          <a:bodyPr wrap="none" lIns="0" tIns="0" rIns="0" bIns="0" anchor="t" anchorCtr="0">
            <a:spAutoFit/>
          </a:bodyPr>
          <a:lstStyle/>
          <a:p>
            <a:pPr algn="r"/>
            <a:r>
              <a:rPr lang="zh-CN" sz="900" dirty="0">
                <a:solidFill>
                  <a:schemeClr val="accent5"/>
                </a:solidFill>
                <a:latin typeface="+mn-lt"/>
                <a:ea typeface="+mn-ea"/>
                <a:cs typeface="+mn-cs"/>
              </a:rPr>
              <a:t>02</a:t>
            </a:r>
          </a:p>
        </p:txBody>
      </p:sp>
    </p:spTree>
    <p:extLst>
      <p:ext uri="{BB962C8B-B14F-4D97-AF65-F5344CB8AC3E}">
        <p14:creationId xmlns:p14="http://schemas.microsoft.com/office/powerpoint/2010/main" val="2977634479"/>
      </p:ext>
    </p:extLst>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5"/>
          <p:cNvGrpSpPr/>
          <p:nvPr/>
        </p:nvGrpSpPr>
        <p:grpSpPr>
          <a:xfrm>
            <a:off x="0" y="0"/>
            <a:ext cx="12192000" cy="690181"/>
            <a:chOff x="0" y="0"/>
            <a:chExt cx="12192000" cy="690181"/>
          </a:xfrm>
        </p:grpSpPr>
        <p:sp>
          <p:nvSpPr>
            <p:cNvPr id="2" name="Rectangle 2"/>
            <p:cNvSpPr/>
            <p:nvPr/>
          </p:nvSpPr>
          <p:spPr>
            <a:xfrm>
              <a:off x="0" y="0"/>
              <a:ext cx="12192000" cy="685800"/>
            </a:xfrm>
            <a:prstGeom prst="rect">
              <a:avLst/>
            </a:prstGeom>
            <a:solidFill>
              <a:schemeClr val="accent1"/>
            </a:solidFill>
            <a:ln>
              <a:noFill/>
            </a:ln>
          </p:spPr>
        </p:sp>
        <p:sp>
          <p:nvSpPr>
            <p:cNvPr id="3" name="TextBox 3"/>
            <p:cNvSpPr txBox="1"/>
            <p:nvPr/>
          </p:nvSpPr>
          <p:spPr>
            <a:xfrm>
              <a:off x="368046" y="191452"/>
              <a:ext cx="4167723" cy="498729"/>
            </a:xfrm>
            <a:prstGeom prst="rect">
              <a:avLst/>
            </a:prstGeom>
            <a:noFill/>
            <a:ln>
              <a:noFill/>
            </a:ln>
          </p:spPr>
          <p:txBody>
            <a:bodyPr wrap="none" lIns="0" tIns="0" rIns="0" bIns="0" anchor="t" anchorCtr="0">
              <a:spAutoFit/>
            </a:bodyPr>
            <a:lstStyle/>
            <a:p>
              <a:pPr algn="l"/>
              <a:r>
                <a:rPr lang="zh-CN" sz="2550" b="1" dirty="0">
                  <a:solidFill>
                    <a:srgbClr val="FFFFFF"/>
                  </a:solidFill>
                  <a:latin typeface="+mn-lt"/>
                  <a:ea typeface="+mn-ea"/>
                  <a:cs typeface="+mn-cs"/>
                </a:rPr>
                <a:t>目录 | Table of Contents</a:t>
              </a:r>
            </a:p>
          </p:txBody>
        </p:sp>
        <p:sp>
          <p:nvSpPr>
            <p:cNvPr id="4" name="TextBox 4"/>
            <p:cNvSpPr txBox="1"/>
            <p:nvPr/>
          </p:nvSpPr>
          <p:spPr>
            <a:xfrm>
              <a:off x="10908792" y="299085"/>
              <a:ext cx="908304" cy="234696"/>
            </a:xfrm>
            <a:prstGeom prst="rect">
              <a:avLst/>
            </a:prstGeom>
            <a:noFill/>
            <a:ln>
              <a:noFill/>
            </a:ln>
          </p:spPr>
          <p:txBody>
            <a:bodyPr wrap="none" lIns="0" tIns="0" rIns="0" bIns="0" anchor="t" anchorCtr="0">
              <a:spAutoFit/>
            </a:bodyPr>
            <a:lstStyle/>
            <a:p>
              <a:pPr algn="r"/>
              <a:r>
                <a:rPr lang="zh-CN" sz="1200" dirty="0">
                  <a:solidFill>
                    <a:srgbClr val="C7D7F2"/>
                  </a:solidFill>
                  <a:latin typeface="+mn-lt"/>
                  <a:ea typeface="+mn-ea"/>
                  <a:cs typeface="+mn-cs"/>
                </a:rPr>
                <a:t>LECTURE 16</a:t>
              </a:r>
            </a:p>
          </p:txBody>
        </p:sp>
      </p:grpSp>
      <p:grpSp>
        <p:nvGrpSpPr>
          <p:cNvPr id="8" name="Group 8"/>
          <p:cNvGrpSpPr/>
          <p:nvPr/>
        </p:nvGrpSpPr>
        <p:grpSpPr>
          <a:xfrm>
            <a:off x="381000" y="952500"/>
            <a:ext cx="4858842" cy="357093"/>
            <a:chOff x="381000" y="952500"/>
            <a:chExt cx="4858842" cy="357093"/>
          </a:xfrm>
        </p:grpSpPr>
        <p:sp>
          <p:nvSpPr>
            <p:cNvPr id="6" name="Rectangle 6"/>
            <p:cNvSpPr/>
            <p:nvPr/>
          </p:nvSpPr>
          <p:spPr>
            <a:xfrm>
              <a:off x="381000" y="952500"/>
              <a:ext cx="57150" cy="266700"/>
            </a:xfrm>
            <a:prstGeom prst="roundRect">
              <a:avLst>
                <a:gd name="adj" fmla="val 50000"/>
              </a:avLst>
            </a:prstGeom>
            <a:solidFill>
              <a:schemeClr val="accent2"/>
            </a:solidFill>
            <a:ln>
              <a:noFill/>
            </a:ln>
          </p:spPr>
        </p:sp>
        <p:sp>
          <p:nvSpPr>
            <p:cNvPr id="7" name="TextBox 7"/>
            <p:cNvSpPr txBox="1"/>
            <p:nvPr/>
          </p:nvSpPr>
          <p:spPr>
            <a:xfrm>
              <a:off x="544449" y="1001554"/>
              <a:ext cx="4695393" cy="308039"/>
            </a:xfrm>
            <a:prstGeom prst="rect">
              <a:avLst/>
            </a:prstGeom>
            <a:noFill/>
            <a:ln>
              <a:noFill/>
            </a:ln>
          </p:spPr>
          <p:txBody>
            <a:bodyPr wrap="none" lIns="0" tIns="0" rIns="0" bIns="0" anchor="t" anchorCtr="0">
              <a:spAutoFit/>
            </a:bodyPr>
            <a:lstStyle/>
            <a:p>
              <a:pPr algn="l"/>
              <a:r>
                <a:rPr lang="zh-CN" sz="1580" b="1" dirty="0">
                  <a:solidFill>
                    <a:schemeClr val="accent1"/>
                  </a:solidFill>
                  <a:latin typeface="+mn-lt"/>
                  <a:ea typeface="+mn-ea"/>
                  <a:cs typeface="+mn-cs"/>
                </a:rPr>
                <a:t>先分别读懂水与碳，再把它们放回同一个气候系统</a:t>
              </a:r>
            </a:p>
          </p:txBody>
        </p:sp>
      </p:grpSp>
      <p:grpSp>
        <p:nvGrpSpPr>
          <p:cNvPr id="17" name="Group 17"/>
          <p:cNvGrpSpPr/>
          <p:nvPr/>
        </p:nvGrpSpPr>
        <p:grpSpPr>
          <a:xfrm>
            <a:off x="381000" y="1676400"/>
            <a:ext cx="3676650" cy="3943350"/>
            <a:chOff x="381000" y="1676400"/>
            <a:chExt cx="3676650" cy="3943350"/>
          </a:xfrm>
        </p:grpSpPr>
        <p:sp>
          <p:nvSpPr>
            <p:cNvPr id="9" name="Rectangle 9"/>
            <p:cNvSpPr/>
            <p:nvPr/>
          </p:nvSpPr>
          <p:spPr>
            <a:xfrm>
              <a:off x="381000" y="1676400"/>
              <a:ext cx="3676650" cy="3943350"/>
            </a:xfrm>
            <a:prstGeom prst="roundRect">
              <a:avLst>
                <a:gd name="adj" fmla="val 3109"/>
              </a:avLst>
            </a:prstGeom>
            <a:solidFill>
              <a:srgbClr val="F0F5FC"/>
            </a:solidFill>
            <a:ln w="9525">
              <a:solidFill>
                <a:schemeClr val="accent6"/>
              </a:solidFill>
            </a:ln>
          </p:spPr>
        </p:sp>
        <p:sp>
          <p:nvSpPr>
            <p:cNvPr id="10" name="Rectangle 10"/>
            <p:cNvSpPr/>
            <p:nvPr/>
          </p:nvSpPr>
          <p:spPr>
            <a:xfrm>
              <a:off x="381000" y="1676400"/>
              <a:ext cx="3676650" cy="95250"/>
            </a:xfrm>
            <a:prstGeom prst="roundRect">
              <a:avLst>
                <a:gd name="adj" fmla="val 50000"/>
              </a:avLst>
            </a:prstGeom>
            <a:solidFill>
              <a:schemeClr val="accent2"/>
            </a:solidFill>
            <a:ln>
              <a:noFill/>
            </a:ln>
          </p:spPr>
        </p:sp>
        <p:sp>
          <p:nvSpPr>
            <p:cNvPr id="11" name="Ellipse 11"/>
            <p:cNvSpPr/>
            <p:nvPr/>
          </p:nvSpPr>
          <p:spPr>
            <a:xfrm>
              <a:off x="628650" y="2019300"/>
              <a:ext cx="647700" cy="647700"/>
            </a:xfrm>
            <a:prstGeom prst="ellipse">
              <a:avLst/>
            </a:prstGeom>
            <a:solidFill>
              <a:schemeClr val="accent2"/>
            </a:solidFill>
            <a:ln>
              <a:noFill/>
            </a:ln>
          </p:spPr>
        </p:sp>
        <p:sp>
          <p:nvSpPr>
            <p:cNvPr id="12" name="TextBox 12"/>
            <p:cNvSpPr txBox="1"/>
            <p:nvPr/>
          </p:nvSpPr>
          <p:spPr>
            <a:xfrm>
              <a:off x="778572" y="2221230"/>
              <a:ext cx="347857" cy="410718"/>
            </a:xfrm>
            <a:prstGeom prst="rect">
              <a:avLst/>
            </a:prstGeom>
            <a:noFill/>
            <a:ln>
              <a:noFill/>
            </a:ln>
          </p:spPr>
          <p:txBody>
            <a:bodyPr wrap="none" lIns="0" tIns="0" rIns="0" bIns="0" anchor="t" anchorCtr="0">
              <a:spAutoFit/>
            </a:bodyPr>
            <a:lstStyle/>
            <a:p>
              <a:pPr algn="ctr"/>
              <a:r>
                <a:rPr lang="zh-CN" sz="2100" b="1" dirty="0">
                  <a:solidFill>
                    <a:srgbClr val="FFFFFF"/>
                  </a:solidFill>
                  <a:latin typeface="+mn-lt"/>
                  <a:ea typeface="+mn-ea"/>
                  <a:cs typeface="+mn-cs"/>
                </a:rPr>
                <a:t>01</a:t>
              </a:r>
            </a:p>
          </p:txBody>
        </p:sp>
        <p:sp>
          <p:nvSpPr>
            <p:cNvPr id="13" name="TextBox 13"/>
            <p:cNvSpPr txBox="1"/>
            <p:nvPr/>
          </p:nvSpPr>
          <p:spPr>
            <a:xfrm>
              <a:off x="713994" y="2894648"/>
              <a:ext cx="807339" cy="381381"/>
            </a:xfrm>
            <a:prstGeom prst="rect">
              <a:avLst/>
            </a:prstGeom>
            <a:noFill/>
            <a:ln>
              <a:noFill/>
            </a:ln>
          </p:spPr>
          <p:txBody>
            <a:bodyPr wrap="none" lIns="0" tIns="0" rIns="0" bIns="0" anchor="t" anchorCtr="0">
              <a:spAutoFit/>
            </a:bodyPr>
            <a:lstStyle/>
            <a:p>
              <a:pPr algn="l"/>
              <a:r>
                <a:rPr lang="zh-CN" sz="1950" b="1" dirty="0">
                  <a:solidFill>
                    <a:schemeClr val="accent1"/>
                  </a:solidFill>
                  <a:latin typeface="+mn-lt"/>
                  <a:ea typeface="+mn-ea"/>
                  <a:cs typeface="+mn-cs"/>
                </a:rPr>
                <a:t>水循环</a:t>
              </a:r>
            </a:p>
          </p:txBody>
        </p:sp>
        <p:sp>
          <p:nvSpPr>
            <p:cNvPr id="14" name="TextBox 14"/>
            <p:cNvSpPr txBox="1"/>
            <p:nvPr/>
          </p:nvSpPr>
          <p:spPr>
            <a:xfrm>
              <a:off x="717042" y="3283268"/>
              <a:ext cx="1123375" cy="264033"/>
            </a:xfrm>
            <a:prstGeom prst="rect">
              <a:avLst/>
            </a:prstGeom>
            <a:noFill/>
            <a:ln>
              <a:noFill/>
            </a:ln>
          </p:spPr>
          <p:txBody>
            <a:bodyPr wrap="none" lIns="0" tIns="0" rIns="0" bIns="0" anchor="t" anchorCtr="0">
              <a:spAutoFit/>
            </a:bodyPr>
            <a:lstStyle/>
            <a:p>
              <a:pPr algn="l"/>
              <a:r>
                <a:rPr lang="zh-CN" sz="1350" b="1" dirty="0">
                  <a:solidFill>
                    <a:srgbClr val="3D7BD9"/>
                  </a:solidFill>
                  <a:latin typeface="+mn-lt"/>
                  <a:ea typeface="+mn-ea"/>
                  <a:cs typeface="+mn-cs"/>
                </a:rPr>
                <a:t>Water Cycle</a:t>
              </a:r>
            </a:p>
          </p:txBody>
        </p:sp>
        <p:sp>
          <p:nvSpPr>
            <p:cNvPr id="15" name="Line 15"/>
            <p:cNvSpPr/>
            <p:nvPr/>
          </p:nvSpPr>
          <p:spPr>
            <a:xfrm>
              <a:off x="723900" y="3714750"/>
              <a:ext cx="2990850" cy="9525"/>
            </a:xfrm>
            <a:custGeom>
              <a:avLst/>
              <a:gdLst/>
              <a:ahLst/>
              <a:cxnLst/>
              <a:rect l="l" t="t" r="r" b="b"/>
              <a:pathLst>
                <a:path w="2990850" h="9525">
                  <a:moveTo>
                    <a:pt x="0" y="0"/>
                  </a:moveTo>
                  <a:lnTo>
                    <a:pt x="2990850" y="0"/>
                  </a:lnTo>
                </a:path>
              </a:pathLst>
            </a:custGeom>
            <a:noFill/>
            <a:ln w="9525">
              <a:solidFill>
                <a:srgbClr val="B8C7DC"/>
              </a:solidFill>
            </a:ln>
          </p:spPr>
        </p:sp>
        <p:sp>
          <p:nvSpPr>
            <p:cNvPr id="16" name="TextBox 16"/>
            <p:cNvSpPr txBox="1"/>
            <p:nvPr/>
          </p:nvSpPr>
          <p:spPr>
            <a:xfrm>
              <a:off x="718185" y="3974306"/>
              <a:ext cx="1640078" cy="1105852"/>
            </a:xfrm>
            <a:prstGeom prst="rect">
              <a:avLst/>
            </a:prstGeom>
            <a:noFill/>
            <a:ln>
              <a:noFill/>
            </a:ln>
          </p:spPr>
          <p:txBody>
            <a:bodyPr wrap="none" lIns="0" tIns="0" rIns="0" bIns="0" anchor="t" anchorCtr="0">
              <a:spAutoFit/>
            </a:bodyPr>
            <a:lstStyle/>
            <a:p>
              <a:pPr algn="l">
                <a:lnSpc>
                  <a:spcPts val="2325"/>
                </a:lnSpc>
              </a:pPr>
              <a:r>
                <a:rPr lang="zh-CN" sz="1120" dirty="0">
                  <a:solidFill>
                    <a:schemeClr val="dk1"/>
                  </a:solidFill>
                  <a:latin typeface="+mn-lt"/>
                  <a:ea typeface="+mn-ea"/>
                  <a:cs typeface="+mn-cs"/>
                </a:rPr>
                <a:t>Reservoirs 储库</a:t>
              </a:r>
              <a:br/>
              <a:r>
                <a:rPr lang="zh-CN" sz="1120" dirty="0">
                  <a:solidFill>
                    <a:schemeClr val="dk1"/>
                  </a:solidFill>
                  <a:latin typeface="+mn-lt"/>
                  <a:ea typeface="+mn-ea"/>
                  <a:cs typeface="+mn-cs"/>
                </a:rPr>
                <a:t>Fluxes 通量</a:t>
              </a:r>
              <a:br/>
              <a:r>
                <a:rPr lang="zh-CN" sz="1120" dirty="0">
                  <a:solidFill>
                    <a:schemeClr val="dk1"/>
                  </a:solidFill>
                  <a:latin typeface="+mn-lt"/>
                  <a:ea typeface="+mn-ea"/>
                  <a:cs typeface="+mn-cs"/>
                </a:rPr>
                <a:t>Residence time 停留时间</a:t>
              </a:r>
              <a:br/>
              <a:r>
                <a:rPr lang="zh-CN" sz="1120" dirty="0">
                  <a:solidFill>
                    <a:schemeClr val="dk1"/>
                  </a:solidFill>
                  <a:latin typeface="+mn-lt"/>
                  <a:ea typeface="+mn-ea"/>
                  <a:cs typeface="+mn-cs"/>
                </a:rPr>
                <a:t>Surface ↔ Deep Earth</a:t>
              </a:r>
            </a:p>
          </p:txBody>
        </p:sp>
      </p:grpSp>
      <p:grpSp>
        <p:nvGrpSpPr>
          <p:cNvPr id="26" name="Group 26"/>
          <p:cNvGrpSpPr/>
          <p:nvPr/>
        </p:nvGrpSpPr>
        <p:grpSpPr>
          <a:xfrm>
            <a:off x="4257675" y="1676400"/>
            <a:ext cx="3676650" cy="3943350"/>
            <a:chOff x="4257675" y="1676400"/>
            <a:chExt cx="3676650" cy="3943350"/>
          </a:xfrm>
        </p:grpSpPr>
        <p:sp>
          <p:nvSpPr>
            <p:cNvPr id="18" name="Rectangle 18"/>
            <p:cNvSpPr/>
            <p:nvPr/>
          </p:nvSpPr>
          <p:spPr>
            <a:xfrm>
              <a:off x="4257675" y="1676400"/>
              <a:ext cx="3676650" cy="3943350"/>
            </a:xfrm>
            <a:prstGeom prst="roundRect">
              <a:avLst>
                <a:gd name="adj" fmla="val 3109"/>
              </a:avLst>
            </a:prstGeom>
            <a:solidFill>
              <a:srgbClr val="FDF4EF"/>
            </a:solidFill>
            <a:ln w="9525">
              <a:solidFill>
                <a:srgbClr val="F0CFC2"/>
              </a:solidFill>
            </a:ln>
          </p:spPr>
        </p:sp>
        <p:sp>
          <p:nvSpPr>
            <p:cNvPr id="19" name="Rectangle 19"/>
            <p:cNvSpPr/>
            <p:nvPr/>
          </p:nvSpPr>
          <p:spPr>
            <a:xfrm>
              <a:off x="4257675" y="1676400"/>
              <a:ext cx="3676650" cy="95250"/>
            </a:xfrm>
            <a:prstGeom prst="roundRect">
              <a:avLst>
                <a:gd name="adj" fmla="val 50000"/>
              </a:avLst>
            </a:prstGeom>
            <a:solidFill>
              <a:schemeClr val="accent3"/>
            </a:solidFill>
            <a:ln>
              <a:noFill/>
            </a:ln>
          </p:spPr>
        </p:sp>
        <p:sp>
          <p:nvSpPr>
            <p:cNvPr id="20" name="Ellipse 20"/>
            <p:cNvSpPr/>
            <p:nvPr/>
          </p:nvSpPr>
          <p:spPr>
            <a:xfrm>
              <a:off x="4505325" y="2019300"/>
              <a:ext cx="647700" cy="647700"/>
            </a:xfrm>
            <a:prstGeom prst="ellipse">
              <a:avLst/>
            </a:prstGeom>
            <a:solidFill>
              <a:schemeClr val="accent3"/>
            </a:solidFill>
            <a:ln>
              <a:noFill/>
            </a:ln>
          </p:spPr>
        </p:sp>
        <p:sp>
          <p:nvSpPr>
            <p:cNvPr id="21" name="TextBox 21"/>
            <p:cNvSpPr txBox="1"/>
            <p:nvPr/>
          </p:nvSpPr>
          <p:spPr>
            <a:xfrm>
              <a:off x="4655247" y="2221230"/>
              <a:ext cx="347857" cy="410718"/>
            </a:xfrm>
            <a:prstGeom prst="rect">
              <a:avLst/>
            </a:prstGeom>
            <a:noFill/>
            <a:ln>
              <a:noFill/>
            </a:ln>
          </p:spPr>
          <p:txBody>
            <a:bodyPr wrap="none" lIns="0" tIns="0" rIns="0" bIns="0" anchor="t" anchorCtr="0">
              <a:spAutoFit/>
            </a:bodyPr>
            <a:lstStyle/>
            <a:p>
              <a:pPr algn="ctr"/>
              <a:r>
                <a:rPr lang="zh-CN" sz="2100" b="1" dirty="0">
                  <a:solidFill>
                    <a:srgbClr val="FFFFFF"/>
                  </a:solidFill>
                  <a:latin typeface="+mn-lt"/>
                  <a:ea typeface="+mn-ea"/>
                  <a:cs typeface="+mn-cs"/>
                </a:rPr>
                <a:t>02</a:t>
              </a:r>
            </a:p>
          </p:txBody>
        </p:sp>
        <p:sp>
          <p:nvSpPr>
            <p:cNvPr id="22" name="TextBox 22"/>
            <p:cNvSpPr txBox="1"/>
            <p:nvPr/>
          </p:nvSpPr>
          <p:spPr>
            <a:xfrm>
              <a:off x="4590669" y="2894648"/>
              <a:ext cx="807339" cy="381381"/>
            </a:xfrm>
            <a:prstGeom prst="rect">
              <a:avLst/>
            </a:prstGeom>
            <a:noFill/>
            <a:ln>
              <a:noFill/>
            </a:ln>
          </p:spPr>
          <p:txBody>
            <a:bodyPr wrap="none" lIns="0" tIns="0" rIns="0" bIns="0" anchor="t" anchorCtr="0">
              <a:spAutoFit/>
            </a:bodyPr>
            <a:lstStyle/>
            <a:p>
              <a:pPr algn="l"/>
              <a:r>
                <a:rPr lang="zh-CN" sz="1950" b="1" dirty="0">
                  <a:solidFill>
                    <a:srgbClr val="C2410C"/>
                  </a:solidFill>
                  <a:latin typeface="+mn-lt"/>
                  <a:ea typeface="+mn-ea"/>
                  <a:cs typeface="+mn-cs"/>
                </a:rPr>
                <a:t>碳循环</a:t>
              </a:r>
            </a:p>
          </p:txBody>
        </p:sp>
        <p:sp>
          <p:nvSpPr>
            <p:cNvPr id="23" name="TextBox 23"/>
            <p:cNvSpPr txBox="1"/>
            <p:nvPr/>
          </p:nvSpPr>
          <p:spPr>
            <a:xfrm>
              <a:off x="4593717" y="3283268"/>
              <a:ext cx="1189721" cy="264033"/>
            </a:xfrm>
            <a:prstGeom prst="rect">
              <a:avLst/>
            </a:prstGeom>
            <a:noFill/>
            <a:ln>
              <a:noFill/>
            </a:ln>
          </p:spPr>
          <p:txBody>
            <a:bodyPr wrap="none" lIns="0" tIns="0" rIns="0" bIns="0" anchor="t" anchorCtr="0">
              <a:spAutoFit/>
            </a:bodyPr>
            <a:lstStyle/>
            <a:p>
              <a:pPr algn="l"/>
              <a:r>
                <a:rPr lang="zh-CN" sz="1350" b="1" dirty="0">
                  <a:solidFill>
                    <a:schemeClr val="accent3"/>
                  </a:solidFill>
                  <a:latin typeface="+mn-lt"/>
                  <a:ea typeface="+mn-ea"/>
                  <a:cs typeface="+mn-cs"/>
                </a:rPr>
                <a:t>Carbon Cycle</a:t>
              </a:r>
            </a:p>
          </p:txBody>
        </p:sp>
        <p:sp>
          <p:nvSpPr>
            <p:cNvPr id="24" name="Line 24"/>
            <p:cNvSpPr/>
            <p:nvPr/>
          </p:nvSpPr>
          <p:spPr>
            <a:xfrm>
              <a:off x="4600575" y="3714750"/>
              <a:ext cx="2990850" cy="9525"/>
            </a:xfrm>
            <a:custGeom>
              <a:avLst/>
              <a:gdLst/>
              <a:ahLst/>
              <a:cxnLst/>
              <a:rect l="l" t="t" r="r" b="b"/>
              <a:pathLst>
                <a:path w="2990850" h="9525">
                  <a:moveTo>
                    <a:pt x="0" y="0"/>
                  </a:moveTo>
                  <a:lnTo>
                    <a:pt x="2990850" y="0"/>
                  </a:lnTo>
                </a:path>
              </a:pathLst>
            </a:custGeom>
            <a:noFill/>
            <a:ln w="9525">
              <a:solidFill>
                <a:srgbClr val="E7B9A8"/>
              </a:solidFill>
            </a:ln>
          </p:spPr>
        </p:sp>
        <p:sp>
          <p:nvSpPr>
            <p:cNvPr id="25" name="TextBox 25"/>
            <p:cNvSpPr txBox="1"/>
            <p:nvPr/>
          </p:nvSpPr>
          <p:spPr>
            <a:xfrm>
              <a:off x="4594860" y="3974306"/>
              <a:ext cx="1504950" cy="1105852"/>
            </a:xfrm>
            <a:prstGeom prst="rect">
              <a:avLst/>
            </a:prstGeom>
            <a:noFill/>
            <a:ln>
              <a:noFill/>
            </a:ln>
          </p:spPr>
          <p:txBody>
            <a:bodyPr wrap="none" lIns="0" tIns="0" rIns="0" bIns="0" anchor="t" anchorCtr="0">
              <a:spAutoFit/>
            </a:bodyPr>
            <a:lstStyle/>
            <a:p>
              <a:pPr algn="l">
                <a:lnSpc>
                  <a:spcPts val="2325"/>
                </a:lnSpc>
              </a:pPr>
              <a:r>
                <a:rPr lang="zh-CN" sz="1120" dirty="0">
                  <a:solidFill>
                    <a:schemeClr val="dk1"/>
                  </a:solidFill>
                  <a:latin typeface="+mn-lt"/>
                  <a:ea typeface="+mn-ea"/>
                  <a:cs typeface="+mn-cs"/>
                </a:rPr>
                <a:t>Fast pathways 快循环</a:t>
              </a:r>
              <a:br/>
              <a:r>
                <a:rPr lang="zh-CN" sz="1120" dirty="0">
                  <a:solidFill>
                    <a:schemeClr val="dk1"/>
                  </a:solidFill>
                  <a:latin typeface="+mn-lt"/>
                  <a:ea typeface="+mn-ea"/>
                  <a:cs typeface="+mn-cs"/>
                </a:rPr>
                <a:t>Slow pathways 慢循环</a:t>
              </a:r>
              <a:br/>
              <a:r>
                <a:rPr lang="zh-CN" sz="1120" dirty="0">
                  <a:solidFill>
                    <a:schemeClr val="dk1"/>
                  </a:solidFill>
                  <a:latin typeface="+mn-lt"/>
                  <a:ea typeface="+mn-ea"/>
                  <a:cs typeface="+mn-cs"/>
                </a:rPr>
                <a:t>Ocean pumps 海洋碳泵</a:t>
              </a:r>
              <a:br/>
              <a:r>
                <a:rPr lang="zh-CN" sz="1120" dirty="0">
                  <a:solidFill>
                    <a:schemeClr val="dk1"/>
                  </a:solidFill>
                  <a:latin typeface="+mn-lt"/>
                  <a:ea typeface="+mn-ea"/>
                  <a:cs typeface="+mn-cs"/>
                </a:rPr>
                <a:t>Life ↔ Rocks</a:t>
              </a:r>
            </a:p>
          </p:txBody>
        </p:sp>
      </p:grpSp>
      <p:grpSp>
        <p:nvGrpSpPr>
          <p:cNvPr id="36" name="Group 36"/>
          <p:cNvGrpSpPr/>
          <p:nvPr/>
        </p:nvGrpSpPr>
        <p:grpSpPr>
          <a:xfrm>
            <a:off x="8134350" y="1676400"/>
            <a:ext cx="3676650" cy="3943350"/>
            <a:chOff x="8134350" y="1676400"/>
            <a:chExt cx="3676650" cy="3943350"/>
          </a:xfrm>
        </p:grpSpPr>
        <p:sp>
          <p:nvSpPr>
            <p:cNvPr id="27" name="Rectangle 27"/>
            <p:cNvSpPr/>
            <p:nvPr/>
          </p:nvSpPr>
          <p:spPr>
            <a:xfrm>
              <a:off x="8134350" y="1676400"/>
              <a:ext cx="3676650" cy="3943350"/>
            </a:xfrm>
            <a:prstGeom prst="roundRect">
              <a:avLst>
                <a:gd name="adj" fmla="val 3109"/>
              </a:avLst>
            </a:prstGeom>
            <a:solidFill>
              <a:schemeClr val="lt2"/>
            </a:solidFill>
            <a:ln w="9525">
              <a:solidFill>
                <a:schemeClr val="accent6"/>
              </a:solidFill>
            </a:ln>
          </p:spPr>
        </p:sp>
        <p:sp>
          <p:nvSpPr>
            <p:cNvPr id="28" name="Rectangle 28"/>
            <p:cNvSpPr/>
            <p:nvPr/>
          </p:nvSpPr>
          <p:spPr>
            <a:xfrm>
              <a:off x="8134350" y="1676400"/>
              <a:ext cx="1838325" cy="95250"/>
            </a:xfrm>
            <a:prstGeom prst="roundRect">
              <a:avLst>
                <a:gd name="adj" fmla="val 50000"/>
              </a:avLst>
            </a:prstGeom>
            <a:solidFill>
              <a:schemeClr val="accent2"/>
            </a:solidFill>
            <a:ln>
              <a:noFill/>
            </a:ln>
          </p:spPr>
        </p:sp>
        <p:sp>
          <p:nvSpPr>
            <p:cNvPr id="29" name="Rectangle 29"/>
            <p:cNvSpPr/>
            <p:nvPr/>
          </p:nvSpPr>
          <p:spPr>
            <a:xfrm>
              <a:off x="9972675" y="1676400"/>
              <a:ext cx="1838325" cy="95250"/>
            </a:xfrm>
            <a:prstGeom prst="roundRect">
              <a:avLst>
                <a:gd name="adj" fmla="val 50000"/>
              </a:avLst>
            </a:prstGeom>
            <a:solidFill>
              <a:schemeClr val="accent3"/>
            </a:solidFill>
            <a:ln>
              <a:noFill/>
            </a:ln>
          </p:spPr>
        </p:sp>
        <p:sp>
          <p:nvSpPr>
            <p:cNvPr id="30" name="Ellipse 30"/>
            <p:cNvSpPr/>
            <p:nvPr/>
          </p:nvSpPr>
          <p:spPr>
            <a:xfrm>
              <a:off x="8382000" y="2019300"/>
              <a:ext cx="647700" cy="647700"/>
            </a:xfrm>
            <a:prstGeom prst="ellipse">
              <a:avLst/>
            </a:prstGeom>
            <a:solidFill>
              <a:schemeClr val="accent1"/>
            </a:solidFill>
            <a:ln>
              <a:noFill/>
            </a:ln>
          </p:spPr>
        </p:sp>
        <p:sp>
          <p:nvSpPr>
            <p:cNvPr id="31" name="TextBox 31"/>
            <p:cNvSpPr txBox="1"/>
            <p:nvPr/>
          </p:nvSpPr>
          <p:spPr>
            <a:xfrm>
              <a:off x="8531922" y="2221230"/>
              <a:ext cx="347857" cy="410718"/>
            </a:xfrm>
            <a:prstGeom prst="rect">
              <a:avLst/>
            </a:prstGeom>
            <a:noFill/>
            <a:ln>
              <a:noFill/>
            </a:ln>
          </p:spPr>
          <p:txBody>
            <a:bodyPr wrap="none" lIns="0" tIns="0" rIns="0" bIns="0" anchor="t" anchorCtr="0">
              <a:spAutoFit/>
            </a:bodyPr>
            <a:lstStyle/>
            <a:p>
              <a:pPr algn="ctr"/>
              <a:r>
                <a:rPr lang="zh-CN" sz="2100" b="1" dirty="0">
                  <a:solidFill>
                    <a:srgbClr val="FFFFFF"/>
                  </a:solidFill>
                  <a:latin typeface="+mn-lt"/>
                  <a:ea typeface="+mn-ea"/>
                  <a:cs typeface="+mn-cs"/>
                </a:rPr>
                <a:t>03</a:t>
              </a:r>
            </a:p>
          </p:txBody>
        </p:sp>
        <p:sp>
          <p:nvSpPr>
            <p:cNvPr id="32" name="TextBox 32"/>
            <p:cNvSpPr txBox="1"/>
            <p:nvPr/>
          </p:nvSpPr>
          <p:spPr>
            <a:xfrm>
              <a:off x="8467344" y="2894648"/>
              <a:ext cx="1332357" cy="381381"/>
            </a:xfrm>
            <a:prstGeom prst="rect">
              <a:avLst/>
            </a:prstGeom>
            <a:noFill/>
            <a:ln>
              <a:noFill/>
            </a:ln>
          </p:spPr>
          <p:txBody>
            <a:bodyPr wrap="none" lIns="0" tIns="0" rIns="0" bIns="0" anchor="t" anchorCtr="0">
              <a:spAutoFit/>
            </a:bodyPr>
            <a:lstStyle/>
            <a:p>
              <a:pPr algn="l"/>
              <a:r>
                <a:rPr lang="zh-CN" sz="1950" b="1" dirty="0">
                  <a:solidFill>
                    <a:schemeClr val="accent1"/>
                  </a:solidFill>
                  <a:latin typeface="+mn-lt"/>
                  <a:ea typeface="+mn-ea"/>
                  <a:cs typeface="+mn-cs"/>
                </a:rPr>
                <a:t>耦合与反馈</a:t>
              </a:r>
            </a:p>
          </p:txBody>
        </p:sp>
        <p:sp>
          <p:nvSpPr>
            <p:cNvPr id="33" name="TextBox 33"/>
            <p:cNvSpPr txBox="1"/>
            <p:nvPr/>
          </p:nvSpPr>
          <p:spPr>
            <a:xfrm>
              <a:off x="8470392" y="3283268"/>
              <a:ext cx="2675326" cy="264033"/>
            </a:xfrm>
            <a:prstGeom prst="rect">
              <a:avLst/>
            </a:prstGeom>
            <a:noFill/>
            <a:ln>
              <a:noFill/>
            </a:ln>
          </p:spPr>
          <p:txBody>
            <a:bodyPr wrap="none" lIns="0" tIns="0" rIns="0" bIns="0" anchor="t" anchorCtr="0">
              <a:spAutoFit/>
            </a:bodyPr>
            <a:lstStyle/>
            <a:p>
              <a:pPr algn="l"/>
              <a:r>
                <a:rPr lang="zh-CN" sz="1350" b="1" dirty="0">
                  <a:solidFill>
                    <a:schemeClr val="accent5"/>
                  </a:solidFill>
                  <a:latin typeface="+mn-lt"/>
                  <a:ea typeface="+mn-ea"/>
                  <a:cs typeface="+mn-cs"/>
                </a:rPr>
                <a:t>Coupling &amp; Climate Feedbacks</a:t>
              </a:r>
            </a:p>
          </p:txBody>
        </p:sp>
        <p:sp>
          <p:nvSpPr>
            <p:cNvPr id="34" name="Line 34"/>
            <p:cNvSpPr/>
            <p:nvPr/>
          </p:nvSpPr>
          <p:spPr>
            <a:xfrm>
              <a:off x="8477250" y="3714750"/>
              <a:ext cx="2990850" cy="9525"/>
            </a:xfrm>
            <a:custGeom>
              <a:avLst/>
              <a:gdLst/>
              <a:ahLst/>
              <a:cxnLst/>
              <a:rect l="l" t="t" r="r" b="b"/>
              <a:pathLst>
                <a:path w="2990850" h="9525">
                  <a:moveTo>
                    <a:pt x="0" y="0"/>
                  </a:moveTo>
                  <a:lnTo>
                    <a:pt x="2990850" y="0"/>
                  </a:lnTo>
                </a:path>
              </a:pathLst>
            </a:custGeom>
            <a:noFill/>
            <a:ln w="9525">
              <a:solidFill>
                <a:schemeClr val="accent6"/>
              </a:solidFill>
            </a:ln>
          </p:spPr>
        </p:sp>
        <p:sp>
          <p:nvSpPr>
            <p:cNvPr id="35" name="TextBox 35"/>
            <p:cNvSpPr txBox="1"/>
            <p:nvPr/>
          </p:nvSpPr>
          <p:spPr>
            <a:xfrm>
              <a:off x="8471535" y="3974306"/>
              <a:ext cx="1576070" cy="1105852"/>
            </a:xfrm>
            <a:prstGeom prst="rect">
              <a:avLst/>
            </a:prstGeom>
            <a:noFill/>
            <a:ln>
              <a:noFill/>
            </a:ln>
          </p:spPr>
          <p:txBody>
            <a:bodyPr wrap="none" lIns="0" tIns="0" rIns="0" bIns="0" anchor="t" anchorCtr="0">
              <a:spAutoFit/>
            </a:bodyPr>
            <a:lstStyle/>
            <a:p>
              <a:pPr algn="l">
                <a:lnSpc>
                  <a:spcPts val="2325"/>
                </a:lnSpc>
              </a:pPr>
              <a:r>
                <a:rPr lang="zh-CN" sz="1120" dirty="0">
                  <a:solidFill>
                    <a:schemeClr val="dk1"/>
                  </a:solidFill>
                  <a:latin typeface="+mn-lt"/>
                  <a:ea typeface="+mn-ea"/>
                  <a:cs typeface="+mn-cs"/>
                </a:rPr>
                <a:t>Water–Carbon coupling</a:t>
              </a:r>
              <a:br/>
              <a:r>
                <a:rPr lang="zh-CN" sz="1120" dirty="0">
                  <a:solidFill>
                    <a:schemeClr val="dk1"/>
                  </a:solidFill>
                  <a:latin typeface="+mn-lt"/>
                  <a:ea typeface="+mn-ea"/>
                  <a:cs typeface="+mn-cs"/>
                </a:rPr>
                <a:t>Positive / Negative</a:t>
              </a:r>
              <a:br/>
              <a:r>
                <a:rPr lang="zh-CN" sz="1120" dirty="0">
                  <a:solidFill>
                    <a:schemeClr val="dk1"/>
                  </a:solidFill>
                  <a:latin typeface="+mn-lt"/>
                  <a:ea typeface="+mn-ea"/>
                  <a:cs typeface="+mn-cs"/>
                </a:rPr>
                <a:t>Feedback sign 反馈方向</a:t>
              </a:r>
              <a:br/>
              <a:r>
                <a:rPr lang="zh-CN" sz="1120" dirty="0">
                  <a:solidFill>
                    <a:schemeClr val="dk1"/>
                  </a:solidFill>
                  <a:latin typeface="+mn-lt"/>
                  <a:ea typeface="+mn-ea"/>
                  <a:cs typeface="+mn-cs"/>
                </a:rPr>
                <a:t>Timescale 响应时间</a:t>
              </a:r>
            </a:p>
          </p:txBody>
        </p:sp>
      </p:grpSp>
      <p:grpSp>
        <p:nvGrpSpPr>
          <p:cNvPr id="43" name="Group 43"/>
          <p:cNvGrpSpPr/>
          <p:nvPr/>
        </p:nvGrpSpPr>
        <p:grpSpPr>
          <a:xfrm>
            <a:off x="375285" y="5993606"/>
            <a:ext cx="6769596" cy="220028"/>
            <a:chOff x="375285" y="5993606"/>
            <a:chExt cx="6769596" cy="220028"/>
          </a:xfrm>
        </p:grpSpPr>
        <p:sp>
          <p:nvSpPr>
            <p:cNvPr id="37" name="TextBox 37"/>
            <p:cNvSpPr txBox="1"/>
            <p:nvPr/>
          </p:nvSpPr>
          <p:spPr>
            <a:xfrm>
              <a:off x="375285" y="5993606"/>
              <a:ext cx="1716370" cy="220028"/>
            </a:xfrm>
            <a:prstGeom prst="rect">
              <a:avLst/>
            </a:prstGeom>
            <a:noFill/>
            <a:ln>
              <a:noFill/>
            </a:ln>
          </p:spPr>
          <p:txBody>
            <a:bodyPr wrap="none" lIns="0" tIns="0" rIns="0" bIns="0" anchor="t" anchorCtr="0">
              <a:spAutoFit/>
            </a:bodyPr>
            <a:lstStyle/>
            <a:p>
              <a:pPr algn="l"/>
              <a:r>
                <a:rPr lang="zh-CN" sz="1120" dirty="0">
                  <a:solidFill>
                    <a:schemeClr val="accent5"/>
                  </a:solidFill>
                  <a:latin typeface="+mn-lt"/>
                  <a:ea typeface="+mn-ea"/>
                  <a:cs typeface="+mn-cs"/>
                </a:rPr>
                <a:t>阅读顺序 / Reading path</a:t>
              </a:r>
            </a:p>
          </p:txBody>
        </p:sp>
        <p:sp>
          <p:nvSpPr>
            <p:cNvPr id="38" name="TextBox 38"/>
            <p:cNvSpPr txBox="1"/>
            <p:nvPr/>
          </p:nvSpPr>
          <p:spPr>
            <a:xfrm>
              <a:off x="2108835" y="5993606"/>
              <a:ext cx="504889" cy="220028"/>
            </a:xfrm>
            <a:prstGeom prst="rect">
              <a:avLst/>
            </a:prstGeom>
            <a:noFill/>
            <a:ln>
              <a:noFill/>
            </a:ln>
          </p:spPr>
          <p:txBody>
            <a:bodyPr wrap="none" lIns="0" tIns="0" rIns="0" bIns="0" anchor="t" anchorCtr="0">
              <a:spAutoFit/>
            </a:bodyPr>
            <a:lstStyle/>
            <a:p>
              <a:pPr algn="l"/>
              <a:r>
                <a:rPr lang="zh-CN" sz="1120" b="1" dirty="0">
                  <a:solidFill>
                    <a:schemeClr val="accent2"/>
                  </a:solidFill>
                  <a:latin typeface="+mn-lt"/>
                  <a:ea typeface="+mn-ea"/>
                  <a:cs typeface="+mn-cs"/>
                </a:rPr>
                <a:t>WATER</a:t>
              </a:r>
            </a:p>
          </p:txBody>
        </p:sp>
        <p:sp>
          <p:nvSpPr>
            <p:cNvPr id="39" name="TextBox 39"/>
            <p:cNvSpPr txBox="1"/>
            <p:nvPr/>
          </p:nvSpPr>
          <p:spPr>
            <a:xfrm>
              <a:off x="3328035" y="5993606"/>
              <a:ext cx="94356" cy="220028"/>
            </a:xfrm>
            <a:prstGeom prst="rect">
              <a:avLst/>
            </a:prstGeom>
            <a:noFill/>
            <a:ln>
              <a:noFill/>
            </a:ln>
          </p:spPr>
          <p:txBody>
            <a:bodyPr wrap="none" lIns="0" tIns="0" rIns="0" bIns="0" anchor="t" anchorCtr="0">
              <a:spAutoFit/>
            </a:bodyPr>
            <a:lstStyle/>
            <a:p>
              <a:pPr algn="l"/>
              <a:r>
                <a:rPr lang="zh-CN" sz="1120" dirty="0">
                  <a:solidFill>
                    <a:schemeClr val="accent5"/>
                  </a:solidFill>
                  <a:latin typeface="+mn-lt"/>
                  <a:ea typeface="+mn-ea"/>
                  <a:cs typeface="+mn-cs"/>
                </a:rPr>
                <a:t>→</a:t>
              </a:r>
            </a:p>
          </p:txBody>
        </p:sp>
        <p:sp>
          <p:nvSpPr>
            <p:cNvPr id="40" name="TextBox 40"/>
            <p:cNvSpPr txBox="1"/>
            <p:nvPr/>
          </p:nvSpPr>
          <p:spPr>
            <a:xfrm>
              <a:off x="3747135" y="5993606"/>
              <a:ext cx="596890" cy="220028"/>
            </a:xfrm>
            <a:prstGeom prst="rect">
              <a:avLst/>
            </a:prstGeom>
            <a:noFill/>
            <a:ln>
              <a:noFill/>
            </a:ln>
          </p:spPr>
          <p:txBody>
            <a:bodyPr wrap="none" lIns="0" tIns="0" rIns="0" bIns="0" anchor="t" anchorCtr="0">
              <a:spAutoFit/>
            </a:bodyPr>
            <a:lstStyle/>
            <a:p>
              <a:pPr algn="l"/>
              <a:r>
                <a:rPr lang="zh-CN" sz="1120" b="1" dirty="0">
                  <a:solidFill>
                    <a:schemeClr val="accent3"/>
                  </a:solidFill>
                  <a:latin typeface="+mn-lt"/>
                  <a:ea typeface="+mn-ea"/>
                  <a:cs typeface="+mn-cs"/>
                </a:rPr>
                <a:t>CARBON</a:t>
              </a:r>
            </a:p>
          </p:txBody>
        </p:sp>
        <p:sp>
          <p:nvSpPr>
            <p:cNvPr id="41" name="TextBox 41"/>
            <p:cNvSpPr txBox="1"/>
            <p:nvPr/>
          </p:nvSpPr>
          <p:spPr>
            <a:xfrm>
              <a:off x="4947285" y="5993606"/>
              <a:ext cx="94356" cy="220028"/>
            </a:xfrm>
            <a:prstGeom prst="rect">
              <a:avLst/>
            </a:prstGeom>
            <a:noFill/>
            <a:ln>
              <a:noFill/>
            </a:ln>
          </p:spPr>
          <p:txBody>
            <a:bodyPr wrap="none" lIns="0" tIns="0" rIns="0" bIns="0" anchor="t" anchorCtr="0">
              <a:spAutoFit/>
            </a:bodyPr>
            <a:lstStyle/>
            <a:p>
              <a:pPr algn="l"/>
              <a:r>
                <a:rPr lang="zh-CN" sz="1120" dirty="0">
                  <a:solidFill>
                    <a:schemeClr val="accent5"/>
                  </a:solidFill>
                  <a:latin typeface="+mn-lt"/>
                  <a:ea typeface="+mn-ea"/>
                  <a:cs typeface="+mn-cs"/>
                </a:rPr>
                <a:t>→</a:t>
              </a:r>
            </a:p>
          </p:txBody>
        </p:sp>
        <p:sp>
          <p:nvSpPr>
            <p:cNvPr id="42" name="TextBox 42"/>
            <p:cNvSpPr txBox="1"/>
            <p:nvPr/>
          </p:nvSpPr>
          <p:spPr>
            <a:xfrm>
              <a:off x="5385435" y="5993606"/>
              <a:ext cx="1759446" cy="220028"/>
            </a:xfrm>
            <a:prstGeom prst="rect">
              <a:avLst/>
            </a:prstGeom>
            <a:noFill/>
            <a:ln>
              <a:noFill/>
            </a:ln>
          </p:spPr>
          <p:txBody>
            <a:bodyPr wrap="none" lIns="0" tIns="0" rIns="0" bIns="0" anchor="t" anchorCtr="0">
              <a:spAutoFit/>
            </a:bodyPr>
            <a:lstStyle/>
            <a:p>
              <a:pPr algn="l"/>
              <a:r>
                <a:rPr lang="zh-CN" sz="1120" b="1" dirty="0">
                  <a:solidFill>
                    <a:schemeClr val="accent1"/>
                  </a:solidFill>
                  <a:latin typeface="+mn-lt"/>
                  <a:ea typeface="+mn-ea"/>
                  <a:cs typeface="+mn-cs"/>
                </a:rPr>
                <a:t>COUPLING &amp; FEEDBACKS</a:t>
              </a:r>
            </a:p>
          </p:txBody>
        </p:sp>
      </p:grpSp>
      <p:sp>
        <p:nvSpPr>
          <p:cNvPr id="44" name="TextBox 44"/>
          <p:cNvSpPr txBox="1"/>
          <p:nvPr/>
        </p:nvSpPr>
        <p:spPr>
          <a:xfrm>
            <a:off x="376238" y="6532245"/>
            <a:ext cx="2393503" cy="176212"/>
          </a:xfrm>
          <a:prstGeom prst="rect">
            <a:avLst/>
          </a:prstGeom>
          <a:noFill/>
          <a:ln>
            <a:noFill/>
          </a:ln>
        </p:spPr>
        <p:txBody>
          <a:bodyPr wrap="none" lIns="0" tIns="0" rIns="0" bIns="0" anchor="t" anchorCtr="0">
            <a:spAutoFit/>
          </a:bodyPr>
          <a:lstStyle/>
          <a:p>
            <a:pPr algn="l"/>
            <a:r>
              <a:rPr lang="zh-CN" sz="900" dirty="0">
                <a:solidFill>
                  <a:schemeClr val="accent5"/>
                </a:solidFill>
                <a:latin typeface="+mn-lt"/>
                <a:ea typeface="+mn-ea"/>
                <a:cs typeface="+mn-cs"/>
              </a:rPr>
              <a:t>Source: Lecture 16 Master Prompt §25.</a:t>
            </a:r>
          </a:p>
        </p:txBody>
      </p:sp>
      <p:sp>
        <p:nvSpPr>
          <p:cNvPr id="45" name="TextBox 45"/>
          <p:cNvSpPr txBox="1"/>
          <p:nvPr/>
        </p:nvSpPr>
        <p:spPr>
          <a:xfrm>
            <a:off x="11672964" y="6532245"/>
            <a:ext cx="142799" cy="176212"/>
          </a:xfrm>
          <a:prstGeom prst="rect">
            <a:avLst/>
          </a:prstGeom>
          <a:noFill/>
          <a:ln>
            <a:noFill/>
          </a:ln>
        </p:spPr>
        <p:txBody>
          <a:bodyPr wrap="none" lIns="0" tIns="0" rIns="0" bIns="0" anchor="t" anchorCtr="0">
            <a:spAutoFit/>
          </a:bodyPr>
          <a:lstStyle/>
          <a:p>
            <a:pPr algn="r"/>
            <a:r>
              <a:rPr lang="zh-CN" sz="900" dirty="0">
                <a:solidFill>
                  <a:schemeClr val="accent5"/>
                </a:solidFill>
                <a:latin typeface="+mn-lt"/>
                <a:ea typeface="+mn-ea"/>
                <a:cs typeface="+mn-cs"/>
              </a:rPr>
              <a:t>03</a:t>
            </a:r>
          </a:p>
        </p:txBody>
      </p:sp>
    </p:spTree>
    <p:extLst>
      <p:ext uri="{BB962C8B-B14F-4D97-AF65-F5344CB8AC3E}">
        <p14:creationId xmlns:p14="http://schemas.microsoft.com/office/powerpoint/2010/main" val="1415620030"/>
      </p:ext>
    </p:extLst>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5"/>
          <p:cNvGrpSpPr/>
          <p:nvPr/>
        </p:nvGrpSpPr>
        <p:grpSpPr>
          <a:xfrm>
            <a:off x="0" y="0"/>
            <a:ext cx="12192000" cy="685800"/>
            <a:chOff x="0" y="0"/>
            <a:chExt cx="12192000" cy="685800"/>
          </a:xfrm>
        </p:grpSpPr>
        <p:sp>
          <p:nvSpPr>
            <p:cNvPr id="2" name="Rectangle 2"/>
            <p:cNvSpPr/>
            <p:nvPr/>
          </p:nvSpPr>
          <p:spPr>
            <a:xfrm>
              <a:off x="0" y="0"/>
              <a:ext cx="12192000" cy="685800"/>
            </a:xfrm>
            <a:prstGeom prst="rect">
              <a:avLst/>
            </a:prstGeom>
            <a:solidFill>
              <a:schemeClr val="accent1"/>
            </a:solidFill>
            <a:ln>
              <a:noFill/>
            </a:ln>
          </p:spPr>
        </p:sp>
        <p:sp>
          <p:nvSpPr>
            <p:cNvPr id="3" name="TextBox 3"/>
            <p:cNvSpPr txBox="1"/>
            <p:nvPr/>
          </p:nvSpPr>
          <p:spPr>
            <a:xfrm>
              <a:off x="374142" y="282892"/>
              <a:ext cx="3970537" cy="264033"/>
            </a:xfrm>
            <a:prstGeom prst="rect">
              <a:avLst/>
            </a:prstGeom>
            <a:noFill/>
            <a:ln>
              <a:noFill/>
            </a:ln>
          </p:spPr>
          <p:txBody>
            <a:bodyPr wrap="none" lIns="0" tIns="0" rIns="0" bIns="0" anchor="t" anchorCtr="0">
              <a:spAutoFit/>
            </a:bodyPr>
            <a:lstStyle/>
            <a:p>
              <a:pPr algn="l"/>
              <a:r>
                <a:rPr lang="zh-CN" sz="1350" b="1" dirty="0">
                  <a:solidFill>
                    <a:srgbClr val="FFFFFF"/>
                  </a:solidFill>
                  <a:latin typeface="+mn-lt"/>
                  <a:ea typeface="+mn-ea"/>
                  <a:cs typeface="+mn-cs"/>
                </a:rPr>
                <a:t>1.1 什么在循环？ | What Is Actually Cycling?</a:t>
              </a:r>
            </a:p>
          </p:txBody>
        </p:sp>
        <p:sp>
          <p:nvSpPr>
            <p:cNvPr id="4" name="TextBox 4"/>
            <p:cNvSpPr txBox="1"/>
            <p:nvPr/>
          </p:nvSpPr>
          <p:spPr>
            <a:xfrm>
              <a:off x="10686898" y="299085"/>
              <a:ext cx="1130198" cy="234696"/>
            </a:xfrm>
            <a:prstGeom prst="rect">
              <a:avLst/>
            </a:prstGeom>
            <a:noFill/>
            <a:ln>
              <a:noFill/>
            </a:ln>
          </p:spPr>
          <p:txBody>
            <a:bodyPr wrap="none" lIns="0" tIns="0" rIns="0" bIns="0" anchor="t" anchorCtr="0">
              <a:spAutoFit/>
            </a:bodyPr>
            <a:lstStyle/>
            <a:p>
              <a:pPr algn="r"/>
              <a:r>
                <a:rPr lang="zh-CN" sz="1200" dirty="0">
                  <a:solidFill>
                    <a:srgbClr val="C7D7F2"/>
                  </a:solidFill>
                  <a:latin typeface="+mn-lt"/>
                  <a:ea typeface="+mn-ea"/>
                  <a:cs typeface="+mn-cs"/>
                </a:rPr>
                <a:t>EARTH SYSTEM</a:t>
              </a:r>
            </a:p>
          </p:txBody>
        </p:sp>
      </p:grpSp>
      <p:grpSp>
        <p:nvGrpSpPr>
          <p:cNvPr id="8" name="Group 8"/>
          <p:cNvGrpSpPr/>
          <p:nvPr/>
        </p:nvGrpSpPr>
        <p:grpSpPr>
          <a:xfrm>
            <a:off x="381000" y="914400"/>
            <a:ext cx="5922340" cy="357093"/>
            <a:chOff x="381000" y="914400"/>
            <a:chExt cx="5922340" cy="357093"/>
          </a:xfrm>
        </p:grpSpPr>
        <p:sp>
          <p:nvSpPr>
            <p:cNvPr id="6" name="Rectangle 6"/>
            <p:cNvSpPr/>
            <p:nvPr/>
          </p:nvSpPr>
          <p:spPr>
            <a:xfrm>
              <a:off x="381000" y="914400"/>
              <a:ext cx="57150" cy="266700"/>
            </a:xfrm>
            <a:prstGeom prst="roundRect">
              <a:avLst>
                <a:gd name="adj" fmla="val 50000"/>
              </a:avLst>
            </a:prstGeom>
            <a:solidFill>
              <a:schemeClr val="accent2"/>
            </a:solidFill>
            <a:ln>
              <a:noFill/>
            </a:ln>
          </p:spPr>
        </p:sp>
        <p:sp>
          <p:nvSpPr>
            <p:cNvPr id="7" name="TextBox 7"/>
            <p:cNvSpPr txBox="1"/>
            <p:nvPr/>
          </p:nvSpPr>
          <p:spPr>
            <a:xfrm>
              <a:off x="544449" y="963454"/>
              <a:ext cx="5758891" cy="308039"/>
            </a:xfrm>
            <a:prstGeom prst="rect">
              <a:avLst/>
            </a:prstGeom>
            <a:noFill/>
            <a:ln>
              <a:noFill/>
            </a:ln>
          </p:spPr>
          <p:txBody>
            <a:bodyPr wrap="none" lIns="0" tIns="0" rIns="0" bIns="0" anchor="t" anchorCtr="0">
              <a:spAutoFit/>
            </a:bodyPr>
            <a:lstStyle/>
            <a:p>
              <a:pPr algn="l"/>
              <a:r>
                <a:rPr lang="zh-CN" sz="1580" b="1" dirty="0">
                  <a:solidFill>
                    <a:schemeClr val="accent1"/>
                  </a:solidFill>
                  <a:latin typeface="+mn-lt"/>
                  <a:ea typeface="+mn-ea"/>
                  <a:cs typeface="+mn-cs"/>
                </a:rPr>
                <a:t>物质在地球系统各储库之间持续迁移，循环不是一条单向路径</a:t>
              </a:r>
            </a:p>
          </p:txBody>
        </p:sp>
      </p:grpSp>
      <p:grpSp>
        <p:nvGrpSpPr>
          <p:cNvPr id="18" name="Group 18"/>
          <p:cNvGrpSpPr/>
          <p:nvPr/>
        </p:nvGrpSpPr>
        <p:grpSpPr>
          <a:xfrm>
            <a:off x="4438650" y="2257425"/>
            <a:ext cx="3314700" cy="2647950"/>
            <a:chOff x="4438650" y="2257425"/>
            <a:chExt cx="3314700" cy="2647950"/>
          </a:xfrm>
        </p:grpSpPr>
        <p:sp>
          <p:nvSpPr>
            <p:cNvPr id="9" name="Line 9"/>
            <p:cNvSpPr/>
            <p:nvPr/>
          </p:nvSpPr>
          <p:spPr>
            <a:xfrm flipV="1">
              <a:off x="6096000" y="2257425"/>
              <a:ext cx="1" cy="571500"/>
            </a:xfrm>
            <a:prstGeom prst="line">
              <a:avLst/>
            </a:prstGeom>
            <a:noFill/>
            <a:ln w="28575">
              <a:solidFill>
                <a:schemeClr val="accent2"/>
              </a:solidFill>
              <a:headEnd type="triangle" w="med" len="lg"/>
              <a:tailEnd type="triangle" w="med" len="lg"/>
            </a:ln>
          </p:spPr>
        </p:sp>
        <p:sp>
          <p:nvSpPr>
            <p:cNvPr id="10" name="Line 10"/>
            <p:cNvSpPr/>
            <p:nvPr/>
          </p:nvSpPr>
          <p:spPr>
            <a:xfrm flipV="1">
              <a:off x="6981825" y="3219450"/>
              <a:ext cx="771525" cy="257175"/>
            </a:xfrm>
            <a:prstGeom prst="line">
              <a:avLst/>
            </a:prstGeom>
            <a:noFill/>
            <a:ln w="28575">
              <a:solidFill>
                <a:schemeClr val="accent2"/>
              </a:solidFill>
              <a:headEnd type="triangle" w="med" len="lg"/>
              <a:tailEnd type="triangle" w="med" len="lg"/>
            </a:ln>
          </p:spPr>
        </p:sp>
        <p:sp>
          <p:nvSpPr>
            <p:cNvPr id="11" name="Line 11"/>
            <p:cNvSpPr/>
            <p:nvPr/>
          </p:nvSpPr>
          <p:spPr>
            <a:xfrm>
              <a:off x="6648450" y="4514850"/>
              <a:ext cx="276225" cy="390525"/>
            </a:xfrm>
            <a:prstGeom prst="line">
              <a:avLst/>
            </a:prstGeom>
            <a:noFill/>
            <a:ln w="28575">
              <a:solidFill>
                <a:schemeClr val="accent2"/>
              </a:solidFill>
              <a:headEnd type="triangle" w="med" len="lg"/>
              <a:tailEnd type="triangle" w="med" len="lg"/>
            </a:ln>
          </p:spPr>
        </p:sp>
        <p:sp>
          <p:nvSpPr>
            <p:cNvPr id="12" name="Line 12"/>
            <p:cNvSpPr/>
            <p:nvPr/>
          </p:nvSpPr>
          <p:spPr>
            <a:xfrm flipH="1">
              <a:off x="5267325" y="4514850"/>
              <a:ext cx="276225" cy="390525"/>
            </a:xfrm>
            <a:prstGeom prst="line">
              <a:avLst/>
            </a:prstGeom>
            <a:noFill/>
            <a:ln w="28575">
              <a:solidFill>
                <a:schemeClr val="accent2"/>
              </a:solidFill>
              <a:headEnd type="triangle" w="med" len="lg"/>
              <a:tailEnd type="triangle" w="med" len="lg"/>
            </a:ln>
          </p:spPr>
        </p:sp>
        <p:sp>
          <p:nvSpPr>
            <p:cNvPr id="13" name="Line 13"/>
            <p:cNvSpPr/>
            <p:nvPr/>
          </p:nvSpPr>
          <p:spPr>
            <a:xfrm flipH="1" flipV="1">
              <a:off x="4438650" y="3219450"/>
              <a:ext cx="771525" cy="257175"/>
            </a:xfrm>
            <a:prstGeom prst="line">
              <a:avLst/>
            </a:prstGeom>
            <a:noFill/>
            <a:ln w="28575">
              <a:solidFill>
                <a:schemeClr val="accent2"/>
              </a:solidFill>
              <a:headEnd type="triangle" w="med" len="lg"/>
              <a:tailEnd type="triangle" w="med" len="lg"/>
            </a:ln>
          </p:spPr>
        </p:sp>
        <p:sp>
          <p:nvSpPr>
            <p:cNvPr id="14" name="Ellipse 14"/>
            <p:cNvSpPr/>
            <p:nvPr/>
          </p:nvSpPr>
          <p:spPr>
            <a:xfrm>
              <a:off x="5276850" y="2943225"/>
              <a:ext cx="1638300" cy="1638300"/>
            </a:xfrm>
            <a:prstGeom prst="ellipse">
              <a:avLst/>
            </a:prstGeom>
            <a:solidFill>
              <a:schemeClr val="accent1"/>
            </a:solidFill>
            <a:ln>
              <a:noFill/>
            </a:ln>
          </p:spPr>
        </p:sp>
        <p:sp>
          <p:nvSpPr>
            <p:cNvPr id="15" name="TextBox 15"/>
            <p:cNvSpPr txBox="1"/>
            <p:nvPr/>
          </p:nvSpPr>
          <p:spPr>
            <a:xfrm>
              <a:off x="5706440" y="3446621"/>
              <a:ext cx="779120" cy="278702"/>
            </a:xfrm>
            <a:prstGeom prst="rect">
              <a:avLst/>
            </a:prstGeom>
            <a:noFill/>
            <a:ln>
              <a:noFill/>
            </a:ln>
          </p:spPr>
          <p:txBody>
            <a:bodyPr wrap="none" lIns="0" tIns="0" rIns="0" bIns="0" anchor="t" anchorCtr="0">
              <a:spAutoFit/>
            </a:bodyPr>
            <a:lstStyle/>
            <a:p>
              <a:pPr algn="ctr"/>
              <a:r>
                <a:rPr lang="zh-CN" sz="1420" b="1" dirty="0">
                  <a:solidFill>
                    <a:srgbClr val="FFFFFF"/>
                  </a:solidFill>
                  <a:latin typeface="+mn-lt"/>
                  <a:ea typeface="+mn-ea"/>
                  <a:cs typeface="+mn-cs"/>
                </a:rPr>
                <a:t>地球系统</a:t>
              </a:r>
            </a:p>
          </p:txBody>
        </p:sp>
        <p:sp>
          <p:nvSpPr>
            <p:cNvPr id="16" name="TextBox 16"/>
            <p:cNvSpPr txBox="1"/>
            <p:nvPr/>
          </p:nvSpPr>
          <p:spPr>
            <a:xfrm>
              <a:off x="5654537" y="3723799"/>
              <a:ext cx="882925" cy="190690"/>
            </a:xfrm>
            <a:prstGeom prst="rect">
              <a:avLst/>
            </a:prstGeom>
            <a:noFill/>
            <a:ln>
              <a:noFill/>
            </a:ln>
          </p:spPr>
          <p:txBody>
            <a:bodyPr wrap="none" lIns="0" tIns="0" rIns="0" bIns="0" anchor="t" anchorCtr="0">
              <a:spAutoFit/>
            </a:bodyPr>
            <a:lstStyle/>
            <a:p>
              <a:pPr algn="ctr"/>
              <a:r>
                <a:rPr lang="zh-CN" sz="980" dirty="0">
                  <a:solidFill>
                    <a:srgbClr val="C7D7F2"/>
                  </a:solidFill>
                  <a:latin typeface="+mn-lt"/>
                  <a:ea typeface="+mn-ea"/>
                  <a:cs typeface="+mn-cs"/>
                </a:rPr>
                <a:t>Earth System</a:t>
              </a:r>
            </a:p>
          </p:txBody>
        </p:sp>
        <p:sp>
          <p:nvSpPr>
            <p:cNvPr id="17" name="TextBox 17"/>
            <p:cNvSpPr txBox="1"/>
            <p:nvPr/>
          </p:nvSpPr>
          <p:spPr>
            <a:xfrm>
              <a:off x="5485448" y="3960495"/>
              <a:ext cx="1221105" cy="176212"/>
            </a:xfrm>
            <a:prstGeom prst="rect">
              <a:avLst/>
            </a:prstGeom>
            <a:noFill/>
            <a:ln>
              <a:noFill/>
            </a:ln>
          </p:spPr>
          <p:txBody>
            <a:bodyPr wrap="none" lIns="0" tIns="0" rIns="0" bIns="0" anchor="t" anchorCtr="0">
              <a:spAutoFit/>
            </a:bodyPr>
            <a:lstStyle/>
            <a:p>
              <a:pPr algn="ctr"/>
              <a:r>
                <a:rPr lang="zh-CN" sz="900" dirty="0">
                  <a:solidFill>
                    <a:srgbClr val="C7D7F2"/>
                  </a:solidFill>
                  <a:latin typeface="+mn-lt"/>
                  <a:ea typeface="+mn-ea"/>
                  <a:cs typeface="+mn-cs"/>
                </a:rPr>
                <a:t>储存与输送质量和能量</a:t>
              </a:r>
            </a:p>
          </p:txBody>
        </p:sp>
      </p:grpSp>
      <p:grpSp>
        <p:nvGrpSpPr>
          <p:cNvPr id="22" name="Group 22"/>
          <p:cNvGrpSpPr/>
          <p:nvPr/>
        </p:nvGrpSpPr>
        <p:grpSpPr>
          <a:xfrm>
            <a:off x="4953000" y="1552575"/>
            <a:ext cx="2286000" cy="609600"/>
            <a:chOff x="4953000" y="1552575"/>
            <a:chExt cx="2286000" cy="609600"/>
          </a:xfrm>
        </p:grpSpPr>
        <p:sp>
          <p:nvSpPr>
            <p:cNvPr id="19" name="Rectangle 19"/>
            <p:cNvSpPr/>
            <p:nvPr/>
          </p:nvSpPr>
          <p:spPr>
            <a:xfrm>
              <a:off x="4953000" y="1552575"/>
              <a:ext cx="2286000" cy="609600"/>
            </a:xfrm>
            <a:prstGeom prst="roundRect">
              <a:avLst>
                <a:gd name="adj" fmla="val 18750"/>
              </a:avLst>
            </a:prstGeom>
            <a:solidFill>
              <a:schemeClr val="lt2"/>
            </a:solidFill>
            <a:ln w="9525">
              <a:solidFill>
                <a:schemeClr val="accent6"/>
              </a:solidFill>
            </a:ln>
          </p:spPr>
        </p:sp>
        <p:sp>
          <p:nvSpPr>
            <p:cNvPr id="20" name="TextBox 20"/>
            <p:cNvSpPr txBox="1"/>
            <p:nvPr/>
          </p:nvSpPr>
          <p:spPr>
            <a:xfrm>
              <a:off x="5847588" y="1680210"/>
              <a:ext cx="496824" cy="234696"/>
            </a:xfrm>
            <a:prstGeom prst="rect">
              <a:avLst/>
            </a:prstGeom>
            <a:noFill/>
            <a:ln>
              <a:noFill/>
            </a:ln>
          </p:spPr>
          <p:txBody>
            <a:bodyPr wrap="none" lIns="0" tIns="0" rIns="0" bIns="0" anchor="t" anchorCtr="0">
              <a:spAutoFit/>
            </a:bodyPr>
            <a:lstStyle/>
            <a:p>
              <a:pPr algn="ctr"/>
              <a:r>
                <a:rPr lang="zh-CN" sz="1200" b="1" dirty="0">
                  <a:solidFill>
                    <a:schemeClr val="accent1"/>
                  </a:solidFill>
                  <a:latin typeface="+mn-lt"/>
                  <a:ea typeface="+mn-ea"/>
                  <a:cs typeface="+mn-cs"/>
                </a:rPr>
                <a:t>大气圈</a:t>
              </a:r>
            </a:p>
          </p:txBody>
        </p:sp>
        <p:sp>
          <p:nvSpPr>
            <p:cNvPr id="21" name="TextBox 21"/>
            <p:cNvSpPr txBox="1"/>
            <p:nvPr/>
          </p:nvSpPr>
          <p:spPr>
            <a:xfrm>
              <a:off x="5712925" y="1961674"/>
              <a:ext cx="766150" cy="190690"/>
            </a:xfrm>
            <a:prstGeom prst="rect">
              <a:avLst/>
            </a:prstGeom>
            <a:noFill/>
            <a:ln>
              <a:noFill/>
            </a:ln>
          </p:spPr>
          <p:txBody>
            <a:bodyPr wrap="none" lIns="0" tIns="0" rIns="0" bIns="0" anchor="t" anchorCtr="0">
              <a:spAutoFit/>
            </a:bodyPr>
            <a:lstStyle/>
            <a:p>
              <a:pPr algn="ctr"/>
              <a:r>
                <a:rPr lang="zh-CN" sz="980" dirty="0">
                  <a:solidFill>
                    <a:schemeClr val="accent5"/>
                  </a:solidFill>
                  <a:latin typeface="+mn-lt"/>
                  <a:ea typeface="+mn-ea"/>
                  <a:cs typeface="+mn-cs"/>
                </a:rPr>
                <a:t>Atmosphere</a:t>
              </a:r>
            </a:p>
          </p:txBody>
        </p:sp>
      </p:grpSp>
      <p:grpSp>
        <p:nvGrpSpPr>
          <p:cNvPr id="26" name="Group 26"/>
          <p:cNvGrpSpPr/>
          <p:nvPr/>
        </p:nvGrpSpPr>
        <p:grpSpPr>
          <a:xfrm>
            <a:off x="7848600" y="2867025"/>
            <a:ext cx="2286000" cy="609600"/>
            <a:chOff x="7848600" y="2867025"/>
            <a:chExt cx="2286000" cy="609600"/>
          </a:xfrm>
        </p:grpSpPr>
        <p:sp>
          <p:nvSpPr>
            <p:cNvPr id="23" name="Rectangle 23"/>
            <p:cNvSpPr/>
            <p:nvPr/>
          </p:nvSpPr>
          <p:spPr>
            <a:xfrm>
              <a:off x="7848600" y="2867025"/>
              <a:ext cx="2286000" cy="609600"/>
            </a:xfrm>
            <a:prstGeom prst="roundRect">
              <a:avLst>
                <a:gd name="adj" fmla="val 18750"/>
              </a:avLst>
            </a:prstGeom>
            <a:solidFill>
              <a:schemeClr val="lt2"/>
            </a:solidFill>
            <a:ln w="9525">
              <a:solidFill>
                <a:schemeClr val="accent6"/>
              </a:solidFill>
            </a:ln>
          </p:spPr>
        </p:sp>
        <p:sp>
          <p:nvSpPr>
            <p:cNvPr id="24" name="TextBox 24"/>
            <p:cNvSpPr txBox="1"/>
            <p:nvPr/>
          </p:nvSpPr>
          <p:spPr>
            <a:xfrm>
              <a:off x="8743188" y="2994660"/>
              <a:ext cx="496824" cy="234696"/>
            </a:xfrm>
            <a:prstGeom prst="rect">
              <a:avLst/>
            </a:prstGeom>
            <a:noFill/>
            <a:ln>
              <a:noFill/>
            </a:ln>
          </p:spPr>
          <p:txBody>
            <a:bodyPr wrap="none" lIns="0" tIns="0" rIns="0" bIns="0" anchor="t" anchorCtr="0">
              <a:spAutoFit/>
            </a:bodyPr>
            <a:lstStyle/>
            <a:p>
              <a:pPr algn="ctr"/>
              <a:r>
                <a:rPr lang="zh-CN" sz="1200" b="1" dirty="0">
                  <a:solidFill>
                    <a:schemeClr val="accent1"/>
                  </a:solidFill>
                  <a:latin typeface="+mn-lt"/>
                  <a:ea typeface="+mn-ea"/>
                  <a:cs typeface="+mn-cs"/>
                </a:rPr>
                <a:t>冰冻圈</a:t>
              </a:r>
            </a:p>
          </p:txBody>
        </p:sp>
        <p:sp>
          <p:nvSpPr>
            <p:cNvPr id="25" name="TextBox 25"/>
            <p:cNvSpPr txBox="1"/>
            <p:nvPr/>
          </p:nvSpPr>
          <p:spPr>
            <a:xfrm>
              <a:off x="8621793" y="3276124"/>
              <a:ext cx="739615" cy="190690"/>
            </a:xfrm>
            <a:prstGeom prst="rect">
              <a:avLst/>
            </a:prstGeom>
            <a:noFill/>
            <a:ln>
              <a:noFill/>
            </a:ln>
          </p:spPr>
          <p:txBody>
            <a:bodyPr wrap="none" lIns="0" tIns="0" rIns="0" bIns="0" anchor="t" anchorCtr="0">
              <a:spAutoFit/>
            </a:bodyPr>
            <a:lstStyle/>
            <a:p>
              <a:pPr algn="ctr"/>
              <a:r>
                <a:rPr lang="zh-CN" sz="980" dirty="0">
                  <a:solidFill>
                    <a:schemeClr val="accent5"/>
                  </a:solidFill>
                  <a:latin typeface="+mn-lt"/>
                  <a:ea typeface="+mn-ea"/>
                  <a:cs typeface="+mn-cs"/>
                </a:rPr>
                <a:t>Cryosphere</a:t>
              </a:r>
            </a:p>
          </p:txBody>
        </p:sp>
      </p:grpSp>
      <p:grpSp>
        <p:nvGrpSpPr>
          <p:cNvPr id="30" name="Group 30"/>
          <p:cNvGrpSpPr/>
          <p:nvPr/>
        </p:nvGrpSpPr>
        <p:grpSpPr>
          <a:xfrm>
            <a:off x="6743700" y="5000625"/>
            <a:ext cx="2286000" cy="609600"/>
            <a:chOff x="6743700" y="5000625"/>
            <a:chExt cx="2286000" cy="609600"/>
          </a:xfrm>
        </p:grpSpPr>
        <p:sp>
          <p:nvSpPr>
            <p:cNvPr id="27" name="Rectangle 27"/>
            <p:cNvSpPr/>
            <p:nvPr/>
          </p:nvSpPr>
          <p:spPr>
            <a:xfrm>
              <a:off x="6743700" y="5000625"/>
              <a:ext cx="2286000" cy="609600"/>
            </a:xfrm>
            <a:prstGeom prst="roundRect">
              <a:avLst>
                <a:gd name="adj" fmla="val 18750"/>
              </a:avLst>
            </a:prstGeom>
            <a:solidFill>
              <a:srgbClr val="F0F5FC"/>
            </a:solidFill>
            <a:ln w="9525">
              <a:solidFill>
                <a:srgbClr val="B8C7DC"/>
              </a:solidFill>
            </a:ln>
          </p:spPr>
        </p:sp>
        <p:sp>
          <p:nvSpPr>
            <p:cNvPr id="28" name="TextBox 28"/>
            <p:cNvSpPr txBox="1"/>
            <p:nvPr/>
          </p:nvSpPr>
          <p:spPr>
            <a:xfrm>
              <a:off x="7719060" y="5128260"/>
              <a:ext cx="335280" cy="234696"/>
            </a:xfrm>
            <a:prstGeom prst="rect">
              <a:avLst/>
            </a:prstGeom>
            <a:noFill/>
            <a:ln>
              <a:noFill/>
            </a:ln>
          </p:spPr>
          <p:txBody>
            <a:bodyPr wrap="none" lIns="0" tIns="0" rIns="0" bIns="0" anchor="t" anchorCtr="0">
              <a:spAutoFit/>
            </a:bodyPr>
            <a:lstStyle/>
            <a:p>
              <a:pPr algn="ctr"/>
              <a:r>
                <a:rPr lang="zh-CN" sz="1200" b="1" dirty="0">
                  <a:solidFill>
                    <a:schemeClr val="accent1"/>
                  </a:solidFill>
                  <a:latin typeface="+mn-lt"/>
                  <a:ea typeface="+mn-ea"/>
                  <a:cs typeface="+mn-cs"/>
                </a:rPr>
                <a:t>水圈</a:t>
              </a:r>
            </a:p>
          </p:txBody>
        </p:sp>
        <p:sp>
          <p:nvSpPr>
            <p:cNvPr id="29" name="TextBox 29"/>
            <p:cNvSpPr txBox="1"/>
            <p:nvPr/>
          </p:nvSpPr>
          <p:spPr>
            <a:xfrm>
              <a:off x="7480612" y="5409724"/>
              <a:ext cx="812175" cy="190690"/>
            </a:xfrm>
            <a:prstGeom prst="rect">
              <a:avLst/>
            </a:prstGeom>
            <a:noFill/>
            <a:ln>
              <a:noFill/>
            </a:ln>
          </p:spPr>
          <p:txBody>
            <a:bodyPr wrap="none" lIns="0" tIns="0" rIns="0" bIns="0" anchor="t" anchorCtr="0">
              <a:spAutoFit/>
            </a:bodyPr>
            <a:lstStyle/>
            <a:p>
              <a:pPr algn="ctr"/>
              <a:r>
                <a:rPr lang="zh-CN" sz="980" dirty="0">
                  <a:solidFill>
                    <a:schemeClr val="accent5"/>
                  </a:solidFill>
                  <a:latin typeface="+mn-lt"/>
                  <a:ea typeface="+mn-ea"/>
                  <a:cs typeface="+mn-cs"/>
                </a:rPr>
                <a:t>Hydrosphere</a:t>
              </a:r>
            </a:p>
          </p:txBody>
        </p:sp>
      </p:grpSp>
      <p:grpSp>
        <p:nvGrpSpPr>
          <p:cNvPr id="34" name="Group 34"/>
          <p:cNvGrpSpPr/>
          <p:nvPr/>
        </p:nvGrpSpPr>
        <p:grpSpPr>
          <a:xfrm>
            <a:off x="3162300" y="5000625"/>
            <a:ext cx="2286000" cy="609600"/>
            <a:chOff x="3162300" y="5000625"/>
            <a:chExt cx="2286000" cy="609600"/>
          </a:xfrm>
        </p:grpSpPr>
        <p:sp>
          <p:nvSpPr>
            <p:cNvPr id="31" name="Rectangle 31"/>
            <p:cNvSpPr/>
            <p:nvPr/>
          </p:nvSpPr>
          <p:spPr>
            <a:xfrm>
              <a:off x="3162300" y="5000625"/>
              <a:ext cx="2286000" cy="609600"/>
            </a:xfrm>
            <a:prstGeom prst="roundRect">
              <a:avLst>
                <a:gd name="adj" fmla="val 18750"/>
              </a:avLst>
            </a:prstGeom>
            <a:solidFill>
              <a:schemeClr val="lt2"/>
            </a:solidFill>
            <a:ln w="9525">
              <a:solidFill>
                <a:schemeClr val="accent6"/>
              </a:solidFill>
            </a:ln>
          </p:spPr>
        </p:sp>
        <p:sp>
          <p:nvSpPr>
            <p:cNvPr id="32" name="TextBox 32"/>
            <p:cNvSpPr txBox="1"/>
            <p:nvPr/>
          </p:nvSpPr>
          <p:spPr>
            <a:xfrm>
              <a:off x="4056888" y="5128260"/>
              <a:ext cx="496824" cy="234696"/>
            </a:xfrm>
            <a:prstGeom prst="rect">
              <a:avLst/>
            </a:prstGeom>
            <a:noFill/>
            <a:ln>
              <a:noFill/>
            </a:ln>
          </p:spPr>
          <p:txBody>
            <a:bodyPr wrap="none" lIns="0" tIns="0" rIns="0" bIns="0" anchor="t" anchorCtr="0">
              <a:spAutoFit/>
            </a:bodyPr>
            <a:lstStyle/>
            <a:p>
              <a:pPr algn="ctr"/>
              <a:r>
                <a:rPr lang="zh-CN" sz="1200" b="1" dirty="0">
                  <a:solidFill>
                    <a:schemeClr val="accent1"/>
                  </a:solidFill>
                  <a:latin typeface="+mn-lt"/>
                  <a:ea typeface="+mn-ea"/>
                  <a:cs typeface="+mn-cs"/>
                </a:rPr>
                <a:t>岩石圈</a:t>
              </a:r>
            </a:p>
          </p:txBody>
        </p:sp>
        <p:sp>
          <p:nvSpPr>
            <p:cNvPr id="33" name="TextBox 33"/>
            <p:cNvSpPr txBox="1"/>
            <p:nvPr/>
          </p:nvSpPr>
          <p:spPr>
            <a:xfrm>
              <a:off x="3915788" y="5409724"/>
              <a:ext cx="779024" cy="190690"/>
            </a:xfrm>
            <a:prstGeom prst="rect">
              <a:avLst/>
            </a:prstGeom>
            <a:noFill/>
            <a:ln>
              <a:noFill/>
            </a:ln>
          </p:spPr>
          <p:txBody>
            <a:bodyPr wrap="none" lIns="0" tIns="0" rIns="0" bIns="0" anchor="t" anchorCtr="0">
              <a:spAutoFit/>
            </a:bodyPr>
            <a:lstStyle/>
            <a:p>
              <a:pPr algn="ctr"/>
              <a:r>
                <a:rPr lang="zh-CN" sz="980" dirty="0">
                  <a:solidFill>
                    <a:schemeClr val="accent5"/>
                  </a:solidFill>
                  <a:latin typeface="+mn-lt"/>
                  <a:ea typeface="+mn-ea"/>
                  <a:cs typeface="+mn-cs"/>
                </a:rPr>
                <a:t>Lithosphere</a:t>
              </a:r>
            </a:p>
          </p:txBody>
        </p:sp>
      </p:grpSp>
      <p:grpSp>
        <p:nvGrpSpPr>
          <p:cNvPr id="38" name="Group 38"/>
          <p:cNvGrpSpPr/>
          <p:nvPr/>
        </p:nvGrpSpPr>
        <p:grpSpPr>
          <a:xfrm>
            <a:off x="2057400" y="2867025"/>
            <a:ext cx="2286000" cy="609600"/>
            <a:chOff x="2057400" y="2867025"/>
            <a:chExt cx="2286000" cy="609600"/>
          </a:xfrm>
        </p:grpSpPr>
        <p:sp>
          <p:nvSpPr>
            <p:cNvPr id="35" name="Rectangle 35"/>
            <p:cNvSpPr/>
            <p:nvPr/>
          </p:nvSpPr>
          <p:spPr>
            <a:xfrm>
              <a:off x="2057400" y="2867025"/>
              <a:ext cx="2286000" cy="609600"/>
            </a:xfrm>
            <a:prstGeom prst="roundRect">
              <a:avLst>
                <a:gd name="adj" fmla="val 18750"/>
              </a:avLst>
            </a:prstGeom>
            <a:solidFill>
              <a:schemeClr val="lt2"/>
            </a:solidFill>
            <a:ln w="9525">
              <a:solidFill>
                <a:schemeClr val="accent6"/>
              </a:solidFill>
            </a:ln>
          </p:spPr>
        </p:sp>
        <p:sp>
          <p:nvSpPr>
            <p:cNvPr id="36" name="TextBox 36"/>
            <p:cNvSpPr txBox="1"/>
            <p:nvPr/>
          </p:nvSpPr>
          <p:spPr>
            <a:xfrm>
              <a:off x="2951988" y="2994660"/>
              <a:ext cx="496824" cy="234696"/>
            </a:xfrm>
            <a:prstGeom prst="rect">
              <a:avLst/>
            </a:prstGeom>
            <a:noFill/>
            <a:ln>
              <a:noFill/>
            </a:ln>
          </p:spPr>
          <p:txBody>
            <a:bodyPr wrap="none" lIns="0" tIns="0" rIns="0" bIns="0" anchor="t" anchorCtr="0">
              <a:spAutoFit/>
            </a:bodyPr>
            <a:lstStyle/>
            <a:p>
              <a:pPr algn="ctr"/>
              <a:r>
                <a:rPr lang="zh-CN" sz="1200" b="1" dirty="0">
                  <a:solidFill>
                    <a:schemeClr val="accent1"/>
                  </a:solidFill>
                  <a:latin typeface="+mn-lt"/>
                  <a:ea typeface="+mn-ea"/>
                  <a:cs typeface="+mn-cs"/>
                </a:rPr>
                <a:t>生物圈</a:t>
              </a:r>
            </a:p>
          </p:txBody>
        </p:sp>
        <p:sp>
          <p:nvSpPr>
            <p:cNvPr id="37" name="TextBox 37"/>
            <p:cNvSpPr txBox="1"/>
            <p:nvPr/>
          </p:nvSpPr>
          <p:spPr>
            <a:xfrm>
              <a:off x="2883467" y="3276124"/>
              <a:ext cx="633865" cy="190690"/>
            </a:xfrm>
            <a:prstGeom prst="rect">
              <a:avLst/>
            </a:prstGeom>
            <a:noFill/>
            <a:ln>
              <a:noFill/>
            </a:ln>
          </p:spPr>
          <p:txBody>
            <a:bodyPr wrap="none" lIns="0" tIns="0" rIns="0" bIns="0" anchor="t" anchorCtr="0">
              <a:spAutoFit/>
            </a:bodyPr>
            <a:lstStyle/>
            <a:p>
              <a:pPr algn="ctr"/>
              <a:r>
                <a:rPr lang="zh-CN" sz="980" dirty="0">
                  <a:solidFill>
                    <a:schemeClr val="accent5"/>
                  </a:solidFill>
                  <a:latin typeface="+mn-lt"/>
                  <a:ea typeface="+mn-ea"/>
                  <a:cs typeface="+mn-cs"/>
                </a:rPr>
                <a:t>Biosphere</a:t>
              </a:r>
            </a:p>
          </p:txBody>
        </p:sp>
      </p:grpSp>
      <p:grpSp>
        <p:nvGrpSpPr>
          <p:cNvPr id="46" name="Group 46"/>
          <p:cNvGrpSpPr/>
          <p:nvPr/>
        </p:nvGrpSpPr>
        <p:grpSpPr>
          <a:xfrm>
            <a:off x="381000" y="5753100"/>
            <a:ext cx="11430000" cy="495300"/>
            <a:chOff x="381000" y="5753100"/>
            <a:chExt cx="11430000" cy="495300"/>
          </a:xfrm>
        </p:grpSpPr>
        <p:sp>
          <p:nvSpPr>
            <p:cNvPr id="39" name="Rectangle 39"/>
            <p:cNvSpPr/>
            <p:nvPr/>
          </p:nvSpPr>
          <p:spPr>
            <a:xfrm>
              <a:off x="381000" y="5753100"/>
              <a:ext cx="11430000" cy="495300"/>
            </a:xfrm>
            <a:prstGeom prst="roundRect">
              <a:avLst>
                <a:gd name="adj" fmla="val 23077"/>
              </a:avLst>
            </a:prstGeom>
            <a:solidFill>
              <a:srgbClr val="F0F5FC"/>
            </a:solidFill>
            <a:ln>
              <a:noFill/>
            </a:ln>
          </p:spPr>
        </p:sp>
        <p:sp>
          <p:nvSpPr>
            <p:cNvPr id="40" name="Rectangle 40"/>
            <p:cNvSpPr/>
            <p:nvPr/>
          </p:nvSpPr>
          <p:spPr>
            <a:xfrm>
              <a:off x="609600" y="5867400"/>
              <a:ext cx="838200" cy="266700"/>
            </a:xfrm>
            <a:prstGeom prst="roundRect">
              <a:avLst>
                <a:gd name="adj" fmla="val 50000"/>
              </a:avLst>
            </a:prstGeom>
            <a:solidFill>
              <a:schemeClr val="accent2"/>
            </a:solidFill>
            <a:ln>
              <a:noFill/>
            </a:ln>
          </p:spPr>
        </p:sp>
        <p:sp>
          <p:nvSpPr>
            <p:cNvPr id="41" name="TextBox 41"/>
            <p:cNvSpPr txBox="1"/>
            <p:nvPr/>
          </p:nvSpPr>
          <p:spPr>
            <a:xfrm>
              <a:off x="796707" y="5943124"/>
              <a:ext cx="463986" cy="190690"/>
            </a:xfrm>
            <a:prstGeom prst="rect">
              <a:avLst/>
            </a:prstGeom>
            <a:noFill/>
            <a:ln>
              <a:noFill/>
            </a:ln>
          </p:spPr>
          <p:txBody>
            <a:bodyPr wrap="none" lIns="0" tIns="0" rIns="0" bIns="0" anchor="t" anchorCtr="0">
              <a:spAutoFit/>
            </a:bodyPr>
            <a:lstStyle/>
            <a:p>
              <a:pPr algn="ctr"/>
              <a:r>
                <a:rPr lang="zh-CN" sz="980" b="1" dirty="0">
                  <a:solidFill>
                    <a:srgbClr val="FFFFFF"/>
                  </a:solidFill>
                  <a:latin typeface="+mn-lt"/>
                  <a:ea typeface="+mn-ea"/>
                  <a:cs typeface="+mn-cs"/>
                </a:rPr>
                <a:t>水 H₂O</a:t>
              </a:r>
            </a:p>
          </p:txBody>
        </p:sp>
        <p:sp>
          <p:nvSpPr>
            <p:cNvPr id="42" name="Rectangle 42"/>
            <p:cNvSpPr/>
            <p:nvPr/>
          </p:nvSpPr>
          <p:spPr>
            <a:xfrm>
              <a:off x="1562100" y="5867400"/>
              <a:ext cx="685800" cy="266700"/>
            </a:xfrm>
            <a:prstGeom prst="roundRect">
              <a:avLst>
                <a:gd name="adj" fmla="val 50000"/>
              </a:avLst>
            </a:prstGeom>
            <a:solidFill>
              <a:schemeClr val="accent3"/>
            </a:solidFill>
            <a:ln>
              <a:noFill/>
            </a:ln>
          </p:spPr>
        </p:sp>
        <p:sp>
          <p:nvSpPr>
            <p:cNvPr id="43" name="TextBox 43"/>
            <p:cNvSpPr txBox="1"/>
            <p:nvPr/>
          </p:nvSpPr>
          <p:spPr>
            <a:xfrm>
              <a:off x="1768144" y="5943124"/>
              <a:ext cx="273711" cy="190690"/>
            </a:xfrm>
            <a:prstGeom prst="rect">
              <a:avLst/>
            </a:prstGeom>
            <a:noFill/>
            <a:ln>
              <a:noFill/>
            </a:ln>
          </p:spPr>
          <p:txBody>
            <a:bodyPr wrap="none" lIns="0" tIns="0" rIns="0" bIns="0" anchor="t" anchorCtr="0">
              <a:spAutoFit/>
            </a:bodyPr>
            <a:lstStyle/>
            <a:p>
              <a:pPr algn="ctr"/>
              <a:r>
                <a:rPr lang="zh-CN" sz="980" b="1" dirty="0">
                  <a:solidFill>
                    <a:srgbClr val="FFFFFF"/>
                  </a:solidFill>
                  <a:latin typeface="+mn-lt"/>
                  <a:ea typeface="+mn-ea"/>
                  <a:cs typeface="+mn-cs"/>
                </a:rPr>
                <a:t>碳 C</a:t>
              </a:r>
            </a:p>
          </p:txBody>
        </p:sp>
        <p:sp>
          <p:nvSpPr>
            <p:cNvPr id="44" name="TextBox 44"/>
            <p:cNvSpPr txBox="1"/>
            <p:nvPr/>
          </p:nvSpPr>
          <p:spPr>
            <a:xfrm>
              <a:off x="2470785" y="5926931"/>
              <a:ext cx="2122272" cy="220028"/>
            </a:xfrm>
            <a:prstGeom prst="rect">
              <a:avLst/>
            </a:prstGeom>
            <a:noFill/>
            <a:ln>
              <a:noFill/>
            </a:ln>
          </p:spPr>
          <p:txBody>
            <a:bodyPr wrap="none" lIns="0" tIns="0" rIns="0" bIns="0" anchor="t" anchorCtr="0">
              <a:spAutoFit/>
            </a:bodyPr>
            <a:lstStyle/>
            <a:p>
              <a:pPr algn="l"/>
              <a:r>
                <a:rPr lang="zh-CN" sz="1120" dirty="0">
                  <a:solidFill>
                    <a:schemeClr val="dk1"/>
                  </a:solidFill>
                  <a:latin typeface="+mn-lt"/>
                  <a:ea typeface="+mn-ea"/>
                  <a:cs typeface="+mn-cs"/>
                </a:rPr>
                <a:t>表层系统最重要的两种迁移物质</a:t>
              </a:r>
            </a:p>
          </p:txBody>
        </p:sp>
        <p:sp>
          <p:nvSpPr>
            <p:cNvPr id="45" name="TextBox 45"/>
            <p:cNvSpPr txBox="1"/>
            <p:nvPr/>
          </p:nvSpPr>
          <p:spPr>
            <a:xfrm>
              <a:off x="7558547" y="5926931"/>
              <a:ext cx="4029568" cy="220028"/>
            </a:xfrm>
            <a:prstGeom prst="rect">
              <a:avLst/>
            </a:prstGeom>
            <a:noFill/>
            <a:ln>
              <a:noFill/>
            </a:ln>
          </p:spPr>
          <p:txBody>
            <a:bodyPr wrap="none" lIns="0" tIns="0" rIns="0" bIns="0" anchor="t" anchorCtr="0">
              <a:spAutoFit/>
            </a:bodyPr>
            <a:lstStyle/>
            <a:p>
              <a:pPr algn="r"/>
              <a:r>
                <a:rPr lang="zh-CN" sz="1120" dirty="0">
                  <a:solidFill>
                    <a:schemeClr val="accent5"/>
                  </a:solidFill>
                  <a:latin typeface="+mn-lt"/>
                  <a:ea typeface="+mn-ea"/>
                  <a:cs typeface="+mn-cs"/>
                </a:rPr>
                <a:t>迁移阶段：数小时至数百万年 · hours to millions of years</a:t>
              </a:r>
            </a:p>
          </p:txBody>
        </p:sp>
      </p:grpSp>
      <p:sp>
        <p:nvSpPr>
          <p:cNvPr id="47" name="TextBox 47"/>
          <p:cNvSpPr txBox="1"/>
          <p:nvPr/>
        </p:nvSpPr>
        <p:spPr>
          <a:xfrm>
            <a:off x="376238" y="6532245"/>
            <a:ext cx="7681208" cy="176212"/>
          </a:xfrm>
          <a:prstGeom prst="rect">
            <a:avLst/>
          </a:prstGeom>
          <a:noFill/>
          <a:ln>
            <a:noFill/>
          </a:ln>
        </p:spPr>
        <p:txBody>
          <a:bodyPr wrap="none" lIns="0" tIns="0" rIns="0" bIns="0" anchor="t" anchorCtr="0">
            <a:spAutoFit/>
          </a:bodyPr>
          <a:lstStyle/>
          <a:p>
            <a:pPr algn="l"/>
            <a:r>
              <a:rPr lang="zh-CN" sz="900" dirty="0">
                <a:solidFill>
                  <a:schemeClr val="accent5"/>
                </a:solidFill>
                <a:latin typeface="+mn-lt"/>
                <a:ea typeface="+mn-ea"/>
                <a:cs typeface="+mn-cs"/>
              </a:rPr>
              <a:t>Source: UE 8e, Ch.12, Components of the Climate System, PDF pp.1146–1147; 地球系统与演变 Chs.3–4; EP 5e, Ch.23, PDF p.881.</a:t>
            </a:r>
          </a:p>
        </p:txBody>
      </p:sp>
      <p:sp>
        <p:nvSpPr>
          <p:cNvPr id="48" name="TextBox 48"/>
          <p:cNvSpPr txBox="1"/>
          <p:nvPr/>
        </p:nvSpPr>
        <p:spPr>
          <a:xfrm>
            <a:off x="11672964" y="6532245"/>
            <a:ext cx="142799" cy="176212"/>
          </a:xfrm>
          <a:prstGeom prst="rect">
            <a:avLst/>
          </a:prstGeom>
          <a:noFill/>
          <a:ln>
            <a:noFill/>
          </a:ln>
        </p:spPr>
        <p:txBody>
          <a:bodyPr wrap="none" lIns="0" tIns="0" rIns="0" bIns="0" anchor="t" anchorCtr="0">
            <a:spAutoFit/>
          </a:bodyPr>
          <a:lstStyle/>
          <a:p>
            <a:pPr algn="r"/>
            <a:r>
              <a:rPr lang="zh-CN" sz="900" dirty="0">
                <a:solidFill>
                  <a:schemeClr val="accent5"/>
                </a:solidFill>
                <a:latin typeface="+mn-lt"/>
                <a:ea typeface="+mn-ea"/>
                <a:cs typeface="+mn-cs"/>
              </a:rPr>
              <a:t>04</a:t>
            </a:r>
          </a:p>
        </p:txBody>
      </p:sp>
    </p:spTree>
    <p:extLst>
      <p:ext uri="{BB962C8B-B14F-4D97-AF65-F5344CB8AC3E}">
        <p14:creationId xmlns:p14="http://schemas.microsoft.com/office/powerpoint/2010/main" val="3359212463"/>
      </p:ext>
    </p:extLst>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5"/>
          <p:cNvGrpSpPr/>
          <p:nvPr/>
        </p:nvGrpSpPr>
        <p:grpSpPr>
          <a:xfrm>
            <a:off x="0" y="0"/>
            <a:ext cx="12192000" cy="685800"/>
            <a:chOff x="0" y="0"/>
            <a:chExt cx="12192000" cy="685800"/>
          </a:xfrm>
        </p:grpSpPr>
        <p:sp>
          <p:nvSpPr>
            <p:cNvPr id="2" name="Rectangle 2"/>
            <p:cNvSpPr/>
            <p:nvPr/>
          </p:nvSpPr>
          <p:spPr>
            <a:xfrm>
              <a:off x="0" y="0"/>
              <a:ext cx="12192000" cy="685800"/>
            </a:xfrm>
            <a:prstGeom prst="rect">
              <a:avLst/>
            </a:prstGeom>
            <a:solidFill>
              <a:schemeClr val="accent1"/>
            </a:solidFill>
            <a:ln>
              <a:noFill/>
            </a:ln>
          </p:spPr>
        </p:sp>
        <p:sp>
          <p:nvSpPr>
            <p:cNvPr id="3" name="TextBox 3"/>
            <p:cNvSpPr txBox="1"/>
            <p:nvPr/>
          </p:nvSpPr>
          <p:spPr>
            <a:xfrm>
              <a:off x="374142" y="282892"/>
              <a:ext cx="5727883" cy="264033"/>
            </a:xfrm>
            <a:prstGeom prst="rect">
              <a:avLst/>
            </a:prstGeom>
            <a:noFill/>
            <a:ln>
              <a:noFill/>
            </a:ln>
          </p:spPr>
          <p:txBody>
            <a:bodyPr wrap="none" lIns="0" tIns="0" rIns="0" bIns="0" anchor="t" anchorCtr="0">
              <a:spAutoFit/>
            </a:bodyPr>
            <a:lstStyle/>
            <a:p>
              <a:pPr algn="l"/>
              <a:r>
                <a:rPr lang="zh-CN" sz="1350" b="1" dirty="0">
                  <a:solidFill>
                    <a:srgbClr val="FFFFFF"/>
                  </a:solidFill>
                  <a:latin typeface="+mn-lt"/>
                  <a:ea typeface="+mn-ea"/>
                  <a:cs typeface="+mn-cs"/>
                </a:rPr>
                <a:t>1.2 读懂全球循环的四个词 | Four Ideas for Reading Global Cycles</a:t>
              </a:r>
            </a:p>
          </p:txBody>
        </p:sp>
        <p:sp>
          <p:nvSpPr>
            <p:cNvPr id="4" name="TextBox 4"/>
            <p:cNvSpPr txBox="1"/>
            <p:nvPr/>
          </p:nvSpPr>
          <p:spPr>
            <a:xfrm>
              <a:off x="10191902" y="299085"/>
              <a:ext cx="1625194" cy="234696"/>
            </a:xfrm>
            <a:prstGeom prst="rect">
              <a:avLst/>
            </a:prstGeom>
            <a:noFill/>
            <a:ln>
              <a:noFill/>
            </a:ln>
          </p:spPr>
          <p:txBody>
            <a:bodyPr wrap="none" lIns="0" tIns="0" rIns="0" bIns="0" anchor="t" anchorCtr="0">
              <a:spAutoFit/>
            </a:bodyPr>
            <a:lstStyle/>
            <a:p>
              <a:pPr algn="r"/>
              <a:r>
                <a:rPr lang="zh-CN" sz="1200" dirty="0">
                  <a:solidFill>
                    <a:srgbClr val="C7D7F2"/>
                  </a:solidFill>
                  <a:latin typeface="+mn-lt"/>
                  <a:ea typeface="+mn-ea"/>
                  <a:cs typeface="+mn-cs"/>
                </a:rPr>
                <a:t>READING FRAMEWORK</a:t>
              </a:r>
            </a:p>
          </p:txBody>
        </p:sp>
      </p:grpSp>
      <p:grpSp>
        <p:nvGrpSpPr>
          <p:cNvPr id="8" name="Group 8"/>
          <p:cNvGrpSpPr/>
          <p:nvPr/>
        </p:nvGrpSpPr>
        <p:grpSpPr>
          <a:xfrm>
            <a:off x="381000" y="914400"/>
            <a:ext cx="5922340" cy="357093"/>
            <a:chOff x="381000" y="914400"/>
            <a:chExt cx="5922340" cy="357093"/>
          </a:xfrm>
        </p:grpSpPr>
        <p:sp>
          <p:nvSpPr>
            <p:cNvPr id="6" name="Rectangle 6"/>
            <p:cNvSpPr/>
            <p:nvPr/>
          </p:nvSpPr>
          <p:spPr>
            <a:xfrm>
              <a:off x="381000" y="914400"/>
              <a:ext cx="57150" cy="266700"/>
            </a:xfrm>
            <a:prstGeom prst="roundRect">
              <a:avLst>
                <a:gd name="adj" fmla="val 50000"/>
              </a:avLst>
            </a:prstGeom>
            <a:solidFill>
              <a:schemeClr val="accent2"/>
            </a:solidFill>
            <a:ln>
              <a:noFill/>
            </a:ln>
          </p:spPr>
        </p:sp>
        <p:sp>
          <p:nvSpPr>
            <p:cNvPr id="7" name="TextBox 7"/>
            <p:cNvSpPr txBox="1"/>
            <p:nvPr/>
          </p:nvSpPr>
          <p:spPr>
            <a:xfrm>
              <a:off x="544449" y="963454"/>
              <a:ext cx="5758891" cy="308039"/>
            </a:xfrm>
            <a:prstGeom prst="rect">
              <a:avLst/>
            </a:prstGeom>
            <a:noFill/>
            <a:ln>
              <a:noFill/>
            </a:ln>
          </p:spPr>
          <p:txBody>
            <a:bodyPr wrap="none" lIns="0" tIns="0" rIns="0" bIns="0" anchor="t" anchorCtr="0">
              <a:spAutoFit/>
            </a:bodyPr>
            <a:lstStyle/>
            <a:p>
              <a:pPr algn="l"/>
              <a:r>
                <a:rPr lang="zh-CN" sz="1580" b="1" dirty="0">
                  <a:solidFill>
                    <a:schemeClr val="accent1"/>
                  </a:solidFill>
                  <a:latin typeface="+mn-lt"/>
                  <a:ea typeface="+mn-ea"/>
                  <a:cs typeface="+mn-cs"/>
                </a:rPr>
                <a:t>储库、通量、停留时间与反馈是阅读一切全球循环的共同框架</a:t>
              </a:r>
            </a:p>
          </p:txBody>
        </p:sp>
      </p:grpSp>
      <p:grpSp>
        <p:nvGrpSpPr>
          <p:cNvPr id="19" name="Group 19"/>
          <p:cNvGrpSpPr/>
          <p:nvPr/>
        </p:nvGrpSpPr>
        <p:grpSpPr>
          <a:xfrm>
            <a:off x="381000" y="1447800"/>
            <a:ext cx="5619750" cy="2000250"/>
            <a:chOff x="381000" y="1447800"/>
            <a:chExt cx="5619750" cy="2000250"/>
          </a:xfrm>
        </p:grpSpPr>
        <p:sp>
          <p:nvSpPr>
            <p:cNvPr id="9" name="Rectangle 9"/>
            <p:cNvSpPr/>
            <p:nvPr/>
          </p:nvSpPr>
          <p:spPr>
            <a:xfrm>
              <a:off x="381000" y="1447800"/>
              <a:ext cx="5619750" cy="2000250"/>
            </a:xfrm>
            <a:prstGeom prst="roundRect">
              <a:avLst>
                <a:gd name="adj" fmla="val 5714"/>
              </a:avLst>
            </a:prstGeom>
            <a:solidFill>
              <a:schemeClr val="lt2"/>
            </a:solidFill>
            <a:ln w="9525">
              <a:solidFill>
                <a:schemeClr val="accent6"/>
              </a:solidFill>
            </a:ln>
          </p:spPr>
        </p:sp>
        <p:sp>
          <p:nvSpPr>
            <p:cNvPr id="10" name="Ellipse 10"/>
            <p:cNvSpPr/>
            <p:nvPr/>
          </p:nvSpPr>
          <p:spPr>
            <a:xfrm>
              <a:off x="590550" y="1752600"/>
              <a:ext cx="457200" cy="457200"/>
            </a:xfrm>
            <a:prstGeom prst="ellipse">
              <a:avLst/>
            </a:prstGeom>
            <a:solidFill>
              <a:schemeClr val="accent2"/>
            </a:solidFill>
            <a:ln>
              <a:noFill/>
            </a:ln>
          </p:spPr>
        </p:sp>
        <p:sp>
          <p:nvSpPr>
            <p:cNvPr id="11" name="TextBox 11"/>
            <p:cNvSpPr txBox="1"/>
            <p:nvPr/>
          </p:nvSpPr>
          <p:spPr>
            <a:xfrm>
              <a:off x="749732" y="1887379"/>
              <a:ext cx="138836" cy="308039"/>
            </a:xfrm>
            <a:prstGeom prst="rect">
              <a:avLst/>
            </a:prstGeom>
            <a:noFill/>
            <a:ln>
              <a:noFill/>
            </a:ln>
          </p:spPr>
          <p:txBody>
            <a:bodyPr wrap="none" lIns="0" tIns="0" rIns="0" bIns="0" anchor="t" anchorCtr="0">
              <a:spAutoFit/>
            </a:bodyPr>
            <a:lstStyle/>
            <a:p>
              <a:pPr algn="ctr"/>
              <a:r>
                <a:rPr lang="zh-CN" sz="1580" b="1" dirty="0">
                  <a:solidFill>
                    <a:srgbClr val="FFFFFF"/>
                  </a:solidFill>
                  <a:latin typeface="+mn-lt"/>
                  <a:ea typeface="+mn-ea"/>
                  <a:cs typeface="+mn-cs"/>
                </a:rPr>
                <a:t>1</a:t>
              </a:r>
            </a:p>
          </p:txBody>
        </p:sp>
        <p:sp>
          <p:nvSpPr>
            <p:cNvPr id="12" name="TextBox 12"/>
            <p:cNvSpPr txBox="1"/>
            <p:nvPr/>
          </p:nvSpPr>
          <p:spPr>
            <a:xfrm>
              <a:off x="1211961" y="1732121"/>
              <a:ext cx="963788" cy="278702"/>
            </a:xfrm>
            <a:prstGeom prst="rect">
              <a:avLst/>
            </a:prstGeom>
            <a:noFill/>
            <a:ln>
              <a:noFill/>
            </a:ln>
          </p:spPr>
          <p:txBody>
            <a:bodyPr wrap="none" lIns="0" tIns="0" rIns="0" bIns="0" anchor="t" anchorCtr="0">
              <a:spAutoFit/>
            </a:bodyPr>
            <a:lstStyle/>
            <a:p>
              <a:pPr algn="l"/>
              <a:r>
                <a:rPr lang="zh-CN" sz="1420" b="1" dirty="0">
                  <a:solidFill>
                    <a:schemeClr val="accent1"/>
                  </a:solidFill>
                  <a:latin typeface="+mn-lt"/>
                  <a:ea typeface="+mn-ea"/>
                  <a:cs typeface="+mn-cs"/>
                </a:rPr>
                <a:t>Reservoir</a:t>
              </a:r>
            </a:p>
          </p:txBody>
        </p:sp>
        <p:sp>
          <p:nvSpPr>
            <p:cNvPr id="13" name="TextBox 13"/>
            <p:cNvSpPr txBox="1"/>
            <p:nvPr/>
          </p:nvSpPr>
          <p:spPr>
            <a:xfrm>
              <a:off x="1213104" y="2004060"/>
              <a:ext cx="335280" cy="234696"/>
            </a:xfrm>
            <a:prstGeom prst="rect">
              <a:avLst/>
            </a:prstGeom>
            <a:noFill/>
            <a:ln>
              <a:noFill/>
            </a:ln>
          </p:spPr>
          <p:txBody>
            <a:bodyPr wrap="none" lIns="0" tIns="0" rIns="0" bIns="0" anchor="t" anchorCtr="0">
              <a:spAutoFit/>
            </a:bodyPr>
            <a:lstStyle/>
            <a:p>
              <a:pPr algn="l"/>
              <a:r>
                <a:rPr lang="zh-CN" sz="1200" b="1" dirty="0">
                  <a:solidFill>
                    <a:schemeClr val="dk1"/>
                  </a:solidFill>
                  <a:latin typeface="+mn-lt"/>
                  <a:ea typeface="+mn-ea"/>
                  <a:cs typeface="+mn-cs"/>
                </a:rPr>
                <a:t>储库</a:t>
              </a:r>
            </a:p>
          </p:txBody>
        </p:sp>
        <p:sp>
          <p:nvSpPr>
            <p:cNvPr id="14" name="TextBox 14"/>
            <p:cNvSpPr txBox="1"/>
            <p:nvPr/>
          </p:nvSpPr>
          <p:spPr>
            <a:xfrm>
              <a:off x="3693186" y="2028349"/>
              <a:ext cx="1931517" cy="190690"/>
            </a:xfrm>
            <a:prstGeom prst="rect">
              <a:avLst/>
            </a:prstGeom>
            <a:noFill/>
            <a:ln>
              <a:noFill/>
            </a:ln>
          </p:spPr>
          <p:txBody>
            <a:bodyPr wrap="none" lIns="0" tIns="0" rIns="0" bIns="0" anchor="t" anchorCtr="0">
              <a:spAutoFit/>
            </a:bodyPr>
            <a:lstStyle/>
            <a:p>
              <a:pPr algn="r"/>
              <a:r>
                <a:rPr lang="zh-CN" sz="980" b="1" dirty="0">
                  <a:solidFill>
                    <a:srgbClr val="3D7BD9"/>
                  </a:solidFill>
                  <a:latin typeface="+mn-lt"/>
                  <a:ea typeface="+mn-ea"/>
                  <a:cs typeface="+mn-cs"/>
                </a:rPr>
                <a:t>物质在哪里 · Where matter is</a:t>
              </a:r>
            </a:p>
          </p:txBody>
        </p:sp>
        <p:sp>
          <p:nvSpPr>
            <p:cNvPr id="15" name="Line 15"/>
            <p:cNvSpPr/>
            <p:nvPr/>
          </p:nvSpPr>
          <p:spPr>
            <a:xfrm>
              <a:off x="762000" y="2343150"/>
              <a:ext cx="4857750" cy="9525"/>
            </a:xfrm>
            <a:custGeom>
              <a:avLst/>
              <a:gdLst/>
              <a:ahLst/>
              <a:cxnLst/>
              <a:rect l="l" t="t" r="r" b="b"/>
              <a:pathLst>
                <a:path w="4857750" h="9525">
                  <a:moveTo>
                    <a:pt x="0" y="0"/>
                  </a:moveTo>
                  <a:lnTo>
                    <a:pt x="4857750" y="0"/>
                  </a:lnTo>
                </a:path>
              </a:pathLst>
            </a:custGeom>
            <a:noFill/>
            <a:ln w="9525">
              <a:solidFill>
                <a:schemeClr val="accent6"/>
              </a:solidFill>
            </a:ln>
          </p:spPr>
        </p:sp>
        <p:sp>
          <p:nvSpPr>
            <p:cNvPr id="16" name="TextBox 16"/>
            <p:cNvSpPr txBox="1"/>
            <p:nvPr/>
          </p:nvSpPr>
          <p:spPr>
            <a:xfrm>
              <a:off x="756285" y="2564606"/>
              <a:ext cx="2122272" cy="220028"/>
            </a:xfrm>
            <a:prstGeom prst="rect">
              <a:avLst/>
            </a:prstGeom>
            <a:noFill/>
            <a:ln>
              <a:noFill/>
            </a:ln>
          </p:spPr>
          <p:txBody>
            <a:bodyPr wrap="none" lIns="0" tIns="0" rIns="0" bIns="0" anchor="t" anchorCtr="0">
              <a:spAutoFit/>
            </a:bodyPr>
            <a:lstStyle/>
            <a:p>
              <a:pPr algn="l"/>
              <a:r>
                <a:rPr lang="zh-CN" sz="1120" dirty="0">
                  <a:solidFill>
                    <a:schemeClr val="dk1"/>
                  </a:solidFill>
                  <a:latin typeface="+mn-lt"/>
                  <a:ea typeface="+mn-ea"/>
                  <a:cs typeface="+mn-cs"/>
                </a:rPr>
                <a:t>储存水或化学物质的场所或组分</a:t>
              </a:r>
            </a:p>
          </p:txBody>
        </p:sp>
        <p:sp>
          <p:nvSpPr>
            <p:cNvPr id="17" name="TextBox 17"/>
            <p:cNvSpPr txBox="1"/>
            <p:nvPr/>
          </p:nvSpPr>
          <p:spPr>
            <a:xfrm>
              <a:off x="756285" y="2812256"/>
              <a:ext cx="1971497" cy="220028"/>
            </a:xfrm>
            <a:prstGeom prst="rect">
              <a:avLst/>
            </a:prstGeom>
            <a:noFill/>
            <a:ln>
              <a:noFill/>
            </a:ln>
          </p:spPr>
          <p:txBody>
            <a:bodyPr wrap="none" lIns="0" tIns="0" rIns="0" bIns="0" anchor="t" anchorCtr="0">
              <a:spAutoFit/>
            </a:bodyPr>
            <a:lstStyle/>
            <a:p>
              <a:pPr algn="l"/>
              <a:r>
                <a:rPr lang="zh-CN" sz="1120" dirty="0">
                  <a:solidFill>
                    <a:schemeClr val="dk1"/>
                  </a:solidFill>
                  <a:latin typeface="+mn-lt"/>
                  <a:ea typeface="+mn-ea"/>
                  <a:cs typeface="+mn-cs"/>
                </a:rPr>
                <a:t>例：海洋、大气、植被、岩石</a:t>
              </a:r>
            </a:p>
          </p:txBody>
        </p:sp>
        <p:sp>
          <p:nvSpPr>
            <p:cNvPr id="18" name="TextBox 18"/>
            <p:cNvSpPr txBox="1"/>
            <p:nvPr/>
          </p:nvSpPr>
          <p:spPr>
            <a:xfrm>
              <a:off x="757047" y="3095149"/>
              <a:ext cx="1724965" cy="190690"/>
            </a:xfrm>
            <a:prstGeom prst="rect">
              <a:avLst/>
            </a:prstGeom>
            <a:noFill/>
            <a:ln>
              <a:noFill/>
            </a:ln>
          </p:spPr>
          <p:txBody>
            <a:bodyPr wrap="none" lIns="0" tIns="0" rIns="0" bIns="0" anchor="t" anchorCtr="0">
              <a:spAutoFit/>
            </a:bodyPr>
            <a:lstStyle/>
            <a:p>
              <a:pPr algn="l"/>
              <a:r>
                <a:rPr lang="zh-CN" sz="980" dirty="0">
                  <a:solidFill>
                    <a:schemeClr val="accent5"/>
                  </a:solidFill>
                  <a:latin typeface="+mn-lt"/>
                  <a:ea typeface="+mn-ea"/>
                  <a:cs typeface="+mn-cs"/>
                </a:rPr>
                <a:t>水循环与碳循环共用同一个词</a:t>
              </a:r>
            </a:p>
          </p:txBody>
        </p:sp>
      </p:grpSp>
      <p:grpSp>
        <p:nvGrpSpPr>
          <p:cNvPr id="29" name="Group 29"/>
          <p:cNvGrpSpPr/>
          <p:nvPr/>
        </p:nvGrpSpPr>
        <p:grpSpPr>
          <a:xfrm>
            <a:off x="6191250" y="1447800"/>
            <a:ext cx="5619750" cy="2000250"/>
            <a:chOff x="6191250" y="1447800"/>
            <a:chExt cx="5619750" cy="2000250"/>
          </a:xfrm>
        </p:grpSpPr>
        <p:sp>
          <p:nvSpPr>
            <p:cNvPr id="20" name="Rectangle 20"/>
            <p:cNvSpPr/>
            <p:nvPr/>
          </p:nvSpPr>
          <p:spPr>
            <a:xfrm>
              <a:off x="6191250" y="1447800"/>
              <a:ext cx="5619750" cy="2000250"/>
            </a:xfrm>
            <a:prstGeom prst="roundRect">
              <a:avLst>
                <a:gd name="adj" fmla="val 5714"/>
              </a:avLst>
            </a:prstGeom>
            <a:solidFill>
              <a:schemeClr val="lt2"/>
            </a:solidFill>
            <a:ln w="9525">
              <a:solidFill>
                <a:schemeClr val="accent6"/>
              </a:solidFill>
            </a:ln>
          </p:spPr>
        </p:sp>
        <p:sp>
          <p:nvSpPr>
            <p:cNvPr id="21" name="Ellipse 21"/>
            <p:cNvSpPr/>
            <p:nvPr/>
          </p:nvSpPr>
          <p:spPr>
            <a:xfrm>
              <a:off x="6400800" y="1752600"/>
              <a:ext cx="457200" cy="457200"/>
            </a:xfrm>
            <a:prstGeom prst="ellipse">
              <a:avLst/>
            </a:prstGeom>
            <a:solidFill>
              <a:srgbClr val="3D7BD9"/>
            </a:solidFill>
            <a:ln>
              <a:noFill/>
            </a:ln>
          </p:spPr>
        </p:sp>
        <p:sp>
          <p:nvSpPr>
            <p:cNvPr id="22" name="TextBox 22"/>
            <p:cNvSpPr txBox="1"/>
            <p:nvPr/>
          </p:nvSpPr>
          <p:spPr>
            <a:xfrm>
              <a:off x="6559982" y="1887379"/>
              <a:ext cx="138836" cy="308039"/>
            </a:xfrm>
            <a:prstGeom prst="rect">
              <a:avLst/>
            </a:prstGeom>
            <a:noFill/>
            <a:ln>
              <a:noFill/>
            </a:ln>
          </p:spPr>
          <p:txBody>
            <a:bodyPr wrap="none" lIns="0" tIns="0" rIns="0" bIns="0" anchor="t" anchorCtr="0">
              <a:spAutoFit/>
            </a:bodyPr>
            <a:lstStyle/>
            <a:p>
              <a:pPr algn="ctr"/>
              <a:r>
                <a:rPr lang="zh-CN" sz="1580" b="1" dirty="0">
                  <a:solidFill>
                    <a:srgbClr val="FFFFFF"/>
                  </a:solidFill>
                  <a:latin typeface="+mn-lt"/>
                  <a:ea typeface="+mn-ea"/>
                  <a:cs typeface="+mn-cs"/>
                </a:rPr>
                <a:t>2</a:t>
              </a:r>
            </a:p>
          </p:txBody>
        </p:sp>
        <p:sp>
          <p:nvSpPr>
            <p:cNvPr id="23" name="TextBox 23"/>
            <p:cNvSpPr txBox="1"/>
            <p:nvPr/>
          </p:nvSpPr>
          <p:spPr>
            <a:xfrm>
              <a:off x="7022211" y="1732121"/>
              <a:ext cx="411418" cy="278702"/>
            </a:xfrm>
            <a:prstGeom prst="rect">
              <a:avLst/>
            </a:prstGeom>
            <a:noFill/>
            <a:ln>
              <a:noFill/>
            </a:ln>
          </p:spPr>
          <p:txBody>
            <a:bodyPr wrap="none" lIns="0" tIns="0" rIns="0" bIns="0" anchor="t" anchorCtr="0">
              <a:spAutoFit/>
            </a:bodyPr>
            <a:lstStyle/>
            <a:p>
              <a:pPr algn="l"/>
              <a:r>
                <a:rPr lang="zh-CN" sz="1420" b="1" dirty="0">
                  <a:solidFill>
                    <a:schemeClr val="accent1"/>
                  </a:solidFill>
                  <a:latin typeface="+mn-lt"/>
                  <a:ea typeface="+mn-ea"/>
                  <a:cs typeface="+mn-cs"/>
                </a:rPr>
                <a:t>Flux</a:t>
              </a:r>
            </a:p>
          </p:txBody>
        </p:sp>
        <p:sp>
          <p:nvSpPr>
            <p:cNvPr id="24" name="TextBox 24"/>
            <p:cNvSpPr txBox="1"/>
            <p:nvPr/>
          </p:nvSpPr>
          <p:spPr>
            <a:xfrm>
              <a:off x="7023354" y="2004060"/>
              <a:ext cx="335280" cy="234696"/>
            </a:xfrm>
            <a:prstGeom prst="rect">
              <a:avLst/>
            </a:prstGeom>
            <a:noFill/>
            <a:ln>
              <a:noFill/>
            </a:ln>
          </p:spPr>
          <p:txBody>
            <a:bodyPr wrap="none" lIns="0" tIns="0" rIns="0" bIns="0" anchor="t" anchorCtr="0">
              <a:spAutoFit/>
            </a:bodyPr>
            <a:lstStyle/>
            <a:p>
              <a:pPr algn="l"/>
              <a:r>
                <a:rPr lang="zh-CN" sz="1200" b="1" dirty="0">
                  <a:solidFill>
                    <a:schemeClr val="dk1"/>
                  </a:solidFill>
                  <a:latin typeface="+mn-lt"/>
                  <a:ea typeface="+mn-ea"/>
                  <a:cs typeface="+mn-cs"/>
                </a:rPr>
                <a:t>通量</a:t>
              </a:r>
            </a:p>
          </p:txBody>
        </p:sp>
        <p:sp>
          <p:nvSpPr>
            <p:cNvPr id="25" name="TextBox 25"/>
            <p:cNvSpPr txBox="1"/>
            <p:nvPr/>
          </p:nvSpPr>
          <p:spPr>
            <a:xfrm>
              <a:off x="9518271" y="2028349"/>
              <a:ext cx="1916682" cy="190690"/>
            </a:xfrm>
            <a:prstGeom prst="rect">
              <a:avLst/>
            </a:prstGeom>
            <a:noFill/>
            <a:ln>
              <a:noFill/>
            </a:ln>
          </p:spPr>
          <p:txBody>
            <a:bodyPr wrap="none" lIns="0" tIns="0" rIns="0" bIns="0" anchor="t" anchorCtr="0">
              <a:spAutoFit/>
            </a:bodyPr>
            <a:lstStyle/>
            <a:p>
              <a:pPr algn="r"/>
              <a:r>
                <a:rPr lang="zh-CN" sz="980" b="1" dirty="0">
                  <a:solidFill>
                    <a:srgbClr val="3D7BD9"/>
                  </a:solidFill>
                  <a:latin typeface="+mn-lt"/>
                  <a:ea typeface="+mn-ea"/>
                  <a:cs typeface="+mn-cs"/>
                </a:rPr>
                <a:t>移动多快 · How fast it moves</a:t>
              </a:r>
            </a:p>
          </p:txBody>
        </p:sp>
        <p:sp>
          <p:nvSpPr>
            <p:cNvPr id="26" name="Line 26"/>
            <p:cNvSpPr/>
            <p:nvPr/>
          </p:nvSpPr>
          <p:spPr>
            <a:xfrm>
              <a:off x="6572250" y="2343150"/>
              <a:ext cx="4857750" cy="9525"/>
            </a:xfrm>
            <a:custGeom>
              <a:avLst/>
              <a:gdLst/>
              <a:ahLst/>
              <a:cxnLst/>
              <a:rect l="l" t="t" r="r" b="b"/>
              <a:pathLst>
                <a:path w="4857750" h="9525">
                  <a:moveTo>
                    <a:pt x="0" y="0"/>
                  </a:moveTo>
                  <a:lnTo>
                    <a:pt x="4857750" y="0"/>
                  </a:lnTo>
                </a:path>
              </a:pathLst>
            </a:custGeom>
            <a:noFill/>
            <a:ln w="9525">
              <a:solidFill>
                <a:schemeClr val="accent6"/>
              </a:solidFill>
            </a:ln>
          </p:spPr>
        </p:sp>
        <p:sp>
          <p:nvSpPr>
            <p:cNvPr id="27" name="TextBox 27"/>
            <p:cNvSpPr txBox="1"/>
            <p:nvPr/>
          </p:nvSpPr>
          <p:spPr>
            <a:xfrm>
              <a:off x="6566535" y="2564606"/>
              <a:ext cx="1860550" cy="467678"/>
            </a:xfrm>
            <a:prstGeom prst="rect">
              <a:avLst/>
            </a:prstGeom>
            <a:noFill/>
            <a:ln>
              <a:noFill/>
            </a:ln>
          </p:spPr>
          <p:txBody>
            <a:bodyPr wrap="none" lIns="0" tIns="0" rIns="0" bIns="0" anchor="t" anchorCtr="0">
              <a:spAutoFit/>
            </a:bodyPr>
            <a:lstStyle/>
            <a:p>
              <a:pPr algn="l">
                <a:lnSpc>
                  <a:spcPts val="1950"/>
                </a:lnSpc>
              </a:pPr>
              <a:r>
                <a:rPr lang="zh-CN" sz="1120" dirty="0">
                  <a:solidFill>
                    <a:schemeClr val="dk1"/>
                  </a:solidFill>
                  <a:latin typeface="+mn-lt"/>
                  <a:ea typeface="+mn-ea"/>
                  <a:cs typeface="+mn-cs"/>
                </a:rPr>
                <a:t>物质从一个储库向另一个储库</a:t>
              </a:r>
              <a:br/>
              <a:r>
                <a:rPr lang="zh-CN" sz="1120" dirty="0">
                  <a:solidFill>
                    <a:schemeClr val="dk1"/>
                  </a:solidFill>
                  <a:latin typeface="+mn-lt"/>
                  <a:ea typeface="+mn-ea"/>
                  <a:cs typeface="+mn-cs"/>
                </a:rPr>
                <a:t>的流动或输送</a:t>
              </a:r>
            </a:p>
          </p:txBody>
        </p:sp>
        <p:sp>
          <p:nvSpPr>
            <p:cNvPr id="28" name="TextBox 28"/>
            <p:cNvSpPr txBox="1"/>
            <p:nvPr/>
          </p:nvSpPr>
          <p:spPr>
            <a:xfrm>
              <a:off x="6567297" y="3095149"/>
              <a:ext cx="1724965" cy="190690"/>
            </a:xfrm>
            <a:prstGeom prst="rect">
              <a:avLst/>
            </a:prstGeom>
            <a:noFill/>
            <a:ln>
              <a:noFill/>
            </a:ln>
          </p:spPr>
          <p:txBody>
            <a:bodyPr wrap="none" lIns="0" tIns="0" rIns="0" bIns="0" anchor="t" anchorCtr="0">
              <a:spAutoFit/>
            </a:bodyPr>
            <a:lstStyle/>
            <a:p>
              <a:pPr algn="l"/>
              <a:r>
                <a:rPr lang="zh-CN" sz="980" dirty="0">
                  <a:solidFill>
                    <a:schemeClr val="accent5"/>
                  </a:solidFill>
                  <a:latin typeface="+mn-lt"/>
                  <a:ea typeface="+mn-ea"/>
                  <a:cs typeface="+mn-cs"/>
                </a:rPr>
                <a:t>储量单位与通量单位要分开读</a:t>
              </a:r>
            </a:p>
          </p:txBody>
        </p:sp>
      </p:grpSp>
      <p:grpSp>
        <p:nvGrpSpPr>
          <p:cNvPr id="39" name="Group 39"/>
          <p:cNvGrpSpPr/>
          <p:nvPr/>
        </p:nvGrpSpPr>
        <p:grpSpPr>
          <a:xfrm>
            <a:off x="381000" y="3676650"/>
            <a:ext cx="5619750" cy="2000250"/>
            <a:chOff x="381000" y="3676650"/>
            <a:chExt cx="5619750" cy="2000250"/>
          </a:xfrm>
        </p:grpSpPr>
        <p:sp>
          <p:nvSpPr>
            <p:cNvPr id="30" name="Rectangle 30"/>
            <p:cNvSpPr/>
            <p:nvPr/>
          </p:nvSpPr>
          <p:spPr>
            <a:xfrm>
              <a:off x="381000" y="3676650"/>
              <a:ext cx="5619750" cy="2000250"/>
            </a:xfrm>
            <a:prstGeom prst="roundRect">
              <a:avLst>
                <a:gd name="adj" fmla="val 5714"/>
              </a:avLst>
            </a:prstGeom>
            <a:solidFill>
              <a:schemeClr val="lt2"/>
            </a:solidFill>
            <a:ln w="9525">
              <a:solidFill>
                <a:schemeClr val="accent6"/>
              </a:solidFill>
            </a:ln>
          </p:spPr>
        </p:sp>
        <p:sp>
          <p:nvSpPr>
            <p:cNvPr id="31" name="Ellipse 31"/>
            <p:cNvSpPr/>
            <p:nvPr/>
          </p:nvSpPr>
          <p:spPr>
            <a:xfrm>
              <a:off x="590550" y="3981450"/>
              <a:ext cx="457200" cy="457200"/>
            </a:xfrm>
            <a:prstGeom prst="ellipse">
              <a:avLst/>
            </a:prstGeom>
            <a:solidFill>
              <a:schemeClr val="accent1"/>
            </a:solidFill>
            <a:ln>
              <a:noFill/>
            </a:ln>
          </p:spPr>
        </p:sp>
        <p:sp>
          <p:nvSpPr>
            <p:cNvPr id="32" name="TextBox 32"/>
            <p:cNvSpPr txBox="1"/>
            <p:nvPr/>
          </p:nvSpPr>
          <p:spPr>
            <a:xfrm>
              <a:off x="749732" y="4116229"/>
              <a:ext cx="138836" cy="308039"/>
            </a:xfrm>
            <a:prstGeom prst="rect">
              <a:avLst/>
            </a:prstGeom>
            <a:noFill/>
            <a:ln>
              <a:noFill/>
            </a:ln>
          </p:spPr>
          <p:txBody>
            <a:bodyPr wrap="none" lIns="0" tIns="0" rIns="0" bIns="0" anchor="t" anchorCtr="0">
              <a:spAutoFit/>
            </a:bodyPr>
            <a:lstStyle/>
            <a:p>
              <a:pPr algn="ctr"/>
              <a:r>
                <a:rPr lang="zh-CN" sz="1580" b="1" dirty="0">
                  <a:solidFill>
                    <a:srgbClr val="FFFFFF"/>
                  </a:solidFill>
                  <a:latin typeface="+mn-lt"/>
                  <a:ea typeface="+mn-ea"/>
                  <a:cs typeface="+mn-cs"/>
                </a:rPr>
                <a:t>3</a:t>
              </a:r>
            </a:p>
          </p:txBody>
        </p:sp>
        <p:sp>
          <p:nvSpPr>
            <p:cNvPr id="33" name="TextBox 33"/>
            <p:cNvSpPr txBox="1"/>
            <p:nvPr/>
          </p:nvSpPr>
          <p:spPr>
            <a:xfrm>
              <a:off x="1211961" y="3960971"/>
              <a:ext cx="1462112" cy="278702"/>
            </a:xfrm>
            <a:prstGeom prst="rect">
              <a:avLst/>
            </a:prstGeom>
            <a:noFill/>
            <a:ln>
              <a:noFill/>
            </a:ln>
          </p:spPr>
          <p:txBody>
            <a:bodyPr wrap="none" lIns="0" tIns="0" rIns="0" bIns="0" anchor="t" anchorCtr="0">
              <a:spAutoFit/>
            </a:bodyPr>
            <a:lstStyle/>
            <a:p>
              <a:pPr algn="l"/>
              <a:r>
                <a:rPr lang="zh-CN" sz="1420" b="1" dirty="0">
                  <a:solidFill>
                    <a:schemeClr val="accent1"/>
                  </a:solidFill>
                  <a:latin typeface="+mn-lt"/>
                  <a:ea typeface="+mn-ea"/>
                  <a:cs typeface="+mn-cs"/>
                </a:rPr>
                <a:t>Residence Time</a:t>
              </a:r>
            </a:p>
          </p:txBody>
        </p:sp>
        <p:sp>
          <p:nvSpPr>
            <p:cNvPr id="34" name="TextBox 34"/>
            <p:cNvSpPr txBox="1"/>
            <p:nvPr/>
          </p:nvSpPr>
          <p:spPr>
            <a:xfrm>
              <a:off x="1213104" y="4232910"/>
              <a:ext cx="658368" cy="234696"/>
            </a:xfrm>
            <a:prstGeom prst="rect">
              <a:avLst/>
            </a:prstGeom>
            <a:noFill/>
            <a:ln>
              <a:noFill/>
            </a:ln>
          </p:spPr>
          <p:txBody>
            <a:bodyPr wrap="none" lIns="0" tIns="0" rIns="0" bIns="0" anchor="t" anchorCtr="0">
              <a:spAutoFit/>
            </a:bodyPr>
            <a:lstStyle/>
            <a:p>
              <a:pPr algn="l"/>
              <a:r>
                <a:rPr lang="zh-CN" sz="1200" b="1" dirty="0">
                  <a:solidFill>
                    <a:schemeClr val="dk1"/>
                  </a:solidFill>
                  <a:latin typeface="+mn-lt"/>
                  <a:ea typeface="+mn-ea"/>
                  <a:cs typeface="+mn-cs"/>
                </a:rPr>
                <a:t>停留时间</a:t>
              </a:r>
            </a:p>
          </p:txBody>
        </p:sp>
        <p:sp>
          <p:nvSpPr>
            <p:cNvPr id="35" name="TextBox 35"/>
            <p:cNvSpPr txBox="1"/>
            <p:nvPr/>
          </p:nvSpPr>
          <p:spPr>
            <a:xfrm>
              <a:off x="3770609" y="4257199"/>
              <a:ext cx="1854094" cy="190690"/>
            </a:xfrm>
            <a:prstGeom prst="rect">
              <a:avLst/>
            </a:prstGeom>
            <a:noFill/>
            <a:ln>
              <a:noFill/>
            </a:ln>
          </p:spPr>
          <p:txBody>
            <a:bodyPr wrap="none" lIns="0" tIns="0" rIns="0" bIns="0" anchor="t" anchorCtr="0">
              <a:spAutoFit/>
            </a:bodyPr>
            <a:lstStyle/>
            <a:p>
              <a:pPr algn="r"/>
              <a:r>
                <a:rPr lang="zh-CN" sz="980" b="1" dirty="0">
                  <a:solidFill>
                    <a:srgbClr val="3D7BD9"/>
                  </a:solidFill>
                  <a:latin typeface="+mn-lt"/>
                  <a:ea typeface="+mn-ea"/>
                  <a:cs typeface="+mn-cs"/>
                </a:rPr>
                <a:t>停留多久 · How long it stays</a:t>
              </a:r>
            </a:p>
          </p:txBody>
        </p:sp>
        <p:sp>
          <p:nvSpPr>
            <p:cNvPr id="36" name="Line 36"/>
            <p:cNvSpPr/>
            <p:nvPr/>
          </p:nvSpPr>
          <p:spPr>
            <a:xfrm>
              <a:off x="762000" y="4572000"/>
              <a:ext cx="4857750" cy="9525"/>
            </a:xfrm>
            <a:custGeom>
              <a:avLst/>
              <a:gdLst/>
              <a:ahLst/>
              <a:cxnLst/>
              <a:rect l="l" t="t" r="r" b="b"/>
              <a:pathLst>
                <a:path w="4857750" h="9525">
                  <a:moveTo>
                    <a:pt x="0" y="0"/>
                  </a:moveTo>
                  <a:lnTo>
                    <a:pt x="4857750" y="0"/>
                  </a:lnTo>
                </a:path>
              </a:pathLst>
            </a:custGeom>
            <a:noFill/>
            <a:ln w="9525">
              <a:solidFill>
                <a:schemeClr val="accent6"/>
              </a:solidFill>
            </a:ln>
          </p:spPr>
        </p:sp>
        <p:sp>
          <p:nvSpPr>
            <p:cNvPr id="37" name="TextBox 37"/>
            <p:cNvSpPr txBox="1"/>
            <p:nvPr/>
          </p:nvSpPr>
          <p:spPr>
            <a:xfrm>
              <a:off x="756285" y="4793456"/>
              <a:ext cx="1860550" cy="467678"/>
            </a:xfrm>
            <a:prstGeom prst="rect">
              <a:avLst/>
            </a:prstGeom>
            <a:noFill/>
            <a:ln>
              <a:noFill/>
            </a:ln>
          </p:spPr>
          <p:txBody>
            <a:bodyPr wrap="none" lIns="0" tIns="0" rIns="0" bIns="0" anchor="t" anchorCtr="0">
              <a:spAutoFit/>
            </a:bodyPr>
            <a:lstStyle/>
            <a:p>
              <a:pPr algn="l">
                <a:lnSpc>
                  <a:spcPts val="1950"/>
                </a:lnSpc>
              </a:pPr>
              <a:r>
                <a:rPr lang="zh-CN" sz="1120" dirty="0">
                  <a:solidFill>
                    <a:schemeClr val="dk1"/>
                  </a:solidFill>
                  <a:latin typeface="+mn-lt"/>
                  <a:ea typeface="+mn-ea"/>
                  <a:cs typeface="+mn-cs"/>
                </a:rPr>
                <a:t>一定量的水或某化学物质分子</a:t>
              </a:r>
              <a:br/>
              <a:r>
                <a:rPr lang="zh-CN" sz="1120" dirty="0">
                  <a:solidFill>
                    <a:schemeClr val="dk1"/>
                  </a:solidFill>
                  <a:latin typeface="+mn-lt"/>
                  <a:ea typeface="+mn-ea"/>
                  <a:cs typeface="+mn-cs"/>
                </a:rPr>
                <a:t>在储库中停留的平均时间</a:t>
              </a:r>
            </a:p>
          </p:txBody>
        </p:sp>
        <p:sp>
          <p:nvSpPr>
            <p:cNvPr id="38" name="TextBox 38"/>
            <p:cNvSpPr txBox="1"/>
            <p:nvPr/>
          </p:nvSpPr>
          <p:spPr>
            <a:xfrm>
              <a:off x="757047" y="5323999"/>
              <a:ext cx="1197254" cy="190690"/>
            </a:xfrm>
            <a:prstGeom prst="rect">
              <a:avLst/>
            </a:prstGeom>
            <a:noFill/>
            <a:ln>
              <a:noFill/>
            </a:ln>
          </p:spPr>
          <p:txBody>
            <a:bodyPr wrap="none" lIns="0" tIns="0" rIns="0" bIns="0" anchor="t" anchorCtr="0">
              <a:spAutoFit/>
            </a:bodyPr>
            <a:lstStyle/>
            <a:p>
              <a:pPr algn="l"/>
              <a:r>
                <a:rPr lang="zh-CN" sz="980" dirty="0">
                  <a:solidFill>
                    <a:schemeClr val="accent5"/>
                  </a:solidFill>
                  <a:latin typeface="+mn-lt"/>
                  <a:ea typeface="+mn-ea"/>
                  <a:cs typeface="+mn-cs"/>
                </a:rPr>
                <a:t>大储库不一定更新快</a:t>
              </a:r>
            </a:p>
          </p:txBody>
        </p:sp>
      </p:grpSp>
      <p:grpSp>
        <p:nvGrpSpPr>
          <p:cNvPr id="49" name="Group 49"/>
          <p:cNvGrpSpPr/>
          <p:nvPr/>
        </p:nvGrpSpPr>
        <p:grpSpPr>
          <a:xfrm>
            <a:off x="6191250" y="3676650"/>
            <a:ext cx="5619750" cy="2000250"/>
            <a:chOff x="6191250" y="3676650"/>
            <a:chExt cx="5619750" cy="2000250"/>
          </a:xfrm>
        </p:grpSpPr>
        <p:sp>
          <p:nvSpPr>
            <p:cNvPr id="40" name="Rectangle 40"/>
            <p:cNvSpPr/>
            <p:nvPr/>
          </p:nvSpPr>
          <p:spPr>
            <a:xfrm>
              <a:off x="6191250" y="3676650"/>
              <a:ext cx="5619750" cy="2000250"/>
            </a:xfrm>
            <a:prstGeom prst="roundRect">
              <a:avLst>
                <a:gd name="adj" fmla="val 5714"/>
              </a:avLst>
            </a:prstGeom>
            <a:solidFill>
              <a:srgbClr val="FDF4EF"/>
            </a:solidFill>
            <a:ln w="9525">
              <a:solidFill>
                <a:srgbClr val="F0CFC2"/>
              </a:solidFill>
            </a:ln>
          </p:spPr>
        </p:sp>
        <p:sp>
          <p:nvSpPr>
            <p:cNvPr id="41" name="Ellipse 41"/>
            <p:cNvSpPr/>
            <p:nvPr/>
          </p:nvSpPr>
          <p:spPr>
            <a:xfrm>
              <a:off x="6400800" y="3981450"/>
              <a:ext cx="457200" cy="457200"/>
            </a:xfrm>
            <a:prstGeom prst="ellipse">
              <a:avLst/>
            </a:prstGeom>
            <a:solidFill>
              <a:schemeClr val="accent3"/>
            </a:solidFill>
            <a:ln>
              <a:noFill/>
            </a:ln>
          </p:spPr>
        </p:sp>
        <p:sp>
          <p:nvSpPr>
            <p:cNvPr id="42" name="TextBox 42"/>
            <p:cNvSpPr txBox="1"/>
            <p:nvPr/>
          </p:nvSpPr>
          <p:spPr>
            <a:xfrm>
              <a:off x="6559982" y="4116229"/>
              <a:ext cx="138836" cy="308039"/>
            </a:xfrm>
            <a:prstGeom prst="rect">
              <a:avLst/>
            </a:prstGeom>
            <a:noFill/>
            <a:ln>
              <a:noFill/>
            </a:ln>
          </p:spPr>
          <p:txBody>
            <a:bodyPr wrap="none" lIns="0" tIns="0" rIns="0" bIns="0" anchor="t" anchorCtr="0">
              <a:spAutoFit/>
            </a:bodyPr>
            <a:lstStyle/>
            <a:p>
              <a:pPr algn="ctr"/>
              <a:r>
                <a:rPr lang="zh-CN" sz="1580" b="1" dirty="0">
                  <a:solidFill>
                    <a:srgbClr val="FFFFFF"/>
                  </a:solidFill>
                  <a:latin typeface="+mn-lt"/>
                  <a:ea typeface="+mn-ea"/>
                  <a:cs typeface="+mn-cs"/>
                </a:rPr>
                <a:t>4</a:t>
              </a:r>
            </a:p>
          </p:txBody>
        </p:sp>
        <p:sp>
          <p:nvSpPr>
            <p:cNvPr id="43" name="TextBox 43"/>
            <p:cNvSpPr txBox="1"/>
            <p:nvPr/>
          </p:nvSpPr>
          <p:spPr>
            <a:xfrm>
              <a:off x="7022211" y="3960971"/>
              <a:ext cx="903888" cy="278702"/>
            </a:xfrm>
            <a:prstGeom prst="rect">
              <a:avLst/>
            </a:prstGeom>
            <a:noFill/>
            <a:ln>
              <a:noFill/>
            </a:ln>
          </p:spPr>
          <p:txBody>
            <a:bodyPr wrap="none" lIns="0" tIns="0" rIns="0" bIns="0" anchor="t" anchorCtr="0">
              <a:spAutoFit/>
            </a:bodyPr>
            <a:lstStyle/>
            <a:p>
              <a:pPr algn="l"/>
              <a:r>
                <a:rPr lang="zh-CN" sz="1420" b="1" dirty="0">
                  <a:solidFill>
                    <a:srgbClr val="C2410C"/>
                  </a:solidFill>
                  <a:latin typeface="+mn-lt"/>
                  <a:ea typeface="+mn-ea"/>
                  <a:cs typeface="+mn-cs"/>
                </a:rPr>
                <a:t>Feedback</a:t>
              </a:r>
            </a:p>
          </p:txBody>
        </p:sp>
        <p:sp>
          <p:nvSpPr>
            <p:cNvPr id="44" name="TextBox 44"/>
            <p:cNvSpPr txBox="1"/>
            <p:nvPr/>
          </p:nvSpPr>
          <p:spPr>
            <a:xfrm>
              <a:off x="7023354" y="4232910"/>
              <a:ext cx="335280" cy="234696"/>
            </a:xfrm>
            <a:prstGeom prst="rect">
              <a:avLst/>
            </a:prstGeom>
            <a:noFill/>
            <a:ln>
              <a:noFill/>
            </a:ln>
          </p:spPr>
          <p:txBody>
            <a:bodyPr wrap="none" lIns="0" tIns="0" rIns="0" bIns="0" anchor="t" anchorCtr="0">
              <a:spAutoFit/>
            </a:bodyPr>
            <a:lstStyle/>
            <a:p>
              <a:pPr algn="l"/>
              <a:r>
                <a:rPr lang="zh-CN" sz="1200" b="1" dirty="0">
                  <a:solidFill>
                    <a:schemeClr val="dk1"/>
                  </a:solidFill>
                  <a:latin typeface="+mn-lt"/>
                  <a:ea typeface="+mn-ea"/>
                  <a:cs typeface="+mn-cs"/>
                </a:rPr>
                <a:t>反馈</a:t>
              </a:r>
            </a:p>
          </p:txBody>
        </p:sp>
        <p:sp>
          <p:nvSpPr>
            <p:cNvPr id="45" name="TextBox 45"/>
            <p:cNvSpPr txBox="1"/>
            <p:nvPr/>
          </p:nvSpPr>
          <p:spPr>
            <a:xfrm>
              <a:off x="9353226" y="4257199"/>
              <a:ext cx="2081727" cy="190690"/>
            </a:xfrm>
            <a:prstGeom prst="rect">
              <a:avLst/>
            </a:prstGeom>
            <a:noFill/>
            <a:ln>
              <a:noFill/>
            </a:ln>
          </p:spPr>
          <p:txBody>
            <a:bodyPr wrap="none" lIns="0" tIns="0" rIns="0" bIns="0" anchor="t" anchorCtr="0">
              <a:spAutoFit/>
            </a:bodyPr>
            <a:lstStyle/>
            <a:p>
              <a:pPr algn="r"/>
              <a:r>
                <a:rPr lang="zh-CN" sz="980" b="1" dirty="0">
                  <a:solidFill>
                    <a:srgbClr val="C2410C"/>
                  </a:solidFill>
                  <a:latin typeface="+mn-lt"/>
                  <a:ea typeface="+mn-ea"/>
                  <a:cs typeface="+mn-cs"/>
                </a:rPr>
                <a:t>方向如何 · Amplifies or opposes</a:t>
              </a:r>
            </a:p>
          </p:txBody>
        </p:sp>
        <p:sp>
          <p:nvSpPr>
            <p:cNvPr id="46" name="Line 46"/>
            <p:cNvSpPr/>
            <p:nvPr/>
          </p:nvSpPr>
          <p:spPr>
            <a:xfrm>
              <a:off x="6572250" y="4572000"/>
              <a:ext cx="4857750" cy="9525"/>
            </a:xfrm>
            <a:custGeom>
              <a:avLst/>
              <a:gdLst/>
              <a:ahLst/>
              <a:cxnLst/>
              <a:rect l="l" t="t" r="r" b="b"/>
              <a:pathLst>
                <a:path w="4857750" h="9525">
                  <a:moveTo>
                    <a:pt x="0" y="0"/>
                  </a:moveTo>
                  <a:lnTo>
                    <a:pt x="4857750" y="0"/>
                  </a:lnTo>
                </a:path>
              </a:pathLst>
            </a:custGeom>
            <a:noFill/>
            <a:ln w="9525">
              <a:solidFill>
                <a:srgbClr val="F0CFC2"/>
              </a:solidFill>
            </a:ln>
          </p:spPr>
        </p:sp>
        <p:sp>
          <p:nvSpPr>
            <p:cNvPr id="47" name="TextBox 47"/>
            <p:cNvSpPr txBox="1"/>
            <p:nvPr/>
          </p:nvSpPr>
          <p:spPr>
            <a:xfrm>
              <a:off x="6566535" y="4793456"/>
              <a:ext cx="1718310" cy="467678"/>
            </a:xfrm>
            <a:prstGeom prst="rect">
              <a:avLst/>
            </a:prstGeom>
            <a:noFill/>
            <a:ln>
              <a:noFill/>
            </a:ln>
          </p:spPr>
          <p:txBody>
            <a:bodyPr wrap="none" lIns="0" tIns="0" rIns="0" bIns="0" anchor="t" anchorCtr="0">
              <a:spAutoFit/>
            </a:bodyPr>
            <a:lstStyle/>
            <a:p>
              <a:pPr algn="l">
                <a:lnSpc>
                  <a:spcPts val="1950"/>
                </a:lnSpc>
              </a:pPr>
              <a:r>
                <a:rPr lang="zh-CN" sz="1120" dirty="0">
                  <a:solidFill>
                    <a:schemeClr val="dk1"/>
                  </a:solidFill>
                  <a:latin typeface="+mn-lt"/>
                  <a:ea typeface="+mn-ea"/>
                  <a:cs typeface="+mn-cs"/>
                </a:rPr>
                <a:t>系统变化诱发的过程反过来</a:t>
              </a:r>
              <a:br/>
              <a:r>
                <a:rPr lang="zh-CN" sz="1120" dirty="0">
                  <a:solidFill>
                    <a:schemeClr val="dk1"/>
                  </a:solidFill>
                  <a:latin typeface="+mn-lt"/>
                  <a:ea typeface="+mn-ea"/>
                  <a:cs typeface="+mn-cs"/>
                </a:rPr>
                <a:t>影响初始变化</a:t>
              </a:r>
            </a:p>
          </p:txBody>
        </p:sp>
        <p:sp>
          <p:nvSpPr>
            <p:cNvPr id="48" name="TextBox 48"/>
            <p:cNvSpPr txBox="1"/>
            <p:nvPr/>
          </p:nvSpPr>
          <p:spPr>
            <a:xfrm>
              <a:off x="6567297" y="5323999"/>
              <a:ext cx="2345025" cy="190690"/>
            </a:xfrm>
            <a:prstGeom prst="rect">
              <a:avLst/>
            </a:prstGeom>
            <a:noFill/>
            <a:ln>
              <a:noFill/>
            </a:ln>
          </p:spPr>
          <p:txBody>
            <a:bodyPr wrap="none" lIns="0" tIns="0" rIns="0" bIns="0" anchor="t" anchorCtr="0">
              <a:spAutoFit/>
            </a:bodyPr>
            <a:lstStyle/>
            <a:p>
              <a:pPr algn="l"/>
              <a:r>
                <a:rPr lang="zh-CN" sz="980" dirty="0">
                  <a:solidFill>
                    <a:srgbClr val="7A4A33"/>
                  </a:solidFill>
                  <a:latin typeface="+mn-lt"/>
                  <a:ea typeface="+mn-ea"/>
                  <a:cs typeface="+mn-cs"/>
                </a:rPr>
                <a:t>正（放大）· 负（抑制）· 第三部分展开</a:t>
              </a:r>
            </a:p>
          </p:txBody>
        </p:sp>
      </p:grpSp>
      <p:grpSp>
        <p:nvGrpSpPr>
          <p:cNvPr id="52" name="Group 52"/>
          <p:cNvGrpSpPr/>
          <p:nvPr/>
        </p:nvGrpSpPr>
        <p:grpSpPr>
          <a:xfrm>
            <a:off x="381000" y="5867400"/>
            <a:ext cx="11430000" cy="419100"/>
            <a:chOff x="381000" y="5867400"/>
            <a:chExt cx="11430000" cy="419100"/>
          </a:xfrm>
        </p:grpSpPr>
        <p:sp>
          <p:nvSpPr>
            <p:cNvPr id="50" name="Rectangle 50"/>
            <p:cNvSpPr/>
            <p:nvPr/>
          </p:nvSpPr>
          <p:spPr>
            <a:xfrm>
              <a:off x="381000" y="5867400"/>
              <a:ext cx="11430000" cy="419100"/>
            </a:xfrm>
            <a:prstGeom prst="roundRect">
              <a:avLst>
                <a:gd name="adj" fmla="val 27273"/>
              </a:avLst>
            </a:prstGeom>
            <a:solidFill>
              <a:srgbClr val="F0F5FC"/>
            </a:solidFill>
            <a:ln>
              <a:noFill/>
            </a:ln>
          </p:spPr>
        </p:sp>
        <p:sp>
          <p:nvSpPr>
            <p:cNvPr id="51" name="TextBox 51"/>
            <p:cNvSpPr txBox="1"/>
            <p:nvPr/>
          </p:nvSpPr>
          <p:spPr>
            <a:xfrm>
              <a:off x="680085" y="6012656"/>
              <a:ext cx="5454386" cy="220028"/>
            </a:xfrm>
            <a:prstGeom prst="rect">
              <a:avLst/>
            </a:prstGeom>
            <a:noFill/>
            <a:ln>
              <a:noFill/>
            </a:ln>
          </p:spPr>
          <p:txBody>
            <a:bodyPr wrap="none" lIns="0" tIns="0" rIns="0" bIns="0" anchor="t" anchorCtr="0">
              <a:spAutoFit/>
            </a:bodyPr>
            <a:lstStyle/>
            <a:p>
              <a:pPr algn="l"/>
              <a:r>
                <a:rPr lang="zh-CN" sz="1120" dirty="0">
                  <a:solidFill>
                    <a:schemeClr val="dk1"/>
                  </a:solidFill>
                  <a:latin typeface="+mn-lt"/>
                  <a:ea typeface="+mn-ea"/>
                  <a:cs typeface="+mn-cs"/>
                </a:rPr>
                <a:t>同一套词读两个循环：从</a:t>
              </a:r>
              <a:r>
                <a:rPr lang="zh-CN" sz="1120" b="1" dirty="0">
                  <a:solidFill>
                    <a:schemeClr val="accent2"/>
                  </a:solidFill>
                  <a:latin typeface="+mn-lt"/>
                  <a:ea typeface="+mn-ea"/>
                  <a:cs typeface="+mn-cs"/>
                </a:rPr>
                <a:t>水循环</a:t>
              </a:r>
              <a:r>
                <a:rPr lang="zh-CN" sz="1120" dirty="0">
                  <a:solidFill>
                    <a:schemeClr val="dk1"/>
                  </a:solidFill>
                  <a:latin typeface="+mn-lt"/>
                  <a:ea typeface="+mn-ea"/>
                  <a:cs typeface="+mn-cs"/>
                </a:rPr>
                <a:t>到</a:t>
              </a:r>
              <a:r>
                <a:rPr lang="zh-CN" sz="1120" b="1" dirty="0">
                  <a:solidFill>
                    <a:schemeClr val="accent3"/>
                  </a:solidFill>
                  <a:latin typeface="+mn-lt"/>
                  <a:ea typeface="+mn-ea"/>
                  <a:cs typeface="+mn-cs"/>
                </a:rPr>
                <a:t>碳循环</a:t>
              </a:r>
              <a:r>
                <a:rPr lang="zh-CN" sz="1120" dirty="0">
                  <a:solidFill>
                    <a:schemeClr val="dk1"/>
                  </a:solidFill>
                  <a:latin typeface="+mn-lt"/>
                  <a:ea typeface="+mn-ea"/>
                  <a:cs typeface="+mn-cs"/>
                </a:rPr>
                <a:t> · 稳态 steady state 可以包含持续通量</a:t>
              </a:r>
            </a:p>
          </p:txBody>
        </p:sp>
      </p:grpSp>
      <p:sp>
        <p:nvSpPr>
          <p:cNvPr id="53" name="TextBox 53"/>
          <p:cNvSpPr txBox="1"/>
          <p:nvPr/>
        </p:nvSpPr>
        <p:spPr>
          <a:xfrm>
            <a:off x="376238" y="6532245"/>
            <a:ext cx="5306084" cy="176212"/>
          </a:xfrm>
          <a:prstGeom prst="rect">
            <a:avLst/>
          </a:prstGeom>
          <a:noFill/>
          <a:ln>
            <a:noFill/>
          </a:ln>
        </p:spPr>
        <p:txBody>
          <a:bodyPr wrap="none" lIns="0" tIns="0" rIns="0" bIns="0" anchor="t" anchorCtr="0">
            <a:spAutoFit/>
          </a:bodyPr>
          <a:lstStyle/>
          <a:p>
            <a:pPr algn="l"/>
            <a:r>
              <a:rPr lang="zh-CN" sz="900" dirty="0">
                <a:solidFill>
                  <a:schemeClr val="accent5"/>
                </a:solidFill>
                <a:latin typeface="+mn-lt"/>
                <a:ea typeface="+mn-ea"/>
                <a:cs typeface="+mn-cs"/>
              </a:rPr>
              <a:t>Source: UE 8e, Ch.12, PDF p.1205; Ch.17, PDF pp.1647–1650; EP 5e, Ch.23, PDF p.881.</a:t>
            </a:r>
          </a:p>
        </p:txBody>
      </p:sp>
      <p:sp>
        <p:nvSpPr>
          <p:cNvPr id="54" name="TextBox 54"/>
          <p:cNvSpPr txBox="1"/>
          <p:nvPr/>
        </p:nvSpPr>
        <p:spPr>
          <a:xfrm>
            <a:off x="11672964" y="6532245"/>
            <a:ext cx="142799" cy="176212"/>
          </a:xfrm>
          <a:prstGeom prst="rect">
            <a:avLst/>
          </a:prstGeom>
          <a:noFill/>
          <a:ln>
            <a:noFill/>
          </a:ln>
        </p:spPr>
        <p:txBody>
          <a:bodyPr wrap="none" lIns="0" tIns="0" rIns="0" bIns="0" anchor="t" anchorCtr="0">
            <a:spAutoFit/>
          </a:bodyPr>
          <a:lstStyle/>
          <a:p>
            <a:pPr algn="r"/>
            <a:r>
              <a:rPr lang="zh-CN" sz="900" dirty="0">
                <a:solidFill>
                  <a:schemeClr val="accent5"/>
                </a:solidFill>
                <a:latin typeface="+mn-lt"/>
                <a:ea typeface="+mn-ea"/>
                <a:cs typeface="+mn-cs"/>
              </a:rPr>
              <a:t>05</a:t>
            </a:r>
          </a:p>
        </p:txBody>
      </p:sp>
    </p:spTree>
    <p:extLst>
      <p:ext uri="{BB962C8B-B14F-4D97-AF65-F5344CB8AC3E}">
        <p14:creationId xmlns:p14="http://schemas.microsoft.com/office/powerpoint/2010/main" val="3313033754"/>
      </p:ext>
    </p:extLst>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5"/>
          <p:cNvGrpSpPr/>
          <p:nvPr/>
        </p:nvGrpSpPr>
        <p:grpSpPr>
          <a:xfrm>
            <a:off x="0" y="0"/>
            <a:ext cx="12192000" cy="685800"/>
            <a:chOff x="0" y="0"/>
            <a:chExt cx="12192000" cy="685800"/>
          </a:xfrm>
        </p:grpSpPr>
        <p:sp>
          <p:nvSpPr>
            <p:cNvPr id="2" name="Rectangle 2"/>
            <p:cNvSpPr/>
            <p:nvPr/>
          </p:nvSpPr>
          <p:spPr>
            <a:xfrm>
              <a:off x="0" y="0"/>
              <a:ext cx="12192000" cy="685800"/>
            </a:xfrm>
            <a:prstGeom prst="rect">
              <a:avLst/>
            </a:prstGeom>
            <a:solidFill>
              <a:schemeClr val="accent1"/>
            </a:solidFill>
            <a:ln>
              <a:noFill/>
            </a:ln>
          </p:spPr>
        </p:sp>
        <p:sp>
          <p:nvSpPr>
            <p:cNvPr id="3" name="TextBox 3"/>
            <p:cNvSpPr txBox="1"/>
            <p:nvPr/>
          </p:nvSpPr>
          <p:spPr>
            <a:xfrm>
              <a:off x="374142" y="282892"/>
              <a:ext cx="4364940" cy="264033"/>
            </a:xfrm>
            <a:prstGeom prst="rect">
              <a:avLst/>
            </a:prstGeom>
            <a:noFill/>
            <a:ln>
              <a:noFill/>
            </a:ln>
          </p:spPr>
          <p:txBody>
            <a:bodyPr wrap="none" lIns="0" tIns="0" rIns="0" bIns="0" anchor="t" anchorCtr="0">
              <a:spAutoFit/>
            </a:bodyPr>
            <a:lstStyle/>
            <a:p>
              <a:pPr algn="l"/>
              <a:r>
                <a:rPr lang="zh-CN" sz="1350" b="1" dirty="0">
                  <a:solidFill>
                    <a:srgbClr val="FFFFFF"/>
                  </a:solidFill>
                  <a:latin typeface="+mn-lt"/>
                  <a:ea typeface="+mn-ea"/>
                  <a:cs typeface="+mn-cs"/>
                </a:rPr>
                <a:t>1.3 地球的水在哪里？ | Where Is Earth's Water?</a:t>
              </a:r>
            </a:p>
          </p:txBody>
        </p:sp>
        <p:sp>
          <p:nvSpPr>
            <p:cNvPr id="4" name="TextBox 4"/>
            <p:cNvSpPr txBox="1"/>
            <p:nvPr/>
          </p:nvSpPr>
          <p:spPr>
            <a:xfrm>
              <a:off x="10780776" y="299085"/>
              <a:ext cx="1036320" cy="234696"/>
            </a:xfrm>
            <a:prstGeom prst="rect">
              <a:avLst/>
            </a:prstGeom>
            <a:noFill/>
            <a:ln>
              <a:noFill/>
            </a:ln>
          </p:spPr>
          <p:txBody>
            <a:bodyPr wrap="none" lIns="0" tIns="0" rIns="0" bIns="0" anchor="t" anchorCtr="0">
              <a:spAutoFit/>
            </a:bodyPr>
            <a:lstStyle/>
            <a:p>
              <a:pPr algn="r"/>
              <a:r>
                <a:rPr lang="zh-CN" sz="1200" dirty="0">
                  <a:solidFill>
                    <a:srgbClr val="C7D7F2"/>
                  </a:solidFill>
                  <a:latin typeface="+mn-lt"/>
                  <a:ea typeface="+mn-ea"/>
                  <a:cs typeface="+mn-cs"/>
                </a:rPr>
                <a:t>WATER CYCLE</a:t>
              </a:r>
            </a:p>
          </p:txBody>
        </p:sp>
      </p:grpSp>
      <p:grpSp>
        <p:nvGrpSpPr>
          <p:cNvPr id="8" name="Group 8"/>
          <p:cNvGrpSpPr/>
          <p:nvPr/>
        </p:nvGrpSpPr>
        <p:grpSpPr>
          <a:xfrm>
            <a:off x="381000" y="914400"/>
            <a:ext cx="6347739" cy="357093"/>
            <a:chOff x="381000" y="914400"/>
            <a:chExt cx="6347739" cy="357093"/>
          </a:xfrm>
        </p:grpSpPr>
        <p:sp>
          <p:nvSpPr>
            <p:cNvPr id="6" name="Rectangle 6"/>
            <p:cNvSpPr/>
            <p:nvPr/>
          </p:nvSpPr>
          <p:spPr>
            <a:xfrm>
              <a:off x="381000" y="914400"/>
              <a:ext cx="57150" cy="266700"/>
            </a:xfrm>
            <a:prstGeom prst="roundRect">
              <a:avLst>
                <a:gd name="adj" fmla="val 50000"/>
              </a:avLst>
            </a:prstGeom>
            <a:solidFill>
              <a:schemeClr val="accent2"/>
            </a:solidFill>
            <a:ln>
              <a:noFill/>
            </a:ln>
          </p:spPr>
        </p:sp>
        <p:sp>
          <p:nvSpPr>
            <p:cNvPr id="7" name="TextBox 7"/>
            <p:cNvSpPr txBox="1"/>
            <p:nvPr/>
          </p:nvSpPr>
          <p:spPr>
            <a:xfrm>
              <a:off x="544449" y="963454"/>
              <a:ext cx="6184290" cy="308039"/>
            </a:xfrm>
            <a:prstGeom prst="rect">
              <a:avLst/>
            </a:prstGeom>
            <a:noFill/>
            <a:ln>
              <a:noFill/>
            </a:ln>
          </p:spPr>
          <p:txBody>
            <a:bodyPr wrap="none" lIns="0" tIns="0" rIns="0" bIns="0" anchor="t" anchorCtr="0">
              <a:spAutoFit/>
            </a:bodyPr>
            <a:lstStyle/>
            <a:p>
              <a:pPr algn="l"/>
              <a:r>
                <a:rPr lang="zh-CN" sz="1580" b="1" dirty="0">
                  <a:solidFill>
                    <a:schemeClr val="accent1"/>
                  </a:solidFill>
                  <a:latin typeface="+mn-lt"/>
                  <a:ea typeface="+mn-ea"/>
                  <a:cs typeface="+mn-cs"/>
                </a:rPr>
                <a:t>地球水的分布极不均匀：海洋占绝对多数，易利用的表层淡水极少</a:t>
              </a:r>
            </a:p>
          </p:txBody>
        </p:sp>
      </p:grpSp>
      <p:grpSp>
        <p:nvGrpSpPr>
          <p:cNvPr id="44" name="Group 44"/>
          <p:cNvGrpSpPr/>
          <p:nvPr/>
        </p:nvGrpSpPr>
        <p:grpSpPr>
          <a:xfrm>
            <a:off x="381000" y="1447800"/>
            <a:ext cx="6724650" cy="4781550"/>
            <a:chOff x="381000" y="1447800"/>
            <a:chExt cx="6724650" cy="4781550"/>
          </a:xfrm>
        </p:grpSpPr>
        <p:sp>
          <p:nvSpPr>
            <p:cNvPr id="9" name="Rectangle 9"/>
            <p:cNvSpPr/>
            <p:nvPr/>
          </p:nvSpPr>
          <p:spPr>
            <a:xfrm>
              <a:off x="381000" y="1447800"/>
              <a:ext cx="6724650" cy="4781550"/>
            </a:xfrm>
            <a:prstGeom prst="roundRect">
              <a:avLst>
                <a:gd name="adj" fmla="val 2390"/>
              </a:avLst>
            </a:prstGeom>
            <a:solidFill>
              <a:schemeClr val="lt2"/>
            </a:solidFill>
            <a:ln w="9525">
              <a:solidFill>
                <a:schemeClr val="accent6"/>
              </a:solidFill>
            </a:ln>
          </p:spPr>
        </p:sp>
        <p:sp>
          <p:nvSpPr>
            <p:cNvPr id="10" name="TextBox 10"/>
            <p:cNvSpPr txBox="1"/>
            <p:nvPr/>
          </p:nvSpPr>
          <p:spPr>
            <a:xfrm>
              <a:off x="603504" y="1642110"/>
              <a:ext cx="3797674" cy="234696"/>
            </a:xfrm>
            <a:prstGeom prst="rect">
              <a:avLst/>
            </a:prstGeom>
            <a:noFill/>
            <a:ln>
              <a:noFill/>
            </a:ln>
          </p:spPr>
          <p:txBody>
            <a:bodyPr wrap="none" lIns="0" tIns="0" rIns="0" bIns="0" anchor="t" anchorCtr="0">
              <a:spAutoFit/>
            </a:bodyPr>
            <a:lstStyle/>
            <a:p>
              <a:pPr algn="l"/>
              <a:r>
                <a:rPr lang="zh-CN" sz="1200" b="1" dirty="0">
                  <a:solidFill>
                    <a:schemeClr val="accent1"/>
                  </a:solidFill>
                  <a:latin typeface="+mn-lt"/>
                  <a:ea typeface="+mn-ea"/>
                  <a:cs typeface="+mn-cs"/>
                </a:rPr>
                <a:t>全球水储库分布 | Distribution of Earth's water</a:t>
              </a:r>
            </a:p>
          </p:txBody>
        </p:sp>
        <p:grpSp>
          <p:nvGrpSpPr>
            <p:cNvPr id="42" name="Group 42"/>
            <p:cNvGrpSpPr/>
            <p:nvPr/>
          </p:nvGrpSpPr>
          <p:grpSpPr>
            <a:xfrm>
              <a:off x="603885" y="1943100"/>
              <a:ext cx="6139815" cy="3584257"/>
              <a:chOff x="603885" y="1943100"/>
              <a:chExt cx="6139815" cy="3584257"/>
            </a:xfrm>
          </p:grpSpPr>
          <p:sp>
            <p:nvSpPr>
              <p:cNvPr id="11" name="Line 11"/>
              <p:cNvSpPr/>
              <p:nvPr/>
            </p:nvSpPr>
            <p:spPr>
              <a:xfrm>
                <a:off x="2552700" y="1943100"/>
                <a:ext cx="9525" cy="3562350"/>
              </a:xfrm>
              <a:custGeom>
                <a:avLst/>
                <a:gdLst/>
                <a:ahLst/>
                <a:cxnLst/>
                <a:rect l="l" t="t" r="r" b="b"/>
                <a:pathLst>
                  <a:path w="9525" h="3562350">
                    <a:moveTo>
                      <a:pt x="0" y="0"/>
                    </a:moveTo>
                    <a:lnTo>
                      <a:pt x="0" y="3562350"/>
                    </a:lnTo>
                  </a:path>
                </a:pathLst>
              </a:custGeom>
              <a:noFill/>
              <a:ln w="9525">
                <a:solidFill>
                  <a:srgbClr val="B8C7DC"/>
                </a:solidFill>
              </a:ln>
            </p:spPr>
          </p:sp>
          <p:grpSp>
            <p:nvGrpSpPr>
              <p:cNvPr id="16" name="Group 16"/>
              <p:cNvGrpSpPr/>
              <p:nvPr/>
            </p:nvGrpSpPr>
            <p:grpSpPr>
              <a:xfrm>
                <a:off x="603885" y="2012156"/>
                <a:ext cx="6139815" cy="371951"/>
                <a:chOff x="603885" y="2012156"/>
                <a:chExt cx="6139815" cy="371951"/>
              </a:xfrm>
            </p:grpSpPr>
            <p:sp>
              <p:nvSpPr>
                <p:cNvPr id="12" name="TextBox 12"/>
                <p:cNvSpPr txBox="1"/>
                <p:nvPr/>
              </p:nvSpPr>
              <p:spPr>
                <a:xfrm>
                  <a:off x="603885" y="2012156"/>
                  <a:ext cx="312979" cy="220028"/>
                </a:xfrm>
                <a:prstGeom prst="rect">
                  <a:avLst/>
                </a:prstGeom>
                <a:noFill/>
                <a:ln>
                  <a:noFill/>
                </a:ln>
              </p:spPr>
              <p:txBody>
                <a:bodyPr wrap="none" lIns="0" tIns="0" rIns="0" bIns="0" anchor="t" anchorCtr="0">
                  <a:spAutoFit/>
                </a:bodyPr>
                <a:lstStyle/>
                <a:p>
                  <a:pPr algn="l"/>
                  <a:r>
                    <a:rPr lang="zh-CN" sz="1120" dirty="0">
                      <a:solidFill>
                        <a:schemeClr val="dk1"/>
                      </a:solidFill>
                      <a:latin typeface="+mn-lt"/>
                      <a:ea typeface="+mn-ea"/>
                      <a:cs typeface="+mn-cs"/>
                    </a:rPr>
                    <a:t>海洋</a:t>
                  </a:r>
                </a:p>
              </p:txBody>
            </p:sp>
            <p:sp>
              <p:nvSpPr>
                <p:cNvPr id="13" name="TextBox 13"/>
                <p:cNvSpPr txBox="1"/>
                <p:nvPr/>
              </p:nvSpPr>
              <p:spPr>
                <a:xfrm>
                  <a:off x="604838" y="2207895"/>
                  <a:ext cx="777621" cy="176212"/>
                </a:xfrm>
                <a:prstGeom prst="rect">
                  <a:avLst/>
                </a:prstGeom>
                <a:noFill/>
                <a:ln>
                  <a:noFill/>
                </a:ln>
              </p:spPr>
              <p:txBody>
                <a:bodyPr wrap="none" lIns="0" tIns="0" rIns="0" bIns="0" anchor="t" anchorCtr="0">
                  <a:spAutoFit/>
                </a:bodyPr>
                <a:lstStyle/>
                <a:p>
                  <a:pPr algn="l"/>
                  <a:r>
                    <a:rPr lang="zh-CN" sz="900" dirty="0">
                      <a:solidFill>
                        <a:schemeClr val="accent5"/>
                      </a:solidFill>
                      <a:latin typeface="+mn-lt"/>
                      <a:ea typeface="+mn-ea"/>
                      <a:cs typeface="+mn-cs"/>
                    </a:rPr>
                    <a:t>Ocean &amp; seas</a:t>
                  </a:r>
                </a:p>
              </p:txBody>
            </p:sp>
            <p:sp>
              <p:nvSpPr>
                <p:cNvPr id="14" name="Rectangle 14"/>
                <p:cNvSpPr/>
                <p:nvPr/>
              </p:nvSpPr>
              <p:spPr>
                <a:xfrm>
                  <a:off x="2552700" y="2019300"/>
                  <a:ext cx="4191000" cy="266700"/>
                </a:xfrm>
                <a:prstGeom prst="rect">
                  <a:avLst/>
                </a:prstGeom>
                <a:solidFill>
                  <a:schemeClr val="accent1"/>
                </a:solidFill>
                <a:ln>
                  <a:noFill/>
                </a:ln>
              </p:spPr>
            </p:sp>
            <p:sp>
              <p:nvSpPr>
                <p:cNvPr id="15" name="TextBox 15"/>
                <p:cNvSpPr txBox="1"/>
                <p:nvPr/>
              </p:nvSpPr>
              <p:spPr>
                <a:xfrm>
                  <a:off x="4996790" y="2095024"/>
                  <a:ext cx="1637563" cy="190690"/>
                </a:xfrm>
                <a:prstGeom prst="rect">
                  <a:avLst/>
                </a:prstGeom>
                <a:noFill/>
                <a:ln>
                  <a:noFill/>
                </a:ln>
              </p:spPr>
              <p:txBody>
                <a:bodyPr wrap="none" lIns="0" tIns="0" rIns="0" bIns="0" anchor="t" anchorCtr="0">
                  <a:spAutoFit/>
                </a:bodyPr>
                <a:lstStyle/>
                <a:p>
                  <a:pPr algn="r"/>
                  <a:r>
                    <a:rPr lang="zh-CN" sz="980" b="1" dirty="0">
                      <a:solidFill>
                        <a:srgbClr val="FFFFFF"/>
                      </a:solidFill>
                      <a:latin typeface="+mn-lt"/>
                      <a:ea typeface="+mn-ea"/>
                      <a:cs typeface="+mn-cs"/>
                    </a:rPr>
                    <a:t>95.96% · 1.40×10^9 km³</a:t>
                  </a:r>
                </a:p>
              </p:txBody>
            </p:sp>
          </p:grpSp>
          <p:grpSp>
            <p:nvGrpSpPr>
              <p:cNvPr id="21" name="Group 21"/>
              <p:cNvGrpSpPr/>
              <p:nvPr/>
            </p:nvGrpSpPr>
            <p:grpSpPr>
              <a:xfrm>
                <a:off x="603885" y="2640806"/>
                <a:ext cx="3659957" cy="371951"/>
                <a:chOff x="603885" y="2640806"/>
                <a:chExt cx="3659957" cy="371951"/>
              </a:xfrm>
            </p:grpSpPr>
            <p:sp>
              <p:nvSpPr>
                <p:cNvPr id="17" name="TextBox 17"/>
                <p:cNvSpPr txBox="1"/>
                <p:nvPr/>
              </p:nvSpPr>
              <p:spPr>
                <a:xfrm>
                  <a:off x="603885" y="2640806"/>
                  <a:ext cx="916076" cy="220028"/>
                </a:xfrm>
                <a:prstGeom prst="rect">
                  <a:avLst/>
                </a:prstGeom>
                <a:noFill/>
                <a:ln>
                  <a:noFill/>
                </a:ln>
              </p:spPr>
              <p:txBody>
                <a:bodyPr wrap="none" lIns="0" tIns="0" rIns="0" bIns="0" anchor="t" anchorCtr="0">
                  <a:spAutoFit/>
                </a:bodyPr>
                <a:lstStyle/>
                <a:p>
                  <a:pPr algn="l"/>
                  <a:r>
                    <a:rPr lang="zh-CN" sz="1120" dirty="0">
                      <a:solidFill>
                        <a:schemeClr val="dk1"/>
                      </a:solidFill>
                      <a:latin typeface="+mn-lt"/>
                      <a:ea typeface="+mn-ea"/>
                      <a:cs typeface="+mn-cs"/>
                    </a:rPr>
                    <a:t>冰川与极地冰</a:t>
                  </a:r>
                </a:p>
              </p:txBody>
            </p:sp>
            <p:sp>
              <p:nvSpPr>
                <p:cNvPr id="18" name="TextBox 18"/>
                <p:cNvSpPr txBox="1"/>
                <p:nvPr/>
              </p:nvSpPr>
              <p:spPr>
                <a:xfrm>
                  <a:off x="604838" y="2836545"/>
                  <a:ext cx="1134201" cy="176212"/>
                </a:xfrm>
                <a:prstGeom prst="rect">
                  <a:avLst/>
                </a:prstGeom>
                <a:noFill/>
                <a:ln>
                  <a:noFill/>
                </a:ln>
              </p:spPr>
              <p:txBody>
                <a:bodyPr wrap="none" lIns="0" tIns="0" rIns="0" bIns="0" anchor="t" anchorCtr="0">
                  <a:spAutoFit/>
                </a:bodyPr>
                <a:lstStyle/>
                <a:p>
                  <a:pPr algn="l"/>
                  <a:r>
                    <a:rPr lang="zh-CN" sz="900" dirty="0">
                      <a:solidFill>
                        <a:schemeClr val="accent5"/>
                      </a:solidFill>
                      <a:latin typeface="+mn-lt"/>
                      <a:ea typeface="+mn-ea"/>
                      <a:cs typeface="+mn-cs"/>
                    </a:rPr>
                    <a:t>Glaciers &amp; polar ice</a:t>
                  </a:r>
                </a:p>
              </p:txBody>
            </p:sp>
            <p:sp>
              <p:nvSpPr>
                <p:cNvPr id="19" name="Rectangle 19"/>
                <p:cNvSpPr/>
                <p:nvPr/>
              </p:nvSpPr>
              <p:spPr>
                <a:xfrm>
                  <a:off x="2552700" y="2647950"/>
                  <a:ext cx="129540" cy="266700"/>
                </a:xfrm>
                <a:prstGeom prst="rect">
                  <a:avLst/>
                </a:prstGeom>
                <a:solidFill>
                  <a:schemeClr val="accent2"/>
                </a:solidFill>
                <a:ln>
                  <a:noFill/>
                </a:ln>
              </p:spPr>
            </p:sp>
            <p:sp>
              <p:nvSpPr>
                <p:cNvPr id="20" name="TextBox 20"/>
                <p:cNvSpPr txBox="1"/>
                <p:nvPr/>
              </p:nvSpPr>
              <p:spPr>
                <a:xfrm>
                  <a:off x="2776347" y="2723674"/>
                  <a:ext cx="1487495" cy="190690"/>
                </a:xfrm>
                <a:prstGeom prst="rect">
                  <a:avLst/>
                </a:prstGeom>
                <a:noFill/>
                <a:ln>
                  <a:noFill/>
                </a:ln>
              </p:spPr>
              <p:txBody>
                <a:bodyPr wrap="none" lIns="0" tIns="0" rIns="0" bIns="0" anchor="t" anchorCtr="0">
                  <a:spAutoFit/>
                </a:bodyPr>
                <a:lstStyle/>
                <a:p>
                  <a:pPr algn="l"/>
                  <a:r>
                    <a:rPr lang="zh-CN" sz="980" dirty="0">
                      <a:solidFill>
                        <a:schemeClr val="dk1"/>
                      </a:solidFill>
                      <a:latin typeface="+mn-lt"/>
                      <a:ea typeface="+mn-ea"/>
                      <a:cs typeface="+mn-cs"/>
                    </a:rPr>
                    <a:t>2.97% · 4.34×10^7 km³</a:t>
                  </a:r>
                </a:p>
              </p:txBody>
            </p:sp>
          </p:grpSp>
          <p:grpSp>
            <p:nvGrpSpPr>
              <p:cNvPr id="26" name="Group 26"/>
              <p:cNvGrpSpPr/>
              <p:nvPr/>
            </p:nvGrpSpPr>
            <p:grpSpPr>
              <a:xfrm>
                <a:off x="603885" y="3269456"/>
                <a:ext cx="3574232" cy="371951"/>
                <a:chOff x="603885" y="3269456"/>
                <a:chExt cx="3574232" cy="371951"/>
              </a:xfrm>
            </p:grpSpPr>
            <p:sp>
              <p:nvSpPr>
                <p:cNvPr id="22" name="TextBox 22"/>
                <p:cNvSpPr txBox="1"/>
                <p:nvPr/>
              </p:nvSpPr>
              <p:spPr>
                <a:xfrm>
                  <a:off x="603885" y="3269456"/>
                  <a:ext cx="463753" cy="220028"/>
                </a:xfrm>
                <a:prstGeom prst="rect">
                  <a:avLst/>
                </a:prstGeom>
                <a:noFill/>
                <a:ln>
                  <a:noFill/>
                </a:ln>
              </p:spPr>
              <p:txBody>
                <a:bodyPr wrap="none" lIns="0" tIns="0" rIns="0" bIns="0" anchor="t" anchorCtr="0">
                  <a:spAutoFit/>
                </a:bodyPr>
                <a:lstStyle/>
                <a:p>
                  <a:pPr algn="l"/>
                  <a:r>
                    <a:rPr lang="zh-CN" sz="1120" dirty="0">
                      <a:solidFill>
                        <a:schemeClr val="dk1"/>
                      </a:solidFill>
                      <a:latin typeface="+mn-lt"/>
                      <a:ea typeface="+mn-ea"/>
                      <a:cs typeface="+mn-cs"/>
                    </a:rPr>
                    <a:t>地下水</a:t>
                  </a:r>
                </a:p>
              </p:txBody>
            </p:sp>
            <p:sp>
              <p:nvSpPr>
                <p:cNvPr id="23" name="TextBox 23"/>
                <p:cNvSpPr txBox="1"/>
                <p:nvPr/>
              </p:nvSpPr>
              <p:spPr>
                <a:xfrm>
                  <a:off x="604838" y="3465195"/>
                  <a:ext cx="770659" cy="176212"/>
                </a:xfrm>
                <a:prstGeom prst="rect">
                  <a:avLst/>
                </a:prstGeom>
                <a:noFill/>
                <a:ln>
                  <a:noFill/>
                </a:ln>
              </p:spPr>
              <p:txBody>
                <a:bodyPr wrap="none" lIns="0" tIns="0" rIns="0" bIns="0" anchor="t" anchorCtr="0">
                  <a:spAutoFit/>
                </a:bodyPr>
                <a:lstStyle/>
                <a:p>
                  <a:pPr algn="l"/>
                  <a:r>
                    <a:rPr lang="zh-CN" sz="900" dirty="0">
                      <a:solidFill>
                        <a:schemeClr val="accent5"/>
                      </a:solidFill>
                      <a:latin typeface="+mn-lt"/>
                      <a:ea typeface="+mn-ea"/>
                      <a:cs typeface="+mn-cs"/>
                    </a:rPr>
                    <a:t>Groundwater</a:t>
                  </a:r>
                </a:p>
              </p:txBody>
            </p:sp>
            <p:sp>
              <p:nvSpPr>
                <p:cNvPr id="24" name="Rectangle 24"/>
                <p:cNvSpPr/>
                <p:nvPr/>
              </p:nvSpPr>
              <p:spPr>
                <a:xfrm>
                  <a:off x="2552700" y="3276600"/>
                  <a:ext cx="45720" cy="266700"/>
                </a:xfrm>
                <a:prstGeom prst="rect">
                  <a:avLst/>
                </a:prstGeom>
                <a:solidFill>
                  <a:srgbClr val="3D7BD9"/>
                </a:solidFill>
                <a:ln>
                  <a:noFill/>
                </a:ln>
              </p:spPr>
            </p:sp>
            <p:sp>
              <p:nvSpPr>
                <p:cNvPr id="25" name="TextBox 25"/>
                <p:cNvSpPr txBox="1"/>
                <p:nvPr/>
              </p:nvSpPr>
              <p:spPr>
                <a:xfrm>
                  <a:off x="2690622" y="3352324"/>
                  <a:ext cx="1487495" cy="190690"/>
                </a:xfrm>
                <a:prstGeom prst="rect">
                  <a:avLst/>
                </a:prstGeom>
                <a:noFill/>
                <a:ln>
                  <a:noFill/>
                </a:ln>
              </p:spPr>
              <p:txBody>
                <a:bodyPr wrap="none" lIns="0" tIns="0" rIns="0" bIns="0" anchor="t" anchorCtr="0">
                  <a:spAutoFit/>
                </a:bodyPr>
                <a:lstStyle/>
                <a:p>
                  <a:pPr algn="l"/>
                  <a:r>
                    <a:rPr lang="zh-CN" sz="980" dirty="0">
                      <a:solidFill>
                        <a:schemeClr val="dk1"/>
                      </a:solidFill>
                      <a:latin typeface="+mn-lt"/>
                      <a:ea typeface="+mn-ea"/>
                      <a:cs typeface="+mn-cs"/>
                    </a:rPr>
                    <a:t>1.05% · 1.54×10^7 km³</a:t>
                  </a:r>
                </a:p>
              </p:txBody>
            </p:sp>
          </p:grpSp>
          <p:grpSp>
            <p:nvGrpSpPr>
              <p:cNvPr id="31" name="Group 31"/>
              <p:cNvGrpSpPr/>
              <p:nvPr/>
            </p:nvGrpSpPr>
            <p:grpSpPr>
              <a:xfrm>
                <a:off x="603885" y="3898106"/>
                <a:ext cx="3646792" cy="371951"/>
                <a:chOff x="603885" y="3898106"/>
                <a:chExt cx="3646792" cy="371951"/>
              </a:xfrm>
            </p:grpSpPr>
            <p:sp>
              <p:nvSpPr>
                <p:cNvPr id="27" name="TextBox 27"/>
                <p:cNvSpPr txBox="1"/>
                <p:nvPr/>
              </p:nvSpPr>
              <p:spPr>
                <a:xfrm>
                  <a:off x="603885" y="3898106"/>
                  <a:ext cx="765302" cy="220028"/>
                </a:xfrm>
                <a:prstGeom prst="rect">
                  <a:avLst/>
                </a:prstGeom>
                <a:noFill/>
                <a:ln>
                  <a:noFill/>
                </a:ln>
              </p:spPr>
              <p:txBody>
                <a:bodyPr wrap="none" lIns="0" tIns="0" rIns="0" bIns="0" anchor="t" anchorCtr="0">
                  <a:spAutoFit/>
                </a:bodyPr>
                <a:lstStyle/>
                <a:p>
                  <a:pPr algn="l"/>
                  <a:r>
                    <a:rPr lang="zh-CN" sz="1120" dirty="0">
                      <a:solidFill>
                        <a:schemeClr val="dk1"/>
                      </a:solidFill>
                      <a:latin typeface="+mn-lt"/>
                      <a:ea typeface="+mn-ea"/>
                      <a:cs typeface="+mn-cs"/>
                    </a:rPr>
                    <a:t>湖泊与河流</a:t>
                  </a:r>
                </a:p>
              </p:txBody>
            </p:sp>
            <p:sp>
              <p:nvSpPr>
                <p:cNvPr id="28" name="TextBox 28"/>
                <p:cNvSpPr txBox="1"/>
                <p:nvPr/>
              </p:nvSpPr>
              <p:spPr>
                <a:xfrm>
                  <a:off x="604838" y="4093845"/>
                  <a:ext cx="855906" cy="176212"/>
                </a:xfrm>
                <a:prstGeom prst="rect">
                  <a:avLst/>
                </a:prstGeom>
                <a:noFill/>
                <a:ln>
                  <a:noFill/>
                </a:ln>
              </p:spPr>
              <p:txBody>
                <a:bodyPr wrap="none" lIns="0" tIns="0" rIns="0" bIns="0" anchor="t" anchorCtr="0">
                  <a:spAutoFit/>
                </a:bodyPr>
                <a:lstStyle/>
                <a:p>
                  <a:pPr algn="l"/>
                  <a:r>
                    <a:rPr lang="zh-CN" sz="900" dirty="0">
                      <a:solidFill>
                        <a:schemeClr val="accent5"/>
                      </a:solidFill>
                      <a:latin typeface="+mn-lt"/>
                      <a:ea typeface="+mn-ea"/>
                      <a:cs typeface="+mn-cs"/>
                    </a:rPr>
                    <a:t>Lakes &amp; rivers</a:t>
                  </a:r>
                </a:p>
              </p:txBody>
            </p:sp>
            <p:sp>
              <p:nvSpPr>
                <p:cNvPr id="29" name="Rectangle 29"/>
                <p:cNvSpPr/>
                <p:nvPr/>
              </p:nvSpPr>
              <p:spPr>
                <a:xfrm>
                  <a:off x="2552700" y="3905250"/>
                  <a:ext cx="47625" cy="266700"/>
                </a:xfrm>
                <a:prstGeom prst="rect">
                  <a:avLst/>
                </a:prstGeom>
                <a:solidFill>
                  <a:srgbClr val="9DB9E5"/>
                </a:solidFill>
                <a:ln>
                  <a:noFill/>
                </a:ln>
              </p:spPr>
            </p:sp>
            <p:sp>
              <p:nvSpPr>
                <p:cNvPr id="30" name="TextBox 30"/>
                <p:cNvSpPr txBox="1"/>
                <p:nvPr/>
              </p:nvSpPr>
              <p:spPr>
                <a:xfrm>
                  <a:off x="2690622" y="3980974"/>
                  <a:ext cx="1560055" cy="190690"/>
                </a:xfrm>
                <a:prstGeom prst="rect">
                  <a:avLst/>
                </a:prstGeom>
                <a:noFill/>
                <a:ln>
                  <a:noFill/>
                </a:ln>
              </p:spPr>
              <p:txBody>
                <a:bodyPr wrap="none" lIns="0" tIns="0" rIns="0" bIns="0" anchor="t" anchorCtr="0">
                  <a:spAutoFit/>
                </a:bodyPr>
                <a:lstStyle/>
                <a:p>
                  <a:pPr algn="l"/>
                  <a:r>
                    <a:rPr lang="zh-CN" sz="980" dirty="0">
                      <a:solidFill>
                        <a:schemeClr val="dk1"/>
                      </a:solidFill>
                      <a:latin typeface="+mn-lt"/>
                      <a:ea typeface="+mn-ea"/>
                      <a:cs typeface="+mn-cs"/>
                    </a:rPr>
                    <a:t>0.009% · 1.27×10^5 km³</a:t>
                  </a:r>
                </a:p>
              </p:txBody>
            </p:sp>
          </p:grpSp>
          <p:grpSp>
            <p:nvGrpSpPr>
              <p:cNvPr id="36" name="Group 36"/>
              <p:cNvGrpSpPr/>
              <p:nvPr/>
            </p:nvGrpSpPr>
            <p:grpSpPr>
              <a:xfrm>
                <a:off x="603885" y="4526756"/>
                <a:ext cx="3574232" cy="371951"/>
                <a:chOff x="603885" y="4526756"/>
                <a:chExt cx="3574232" cy="371951"/>
              </a:xfrm>
            </p:grpSpPr>
            <p:sp>
              <p:nvSpPr>
                <p:cNvPr id="32" name="TextBox 32"/>
                <p:cNvSpPr txBox="1"/>
                <p:nvPr/>
              </p:nvSpPr>
              <p:spPr>
                <a:xfrm>
                  <a:off x="603885" y="4526756"/>
                  <a:ext cx="312979" cy="220028"/>
                </a:xfrm>
                <a:prstGeom prst="rect">
                  <a:avLst/>
                </a:prstGeom>
                <a:noFill/>
                <a:ln>
                  <a:noFill/>
                </a:ln>
              </p:spPr>
              <p:txBody>
                <a:bodyPr wrap="none" lIns="0" tIns="0" rIns="0" bIns="0" anchor="t" anchorCtr="0">
                  <a:spAutoFit/>
                </a:bodyPr>
                <a:lstStyle/>
                <a:p>
                  <a:pPr algn="l"/>
                  <a:r>
                    <a:rPr lang="zh-CN" sz="1120" dirty="0">
                      <a:solidFill>
                        <a:schemeClr val="dk1"/>
                      </a:solidFill>
                      <a:latin typeface="+mn-lt"/>
                      <a:ea typeface="+mn-ea"/>
                      <a:cs typeface="+mn-cs"/>
                    </a:rPr>
                    <a:t>大气</a:t>
                  </a:r>
                </a:p>
              </p:txBody>
            </p:sp>
            <p:sp>
              <p:nvSpPr>
                <p:cNvPr id="33" name="TextBox 33"/>
                <p:cNvSpPr txBox="1"/>
                <p:nvPr/>
              </p:nvSpPr>
              <p:spPr>
                <a:xfrm>
                  <a:off x="604838" y="4722495"/>
                  <a:ext cx="704035" cy="176212"/>
                </a:xfrm>
                <a:prstGeom prst="rect">
                  <a:avLst/>
                </a:prstGeom>
                <a:noFill/>
                <a:ln>
                  <a:noFill/>
                </a:ln>
              </p:spPr>
              <p:txBody>
                <a:bodyPr wrap="none" lIns="0" tIns="0" rIns="0" bIns="0" anchor="t" anchorCtr="0">
                  <a:spAutoFit/>
                </a:bodyPr>
                <a:lstStyle/>
                <a:p>
                  <a:pPr algn="l"/>
                  <a:r>
                    <a:rPr lang="zh-CN" sz="900" dirty="0">
                      <a:solidFill>
                        <a:schemeClr val="accent5"/>
                      </a:solidFill>
                      <a:latin typeface="+mn-lt"/>
                      <a:ea typeface="+mn-ea"/>
                      <a:cs typeface="+mn-cs"/>
                    </a:rPr>
                    <a:t>Atmosphere</a:t>
                  </a:r>
                </a:p>
              </p:txBody>
            </p:sp>
            <p:sp>
              <p:nvSpPr>
                <p:cNvPr id="34" name="Rectangle 34"/>
                <p:cNvSpPr/>
                <p:nvPr/>
              </p:nvSpPr>
              <p:spPr>
                <a:xfrm>
                  <a:off x="2552700" y="4533900"/>
                  <a:ext cx="47625" cy="266700"/>
                </a:xfrm>
                <a:prstGeom prst="rect">
                  <a:avLst/>
                </a:prstGeom>
                <a:solidFill>
                  <a:srgbClr val="9DB9E5"/>
                </a:solidFill>
                <a:ln>
                  <a:noFill/>
                </a:ln>
              </p:spPr>
            </p:sp>
            <p:sp>
              <p:nvSpPr>
                <p:cNvPr id="35" name="TextBox 35"/>
                <p:cNvSpPr txBox="1"/>
                <p:nvPr/>
              </p:nvSpPr>
              <p:spPr>
                <a:xfrm>
                  <a:off x="2690622" y="4609624"/>
                  <a:ext cx="1487495" cy="190690"/>
                </a:xfrm>
                <a:prstGeom prst="rect">
                  <a:avLst/>
                </a:prstGeom>
                <a:noFill/>
                <a:ln>
                  <a:noFill/>
                </a:ln>
              </p:spPr>
              <p:txBody>
                <a:bodyPr wrap="none" lIns="0" tIns="0" rIns="0" bIns="0" anchor="t" anchorCtr="0">
                  <a:spAutoFit/>
                </a:bodyPr>
                <a:lstStyle/>
                <a:p>
                  <a:pPr algn="l"/>
                  <a:r>
                    <a:rPr lang="zh-CN" sz="980" dirty="0">
                      <a:solidFill>
                        <a:schemeClr val="dk1"/>
                      </a:solidFill>
                      <a:latin typeface="+mn-lt"/>
                      <a:ea typeface="+mn-ea"/>
                      <a:cs typeface="+mn-cs"/>
                    </a:rPr>
                    <a:t>0.001% · 1.5×10^4 km³</a:t>
                  </a:r>
                </a:p>
              </p:txBody>
            </p:sp>
          </p:grpSp>
          <p:grpSp>
            <p:nvGrpSpPr>
              <p:cNvPr id="41" name="Group 41"/>
              <p:cNvGrpSpPr/>
              <p:nvPr/>
            </p:nvGrpSpPr>
            <p:grpSpPr>
              <a:xfrm>
                <a:off x="603885" y="5155406"/>
                <a:ext cx="3501672" cy="371951"/>
                <a:chOff x="603885" y="5155406"/>
                <a:chExt cx="3501672" cy="371951"/>
              </a:xfrm>
            </p:grpSpPr>
            <p:sp>
              <p:nvSpPr>
                <p:cNvPr id="37" name="TextBox 37"/>
                <p:cNvSpPr txBox="1"/>
                <p:nvPr/>
              </p:nvSpPr>
              <p:spPr>
                <a:xfrm>
                  <a:off x="603885" y="5155406"/>
                  <a:ext cx="463753" cy="220028"/>
                </a:xfrm>
                <a:prstGeom prst="rect">
                  <a:avLst/>
                </a:prstGeom>
                <a:noFill/>
                <a:ln>
                  <a:noFill/>
                </a:ln>
              </p:spPr>
              <p:txBody>
                <a:bodyPr wrap="none" lIns="0" tIns="0" rIns="0" bIns="0" anchor="t" anchorCtr="0">
                  <a:spAutoFit/>
                </a:bodyPr>
                <a:lstStyle/>
                <a:p>
                  <a:pPr algn="l"/>
                  <a:r>
                    <a:rPr lang="zh-CN" sz="1120" dirty="0">
                      <a:solidFill>
                        <a:schemeClr val="dk1"/>
                      </a:solidFill>
                      <a:latin typeface="+mn-lt"/>
                      <a:ea typeface="+mn-ea"/>
                      <a:cs typeface="+mn-cs"/>
                    </a:rPr>
                    <a:t>生物圈</a:t>
                  </a:r>
                </a:p>
              </p:txBody>
            </p:sp>
            <p:sp>
              <p:nvSpPr>
                <p:cNvPr id="38" name="TextBox 38"/>
                <p:cNvSpPr txBox="1"/>
                <p:nvPr/>
              </p:nvSpPr>
              <p:spPr>
                <a:xfrm>
                  <a:off x="604838" y="5351145"/>
                  <a:ext cx="582549" cy="176212"/>
                </a:xfrm>
                <a:prstGeom prst="rect">
                  <a:avLst/>
                </a:prstGeom>
                <a:noFill/>
                <a:ln>
                  <a:noFill/>
                </a:ln>
              </p:spPr>
              <p:txBody>
                <a:bodyPr wrap="none" lIns="0" tIns="0" rIns="0" bIns="0" anchor="t" anchorCtr="0">
                  <a:spAutoFit/>
                </a:bodyPr>
                <a:lstStyle/>
                <a:p>
                  <a:pPr algn="l"/>
                  <a:r>
                    <a:rPr lang="zh-CN" sz="900" dirty="0">
                      <a:solidFill>
                        <a:schemeClr val="accent5"/>
                      </a:solidFill>
                      <a:latin typeface="+mn-lt"/>
                      <a:ea typeface="+mn-ea"/>
                      <a:cs typeface="+mn-cs"/>
                    </a:rPr>
                    <a:t>Biosphere</a:t>
                  </a:r>
                </a:p>
              </p:txBody>
            </p:sp>
            <p:sp>
              <p:nvSpPr>
                <p:cNvPr id="39" name="Rectangle 39"/>
                <p:cNvSpPr/>
                <p:nvPr/>
              </p:nvSpPr>
              <p:spPr>
                <a:xfrm>
                  <a:off x="2552700" y="5162550"/>
                  <a:ext cx="47625" cy="266700"/>
                </a:xfrm>
                <a:prstGeom prst="rect">
                  <a:avLst/>
                </a:prstGeom>
                <a:solidFill>
                  <a:srgbClr val="9DB9E5"/>
                </a:solidFill>
                <a:ln>
                  <a:noFill/>
                </a:ln>
              </p:spPr>
            </p:sp>
            <p:sp>
              <p:nvSpPr>
                <p:cNvPr id="40" name="TextBox 40"/>
                <p:cNvSpPr txBox="1"/>
                <p:nvPr/>
              </p:nvSpPr>
              <p:spPr>
                <a:xfrm>
                  <a:off x="2690622" y="5238274"/>
                  <a:ext cx="1414935" cy="190690"/>
                </a:xfrm>
                <a:prstGeom prst="rect">
                  <a:avLst/>
                </a:prstGeom>
                <a:noFill/>
                <a:ln>
                  <a:noFill/>
                </a:ln>
              </p:spPr>
              <p:txBody>
                <a:bodyPr wrap="none" lIns="0" tIns="0" rIns="0" bIns="0" anchor="t" anchorCtr="0">
                  <a:spAutoFit/>
                </a:bodyPr>
                <a:lstStyle/>
                <a:p>
                  <a:pPr algn="l"/>
                  <a:r>
                    <a:rPr lang="zh-CN" sz="980" dirty="0">
                      <a:solidFill>
                        <a:schemeClr val="dk1"/>
                      </a:solidFill>
                      <a:latin typeface="+mn-lt"/>
                      <a:ea typeface="+mn-ea"/>
                      <a:cs typeface="+mn-cs"/>
                    </a:rPr>
                    <a:t>0.0001% · 2×10^3 km³</a:t>
                  </a:r>
                </a:p>
              </p:txBody>
            </p:sp>
          </p:grpSp>
        </p:grpSp>
        <p:sp>
          <p:nvSpPr>
            <p:cNvPr id="43" name="TextBox 43"/>
            <p:cNvSpPr txBox="1"/>
            <p:nvPr/>
          </p:nvSpPr>
          <p:spPr>
            <a:xfrm>
              <a:off x="604838" y="5751195"/>
              <a:ext cx="4922482" cy="176212"/>
            </a:xfrm>
            <a:prstGeom prst="rect">
              <a:avLst/>
            </a:prstGeom>
            <a:noFill/>
            <a:ln>
              <a:noFill/>
            </a:ln>
          </p:spPr>
          <p:txBody>
            <a:bodyPr wrap="none" lIns="0" tIns="0" rIns="0" bIns="0" anchor="t" anchorCtr="0">
              <a:spAutoFit/>
            </a:bodyPr>
            <a:lstStyle/>
            <a:p>
              <a:pPr algn="l"/>
              <a:r>
                <a:rPr lang="zh-CN" sz="900" dirty="0">
                  <a:solidFill>
                    <a:schemeClr val="accent5"/>
                  </a:solidFill>
                  <a:latin typeface="+mn-lt"/>
                  <a:ea typeface="+mn-ea"/>
                  <a:cs typeface="+mn-cs"/>
                </a:rPr>
                <a:t>注：条长按占比线性绘制；占比小于 0.01% 的储库以最小可见条宽显示，数值以标签为准。</a:t>
              </a:r>
            </a:p>
          </p:txBody>
        </p:sp>
      </p:grpSp>
      <p:grpSp>
        <p:nvGrpSpPr>
          <p:cNvPr id="49" name="Group 49"/>
          <p:cNvGrpSpPr/>
          <p:nvPr/>
        </p:nvGrpSpPr>
        <p:grpSpPr>
          <a:xfrm>
            <a:off x="7334250" y="1447800"/>
            <a:ext cx="4476750" cy="1219200"/>
            <a:chOff x="7334250" y="1447800"/>
            <a:chExt cx="4476750" cy="1219200"/>
          </a:xfrm>
        </p:grpSpPr>
        <p:sp>
          <p:nvSpPr>
            <p:cNvPr id="45" name="Rectangle 45"/>
            <p:cNvSpPr/>
            <p:nvPr/>
          </p:nvSpPr>
          <p:spPr>
            <a:xfrm>
              <a:off x="7334250" y="1447800"/>
              <a:ext cx="4476750" cy="1219200"/>
            </a:xfrm>
            <a:prstGeom prst="roundRect">
              <a:avLst>
                <a:gd name="adj" fmla="val 9375"/>
              </a:avLst>
            </a:prstGeom>
            <a:solidFill>
              <a:schemeClr val="lt2"/>
            </a:solidFill>
            <a:ln w="9525">
              <a:solidFill>
                <a:schemeClr val="accent6"/>
              </a:solidFill>
            </a:ln>
          </p:spPr>
        </p:sp>
        <p:sp>
          <p:nvSpPr>
            <p:cNvPr id="46" name="TextBox 46"/>
            <p:cNvSpPr txBox="1"/>
            <p:nvPr/>
          </p:nvSpPr>
          <p:spPr>
            <a:xfrm>
              <a:off x="7556754" y="1623060"/>
              <a:ext cx="1633933" cy="234696"/>
            </a:xfrm>
            <a:prstGeom prst="rect">
              <a:avLst/>
            </a:prstGeom>
            <a:noFill/>
            <a:ln>
              <a:noFill/>
            </a:ln>
          </p:spPr>
          <p:txBody>
            <a:bodyPr wrap="none" lIns="0" tIns="0" rIns="0" bIns="0" anchor="t" anchorCtr="0">
              <a:spAutoFit/>
            </a:bodyPr>
            <a:lstStyle/>
            <a:p>
              <a:pPr algn="l"/>
              <a:r>
                <a:rPr lang="zh-CN" sz="1200" b="1" dirty="0">
                  <a:solidFill>
                    <a:schemeClr val="accent1"/>
                  </a:solidFill>
                  <a:latin typeface="+mn-lt"/>
                  <a:ea typeface="+mn-ea"/>
                  <a:cs typeface="+mn-cs"/>
                </a:rPr>
                <a:t>总水量 | Total water</a:t>
              </a:r>
            </a:p>
          </p:txBody>
        </p:sp>
        <p:sp>
          <p:nvSpPr>
            <p:cNvPr id="47" name="TextBox 47"/>
            <p:cNvSpPr txBox="1"/>
            <p:nvPr/>
          </p:nvSpPr>
          <p:spPr>
            <a:xfrm>
              <a:off x="7552182" y="1945005"/>
              <a:ext cx="2217931" cy="410718"/>
            </a:xfrm>
            <a:prstGeom prst="rect">
              <a:avLst/>
            </a:prstGeom>
            <a:noFill/>
            <a:ln>
              <a:noFill/>
            </a:ln>
          </p:spPr>
          <p:txBody>
            <a:bodyPr wrap="none" lIns="0" tIns="0" rIns="0" bIns="0" anchor="t" anchorCtr="0">
              <a:spAutoFit/>
            </a:bodyPr>
            <a:lstStyle/>
            <a:p>
              <a:pPr algn="l"/>
              <a:r>
                <a:rPr lang="zh-CN" sz="2100" b="1" dirty="0">
                  <a:solidFill>
                    <a:schemeClr val="accent2"/>
                  </a:solidFill>
                  <a:latin typeface="+mn-lt"/>
                  <a:ea typeface="+mn-ea"/>
                  <a:cs typeface="+mn-cs"/>
                </a:rPr>
                <a:t>≈ 1.4×10^9 km³</a:t>
              </a:r>
            </a:p>
          </p:txBody>
        </p:sp>
        <p:sp>
          <p:nvSpPr>
            <p:cNvPr id="48" name="TextBox 48"/>
            <p:cNvSpPr txBox="1"/>
            <p:nvPr/>
          </p:nvSpPr>
          <p:spPr>
            <a:xfrm>
              <a:off x="7557897" y="2333149"/>
              <a:ext cx="2833157" cy="190690"/>
            </a:xfrm>
            <a:prstGeom prst="rect">
              <a:avLst/>
            </a:prstGeom>
            <a:noFill/>
            <a:ln>
              <a:noFill/>
            </a:ln>
          </p:spPr>
          <p:txBody>
            <a:bodyPr wrap="none" lIns="0" tIns="0" rIns="0" bIns="0" anchor="t" anchorCtr="0">
              <a:spAutoFit/>
            </a:bodyPr>
            <a:lstStyle/>
            <a:p>
              <a:pPr algn="l"/>
              <a:r>
                <a:rPr lang="zh-CN" sz="980" dirty="0">
                  <a:solidFill>
                    <a:schemeClr val="accent5"/>
                  </a:solidFill>
                  <a:latin typeface="+mn-lt"/>
                  <a:ea typeface="+mn-ea"/>
                  <a:cs typeface="+mn-cs"/>
                </a:rPr>
                <a:t>约 14 亿 km³；日—百年至地质短尺度上视为恒定</a:t>
              </a:r>
            </a:p>
          </p:txBody>
        </p:sp>
      </p:grpSp>
      <p:grpSp>
        <p:nvGrpSpPr>
          <p:cNvPr id="56" name="Group 56"/>
          <p:cNvGrpSpPr/>
          <p:nvPr/>
        </p:nvGrpSpPr>
        <p:grpSpPr>
          <a:xfrm>
            <a:off x="7334250" y="2781300"/>
            <a:ext cx="4476750" cy="1600200"/>
            <a:chOff x="7334250" y="2781300"/>
            <a:chExt cx="4476750" cy="1600200"/>
          </a:xfrm>
        </p:grpSpPr>
        <p:sp>
          <p:nvSpPr>
            <p:cNvPr id="50" name="Rectangle 50"/>
            <p:cNvSpPr/>
            <p:nvPr/>
          </p:nvSpPr>
          <p:spPr>
            <a:xfrm>
              <a:off x="7334250" y="2781300"/>
              <a:ext cx="4476750" cy="1600200"/>
            </a:xfrm>
            <a:prstGeom prst="roundRect">
              <a:avLst>
                <a:gd name="adj" fmla="val 7143"/>
              </a:avLst>
            </a:prstGeom>
            <a:solidFill>
              <a:schemeClr val="lt2"/>
            </a:solidFill>
            <a:ln w="9525">
              <a:solidFill>
                <a:schemeClr val="accent6"/>
              </a:solidFill>
            </a:ln>
          </p:spPr>
        </p:sp>
        <p:sp>
          <p:nvSpPr>
            <p:cNvPr id="51" name="TextBox 51"/>
            <p:cNvSpPr txBox="1"/>
            <p:nvPr/>
          </p:nvSpPr>
          <p:spPr>
            <a:xfrm>
              <a:off x="7556754" y="2956560"/>
              <a:ext cx="2688850" cy="234696"/>
            </a:xfrm>
            <a:prstGeom prst="rect">
              <a:avLst/>
            </a:prstGeom>
            <a:noFill/>
            <a:ln>
              <a:noFill/>
            </a:ln>
          </p:spPr>
          <p:txBody>
            <a:bodyPr wrap="none" lIns="0" tIns="0" rIns="0" bIns="0" anchor="t" anchorCtr="0">
              <a:spAutoFit/>
            </a:bodyPr>
            <a:lstStyle/>
            <a:p>
              <a:pPr algn="l"/>
              <a:r>
                <a:rPr lang="zh-CN" sz="1200" b="1" dirty="0">
                  <a:solidFill>
                    <a:schemeClr val="accent1"/>
                  </a:solidFill>
                  <a:latin typeface="+mn-lt"/>
                  <a:ea typeface="+mn-ea"/>
                  <a:cs typeface="+mn-cs"/>
                </a:rPr>
                <a:t>海洋占绝对多数 | Oceans dominate</a:t>
              </a:r>
            </a:p>
          </p:txBody>
        </p:sp>
        <p:sp>
          <p:nvSpPr>
            <p:cNvPr id="52" name="TextBox 52"/>
            <p:cNvSpPr txBox="1"/>
            <p:nvPr/>
          </p:nvSpPr>
          <p:spPr>
            <a:xfrm>
              <a:off x="7557135" y="3288506"/>
              <a:ext cx="1907963" cy="220028"/>
            </a:xfrm>
            <a:prstGeom prst="rect">
              <a:avLst/>
            </a:prstGeom>
            <a:noFill/>
            <a:ln>
              <a:noFill/>
            </a:ln>
          </p:spPr>
          <p:txBody>
            <a:bodyPr wrap="none" lIns="0" tIns="0" rIns="0" bIns="0" anchor="t" anchorCtr="0">
              <a:spAutoFit/>
            </a:bodyPr>
            <a:lstStyle/>
            <a:p>
              <a:pPr algn="l"/>
              <a:r>
                <a:rPr lang="zh-CN" sz="1120" dirty="0">
                  <a:solidFill>
                    <a:schemeClr val="dk1"/>
                  </a:solidFill>
                  <a:latin typeface="+mn-lt"/>
                  <a:ea typeface="+mn-ea"/>
                  <a:cs typeface="+mn-cs"/>
                </a:rPr>
                <a:t>海洋 Ocean/seas：95.96%</a:t>
              </a:r>
            </a:p>
          </p:txBody>
        </p:sp>
        <p:sp>
          <p:nvSpPr>
            <p:cNvPr id="53" name="TextBox 53"/>
            <p:cNvSpPr txBox="1"/>
            <p:nvPr/>
          </p:nvSpPr>
          <p:spPr>
            <a:xfrm>
              <a:off x="7557135" y="3574256"/>
              <a:ext cx="1858416" cy="220028"/>
            </a:xfrm>
            <a:prstGeom prst="rect">
              <a:avLst/>
            </a:prstGeom>
            <a:noFill/>
            <a:ln>
              <a:noFill/>
            </a:ln>
          </p:spPr>
          <p:txBody>
            <a:bodyPr wrap="none" lIns="0" tIns="0" rIns="0" bIns="0" anchor="t" anchorCtr="0">
              <a:spAutoFit/>
            </a:bodyPr>
            <a:lstStyle/>
            <a:p>
              <a:pPr algn="l"/>
              <a:r>
                <a:rPr lang="zh-CN" sz="1120" dirty="0">
                  <a:solidFill>
                    <a:schemeClr val="dk1"/>
                  </a:solidFill>
                  <a:latin typeface="+mn-lt"/>
                  <a:ea typeface="+mn-ea"/>
                  <a:cs typeface="+mn-cs"/>
                </a:rPr>
                <a:t>其次：冰川与极地冰 2.97%</a:t>
              </a:r>
            </a:p>
          </p:txBody>
        </p:sp>
        <p:sp>
          <p:nvSpPr>
            <p:cNvPr id="54" name="TextBox 54"/>
            <p:cNvSpPr txBox="1"/>
            <p:nvPr/>
          </p:nvSpPr>
          <p:spPr>
            <a:xfrm>
              <a:off x="7557135" y="3860006"/>
              <a:ext cx="1406093" cy="220028"/>
            </a:xfrm>
            <a:prstGeom prst="rect">
              <a:avLst/>
            </a:prstGeom>
            <a:noFill/>
            <a:ln>
              <a:noFill/>
            </a:ln>
          </p:spPr>
          <p:txBody>
            <a:bodyPr wrap="none" lIns="0" tIns="0" rIns="0" bIns="0" anchor="t" anchorCtr="0">
              <a:spAutoFit/>
            </a:bodyPr>
            <a:lstStyle/>
            <a:p>
              <a:pPr algn="l"/>
              <a:r>
                <a:rPr lang="zh-CN" sz="1120" dirty="0">
                  <a:solidFill>
                    <a:schemeClr val="dk1"/>
                  </a:solidFill>
                  <a:latin typeface="+mn-lt"/>
                  <a:ea typeface="+mn-ea"/>
                  <a:cs typeface="+mn-cs"/>
                </a:rPr>
                <a:t>再次：地下水 1.05%</a:t>
              </a:r>
            </a:p>
          </p:txBody>
        </p:sp>
        <p:sp>
          <p:nvSpPr>
            <p:cNvPr id="55" name="TextBox 55"/>
            <p:cNvSpPr txBox="1"/>
            <p:nvPr/>
          </p:nvSpPr>
          <p:spPr>
            <a:xfrm>
              <a:off x="7557897" y="4142899"/>
              <a:ext cx="1626019" cy="190690"/>
            </a:xfrm>
            <a:prstGeom prst="rect">
              <a:avLst/>
            </a:prstGeom>
            <a:noFill/>
            <a:ln>
              <a:noFill/>
            </a:ln>
          </p:spPr>
          <p:txBody>
            <a:bodyPr wrap="none" lIns="0" tIns="0" rIns="0" bIns="0" anchor="t" anchorCtr="0">
              <a:spAutoFit/>
            </a:bodyPr>
            <a:lstStyle/>
            <a:p>
              <a:pPr algn="l"/>
              <a:r>
                <a:rPr lang="zh-CN" sz="980" dirty="0">
                  <a:solidFill>
                    <a:schemeClr val="accent5"/>
                  </a:solidFill>
                  <a:latin typeface="+mn-lt"/>
                  <a:ea typeface="+mn-ea"/>
                  <a:cs typeface="+mn-cs"/>
                </a:rPr>
                <a:t>其余储库各自都不足 0.01%</a:t>
              </a:r>
            </a:p>
          </p:txBody>
        </p:sp>
      </p:grpSp>
      <p:grpSp>
        <p:nvGrpSpPr>
          <p:cNvPr id="63" name="Group 63"/>
          <p:cNvGrpSpPr/>
          <p:nvPr/>
        </p:nvGrpSpPr>
        <p:grpSpPr>
          <a:xfrm>
            <a:off x="7334250" y="4495800"/>
            <a:ext cx="4476750" cy="1733550"/>
            <a:chOff x="7334250" y="4495800"/>
            <a:chExt cx="4476750" cy="1733550"/>
          </a:xfrm>
        </p:grpSpPr>
        <p:sp>
          <p:nvSpPr>
            <p:cNvPr id="57" name="Rectangle 57"/>
            <p:cNvSpPr/>
            <p:nvPr/>
          </p:nvSpPr>
          <p:spPr>
            <a:xfrm>
              <a:off x="7334250" y="4495800"/>
              <a:ext cx="4476750" cy="1733550"/>
            </a:xfrm>
            <a:prstGeom prst="roundRect">
              <a:avLst>
                <a:gd name="adj" fmla="val 6593"/>
              </a:avLst>
            </a:prstGeom>
            <a:solidFill>
              <a:srgbClr val="F0F5FC"/>
            </a:solidFill>
            <a:ln w="9525">
              <a:solidFill>
                <a:srgbClr val="B8C7DC"/>
              </a:solidFill>
            </a:ln>
          </p:spPr>
        </p:sp>
        <p:sp>
          <p:nvSpPr>
            <p:cNvPr id="58" name="TextBox 58"/>
            <p:cNvSpPr txBox="1"/>
            <p:nvPr/>
          </p:nvSpPr>
          <p:spPr>
            <a:xfrm>
              <a:off x="7556754" y="4671060"/>
              <a:ext cx="1627632" cy="234696"/>
            </a:xfrm>
            <a:prstGeom prst="rect">
              <a:avLst/>
            </a:prstGeom>
            <a:noFill/>
            <a:ln>
              <a:noFill/>
            </a:ln>
          </p:spPr>
          <p:txBody>
            <a:bodyPr wrap="none" lIns="0" tIns="0" rIns="0" bIns="0" anchor="t" anchorCtr="0">
              <a:spAutoFit/>
            </a:bodyPr>
            <a:lstStyle/>
            <a:p>
              <a:pPr algn="l"/>
              <a:r>
                <a:rPr lang="zh-CN" sz="1200" b="1" dirty="0">
                  <a:solidFill>
                    <a:schemeClr val="accent1"/>
                  </a:solidFill>
                  <a:latin typeface="+mn-lt"/>
                  <a:ea typeface="+mn-ea"/>
                  <a:cs typeface="+mn-cs"/>
                </a:rPr>
                <a:t>易利用的表层淡水极少</a:t>
              </a:r>
            </a:p>
          </p:txBody>
        </p:sp>
        <p:sp>
          <p:nvSpPr>
            <p:cNvPr id="59" name="TextBox 59"/>
            <p:cNvSpPr txBox="1"/>
            <p:nvPr/>
          </p:nvSpPr>
          <p:spPr>
            <a:xfrm>
              <a:off x="7557135" y="5003006"/>
              <a:ext cx="2386127" cy="220028"/>
            </a:xfrm>
            <a:prstGeom prst="rect">
              <a:avLst/>
            </a:prstGeom>
            <a:noFill/>
            <a:ln>
              <a:noFill/>
            </a:ln>
          </p:spPr>
          <p:txBody>
            <a:bodyPr wrap="none" lIns="0" tIns="0" rIns="0" bIns="0" anchor="t" anchorCtr="0">
              <a:spAutoFit/>
            </a:bodyPr>
            <a:lstStyle/>
            <a:p>
              <a:pPr algn="l"/>
              <a:r>
                <a:rPr lang="zh-CN" sz="1120" dirty="0">
                  <a:solidFill>
                    <a:schemeClr val="dk1"/>
                  </a:solidFill>
                  <a:latin typeface="+mn-lt"/>
                  <a:ea typeface="+mn-ea"/>
                  <a:cs typeface="+mn-cs"/>
                </a:rPr>
                <a:t>湖泊与河流 0.009% · 大气 0.001%</a:t>
              </a:r>
            </a:p>
          </p:txBody>
        </p:sp>
        <p:sp>
          <p:nvSpPr>
            <p:cNvPr id="60" name="TextBox 60"/>
            <p:cNvSpPr txBox="1"/>
            <p:nvPr/>
          </p:nvSpPr>
          <p:spPr>
            <a:xfrm>
              <a:off x="7557135" y="5269706"/>
              <a:ext cx="1119622" cy="220028"/>
            </a:xfrm>
            <a:prstGeom prst="rect">
              <a:avLst/>
            </a:prstGeom>
            <a:noFill/>
            <a:ln>
              <a:noFill/>
            </a:ln>
          </p:spPr>
          <p:txBody>
            <a:bodyPr wrap="none" lIns="0" tIns="0" rIns="0" bIns="0" anchor="t" anchorCtr="0">
              <a:spAutoFit/>
            </a:bodyPr>
            <a:lstStyle/>
            <a:p>
              <a:pPr algn="l"/>
              <a:r>
                <a:rPr lang="zh-CN" sz="1120" dirty="0">
                  <a:solidFill>
                    <a:schemeClr val="dk1"/>
                  </a:solidFill>
                  <a:latin typeface="+mn-lt"/>
                  <a:ea typeface="+mn-ea"/>
                  <a:cs typeface="+mn-cs"/>
                </a:rPr>
                <a:t>生物圈 0.0001%</a:t>
              </a:r>
            </a:p>
          </p:txBody>
        </p:sp>
        <p:sp>
          <p:nvSpPr>
            <p:cNvPr id="61" name="Rectangle 61"/>
            <p:cNvSpPr/>
            <p:nvPr/>
          </p:nvSpPr>
          <p:spPr>
            <a:xfrm>
              <a:off x="7562850" y="5600700"/>
              <a:ext cx="4019550" cy="419100"/>
            </a:xfrm>
            <a:prstGeom prst="roundRect">
              <a:avLst>
                <a:gd name="adj" fmla="val 22727"/>
              </a:avLst>
            </a:prstGeom>
            <a:solidFill>
              <a:srgbClr val="DCEAF8"/>
            </a:solidFill>
            <a:ln>
              <a:noFill/>
            </a:ln>
          </p:spPr>
        </p:sp>
        <p:sp>
          <p:nvSpPr>
            <p:cNvPr id="62" name="TextBox 62"/>
            <p:cNvSpPr txBox="1"/>
            <p:nvPr/>
          </p:nvSpPr>
          <p:spPr>
            <a:xfrm>
              <a:off x="8516493" y="5737860"/>
              <a:ext cx="2112264" cy="234696"/>
            </a:xfrm>
            <a:prstGeom prst="rect">
              <a:avLst/>
            </a:prstGeom>
            <a:noFill/>
            <a:ln>
              <a:noFill/>
            </a:ln>
          </p:spPr>
          <p:txBody>
            <a:bodyPr wrap="none" lIns="0" tIns="0" rIns="0" bIns="0" anchor="t" anchorCtr="0">
              <a:spAutoFit/>
            </a:bodyPr>
            <a:lstStyle/>
            <a:p>
              <a:pPr algn="ctr"/>
              <a:r>
                <a:rPr lang="zh-CN" sz="1200" b="1" dirty="0">
                  <a:solidFill>
                    <a:schemeClr val="accent1"/>
                  </a:solidFill>
                  <a:latin typeface="+mn-lt"/>
                  <a:ea typeface="+mn-ea"/>
                  <a:cs typeface="+mn-cs"/>
                </a:rPr>
                <a:t>最易利用的表层淡水占比极小</a:t>
              </a:r>
            </a:p>
          </p:txBody>
        </p:sp>
      </p:grpSp>
      <p:sp>
        <p:nvSpPr>
          <p:cNvPr id="64" name="TextBox 64"/>
          <p:cNvSpPr txBox="1"/>
          <p:nvPr/>
        </p:nvSpPr>
        <p:spPr>
          <a:xfrm>
            <a:off x="376238" y="6532245"/>
            <a:ext cx="5206517" cy="176212"/>
          </a:xfrm>
          <a:prstGeom prst="rect">
            <a:avLst/>
          </a:prstGeom>
          <a:noFill/>
          <a:ln>
            <a:noFill/>
          </a:ln>
        </p:spPr>
        <p:txBody>
          <a:bodyPr wrap="none" lIns="0" tIns="0" rIns="0" bIns="0" anchor="t" anchorCtr="0">
            <a:spAutoFit/>
          </a:bodyPr>
          <a:lstStyle/>
          <a:p>
            <a:pPr algn="l"/>
            <a:r>
              <a:rPr lang="zh-CN" sz="900" dirty="0">
                <a:solidFill>
                  <a:schemeClr val="accent5"/>
                </a:solidFill>
                <a:latin typeface="+mn-lt"/>
                <a:ea typeface="+mn-ea"/>
                <a:cs typeface="+mn-cs"/>
              </a:rPr>
              <a:t>Source: UE 8e, Ch.17, Fig. 17.1, PDF pp.1647–1649; total volume: Ch.17, PDF p.1651.</a:t>
            </a:r>
          </a:p>
        </p:txBody>
      </p:sp>
      <p:sp>
        <p:nvSpPr>
          <p:cNvPr id="65" name="TextBox 65"/>
          <p:cNvSpPr txBox="1"/>
          <p:nvPr/>
        </p:nvSpPr>
        <p:spPr>
          <a:xfrm>
            <a:off x="11672964" y="6532245"/>
            <a:ext cx="142799" cy="176212"/>
          </a:xfrm>
          <a:prstGeom prst="rect">
            <a:avLst/>
          </a:prstGeom>
          <a:noFill/>
          <a:ln>
            <a:noFill/>
          </a:ln>
        </p:spPr>
        <p:txBody>
          <a:bodyPr wrap="none" lIns="0" tIns="0" rIns="0" bIns="0" anchor="t" anchorCtr="0">
            <a:spAutoFit/>
          </a:bodyPr>
          <a:lstStyle/>
          <a:p>
            <a:pPr algn="r"/>
            <a:r>
              <a:rPr lang="zh-CN" sz="900" dirty="0">
                <a:solidFill>
                  <a:schemeClr val="accent5"/>
                </a:solidFill>
                <a:latin typeface="+mn-lt"/>
                <a:ea typeface="+mn-ea"/>
                <a:cs typeface="+mn-cs"/>
              </a:rPr>
              <a:t>06</a:t>
            </a:r>
          </a:p>
        </p:txBody>
      </p:sp>
    </p:spTree>
    <p:extLst>
      <p:ext uri="{BB962C8B-B14F-4D97-AF65-F5344CB8AC3E}">
        <p14:creationId xmlns:p14="http://schemas.microsoft.com/office/powerpoint/2010/main" val="1196515995"/>
      </p:ext>
    </p:extLst>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5"/>
          <p:cNvGrpSpPr/>
          <p:nvPr/>
        </p:nvGrpSpPr>
        <p:grpSpPr>
          <a:xfrm>
            <a:off x="0" y="0"/>
            <a:ext cx="12192000" cy="685800"/>
            <a:chOff x="0" y="0"/>
            <a:chExt cx="12192000" cy="685800"/>
          </a:xfrm>
        </p:grpSpPr>
        <p:sp>
          <p:nvSpPr>
            <p:cNvPr id="2" name="Rectangle 2"/>
            <p:cNvSpPr/>
            <p:nvPr/>
          </p:nvSpPr>
          <p:spPr>
            <a:xfrm>
              <a:off x="0" y="0"/>
              <a:ext cx="12192000" cy="685800"/>
            </a:xfrm>
            <a:prstGeom prst="rect">
              <a:avLst/>
            </a:prstGeom>
            <a:solidFill>
              <a:schemeClr val="accent1"/>
            </a:solidFill>
            <a:ln>
              <a:noFill/>
            </a:ln>
          </p:spPr>
        </p:sp>
        <p:sp>
          <p:nvSpPr>
            <p:cNvPr id="3" name="TextBox 3"/>
            <p:cNvSpPr txBox="1"/>
            <p:nvPr/>
          </p:nvSpPr>
          <p:spPr>
            <a:xfrm>
              <a:off x="374142" y="282892"/>
              <a:ext cx="6629861" cy="264033"/>
            </a:xfrm>
            <a:prstGeom prst="rect">
              <a:avLst/>
            </a:prstGeom>
            <a:noFill/>
            <a:ln>
              <a:noFill/>
            </a:ln>
          </p:spPr>
          <p:txBody>
            <a:bodyPr wrap="none" lIns="0" tIns="0" rIns="0" bIns="0" anchor="t" anchorCtr="0">
              <a:spAutoFit/>
            </a:bodyPr>
            <a:lstStyle/>
            <a:p>
              <a:pPr algn="l"/>
              <a:r>
                <a:rPr lang="zh-CN" sz="1350" b="1" dirty="0">
                  <a:solidFill>
                    <a:srgbClr val="FFFFFF"/>
                  </a:solidFill>
                  <a:latin typeface="+mn-lt"/>
                  <a:ea typeface="+mn-ea"/>
                  <a:cs typeface="+mn-cs"/>
                </a:rPr>
                <a:t>1.4 最大的水库并不是可用淡水 | Most Water Is Not Accessible Freshwater</a:t>
              </a:r>
            </a:p>
          </p:txBody>
        </p:sp>
        <p:sp>
          <p:nvSpPr>
            <p:cNvPr id="4" name="TextBox 4"/>
            <p:cNvSpPr txBox="1"/>
            <p:nvPr/>
          </p:nvSpPr>
          <p:spPr>
            <a:xfrm>
              <a:off x="10217506" y="299085"/>
              <a:ext cx="1599590" cy="234696"/>
            </a:xfrm>
            <a:prstGeom prst="rect">
              <a:avLst/>
            </a:prstGeom>
            <a:noFill/>
            <a:ln>
              <a:noFill/>
            </a:ln>
          </p:spPr>
          <p:txBody>
            <a:bodyPr wrap="none" lIns="0" tIns="0" rIns="0" bIns="0" anchor="t" anchorCtr="0">
              <a:spAutoFit/>
            </a:bodyPr>
            <a:lstStyle/>
            <a:p>
              <a:pPr algn="r"/>
              <a:r>
                <a:rPr lang="zh-CN" sz="1200" dirty="0">
                  <a:solidFill>
                    <a:srgbClr val="C7D7F2"/>
                  </a:solidFill>
                  <a:latin typeface="+mn-lt"/>
                  <a:ea typeface="+mn-ea"/>
                  <a:cs typeface="+mn-cs"/>
                </a:rPr>
                <a:t>WATER DISTRIBUTION</a:t>
              </a:r>
            </a:p>
          </p:txBody>
        </p:sp>
      </p:grpSp>
      <p:grpSp>
        <p:nvGrpSpPr>
          <p:cNvPr id="8" name="Group 8"/>
          <p:cNvGrpSpPr/>
          <p:nvPr/>
        </p:nvGrpSpPr>
        <p:grpSpPr>
          <a:xfrm>
            <a:off x="381000" y="914400"/>
            <a:ext cx="5071542" cy="357093"/>
            <a:chOff x="381000" y="914400"/>
            <a:chExt cx="5071542" cy="357093"/>
          </a:xfrm>
        </p:grpSpPr>
        <p:sp>
          <p:nvSpPr>
            <p:cNvPr id="6" name="Rectangle 6"/>
            <p:cNvSpPr/>
            <p:nvPr/>
          </p:nvSpPr>
          <p:spPr>
            <a:xfrm>
              <a:off x="381000" y="914400"/>
              <a:ext cx="57150" cy="266700"/>
            </a:xfrm>
            <a:prstGeom prst="roundRect">
              <a:avLst>
                <a:gd name="adj" fmla="val 50000"/>
              </a:avLst>
            </a:prstGeom>
            <a:solidFill>
              <a:schemeClr val="accent2"/>
            </a:solidFill>
            <a:ln>
              <a:noFill/>
            </a:ln>
          </p:spPr>
        </p:sp>
        <p:sp>
          <p:nvSpPr>
            <p:cNvPr id="7" name="TextBox 7"/>
            <p:cNvSpPr txBox="1"/>
            <p:nvPr/>
          </p:nvSpPr>
          <p:spPr>
            <a:xfrm>
              <a:off x="544449" y="963454"/>
              <a:ext cx="4908093" cy="308039"/>
            </a:xfrm>
            <a:prstGeom prst="rect">
              <a:avLst/>
            </a:prstGeom>
            <a:noFill/>
            <a:ln>
              <a:noFill/>
            </a:ln>
          </p:spPr>
          <p:txBody>
            <a:bodyPr wrap="none" lIns="0" tIns="0" rIns="0" bIns="0" anchor="t" anchorCtr="0">
              <a:spAutoFit/>
            </a:bodyPr>
            <a:lstStyle/>
            <a:p>
              <a:pPr algn="l"/>
              <a:r>
                <a:rPr lang="zh-CN" sz="1580" b="1" dirty="0">
                  <a:solidFill>
                    <a:schemeClr val="accent1"/>
                  </a:solidFill>
                  <a:latin typeface="+mn-lt"/>
                  <a:ea typeface="+mn-ea"/>
                  <a:cs typeface="+mn-cs"/>
                </a:rPr>
                <a:t>海洋占绝对多数，淡水很小，易利用的表层淡水更小</a:t>
              </a:r>
            </a:p>
          </p:txBody>
        </p:sp>
      </p:grpSp>
      <p:grpSp>
        <p:nvGrpSpPr>
          <p:cNvPr id="30" name="Group 30"/>
          <p:cNvGrpSpPr/>
          <p:nvPr/>
        </p:nvGrpSpPr>
        <p:grpSpPr>
          <a:xfrm>
            <a:off x="381000" y="1447800"/>
            <a:ext cx="6724650" cy="4781550"/>
            <a:chOff x="381000" y="1447800"/>
            <a:chExt cx="6724650" cy="4781550"/>
          </a:xfrm>
        </p:grpSpPr>
        <p:sp>
          <p:nvSpPr>
            <p:cNvPr id="9" name="Rectangle 9"/>
            <p:cNvSpPr/>
            <p:nvPr/>
          </p:nvSpPr>
          <p:spPr>
            <a:xfrm>
              <a:off x="381000" y="1447800"/>
              <a:ext cx="6724650" cy="4781550"/>
            </a:xfrm>
            <a:prstGeom prst="roundRect">
              <a:avLst>
                <a:gd name="adj" fmla="val 2390"/>
              </a:avLst>
            </a:prstGeom>
            <a:solidFill>
              <a:schemeClr val="lt2"/>
            </a:solidFill>
            <a:ln w="9525">
              <a:solidFill>
                <a:schemeClr val="accent6"/>
              </a:solidFill>
            </a:ln>
          </p:spPr>
        </p:sp>
        <p:sp>
          <p:nvSpPr>
            <p:cNvPr id="10" name="TextBox 10"/>
            <p:cNvSpPr txBox="1"/>
            <p:nvPr/>
          </p:nvSpPr>
          <p:spPr>
            <a:xfrm>
              <a:off x="603504" y="1642110"/>
              <a:ext cx="4756097" cy="234696"/>
            </a:xfrm>
            <a:prstGeom prst="rect">
              <a:avLst/>
            </a:prstGeom>
            <a:noFill/>
            <a:ln>
              <a:noFill/>
            </a:ln>
          </p:spPr>
          <p:txBody>
            <a:bodyPr wrap="none" lIns="0" tIns="0" rIns="0" bIns="0" anchor="t" anchorCtr="0">
              <a:spAutoFit/>
            </a:bodyPr>
            <a:lstStyle/>
            <a:p>
              <a:pPr algn="l"/>
              <a:r>
                <a:rPr lang="zh-CN" sz="1200" b="1" dirty="0">
                  <a:solidFill>
                    <a:schemeClr val="accent1"/>
                  </a:solidFill>
                  <a:latin typeface="+mn-lt"/>
                  <a:ea typeface="+mn-ea"/>
                  <a:cs typeface="+mn-cs"/>
                </a:rPr>
                <a:t>全球水的三级递减 | Three-level hierarchy of Earth's water</a:t>
              </a:r>
            </a:p>
          </p:txBody>
        </p:sp>
        <p:grpSp>
          <p:nvGrpSpPr>
            <p:cNvPr id="28" name="Group 28"/>
            <p:cNvGrpSpPr/>
            <p:nvPr/>
          </p:nvGrpSpPr>
          <p:grpSpPr>
            <a:xfrm>
              <a:off x="603885" y="2012156"/>
              <a:ext cx="6101715" cy="2788444"/>
              <a:chOff x="603885" y="2012156"/>
              <a:chExt cx="6101715" cy="2788444"/>
            </a:xfrm>
          </p:grpSpPr>
          <p:grpSp>
            <p:nvGrpSpPr>
              <p:cNvPr id="15" name="Group 15"/>
              <p:cNvGrpSpPr/>
              <p:nvPr/>
            </p:nvGrpSpPr>
            <p:grpSpPr>
              <a:xfrm>
                <a:off x="603885" y="2012156"/>
                <a:ext cx="6101715" cy="616744"/>
                <a:chOff x="603885" y="2012156"/>
                <a:chExt cx="6101715" cy="616744"/>
              </a:xfrm>
            </p:grpSpPr>
            <p:sp>
              <p:nvSpPr>
                <p:cNvPr id="11" name="TextBox 11"/>
                <p:cNvSpPr txBox="1"/>
                <p:nvPr/>
              </p:nvSpPr>
              <p:spPr>
                <a:xfrm>
                  <a:off x="603885" y="2012156"/>
                  <a:ext cx="2327792" cy="220028"/>
                </a:xfrm>
                <a:prstGeom prst="rect">
                  <a:avLst/>
                </a:prstGeom>
                <a:noFill/>
                <a:ln>
                  <a:noFill/>
                </a:ln>
              </p:spPr>
              <p:txBody>
                <a:bodyPr wrap="none" lIns="0" tIns="0" rIns="0" bIns="0" anchor="t" anchorCtr="0">
                  <a:spAutoFit/>
                </a:bodyPr>
                <a:lstStyle/>
                <a:p>
                  <a:pPr algn="l"/>
                  <a:r>
                    <a:rPr lang="zh-CN" sz="1120" b="1" dirty="0">
                      <a:solidFill>
                        <a:schemeClr val="dk1"/>
                      </a:solidFill>
                      <a:latin typeface="+mn-lt"/>
                      <a:ea typeface="+mn-ea"/>
                      <a:cs typeface="+mn-cs"/>
                    </a:rPr>
                    <a:t>全部水 | All water</a:t>
                  </a:r>
                  <a:r>
                    <a:rPr lang="zh-CN" sz="980" dirty="0">
                      <a:solidFill>
                        <a:schemeClr val="accent5"/>
                      </a:solidFill>
                      <a:latin typeface="+mn-lt"/>
                      <a:ea typeface="+mn-ea"/>
                      <a:cs typeface="+mn-cs"/>
                    </a:rPr>
                    <a:t> ≈ 1.4×10^9 km³</a:t>
                  </a:r>
                </a:p>
              </p:txBody>
            </p:sp>
            <p:sp>
              <p:nvSpPr>
                <p:cNvPr id="12" name="Rectangle 12"/>
                <p:cNvSpPr/>
                <p:nvPr/>
              </p:nvSpPr>
              <p:spPr>
                <a:xfrm>
                  <a:off x="609600" y="2247900"/>
                  <a:ext cx="5849302" cy="381000"/>
                </a:xfrm>
                <a:prstGeom prst="rect">
                  <a:avLst/>
                </a:prstGeom>
                <a:solidFill>
                  <a:schemeClr val="accent1"/>
                </a:solidFill>
                <a:ln>
                  <a:noFill/>
                </a:ln>
              </p:spPr>
            </p:sp>
            <p:sp>
              <p:nvSpPr>
                <p:cNvPr id="13" name="Rectangle 13"/>
                <p:cNvSpPr/>
                <p:nvPr/>
              </p:nvSpPr>
              <p:spPr>
                <a:xfrm>
                  <a:off x="6458902" y="2247900"/>
                  <a:ext cx="246698" cy="381000"/>
                </a:xfrm>
                <a:prstGeom prst="rect">
                  <a:avLst/>
                </a:prstGeom>
                <a:solidFill>
                  <a:srgbClr val="9DB9E5"/>
                </a:solidFill>
                <a:ln>
                  <a:noFill/>
                </a:ln>
              </p:spPr>
            </p:sp>
            <p:sp>
              <p:nvSpPr>
                <p:cNvPr id="14" name="TextBox 14"/>
                <p:cNvSpPr txBox="1"/>
                <p:nvPr/>
              </p:nvSpPr>
              <p:spPr>
                <a:xfrm>
                  <a:off x="4405628" y="2380774"/>
                  <a:ext cx="1942975" cy="190690"/>
                </a:xfrm>
                <a:prstGeom prst="rect">
                  <a:avLst/>
                </a:prstGeom>
                <a:noFill/>
                <a:ln>
                  <a:noFill/>
                </a:ln>
              </p:spPr>
              <p:txBody>
                <a:bodyPr wrap="none" lIns="0" tIns="0" rIns="0" bIns="0" anchor="t" anchorCtr="0">
                  <a:spAutoFit/>
                </a:bodyPr>
                <a:lstStyle/>
                <a:p>
                  <a:pPr algn="r"/>
                  <a:r>
                    <a:rPr lang="zh-CN" sz="980" b="1" dirty="0">
                      <a:solidFill>
                        <a:srgbClr val="FFFFFF"/>
                      </a:solidFill>
                      <a:latin typeface="+mn-lt"/>
                      <a:ea typeface="+mn-ea"/>
                      <a:cs typeface="+mn-cs"/>
                    </a:rPr>
                    <a:t>海洋 95.96% · 1.40×10^9 km³</a:t>
                  </a:r>
                </a:p>
              </p:txBody>
            </p:sp>
          </p:grpSp>
          <p:grpSp>
            <p:nvGrpSpPr>
              <p:cNvPr id="23" name="Group 23"/>
              <p:cNvGrpSpPr/>
              <p:nvPr/>
            </p:nvGrpSpPr>
            <p:grpSpPr>
              <a:xfrm>
                <a:off x="603885" y="3021806"/>
                <a:ext cx="3508254" cy="835533"/>
                <a:chOff x="603885" y="3021806"/>
                <a:chExt cx="3508254" cy="835533"/>
              </a:xfrm>
            </p:grpSpPr>
            <p:sp>
              <p:nvSpPr>
                <p:cNvPr id="16" name="TextBox 16"/>
                <p:cNvSpPr txBox="1"/>
                <p:nvPr/>
              </p:nvSpPr>
              <p:spPr>
                <a:xfrm>
                  <a:off x="603885" y="3021806"/>
                  <a:ext cx="3508254" cy="220028"/>
                </a:xfrm>
                <a:prstGeom prst="rect">
                  <a:avLst/>
                </a:prstGeom>
                <a:noFill/>
                <a:ln>
                  <a:noFill/>
                </a:ln>
              </p:spPr>
              <p:txBody>
                <a:bodyPr wrap="none" lIns="0" tIns="0" rIns="0" bIns="0" anchor="t" anchorCtr="0">
                  <a:spAutoFit/>
                </a:bodyPr>
                <a:lstStyle/>
                <a:p>
                  <a:pPr algn="l"/>
                  <a:r>
                    <a:rPr lang="zh-CN" sz="1120" b="1" dirty="0">
                      <a:solidFill>
                        <a:schemeClr val="dk1"/>
                      </a:solidFill>
                      <a:latin typeface="+mn-lt"/>
                      <a:ea typeface="+mn-ea"/>
                      <a:cs typeface="+mn-cs"/>
                    </a:rPr>
                    <a:t>淡水储库 | Freshwater reservoirs</a:t>
                  </a:r>
                  <a:r>
                    <a:rPr lang="zh-CN" sz="980" dirty="0">
                      <a:solidFill>
                        <a:schemeClr val="accent5"/>
                      </a:solidFill>
                      <a:latin typeface="+mn-lt"/>
                      <a:ea typeface="+mn-ea"/>
                      <a:cs typeface="+mn-cs"/>
                    </a:rPr>
                    <a:t> 占全部水的比例</a:t>
                  </a:r>
                </a:p>
              </p:txBody>
            </p:sp>
            <p:sp>
              <p:nvSpPr>
                <p:cNvPr id="17" name="Rectangle 17"/>
                <p:cNvSpPr/>
                <p:nvPr/>
              </p:nvSpPr>
              <p:spPr>
                <a:xfrm>
                  <a:off x="609600" y="3257550"/>
                  <a:ext cx="180975" cy="381000"/>
                </a:xfrm>
                <a:prstGeom prst="rect">
                  <a:avLst/>
                </a:prstGeom>
                <a:solidFill>
                  <a:schemeClr val="accent2"/>
                </a:solidFill>
                <a:ln>
                  <a:noFill/>
                </a:ln>
              </p:spPr>
            </p:sp>
            <p:sp>
              <p:nvSpPr>
                <p:cNvPr id="18" name="Rectangle 18"/>
                <p:cNvSpPr/>
                <p:nvPr/>
              </p:nvSpPr>
              <p:spPr>
                <a:xfrm>
                  <a:off x="790575" y="3257550"/>
                  <a:ext cx="63818" cy="381000"/>
                </a:xfrm>
                <a:prstGeom prst="rect">
                  <a:avLst/>
                </a:prstGeom>
                <a:solidFill>
                  <a:srgbClr val="3D7BD9"/>
                </a:solidFill>
                <a:ln>
                  <a:noFill/>
                </a:ln>
              </p:spPr>
            </p:sp>
            <p:sp>
              <p:nvSpPr>
                <p:cNvPr id="19" name="Rectangle 19"/>
                <p:cNvSpPr/>
                <p:nvPr/>
              </p:nvSpPr>
              <p:spPr>
                <a:xfrm>
                  <a:off x="854392" y="3257550"/>
                  <a:ext cx="38100" cy="381000"/>
                </a:xfrm>
                <a:prstGeom prst="rect">
                  <a:avLst/>
                </a:prstGeom>
                <a:solidFill>
                  <a:srgbClr val="9DB9E5"/>
                </a:solidFill>
                <a:ln>
                  <a:noFill/>
                </a:ln>
              </p:spPr>
            </p:sp>
            <p:sp>
              <p:nvSpPr>
                <p:cNvPr id="20" name="TextBox 20"/>
                <p:cNvSpPr txBox="1"/>
                <p:nvPr/>
              </p:nvSpPr>
              <p:spPr>
                <a:xfrm>
                  <a:off x="985647" y="3285649"/>
                  <a:ext cx="2338428" cy="190690"/>
                </a:xfrm>
                <a:prstGeom prst="rect">
                  <a:avLst/>
                </a:prstGeom>
                <a:noFill/>
                <a:ln>
                  <a:noFill/>
                </a:ln>
              </p:spPr>
              <p:txBody>
                <a:bodyPr wrap="none" lIns="0" tIns="0" rIns="0" bIns="0" anchor="t" anchorCtr="0">
                  <a:spAutoFit/>
                </a:bodyPr>
                <a:lstStyle/>
                <a:p>
                  <a:pPr algn="l"/>
                  <a:r>
                    <a:rPr lang="zh-CN" sz="980" dirty="0">
                      <a:solidFill>
                        <a:schemeClr val="dk1"/>
                      </a:solidFill>
                      <a:latin typeface="+mn-lt"/>
                      <a:ea typeface="+mn-ea"/>
                      <a:cs typeface="+mn-cs"/>
                    </a:rPr>
                    <a:t>冰川 / 极地冰 2.97% · 4.34×10^7 km³</a:t>
                  </a:r>
                </a:p>
              </p:txBody>
            </p:sp>
            <p:sp>
              <p:nvSpPr>
                <p:cNvPr id="21" name="TextBox 21"/>
                <p:cNvSpPr txBox="1"/>
                <p:nvPr/>
              </p:nvSpPr>
              <p:spPr>
                <a:xfrm>
                  <a:off x="985647" y="3476149"/>
                  <a:ext cx="2998066" cy="190690"/>
                </a:xfrm>
                <a:prstGeom prst="rect">
                  <a:avLst/>
                </a:prstGeom>
                <a:noFill/>
                <a:ln>
                  <a:noFill/>
                </a:ln>
              </p:spPr>
              <p:txBody>
                <a:bodyPr wrap="none" lIns="0" tIns="0" rIns="0" bIns="0" anchor="t" anchorCtr="0">
                  <a:spAutoFit/>
                </a:bodyPr>
                <a:lstStyle/>
                <a:p>
                  <a:pPr algn="l"/>
                  <a:r>
                    <a:rPr lang="zh-CN" sz="980" dirty="0">
                      <a:solidFill>
                        <a:schemeClr val="dk1"/>
                      </a:solidFill>
                      <a:latin typeface="+mn-lt"/>
                      <a:ea typeface="+mn-ea"/>
                      <a:cs typeface="+mn-cs"/>
                    </a:rPr>
                    <a:t>地下水 1.05% · 1.54×10^7 km³ — 并非全部易利用</a:t>
                  </a:r>
                </a:p>
              </p:txBody>
            </p:sp>
            <p:sp>
              <p:nvSpPr>
                <p:cNvPr id="22" name="TextBox 22"/>
                <p:cNvSpPr txBox="1"/>
                <p:nvPr/>
              </p:nvSpPr>
              <p:spPr>
                <a:xfrm>
                  <a:off x="985647" y="3666649"/>
                  <a:ext cx="2279061" cy="190690"/>
                </a:xfrm>
                <a:prstGeom prst="rect">
                  <a:avLst/>
                </a:prstGeom>
                <a:noFill/>
                <a:ln>
                  <a:noFill/>
                </a:ln>
              </p:spPr>
              <p:txBody>
                <a:bodyPr wrap="none" lIns="0" tIns="0" rIns="0" bIns="0" anchor="t" anchorCtr="0">
                  <a:spAutoFit/>
                </a:bodyPr>
                <a:lstStyle/>
                <a:p>
                  <a:pPr algn="l"/>
                  <a:r>
                    <a:rPr lang="zh-CN" sz="980" dirty="0">
                      <a:solidFill>
                        <a:schemeClr val="dk1"/>
                      </a:solidFill>
                      <a:latin typeface="+mn-lt"/>
                      <a:ea typeface="+mn-ea"/>
                      <a:cs typeface="+mn-cs"/>
                    </a:rPr>
                    <a:t>湖泊 / 河流 0.009% · 1.27×10^5 km³</a:t>
                  </a:r>
                </a:p>
              </p:txBody>
            </p:sp>
          </p:grpSp>
          <p:grpSp>
            <p:nvGrpSpPr>
              <p:cNvPr id="27" name="Group 27"/>
              <p:cNvGrpSpPr/>
              <p:nvPr/>
            </p:nvGrpSpPr>
            <p:grpSpPr>
              <a:xfrm>
                <a:off x="603885" y="4183856"/>
                <a:ext cx="4465623" cy="616744"/>
                <a:chOff x="603885" y="4183856"/>
                <a:chExt cx="4465623" cy="616744"/>
              </a:xfrm>
            </p:grpSpPr>
            <p:sp>
              <p:nvSpPr>
                <p:cNvPr id="24" name="TextBox 24"/>
                <p:cNvSpPr txBox="1"/>
                <p:nvPr/>
              </p:nvSpPr>
              <p:spPr>
                <a:xfrm>
                  <a:off x="603885" y="4183856"/>
                  <a:ext cx="4465623" cy="220028"/>
                </a:xfrm>
                <a:prstGeom prst="rect">
                  <a:avLst/>
                </a:prstGeom>
                <a:noFill/>
                <a:ln>
                  <a:noFill/>
                </a:ln>
              </p:spPr>
              <p:txBody>
                <a:bodyPr wrap="none" lIns="0" tIns="0" rIns="0" bIns="0" anchor="t" anchorCtr="0">
                  <a:spAutoFit/>
                </a:bodyPr>
                <a:lstStyle/>
                <a:p>
                  <a:pPr algn="l"/>
                  <a:r>
                    <a:rPr lang="zh-CN" sz="1120" b="1" dirty="0">
                      <a:solidFill>
                        <a:schemeClr val="dk1"/>
                      </a:solidFill>
                      <a:latin typeface="+mn-lt"/>
                      <a:ea typeface="+mn-ea"/>
                      <a:cs typeface="+mn-cs"/>
                    </a:rPr>
                    <a:t>易利用的表层淡水 | Accessible surface freshwater</a:t>
                  </a:r>
                  <a:r>
                    <a:rPr lang="zh-CN" sz="980" dirty="0">
                      <a:solidFill>
                        <a:schemeClr val="accent5"/>
                      </a:solidFill>
                      <a:latin typeface="+mn-lt"/>
                      <a:ea typeface="+mn-ea"/>
                      <a:cs typeface="+mn-cs"/>
                    </a:rPr>
                    <a:t> 湖泊与河流</a:t>
                  </a:r>
                </a:p>
              </p:txBody>
            </p:sp>
            <p:sp>
              <p:nvSpPr>
                <p:cNvPr id="25" name="Rectangle 25"/>
                <p:cNvSpPr/>
                <p:nvPr/>
              </p:nvSpPr>
              <p:spPr>
                <a:xfrm>
                  <a:off x="609600" y="4419600"/>
                  <a:ext cx="38100" cy="381000"/>
                </a:xfrm>
                <a:prstGeom prst="rect">
                  <a:avLst/>
                </a:prstGeom>
                <a:solidFill>
                  <a:srgbClr val="9DB9E5"/>
                </a:solidFill>
                <a:ln>
                  <a:noFill/>
                </a:ln>
              </p:spPr>
            </p:sp>
            <p:sp>
              <p:nvSpPr>
                <p:cNvPr id="26" name="TextBox 26"/>
                <p:cNvSpPr txBox="1"/>
                <p:nvPr/>
              </p:nvSpPr>
              <p:spPr>
                <a:xfrm>
                  <a:off x="795147" y="4552474"/>
                  <a:ext cx="3486198" cy="190690"/>
                </a:xfrm>
                <a:prstGeom prst="rect">
                  <a:avLst/>
                </a:prstGeom>
                <a:noFill/>
                <a:ln>
                  <a:noFill/>
                </a:ln>
              </p:spPr>
              <p:txBody>
                <a:bodyPr wrap="none" lIns="0" tIns="0" rIns="0" bIns="0" anchor="t" anchorCtr="0">
                  <a:spAutoFit/>
                </a:bodyPr>
                <a:lstStyle/>
                <a:p>
                  <a:pPr algn="l"/>
                  <a:r>
                    <a:rPr lang="zh-CN" sz="980" dirty="0">
                      <a:solidFill>
                        <a:schemeClr val="dk1"/>
                      </a:solidFill>
                      <a:latin typeface="+mn-lt"/>
                      <a:ea typeface="+mn-ea"/>
                      <a:cs typeface="+mn-cs"/>
                    </a:rPr>
                    <a:t>湖泊 / 河流 0.009% · 1.27×10^5 km³ — 占全部水极小份额</a:t>
                  </a:r>
                </a:p>
              </p:txBody>
            </p:sp>
          </p:grpSp>
        </p:grpSp>
        <p:sp>
          <p:nvSpPr>
            <p:cNvPr id="29" name="TextBox 29"/>
            <p:cNvSpPr txBox="1"/>
            <p:nvPr/>
          </p:nvSpPr>
          <p:spPr>
            <a:xfrm>
              <a:off x="604838" y="5236845"/>
              <a:ext cx="4821555" cy="385762"/>
            </a:xfrm>
            <a:prstGeom prst="rect">
              <a:avLst/>
            </a:prstGeom>
            <a:noFill/>
            <a:ln>
              <a:noFill/>
            </a:ln>
          </p:spPr>
          <p:txBody>
            <a:bodyPr wrap="none" lIns="0" tIns="0" rIns="0" bIns="0" anchor="t" anchorCtr="0">
              <a:spAutoFit/>
            </a:bodyPr>
            <a:lstStyle/>
            <a:p>
              <a:pPr algn="l">
                <a:lnSpc>
                  <a:spcPts val="1650"/>
                </a:lnSpc>
              </a:pPr>
              <a:r>
                <a:rPr lang="zh-CN" sz="900" dirty="0">
                  <a:solidFill>
                    <a:schemeClr val="accent5"/>
                  </a:solidFill>
                  <a:latin typeface="+mn-lt"/>
                  <a:ea typeface="+mn-ea"/>
                  <a:cs typeface="+mn-cs"/>
                </a:rPr>
                <a:t>注：三行条均按同一“占全部水”线性刻度绘制；极小段以最小可见条宽显示，数值以标签为准。</a:t>
              </a:r>
              <a:br/>
              <a:r>
                <a:rPr lang="zh-CN" sz="900" dirty="0">
                  <a:solidFill>
                    <a:schemeClr val="accent5"/>
                  </a:solidFill>
                  <a:latin typeface="+mn-lt"/>
                  <a:ea typeface="+mn-ea"/>
                  <a:cs typeface="+mn-cs"/>
                </a:rPr>
                <a:t>大气 0.001% 与生物圈 0.0001% 为另列的极小储库，未计入淡水行。</a:t>
              </a:r>
            </a:p>
          </p:txBody>
        </p:sp>
      </p:grpSp>
      <p:grpSp>
        <p:nvGrpSpPr>
          <p:cNvPr id="35" name="Group 35"/>
          <p:cNvGrpSpPr/>
          <p:nvPr/>
        </p:nvGrpSpPr>
        <p:grpSpPr>
          <a:xfrm>
            <a:off x="7334250" y="1447800"/>
            <a:ext cx="4476750" cy="1409700"/>
            <a:chOff x="7334250" y="1447800"/>
            <a:chExt cx="4476750" cy="1409700"/>
          </a:xfrm>
        </p:grpSpPr>
        <p:sp>
          <p:nvSpPr>
            <p:cNvPr id="31" name="Rectangle 31"/>
            <p:cNvSpPr/>
            <p:nvPr/>
          </p:nvSpPr>
          <p:spPr>
            <a:xfrm>
              <a:off x="7334250" y="1447800"/>
              <a:ext cx="4476750" cy="1409700"/>
            </a:xfrm>
            <a:prstGeom prst="roundRect">
              <a:avLst>
                <a:gd name="adj" fmla="val 8108"/>
              </a:avLst>
            </a:prstGeom>
            <a:solidFill>
              <a:schemeClr val="lt2"/>
            </a:solidFill>
            <a:ln w="9525">
              <a:solidFill>
                <a:schemeClr val="accent6"/>
              </a:solidFill>
            </a:ln>
          </p:spPr>
        </p:sp>
        <p:sp>
          <p:nvSpPr>
            <p:cNvPr id="32" name="TextBox 32"/>
            <p:cNvSpPr txBox="1"/>
            <p:nvPr/>
          </p:nvSpPr>
          <p:spPr>
            <a:xfrm>
              <a:off x="7556754" y="1623060"/>
              <a:ext cx="2688850" cy="234696"/>
            </a:xfrm>
            <a:prstGeom prst="rect">
              <a:avLst/>
            </a:prstGeom>
            <a:noFill/>
            <a:ln>
              <a:noFill/>
            </a:ln>
          </p:spPr>
          <p:txBody>
            <a:bodyPr wrap="none" lIns="0" tIns="0" rIns="0" bIns="0" anchor="t" anchorCtr="0">
              <a:spAutoFit/>
            </a:bodyPr>
            <a:lstStyle/>
            <a:p>
              <a:pPr algn="l"/>
              <a:r>
                <a:rPr lang="zh-CN" sz="1200" b="1" dirty="0">
                  <a:solidFill>
                    <a:schemeClr val="accent1"/>
                  </a:solidFill>
                  <a:latin typeface="+mn-lt"/>
                  <a:ea typeface="+mn-ea"/>
                  <a:cs typeface="+mn-cs"/>
                </a:rPr>
                <a:t>海洋占绝对多数 | Oceans dominate</a:t>
              </a:r>
            </a:p>
          </p:txBody>
        </p:sp>
        <p:sp>
          <p:nvSpPr>
            <p:cNvPr id="33" name="TextBox 33"/>
            <p:cNvSpPr txBox="1"/>
            <p:nvPr/>
          </p:nvSpPr>
          <p:spPr>
            <a:xfrm>
              <a:off x="7552182" y="1964055"/>
              <a:ext cx="3509172" cy="410718"/>
            </a:xfrm>
            <a:prstGeom prst="rect">
              <a:avLst/>
            </a:prstGeom>
            <a:noFill/>
            <a:ln>
              <a:noFill/>
            </a:ln>
          </p:spPr>
          <p:txBody>
            <a:bodyPr wrap="none" lIns="0" tIns="0" rIns="0" bIns="0" anchor="t" anchorCtr="0">
              <a:spAutoFit/>
            </a:bodyPr>
            <a:lstStyle/>
            <a:p>
              <a:pPr algn="l"/>
              <a:r>
                <a:rPr lang="zh-CN" sz="2100" b="1" dirty="0">
                  <a:solidFill>
                    <a:schemeClr val="accent2"/>
                  </a:solidFill>
                  <a:latin typeface="+mn-lt"/>
                  <a:ea typeface="+mn-ea"/>
                  <a:cs typeface="+mn-cs"/>
                </a:rPr>
                <a:t>95.96% · 1.40×10^9 km³</a:t>
              </a:r>
            </a:p>
          </p:txBody>
        </p:sp>
        <p:sp>
          <p:nvSpPr>
            <p:cNvPr id="34" name="TextBox 34"/>
            <p:cNvSpPr txBox="1"/>
            <p:nvPr/>
          </p:nvSpPr>
          <p:spPr>
            <a:xfrm>
              <a:off x="7557897" y="2390299"/>
              <a:ext cx="2384603" cy="190690"/>
            </a:xfrm>
            <a:prstGeom prst="rect">
              <a:avLst/>
            </a:prstGeom>
            <a:noFill/>
            <a:ln>
              <a:noFill/>
            </a:ln>
          </p:spPr>
          <p:txBody>
            <a:bodyPr wrap="none" lIns="0" tIns="0" rIns="0" bIns="0" anchor="t" anchorCtr="0">
              <a:spAutoFit/>
            </a:bodyPr>
            <a:lstStyle/>
            <a:p>
              <a:pPr algn="l"/>
              <a:r>
                <a:rPr lang="zh-CN" sz="980" dirty="0">
                  <a:solidFill>
                    <a:schemeClr val="accent5"/>
                  </a:solidFill>
                  <a:latin typeface="+mn-lt"/>
                  <a:ea typeface="+mn-ea"/>
                  <a:cs typeface="+mn-cs"/>
                </a:rPr>
                <a:t>最大储库，但并非可直接利用的淡水来源</a:t>
              </a:r>
            </a:p>
          </p:txBody>
        </p:sp>
      </p:grpSp>
      <p:grpSp>
        <p:nvGrpSpPr>
          <p:cNvPr id="41" name="Group 41"/>
          <p:cNvGrpSpPr/>
          <p:nvPr/>
        </p:nvGrpSpPr>
        <p:grpSpPr>
          <a:xfrm>
            <a:off x="7334250" y="2971800"/>
            <a:ext cx="4476750" cy="1504950"/>
            <a:chOff x="7334250" y="2971800"/>
            <a:chExt cx="4476750" cy="1504950"/>
          </a:xfrm>
        </p:grpSpPr>
        <p:sp>
          <p:nvSpPr>
            <p:cNvPr id="36" name="Rectangle 36"/>
            <p:cNvSpPr/>
            <p:nvPr/>
          </p:nvSpPr>
          <p:spPr>
            <a:xfrm>
              <a:off x="7334250" y="2971800"/>
              <a:ext cx="4476750" cy="1504950"/>
            </a:xfrm>
            <a:prstGeom prst="roundRect">
              <a:avLst>
                <a:gd name="adj" fmla="val 7595"/>
              </a:avLst>
            </a:prstGeom>
            <a:solidFill>
              <a:schemeClr val="lt2"/>
            </a:solidFill>
            <a:ln w="9525">
              <a:solidFill>
                <a:schemeClr val="accent6"/>
              </a:solidFill>
            </a:ln>
          </p:spPr>
        </p:sp>
        <p:sp>
          <p:nvSpPr>
            <p:cNvPr id="37" name="TextBox 37"/>
            <p:cNvSpPr txBox="1"/>
            <p:nvPr/>
          </p:nvSpPr>
          <p:spPr>
            <a:xfrm>
              <a:off x="7556754" y="3147060"/>
              <a:ext cx="3459983" cy="234696"/>
            </a:xfrm>
            <a:prstGeom prst="rect">
              <a:avLst/>
            </a:prstGeom>
            <a:noFill/>
            <a:ln>
              <a:noFill/>
            </a:ln>
          </p:spPr>
          <p:txBody>
            <a:bodyPr wrap="none" lIns="0" tIns="0" rIns="0" bIns="0" anchor="t" anchorCtr="0">
              <a:spAutoFit/>
            </a:bodyPr>
            <a:lstStyle/>
            <a:p>
              <a:pPr algn="l"/>
              <a:r>
                <a:rPr lang="zh-CN" sz="1200" b="1" dirty="0">
                  <a:solidFill>
                    <a:schemeClr val="accent1"/>
                  </a:solidFill>
                  <a:latin typeface="+mn-lt"/>
                  <a:ea typeface="+mn-ea"/>
                  <a:cs typeface="+mn-cs"/>
                </a:rPr>
                <a:t>淡水锁在冰与地下 | Freshwater locked away</a:t>
              </a:r>
            </a:p>
          </p:txBody>
        </p:sp>
        <p:sp>
          <p:nvSpPr>
            <p:cNvPr id="38" name="TextBox 38"/>
            <p:cNvSpPr txBox="1"/>
            <p:nvPr/>
          </p:nvSpPr>
          <p:spPr>
            <a:xfrm>
              <a:off x="7557135" y="3479006"/>
              <a:ext cx="2672598" cy="220028"/>
            </a:xfrm>
            <a:prstGeom prst="rect">
              <a:avLst/>
            </a:prstGeom>
            <a:noFill/>
            <a:ln>
              <a:noFill/>
            </a:ln>
          </p:spPr>
          <p:txBody>
            <a:bodyPr wrap="none" lIns="0" tIns="0" rIns="0" bIns="0" anchor="t" anchorCtr="0">
              <a:spAutoFit/>
            </a:bodyPr>
            <a:lstStyle/>
            <a:p>
              <a:pPr algn="l"/>
              <a:r>
                <a:rPr lang="zh-CN" sz="1120" dirty="0">
                  <a:solidFill>
                    <a:schemeClr val="dk1"/>
                  </a:solidFill>
                  <a:latin typeface="+mn-lt"/>
                  <a:ea typeface="+mn-ea"/>
                  <a:cs typeface="+mn-cs"/>
                </a:rPr>
                <a:t>冰川 / 极地冰 2.97% · 4.34×10^7 km³</a:t>
              </a:r>
            </a:p>
          </p:txBody>
        </p:sp>
        <p:sp>
          <p:nvSpPr>
            <p:cNvPr id="39" name="TextBox 39"/>
            <p:cNvSpPr txBox="1"/>
            <p:nvPr/>
          </p:nvSpPr>
          <p:spPr>
            <a:xfrm>
              <a:off x="7557135" y="3745706"/>
              <a:ext cx="2197659" cy="220028"/>
            </a:xfrm>
            <a:prstGeom prst="rect">
              <a:avLst/>
            </a:prstGeom>
            <a:noFill/>
            <a:ln>
              <a:noFill/>
            </a:ln>
          </p:spPr>
          <p:txBody>
            <a:bodyPr wrap="none" lIns="0" tIns="0" rIns="0" bIns="0" anchor="t" anchorCtr="0">
              <a:spAutoFit/>
            </a:bodyPr>
            <a:lstStyle/>
            <a:p>
              <a:pPr algn="l"/>
              <a:r>
                <a:rPr lang="zh-CN" sz="1120" dirty="0">
                  <a:solidFill>
                    <a:schemeClr val="dk1"/>
                  </a:solidFill>
                  <a:latin typeface="+mn-lt"/>
                  <a:ea typeface="+mn-ea"/>
                  <a:cs typeface="+mn-cs"/>
                </a:rPr>
                <a:t>地下水 1.05% · 1.54×10^7 km³</a:t>
              </a:r>
            </a:p>
          </p:txBody>
        </p:sp>
        <p:sp>
          <p:nvSpPr>
            <p:cNvPr id="40" name="TextBox 40"/>
            <p:cNvSpPr txBox="1"/>
            <p:nvPr/>
          </p:nvSpPr>
          <p:spPr>
            <a:xfrm>
              <a:off x="7557897" y="4047649"/>
              <a:ext cx="2885928" cy="190690"/>
            </a:xfrm>
            <a:prstGeom prst="rect">
              <a:avLst/>
            </a:prstGeom>
            <a:noFill/>
            <a:ln>
              <a:noFill/>
            </a:ln>
          </p:spPr>
          <p:txBody>
            <a:bodyPr wrap="none" lIns="0" tIns="0" rIns="0" bIns="0" anchor="t" anchorCtr="0">
              <a:spAutoFit/>
            </a:bodyPr>
            <a:lstStyle/>
            <a:p>
              <a:pPr algn="l"/>
              <a:r>
                <a:rPr lang="zh-CN" sz="980" dirty="0">
                  <a:solidFill>
                    <a:schemeClr val="accent5"/>
                  </a:solidFill>
                  <a:latin typeface="+mn-lt"/>
                  <a:ea typeface="+mn-ea"/>
                  <a:cs typeface="+mn-cs"/>
                </a:rPr>
                <a:t>地下水并非全部易利用；湖泊与河流仅 0.009%。</a:t>
              </a:r>
            </a:p>
          </p:txBody>
        </p:sp>
      </p:grpSp>
      <p:grpSp>
        <p:nvGrpSpPr>
          <p:cNvPr id="48" name="Group 48"/>
          <p:cNvGrpSpPr/>
          <p:nvPr/>
        </p:nvGrpSpPr>
        <p:grpSpPr>
          <a:xfrm>
            <a:off x="7334250" y="4591050"/>
            <a:ext cx="4476750" cy="1638300"/>
            <a:chOff x="7334250" y="4591050"/>
            <a:chExt cx="4476750" cy="1638300"/>
          </a:xfrm>
        </p:grpSpPr>
        <p:sp>
          <p:nvSpPr>
            <p:cNvPr id="42" name="Rectangle 42"/>
            <p:cNvSpPr/>
            <p:nvPr/>
          </p:nvSpPr>
          <p:spPr>
            <a:xfrm>
              <a:off x="7334250" y="4591050"/>
              <a:ext cx="4476750" cy="1638300"/>
            </a:xfrm>
            <a:prstGeom prst="roundRect">
              <a:avLst>
                <a:gd name="adj" fmla="val 6977"/>
              </a:avLst>
            </a:prstGeom>
            <a:solidFill>
              <a:srgbClr val="F0F5FC"/>
            </a:solidFill>
            <a:ln w="9525">
              <a:solidFill>
                <a:srgbClr val="B8C7DC"/>
              </a:solidFill>
            </a:ln>
          </p:spPr>
        </p:sp>
        <p:sp>
          <p:nvSpPr>
            <p:cNvPr id="43" name="TextBox 43"/>
            <p:cNvSpPr txBox="1"/>
            <p:nvPr/>
          </p:nvSpPr>
          <p:spPr>
            <a:xfrm>
              <a:off x="7556754" y="4766310"/>
              <a:ext cx="1627632" cy="234696"/>
            </a:xfrm>
            <a:prstGeom prst="rect">
              <a:avLst/>
            </a:prstGeom>
            <a:noFill/>
            <a:ln>
              <a:noFill/>
            </a:ln>
          </p:spPr>
          <p:txBody>
            <a:bodyPr wrap="none" lIns="0" tIns="0" rIns="0" bIns="0" anchor="t" anchorCtr="0">
              <a:spAutoFit/>
            </a:bodyPr>
            <a:lstStyle/>
            <a:p>
              <a:pPr algn="l"/>
              <a:r>
                <a:rPr lang="zh-CN" sz="1200" b="1" dirty="0">
                  <a:solidFill>
                    <a:schemeClr val="accent1"/>
                  </a:solidFill>
                  <a:latin typeface="+mn-lt"/>
                  <a:ea typeface="+mn-ea"/>
                  <a:cs typeface="+mn-cs"/>
                </a:rPr>
                <a:t>易利用的表层淡水极少</a:t>
              </a:r>
            </a:p>
          </p:txBody>
        </p:sp>
        <p:sp>
          <p:nvSpPr>
            <p:cNvPr id="44" name="TextBox 44"/>
            <p:cNvSpPr txBox="1"/>
            <p:nvPr/>
          </p:nvSpPr>
          <p:spPr>
            <a:xfrm>
              <a:off x="7557135" y="5098256"/>
              <a:ext cx="2604750" cy="220028"/>
            </a:xfrm>
            <a:prstGeom prst="rect">
              <a:avLst/>
            </a:prstGeom>
            <a:noFill/>
            <a:ln>
              <a:noFill/>
            </a:ln>
          </p:spPr>
          <p:txBody>
            <a:bodyPr wrap="none" lIns="0" tIns="0" rIns="0" bIns="0" anchor="t" anchorCtr="0">
              <a:spAutoFit/>
            </a:bodyPr>
            <a:lstStyle/>
            <a:p>
              <a:pPr algn="l"/>
              <a:r>
                <a:rPr lang="zh-CN" sz="1120" dirty="0">
                  <a:solidFill>
                    <a:schemeClr val="dk1"/>
                  </a:solidFill>
                  <a:latin typeface="+mn-lt"/>
                  <a:ea typeface="+mn-ea"/>
                  <a:cs typeface="+mn-cs"/>
                </a:rPr>
                <a:t>湖泊 / 河流 0.009% · 1.27×10^5 km³</a:t>
              </a:r>
            </a:p>
          </p:txBody>
        </p:sp>
        <p:sp>
          <p:nvSpPr>
            <p:cNvPr id="45" name="TextBox 45"/>
            <p:cNvSpPr txBox="1"/>
            <p:nvPr/>
          </p:nvSpPr>
          <p:spPr>
            <a:xfrm>
              <a:off x="7557135" y="5364956"/>
              <a:ext cx="2167504" cy="220028"/>
            </a:xfrm>
            <a:prstGeom prst="rect">
              <a:avLst/>
            </a:prstGeom>
            <a:noFill/>
            <a:ln>
              <a:noFill/>
            </a:ln>
          </p:spPr>
          <p:txBody>
            <a:bodyPr wrap="none" lIns="0" tIns="0" rIns="0" bIns="0" anchor="t" anchorCtr="0">
              <a:spAutoFit/>
            </a:bodyPr>
            <a:lstStyle/>
            <a:p>
              <a:pPr algn="l"/>
              <a:r>
                <a:rPr lang="zh-CN" sz="1120" dirty="0">
                  <a:solidFill>
                    <a:schemeClr val="dk1"/>
                  </a:solidFill>
                  <a:latin typeface="+mn-lt"/>
                  <a:ea typeface="+mn-ea"/>
                  <a:cs typeface="+mn-cs"/>
                </a:rPr>
                <a:t>大气 0.001% · 生物圈 0.0001%</a:t>
              </a:r>
            </a:p>
          </p:txBody>
        </p:sp>
        <p:sp>
          <p:nvSpPr>
            <p:cNvPr id="46" name="Rectangle 46"/>
            <p:cNvSpPr/>
            <p:nvPr/>
          </p:nvSpPr>
          <p:spPr>
            <a:xfrm>
              <a:off x="7562850" y="5676900"/>
              <a:ext cx="4019550" cy="381000"/>
            </a:xfrm>
            <a:prstGeom prst="roundRect">
              <a:avLst>
                <a:gd name="adj" fmla="val 25000"/>
              </a:avLst>
            </a:prstGeom>
            <a:solidFill>
              <a:srgbClr val="DCEAF8"/>
            </a:solidFill>
            <a:ln>
              <a:noFill/>
            </a:ln>
          </p:spPr>
        </p:sp>
        <p:sp>
          <p:nvSpPr>
            <p:cNvPr id="47" name="TextBox 47"/>
            <p:cNvSpPr txBox="1"/>
            <p:nvPr/>
          </p:nvSpPr>
          <p:spPr>
            <a:xfrm>
              <a:off x="8435721" y="5795010"/>
              <a:ext cx="2273808" cy="234696"/>
            </a:xfrm>
            <a:prstGeom prst="rect">
              <a:avLst/>
            </a:prstGeom>
            <a:noFill/>
            <a:ln>
              <a:noFill/>
            </a:ln>
          </p:spPr>
          <p:txBody>
            <a:bodyPr wrap="none" lIns="0" tIns="0" rIns="0" bIns="0" anchor="t" anchorCtr="0">
              <a:spAutoFit/>
            </a:bodyPr>
            <a:lstStyle/>
            <a:p>
              <a:pPr algn="ctr"/>
              <a:r>
                <a:rPr lang="zh-CN" sz="1200" b="1" dirty="0">
                  <a:solidFill>
                    <a:schemeClr val="accent1"/>
                  </a:solidFill>
                  <a:latin typeface="+mn-lt"/>
                  <a:ea typeface="+mn-ea"/>
                  <a:cs typeface="+mn-cs"/>
                </a:rPr>
                <a:t>人类最易利用的水只占极小份额</a:t>
              </a:r>
            </a:p>
          </p:txBody>
        </p:sp>
      </p:grpSp>
      <p:sp>
        <p:nvSpPr>
          <p:cNvPr id="49" name="TextBox 49"/>
          <p:cNvSpPr txBox="1"/>
          <p:nvPr/>
        </p:nvSpPr>
        <p:spPr>
          <a:xfrm>
            <a:off x="376238" y="6532245"/>
            <a:ext cx="3172687" cy="176212"/>
          </a:xfrm>
          <a:prstGeom prst="rect">
            <a:avLst/>
          </a:prstGeom>
          <a:noFill/>
          <a:ln>
            <a:noFill/>
          </a:ln>
        </p:spPr>
        <p:txBody>
          <a:bodyPr wrap="none" lIns="0" tIns="0" rIns="0" bIns="0" anchor="t" anchorCtr="0">
            <a:spAutoFit/>
          </a:bodyPr>
          <a:lstStyle/>
          <a:p>
            <a:pPr algn="l"/>
            <a:r>
              <a:rPr lang="zh-CN" sz="900" dirty="0">
                <a:solidFill>
                  <a:schemeClr val="accent5"/>
                </a:solidFill>
                <a:latin typeface="+mn-lt"/>
                <a:ea typeface="+mn-ea"/>
                <a:cs typeface="+mn-cs"/>
              </a:rPr>
              <a:t>Source: UE 8e, Ch.17, Fig. 17.1, PDF pp.1647–1649.</a:t>
            </a:r>
          </a:p>
        </p:txBody>
      </p:sp>
      <p:sp>
        <p:nvSpPr>
          <p:cNvPr id="50" name="TextBox 50"/>
          <p:cNvSpPr txBox="1"/>
          <p:nvPr/>
        </p:nvSpPr>
        <p:spPr>
          <a:xfrm>
            <a:off x="11672964" y="6532245"/>
            <a:ext cx="142799" cy="176212"/>
          </a:xfrm>
          <a:prstGeom prst="rect">
            <a:avLst/>
          </a:prstGeom>
          <a:noFill/>
          <a:ln>
            <a:noFill/>
          </a:ln>
        </p:spPr>
        <p:txBody>
          <a:bodyPr wrap="none" lIns="0" tIns="0" rIns="0" bIns="0" anchor="t" anchorCtr="0">
            <a:spAutoFit/>
          </a:bodyPr>
          <a:lstStyle/>
          <a:p>
            <a:pPr algn="r"/>
            <a:r>
              <a:rPr lang="zh-CN" sz="900" dirty="0">
                <a:solidFill>
                  <a:schemeClr val="accent5"/>
                </a:solidFill>
                <a:latin typeface="+mn-lt"/>
                <a:ea typeface="+mn-ea"/>
                <a:cs typeface="+mn-cs"/>
              </a:rPr>
              <a:t>07</a:t>
            </a:r>
          </a:p>
        </p:txBody>
      </p:sp>
    </p:spTree>
    <p:extLst>
      <p:ext uri="{BB962C8B-B14F-4D97-AF65-F5344CB8AC3E}">
        <p14:creationId xmlns:p14="http://schemas.microsoft.com/office/powerpoint/2010/main" val="4175081664"/>
      </p:ext>
    </p:extLst>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5"/>
          <p:cNvGrpSpPr/>
          <p:nvPr/>
        </p:nvGrpSpPr>
        <p:grpSpPr>
          <a:xfrm>
            <a:off x="0" y="0"/>
            <a:ext cx="12192000" cy="685800"/>
            <a:chOff x="0" y="0"/>
            <a:chExt cx="12192000" cy="685800"/>
          </a:xfrm>
        </p:grpSpPr>
        <p:sp>
          <p:nvSpPr>
            <p:cNvPr id="2" name="Rectangle 2"/>
            <p:cNvSpPr/>
            <p:nvPr/>
          </p:nvSpPr>
          <p:spPr>
            <a:xfrm>
              <a:off x="0" y="0"/>
              <a:ext cx="12192000" cy="685800"/>
            </a:xfrm>
            <a:prstGeom prst="rect">
              <a:avLst/>
            </a:prstGeom>
            <a:solidFill>
              <a:schemeClr val="accent1"/>
            </a:solidFill>
            <a:ln>
              <a:noFill/>
            </a:ln>
          </p:spPr>
        </p:sp>
        <p:sp>
          <p:nvSpPr>
            <p:cNvPr id="3" name="TextBox 3"/>
            <p:cNvSpPr txBox="1"/>
            <p:nvPr/>
          </p:nvSpPr>
          <p:spPr>
            <a:xfrm>
              <a:off x="374142" y="282892"/>
              <a:ext cx="3688706" cy="264033"/>
            </a:xfrm>
            <a:prstGeom prst="rect">
              <a:avLst/>
            </a:prstGeom>
            <a:noFill/>
            <a:ln>
              <a:noFill/>
            </a:ln>
          </p:spPr>
          <p:txBody>
            <a:bodyPr wrap="none" lIns="0" tIns="0" rIns="0" bIns="0" anchor="t" anchorCtr="0">
              <a:spAutoFit/>
            </a:bodyPr>
            <a:lstStyle/>
            <a:p>
              <a:pPr algn="l"/>
              <a:r>
                <a:rPr lang="zh-CN" sz="1350" b="1" dirty="0">
                  <a:solidFill>
                    <a:srgbClr val="FFFFFF"/>
                  </a:solidFill>
                  <a:latin typeface="+mn-lt"/>
                  <a:ea typeface="+mn-ea"/>
                  <a:cs typeface="+mn-cs"/>
                </a:rPr>
                <a:t>1.5 储量 ≠ 更新速度 | Storage ≠ Turnover</a:t>
              </a:r>
            </a:p>
          </p:txBody>
        </p:sp>
        <p:sp>
          <p:nvSpPr>
            <p:cNvPr id="4" name="TextBox 4"/>
            <p:cNvSpPr txBox="1"/>
            <p:nvPr/>
          </p:nvSpPr>
          <p:spPr>
            <a:xfrm>
              <a:off x="10584485" y="299085"/>
              <a:ext cx="1232611" cy="234696"/>
            </a:xfrm>
            <a:prstGeom prst="rect">
              <a:avLst/>
            </a:prstGeom>
            <a:noFill/>
            <a:ln>
              <a:noFill/>
            </a:ln>
          </p:spPr>
          <p:txBody>
            <a:bodyPr wrap="none" lIns="0" tIns="0" rIns="0" bIns="0" anchor="t" anchorCtr="0">
              <a:spAutoFit/>
            </a:bodyPr>
            <a:lstStyle/>
            <a:p>
              <a:pPr algn="r"/>
              <a:r>
                <a:rPr lang="zh-CN" sz="1200" dirty="0">
                  <a:solidFill>
                    <a:srgbClr val="C7D7F2"/>
                  </a:solidFill>
                  <a:latin typeface="+mn-lt"/>
                  <a:ea typeface="+mn-ea"/>
                  <a:cs typeface="+mn-cs"/>
                </a:rPr>
                <a:t>RESIDENCE TIME</a:t>
              </a:r>
            </a:p>
          </p:txBody>
        </p:sp>
      </p:grpSp>
      <p:grpSp>
        <p:nvGrpSpPr>
          <p:cNvPr id="8" name="Group 8"/>
          <p:cNvGrpSpPr/>
          <p:nvPr/>
        </p:nvGrpSpPr>
        <p:grpSpPr>
          <a:xfrm>
            <a:off x="381000" y="914400"/>
            <a:ext cx="5284241" cy="357093"/>
            <a:chOff x="381000" y="914400"/>
            <a:chExt cx="5284241" cy="357093"/>
          </a:xfrm>
        </p:grpSpPr>
        <p:sp>
          <p:nvSpPr>
            <p:cNvPr id="6" name="Rectangle 6"/>
            <p:cNvSpPr/>
            <p:nvPr/>
          </p:nvSpPr>
          <p:spPr>
            <a:xfrm>
              <a:off x="381000" y="914400"/>
              <a:ext cx="57150" cy="266700"/>
            </a:xfrm>
            <a:prstGeom prst="roundRect">
              <a:avLst>
                <a:gd name="adj" fmla="val 50000"/>
              </a:avLst>
            </a:prstGeom>
            <a:solidFill>
              <a:schemeClr val="accent2"/>
            </a:solidFill>
            <a:ln>
              <a:noFill/>
            </a:ln>
          </p:spPr>
        </p:sp>
        <p:sp>
          <p:nvSpPr>
            <p:cNvPr id="7" name="TextBox 7"/>
            <p:cNvSpPr txBox="1"/>
            <p:nvPr/>
          </p:nvSpPr>
          <p:spPr>
            <a:xfrm>
              <a:off x="544449" y="963454"/>
              <a:ext cx="5120792" cy="308039"/>
            </a:xfrm>
            <a:prstGeom prst="rect">
              <a:avLst/>
            </a:prstGeom>
            <a:noFill/>
            <a:ln>
              <a:noFill/>
            </a:ln>
          </p:spPr>
          <p:txBody>
            <a:bodyPr wrap="none" lIns="0" tIns="0" rIns="0" bIns="0" anchor="t" anchorCtr="0">
              <a:spAutoFit/>
            </a:bodyPr>
            <a:lstStyle/>
            <a:p>
              <a:pPr algn="l"/>
              <a:r>
                <a:rPr lang="zh-CN" sz="1580" b="1" dirty="0">
                  <a:solidFill>
                    <a:schemeClr val="accent1"/>
                  </a:solidFill>
                  <a:latin typeface="+mn-lt"/>
                  <a:ea typeface="+mn-ea"/>
                  <a:cs typeface="+mn-cs"/>
                </a:rPr>
                <a:t>储量与更新速度是两个不同属性：大储库不一定更新快</a:t>
              </a:r>
            </a:p>
          </p:txBody>
        </p:sp>
      </p:grpSp>
      <p:grpSp>
        <p:nvGrpSpPr>
          <p:cNvPr id="56" name="Group 56"/>
          <p:cNvGrpSpPr/>
          <p:nvPr/>
        </p:nvGrpSpPr>
        <p:grpSpPr>
          <a:xfrm>
            <a:off x="381000" y="1447800"/>
            <a:ext cx="6724650" cy="4781550"/>
            <a:chOff x="381000" y="1447800"/>
            <a:chExt cx="6724650" cy="4781550"/>
          </a:xfrm>
        </p:grpSpPr>
        <p:sp>
          <p:nvSpPr>
            <p:cNvPr id="9" name="Rectangle 9"/>
            <p:cNvSpPr/>
            <p:nvPr/>
          </p:nvSpPr>
          <p:spPr>
            <a:xfrm>
              <a:off x="381000" y="1447800"/>
              <a:ext cx="6724650" cy="4781550"/>
            </a:xfrm>
            <a:prstGeom prst="roundRect">
              <a:avLst>
                <a:gd name="adj" fmla="val 2390"/>
              </a:avLst>
            </a:prstGeom>
            <a:solidFill>
              <a:schemeClr val="lt2"/>
            </a:solidFill>
            <a:ln w="9525">
              <a:solidFill>
                <a:schemeClr val="accent6"/>
              </a:solidFill>
            </a:ln>
          </p:spPr>
        </p:sp>
        <p:sp>
          <p:nvSpPr>
            <p:cNvPr id="10" name="TextBox 10"/>
            <p:cNvSpPr txBox="1"/>
            <p:nvPr/>
          </p:nvSpPr>
          <p:spPr>
            <a:xfrm>
              <a:off x="603504" y="1642110"/>
              <a:ext cx="4698119" cy="234696"/>
            </a:xfrm>
            <a:prstGeom prst="rect">
              <a:avLst/>
            </a:prstGeom>
            <a:noFill/>
            <a:ln>
              <a:noFill/>
            </a:ln>
          </p:spPr>
          <p:txBody>
            <a:bodyPr wrap="none" lIns="0" tIns="0" rIns="0" bIns="0" anchor="t" anchorCtr="0">
              <a:spAutoFit/>
            </a:bodyPr>
            <a:lstStyle/>
            <a:p>
              <a:pPr algn="l"/>
              <a:r>
                <a:rPr lang="zh-CN" sz="1200" b="1" dirty="0">
                  <a:solidFill>
                    <a:schemeClr val="accent1"/>
                  </a:solidFill>
                  <a:latin typeface="+mn-lt"/>
                  <a:ea typeface="+mn-ea"/>
                  <a:cs typeface="+mn-cs"/>
                </a:rPr>
                <a:t>七个水储库的停留时间 | Residence time of seven reservoirs</a:t>
              </a:r>
            </a:p>
          </p:txBody>
        </p:sp>
        <p:sp>
          <p:nvSpPr>
            <p:cNvPr id="11" name="Line 11"/>
            <p:cNvSpPr/>
            <p:nvPr/>
          </p:nvSpPr>
          <p:spPr>
            <a:xfrm>
              <a:off x="914400" y="2038350"/>
              <a:ext cx="9525" cy="3771900"/>
            </a:xfrm>
            <a:custGeom>
              <a:avLst/>
              <a:gdLst/>
              <a:ahLst/>
              <a:cxnLst/>
              <a:rect l="l" t="t" r="r" b="b"/>
              <a:pathLst>
                <a:path w="9525" h="3771900">
                  <a:moveTo>
                    <a:pt x="0" y="0"/>
                  </a:moveTo>
                  <a:lnTo>
                    <a:pt x="0" y="3771900"/>
                  </a:lnTo>
                </a:path>
              </a:pathLst>
            </a:custGeom>
            <a:noFill/>
            <a:ln w="9525">
              <a:solidFill>
                <a:srgbClr val="B8C7DC"/>
              </a:solidFill>
            </a:ln>
          </p:spPr>
        </p:sp>
        <p:sp>
          <p:nvSpPr>
            <p:cNvPr id="12" name="TextBox 12"/>
            <p:cNvSpPr txBox="1"/>
            <p:nvPr/>
          </p:nvSpPr>
          <p:spPr>
            <a:xfrm>
              <a:off x="4003920" y="2047399"/>
              <a:ext cx="1144533" cy="190690"/>
            </a:xfrm>
            <a:prstGeom prst="rect">
              <a:avLst/>
            </a:prstGeom>
            <a:noFill/>
            <a:ln>
              <a:noFill/>
            </a:ln>
          </p:spPr>
          <p:txBody>
            <a:bodyPr wrap="none" lIns="0" tIns="0" rIns="0" bIns="0" anchor="t" anchorCtr="0">
              <a:spAutoFit/>
            </a:bodyPr>
            <a:lstStyle/>
            <a:p>
              <a:pPr algn="r"/>
              <a:r>
                <a:rPr lang="zh-CN" sz="980" b="1" dirty="0">
                  <a:solidFill>
                    <a:srgbClr val="3D7BD9"/>
                  </a:solidFill>
                  <a:latin typeface="+mn-lt"/>
                  <a:ea typeface="+mn-ea"/>
                  <a:cs typeface="+mn-cs"/>
                </a:rPr>
                <a:t>快 Fast turnover</a:t>
              </a:r>
            </a:p>
          </p:txBody>
        </p:sp>
        <p:grpSp>
          <p:nvGrpSpPr>
            <p:cNvPr id="18" name="Group 18"/>
            <p:cNvGrpSpPr/>
            <p:nvPr/>
          </p:nvGrpSpPr>
          <p:grpSpPr>
            <a:xfrm>
              <a:off x="828675" y="1962150"/>
              <a:ext cx="6048375" cy="383857"/>
              <a:chOff x="828675" y="1962150"/>
              <a:chExt cx="6048375" cy="383857"/>
            </a:xfrm>
          </p:grpSpPr>
          <p:sp>
            <p:nvSpPr>
              <p:cNvPr id="13" name="Ellipse 13"/>
              <p:cNvSpPr/>
              <p:nvPr/>
            </p:nvSpPr>
            <p:spPr>
              <a:xfrm>
                <a:off x="828675" y="2028825"/>
                <a:ext cx="171450" cy="171450"/>
              </a:xfrm>
              <a:prstGeom prst="ellipse">
                <a:avLst/>
              </a:prstGeom>
              <a:solidFill>
                <a:srgbClr val="3D7BD9"/>
              </a:solidFill>
              <a:ln>
                <a:noFill/>
              </a:ln>
            </p:spPr>
          </p:sp>
          <p:sp>
            <p:nvSpPr>
              <p:cNvPr id="14" name="TextBox 14"/>
              <p:cNvSpPr txBox="1"/>
              <p:nvPr/>
            </p:nvSpPr>
            <p:spPr>
              <a:xfrm>
                <a:off x="1175385" y="1974056"/>
                <a:ext cx="312979" cy="220028"/>
              </a:xfrm>
              <a:prstGeom prst="rect">
                <a:avLst/>
              </a:prstGeom>
              <a:noFill/>
              <a:ln>
                <a:noFill/>
              </a:ln>
            </p:spPr>
            <p:txBody>
              <a:bodyPr wrap="none" lIns="0" tIns="0" rIns="0" bIns="0" anchor="t" anchorCtr="0">
                <a:spAutoFit/>
              </a:bodyPr>
              <a:lstStyle/>
              <a:p>
                <a:pPr algn="l"/>
                <a:r>
                  <a:rPr lang="zh-CN" sz="1120" dirty="0">
                    <a:solidFill>
                      <a:schemeClr val="dk1"/>
                    </a:solidFill>
                    <a:latin typeface="+mn-lt"/>
                    <a:ea typeface="+mn-ea"/>
                    <a:cs typeface="+mn-cs"/>
                  </a:rPr>
                  <a:t>大气</a:t>
                </a:r>
              </a:p>
            </p:txBody>
          </p:sp>
          <p:sp>
            <p:nvSpPr>
              <p:cNvPr id="15" name="TextBox 15"/>
              <p:cNvSpPr txBox="1"/>
              <p:nvPr/>
            </p:nvSpPr>
            <p:spPr>
              <a:xfrm>
                <a:off x="1176338" y="2169795"/>
                <a:ext cx="704035" cy="176212"/>
              </a:xfrm>
              <a:prstGeom prst="rect">
                <a:avLst/>
              </a:prstGeom>
              <a:noFill/>
              <a:ln>
                <a:noFill/>
              </a:ln>
            </p:spPr>
            <p:txBody>
              <a:bodyPr wrap="none" lIns="0" tIns="0" rIns="0" bIns="0" anchor="t" anchorCtr="0">
                <a:spAutoFit/>
              </a:bodyPr>
              <a:lstStyle/>
              <a:p>
                <a:pPr algn="l"/>
                <a:r>
                  <a:rPr lang="zh-CN" sz="900" dirty="0">
                    <a:solidFill>
                      <a:schemeClr val="accent5"/>
                    </a:solidFill>
                    <a:latin typeface="+mn-lt"/>
                    <a:ea typeface="+mn-ea"/>
                    <a:cs typeface="+mn-cs"/>
                  </a:rPr>
                  <a:t>Atmosphere</a:t>
                </a:r>
              </a:p>
            </p:txBody>
          </p:sp>
          <p:sp>
            <p:nvSpPr>
              <p:cNvPr id="16" name="Rectangle 16"/>
              <p:cNvSpPr/>
              <p:nvPr/>
            </p:nvSpPr>
            <p:spPr>
              <a:xfrm>
                <a:off x="5334000" y="1962150"/>
                <a:ext cx="1543050" cy="304800"/>
              </a:xfrm>
              <a:prstGeom prst="roundRect">
                <a:avLst>
                  <a:gd name="adj" fmla="val 31250"/>
                </a:avLst>
              </a:prstGeom>
              <a:solidFill>
                <a:srgbClr val="F0F5FC"/>
              </a:solidFill>
              <a:ln>
                <a:noFill/>
              </a:ln>
            </p:spPr>
          </p:sp>
          <p:sp>
            <p:nvSpPr>
              <p:cNvPr id="17" name="TextBox 17"/>
              <p:cNvSpPr txBox="1"/>
              <p:nvPr/>
            </p:nvSpPr>
            <p:spPr>
              <a:xfrm>
                <a:off x="5975736" y="2056924"/>
                <a:ext cx="259579" cy="190690"/>
              </a:xfrm>
              <a:prstGeom prst="rect">
                <a:avLst/>
              </a:prstGeom>
              <a:noFill/>
              <a:ln>
                <a:noFill/>
              </a:ln>
            </p:spPr>
            <p:txBody>
              <a:bodyPr wrap="none" lIns="0" tIns="0" rIns="0" bIns="0" anchor="t" anchorCtr="0">
                <a:spAutoFit/>
              </a:bodyPr>
              <a:lstStyle/>
              <a:p>
                <a:pPr algn="ctr"/>
                <a:r>
                  <a:rPr lang="zh-CN" sz="980" b="1" dirty="0">
                    <a:solidFill>
                      <a:schemeClr val="accent2"/>
                    </a:solidFill>
                    <a:latin typeface="+mn-lt"/>
                    <a:ea typeface="+mn-ea"/>
                    <a:cs typeface="+mn-cs"/>
                  </a:rPr>
                  <a:t>9 日</a:t>
                </a:r>
              </a:p>
            </p:txBody>
          </p:sp>
        </p:grpSp>
        <p:grpSp>
          <p:nvGrpSpPr>
            <p:cNvPr id="24" name="Group 24"/>
            <p:cNvGrpSpPr/>
            <p:nvPr/>
          </p:nvGrpSpPr>
          <p:grpSpPr>
            <a:xfrm>
              <a:off x="828675" y="2571750"/>
              <a:ext cx="6048375" cy="383857"/>
              <a:chOff x="828675" y="2571750"/>
              <a:chExt cx="6048375" cy="383857"/>
            </a:xfrm>
          </p:grpSpPr>
          <p:sp>
            <p:nvSpPr>
              <p:cNvPr id="19" name="Ellipse 19"/>
              <p:cNvSpPr/>
              <p:nvPr/>
            </p:nvSpPr>
            <p:spPr>
              <a:xfrm>
                <a:off x="828675" y="2638425"/>
                <a:ext cx="171450" cy="171450"/>
              </a:xfrm>
              <a:prstGeom prst="ellipse">
                <a:avLst/>
              </a:prstGeom>
              <a:solidFill>
                <a:srgbClr val="3D7BD9"/>
              </a:solidFill>
              <a:ln>
                <a:noFill/>
              </a:ln>
            </p:spPr>
          </p:sp>
          <p:sp>
            <p:nvSpPr>
              <p:cNvPr id="20" name="TextBox 20"/>
              <p:cNvSpPr txBox="1"/>
              <p:nvPr/>
            </p:nvSpPr>
            <p:spPr>
              <a:xfrm>
                <a:off x="1175385" y="2583656"/>
                <a:ext cx="463753" cy="220028"/>
              </a:xfrm>
              <a:prstGeom prst="rect">
                <a:avLst/>
              </a:prstGeom>
              <a:noFill/>
              <a:ln>
                <a:noFill/>
              </a:ln>
            </p:spPr>
            <p:txBody>
              <a:bodyPr wrap="none" lIns="0" tIns="0" rIns="0" bIns="0" anchor="t" anchorCtr="0">
                <a:spAutoFit/>
              </a:bodyPr>
              <a:lstStyle/>
              <a:p>
                <a:pPr algn="l"/>
                <a:r>
                  <a:rPr lang="zh-CN" sz="1120" dirty="0">
                    <a:solidFill>
                      <a:schemeClr val="dk1"/>
                    </a:solidFill>
                    <a:latin typeface="+mn-lt"/>
                    <a:ea typeface="+mn-ea"/>
                    <a:cs typeface="+mn-cs"/>
                  </a:rPr>
                  <a:t>土壤水</a:t>
                </a:r>
              </a:p>
            </p:txBody>
          </p:sp>
          <p:sp>
            <p:nvSpPr>
              <p:cNvPr id="21" name="TextBox 21"/>
              <p:cNvSpPr txBox="1"/>
              <p:nvPr/>
            </p:nvSpPr>
            <p:spPr>
              <a:xfrm>
                <a:off x="1176338" y="2779395"/>
                <a:ext cx="613029" cy="176212"/>
              </a:xfrm>
              <a:prstGeom prst="rect">
                <a:avLst/>
              </a:prstGeom>
              <a:noFill/>
              <a:ln>
                <a:noFill/>
              </a:ln>
            </p:spPr>
            <p:txBody>
              <a:bodyPr wrap="none" lIns="0" tIns="0" rIns="0" bIns="0" anchor="t" anchorCtr="0">
                <a:spAutoFit/>
              </a:bodyPr>
              <a:lstStyle/>
              <a:p>
                <a:pPr algn="l"/>
                <a:r>
                  <a:rPr lang="zh-CN" sz="900" dirty="0">
                    <a:solidFill>
                      <a:schemeClr val="accent5"/>
                    </a:solidFill>
                    <a:latin typeface="+mn-lt"/>
                    <a:ea typeface="+mn-ea"/>
                    <a:cs typeface="+mn-cs"/>
                  </a:rPr>
                  <a:t>Soil water</a:t>
                </a:r>
              </a:p>
            </p:txBody>
          </p:sp>
          <p:sp>
            <p:nvSpPr>
              <p:cNvPr id="22" name="Rectangle 22"/>
              <p:cNvSpPr/>
              <p:nvPr/>
            </p:nvSpPr>
            <p:spPr>
              <a:xfrm>
                <a:off x="5334000" y="2571750"/>
                <a:ext cx="1543050" cy="304800"/>
              </a:xfrm>
              <a:prstGeom prst="roundRect">
                <a:avLst>
                  <a:gd name="adj" fmla="val 31250"/>
                </a:avLst>
              </a:prstGeom>
              <a:solidFill>
                <a:srgbClr val="F0F5FC"/>
              </a:solidFill>
              <a:ln>
                <a:noFill/>
              </a:ln>
            </p:spPr>
          </p:sp>
          <p:sp>
            <p:nvSpPr>
              <p:cNvPr id="23" name="TextBox 23"/>
              <p:cNvSpPr txBox="1"/>
              <p:nvPr/>
            </p:nvSpPr>
            <p:spPr>
              <a:xfrm>
                <a:off x="5899547" y="2666524"/>
                <a:ext cx="411955" cy="190690"/>
              </a:xfrm>
              <a:prstGeom prst="rect">
                <a:avLst/>
              </a:prstGeom>
              <a:noFill/>
              <a:ln>
                <a:noFill/>
              </a:ln>
            </p:spPr>
            <p:txBody>
              <a:bodyPr wrap="none" lIns="0" tIns="0" rIns="0" bIns="0" anchor="t" anchorCtr="0">
                <a:spAutoFit/>
              </a:bodyPr>
              <a:lstStyle/>
              <a:p>
                <a:pPr algn="ctr"/>
                <a:r>
                  <a:rPr lang="zh-CN" sz="980" b="1" dirty="0">
                    <a:solidFill>
                      <a:schemeClr val="accent2"/>
                    </a:solidFill>
                    <a:latin typeface="+mn-lt"/>
                    <a:ea typeface="+mn-ea"/>
                    <a:cs typeface="+mn-cs"/>
                  </a:rPr>
                  <a:t>1–2 月</a:t>
                </a:r>
              </a:p>
            </p:txBody>
          </p:sp>
        </p:grpSp>
        <p:grpSp>
          <p:nvGrpSpPr>
            <p:cNvPr id="30" name="Group 30"/>
            <p:cNvGrpSpPr/>
            <p:nvPr/>
          </p:nvGrpSpPr>
          <p:grpSpPr>
            <a:xfrm>
              <a:off x="828675" y="3181350"/>
              <a:ext cx="6048375" cy="383857"/>
              <a:chOff x="828675" y="3181350"/>
              <a:chExt cx="6048375" cy="383857"/>
            </a:xfrm>
          </p:grpSpPr>
          <p:sp>
            <p:nvSpPr>
              <p:cNvPr id="25" name="Ellipse 25"/>
              <p:cNvSpPr/>
              <p:nvPr/>
            </p:nvSpPr>
            <p:spPr>
              <a:xfrm>
                <a:off x="828675" y="3248025"/>
                <a:ext cx="171450" cy="171450"/>
              </a:xfrm>
              <a:prstGeom prst="ellipse">
                <a:avLst/>
              </a:prstGeom>
              <a:solidFill>
                <a:srgbClr val="3D7BD9"/>
              </a:solidFill>
              <a:ln>
                <a:noFill/>
              </a:ln>
            </p:spPr>
          </p:sp>
          <p:sp>
            <p:nvSpPr>
              <p:cNvPr id="26" name="TextBox 26"/>
              <p:cNvSpPr txBox="1"/>
              <p:nvPr/>
            </p:nvSpPr>
            <p:spPr>
              <a:xfrm>
                <a:off x="1175385" y="3193256"/>
                <a:ext cx="1217625" cy="220028"/>
              </a:xfrm>
              <a:prstGeom prst="rect">
                <a:avLst/>
              </a:prstGeom>
              <a:noFill/>
              <a:ln>
                <a:noFill/>
              </a:ln>
            </p:spPr>
            <p:txBody>
              <a:bodyPr wrap="none" lIns="0" tIns="0" rIns="0" bIns="0" anchor="t" anchorCtr="0">
                <a:spAutoFit/>
              </a:bodyPr>
              <a:lstStyle/>
              <a:p>
                <a:pPr algn="l"/>
                <a:r>
                  <a:rPr lang="zh-CN" sz="1120" dirty="0">
                    <a:solidFill>
                      <a:schemeClr val="dk1"/>
                    </a:solidFill>
                    <a:latin typeface="+mn-lt"/>
                    <a:ea typeface="+mn-ea"/>
                    <a:cs typeface="+mn-cs"/>
                  </a:rPr>
                  <a:t>河流与季节性冰雪</a:t>
                </a:r>
              </a:p>
            </p:txBody>
          </p:sp>
          <p:sp>
            <p:nvSpPr>
              <p:cNvPr id="27" name="TextBox 27"/>
              <p:cNvSpPr txBox="1"/>
              <p:nvPr/>
            </p:nvSpPr>
            <p:spPr>
              <a:xfrm>
                <a:off x="1176338" y="3388995"/>
                <a:ext cx="1588824" cy="176212"/>
              </a:xfrm>
              <a:prstGeom prst="rect">
                <a:avLst/>
              </a:prstGeom>
              <a:noFill/>
              <a:ln>
                <a:noFill/>
              </a:ln>
            </p:spPr>
            <p:txBody>
              <a:bodyPr wrap="none" lIns="0" tIns="0" rIns="0" bIns="0" anchor="t" anchorCtr="0">
                <a:spAutoFit/>
              </a:bodyPr>
              <a:lstStyle/>
              <a:p>
                <a:pPr algn="l"/>
                <a:r>
                  <a:rPr lang="zh-CN" sz="900" dirty="0">
                    <a:solidFill>
                      <a:schemeClr val="accent5"/>
                    </a:solidFill>
                    <a:latin typeface="+mn-lt"/>
                    <a:ea typeface="+mn-ea"/>
                    <a:cs typeface="+mn-cs"/>
                  </a:rPr>
                  <a:t>Rivers &amp; seasonal snow/ice</a:t>
                </a:r>
              </a:p>
            </p:txBody>
          </p:sp>
          <p:sp>
            <p:nvSpPr>
              <p:cNvPr id="28" name="Rectangle 28"/>
              <p:cNvSpPr/>
              <p:nvPr/>
            </p:nvSpPr>
            <p:spPr>
              <a:xfrm>
                <a:off x="5334000" y="3181350"/>
                <a:ext cx="1543050" cy="304800"/>
              </a:xfrm>
              <a:prstGeom prst="roundRect">
                <a:avLst>
                  <a:gd name="adj" fmla="val 31250"/>
                </a:avLst>
              </a:prstGeom>
              <a:solidFill>
                <a:srgbClr val="F0F5FC"/>
              </a:solidFill>
              <a:ln>
                <a:noFill/>
              </a:ln>
            </p:spPr>
          </p:sp>
          <p:sp>
            <p:nvSpPr>
              <p:cNvPr id="29" name="TextBox 29"/>
              <p:cNvSpPr txBox="1"/>
              <p:nvPr/>
            </p:nvSpPr>
            <p:spPr>
              <a:xfrm>
                <a:off x="5899547" y="3276124"/>
                <a:ext cx="411955" cy="190690"/>
              </a:xfrm>
              <a:prstGeom prst="rect">
                <a:avLst/>
              </a:prstGeom>
              <a:noFill/>
              <a:ln>
                <a:noFill/>
              </a:ln>
            </p:spPr>
            <p:txBody>
              <a:bodyPr wrap="none" lIns="0" tIns="0" rIns="0" bIns="0" anchor="t" anchorCtr="0">
                <a:spAutoFit/>
              </a:bodyPr>
              <a:lstStyle/>
              <a:p>
                <a:pPr algn="ctr"/>
                <a:r>
                  <a:rPr lang="zh-CN" sz="980" b="1" dirty="0">
                    <a:solidFill>
                      <a:schemeClr val="accent2"/>
                    </a:solidFill>
                    <a:latin typeface="+mn-lt"/>
                    <a:ea typeface="+mn-ea"/>
                    <a:cs typeface="+mn-cs"/>
                  </a:rPr>
                  <a:t>2–6 月</a:t>
                </a:r>
              </a:p>
            </p:txBody>
          </p:sp>
        </p:grpSp>
        <p:grpSp>
          <p:nvGrpSpPr>
            <p:cNvPr id="36" name="Group 36"/>
            <p:cNvGrpSpPr/>
            <p:nvPr/>
          </p:nvGrpSpPr>
          <p:grpSpPr>
            <a:xfrm>
              <a:off x="828675" y="3790950"/>
              <a:ext cx="6048375" cy="383857"/>
              <a:chOff x="828675" y="3790950"/>
              <a:chExt cx="6048375" cy="383857"/>
            </a:xfrm>
          </p:grpSpPr>
          <p:sp>
            <p:nvSpPr>
              <p:cNvPr id="31" name="Ellipse 31"/>
              <p:cNvSpPr/>
              <p:nvPr/>
            </p:nvSpPr>
            <p:spPr>
              <a:xfrm>
                <a:off x="828675" y="3857625"/>
                <a:ext cx="171450" cy="171450"/>
              </a:xfrm>
              <a:prstGeom prst="ellipse">
                <a:avLst/>
              </a:prstGeom>
              <a:solidFill>
                <a:schemeClr val="accent1"/>
              </a:solidFill>
              <a:ln>
                <a:noFill/>
              </a:ln>
            </p:spPr>
          </p:sp>
          <p:sp>
            <p:nvSpPr>
              <p:cNvPr id="32" name="TextBox 32"/>
              <p:cNvSpPr txBox="1"/>
              <p:nvPr/>
            </p:nvSpPr>
            <p:spPr>
              <a:xfrm>
                <a:off x="1175385" y="3802856"/>
                <a:ext cx="765302" cy="220028"/>
              </a:xfrm>
              <a:prstGeom prst="rect">
                <a:avLst/>
              </a:prstGeom>
              <a:noFill/>
              <a:ln>
                <a:noFill/>
              </a:ln>
            </p:spPr>
            <p:txBody>
              <a:bodyPr wrap="none" lIns="0" tIns="0" rIns="0" bIns="0" anchor="t" anchorCtr="0">
                <a:spAutoFit/>
              </a:bodyPr>
              <a:lstStyle/>
              <a:p>
                <a:pPr algn="l"/>
                <a:r>
                  <a:rPr lang="zh-CN" sz="1120" dirty="0">
                    <a:solidFill>
                      <a:schemeClr val="dk1"/>
                    </a:solidFill>
                    <a:latin typeface="+mn-lt"/>
                    <a:ea typeface="+mn-ea"/>
                    <a:cs typeface="+mn-cs"/>
                  </a:rPr>
                  <a:t>浅层地下水</a:t>
                </a:r>
              </a:p>
            </p:txBody>
          </p:sp>
          <p:sp>
            <p:nvSpPr>
              <p:cNvPr id="33" name="TextBox 33"/>
              <p:cNvSpPr txBox="1"/>
              <p:nvPr/>
            </p:nvSpPr>
            <p:spPr>
              <a:xfrm>
                <a:off x="1176338" y="3998595"/>
                <a:ext cx="1237069" cy="176212"/>
              </a:xfrm>
              <a:prstGeom prst="rect">
                <a:avLst/>
              </a:prstGeom>
              <a:noFill/>
              <a:ln>
                <a:noFill/>
              </a:ln>
            </p:spPr>
            <p:txBody>
              <a:bodyPr wrap="none" lIns="0" tIns="0" rIns="0" bIns="0" anchor="t" anchorCtr="0">
                <a:spAutoFit/>
              </a:bodyPr>
              <a:lstStyle/>
              <a:p>
                <a:pPr algn="l"/>
                <a:r>
                  <a:rPr lang="zh-CN" sz="900" dirty="0">
                    <a:solidFill>
                      <a:schemeClr val="accent5"/>
                    </a:solidFill>
                    <a:latin typeface="+mn-lt"/>
                    <a:ea typeface="+mn-ea"/>
                    <a:cs typeface="+mn-cs"/>
                  </a:rPr>
                  <a:t>Shallow groundwater</a:t>
                </a:r>
              </a:p>
            </p:txBody>
          </p:sp>
          <p:sp>
            <p:nvSpPr>
              <p:cNvPr id="34" name="Rectangle 34"/>
              <p:cNvSpPr/>
              <p:nvPr/>
            </p:nvSpPr>
            <p:spPr>
              <a:xfrm>
                <a:off x="5334000" y="3790950"/>
                <a:ext cx="1543050" cy="304800"/>
              </a:xfrm>
              <a:prstGeom prst="roundRect">
                <a:avLst>
                  <a:gd name="adj" fmla="val 31250"/>
                </a:avLst>
              </a:prstGeom>
              <a:solidFill>
                <a:schemeClr val="accent1"/>
              </a:solidFill>
              <a:ln>
                <a:noFill/>
              </a:ln>
            </p:spPr>
          </p:sp>
          <p:sp>
            <p:nvSpPr>
              <p:cNvPr id="35" name="TextBox 35"/>
              <p:cNvSpPr txBox="1"/>
              <p:nvPr/>
            </p:nvSpPr>
            <p:spPr>
              <a:xfrm>
                <a:off x="5747171" y="3885724"/>
                <a:ext cx="716708" cy="190690"/>
              </a:xfrm>
              <a:prstGeom prst="rect">
                <a:avLst/>
              </a:prstGeom>
              <a:noFill/>
              <a:ln>
                <a:noFill/>
              </a:ln>
            </p:spPr>
            <p:txBody>
              <a:bodyPr wrap="none" lIns="0" tIns="0" rIns="0" bIns="0" anchor="t" anchorCtr="0">
                <a:spAutoFit/>
              </a:bodyPr>
              <a:lstStyle/>
              <a:p>
                <a:pPr algn="ctr"/>
                <a:r>
                  <a:rPr lang="zh-CN" sz="980" b="1" dirty="0">
                    <a:solidFill>
                      <a:srgbClr val="FFFFFF"/>
                    </a:solidFill>
                    <a:latin typeface="+mn-lt"/>
                    <a:ea typeface="+mn-ea"/>
                    <a:cs typeface="+mn-cs"/>
                  </a:rPr>
                  <a:t>100–200 年</a:t>
                </a:r>
              </a:p>
            </p:txBody>
          </p:sp>
        </p:grpSp>
        <p:grpSp>
          <p:nvGrpSpPr>
            <p:cNvPr id="42" name="Group 42"/>
            <p:cNvGrpSpPr/>
            <p:nvPr/>
          </p:nvGrpSpPr>
          <p:grpSpPr>
            <a:xfrm>
              <a:off x="828675" y="4400550"/>
              <a:ext cx="6048375" cy="383857"/>
              <a:chOff x="828675" y="4400550"/>
              <a:chExt cx="6048375" cy="383857"/>
            </a:xfrm>
          </p:grpSpPr>
          <p:sp>
            <p:nvSpPr>
              <p:cNvPr id="37" name="Ellipse 37"/>
              <p:cNvSpPr/>
              <p:nvPr/>
            </p:nvSpPr>
            <p:spPr>
              <a:xfrm>
                <a:off x="828675" y="4467225"/>
                <a:ext cx="171450" cy="171450"/>
              </a:xfrm>
              <a:prstGeom prst="ellipse">
                <a:avLst/>
              </a:prstGeom>
              <a:solidFill>
                <a:schemeClr val="accent1"/>
              </a:solidFill>
              <a:ln>
                <a:noFill/>
              </a:ln>
            </p:spPr>
          </p:sp>
          <p:sp>
            <p:nvSpPr>
              <p:cNvPr id="38" name="TextBox 38"/>
              <p:cNvSpPr txBox="1"/>
              <p:nvPr/>
            </p:nvSpPr>
            <p:spPr>
              <a:xfrm>
                <a:off x="1175385" y="4412456"/>
                <a:ext cx="312979" cy="220028"/>
              </a:xfrm>
              <a:prstGeom prst="rect">
                <a:avLst/>
              </a:prstGeom>
              <a:noFill/>
              <a:ln>
                <a:noFill/>
              </a:ln>
            </p:spPr>
            <p:txBody>
              <a:bodyPr wrap="none" lIns="0" tIns="0" rIns="0" bIns="0" anchor="t" anchorCtr="0">
                <a:spAutoFit/>
              </a:bodyPr>
              <a:lstStyle/>
              <a:p>
                <a:pPr algn="l"/>
                <a:r>
                  <a:rPr lang="zh-CN" sz="1120" dirty="0">
                    <a:solidFill>
                      <a:schemeClr val="dk1"/>
                    </a:solidFill>
                    <a:latin typeface="+mn-lt"/>
                    <a:ea typeface="+mn-ea"/>
                    <a:cs typeface="+mn-cs"/>
                  </a:rPr>
                  <a:t>海洋</a:t>
                </a:r>
              </a:p>
            </p:txBody>
          </p:sp>
          <p:sp>
            <p:nvSpPr>
              <p:cNvPr id="39" name="TextBox 39"/>
              <p:cNvSpPr txBox="1"/>
              <p:nvPr/>
            </p:nvSpPr>
            <p:spPr>
              <a:xfrm>
                <a:off x="1176338" y="4608195"/>
                <a:ext cx="370987" cy="176212"/>
              </a:xfrm>
              <a:prstGeom prst="rect">
                <a:avLst/>
              </a:prstGeom>
              <a:noFill/>
              <a:ln>
                <a:noFill/>
              </a:ln>
            </p:spPr>
            <p:txBody>
              <a:bodyPr wrap="none" lIns="0" tIns="0" rIns="0" bIns="0" anchor="t" anchorCtr="0">
                <a:spAutoFit/>
              </a:bodyPr>
              <a:lstStyle/>
              <a:p>
                <a:pPr algn="l"/>
                <a:r>
                  <a:rPr lang="zh-CN" sz="900" dirty="0">
                    <a:solidFill>
                      <a:schemeClr val="accent5"/>
                    </a:solidFill>
                    <a:latin typeface="+mn-lt"/>
                    <a:ea typeface="+mn-ea"/>
                    <a:cs typeface="+mn-cs"/>
                  </a:rPr>
                  <a:t>Ocean</a:t>
                </a:r>
              </a:p>
            </p:txBody>
          </p:sp>
          <p:sp>
            <p:nvSpPr>
              <p:cNvPr id="40" name="Rectangle 40"/>
              <p:cNvSpPr/>
              <p:nvPr/>
            </p:nvSpPr>
            <p:spPr>
              <a:xfrm>
                <a:off x="5334000" y="4400550"/>
                <a:ext cx="1543050" cy="304800"/>
              </a:xfrm>
              <a:prstGeom prst="roundRect">
                <a:avLst>
                  <a:gd name="adj" fmla="val 31250"/>
                </a:avLst>
              </a:prstGeom>
              <a:solidFill>
                <a:schemeClr val="accent1"/>
              </a:solidFill>
              <a:ln>
                <a:noFill/>
              </a:ln>
            </p:spPr>
          </p:sp>
          <p:sp>
            <p:nvSpPr>
              <p:cNvPr id="41" name="TextBox 41"/>
              <p:cNvSpPr txBox="1"/>
              <p:nvPr/>
            </p:nvSpPr>
            <p:spPr>
              <a:xfrm>
                <a:off x="5823359" y="4495324"/>
                <a:ext cx="564332" cy="190690"/>
              </a:xfrm>
              <a:prstGeom prst="rect">
                <a:avLst/>
              </a:prstGeom>
              <a:noFill/>
              <a:ln>
                <a:noFill/>
              </a:ln>
            </p:spPr>
            <p:txBody>
              <a:bodyPr wrap="none" lIns="0" tIns="0" rIns="0" bIns="0" anchor="t" anchorCtr="0">
                <a:spAutoFit/>
              </a:bodyPr>
              <a:lstStyle/>
              <a:p>
                <a:pPr algn="ctr"/>
                <a:r>
                  <a:rPr lang="zh-CN" sz="980" b="1" dirty="0">
                    <a:solidFill>
                      <a:srgbClr val="FFFFFF"/>
                    </a:solidFill>
                    <a:latin typeface="+mn-lt"/>
                    <a:ea typeface="+mn-ea"/>
                    <a:cs typeface="+mn-cs"/>
                  </a:rPr>
                  <a:t>3,200 年</a:t>
                </a:r>
              </a:p>
            </p:txBody>
          </p:sp>
        </p:grpSp>
        <p:grpSp>
          <p:nvGrpSpPr>
            <p:cNvPr id="48" name="Group 48"/>
            <p:cNvGrpSpPr/>
            <p:nvPr/>
          </p:nvGrpSpPr>
          <p:grpSpPr>
            <a:xfrm>
              <a:off x="828675" y="5010150"/>
              <a:ext cx="6048375" cy="383857"/>
              <a:chOff x="828675" y="5010150"/>
              <a:chExt cx="6048375" cy="383857"/>
            </a:xfrm>
          </p:grpSpPr>
          <p:sp>
            <p:nvSpPr>
              <p:cNvPr id="43" name="Ellipse 43"/>
              <p:cNvSpPr/>
              <p:nvPr/>
            </p:nvSpPr>
            <p:spPr>
              <a:xfrm>
                <a:off x="828675" y="5076825"/>
                <a:ext cx="171450" cy="171450"/>
              </a:xfrm>
              <a:prstGeom prst="ellipse">
                <a:avLst/>
              </a:prstGeom>
              <a:solidFill>
                <a:schemeClr val="accent1"/>
              </a:solidFill>
              <a:ln>
                <a:noFill/>
              </a:ln>
            </p:spPr>
          </p:sp>
          <p:sp>
            <p:nvSpPr>
              <p:cNvPr id="44" name="TextBox 44"/>
              <p:cNvSpPr txBox="1"/>
              <p:nvPr/>
            </p:nvSpPr>
            <p:spPr>
              <a:xfrm>
                <a:off x="1175385" y="5022056"/>
                <a:ext cx="765302" cy="220028"/>
              </a:xfrm>
              <a:prstGeom prst="rect">
                <a:avLst/>
              </a:prstGeom>
              <a:noFill/>
              <a:ln>
                <a:noFill/>
              </a:ln>
            </p:spPr>
            <p:txBody>
              <a:bodyPr wrap="none" lIns="0" tIns="0" rIns="0" bIns="0" anchor="t" anchorCtr="0">
                <a:spAutoFit/>
              </a:bodyPr>
              <a:lstStyle/>
              <a:p>
                <a:pPr algn="l"/>
                <a:r>
                  <a:rPr lang="zh-CN" sz="1120" dirty="0">
                    <a:solidFill>
                      <a:schemeClr val="dk1"/>
                    </a:solidFill>
                    <a:latin typeface="+mn-lt"/>
                    <a:ea typeface="+mn-ea"/>
                    <a:cs typeface="+mn-cs"/>
                  </a:rPr>
                  <a:t>深层地下水</a:t>
                </a:r>
              </a:p>
            </p:txBody>
          </p:sp>
          <p:sp>
            <p:nvSpPr>
              <p:cNvPr id="45" name="TextBox 45"/>
              <p:cNvSpPr txBox="1"/>
              <p:nvPr/>
            </p:nvSpPr>
            <p:spPr>
              <a:xfrm>
                <a:off x="1176338" y="5217795"/>
                <a:ext cx="1073658" cy="176212"/>
              </a:xfrm>
              <a:prstGeom prst="rect">
                <a:avLst/>
              </a:prstGeom>
              <a:noFill/>
              <a:ln>
                <a:noFill/>
              </a:ln>
            </p:spPr>
            <p:txBody>
              <a:bodyPr wrap="none" lIns="0" tIns="0" rIns="0" bIns="0" anchor="t" anchorCtr="0">
                <a:spAutoFit/>
              </a:bodyPr>
              <a:lstStyle/>
              <a:p>
                <a:pPr algn="l"/>
                <a:r>
                  <a:rPr lang="zh-CN" sz="900" dirty="0">
                    <a:solidFill>
                      <a:schemeClr val="accent5"/>
                    </a:solidFill>
                    <a:latin typeface="+mn-lt"/>
                    <a:ea typeface="+mn-ea"/>
                    <a:cs typeface="+mn-cs"/>
                  </a:rPr>
                  <a:t>Deep groundwater</a:t>
                </a:r>
              </a:p>
            </p:txBody>
          </p:sp>
          <p:sp>
            <p:nvSpPr>
              <p:cNvPr id="46" name="Rectangle 46"/>
              <p:cNvSpPr/>
              <p:nvPr/>
            </p:nvSpPr>
            <p:spPr>
              <a:xfrm>
                <a:off x="5334000" y="5010150"/>
                <a:ext cx="1543050" cy="304800"/>
              </a:xfrm>
              <a:prstGeom prst="roundRect">
                <a:avLst>
                  <a:gd name="adj" fmla="val 31250"/>
                </a:avLst>
              </a:prstGeom>
              <a:solidFill>
                <a:schemeClr val="accent1"/>
              </a:solidFill>
              <a:ln>
                <a:noFill/>
              </a:ln>
            </p:spPr>
          </p:sp>
          <p:sp>
            <p:nvSpPr>
              <p:cNvPr id="47" name="TextBox 47"/>
              <p:cNvSpPr txBox="1"/>
              <p:nvPr/>
            </p:nvSpPr>
            <p:spPr>
              <a:xfrm>
                <a:off x="5785265" y="5104924"/>
                <a:ext cx="640520" cy="190690"/>
              </a:xfrm>
              <a:prstGeom prst="rect">
                <a:avLst/>
              </a:prstGeom>
              <a:noFill/>
              <a:ln>
                <a:noFill/>
              </a:ln>
            </p:spPr>
            <p:txBody>
              <a:bodyPr wrap="none" lIns="0" tIns="0" rIns="0" bIns="0" anchor="t" anchorCtr="0">
                <a:spAutoFit/>
              </a:bodyPr>
              <a:lstStyle/>
              <a:p>
                <a:pPr algn="ctr"/>
                <a:r>
                  <a:rPr lang="zh-CN" sz="980" b="1" dirty="0">
                    <a:solidFill>
                      <a:srgbClr val="FFFFFF"/>
                    </a:solidFill>
                    <a:latin typeface="+mn-lt"/>
                    <a:ea typeface="+mn-ea"/>
                    <a:cs typeface="+mn-cs"/>
                  </a:rPr>
                  <a:t>10,000 年</a:t>
                </a:r>
              </a:p>
            </p:txBody>
          </p:sp>
        </p:grpSp>
        <p:grpSp>
          <p:nvGrpSpPr>
            <p:cNvPr id="54" name="Group 54"/>
            <p:cNvGrpSpPr/>
            <p:nvPr/>
          </p:nvGrpSpPr>
          <p:grpSpPr>
            <a:xfrm>
              <a:off x="828675" y="5619750"/>
              <a:ext cx="6048375" cy="383857"/>
              <a:chOff x="828675" y="5619750"/>
              <a:chExt cx="6048375" cy="383857"/>
            </a:xfrm>
          </p:grpSpPr>
          <p:sp>
            <p:nvSpPr>
              <p:cNvPr id="49" name="Ellipse 49"/>
              <p:cNvSpPr/>
              <p:nvPr/>
            </p:nvSpPr>
            <p:spPr>
              <a:xfrm>
                <a:off x="828675" y="5686425"/>
                <a:ext cx="171450" cy="171450"/>
              </a:xfrm>
              <a:prstGeom prst="ellipse">
                <a:avLst/>
              </a:prstGeom>
              <a:solidFill>
                <a:schemeClr val="accent1"/>
              </a:solidFill>
              <a:ln>
                <a:noFill/>
              </a:ln>
            </p:spPr>
          </p:sp>
          <p:sp>
            <p:nvSpPr>
              <p:cNvPr id="50" name="TextBox 50"/>
              <p:cNvSpPr txBox="1"/>
              <p:nvPr/>
            </p:nvSpPr>
            <p:spPr>
              <a:xfrm>
                <a:off x="1175385" y="5631656"/>
                <a:ext cx="614528" cy="220028"/>
              </a:xfrm>
              <a:prstGeom prst="rect">
                <a:avLst/>
              </a:prstGeom>
              <a:noFill/>
              <a:ln>
                <a:noFill/>
              </a:ln>
            </p:spPr>
            <p:txBody>
              <a:bodyPr wrap="none" lIns="0" tIns="0" rIns="0" bIns="0" anchor="t" anchorCtr="0">
                <a:spAutoFit/>
              </a:bodyPr>
              <a:lstStyle/>
              <a:p>
                <a:pPr algn="l"/>
                <a:r>
                  <a:rPr lang="zh-CN" sz="1120" dirty="0">
                    <a:solidFill>
                      <a:schemeClr val="dk1"/>
                    </a:solidFill>
                    <a:latin typeface="+mn-lt"/>
                    <a:ea typeface="+mn-ea"/>
                    <a:cs typeface="+mn-cs"/>
                  </a:rPr>
                  <a:t>南极冰盖</a:t>
                </a:r>
              </a:p>
            </p:txBody>
          </p:sp>
          <p:sp>
            <p:nvSpPr>
              <p:cNvPr id="51" name="TextBox 51"/>
              <p:cNvSpPr txBox="1"/>
              <p:nvPr/>
            </p:nvSpPr>
            <p:spPr>
              <a:xfrm>
                <a:off x="1176338" y="5827395"/>
                <a:ext cx="1158280" cy="176212"/>
              </a:xfrm>
              <a:prstGeom prst="rect">
                <a:avLst/>
              </a:prstGeom>
              <a:noFill/>
              <a:ln>
                <a:noFill/>
              </a:ln>
            </p:spPr>
            <p:txBody>
              <a:bodyPr wrap="none" lIns="0" tIns="0" rIns="0" bIns="0" anchor="t" anchorCtr="0">
                <a:spAutoFit/>
              </a:bodyPr>
              <a:lstStyle/>
              <a:p>
                <a:pPr algn="l"/>
                <a:r>
                  <a:rPr lang="zh-CN" sz="900" dirty="0">
                    <a:solidFill>
                      <a:schemeClr val="accent5"/>
                    </a:solidFill>
                    <a:latin typeface="+mn-lt"/>
                    <a:ea typeface="+mn-ea"/>
                    <a:cs typeface="+mn-cs"/>
                  </a:rPr>
                  <a:t>Antarctic ice sheet</a:t>
                </a:r>
              </a:p>
            </p:txBody>
          </p:sp>
          <p:sp>
            <p:nvSpPr>
              <p:cNvPr id="52" name="Rectangle 52"/>
              <p:cNvSpPr/>
              <p:nvPr/>
            </p:nvSpPr>
            <p:spPr>
              <a:xfrm>
                <a:off x="5334000" y="5619750"/>
                <a:ext cx="1543050" cy="304800"/>
              </a:xfrm>
              <a:prstGeom prst="roundRect">
                <a:avLst>
                  <a:gd name="adj" fmla="val 31250"/>
                </a:avLst>
              </a:prstGeom>
              <a:solidFill>
                <a:schemeClr val="accent1"/>
              </a:solidFill>
              <a:ln>
                <a:noFill/>
              </a:ln>
            </p:spPr>
          </p:sp>
          <p:sp>
            <p:nvSpPr>
              <p:cNvPr id="53" name="TextBox 53"/>
              <p:cNvSpPr txBox="1"/>
              <p:nvPr/>
            </p:nvSpPr>
            <p:spPr>
              <a:xfrm>
                <a:off x="5785265" y="5714524"/>
                <a:ext cx="640520" cy="190690"/>
              </a:xfrm>
              <a:prstGeom prst="rect">
                <a:avLst/>
              </a:prstGeom>
              <a:noFill/>
              <a:ln>
                <a:noFill/>
              </a:ln>
            </p:spPr>
            <p:txBody>
              <a:bodyPr wrap="none" lIns="0" tIns="0" rIns="0" bIns="0" anchor="t" anchorCtr="0">
                <a:spAutoFit/>
              </a:bodyPr>
              <a:lstStyle/>
              <a:p>
                <a:pPr algn="ctr"/>
                <a:r>
                  <a:rPr lang="zh-CN" sz="980" b="1" dirty="0">
                    <a:solidFill>
                      <a:srgbClr val="FFFFFF"/>
                    </a:solidFill>
                    <a:latin typeface="+mn-lt"/>
                    <a:ea typeface="+mn-ea"/>
                    <a:cs typeface="+mn-cs"/>
                  </a:rPr>
                  <a:t>20,000 年</a:t>
                </a:r>
              </a:p>
            </p:txBody>
          </p:sp>
        </p:grpSp>
        <p:sp>
          <p:nvSpPr>
            <p:cNvPr id="55" name="TextBox 55"/>
            <p:cNvSpPr txBox="1"/>
            <p:nvPr/>
          </p:nvSpPr>
          <p:spPr>
            <a:xfrm>
              <a:off x="4010879" y="6028849"/>
              <a:ext cx="1137574" cy="190690"/>
            </a:xfrm>
            <a:prstGeom prst="rect">
              <a:avLst/>
            </a:prstGeom>
            <a:noFill/>
            <a:ln>
              <a:noFill/>
            </a:ln>
          </p:spPr>
          <p:txBody>
            <a:bodyPr wrap="none" lIns="0" tIns="0" rIns="0" bIns="0" anchor="t" anchorCtr="0">
              <a:spAutoFit/>
            </a:bodyPr>
            <a:lstStyle/>
            <a:p>
              <a:pPr algn="r"/>
              <a:r>
                <a:rPr lang="zh-CN" sz="980" b="1" dirty="0">
                  <a:solidFill>
                    <a:schemeClr val="accent1"/>
                  </a:solidFill>
                  <a:latin typeface="+mn-lt"/>
                  <a:ea typeface="+mn-ea"/>
                  <a:cs typeface="+mn-cs"/>
                </a:rPr>
                <a:t>慢 Slow turnover</a:t>
              </a:r>
            </a:p>
          </p:txBody>
        </p:sp>
      </p:grpSp>
      <p:grpSp>
        <p:nvGrpSpPr>
          <p:cNvPr id="61" name="Group 61"/>
          <p:cNvGrpSpPr/>
          <p:nvPr/>
        </p:nvGrpSpPr>
        <p:grpSpPr>
          <a:xfrm>
            <a:off x="7334250" y="1447800"/>
            <a:ext cx="4476750" cy="1524000"/>
            <a:chOff x="7334250" y="1447800"/>
            <a:chExt cx="4476750" cy="1524000"/>
          </a:xfrm>
        </p:grpSpPr>
        <p:sp>
          <p:nvSpPr>
            <p:cNvPr id="57" name="Rectangle 57"/>
            <p:cNvSpPr/>
            <p:nvPr/>
          </p:nvSpPr>
          <p:spPr>
            <a:xfrm>
              <a:off x="7334250" y="1447800"/>
              <a:ext cx="4476750" cy="1524000"/>
            </a:xfrm>
            <a:prstGeom prst="roundRect">
              <a:avLst>
                <a:gd name="adj" fmla="val 7500"/>
              </a:avLst>
            </a:prstGeom>
            <a:solidFill>
              <a:schemeClr val="lt2"/>
            </a:solidFill>
            <a:ln w="9525">
              <a:solidFill>
                <a:schemeClr val="accent6"/>
              </a:solidFill>
            </a:ln>
          </p:spPr>
        </p:sp>
        <p:sp>
          <p:nvSpPr>
            <p:cNvPr id="58" name="TextBox 58"/>
            <p:cNvSpPr txBox="1"/>
            <p:nvPr/>
          </p:nvSpPr>
          <p:spPr>
            <a:xfrm>
              <a:off x="7556754" y="1623060"/>
              <a:ext cx="2041336" cy="234696"/>
            </a:xfrm>
            <a:prstGeom prst="rect">
              <a:avLst/>
            </a:prstGeom>
            <a:noFill/>
            <a:ln>
              <a:noFill/>
            </a:ln>
          </p:spPr>
          <p:txBody>
            <a:bodyPr wrap="none" lIns="0" tIns="0" rIns="0" bIns="0" anchor="t" anchorCtr="0">
              <a:spAutoFit/>
            </a:bodyPr>
            <a:lstStyle/>
            <a:p>
              <a:pPr algn="l"/>
              <a:r>
                <a:rPr lang="zh-CN" sz="1200" b="1" dirty="0">
                  <a:solidFill>
                    <a:schemeClr val="accent1"/>
                  </a:solidFill>
                  <a:latin typeface="+mn-lt"/>
                  <a:ea typeface="+mn-ea"/>
                  <a:cs typeface="+mn-cs"/>
                </a:rPr>
                <a:t>停留时间 | Residence Time</a:t>
              </a:r>
            </a:p>
          </p:txBody>
        </p:sp>
        <p:sp>
          <p:nvSpPr>
            <p:cNvPr id="59" name="TextBox 59"/>
            <p:cNvSpPr txBox="1"/>
            <p:nvPr/>
          </p:nvSpPr>
          <p:spPr>
            <a:xfrm>
              <a:off x="7557135" y="1955006"/>
              <a:ext cx="1576070" cy="467678"/>
            </a:xfrm>
            <a:prstGeom prst="rect">
              <a:avLst/>
            </a:prstGeom>
            <a:noFill/>
            <a:ln>
              <a:noFill/>
            </a:ln>
          </p:spPr>
          <p:txBody>
            <a:bodyPr wrap="none" lIns="0" tIns="0" rIns="0" bIns="0" anchor="t" anchorCtr="0">
              <a:spAutoFit/>
            </a:bodyPr>
            <a:lstStyle/>
            <a:p>
              <a:pPr algn="l">
                <a:lnSpc>
                  <a:spcPts val="1950"/>
                </a:lnSpc>
              </a:pPr>
              <a:r>
                <a:rPr lang="zh-CN" sz="1120" dirty="0">
                  <a:solidFill>
                    <a:schemeClr val="dk1"/>
                  </a:solidFill>
                  <a:latin typeface="+mn-lt"/>
                  <a:ea typeface="+mn-ea"/>
                  <a:cs typeface="+mn-cs"/>
                </a:rPr>
                <a:t>一定量的水或某化学物质</a:t>
              </a:r>
              <a:br/>
              <a:r>
                <a:rPr lang="zh-CN" sz="1120" dirty="0">
                  <a:solidFill>
                    <a:schemeClr val="dk1"/>
                  </a:solidFill>
                  <a:latin typeface="+mn-lt"/>
                  <a:ea typeface="+mn-ea"/>
                  <a:cs typeface="+mn-cs"/>
                </a:rPr>
                <a:t>在储库中停留的平均时间</a:t>
              </a:r>
            </a:p>
          </p:txBody>
        </p:sp>
        <p:sp>
          <p:nvSpPr>
            <p:cNvPr id="60" name="TextBox 60"/>
            <p:cNvSpPr txBox="1"/>
            <p:nvPr/>
          </p:nvSpPr>
          <p:spPr>
            <a:xfrm>
              <a:off x="7557897" y="2542699"/>
              <a:ext cx="3362535" cy="190690"/>
            </a:xfrm>
            <a:prstGeom prst="rect">
              <a:avLst/>
            </a:prstGeom>
            <a:noFill/>
            <a:ln>
              <a:noFill/>
            </a:ln>
          </p:spPr>
          <p:txBody>
            <a:bodyPr wrap="none" lIns="0" tIns="0" rIns="0" bIns="0" anchor="t" anchorCtr="0">
              <a:spAutoFit/>
            </a:bodyPr>
            <a:lstStyle/>
            <a:p>
              <a:pPr algn="l"/>
              <a:r>
                <a:rPr lang="zh-CN" sz="980" dirty="0">
                  <a:solidFill>
                    <a:schemeClr val="accent5"/>
                  </a:solidFill>
                  <a:latin typeface="+mn-lt"/>
                  <a:ea typeface="+mn-ea"/>
                  <a:cs typeface="+mn-cs"/>
                </a:rPr>
                <a:t>定义：UE 8e, Ch.17, p.1650; Ch.12, pp.1205–1206.</a:t>
              </a:r>
            </a:p>
          </p:txBody>
        </p:sp>
      </p:grpSp>
      <p:grpSp>
        <p:nvGrpSpPr>
          <p:cNvPr id="68" name="Group 68"/>
          <p:cNvGrpSpPr/>
          <p:nvPr/>
        </p:nvGrpSpPr>
        <p:grpSpPr>
          <a:xfrm>
            <a:off x="7334250" y="3086100"/>
            <a:ext cx="4476750" cy="1638300"/>
            <a:chOff x="7334250" y="3086100"/>
            <a:chExt cx="4476750" cy="1638300"/>
          </a:xfrm>
        </p:grpSpPr>
        <p:sp>
          <p:nvSpPr>
            <p:cNvPr id="62" name="Rectangle 62"/>
            <p:cNvSpPr/>
            <p:nvPr/>
          </p:nvSpPr>
          <p:spPr>
            <a:xfrm>
              <a:off x="7334250" y="3086100"/>
              <a:ext cx="4476750" cy="1638300"/>
            </a:xfrm>
            <a:prstGeom prst="roundRect">
              <a:avLst>
                <a:gd name="adj" fmla="val 6977"/>
              </a:avLst>
            </a:prstGeom>
            <a:solidFill>
              <a:schemeClr val="lt2"/>
            </a:solidFill>
            <a:ln w="9525">
              <a:solidFill>
                <a:schemeClr val="accent6"/>
              </a:solidFill>
            </a:ln>
          </p:spPr>
        </p:sp>
        <p:sp>
          <p:nvSpPr>
            <p:cNvPr id="63" name="TextBox 63"/>
            <p:cNvSpPr txBox="1"/>
            <p:nvPr/>
          </p:nvSpPr>
          <p:spPr>
            <a:xfrm>
              <a:off x="7556754" y="3261360"/>
              <a:ext cx="2934605" cy="234696"/>
            </a:xfrm>
            <a:prstGeom prst="rect">
              <a:avLst/>
            </a:prstGeom>
            <a:noFill/>
            <a:ln>
              <a:noFill/>
            </a:ln>
          </p:spPr>
          <p:txBody>
            <a:bodyPr wrap="none" lIns="0" tIns="0" rIns="0" bIns="0" anchor="t" anchorCtr="0">
              <a:spAutoFit/>
            </a:bodyPr>
            <a:lstStyle/>
            <a:p>
              <a:pPr algn="l"/>
              <a:r>
                <a:rPr lang="zh-CN" sz="1200" b="1" dirty="0">
                  <a:solidFill>
                    <a:schemeClr val="accent1"/>
                  </a:solidFill>
                  <a:latin typeface="+mn-lt"/>
                  <a:ea typeface="+mn-ea"/>
                  <a:cs typeface="+mn-cs"/>
                </a:rPr>
                <a:t>储量 ≠ 更新速度 | Storage ≠ turnover</a:t>
              </a:r>
            </a:p>
          </p:txBody>
        </p:sp>
        <p:sp>
          <p:nvSpPr>
            <p:cNvPr id="64" name="TextBox 64"/>
            <p:cNvSpPr txBox="1"/>
            <p:nvPr/>
          </p:nvSpPr>
          <p:spPr>
            <a:xfrm>
              <a:off x="7557135" y="3593306"/>
              <a:ext cx="2876144" cy="220028"/>
            </a:xfrm>
            <a:prstGeom prst="rect">
              <a:avLst/>
            </a:prstGeom>
            <a:noFill/>
            <a:ln>
              <a:noFill/>
            </a:ln>
          </p:spPr>
          <p:txBody>
            <a:bodyPr wrap="none" lIns="0" tIns="0" rIns="0" bIns="0" anchor="t" anchorCtr="0">
              <a:spAutoFit/>
            </a:bodyPr>
            <a:lstStyle/>
            <a:p>
              <a:pPr algn="l"/>
              <a:r>
                <a:rPr lang="zh-CN" sz="1120" dirty="0">
                  <a:solidFill>
                    <a:schemeClr val="dk1"/>
                  </a:solidFill>
                  <a:latin typeface="+mn-lt"/>
                  <a:ea typeface="+mn-ea"/>
                  <a:cs typeface="+mn-cs"/>
                </a:rPr>
                <a:t>海洋：储量 13.38 亿 km³ · 停留 3,200 年</a:t>
              </a:r>
            </a:p>
          </p:txBody>
        </p:sp>
        <p:sp>
          <p:nvSpPr>
            <p:cNvPr id="65" name="TextBox 65"/>
            <p:cNvSpPr txBox="1"/>
            <p:nvPr/>
          </p:nvSpPr>
          <p:spPr>
            <a:xfrm>
              <a:off x="7557135" y="3860006"/>
              <a:ext cx="2431359" cy="220028"/>
            </a:xfrm>
            <a:prstGeom prst="rect">
              <a:avLst/>
            </a:prstGeom>
            <a:noFill/>
            <a:ln>
              <a:noFill/>
            </a:ln>
          </p:spPr>
          <p:txBody>
            <a:bodyPr wrap="none" lIns="0" tIns="0" rIns="0" bIns="0" anchor="t" anchorCtr="0">
              <a:spAutoFit/>
            </a:bodyPr>
            <a:lstStyle/>
            <a:p>
              <a:pPr algn="l"/>
              <a:r>
                <a:rPr lang="zh-CN" sz="1120" dirty="0">
                  <a:solidFill>
                    <a:schemeClr val="dk1"/>
                  </a:solidFill>
                  <a:latin typeface="+mn-lt"/>
                  <a:ea typeface="+mn-ea"/>
                  <a:cs typeface="+mn-cs"/>
                </a:rPr>
                <a:t>大气：储量 12,900 km³ · 停留 9 日</a:t>
              </a:r>
            </a:p>
          </p:txBody>
        </p:sp>
        <p:sp>
          <p:nvSpPr>
            <p:cNvPr id="66" name="Rectangle 66"/>
            <p:cNvSpPr/>
            <p:nvPr/>
          </p:nvSpPr>
          <p:spPr>
            <a:xfrm>
              <a:off x="7562850" y="4152900"/>
              <a:ext cx="4019550" cy="381000"/>
            </a:xfrm>
            <a:prstGeom prst="roundRect">
              <a:avLst>
                <a:gd name="adj" fmla="val 25000"/>
              </a:avLst>
            </a:prstGeom>
            <a:solidFill>
              <a:srgbClr val="DCEAF8"/>
            </a:solidFill>
            <a:ln>
              <a:noFill/>
            </a:ln>
          </p:spPr>
        </p:sp>
        <p:sp>
          <p:nvSpPr>
            <p:cNvPr id="67" name="TextBox 67"/>
            <p:cNvSpPr txBox="1"/>
            <p:nvPr/>
          </p:nvSpPr>
          <p:spPr>
            <a:xfrm>
              <a:off x="8984365" y="4271010"/>
              <a:ext cx="1176520" cy="234696"/>
            </a:xfrm>
            <a:prstGeom prst="rect">
              <a:avLst/>
            </a:prstGeom>
            <a:noFill/>
            <a:ln>
              <a:noFill/>
            </a:ln>
          </p:spPr>
          <p:txBody>
            <a:bodyPr wrap="none" lIns="0" tIns="0" rIns="0" bIns="0" anchor="t" anchorCtr="0">
              <a:spAutoFit/>
            </a:bodyPr>
            <a:lstStyle/>
            <a:p>
              <a:pPr algn="ctr"/>
              <a:r>
                <a:rPr lang="zh-CN" sz="1200" b="1" dirty="0">
                  <a:solidFill>
                    <a:schemeClr val="accent1"/>
                  </a:solidFill>
                  <a:latin typeface="+mn-lt"/>
                  <a:ea typeface="+mn-ea"/>
                  <a:cs typeface="+mn-cs"/>
                </a:rPr>
                <a:t>大储库 ≠ 更新快</a:t>
              </a:r>
            </a:p>
          </p:txBody>
        </p:sp>
      </p:grpSp>
      <p:grpSp>
        <p:nvGrpSpPr>
          <p:cNvPr id="74" name="Group 74"/>
          <p:cNvGrpSpPr/>
          <p:nvPr/>
        </p:nvGrpSpPr>
        <p:grpSpPr>
          <a:xfrm>
            <a:off x="7334250" y="4838700"/>
            <a:ext cx="4476750" cy="1390650"/>
            <a:chOff x="7334250" y="4838700"/>
            <a:chExt cx="4476750" cy="1390650"/>
          </a:xfrm>
        </p:grpSpPr>
        <p:sp>
          <p:nvSpPr>
            <p:cNvPr id="69" name="Rectangle 69"/>
            <p:cNvSpPr/>
            <p:nvPr/>
          </p:nvSpPr>
          <p:spPr>
            <a:xfrm>
              <a:off x="7334250" y="4838700"/>
              <a:ext cx="4476750" cy="1390650"/>
            </a:xfrm>
            <a:prstGeom prst="roundRect">
              <a:avLst>
                <a:gd name="adj" fmla="val 8219"/>
              </a:avLst>
            </a:prstGeom>
            <a:solidFill>
              <a:srgbClr val="F0F5FC"/>
            </a:solidFill>
            <a:ln w="9525">
              <a:solidFill>
                <a:srgbClr val="B8C7DC"/>
              </a:solidFill>
            </a:ln>
          </p:spPr>
        </p:sp>
        <p:sp>
          <p:nvSpPr>
            <p:cNvPr id="70" name="TextBox 70"/>
            <p:cNvSpPr txBox="1"/>
            <p:nvPr/>
          </p:nvSpPr>
          <p:spPr>
            <a:xfrm>
              <a:off x="7556754" y="5013960"/>
              <a:ext cx="3319720" cy="234696"/>
            </a:xfrm>
            <a:prstGeom prst="rect">
              <a:avLst/>
            </a:prstGeom>
            <a:noFill/>
            <a:ln>
              <a:noFill/>
            </a:ln>
          </p:spPr>
          <p:txBody>
            <a:bodyPr wrap="none" lIns="0" tIns="0" rIns="0" bIns="0" anchor="t" anchorCtr="0">
              <a:spAutoFit/>
            </a:bodyPr>
            <a:lstStyle/>
            <a:p>
              <a:pPr algn="l"/>
              <a:r>
                <a:rPr lang="zh-CN" sz="1200" b="1" dirty="0">
                  <a:solidFill>
                    <a:schemeClr val="accent1"/>
                  </a:solidFill>
                  <a:latin typeface="+mn-lt"/>
                  <a:ea typeface="+mn-ea"/>
                  <a:cs typeface="+mn-cs"/>
                </a:rPr>
                <a:t>不同的时钟，不同的响应 | Different clocks</a:t>
              </a:r>
            </a:p>
          </p:txBody>
        </p:sp>
        <p:sp>
          <p:nvSpPr>
            <p:cNvPr id="71" name="TextBox 71"/>
            <p:cNvSpPr txBox="1"/>
            <p:nvPr/>
          </p:nvSpPr>
          <p:spPr>
            <a:xfrm>
              <a:off x="7557135" y="5345906"/>
              <a:ext cx="1752874" cy="220028"/>
            </a:xfrm>
            <a:prstGeom prst="rect">
              <a:avLst/>
            </a:prstGeom>
            <a:noFill/>
            <a:ln>
              <a:noFill/>
            </a:ln>
          </p:spPr>
          <p:txBody>
            <a:bodyPr wrap="none" lIns="0" tIns="0" rIns="0" bIns="0" anchor="t" anchorCtr="0">
              <a:spAutoFit/>
            </a:bodyPr>
            <a:lstStyle/>
            <a:p>
              <a:pPr algn="l"/>
              <a:r>
                <a:rPr lang="zh-CN" sz="1120" dirty="0">
                  <a:solidFill>
                    <a:schemeClr val="dk1"/>
                  </a:solidFill>
                  <a:latin typeface="+mn-lt"/>
                  <a:ea typeface="+mn-ea"/>
                  <a:cs typeface="+mn-cs"/>
                </a:rPr>
                <a:t>快储库以日—月尺度更新；</a:t>
              </a:r>
            </a:p>
          </p:txBody>
        </p:sp>
        <p:sp>
          <p:nvSpPr>
            <p:cNvPr id="72" name="TextBox 72"/>
            <p:cNvSpPr txBox="1"/>
            <p:nvPr/>
          </p:nvSpPr>
          <p:spPr>
            <a:xfrm>
              <a:off x="7557135" y="5612606"/>
              <a:ext cx="2054423" cy="220028"/>
            </a:xfrm>
            <a:prstGeom prst="rect">
              <a:avLst/>
            </a:prstGeom>
            <a:noFill/>
            <a:ln>
              <a:noFill/>
            </a:ln>
          </p:spPr>
          <p:txBody>
            <a:bodyPr wrap="none" lIns="0" tIns="0" rIns="0" bIns="0" anchor="t" anchorCtr="0">
              <a:spAutoFit/>
            </a:bodyPr>
            <a:lstStyle/>
            <a:p>
              <a:pPr algn="l"/>
              <a:r>
                <a:rPr lang="zh-CN" sz="1120" dirty="0">
                  <a:solidFill>
                    <a:schemeClr val="dk1"/>
                  </a:solidFill>
                  <a:latin typeface="+mn-lt"/>
                  <a:ea typeface="+mn-ea"/>
                  <a:cs typeface="+mn-cs"/>
                </a:rPr>
                <a:t>慢储库以千年—万年尺度响应。</a:t>
              </a:r>
            </a:p>
          </p:txBody>
        </p:sp>
        <p:sp>
          <p:nvSpPr>
            <p:cNvPr id="73" name="TextBox 73"/>
            <p:cNvSpPr txBox="1"/>
            <p:nvPr/>
          </p:nvSpPr>
          <p:spPr>
            <a:xfrm>
              <a:off x="7557897" y="5895499"/>
              <a:ext cx="1724965" cy="190690"/>
            </a:xfrm>
            <a:prstGeom prst="rect">
              <a:avLst/>
            </a:prstGeom>
            <a:noFill/>
            <a:ln>
              <a:noFill/>
            </a:ln>
          </p:spPr>
          <p:txBody>
            <a:bodyPr wrap="none" lIns="0" tIns="0" rIns="0" bIns="0" anchor="t" anchorCtr="0">
              <a:spAutoFit/>
            </a:bodyPr>
            <a:lstStyle/>
            <a:p>
              <a:pPr algn="l"/>
              <a:r>
                <a:rPr lang="zh-CN" sz="980" dirty="0">
                  <a:solidFill>
                    <a:schemeClr val="accent5"/>
                  </a:solidFill>
                  <a:latin typeface="+mn-lt"/>
                  <a:ea typeface="+mn-ea"/>
                  <a:cs typeface="+mn-cs"/>
                </a:rPr>
                <a:t>停留时间控制储库响应快慢。</a:t>
              </a:r>
            </a:p>
          </p:txBody>
        </p:sp>
      </p:grpSp>
      <p:sp>
        <p:nvSpPr>
          <p:cNvPr id="75" name="TextBox 75"/>
          <p:cNvSpPr txBox="1"/>
          <p:nvPr/>
        </p:nvSpPr>
        <p:spPr>
          <a:xfrm>
            <a:off x="376238" y="6532245"/>
            <a:ext cx="7415792" cy="176212"/>
          </a:xfrm>
          <a:prstGeom prst="rect">
            <a:avLst/>
          </a:prstGeom>
          <a:noFill/>
          <a:ln>
            <a:noFill/>
          </a:ln>
        </p:spPr>
        <p:txBody>
          <a:bodyPr wrap="none" lIns="0" tIns="0" rIns="0" bIns="0" anchor="t" anchorCtr="0">
            <a:spAutoFit/>
          </a:bodyPr>
          <a:lstStyle/>
          <a:p>
            <a:pPr algn="l"/>
            <a:r>
              <a:rPr lang="zh-CN" sz="900" dirty="0">
                <a:solidFill>
                  <a:schemeClr val="accent5"/>
                </a:solidFill>
                <a:latin typeface="+mn-lt"/>
                <a:ea typeface="+mn-ea"/>
                <a:cs typeface="+mn-cs"/>
              </a:rPr>
              <a:t>Source: 地球系统与演变, Table 3-1, p.94 (PDF p.9); residence-time definition: UE 8e, Ch.17, p.1650; Ch.12, pp.1205–1206.</a:t>
            </a:r>
          </a:p>
        </p:txBody>
      </p:sp>
      <p:sp>
        <p:nvSpPr>
          <p:cNvPr id="76" name="TextBox 76"/>
          <p:cNvSpPr txBox="1"/>
          <p:nvPr/>
        </p:nvSpPr>
        <p:spPr>
          <a:xfrm>
            <a:off x="11672964" y="6532245"/>
            <a:ext cx="142799" cy="176212"/>
          </a:xfrm>
          <a:prstGeom prst="rect">
            <a:avLst/>
          </a:prstGeom>
          <a:noFill/>
          <a:ln>
            <a:noFill/>
          </a:ln>
        </p:spPr>
        <p:txBody>
          <a:bodyPr wrap="none" lIns="0" tIns="0" rIns="0" bIns="0" anchor="t" anchorCtr="0">
            <a:spAutoFit/>
          </a:bodyPr>
          <a:lstStyle/>
          <a:p>
            <a:pPr algn="r"/>
            <a:r>
              <a:rPr lang="zh-CN" sz="900" dirty="0">
                <a:solidFill>
                  <a:schemeClr val="accent5"/>
                </a:solidFill>
                <a:latin typeface="+mn-lt"/>
                <a:ea typeface="+mn-ea"/>
                <a:cs typeface="+mn-cs"/>
              </a:rPr>
              <a:t>08</a:t>
            </a:r>
          </a:p>
        </p:txBody>
      </p:sp>
    </p:spTree>
    <p:extLst>
      <p:ext uri="{BB962C8B-B14F-4D97-AF65-F5344CB8AC3E}">
        <p14:creationId xmlns:p14="http://schemas.microsoft.com/office/powerpoint/2010/main" val="3809820576"/>
      </p:ext>
    </p:extLst>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5"/>
          <p:cNvGrpSpPr/>
          <p:nvPr/>
        </p:nvGrpSpPr>
        <p:grpSpPr>
          <a:xfrm>
            <a:off x="0" y="0"/>
            <a:ext cx="12192000" cy="685800"/>
            <a:chOff x="0" y="0"/>
            <a:chExt cx="12192000" cy="685800"/>
          </a:xfrm>
        </p:grpSpPr>
        <p:sp>
          <p:nvSpPr>
            <p:cNvPr id="2" name="Rectangle 2"/>
            <p:cNvSpPr/>
            <p:nvPr/>
          </p:nvSpPr>
          <p:spPr>
            <a:xfrm>
              <a:off x="0" y="0"/>
              <a:ext cx="12192000" cy="685800"/>
            </a:xfrm>
            <a:prstGeom prst="rect">
              <a:avLst/>
            </a:prstGeom>
            <a:solidFill>
              <a:schemeClr val="accent1"/>
            </a:solidFill>
            <a:ln>
              <a:noFill/>
            </a:ln>
          </p:spPr>
        </p:sp>
        <p:sp>
          <p:nvSpPr>
            <p:cNvPr id="3" name="TextBox 3"/>
            <p:cNvSpPr txBox="1"/>
            <p:nvPr/>
          </p:nvSpPr>
          <p:spPr>
            <a:xfrm>
              <a:off x="374142" y="282892"/>
              <a:ext cx="3574794" cy="264033"/>
            </a:xfrm>
            <a:prstGeom prst="rect">
              <a:avLst/>
            </a:prstGeom>
            <a:noFill/>
            <a:ln>
              <a:noFill/>
            </a:ln>
          </p:spPr>
          <p:txBody>
            <a:bodyPr wrap="none" lIns="0" tIns="0" rIns="0" bIns="0" anchor="t" anchorCtr="0">
              <a:spAutoFit/>
            </a:bodyPr>
            <a:lstStyle/>
            <a:p>
              <a:pPr algn="l"/>
              <a:r>
                <a:rPr lang="zh-CN" sz="1350" b="1" dirty="0">
                  <a:solidFill>
                    <a:srgbClr val="FFFFFF"/>
                  </a:solidFill>
                  <a:latin typeface="+mn-lt"/>
                  <a:ea typeface="+mn-ea"/>
                  <a:cs typeface="+mn-cs"/>
                </a:rPr>
                <a:t>1.6 全球水循环 | Global Hydrologic Cycle</a:t>
              </a:r>
            </a:p>
          </p:txBody>
        </p:sp>
        <p:sp>
          <p:nvSpPr>
            <p:cNvPr id="4" name="TextBox 4"/>
            <p:cNvSpPr txBox="1"/>
            <p:nvPr/>
          </p:nvSpPr>
          <p:spPr>
            <a:xfrm>
              <a:off x="10780776" y="299085"/>
              <a:ext cx="1036320" cy="234696"/>
            </a:xfrm>
            <a:prstGeom prst="rect">
              <a:avLst/>
            </a:prstGeom>
            <a:noFill/>
            <a:ln>
              <a:noFill/>
            </a:ln>
          </p:spPr>
          <p:txBody>
            <a:bodyPr wrap="none" lIns="0" tIns="0" rIns="0" bIns="0" anchor="t" anchorCtr="0">
              <a:spAutoFit/>
            </a:bodyPr>
            <a:lstStyle/>
            <a:p>
              <a:pPr algn="r"/>
              <a:r>
                <a:rPr lang="zh-CN" sz="1200" dirty="0">
                  <a:solidFill>
                    <a:srgbClr val="C7D7F2"/>
                  </a:solidFill>
                  <a:latin typeface="+mn-lt"/>
                  <a:ea typeface="+mn-ea"/>
                  <a:cs typeface="+mn-cs"/>
                </a:rPr>
                <a:t>WATER CYCLE</a:t>
              </a:r>
            </a:p>
          </p:txBody>
        </p:sp>
      </p:grpSp>
      <p:grpSp>
        <p:nvGrpSpPr>
          <p:cNvPr id="8" name="Group 8"/>
          <p:cNvGrpSpPr/>
          <p:nvPr/>
        </p:nvGrpSpPr>
        <p:grpSpPr>
          <a:xfrm>
            <a:off x="381000" y="914400"/>
            <a:ext cx="5709641" cy="357093"/>
            <a:chOff x="381000" y="914400"/>
            <a:chExt cx="5709641" cy="357093"/>
          </a:xfrm>
        </p:grpSpPr>
        <p:sp>
          <p:nvSpPr>
            <p:cNvPr id="6" name="Rectangle 6"/>
            <p:cNvSpPr/>
            <p:nvPr/>
          </p:nvSpPr>
          <p:spPr>
            <a:xfrm>
              <a:off x="381000" y="914400"/>
              <a:ext cx="57150" cy="266700"/>
            </a:xfrm>
            <a:prstGeom prst="roundRect">
              <a:avLst>
                <a:gd name="adj" fmla="val 50000"/>
              </a:avLst>
            </a:prstGeom>
            <a:solidFill>
              <a:schemeClr val="accent2"/>
            </a:solidFill>
            <a:ln>
              <a:noFill/>
            </a:ln>
          </p:spPr>
        </p:sp>
        <p:sp>
          <p:nvSpPr>
            <p:cNvPr id="7" name="TextBox 7"/>
            <p:cNvSpPr txBox="1"/>
            <p:nvPr/>
          </p:nvSpPr>
          <p:spPr>
            <a:xfrm>
              <a:off x="544449" y="963454"/>
              <a:ext cx="5546192" cy="308039"/>
            </a:xfrm>
            <a:prstGeom prst="rect">
              <a:avLst/>
            </a:prstGeom>
            <a:noFill/>
            <a:ln>
              <a:noFill/>
            </a:ln>
          </p:spPr>
          <p:txBody>
            <a:bodyPr wrap="none" lIns="0" tIns="0" rIns="0" bIns="0" anchor="t" anchorCtr="0">
              <a:spAutoFit/>
            </a:bodyPr>
            <a:lstStyle/>
            <a:p>
              <a:pPr algn="l"/>
              <a:r>
                <a:rPr lang="zh-CN" sz="1580" b="1" dirty="0">
                  <a:solidFill>
                    <a:schemeClr val="accent1"/>
                  </a:solidFill>
                  <a:latin typeface="+mn-lt"/>
                  <a:ea typeface="+mn-ea"/>
                  <a:cs typeface="+mn-cs"/>
                </a:rPr>
                <a:t>先找储库，再沿箭头读通量：全球水循环不是一条单向路径</a:t>
              </a:r>
            </a:p>
          </p:txBody>
        </p:sp>
      </p:grpSp>
      <p:grpSp>
        <p:nvGrpSpPr>
          <p:cNvPr id="15" name="Group 15"/>
          <p:cNvGrpSpPr/>
          <p:nvPr/>
        </p:nvGrpSpPr>
        <p:grpSpPr>
          <a:xfrm>
            <a:off x="381000" y="1466850"/>
            <a:ext cx="8058150" cy="4762500"/>
            <a:chOff x="381000" y="1466850"/>
            <a:chExt cx="8058150" cy="4762500"/>
          </a:xfrm>
        </p:grpSpPr>
        <p:sp>
          <p:nvSpPr>
            <p:cNvPr id="9" name="Rectangle 9"/>
            <p:cNvSpPr/>
            <p:nvPr/>
          </p:nvSpPr>
          <p:spPr>
            <a:xfrm>
              <a:off x="381000" y="1466850"/>
              <a:ext cx="8058150" cy="4762500"/>
            </a:xfrm>
            <a:prstGeom prst="roundRect">
              <a:avLst>
                <a:gd name="adj" fmla="val 2400"/>
              </a:avLst>
            </a:prstGeom>
            <a:solidFill>
              <a:schemeClr val="lt2"/>
            </a:solidFill>
            <a:ln w="9525">
              <a:solidFill>
                <a:schemeClr val="accent6"/>
              </a:solidFill>
            </a:ln>
          </p:spPr>
        </p:sp>
        <p:pic>
          <p:nvPicPr>
            <p:cNvPr id="10" name="Image 10"/>
            <p:cNvPicPr>
              <a:picLocks noChangeAspect="1"/>
            </p:cNvPicPr>
            <p:nvPr/>
          </p:nvPicPr>
          <p:blipFill>
            <a:blip r:embed="rId3"/>
            <a:srcRect t="2828" b="2829"/>
            <a:stretch>
              <a:fillRect/>
            </a:stretch>
          </p:blipFill>
          <p:spPr>
            <a:xfrm>
              <a:off x="476250" y="1562100"/>
              <a:ext cx="7867650" cy="4419600"/>
            </a:xfrm>
            <a:prstGeom prst="rect">
              <a:avLst/>
            </a:prstGeom>
          </p:spPr>
        </p:pic>
        <p:sp>
          <p:nvSpPr>
            <p:cNvPr id="11" name="Rectangle 11"/>
            <p:cNvSpPr/>
            <p:nvPr/>
          </p:nvSpPr>
          <p:spPr>
            <a:xfrm>
              <a:off x="552450" y="5772150"/>
              <a:ext cx="3009900" cy="304800"/>
            </a:xfrm>
            <a:prstGeom prst="roundRect">
              <a:avLst>
                <a:gd name="adj" fmla="val 37500"/>
              </a:avLst>
            </a:prstGeom>
            <a:solidFill>
              <a:schemeClr val="lt1"/>
            </a:solidFill>
            <a:ln w="9525">
              <a:solidFill>
                <a:schemeClr val="accent6"/>
              </a:solidFill>
            </a:ln>
          </p:spPr>
        </p:sp>
        <p:sp>
          <p:nvSpPr>
            <p:cNvPr id="12" name="TextBox 12"/>
            <p:cNvSpPr txBox="1"/>
            <p:nvPr/>
          </p:nvSpPr>
          <p:spPr>
            <a:xfrm>
              <a:off x="699897" y="5866924"/>
              <a:ext cx="1048415" cy="190690"/>
            </a:xfrm>
            <a:prstGeom prst="rect">
              <a:avLst/>
            </a:prstGeom>
            <a:noFill/>
            <a:ln>
              <a:noFill/>
            </a:ln>
          </p:spPr>
          <p:txBody>
            <a:bodyPr wrap="none" lIns="0" tIns="0" rIns="0" bIns="0" anchor="t" anchorCtr="0">
              <a:spAutoFit/>
            </a:bodyPr>
            <a:lstStyle/>
            <a:p>
              <a:pPr algn="l"/>
              <a:r>
                <a:rPr lang="zh-CN" sz="980" b="1" dirty="0">
                  <a:solidFill>
                    <a:schemeClr val="accent2"/>
                  </a:solidFill>
                  <a:latin typeface="+mn-lt"/>
                  <a:ea typeface="+mn-ea"/>
                  <a:cs typeface="+mn-cs"/>
                </a:rPr>
                <a:t>Reservoirs 储库</a:t>
              </a:r>
            </a:p>
          </p:txBody>
        </p:sp>
        <p:sp>
          <p:nvSpPr>
            <p:cNvPr id="13" name="TextBox 13"/>
            <p:cNvSpPr txBox="1"/>
            <p:nvPr/>
          </p:nvSpPr>
          <p:spPr>
            <a:xfrm>
              <a:off x="1938147" y="5866924"/>
              <a:ext cx="82466" cy="190690"/>
            </a:xfrm>
            <a:prstGeom prst="rect">
              <a:avLst/>
            </a:prstGeom>
            <a:noFill/>
            <a:ln>
              <a:noFill/>
            </a:ln>
          </p:spPr>
          <p:txBody>
            <a:bodyPr wrap="none" lIns="0" tIns="0" rIns="0" bIns="0" anchor="t" anchorCtr="0">
              <a:spAutoFit/>
            </a:bodyPr>
            <a:lstStyle/>
            <a:p>
              <a:pPr algn="l"/>
              <a:r>
                <a:rPr lang="zh-CN" sz="980" dirty="0">
                  <a:solidFill>
                    <a:schemeClr val="accent5"/>
                  </a:solidFill>
                  <a:latin typeface="+mn-lt"/>
                  <a:ea typeface="+mn-ea"/>
                  <a:cs typeface="+mn-cs"/>
                </a:rPr>
                <a:t>→</a:t>
              </a:r>
            </a:p>
          </p:txBody>
        </p:sp>
        <p:sp>
          <p:nvSpPr>
            <p:cNvPr id="14" name="TextBox 14"/>
            <p:cNvSpPr txBox="1"/>
            <p:nvPr/>
          </p:nvSpPr>
          <p:spPr>
            <a:xfrm>
              <a:off x="2204847" y="5866924"/>
              <a:ext cx="744684" cy="190690"/>
            </a:xfrm>
            <a:prstGeom prst="rect">
              <a:avLst/>
            </a:prstGeom>
            <a:noFill/>
            <a:ln>
              <a:noFill/>
            </a:ln>
          </p:spPr>
          <p:txBody>
            <a:bodyPr wrap="none" lIns="0" tIns="0" rIns="0" bIns="0" anchor="t" anchorCtr="0">
              <a:spAutoFit/>
            </a:bodyPr>
            <a:lstStyle/>
            <a:p>
              <a:pPr algn="l"/>
              <a:r>
                <a:rPr lang="zh-CN" sz="980" b="1" dirty="0">
                  <a:solidFill>
                    <a:schemeClr val="accent1"/>
                  </a:solidFill>
                  <a:latin typeface="+mn-lt"/>
                  <a:ea typeface="+mn-ea"/>
                  <a:cs typeface="+mn-cs"/>
                </a:rPr>
                <a:t>Fluxes 通量</a:t>
              </a:r>
            </a:p>
          </p:txBody>
        </p:sp>
      </p:grpSp>
      <p:grpSp>
        <p:nvGrpSpPr>
          <p:cNvPr id="21" name="Group 21"/>
          <p:cNvGrpSpPr/>
          <p:nvPr/>
        </p:nvGrpSpPr>
        <p:grpSpPr>
          <a:xfrm>
            <a:off x="8705850" y="1466850"/>
            <a:ext cx="3105150" cy="1352550"/>
            <a:chOff x="8705850" y="1466850"/>
            <a:chExt cx="3105150" cy="1352550"/>
          </a:xfrm>
        </p:grpSpPr>
        <p:sp>
          <p:nvSpPr>
            <p:cNvPr id="16" name="Rectangle 16"/>
            <p:cNvSpPr/>
            <p:nvPr/>
          </p:nvSpPr>
          <p:spPr>
            <a:xfrm>
              <a:off x="8705850" y="1466850"/>
              <a:ext cx="3105150" cy="1352550"/>
            </a:xfrm>
            <a:prstGeom prst="roundRect">
              <a:avLst>
                <a:gd name="adj" fmla="val 8451"/>
              </a:avLst>
            </a:prstGeom>
            <a:solidFill>
              <a:srgbClr val="F0F5FC"/>
            </a:solidFill>
            <a:ln w="9525">
              <a:solidFill>
                <a:schemeClr val="accent6"/>
              </a:solidFill>
            </a:ln>
          </p:spPr>
        </p:sp>
        <p:sp>
          <p:nvSpPr>
            <p:cNvPr id="17" name="Ellipse 17"/>
            <p:cNvSpPr/>
            <p:nvPr/>
          </p:nvSpPr>
          <p:spPr>
            <a:xfrm>
              <a:off x="8877300" y="1638300"/>
              <a:ext cx="419100" cy="419100"/>
            </a:xfrm>
            <a:prstGeom prst="ellipse">
              <a:avLst/>
            </a:prstGeom>
            <a:solidFill>
              <a:schemeClr val="accent2"/>
            </a:solidFill>
            <a:ln>
              <a:noFill/>
            </a:ln>
          </p:spPr>
        </p:sp>
        <p:sp>
          <p:nvSpPr>
            <p:cNvPr id="18" name="TextBox 18"/>
            <p:cNvSpPr txBox="1"/>
            <p:nvPr/>
          </p:nvSpPr>
          <p:spPr>
            <a:xfrm>
              <a:off x="9034108" y="1775460"/>
              <a:ext cx="105484" cy="234696"/>
            </a:xfrm>
            <a:prstGeom prst="rect">
              <a:avLst/>
            </a:prstGeom>
            <a:noFill/>
            <a:ln>
              <a:noFill/>
            </a:ln>
          </p:spPr>
          <p:txBody>
            <a:bodyPr wrap="none" lIns="0" tIns="0" rIns="0" bIns="0" anchor="t" anchorCtr="0">
              <a:spAutoFit/>
            </a:bodyPr>
            <a:lstStyle/>
            <a:p>
              <a:pPr algn="ctr"/>
              <a:r>
                <a:rPr lang="zh-CN" sz="1200" b="1" dirty="0">
                  <a:solidFill>
                    <a:srgbClr val="FFFFFF"/>
                  </a:solidFill>
                  <a:latin typeface="+mn-lt"/>
                  <a:ea typeface="+mn-ea"/>
                  <a:cs typeface="+mn-cs"/>
                </a:rPr>
                <a:t>1</a:t>
              </a:r>
            </a:p>
          </p:txBody>
        </p:sp>
        <p:sp>
          <p:nvSpPr>
            <p:cNvPr id="19" name="TextBox 19"/>
            <p:cNvSpPr txBox="1"/>
            <p:nvPr/>
          </p:nvSpPr>
          <p:spPr>
            <a:xfrm>
              <a:off x="9423654" y="1680210"/>
              <a:ext cx="1548642" cy="234696"/>
            </a:xfrm>
            <a:prstGeom prst="rect">
              <a:avLst/>
            </a:prstGeom>
            <a:noFill/>
            <a:ln>
              <a:noFill/>
            </a:ln>
          </p:spPr>
          <p:txBody>
            <a:bodyPr wrap="none" lIns="0" tIns="0" rIns="0" bIns="0" anchor="t" anchorCtr="0">
              <a:spAutoFit/>
            </a:bodyPr>
            <a:lstStyle/>
            <a:p>
              <a:pPr algn="l"/>
              <a:r>
                <a:rPr lang="zh-CN" sz="1200" b="1" dirty="0">
                  <a:solidFill>
                    <a:schemeClr val="accent1"/>
                  </a:solidFill>
                  <a:latin typeface="+mn-lt"/>
                  <a:ea typeface="+mn-ea"/>
                  <a:cs typeface="+mn-cs"/>
                </a:rPr>
                <a:t>找储库 | Reservoirs</a:t>
              </a:r>
            </a:p>
          </p:txBody>
        </p:sp>
        <p:sp>
          <p:nvSpPr>
            <p:cNvPr id="20" name="TextBox 20"/>
            <p:cNvSpPr txBox="1"/>
            <p:nvPr/>
          </p:nvSpPr>
          <p:spPr>
            <a:xfrm>
              <a:off x="8947785" y="2126456"/>
              <a:ext cx="1860550" cy="448628"/>
            </a:xfrm>
            <a:prstGeom prst="rect">
              <a:avLst/>
            </a:prstGeom>
            <a:noFill/>
            <a:ln>
              <a:noFill/>
            </a:ln>
          </p:spPr>
          <p:txBody>
            <a:bodyPr wrap="none" lIns="0" tIns="0" rIns="0" bIns="0" anchor="t" anchorCtr="0">
              <a:spAutoFit/>
            </a:bodyPr>
            <a:lstStyle/>
            <a:p>
              <a:pPr algn="l">
                <a:lnSpc>
                  <a:spcPts val="1800"/>
                </a:lnSpc>
              </a:pPr>
              <a:r>
                <a:rPr lang="zh-CN" sz="1120" dirty="0">
                  <a:solidFill>
                    <a:schemeClr val="dk1"/>
                  </a:solidFill>
                  <a:latin typeface="+mn-lt"/>
                  <a:ea typeface="+mn-ea"/>
                  <a:cs typeface="+mn-cs"/>
                </a:rPr>
                <a:t>海洋、大气、冰雪、陆地生命</a:t>
              </a:r>
              <a:br/>
              <a:r>
                <a:rPr lang="zh-CN" sz="1120" dirty="0">
                  <a:solidFill>
                    <a:schemeClr val="dk1"/>
                  </a:solidFill>
                  <a:latin typeface="+mn-lt"/>
                  <a:ea typeface="+mn-ea"/>
                  <a:cs typeface="+mn-cs"/>
                </a:rPr>
                <a:t>与地下水共同构成储存空间。</a:t>
              </a:r>
            </a:p>
          </p:txBody>
        </p:sp>
      </p:grpSp>
      <p:grpSp>
        <p:nvGrpSpPr>
          <p:cNvPr id="27" name="Group 27"/>
          <p:cNvGrpSpPr/>
          <p:nvPr/>
        </p:nvGrpSpPr>
        <p:grpSpPr>
          <a:xfrm>
            <a:off x="8705850" y="2933700"/>
            <a:ext cx="3105150" cy="1352550"/>
            <a:chOff x="8705850" y="2933700"/>
            <a:chExt cx="3105150" cy="1352550"/>
          </a:xfrm>
        </p:grpSpPr>
        <p:sp>
          <p:nvSpPr>
            <p:cNvPr id="22" name="Rectangle 22"/>
            <p:cNvSpPr/>
            <p:nvPr/>
          </p:nvSpPr>
          <p:spPr>
            <a:xfrm>
              <a:off x="8705850" y="2933700"/>
              <a:ext cx="3105150" cy="1352550"/>
            </a:xfrm>
            <a:prstGeom prst="roundRect">
              <a:avLst>
                <a:gd name="adj" fmla="val 8451"/>
              </a:avLst>
            </a:prstGeom>
            <a:solidFill>
              <a:schemeClr val="lt2"/>
            </a:solidFill>
            <a:ln w="9525">
              <a:solidFill>
                <a:schemeClr val="accent6"/>
              </a:solidFill>
            </a:ln>
          </p:spPr>
        </p:sp>
        <p:sp>
          <p:nvSpPr>
            <p:cNvPr id="23" name="Ellipse 23"/>
            <p:cNvSpPr/>
            <p:nvPr/>
          </p:nvSpPr>
          <p:spPr>
            <a:xfrm>
              <a:off x="8877300" y="3105150"/>
              <a:ext cx="419100" cy="419100"/>
            </a:xfrm>
            <a:prstGeom prst="ellipse">
              <a:avLst/>
            </a:prstGeom>
            <a:solidFill>
              <a:srgbClr val="3D7BD9"/>
            </a:solidFill>
            <a:ln>
              <a:noFill/>
            </a:ln>
          </p:spPr>
        </p:sp>
        <p:sp>
          <p:nvSpPr>
            <p:cNvPr id="24" name="TextBox 24"/>
            <p:cNvSpPr txBox="1"/>
            <p:nvPr/>
          </p:nvSpPr>
          <p:spPr>
            <a:xfrm>
              <a:off x="9034108" y="3242310"/>
              <a:ext cx="105484" cy="234696"/>
            </a:xfrm>
            <a:prstGeom prst="rect">
              <a:avLst/>
            </a:prstGeom>
            <a:noFill/>
            <a:ln>
              <a:noFill/>
            </a:ln>
          </p:spPr>
          <p:txBody>
            <a:bodyPr wrap="none" lIns="0" tIns="0" rIns="0" bIns="0" anchor="t" anchorCtr="0">
              <a:spAutoFit/>
            </a:bodyPr>
            <a:lstStyle/>
            <a:p>
              <a:pPr algn="ctr"/>
              <a:r>
                <a:rPr lang="zh-CN" sz="1200" b="1" dirty="0">
                  <a:solidFill>
                    <a:srgbClr val="FFFFFF"/>
                  </a:solidFill>
                  <a:latin typeface="+mn-lt"/>
                  <a:ea typeface="+mn-ea"/>
                  <a:cs typeface="+mn-cs"/>
                </a:rPr>
                <a:t>2</a:t>
              </a:r>
            </a:p>
          </p:txBody>
        </p:sp>
        <p:sp>
          <p:nvSpPr>
            <p:cNvPr id="25" name="TextBox 25"/>
            <p:cNvSpPr txBox="1"/>
            <p:nvPr/>
          </p:nvSpPr>
          <p:spPr>
            <a:xfrm>
              <a:off x="9423654" y="3147060"/>
              <a:ext cx="1177721" cy="234696"/>
            </a:xfrm>
            <a:prstGeom prst="rect">
              <a:avLst/>
            </a:prstGeom>
            <a:noFill/>
            <a:ln>
              <a:noFill/>
            </a:ln>
          </p:spPr>
          <p:txBody>
            <a:bodyPr wrap="none" lIns="0" tIns="0" rIns="0" bIns="0" anchor="t" anchorCtr="0">
              <a:spAutoFit/>
            </a:bodyPr>
            <a:lstStyle/>
            <a:p>
              <a:pPr algn="l"/>
              <a:r>
                <a:rPr lang="zh-CN" sz="1200" b="1" dirty="0">
                  <a:solidFill>
                    <a:schemeClr val="accent1"/>
                  </a:solidFill>
                  <a:latin typeface="+mn-lt"/>
                  <a:ea typeface="+mn-ea"/>
                  <a:cs typeface="+mn-cs"/>
                </a:rPr>
                <a:t>读箭头 | Fluxes</a:t>
              </a:r>
            </a:p>
          </p:txBody>
        </p:sp>
        <p:sp>
          <p:nvSpPr>
            <p:cNvPr id="26" name="TextBox 26"/>
            <p:cNvSpPr txBox="1"/>
            <p:nvPr/>
          </p:nvSpPr>
          <p:spPr>
            <a:xfrm>
              <a:off x="8947785" y="3593306"/>
              <a:ext cx="1718310" cy="448628"/>
            </a:xfrm>
            <a:prstGeom prst="rect">
              <a:avLst/>
            </a:prstGeom>
            <a:noFill/>
            <a:ln>
              <a:noFill/>
            </a:ln>
          </p:spPr>
          <p:txBody>
            <a:bodyPr wrap="none" lIns="0" tIns="0" rIns="0" bIns="0" anchor="t" anchorCtr="0">
              <a:spAutoFit/>
            </a:bodyPr>
            <a:lstStyle/>
            <a:p>
              <a:pPr algn="l">
                <a:lnSpc>
                  <a:spcPts val="1800"/>
                </a:lnSpc>
              </a:pPr>
              <a:r>
                <a:rPr lang="zh-CN" sz="1120" dirty="0">
                  <a:solidFill>
                    <a:schemeClr val="dk1"/>
                  </a:solidFill>
                  <a:latin typeface="+mn-lt"/>
                  <a:ea typeface="+mn-ea"/>
                  <a:cs typeface="+mn-cs"/>
                </a:rPr>
                <a:t>蒸发、输送、降水、径流、</a:t>
              </a:r>
              <a:br/>
              <a:r>
                <a:rPr lang="zh-CN" sz="1120" dirty="0">
                  <a:solidFill>
                    <a:schemeClr val="dk1"/>
                  </a:solidFill>
                  <a:latin typeface="+mn-lt"/>
                  <a:ea typeface="+mn-ea"/>
                  <a:cs typeface="+mn-cs"/>
                </a:rPr>
                <a:t>入渗与地下水流彼此连接。</a:t>
              </a:r>
            </a:p>
          </p:txBody>
        </p:sp>
      </p:grpSp>
      <p:grpSp>
        <p:nvGrpSpPr>
          <p:cNvPr id="35" name="Group 35"/>
          <p:cNvGrpSpPr/>
          <p:nvPr/>
        </p:nvGrpSpPr>
        <p:grpSpPr>
          <a:xfrm>
            <a:off x="8705850" y="4400550"/>
            <a:ext cx="3105150" cy="1828800"/>
            <a:chOff x="8705850" y="4400550"/>
            <a:chExt cx="3105150" cy="1828800"/>
          </a:xfrm>
        </p:grpSpPr>
        <p:sp>
          <p:nvSpPr>
            <p:cNvPr id="28" name="Rectangle 28"/>
            <p:cNvSpPr/>
            <p:nvPr/>
          </p:nvSpPr>
          <p:spPr>
            <a:xfrm>
              <a:off x="8705850" y="4400550"/>
              <a:ext cx="3105150" cy="1828800"/>
            </a:xfrm>
            <a:prstGeom prst="roundRect">
              <a:avLst>
                <a:gd name="adj" fmla="val 6250"/>
              </a:avLst>
            </a:prstGeom>
            <a:solidFill>
              <a:srgbClr val="F0F5FC"/>
            </a:solidFill>
            <a:ln w="9525">
              <a:solidFill>
                <a:schemeClr val="accent6"/>
              </a:solidFill>
            </a:ln>
          </p:spPr>
        </p:sp>
        <p:sp>
          <p:nvSpPr>
            <p:cNvPr id="29" name="Ellipse 29"/>
            <p:cNvSpPr/>
            <p:nvPr/>
          </p:nvSpPr>
          <p:spPr>
            <a:xfrm>
              <a:off x="8877300" y="4572000"/>
              <a:ext cx="419100" cy="419100"/>
            </a:xfrm>
            <a:prstGeom prst="ellipse">
              <a:avLst/>
            </a:prstGeom>
            <a:solidFill>
              <a:schemeClr val="accent1"/>
            </a:solidFill>
            <a:ln>
              <a:noFill/>
            </a:ln>
          </p:spPr>
        </p:sp>
        <p:sp>
          <p:nvSpPr>
            <p:cNvPr id="30" name="TextBox 30"/>
            <p:cNvSpPr txBox="1"/>
            <p:nvPr/>
          </p:nvSpPr>
          <p:spPr>
            <a:xfrm>
              <a:off x="9034108" y="4709160"/>
              <a:ext cx="105484" cy="234696"/>
            </a:xfrm>
            <a:prstGeom prst="rect">
              <a:avLst/>
            </a:prstGeom>
            <a:noFill/>
            <a:ln>
              <a:noFill/>
            </a:ln>
          </p:spPr>
          <p:txBody>
            <a:bodyPr wrap="none" lIns="0" tIns="0" rIns="0" bIns="0" anchor="t" anchorCtr="0">
              <a:spAutoFit/>
            </a:bodyPr>
            <a:lstStyle/>
            <a:p>
              <a:pPr algn="ctr"/>
              <a:r>
                <a:rPr lang="zh-CN" sz="1200" b="1" dirty="0">
                  <a:solidFill>
                    <a:srgbClr val="FFFFFF"/>
                  </a:solidFill>
                  <a:latin typeface="+mn-lt"/>
                  <a:ea typeface="+mn-ea"/>
                  <a:cs typeface="+mn-cs"/>
                </a:rPr>
                <a:t>3</a:t>
              </a:r>
            </a:p>
          </p:txBody>
        </p:sp>
        <p:sp>
          <p:nvSpPr>
            <p:cNvPr id="31" name="TextBox 31"/>
            <p:cNvSpPr txBox="1"/>
            <p:nvPr/>
          </p:nvSpPr>
          <p:spPr>
            <a:xfrm>
              <a:off x="9423654" y="4613910"/>
              <a:ext cx="1177721" cy="234696"/>
            </a:xfrm>
            <a:prstGeom prst="rect">
              <a:avLst/>
            </a:prstGeom>
            <a:noFill/>
            <a:ln>
              <a:noFill/>
            </a:ln>
          </p:spPr>
          <p:txBody>
            <a:bodyPr wrap="none" lIns="0" tIns="0" rIns="0" bIns="0" anchor="t" anchorCtr="0">
              <a:spAutoFit/>
            </a:bodyPr>
            <a:lstStyle/>
            <a:p>
              <a:pPr algn="l"/>
              <a:r>
                <a:rPr lang="zh-CN" sz="1200" b="1" dirty="0">
                  <a:solidFill>
                    <a:schemeClr val="accent1"/>
                  </a:solidFill>
                  <a:latin typeface="+mn-lt"/>
                  <a:ea typeface="+mn-ea"/>
                  <a:cs typeface="+mn-cs"/>
                </a:rPr>
                <a:t>追驱动 | Driver</a:t>
              </a:r>
            </a:p>
          </p:txBody>
        </p:sp>
        <p:sp>
          <p:nvSpPr>
            <p:cNvPr id="32" name="TextBox 32"/>
            <p:cNvSpPr txBox="1"/>
            <p:nvPr/>
          </p:nvSpPr>
          <p:spPr>
            <a:xfrm>
              <a:off x="8947785" y="5060156"/>
              <a:ext cx="1860550" cy="448628"/>
            </a:xfrm>
            <a:prstGeom prst="rect">
              <a:avLst/>
            </a:prstGeom>
            <a:noFill/>
            <a:ln>
              <a:noFill/>
            </a:ln>
          </p:spPr>
          <p:txBody>
            <a:bodyPr wrap="none" lIns="0" tIns="0" rIns="0" bIns="0" anchor="t" anchorCtr="0">
              <a:spAutoFit/>
            </a:bodyPr>
            <a:lstStyle/>
            <a:p>
              <a:pPr algn="l">
                <a:lnSpc>
                  <a:spcPts val="1800"/>
                </a:lnSpc>
              </a:pPr>
              <a:r>
                <a:rPr lang="zh-CN" sz="1120" dirty="0">
                  <a:solidFill>
                    <a:schemeClr val="dk1"/>
                  </a:solidFill>
                  <a:latin typeface="+mn-lt"/>
                  <a:ea typeface="+mn-ea"/>
                  <a:cs typeface="+mn-cs"/>
                </a:rPr>
                <a:t>太阳能驱动蒸发与大气输送；</a:t>
              </a:r>
              <a:br/>
              <a:r>
                <a:rPr lang="zh-CN" sz="1120" dirty="0">
                  <a:solidFill>
                    <a:schemeClr val="dk1"/>
                  </a:solidFill>
                  <a:latin typeface="+mn-lt"/>
                  <a:ea typeface="+mn-ea"/>
                  <a:cs typeface="+mn-cs"/>
                </a:rPr>
                <a:t>重力推动降水、径流与下渗。</a:t>
              </a:r>
            </a:p>
          </p:txBody>
        </p:sp>
        <p:sp>
          <p:nvSpPr>
            <p:cNvPr id="33" name="Rectangle 33"/>
            <p:cNvSpPr/>
            <p:nvPr/>
          </p:nvSpPr>
          <p:spPr>
            <a:xfrm>
              <a:off x="8953500" y="5753100"/>
              <a:ext cx="2552700" cy="266700"/>
            </a:xfrm>
            <a:prstGeom prst="roundRect">
              <a:avLst>
                <a:gd name="adj" fmla="val 42857"/>
              </a:avLst>
            </a:prstGeom>
            <a:solidFill>
              <a:schemeClr val="lt1"/>
            </a:solidFill>
            <a:ln>
              <a:noFill/>
            </a:ln>
          </p:spPr>
        </p:sp>
        <p:sp>
          <p:nvSpPr>
            <p:cNvPr id="34" name="TextBox 34"/>
            <p:cNvSpPr txBox="1"/>
            <p:nvPr/>
          </p:nvSpPr>
          <p:spPr>
            <a:xfrm>
              <a:off x="9151024" y="5828824"/>
              <a:ext cx="2157653" cy="190690"/>
            </a:xfrm>
            <a:prstGeom prst="rect">
              <a:avLst/>
            </a:prstGeom>
            <a:noFill/>
            <a:ln>
              <a:noFill/>
            </a:ln>
          </p:spPr>
          <p:txBody>
            <a:bodyPr wrap="none" lIns="0" tIns="0" rIns="0" bIns="0" anchor="t" anchorCtr="0">
              <a:spAutoFit/>
            </a:bodyPr>
            <a:lstStyle/>
            <a:p>
              <a:pPr algn="ctr"/>
              <a:r>
                <a:rPr lang="zh-CN" sz="980" dirty="0">
                  <a:solidFill>
                    <a:schemeClr val="accent5"/>
                  </a:solidFill>
                  <a:latin typeface="+mn-lt"/>
                  <a:ea typeface="+mn-ea"/>
                  <a:cs typeface="+mn-cs"/>
                </a:rPr>
                <a:t>Ocean covers about 71% of Earth</a:t>
              </a:r>
            </a:p>
          </p:txBody>
        </p:sp>
      </p:grpSp>
      <p:sp>
        <p:nvSpPr>
          <p:cNvPr id="36" name="TextBox 36"/>
          <p:cNvSpPr txBox="1"/>
          <p:nvPr/>
        </p:nvSpPr>
        <p:spPr>
          <a:xfrm>
            <a:off x="376238" y="6532245"/>
            <a:ext cx="4819983" cy="176212"/>
          </a:xfrm>
          <a:prstGeom prst="rect">
            <a:avLst/>
          </a:prstGeom>
          <a:noFill/>
          <a:ln>
            <a:noFill/>
          </a:ln>
        </p:spPr>
        <p:txBody>
          <a:bodyPr wrap="none" lIns="0" tIns="0" rIns="0" bIns="0" anchor="t" anchorCtr="0">
            <a:spAutoFit/>
          </a:bodyPr>
          <a:lstStyle/>
          <a:p>
            <a:pPr algn="l"/>
            <a:r>
              <a:rPr lang="zh-CN" sz="900" dirty="0">
                <a:solidFill>
                  <a:schemeClr val="accent5"/>
                </a:solidFill>
                <a:latin typeface="+mn-lt"/>
                <a:ea typeface="+mn-ea"/>
                <a:cs typeface="+mn-cs"/>
              </a:rPr>
              <a:t>Source: EP 5e, Interlude F, The Hydrologic Cycle, pp.580–581 (PDF pp.615–616).</a:t>
            </a:r>
          </a:p>
        </p:txBody>
      </p:sp>
      <p:sp>
        <p:nvSpPr>
          <p:cNvPr id="37" name="TextBox 37"/>
          <p:cNvSpPr txBox="1"/>
          <p:nvPr/>
        </p:nvSpPr>
        <p:spPr>
          <a:xfrm>
            <a:off x="11672964" y="6532245"/>
            <a:ext cx="142799" cy="176212"/>
          </a:xfrm>
          <a:prstGeom prst="rect">
            <a:avLst/>
          </a:prstGeom>
          <a:noFill/>
          <a:ln>
            <a:noFill/>
          </a:ln>
        </p:spPr>
        <p:txBody>
          <a:bodyPr wrap="none" lIns="0" tIns="0" rIns="0" bIns="0" anchor="t" anchorCtr="0">
            <a:spAutoFit/>
          </a:bodyPr>
          <a:lstStyle/>
          <a:p>
            <a:pPr algn="r"/>
            <a:r>
              <a:rPr lang="zh-CN" sz="900" dirty="0">
                <a:solidFill>
                  <a:schemeClr val="accent5"/>
                </a:solidFill>
                <a:latin typeface="+mn-lt"/>
                <a:ea typeface="+mn-ea"/>
                <a:cs typeface="+mn-cs"/>
              </a:rPr>
              <a:t>09</a:t>
            </a:r>
          </a:p>
        </p:txBody>
      </p:sp>
    </p:spTree>
    <p:extLst>
      <p:ext uri="{BB962C8B-B14F-4D97-AF65-F5344CB8AC3E}">
        <p14:creationId xmlns:p14="http://schemas.microsoft.com/office/powerpoint/2010/main" val="1348035705"/>
      </p:ext>
    </p:extLst>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5"/>
          <p:cNvGrpSpPr/>
          <p:nvPr/>
        </p:nvGrpSpPr>
        <p:grpSpPr>
          <a:xfrm>
            <a:off x="0" y="0"/>
            <a:ext cx="12192000" cy="685800"/>
            <a:chOff x="0" y="0"/>
            <a:chExt cx="12192000" cy="685800"/>
          </a:xfrm>
        </p:grpSpPr>
        <p:sp>
          <p:nvSpPr>
            <p:cNvPr id="2" name="Rectangle 2"/>
            <p:cNvSpPr/>
            <p:nvPr/>
          </p:nvSpPr>
          <p:spPr>
            <a:xfrm>
              <a:off x="0" y="0"/>
              <a:ext cx="12192000" cy="685800"/>
            </a:xfrm>
            <a:prstGeom prst="rect">
              <a:avLst/>
            </a:prstGeom>
            <a:solidFill>
              <a:srgbClr val="0E3F8C"/>
            </a:solidFill>
            <a:ln>
              <a:noFill/>
            </a:ln>
          </p:spPr>
        </p:sp>
        <p:sp>
          <p:nvSpPr>
            <p:cNvPr id="3" name="TextBox 3"/>
            <p:cNvSpPr txBox="1"/>
            <p:nvPr/>
          </p:nvSpPr>
          <p:spPr>
            <a:xfrm>
              <a:off x="374142" y="282892"/>
              <a:ext cx="4823615" cy="264033"/>
            </a:xfrm>
            <a:prstGeom prst="rect">
              <a:avLst/>
            </a:prstGeom>
            <a:noFill/>
            <a:ln>
              <a:noFill/>
            </a:ln>
          </p:spPr>
          <p:txBody>
            <a:bodyPr wrap="none" lIns="0" tIns="0" rIns="0" bIns="0" anchor="t" anchorCtr="0">
              <a:spAutoFit/>
            </a:bodyPr>
            <a:lstStyle/>
            <a:p>
              <a:pPr algn="l"/>
              <a:r>
                <a:rPr lang="zh-CN" sz="1350" b="1" dirty="0">
                  <a:solidFill>
                    <a:srgbClr val="FFFFFF"/>
                  </a:solidFill>
                  <a:latin typeface="Arial"/>
                  <a:ea typeface="Microsoft YaHei"/>
                  <a:cs typeface="Arial"/>
                </a:rPr>
                <a:t>1.7 海洋与陆地的水量收支 | Ocean–Land Water Budget</a:t>
              </a:r>
            </a:p>
          </p:txBody>
        </p:sp>
        <p:sp>
          <p:nvSpPr>
            <p:cNvPr id="4" name="TextBox 4"/>
            <p:cNvSpPr txBox="1"/>
            <p:nvPr/>
          </p:nvSpPr>
          <p:spPr>
            <a:xfrm>
              <a:off x="10780776" y="299085"/>
              <a:ext cx="1036320" cy="234696"/>
            </a:xfrm>
            <a:prstGeom prst="rect">
              <a:avLst/>
            </a:prstGeom>
            <a:noFill/>
            <a:ln>
              <a:noFill/>
            </a:ln>
          </p:spPr>
          <p:txBody>
            <a:bodyPr wrap="none" lIns="0" tIns="0" rIns="0" bIns="0" anchor="t" anchorCtr="0">
              <a:spAutoFit/>
            </a:bodyPr>
            <a:lstStyle/>
            <a:p>
              <a:pPr algn="r"/>
              <a:r>
                <a:rPr lang="en-US" sz="1200" dirty="0">
                  <a:solidFill>
                    <a:srgbClr val="C7D7F2"/>
                  </a:solidFill>
                  <a:latin typeface="Arial"/>
                  <a:ea typeface="Arial"/>
                  <a:cs typeface="Arial"/>
                </a:rPr>
                <a:t>WATER CYCLE</a:t>
              </a:r>
            </a:p>
          </p:txBody>
        </p:sp>
      </p:grpSp>
      <p:grpSp>
        <p:nvGrpSpPr>
          <p:cNvPr id="8" name="Group 8"/>
          <p:cNvGrpSpPr/>
          <p:nvPr/>
        </p:nvGrpSpPr>
        <p:grpSpPr>
          <a:xfrm>
            <a:off x="381000" y="914400"/>
            <a:ext cx="5922340" cy="357093"/>
            <a:chOff x="381000" y="914400"/>
            <a:chExt cx="5922340" cy="357093"/>
          </a:xfrm>
        </p:grpSpPr>
        <p:sp>
          <p:nvSpPr>
            <p:cNvPr id="6" name="Rectangle 6"/>
            <p:cNvSpPr/>
            <p:nvPr/>
          </p:nvSpPr>
          <p:spPr>
            <a:xfrm>
              <a:off x="381000" y="914400"/>
              <a:ext cx="57150" cy="266700"/>
            </a:xfrm>
            <a:prstGeom prst="roundRect">
              <a:avLst>
                <a:gd name="adj" fmla="val 50000"/>
              </a:avLst>
            </a:prstGeom>
            <a:solidFill>
              <a:srgbClr val="1E4FA8"/>
            </a:solidFill>
            <a:ln>
              <a:noFill/>
            </a:ln>
          </p:spPr>
        </p:sp>
        <p:sp>
          <p:nvSpPr>
            <p:cNvPr id="7" name="TextBox 7"/>
            <p:cNvSpPr txBox="1"/>
            <p:nvPr/>
          </p:nvSpPr>
          <p:spPr>
            <a:xfrm>
              <a:off x="544449" y="963454"/>
              <a:ext cx="5758891" cy="308039"/>
            </a:xfrm>
            <a:prstGeom prst="rect">
              <a:avLst/>
            </a:prstGeom>
            <a:noFill/>
            <a:ln>
              <a:noFill/>
            </a:ln>
          </p:spPr>
          <p:txBody>
            <a:bodyPr wrap="none" lIns="0" tIns="0" rIns="0" bIns="0" anchor="t" anchorCtr="0">
              <a:spAutoFit/>
            </a:bodyPr>
            <a:lstStyle/>
            <a:p>
              <a:pPr algn="l"/>
              <a:r>
                <a:rPr lang="zh-CN" sz="1580" b="1" dirty="0">
                  <a:solidFill>
                    <a:srgbClr val="0E3F8C"/>
                  </a:solidFill>
                  <a:latin typeface="Arial"/>
                  <a:ea typeface="Microsoft YaHei"/>
                  <a:cs typeface="Arial"/>
                </a:rPr>
                <a:t>海洋多出的蒸发量经大气输送到陆地，再由等量径流回到海洋</a:t>
              </a:r>
            </a:p>
          </p:txBody>
        </p:sp>
      </p:grpSp>
      <p:grpSp>
        <p:nvGrpSpPr>
          <p:cNvPr id="55" name="Group 55"/>
          <p:cNvGrpSpPr/>
          <p:nvPr/>
        </p:nvGrpSpPr>
        <p:grpSpPr>
          <a:xfrm>
            <a:off x="381000" y="1428750"/>
            <a:ext cx="11430000" cy="4781550"/>
            <a:chOff x="381000" y="1428750"/>
            <a:chExt cx="11430000" cy="4781550"/>
          </a:xfrm>
        </p:grpSpPr>
        <p:sp>
          <p:nvSpPr>
            <p:cNvPr id="9" name="Rectangle 9"/>
            <p:cNvSpPr/>
            <p:nvPr/>
          </p:nvSpPr>
          <p:spPr>
            <a:xfrm>
              <a:off x="381000" y="1428750"/>
              <a:ext cx="11430000" cy="4781550"/>
            </a:xfrm>
            <a:prstGeom prst="roundRect">
              <a:avLst>
                <a:gd name="adj" fmla="val 2390"/>
              </a:avLst>
            </a:prstGeom>
            <a:solidFill>
              <a:srgbClr val="F7F9FC"/>
            </a:solidFill>
            <a:ln w="9525">
              <a:solidFill>
                <a:srgbClr val="D6DCE5"/>
              </a:solidFill>
            </a:ln>
          </p:spPr>
        </p:sp>
        <p:grpSp>
          <p:nvGrpSpPr>
            <p:cNvPr id="17" name="Group 17"/>
            <p:cNvGrpSpPr/>
            <p:nvPr/>
          </p:nvGrpSpPr>
          <p:grpSpPr>
            <a:xfrm>
              <a:off x="571500" y="1581150"/>
              <a:ext cx="11049000" cy="628650"/>
              <a:chOff x="571500" y="1581150"/>
              <a:chExt cx="11049000" cy="628650"/>
            </a:xfrm>
          </p:grpSpPr>
          <p:sp>
            <p:nvSpPr>
              <p:cNvPr id="10" name="Rectangle 10"/>
              <p:cNvSpPr/>
              <p:nvPr/>
            </p:nvSpPr>
            <p:spPr>
              <a:xfrm>
                <a:off x="571500" y="1581150"/>
                <a:ext cx="11049000" cy="628650"/>
              </a:xfrm>
              <a:prstGeom prst="roundRect">
                <a:avLst>
                  <a:gd name="adj" fmla="val 15152"/>
                </a:avLst>
              </a:prstGeom>
              <a:solidFill>
                <a:srgbClr val="E8EFF8"/>
              </a:solidFill>
              <a:ln>
                <a:noFill/>
              </a:ln>
            </p:spPr>
          </p:sp>
          <p:sp>
            <p:nvSpPr>
              <p:cNvPr id="11" name="TextBox 11"/>
              <p:cNvSpPr txBox="1"/>
              <p:nvPr/>
            </p:nvSpPr>
            <p:spPr>
              <a:xfrm>
                <a:off x="757047" y="1742599"/>
                <a:ext cx="1320569" cy="190690"/>
              </a:xfrm>
              <a:prstGeom prst="rect">
                <a:avLst/>
              </a:prstGeom>
              <a:noFill/>
              <a:ln>
                <a:noFill/>
              </a:ln>
            </p:spPr>
            <p:txBody>
              <a:bodyPr wrap="none" lIns="0" tIns="0" rIns="0" bIns="0" anchor="t" anchorCtr="0">
                <a:spAutoFit/>
              </a:bodyPr>
              <a:lstStyle/>
              <a:p>
                <a:pPr algn="l"/>
                <a:r>
                  <a:rPr lang="zh-CN" sz="980" b="1" dirty="0">
                    <a:solidFill>
                      <a:srgbClr val="1E4FA8"/>
                    </a:solidFill>
                    <a:latin typeface="Arial"/>
                    <a:ea typeface="Microsoft YaHei"/>
                    <a:cs typeface="Arial"/>
                  </a:rPr>
                  <a:t>ATMOSPHERE · 大气</a:t>
                </a:r>
              </a:p>
            </p:txBody>
          </p:sp>
          <p:sp>
            <p:nvSpPr>
              <p:cNvPr id="12" name="TextBox 12"/>
              <p:cNvSpPr txBox="1"/>
              <p:nvPr/>
            </p:nvSpPr>
            <p:spPr>
              <a:xfrm>
                <a:off x="9076444" y="1750695"/>
                <a:ext cx="2358319" cy="176212"/>
              </a:xfrm>
              <a:prstGeom prst="rect">
                <a:avLst/>
              </a:prstGeom>
              <a:noFill/>
              <a:ln>
                <a:noFill/>
              </a:ln>
            </p:spPr>
            <p:txBody>
              <a:bodyPr wrap="none" lIns="0" tIns="0" rIns="0" bIns="0" anchor="t" anchorCtr="0">
                <a:spAutoFit/>
              </a:bodyPr>
              <a:lstStyle/>
              <a:p>
                <a:pPr algn="r"/>
                <a:r>
                  <a:rPr lang="zh-CN" sz="900" dirty="0">
                    <a:solidFill>
                      <a:srgbClr val="4A5568"/>
                    </a:solidFill>
                    <a:latin typeface="Arial"/>
                    <a:ea typeface="Microsoft YaHei"/>
                    <a:cs typeface="Arial"/>
                  </a:rPr>
                  <a:t>单位 Unit：×10³ km³/yr（教材全球收支）</a:t>
                </a:r>
              </a:p>
            </p:txBody>
          </p:sp>
          <p:sp>
            <p:nvSpPr>
              <p:cNvPr id="13" name="Line 13"/>
              <p:cNvSpPr/>
              <p:nvPr/>
            </p:nvSpPr>
            <p:spPr>
              <a:xfrm>
                <a:off x="3238500" y="2038350"/>
                <a:ext cx="7715250" cy="9525"/>
              </a:xfrm>
              <a:custGeom>
                <a:avLst/>
                <a:gdLst/>
                <a:ahLst/>
                <a:cxnLst/>
                <a:rect l="l" t="t" r="r" b="b"/>
                <a:pathLst>
                  <a:path w="7715250" h="9525">
                    <a:moveTo>
                      <a:pt x="7715250" y="0"/>
                    </a:moveTo>
                    <a:lnTo>
                      <a:pt x="0" y="0"/>
                    </a:lnTo>
                  </a:path>
                </a:pathLst>
              </a:custGeom>
              <a:noFill/>
              <a:ln w="47625">
                <a:solidFill>
                  <a:srgbClr val="1E4FA8"/>
                </a:solidFill>
              </a:ln>
            </p:spPr>
          </p:sp>
          <p:sp>
            <p:nvSpPr>
              <p:cNvPr id="14" name="Polygon 14"/>
              <p:cNvSpPr/>
              <p:nvPr/>
            </p:nvSpPr>
            <p:spPr>
              <a:xfrm>
                <a:off x="3200400" y="1933575"/>
                <a:ext cx="190500" cy="209550"/>
              </a:xfrm>
              <a:custGeom>
                <a:avLst/>
                <a:gdLst/>
                <a:ahLst/>
                <a:cxnLst/>
                <a:rect l="l" t="t" r="r" b="b"/>
                <a:pathLst>
                  <a:path w="190500" h="209550">
                    <a:moveTo>
                      <a:pt x="190500" y="0"/>
                    </a:moveTo>
                    <a:lnTo>
                      <a:pt x="0" y="104775"/>
                    </a:lnTo>
                    <a:lnTo>
                      <a:pt x="190500" y="209550"/>
                    </a:lnTo>
                    <a:close/>
                  </a:path>
                </a:pathLst>
              </a:custGeom>
              <a:solidFill>
                <a:srgbClr val="1E4FA8"/>
              </a:solidFill>
              <a:ln>
                <a:noFill/>
              </a:ln>
            </p:spPr>
          </p:sp>
          <p:sp>
            <p:nvSpPr>
              <p:cNvPr id="15" name="Rectangle 15"/>
              <p:cNvSpPr/>
              <p:nvPr/>
            </p:nvSpPr>
            <p:spPr>
              <a:xfrm>
                <a:off x="3505200" y="1809750"/>
                <a:ext cx="5067300" cy="247650"/>
              </a:xfrm>
              <a:prstGeom prst="roundRect">
                <a:avLst>
                  <a:gd name="adj" fmla="val 50000"/>
                </a:avLst>
              </a:prstGeom>
              <a:solidFill>
                <a:srgbClr val="FFFFFF"/>
              </a:solidFill>
              <a:ln>
                <a:noFill/>
              </a:ln>
            </p:spPr>
          </p:sp>
          <p:sp>
            <p:nvSpPr>
              <p:cNvPr id="16" name="TextBox 16"/>
              <p:cNvSpPr txBox="1"/>
              <p:nvPr/>
            </p:nvSpPr>
            <p:spPr>
              <a:xfrm>
                <a:off x="3863588" y="1869281"/>
                <a:ext cx="4350524" cy="220028"/>
              </a:xfrm>
              <a:prstGeom prst="rect">
                <a:avLst/>
              </a:prstGeom>
              <a:noFill/>
              <a:ln>
                <a:noFill/>
              </a:ln>
            </p:spPr>
            <p:txBody>
              <a:bodyPr wrap="none" lIns="0" tIns="0" rIns="0" bIns="0" anchor="t" anchorCtr="0">
                <a:spAutoFit/>
              </a:bodyPr>
              <a:lstStyle/>
              <a:p>
                <a:pPr algn="ctr"/>
                <a:r>
                  <a:rPr lang="zh-CN" sz="1120" b="1" dirty="0">
                    <a:solidFill>
                      <a:srgbClr val="0E3F8C"/>
                    </a:solidFill>
                    <a:latin typeface="Arial"/>
                    <a:ea typeface="Microsoft YaHei"/>
                    <a:cs typeface="Arial"/>
                  </a:rPr>
                  <a:t>大气向陆净输送 Atmospheric transport = 36（海洋 → 陆地）</a:t>
                </a:r>
              </a:p>
            </p:txBody>
          </p:sp>
        </p:grpSp>
        <p:grpSp>
          <p:nvGrpSpPr>
            <p:cNvPr id="33" name="Group 33"/>
            <p:cNvGrpSpPr/>
            <p:nvPr/>
          </p:nvGrpSpPr>
          <p:grpSpPr>
            <a:xfrm>
              <a:off x="571500" y="2381250"/>
              <a:ext cx="4953000" cy="2838450"/>
              <a:chOff x="571500" y="2381250"/>
              <a:chExt cx="4953000" cy="2838450"/>
            </a:xfrm>
          </p:grpSpPr>
          <p:sp>
            <p:nvSpPr>
              <p:cNvPr id="18" name="Rectangle 18"/>
              <p:cNvSpPr/>
              <p:nvPr/>
            </p:nvSpPr>
            <p:spPr>
              <a:xfrm>
                <a:off x="571500" y="2381250"/>
                <a:ext cx="4953000" cy="2838450"/>
              </a:xfrm>
              <a:prstGeom prst="roundRect">
                <a:avLst>
                  <a:gd name="adj" fmla="val 4027"/>
                </a:avLst>
              </a:prstGeom>
              <a:solidFill>
                <a:srgbClr val="FFFFFF"/>
              </a:solidFill>
              <a:ln w="14288">
                <a:solidFill>
                  <a:srgbClr val="D6DCE5"/>
                </a:solidFill>
              </a:ln>
            </p:spPr>
          </p:sp>
          <p:sp>
            <p:nvSpPr>
              <p:cNvPr id="19" name="TextBox 19"/>
              <p:cNvSpPr txBox="1"/>
              <p:nvPr/>
            </p:nvSpPr>
            <p:spPr>
              <a:xfrm>
                <a:off x="794385" y="2583656"/>
                <a:ext cx="890416" cy="220028"/>
              </a:xfrm>
              <a:prstGeom prst="rect">
                <a:avLst/>
              </a:prstGeom>
              <a:noFill/>
              <a:ln>
                <a:noFill/>
              </a:ln>
            </p:spPr>
            <p:txBody>
              <a:bodyPr wrap="none" lIns="0" tIns="0" rIns="0" bIns="0" anchor="t" anchorCtr="0">
                <a:spAutoFit/>
              </a:bodyPr>
              <a:lstStyle/>
              <a:p>
                <a:pPr algn="l"/>
                <a:r>
                  <a:rPr lang="zh-CN" sz="1120" b="1" dirty="0">
                    <a:solidFill>
                      <a:srgbClr val="0E3F8C"/>
                    </a:solidFill>
                    <a:latin typeface="Arial"/>
                    <a:ea typeface="Microsoft YaHei"/>
                    <a:cs typeface="Arial"/>
                  </a:rPr>
                  <a:t>LAND · 陆地</a:t>
                </a:r>
              </a:p>
            </p:txBody>
          </p:sp>
          <p:sp>
            <p:nvSpPr>
              <p:cNvPr id="20" name="TextBox 20"/>
              <p:cNvSpPr txBox="1"/>
              <p:nvPr/>
            </p:nvSpPr>
            <p:spPr>
              <a:xfrm>
                <a:off x="4667174" y="2607945"/>
                <a:ext cx="633489" cy="176212"/>
              </a:xfrm>
              <a:prstGeom prst="rect">
                <a:avLst/>
              </a:prstGeom>
              <a:noFill/>
              <a:ln>
                <a:noFill/>
              </a:ln>
            </p:spPr>
            <p:txBody>
              <a:bodyPr wrap="none" lIns="0" tIns="0" rIns="0" bIns="0" anchor="t" anchorCtr="0">
                <a:spAutoFit/>
              </a:bodyPr>
              <a:lstStyle/>
              <a:p>
                <a:pPr algn="r"/>
                <a:r>
                  <a:rPr lang="zh-CN" sz="900" dirty="0">
                    <a:solidFill>
                      <a:srgbClr val="4A5568"/>
                    </a:solidFill>
                    <a:latin typeface="Arial"/>
                    <a:ea typeface="Microsoft YaHei"/>
                    <a:cs typeface="Arial"/>
                  </a:rPr>
                  <a:t>降水 &gt; 蒸散</a:t>
                </a:r>
              </a:p>
            </p:txBody>
          </p:sp>
          <p:sp>
            <p:nvSpPr>
              <p:cNvPr id="21" name="Line 21"/>
              <p:cNvSpPr/>
              <p:nvPr/>
            </p:nvSpPr>
            <p:spPr>
              <a:xfrm>
                <a:off x="1905000" y="3009900"/>
                <a:ext cx="9525" cy="819150"/>
              </a:xfrm>
              <a:custGeom>
                <a:avLst/>
                <a:gdLst/>
                <a:ahLst/>
                <a:cxnLst/>
                <a:rect l="l" t="t" r="r" b="b"/>
                <a:pathLst>
                  <a:path w="9525" h="819150">
                    <a:moveTo>
                      <a:pt x="0" y="0"/>
                    </a:moveTo>
                    <a:lnTo>
                      <a:pt x="0" y="819150"/>
                    </a:lnTo>
                  </a:path>
                </a:pathLst>
              </a:custGeom>
              <a:noFill/>
              <a:ln w="57150">
                <a:solidFill>
                  <a:srgbClr val="3D7BD9"/>
                </a:solidFill>
              </a:ln>
            </p:spPr>
          </p:sp>
          <p:sp>
            <p:nvSpPr>
              <p:cNvPr id="22" name="Polygon 22"/>
              <p:cNvSpPr/>
              <p:nvPr/>
            </p:nvSpPr>
            <p:spPr>
              <a:xfrm>
                <a:off x="1790700" y="3695700"/>
                <a:ext cx="228600" cy="171450"/>
              </a:xfrm>
              <a:custGeom>
                <a:avLst/>
                <a:gdLst/>
                <a:ahLst/>
                <a:cxnLst/>
                <a:rect l="l" t="t" r="r" b="b"/>
                <a:pathLst>
                  <a:path w="228600" h="171450">
                    <a:moveTo>
                      <a:pt x="0" y="0"/>
                    </a:moveTo>
                    <a:lnTo>
                      <a:pt x="114300" y="171450"/>
                    </a:lnTo>
                    <a:lnTo>
                      <a:pt x="228600" y="0"/>
                    </a:lnTo>
                    <a:close/>
                  </a:path>
                </a:pathLst>
              </a:custGeom>
              <a:solidFill>
                <a:srgbClr val="3D7BD9"/>
              </a:solidFill>
              <a:ln>
                <a:noFill/>
              </a:ln>
            </p:spPr>
          </p:sp>
          <p:sp>
            <p:nvSpPr>
              <p:cNvPr id="23" name="TextBox 23"/>
              <p:cNvSpPr txBox="1"/>
              <p:nvPr/>
            </p:nvSpPr>
            <p:spPr>
              <a:xfrm>
                <a:off x="1341390" y="2842022"/>
                <a:ext cx="1127220" cy="183356"/>
              </a:xfrm>
              <a:prstGeom prst="rect">
                <a:avLst/>
              </a:prstGeom>
              <a:noFill/>
              <a:ln>
                <a:noFill/>
              </a:ln>
            </p:spPr>
            <p:txBody>
              <a:bodyPr wrap="none" lIns="0" tIns="0" rIns="0" bIns="0" anchor="t" anchorCtr="0">
                <a:spAutoFit/>
              </a:bodyPr>
              <a:lstStyle/>
              <a:p>
                <a:pPr algn="ctr"/>
                <a:r>
                  <a:rPr lang="zh-CN" sz="940" dirty="0">
                    <a:solidFill>
                      <a:srgbClr val="4A5568"/>
                    </a:solidFill>
                    <a:latin typeface="Arial"/>
                    <a:ea typeface="Microsoft YaHei"/>
                    <a:cs typeface="Arial"/>
                  </a:rPr>
                  <a:t>降水向下 Precip. ↓</a:t>
                </a:r>
              </a:p>
            </p:txBody>
          </p:sp>
          <p:sp>
            <p:nvSpPr>
              <p:cNvPr id="24" name="TextBox 24"/>
              <p:cNvSpPr txBox="1"/>
              <p:nvPr/>
            </p:nvSpPr>
            <p:spPr>
              <a:xfrm>
                <a:off x="1659152" y="3991451"/>
                <a:ext cx="491697" cy="396050"/>
              </a:xfrm>
              <a:prstGeom prst="rect">
                <a:avLst/>
              </a:prstGeom>
              <a:noFill/>
              <a:ln>
                <a:noFill/>
              </a:ln>
            </p:spPr>
            <p:txBody>
              <a:bodyPr wrap="none" lIns="0" tIns="0" rIns="0" bIns="0" anchor="t" anchorCtr="0">
                <a:spAutoFit/>
              </a:bodyPr>
              <a:lstStyle/>
              <a:p>
                <a:pPr algn="ctr"/>
                <a:r>
                  <a:rPr lang="en-US" sz="2020" b="1" dirty="0">
                    <a:solidFill>
                      <a:srgbClr val="1E4FA8"/>
                    </a:solidFill>
                    <a:latin typeface="Arial"/>
                    <a:ea typeface="Arial"/>
                    <a:cs typeface="Arial"/>
                  </a:rPr>
                  <a:t>107</a:t>
                </a:r>
              </a:p>
            </p:txBody>
          </p:sp>
          <p:sp>
            <p:nvSpPr>
              <p:cNvPr id="25" name="TextBox 25"/>
              <p:cNvSpPr txBox="1"/>
              <p:nvPr/>
            </p:nvSpPr>
            <p:spPr>
              <a:xfrm>
                <a:off x="1370905" y="4322445"/>
                <a:ext cx="1068189" cy="176212"/>
              </a:xfrm>
              <a:prstGeom prst="rect">
                <a:avLst/>
              </a:prstGeom>
              <a:noFill/>
              <a:ln>
                <a:noFill/>
              </a:ln>
            </p:spPr>
            <p:txBody>
              <a:bodyPr wrap="none" lIns="0" tIns="0" rIns="0" bIns="0" anchor="t" anchorCtr="0">
                <a:spAutoFit/>
              </a:bodyPr>
              <a:lstStyle/>
              <a:p>
                <a:pPr algn="ctr"/>
                <a:r>
                  <a:rPr lang="zh-CN" sz="900" dirty="0">
                    <a:solidFill>
                      <a:srgbClr val="4A5568"/>
                    </a:solidFill>
                    <a:latin typeface="Arial"/>
                    <a:ea typeface="Microsoft YaHei"/>
                    <a:cs typeface="Arial"/>
                  </a:rPr>
                  <a:t>降水 Precipitation</a:t>
                </a:r>
              </a:p>
            </p:txBody>
          </p:sp>
          <p:sp>
            <p:nvSpPr>
              <p:cNvPr id="26" name="Line 26"/>
              <p:cNvSpPr/>
              <p:nvPr/>
            </p:nvSpPr>
            <p:spPr>
              <a:xfrm>
                <a:off x="4095750" y="3009900"/>
                <a:ext cx="9525" cy="819150"/>
              </a:xfrm>
              <a:custGeom>
                <a:avLst/>
                <a:gdLst/>
                <a:ahLst/>
                <a:cxnLst/>
                <a:rect l="l" t="t" r="r" b="b"/>
                <a:pathLst>
                  <a:path w="9525" h="819150">
                    <a:moveTo>
                      <a:pt x="0" y="819150"/>
                    </a:moveTo>
                    <a:lnTo>
                      <a:pt x="0" y="0"/>
                    </a:lnTo>
                  </a:path>
                </a:pathLst>
              </a:custGeom>
              <a:noFill/>
              <a:ln w="57150">
                <a:solidFill>
                  <a:srgbClr val="1E4FA8"/>
                </a:solidFill>
              </a:ln>
            </p:spPr>
          </p:sp>
          <p:sp>
            <p:nvSpPr>
              <p:cNvPr id="27" name="Polygon 27"/>
              <p:cNvSpPr/>
              <p:nvPr/>
            </p:nvSpPr>
            <p:spPr>
              <a:xfrm>
                <a:off x="3981450" y="2971800"/>
                <a:ext cx="228600" cy="171450"/>
              </a:xfrm>
              <a:custGeom>
                <a:avLst/>
                <a:gdLst/>
                <a:ahLst/>
                <a:cxnLst/>
                <a:rect l="l" t="t" r="r" b="b"/>
                <a:pathLst>
                  <a:path w="228600" h="171450">
                    <a:moveTo>
                      <a:pt x="0" y="171450"/>
                    </a:moveTo>
                    <a:lnTo>
                      <a:pt x="114300" y="0"/>
                    </a:lnTo>
                    <a:lnTo>
                      <a:pt x="228600" y="171450"/>
                    </a:lnTo>
                    <a:close/>
                  </a:path>
                </a:pathLst>
              </a:custGeom>
              <a:solidFill>
                <a:srgbClr val="1E4FA8"/>
              </a:solidFill>
              <a:ln>
                <a:noFill/>
              </a:ln>
            </p:spPr>
          </p:sp>
          <p:sp>
            <p:nvSpPr>
              <p:cNvPr id="28" name="TextBox 28"/>
              <p:cNvSpPr txBox="1"/>
              <p:nvPr/>
            </p:nvSpPr>
            <p:spPr>
              <a:xfrm>
                <a:off x="3673158" y="2842022"/>
                <a:ext cx="845185" cy="183356"/>
              </a:xfrm>
              <a:prstGeom prst="rect">
                <a:avLst/>
              </a:prstGeom>
              <a:noFill/>
              <a:ln>
                <a:noFill/>
              </a:ln>
            </p:spPr>
            <p:txBody>
              <a:bodyPr wrap="none" lIns="0" tIns="0" rIns="0" bIns="0" anchor="t" anchorCtr="0">
                <a:spAutoFit/>
              </a:bodyPr>
              <a:lstStyle/>
              <a:p>
                <a:pPr algn="ctr"/>
                <a:r>
                  <a:rPr lang="zh-CN" sz="940" dirty="0">
                    <a:solidFill>
                      <a:srgbClr val="4A5568"/>
                    </a:solidFill>
                    <a:latin typeface="Arial"/>
                    <a:ea typeface="Microsoft YaHei"/>
                    <a:cs typeface="Arial"/>
                  </a:rPr>
                  <a:t>蒸散向上 ET ↑</a:t>
                </a:r>
              </a:p>
            </p:txBody>
          </p:sp>
          <p:sp>
            <p:nvSpPr>
              <p:cNvPr id="29" name="TextBox 29"/>
              <p:cNvSpPr txBox="1"/>
              <p:nvPr/>
            </p:nvSpPr>
            <p:spPr>
              <a:xfrm>
                <a:off x="3928422" y="3991451"/>
                <a:ext cx="334656" cy="396050"/>
              </a:xfrm>
              <a:prstGeom prst="rect">
                <a:avLst/>
              </a:prstGeom>
              <a:noFill/>
              <a:ln>
                <a:noFill/>
              </a:ln>
            </p:spPr>
            <p:txBody>
              <a:bodyPr wrap="none" lIns="0" tIns="0" rIns="0" bIns="0" anchor="t" anchorCtr="0">
                <a:spAutoFit/>
              </a:bodyPr>
              <a:lstStyle/>
              <a:p>
                <a:pPr algn="ctr"/>
                <a:r>
                  <a:rPr lang="en-US" sz="2020" b="1" dirty="0">
                    <a:solidFill>
                      <a:srgbClr val="3D7BD9"/>
                    </a:solidFill>
                    <a:latin typeface="Arial"/>
                    <a:ea typeface="Arial"/>
                    <a:cs typeface="Arial"/>
                  </a:rPr>
                  <a:t>71</a:t>
                </a:r>
              </a:p>
            </p:txBody>
          </p:sp>
          <p:sp>
            <p:nvSpPr>
              <p:cNvPr id="30" name="TextBox 30"/>
              <p:cNvSpPr txBox="1"/>
              <p:nvPr/>
            </p:nvSpPr>
            <p:spPr>
              <a:xfrm>
                <a:off x="3379984" y="4322445"/>
                <a:ext cx="1431531" cy="176212"/>
              </a:xfrm>
              <a:prstGeom prst="rect">
                <a:avLst/>
              </a:prstGeom>
              <a:noFill/>
              <a:ln>
                <a:noFill/>
              </a:ln>
            </p:spPr>
            <p:txBody>
              <a:bodyPr wrap="none" lIns="0" tIns="0" rIns="0" bIns="0" anchor="t" anchorCtr="0">
                <a:spAutoFit/>
              </a:bodyPr>
              <a:lstStyle/>
              <a:p>
                <a:pPr algn="ctr"/>
                <a:r>
                  <a:rPr lang="zh-CN" sz="900" dirty="0">
                    <a:solidFill>
                      <a:srgbClr val="4A5568"/>
                    </a:solidFill>
                    <a:latin typeface="Arial"/>
                    <a:ea typeface="Microsoft YaHei"/>
                    <a:cs typeface="Arial"/>
                  </a:rPr>
                  <a:t>蒸散 Evapotranspiration</a:t>
                </a:r>
              </a:p>
            </p:txBody>
          </p:sp>
          <p:sp>
            <p:nvSpPr>
              <p:cNvPr id="31" name="Rectangle 31"/>
              <p:cNvSpPr/>
              <p:nvPr/>
            </p:nvSpPr>
            <p:spPr>
              <a:xfrm>
                <a:off x="800100" y="4552950"/>
                <a:ext cx="4495800" cy="495300"/>
              </a:xfrm>
              <a:prstGeom prst="roundRect">
                <a:avLst>
                  <a:gd name="adj" fmla="val 19231"/>
                </a:avLst>
              </a:prstGeom>
              <a:solidFill>
                <a:srgbClr val="F0F5FC"/>
              </a:solidFill>
              <a:ln>
                <a:noFill/>
              </a:ln>
            </p:spPr>
          </p:sp>
          <p:sp>
            <p:nvSpPr>
              <p:cNvPr id="32" name="TextBox 32"/>
              <p:cNvSpPr txBox="1"/>
              <p:nvPr/>
            </p:nvSpPr>
            <p:spPr>
              <a:xfrm>
                <a:off x="1559796" y="4745831"/>
                <a:ext cx="2976409" cy="220028"/>
              </a:xfrm>
              <a:prstGeom prst="rect">
                <a:avLst/>
              </a:prstGeom>
              <a:noFill/>
              <a:ln>
                <a:noFill/>
              </a:ln>
            </p:spPr>
            <p:txBody>
              <a:bodyPr wrap="none" lIns="0" tIns="0" rIns="0" bIns="0" anchor="t" anchorCtr="0">
                <a:spAutoFit/>
              </a:bodyPr>
              <a:lstStyle/>
              <a:p>
                <a:pPr algn="ctr"/>
                <a:r>
                  <a:rPr lang="zh-CN" sz="1120" b="1" dirty="0">
                    <a:solidFill>
                      <a:srgbClr val="0E3F8C"/>
                    </a:solidFill>
                    <a:latin typeface="Arial"/>
                    <a:ea typeface="Microsoft YaHei"/>
                    <a:cs typeface="Arial"/>
                  </a:rPr>
                  <a:t>陆地收支：107 − 71 = 36（净得水 → 径流）</a:t>
                </a:r>
              </a:p>
            </p:txBody>
          </p:sp>
        </p:grpSp>
        <p:grpSp>
          <p:nvGrpSpPr>
            <p:cNvPr id="49" name="Group 49"/>
            <p:cNvGrpSpPr/>
            <p:nvPr/>
          </p:nvGrpSpPr>
          <p:grpSpPr>
            <a:xfrm>
              <a:off x="6667500" y="2381250"/>
              <a:ext cx="4953000" cy="2838450"/>
              <a:chOff x="6667500" y="2381250"/>
              <a:chExt cx="4953000" cy="2838450"/>
            </a:xfrm>
          </p:grpSpPr>
          <p:sp>
            <p:nvSpPr>
              <p:cNvPr id="34" name="Rectangle 34"/>
              <p:cNvSpPr/>
              <p:nvPr/>
            </p:nvSpPr>
            <p:spPr>
              <a:xfrm>
                <a:off x="6667500" y="2381250"/>
                <a:ext cx="4953000" cy="2838450"/>
              </a:xfrm>
              <a:prstGeom prst="roundRect">
                <a:avLst>
                  <a:gd name="adj" fmla="val 4027"/>
                </a:avLst>
              </a:prstGeom>
              <a:solidFill>
                <a:srgbClr val="F0F5FC"/>
              </a:solidFill>
              <a:ln w="14288">
                <a:solidFill>
                  <a:srgbClr val="B8C7DC"/>
                </a:solidFill>
              </a:ln>
            </p:spPr>
          </p:sp>
          <p:sp>
            <p:nvSpPr>
              <p:cNvPr id="35" name="TextBox 35"/>
              <p:cNvSpPr txBox="1"/>
              <p:nvPr/>
            </p:nvSpPr>
            <p:spPr>
              <a:xfrm>
                <a:off x="6890385" y="2583656"/>
                <a:ext cx="1015872" cy="220028"/>
              </a:xfrm>
              <a:prstGeom prst="rect">
                <a:avLst/>
              </a:prstGeom>
              <a:noFill/>
              <a:ln>
                <a:noFill/>
              </a:ln>
            </p:spPr>
            <p:txBody>
              <a:bodyPr wrap="none" lIns="0" tIns="0" rIns="0" bIns="0" anchor="t" anchorCtr="0">
                <a:spAutoFit/>
              </a:bodyPr>
              <a:lstStyle/>
              <a:p>
                <a:pPr algn="l"/>
                <a:r>
                  <a:rPr lang="zh-CN" sz="1120" b="1" dirty="0">
                    <a:solidFill>
                      <a:srgbClr val="0E3F8C"/>
                    </a:solidFill>
                    <a:latin typeface="Arial"/>
                    <a:ea typeface="Microsoft YaHei"/>
                    <a:cs typeface="Arial"/>
                  </a:rPr>
                  <a:t>OCEAN · 海洋</a:t>
                </a:r>
              </a:p>
            </p:txBody>
          </p:sp>
          <p:sp>
            <p:nvSpPr>
              <p:cNvPr id="36" name="TextBox 36"/>
              <p:cNvSpPr txBox="1"/>
              <p:nvPr/>
            </p:nvSpPr>
            <p:spPr>
              <a:xfrm>
                <a:off x="10763174" y="2607945"/>
                <a:ext cx="633489" cy="176212"/>
              </a:xfrm>
              <a:prstGeom prst="rect">
                <a:avLst/>
              </a:prstGeom>
              <a:noFill/>
              <a:ln>
                <a:noFill/>
              </a:ln>
            </p:spPr>
            <p:txBody>
              <a:bodyPr wrap="none" lIns="0" tIns="0" rIns="0" bIns="0" anchor="t" anchorCtr="0">
                <a:spAutoFit/>
              </a:bodyPr>
              <a:lstStyle/>
              <a:p>
                <a:pPr algn="r"/>
                <a:r>
                  <a:rPr lang="zh-CN" sz="900" dirty="0">
                    <a:solidFill>
                      <a:srgbClr val="4A5568"/>
                    </a:solidFill>
                    <a:latin typeface="Arial"/>
                    <a:ea typeface="Microsoft YaHei"/>
                    <a:cs typeface="Arial"/>
                  </a:rPr>
                  <a:t>蒸发 &gt; 降水</a:t>
                </a:r>
              </a:p>
            </p:txBody>
          </p:sp>
          <p:sp>
            <p:nvSpPr>
              <p:cNvPr id="37" name="Line 37"/>
              <p:cNvSpPr/>
              <p:nvPr/>
            </p:nvSpPr>
            <p:spPr>
              <a:xfrm>
                <a:off x="8001000" y="3009900"/>
                <a:ext cx="9525" cy="819150"/>
              </a:xfrm>
              <a:custGeom>
                <a:avLst/>
                <a:gdLst/>
                <a:ahLst/>
                <a:cxnLst/>
                <a:rect l="l" t="t" r="r" b="b"/>
                <a:pathLst>
                  <a:path w="9525" h="819150">
                    <a:moveTo>
                      <a:pt x="0" y="819150"/>
                    </a:moveTo>
                    <a:lnTo>
                      <a:pt x="0" y="0"/>
                    </a:lnTo>
                  </a:path>
                </a:pathLst>
              </a:custGeom>
              <a:noFill/>
              <a:ln w="57150">
                <a:solidFill>
                  <a:srgbClr val="1E4FA8"/>
                </a:solidFill>
              </a:ln>
            </p:spPr>
          </p:sp>
          <p:sp>
            <p:nvSpPr>
              <p:cNvPr id="38" name="Polygon 38"/>
              <p:cNvSpPr/>
              <p:nvPr/>
            </p:nvSpPr>
            <p:spPr>
              <a:xfrm>
                <a:off x="7886700" y="2971800"/>
                <a:ext cx="228600" cy="171450"/>
              </a:xfrm>
              <a:custGeom>
                <a:avLst/>
                <a:gdLst/>
                <a:ahLst/>
                <a:cxnLst/>
                <a:rect l="l" t="t" r="r" b="b"/>
                <a:pathLst>
                  <a:path w="228600" h="171450">
                    <a:moveTo>
                      <a:pt x="0" y="171450"/>
                    </a:moveTo>
                    <a:lnTo>
                      <a:pt x="114300" y="0"/>
                    </a:lnTo>
                    <a:lnTo>
                      <a:pt x="228600" y="171450"/>
                    </a:lnTo>
                    <a:close/>
                  </a:path>
                </a:pathLst>
              </a:custGeom>
              <a:solidFill>
                <a:srgbClr val="1E4FA8"/>
              </a:solidFill>
              <a:ln>
                <a:noFill/>
              </a:ln>
            </p:spPr>
          </p:sp>
          <p:sp>
            <p:nvSpPr>
              <p:cNvPr id="39" name="TextBox 39"/>
              <p:cNvSpPr txBox="1"/>
              <p:nvPr/>
            </p:nvSpPr>
            <p:spPr>
              <a:xfrm>
                <a:off x="7489320" y="2842022"/>
                <a:ext cx="1023360" cy="183356"/>
              </a:xfrm>
              <a:prstGeom prst="rect">
                <a:avLst/>
              </a:prstGeom>
              <a:noFill/>
              <a:ln>
                <a:noFill/>
              </a:ln>
            </p:spPr>
            <p:txBody>
              <a:bodyPr wrap="none" lIns="0" tIns="0" rIns="0" bIns="0" anchor="t" anchorCtr="0">
                <a:spAutoFit/>
              </a:bodyPr>
              <a:lstStyle/>
              <a:p>
                <a:pPr algn="ctr"/>
                <a:r>
                  <a:rPr lang="zh-CN" sz="940" dirty="0">
                    <a:solidFill>
                      <a:srgbClr val="4A5568"/>
                    </a:solidFill>
                    <a:latin typeface="Arial"/>
                    <a:ea typeface="Microsoft YaHei"/>
                    <a:cs typeface="Arial"/>
                  </a:rPr>
                  <a:t>蒸发向上 Evap. ↑</a:t>
                </a:r>
              </a:p>
            </p:txBody>
          </p:sp>
          <p:sp>
            <p:nvSpPr>
              <p:cNvPr id="40" name="TextBox 40"/>
              <p:cNvSpPr txBox="1"/>
              <p:nvPr/>
            </p:nvSpPr>
            <p:spPr>
              <a:xfrm>
                <a:off x="7755152" y="3991451"/>
                <a:ext cx="491697" cy="396050"/>
              </a:xfrm>
              <a:prstGeom prst="rect">
                <a:avLst/>
              </a:prstGeom>
              <a:noFill/>
              <a:ln>
                <a:noFill/>
              </a:ln>
            </p:spPr>
            <p:txBody>
              <a:bodyPr wrap="none" lIns="0" tIns="0" rIns="0" bIns="0" anchor="t" anchorCtr="0">
                <a:spAutoFit/>
              </a:bodyPr>
              <a:lstStyle/>
              <a:p>
                <a:pPr algn="ctr"/>
                <a:r>
                  <a:rPr lang="en-US" sz="2020" b="1" dirty="0">
                    <a:solidFill>
                      <a:srgbClr val="1E4FA8"/>
                    </a:solidFill>
                    <a:latin typeface="Arial"/>
                    <a:ea typeface="Arial"/>
                    <a:cs typeface="Arial"/>
                  </a:rPr>
                  <a:t>434</a:t>
                </a:r>
              </a:p>
            </p:txBody>
          </p:sp>
          <p:sp>
            <p:nvSpPr>
              <p:cNvPr id="41" name="TextBox 41"/>
              <p:cNvSpPr txBox="1"/>
              <p:nvPr/>
            </p:nvSpPr>
            <p:spPr>
              <a:xfrm>
                <a:off x="7503023" y="4322445"/>
                <a:ext cx="995955" cy="176212"/>
              </a:xfrm>
              <a:prstGeom prst="rect">
                <a:avLst/>
              </a:prstGeom>
              <a:noFill/>
              <a:ln>
                <a:noFill/>
              </a:ln>
            </p:spPr>
            <p:txBody>
              <a:bodyPr wrap="none" lIns="0" tIns="0" rIns="0" bIns="0" anchor="t" anchorCtr="0">
                <a:spAutoFit/>
              </a:bodyPr>
              <a:lstStyle/>
              <a:p>
                <a:pPr algn="ctr"/>
                <a:r>
                  <a:rPr lang="zh-CN" sz="900" dirty="0">
                    <a:solidFill>
                      <a:srgbClr val="4A5568"/>
                    </a:solidFill>
                    <a:latin typeface="Arial"/>
                    <a:ea typeface="Microsoft YaHei"/>
                    <a:cs typeface="Arial"/>
                  </a:rPr>
                  <a:t>蒸发 Evaporation</a:t>
                </a:r>
              </a:p>
            </p:txBody>
          </p:sp>
          <p:sp>
            <p:nvSpPr>
              <p:cNvPr id="42" name="Line 42"/>
              <p:cNvSpPr/>
              <p:nvPr/>
            </p:nvSpPr>
            <p:spPr>
              <a:xfrm>
                <a:off x="10287000" y="3009900"/>
                <a:ext cx="9525" cy="819150"/>
              </a:xfrm>
              <a:custGeom>
                <a:avLst/>
                <a:gdLst/>
                <a:ahLst/>
                <a:cxnLst/>
                <a:rect l="l" t="t" r="r" b="b"/>
                <a:pathLst>
                  <a:path w="9525" h="819150">
                    <a:moveTo>
                      <a:pt x="0" y="0"/>
                    </a:moveTo>
                    <a:lnTo>
                      <a:pt x="0" y="819150"/>
                    </a:lnTo>
                  </a:path>
                </a:pathLst>
              </a:custGeom>
              <a:noFill/>
              <a:ln w="57150">
                <a:solidFill>
                  <a:srgbClr val="3D7BD9"/>
                </a:solidFill>
              </a:ln>
            </p:spPr>
          </p:sp>
          <p:sp>
            <p:nvSpPr>
              <p:cNvPr id="43" name="Polygon 43"/>
              <p:cNvSpPr/>
              <p:nvPr/>
            </p:nvSpPr>
            <p:spPr>
              <a:xfrm>
                <a:off x="10172700" y="3695700"/>
                <a:ext cx="228600" cy="171450"/>
              </a:xfrm>
              <a:custGeom>
                <a:avLst/>
                <a:gdLst/>
                <a:ahLst/>
                <a:cxnLst/>
                <a:rect l="l" t="t" r="r" b="b"/>
                <a:pathLst>
                  <a:path w="228600" h="171450">
                    <a:moveTo>
                      <a:pt x="0" y="0"/>
                    </a:moveTo>
                    <a:lnTo>
                      <a:pt x="114300" y="171450"/>
                    </a:lnTo>
                    <a:lnTo>
                      <a:pt x="228600" y="0"/>
                    </a:lnTo>
                    <a:close/>
                  </a:path>
                </a:pathLst>
              </a:custGeom>
              <a:solidFill>
                <a:srgbClr val="3D7BD9"/>
              </a:solidFill>
              <a:ln>
                <a:noFill/>
              </a:ln>
            </p:spPr>
          </p:sp>
          <p:sp>
            <p:nvSpPr>
              <p:cNvPr id="44" name="TextBox 44"/>
              <p:cNvSpPr txBox="1"/>
              <p:nvPr/>
            </p:nvSpPr>
            <p:spPr>
              <a:xfrm>
                <a:off x="9723390" y="2842022"/>
                <a:ext cx="1127220" cy="183356"/>
              </a:xfrm>
              <a:prstGeom prst="rect">
                <a:avLst/>
              </a:prstGeom>
              <a:noFill/>
              <a:ln>
                <a:noFill/>
              </a:ln>
            </p:spPr>
            <p:txBody>
              <a:bodyPr wrap="none" lIns="0" tIns="0" rIns="0" bIns="0" anchor="t" anchorCtr="0">
                <a:spAutoFit/>
              </a:bodyPr>
              <a:lstStyle/>
              <a:p>
                <a:pPr algn="ctr"/>
                <a:r>
                  <a:rPr lang="zh-CN" sz="940" dirty="0">
                    <a:solidFill>
                      <a:srgbClr val="4A5568"/>
                    </a:solidFill>
                    <a:latin typeface="Arial"/>
                    <a:ea typeface="Microsoft YaHei"/>
                    <a:cs typeface="Arial"/>
                  </a:rPr>
                  <a:t>降水向下 Precip. ↓</a:t>
                </a:r>
              </a:p>
            </p:txBody>
          </p:sp>
          <p:sp>
            <p:nvSpPr>
              <p:cNvPr id="45" name="TextBox 45"/>
              <p:cNvSpPr txBox="1"/>
              <p:nvPr/>
            </p:nvSpPr>
            <p:spPr>
              <a:xfrm>
                <a:off x="10041152" y="3991451"/>
                <a:ext cx="491697" cy="396050"/>
              </a:xfrm>
              <a:prstGeom prst="rect">
                <a:avLst/>
              </a:prstGeom>
              <a:noFill/>
              <a:ln>
                <a:noFill/>
              </a:ln>
            </p:spPr>
            <p:txBody>
              <a:bodyPr wrap="none" lIns="0" tIns="0" rIns="0" bIns="0" anchor="t" anchorCtr="0">
                <a:spAutoFit/>
              </a:bodyPr>
              <a:lstStyle/>
              <a:p>
                <a:pPr algn="ctr"/>
                <a:r>
                  <a:rPr lang="en-US" sz="2020" b="1" dirty="0">
                    <a:solidFill>
                      <a:srgbClr val="3D7BD9"/>
                    </a:solidFill>
                    <a:latin typeface="Arial"/>
                    <a:ea typeface="Arial"/>
                    <a:cs typeface="Arial"/>
                  </a:rPr>
                  <a:t>398</a:t>
                </a:r>
              </a:p>
            </p:txBody>
          </p:sp>
          <p:sp>
            <p:nvSpPr>
              <p:cNvPr id="46" name="TextBox 46"/>
              <p:cNvSpPr txBox="1"/>
              <p:nvPr/>
            </p:nvSpPr>
            <p:spPr>
              <a:xfrm>
                <a:off x="9752905" y="4322445"/>
                <a:ext cx="1068189" cy="176212"/>
              </a:xfrm>
              <a:prstGeom prst="rect">
                <a:avLst/>
              </a:prstGeom>
              <a:noFill/>
              <a:ln>
                <a:noFill/>
              </a:ln>
            </p:spPr>
            <p:txBody>
              <a:bodyPr wrap="none" lIns="0" tIns="0" rIns="0" bIns="0" anchor="t" anchorCtr="0">
                <a:spAutoFit/>
              </a:bodyPr>
              <a:lstStyle/>
              <a:p>
                <a:pPr algn="ctr"/>
                <a:r>
                  <a:rPr lang="zh-CN" sz="900" dirty="0">
                    <a:solidFill>
                      <a:srgbClr val="4A5568"/>
                    </a:solidFill>
                    <a:latin typeface="Arial"/>
                    <a:ea typeface="Microsoft YaHei"/>
                    <a:cs typeface="Arial"/>
                  </a:rPr>
                  <a:t>降水 Precipitation</a:t>
                </a:r>
              </a:p>
            </p:txBody>
          </p:sp>
          <p:sp>
            <p:nvSpPr>
              <p:cNvPr id="47" name="Rectangle 47"/>
              <p:cNvSpPr/>
              <p:nvPr/>
            </p:nvSpPr>
            <p:spPr>
              <a:xfrm>
                <a:off x="6896100" y="4552950"/>
                <a:ext cx="4495800" cy="495300"/>
              </a:xfrm>
              <a:prstGeom prst="roundRect">
                <a:avLst>
                  <a:gd name="adj" fmla="val 19231"/>
                </a:avLst>
              </a:prstGeom>
              <a:solidFill>
                <a:srgbClr val="FFFFFF"/>
              </a:solidFill>
              <a:ln>
                <a:noFill/>
              </a:ln>
            </p:spPr>
          </p:sp>
          <p:sp>
            <p:nvSpPr>
              <p:cNvPr id="48" name="TextBox 48"/>
              <p:cNvSpPr txBox="1"/>
              <p:nvPr/>
            </p:nvSpPr>
            <p:spPr>
              <a:xfrm>
                <a:off x="7612260" y="4745831"/>
                <a:ext cx="3063481" cy="220028"/>
              </a:xfrm>
              <a:prstGeom prst="rect">
                <a:avLst/>
              </a:prstGeom>
              <a:noFill/>
              <a:ln>
                <a:noFill/>
              </a:ln>
            </p:spPr>
            <p:txBody>
              <a:bodyPr wrap="none" lIns="0" tIns="0" rIns="0" bIns="0" anchor="t" anchorCtr="0">
                <a:spAutoFit/>
              </a:bodyPr>
              <a:lstStyle/>
              <a:p>
                <a:pPr algn="ctr"/>
                <a:r>
                  <a:rPr lang="zh-CN" sz="1120" b="1" dirty="0">
                    <a:solidFill>
                      <a:srgbClr val="0E3F8C"/>
                    </a:solidFill>
                    <a:latin typeface="Arial"/>
                    <a:ea typeface="Microsoft YaHei"/>
                    <a:cs typeface="Arial"/>
                  </a:rPr>
                  <a:t>海洋收支：434 − 398 = 36（净失水 → 大气）</a:t>
                </a:r>
              </a:p>
            </p:txBody>
          </p:sp>
        </p:grpSp>
        <p:grpSp>
          <p:nvGrpSpPr>
            <p:cNvPr id="54" name="Group 54"/>
            <p:cNvGrpSpPr/>
            <p:nvPr/>
          </p:nvGrpSpPr>
          <p:grpSpPr>
            <a:xfrm>
              <a:off x="1905000" y="5384006"/>
              <a:ext cx="8439150" cy="702183"/>
              <a:chOff x="1905000" y="5384006"/>
              <a:chExt cx="8439150" cy="702183"/>
            </a:xfrm>
          </p:grpSpPr>
          <p:sp>
            <p:nvSpPr>
              <p:cNvPr id="50" name="TextBox 50"/>
              <p:cNvSpPr txBox="1"/>
              <p:nvPr/>
            </p:nvSpPr>
            <p:spPr>
              <a:xfrm>
                <a:off x="4008994" y="5384006"/>
                <a:ext cx="4174012" cy="220028"/>
              </a:xfrm>
              <a:prstGeom prst="rect">
                <a:avLst/>
              </a:prstGeom>
              <a:noFill/>
              <a:ln>
                <a:noFill/>
              </a:ln>
            </p:spPr>
            <p:txBody>
              <a:bodyPr wrap="none" lIns="0" tIns="0" rIns="0" bIns="0" anchor="t" anchorCtr="0">
                <a:spAutoFit/>
              </a:bodyPr>
              <a:lstStyle/>
              <a:p>
                <a:pPr algn="ctr"/>
                <a:r>
                  <a:rPr lang="zh-CN" sz="1120" b="1" dirty="0">
                    <a:solidFill>
                      <a:srgbClr val="0E3F8C"/>
                    </a:solidFill>
                    <a:latin typeface="Arial"/>
                    <a:ea typeface="Microsoft YaHei"/>
                    <a:cs typeface="Arial"/>
                  </a:rPr>
                  <a:t>径流 Runoff = 36：陆地把等量的水送回海洋（陆地 → 海洋）</a:t>
                </a:r>
              </a:p>
            </p:txBody>
          </p:sp>
          <p:sp>
            <p:nvSpPr>
              <p:cNvPr id="51" name="Line 51"/>
              <p:cNvSpPr/>
              <p:nvPr/>
            </p:nvSpPr>
            <p:spPr>
              <a:xfrm>
                <a:off x="1905000" y="5695950"/>
                <a:ext cx="8382000" cy="9525"/>
              </a:xfrm>
              <a:custGeom>
                <a:avLst/>
                <a:gdLst/>
                <a:ahLst/>
                <a:cxnLst/>
                <a:rect l="l" t="t" r="r" b="b"/>
                <a:pathLst>
                  <a:path w="8382000" h="9525">
                    <a:moveTo>
                      <a:pt x="0" y="0"/>
                    </a:moveTo>
                    <a:lnTo>
                      <a:pt x="8382000" y="0"/>
                    </a:lnTo>
                  </a:path>
                </a:pathLst>
              </a:custGeom>
              <a:noFill/>
              <a:ln w="57150">
                <a:solidFill>
                  <a:srgbClr val="0E3F8C"/>
                </a:solidFill>
              </a:ln>
            </p:spPr>
          </p:sp>
          <p:sp>
            <p:nvSpPr>
              <p:cNvPr id="52" name="Polygon 52"/>
              <p:cNvSpPr/>
              <p:nvPr/>
            </p:nvSpPr>
            <p:spPr>
              <a:xfrm>
                <a:off x="10115550" y="5581650"/>
                <a:ext cx="228600" cy="228600"/>
              </a:xfrm>
              <a:custGeom>
                <a:avLst/>
                <a:gdLst/>
                <a:ahLst/>
                <a:cxnLst/>
                <a:rect l="l" t="t" r="r" b="b"/>
                <a:pathLst>
                  <a:path w="228600" h="228600">
                    <a:moveTo>
                      <a:pt x="0" y="0"/>
                    </a:moveTo>
                    <a:lnTo>
                      <a:pt x="228600" y="114300"/>
                    </a:lnTo>
                    <a:lnTo>
                      <a:pt x="0" y="228600"/>
                    </a:lnTo>
                    <a:close/>
                  </a:path>
                </a:pathLst>
              </a:custGeom>
              <a:solidFill>
                <a:srgbClr val="0E3F8C"/>
              </a:solidFill>
              <a:ln>
                <a:noFill/>
              </a:ln>
            </p:spPr>
          </p:sp>
          <p:sp>
            <p:nvSpPr>
              <p:cNvPr id="53" name="TextBox 53"/>
              <p:cNvSpPr txBox="1"/>
              <p:nvPr/>
            </p:nvSpPr>
            <p:spPr>
              <a:xfrm>
                <a:off x="4237091" y="5895499"/>
                <a:ext cx="3717818" cy="190690"/>
              </a:xfrm>
              <a:prstGeom prst="rect">
                <a:avLst/>
              </a:prstGeom>
              <a:noFill/>
              <a:ln>
                <a:noFill/>
              </a:ln>
            </p:spPr>
            <p:txBody>
              <a:bodyPr wrap="none" lIns="0" tIns="0" rIns="0" bIns="0" anchor="t" anchorCtr="0">
                <a:spAutoFit/>
              </a:bodyPr>
              <a:lstStyle/>
              <a:p>
                <a:pPr algn="ctr"/>
                <a:r>
                  <a:rPr lang="zh-CN" sz="980" dirty="0">
                    <a:solidFill>
                      <a:srgbClr val="4A5568"/>
                    </a:solidFill>
                    <a:latin typeface="Arial"/>
                    <a:ea typeface="Microsoft YaHei"/>
                    <a:cs typeface="Arial"/>
                  </a:rPr>
                  <a:t>全球收支闭合：海洋 E−P = 陆地 P−E = 大气输送 = 径流 = 36</a:t>
                </a:r>
              </a:p>
            </p:txBody>
          </p:sp>
        </p:grpSp>
      </p:grpSp>
      <p:sp>
        <p:nvSpPr>
          <p:cNvPr id="56" name="TextBox 56"/>
          <p:cNvSpPr txBox="1"/>
          <p:nvPr/>
        </p:nvSpPr>
        <p:spPr>
          <a:xfrm>
            <a:off x="376238" y="6532245"/>
            <a:ext cx="6803636" cy="176212"/>
          </a:xfrm>
          <a:prstGeom prst="rect">
            <a:avLst/>
          </a:prstGeom>
          <a:noFill/>
          <a:ln>
            <a:noFill/>
          </a:ln>
        </p:spPr>
        <p:txBody>
          <a:bodyPr wrap="none" lIns="0" tIns="0" rIns="0" bIns="0" anchor="t" anchorCtr="0">
            <a:spAutoFit/>
          </a:bodyPr>
          <a:lstStyle/>
          <a:p>
            <a:pPr algn="l"/>
            <a:r>
              <a:rPr lang="en-US" sz="900" dirty="0">
                <a:solidFill>
                  <a:srgbClr val="4A5568"/>
                </a:solidFill>
                <a:latin typeface="Arial"/>
                <a:ea typeface="Arial"/>
                <a:cs typeface="Arial"/>
              </a:rPr>
              <a:t>Source: UE 8e, Fig. 17.2, PDF pp.1652, 1655. Flows ×10³ km³/yr; one internally coherent textbook global budget.</a:t>
            </a:r>
          </a:p>
        </p:txBody>
      </p:sp>
      <p:sp>
        <p:nvSpPr>
          <p:cNvPr id="57" name="TextBox 57"/>
          <p:cNvSpPr txBox="1"/>
          <p:nvPr/>
        </p:nvSpPr>
        <p:spPr>
          <a:xfrm>
            <a:off x="11672964" y="6532245"/>
            <a:ext cx="142799" cy="176212"/>
          </a:xfrm>
          <a:prstGeom prst="rect">
            <a:avLst/>
          </a:prstGeom>
          <a:noFill/>
          <a:ln>
            <a:noFill/>
          </a:ln>
        </p:spPr>
        <p:txBody>
          <a:bodyPr wrap="none" lIns="0" tIns="0" rIns="0" bIns="0" anchor="t" anchorCtr="0">
            <a:spAutoFit/>
          </a:bodyPr>
          <a:lstStyle/>
          <a:p>
            <a:pPr algn="r"/>
            <a:r>
              <a:rPr lang="en-US" sz="900" dirty="0">
                <a:solidFill>
                  <a:srgbClr val="4A5568"/>
                </a:solidFill>
                <a:latin typeface="Arial"/>
                <a:ea typeface="Arial"/>
                <a:cs typeface="Arial"/>
              </a:rPr>
              <a:t>10</a:t>
            </a:r>
          </a:p>
        </p:txBody>
      </p:sp>
    </p:spTree>
    <p:extLst>
      <p:ext uri="{BB962C8B-B14F-4D97-AF65-F5344CB8AC3E}">
        <p14:creationId xmlns:p14="http://schemas.microsoft.com/office/powerpoint/2010/main" val="1828688885"/>
      </p:ext>
    </p:extLst>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5"/>
          <p:cNvGrpSpPr/>
          <p:nvPr/>
        </p:nvGrpSpPr>
        <p:grpSpPr>
          <a:xfrm>
            <a:off x="0" y="0"/>
            <a:ext cx="12192000" cy="685800"/>
            <a:chOff x="0" y="0"/>
            <a:chExt cx="12192000" cy="685800"/>
          </a:xfrm>
        </p:grpSpPr>
        <p:sp>
          <p:nvSpPr>
            <p:cNvPr id="2" name="Rectangle 2"/>
            <p:cNvSpPr/>
            <p:nvPr/>
          </p:nvSpPr>
          <p:spPr>
            <a:xfrm>
              <a:off x="0" y="0"/>
              <a:ext cx="12192000" cy="685800"/>
            </a:xfrm>
            <a:prstGeom prst="rect">
              <a:avLst/>
            </a:prstGeom>
            <a:solidFill>
              <a:srgbClr val="0E3F8C"/>
            </a:solidFill>
            <a:ln>
              <a:noFill/>
            </a:ln>
          </p:spPr>
        </p:sp>
        <p:sp>
          <p:nvSpPr>
            <p:cNvPr id="3" name="TextBox 3"/>
            <p:cNvSpPr txBox="1"/>
            <p:nvPr/>
          </p:nvSpPr>
          <p:spPr>
            <a:xfrm>
              <a:off x="374142" y="282892"/>
              <a:ext cx="3886306" cy="264033"/>
            </a:xfrm>
            <a:prstGeom prst="rect">
              <a:avLst/>
            </a:prstGeom>
            <a:noFill/>
            <a:ln>
              <a:noFill/>
            </a:ln>
          </p:spPr>
          <p:txBody>
            <a:bodyPr wrap="none" lIns="0" tIns="0" rIns="0" bIns="0" anchor="t" anchorCtr="0">
              <a:spAutoFit/>
            </a:bodyPr>
            <a:lstStyle/>
            <a:p>
              <a:pPr algn="l"/>
              <a:r>
                <a:rPr lang="zh-CN" sz="1350" b="1" dirty="0">
                  <a:solidFill>
                    <a:srgbClr val="FFFFFF"/>
                  </a:solidFill>
                  <a:latin typeface="Arial"/>
                  <a:ea typeface="Microsoft YaHei"/>
                  <a:cs typeface="Arial"/>
                </a:rPr>
                <a:t>1.8 水的三相转换 | Phase Changes of Water</a:t>
              </a:r>
            </a:p>
          </p:txBody>
        </p:sp>
        <p:sp>
          <p:nvSpPr>
            <p:cNvPr id="4" name="TextBox 4"/>
            <p:cNvSpPr txBox="1"/>
            <p:nvPr/>
          </p:nvSpPr>
          <p:spPr>
            <a:xfrm>
              <a:off x="10780776" y="299085"/>
              <a:ext cx="1036320" cy="234696"/>
            </a:xfrm>
            <a:prstGeom prst="rect">
              <a:avLst/>
            </a:prstGeom>
            <a:noFill/>
            <a:ln>
              <a:noFill/>
            </a:ln>
          </p:spPr>
          <p:txBody>
            <a:bodyPr wrap="none" lIns="0" tIns="0" rIns="0" bIns="0" anchor="t" anchorCtr="0">
              <a:spAutoFit/>
            </a:bodyPr>
            <a:lstStyle/>
            <a:p>
              <a:pPr algn="r"/>
              <a:r>
                <a:rPr lang="en-US" sz="1200" dirty="0">
                  <a:solidFill>
                    <a:srgbClr val="C7D7F2"/>
                  </a:solidFill>
                  <a:latin typeface="Arial"/>
                  <a:ea typeface="Arial"/>
                  <a:cs typeface="Arial"/>
                </a:rPr>
                <a:t>WATER CYCLE</a:t>
              </a:r>
            </a:p>
          </p:txBody>
        </p:sp>
      </p:grpSp>
      <p:grpSp>
        <p:nvGrpSpPr>
          <p:cNvPr id="8" name="Group 8"/>
          <p:cNvGrpSpPr/>
          <p:nvPr/>
        </p:nvGrpSpPr>
        <p:grpSpPr>
          <a:xfrm>
            <a:off x="381000" y="914400"/>
            <a:ext cx="7029973" cy="357093"/>
            <a:chOff x="381000" y="914400"/>
            <a:chExt cx="7029973" cy="357093"/>
          </a:xfrm>
        </p:grpSpPr>
        <p:sp>
          <p:nvSpPr>
            <p:cNvPr id="6" name="Rectangle 6"/>
            <p:cNvSpPr/>
            <p:nvPr/>
          </p:nvSpPr>
          <p:spPr>
            <a:xfrm>
              <a:off x="381000" y="914400"/>
              <a:ext cx="57150" cy="266700"/>
            </a:xfrm>
            <a:prstGeom prst="roundRect">
              <a:avLst>
                <a:gd name="adj" fmla="val 50000"/>
              </a:avLst>
            </a:prstGeom>
            <a:solidFill>
              <a:srgbClr val="1E4FA8"/>
            </a:solidFill>
            <a:ln>
              <a:noFill/>
            </a:ln>
          </p:spPr>
        </p:sp>
        <p:sp>
          <p:nvSpPr>
            <p:cNvPr id="7" name="TextBox 7"/>
            <p:cNvSpPr txBox="1"/>
            <p:nvPr/>
          </p:nvSpPr>
          <p:spPr>
            <a:xfrm>
              <a:off x="544449" y="963454"/>
              <a:ext cx="6866524" cy="308039"/>
            </a:xfrm>
            <a:prstGeom prst="rect">
              <a:avLst/>
            </a:prstGeom>
            <a:noFill/>
            <a:ln>
              <a:noFill/>
            </a:ln>
          </p:spPr>
          <p:txBody>
            <a:bodyPr wrap="none" lIns="0" tIns="0" rIns="0" bIns="0" anchor="t" anchorCtr="0">
              <a:spAutoFit/>
            </a:bodyPr>
            <a:lstStyle/>
            <a:p>
              <a:pPr algn="l"/>
              <a:r>
                <a:rPr lang="zh-CN" sz="1580" b="1" dirty="0">
                  <a:solidFill>
                    <a:srgbClr val="0E3F8C"/>
                  </a:solidFill>
                  <a:latin typeface="Arial"/>
                  <a:ea typeface="Microsoft YaHei"/>
                  <a:cs typeface="Arial"/>
                </a:rPr>
                <a:t>相变同时转移水和能量：向上吸热、向下放热，汽化潜热约为熔融的 7 倍</a:t>
              </a:r>
            </a:p>
          </p:txBody>
        </p:sp>
      </p:grpSp>
      <p:grpSp>
        <p:nvGrpSpPr>
          <p:cNvPr id="11" name="Group 11"/>
          <p:cNvGrpSpPr/>
          <p:nvPr/>
        </p:nvGrpSpPr>
        <p:grpSpPr>
          <a:xfrm>
            <a:off x="381000" y="1428750"/>
            <a:ext cx="7086600" cy="4476750"/>
            <a:chOff x="381000" y="1428750"/>
            <a:chExt cx="7086600" cy="4476750"/>
          </a:xfrm>
        </p:grpSpPr>
        <p:sp>
          <p:nvSpPr>
            <p:cNvPr id="9" name="Rectangle 9"/>
            <p:cNvSpPr/>
            <p:nvPr/>
          </p:nvSpPr>
          <p:spPr>
            <a:xfrm>
              <a:off x="381000" y="1428750"/>
              <a:ext cx="7086600" cy="4476750"/>
            </a:xfrm>
            <a:prstGeom prst="roundRect">
              <a:avLst>
                <a:gd name="adj" fmla="val 2553"/>
              </a:avLst>
            </a:prstGeom>
            <a:solidFill>
              <a:srgbClr val="F7F9FC"/>
            </a:solidFill>
            <a:ln w="9525">
              <a:solidFill>
                <a:srgbClr val="D6DCE5"/>
              </a:solidFill>
            </a:ln>
          </p:spPr>
        </p:sp>
        <p:pic>
          <p:nvPicPr>
            <p:cNvPr id="10" name="Image 10"/>
            <p:cNvPicPr>
              <a:picLocks noChangeAspect="1"/>
            </p:cNvPicPr>
            <p:nvPr/>
          </p:nvPicPr>
          <p:blipFill>
            <a:blip r:embed="rId3"/>
            <a:stretch>
              <a:fillRect/>
            </a:stretch>
          </p:blipFill>
          <p:spPr>
            <a:xfrm>
              <a:off x="480120" y="1733550"/>
              <a:ext cx="6888361" cy="3867150"/>
            </a:xfrm>
            <a:prstGeom prst="rect">
              <a:avLst/>
            </a:prstGeom>
          </p:spPr>
        </p:pic>
      </p:grpSp>
      <p:grpSp>
        <p:nvGrpSpPr>
          <p:cNvPr id="17" name="Group 17"/>
          <p:cNvGrpSpPr/>
          <p:nvPr/>
        </p:nvGrpSpPr>
        <p:grpSpPr>
          <a:xfrm>
            <a:off x="7658100" y="1428750"/>
            <a:ext cx="4152900" cy="1333500"/>
            <a:chOff x="7658100" y="1428750"/>
            <a:chExt cx="4152900" cy="1333500"/>
          </a:xfrm>
        </p:grpSpPr>
        <p:sp>
          <p:nvSpPr>
            <p:cNvPr id="12" name="Rectangle 12"/>
            <p:cNvSpPr/>
            <p:nvPr/>
          </p:nvSpPr>
          <p:spPr>
            <a:xfrm>
              <a:off x="7658100" y="1428750"/>
              <a:ext cx="4152900" cy="1333500"/>
            </a:xfrm>
            <a:prstGeom prst="roundRect">
              <a:avLst>
                <a:gd name="adj" fmla="val 8571"/>
              </a:avLst>
            </a:prstGeom>
            <a:solidFill>
              <a:srgbClr val="F0F5FC"/>
            </a:solidFill>
            <a:ln w="9525">
              <a:solidFill>
                <a:srgbClr val="D6DCE5"/>
              </a:solidFill>
            </a:ln>
          </p:spPr>
        </p:sp>
        <p:sp>
          <p:nvSpPr>
            <p:cNvPr id="13" name="TextBox 13"/>
            <p:cNvSpPr txBox="1"/>
            <p:nvPr/>
          </p:nvSpPr>
          <p:spPr>
            <a:xfrm>
              <a:off x="7842885" y="1612106"/>
              <a:ext cx="1468207" cy="220028"/>
            </a:xfrm>
            <a:prstGeom prst="rect">
              <a:avLst/>
            </a:prstGeom>
            <a:noFill/>
            <a:ln>
              <a:noFill/>
            </a:ln>
          </p:spPr>
          <p:txBody>
            <a:bodyPr wrap="none" lIns="0" tIns="0" rIns="0" bIns="0" anchor="t" anchorCtr="0">
              <a:spAutoFit/>
            </a:bodyPr>
            <a:lstStyle/>
            <a:p>
              <a:pPr algn="l"/>
              <a:r>
                <a:rPr lang="zh-CN" sz="1120" b="1" dirty="0">
                  <a:solidFill>
                    <a:srgbClr val="0E3F8C"/>
                  </a:solidFill>
                  <a:latin typeface="Arial"/>
                  <a:ea typeface="Microsoft YaHei"/>
                  <a:cs typeface="Arial"/>
                </a:rPr>
                <a:t>三态 | Three states</a:t>
              </a:r>
            </a:p>
          </p:txBody>
        </p:sp>
        <p:sp>
          <p:nvSpPr>
            <p:cNvPr id="14" name="TextBox 14"/>
            <p:cNvSpPr txBox="1"/>
            <p:nvPr/>
          </p:nvSpPr>
          <p:spPr>
            <a:xfrm>
              <a:off x="7843456" y="1929051"/>
              <a:ext cx="1168565" cy="198025"/>
            </a:xfrm>
            <a:prstGeom prst="rect">
              <a:avLst/>
            </a:prstGeom>
            <a:noFill/>
            <a:ln>
              <a:noFill/>
            </a:ln>
          </p:spPr>
          <p:txBody>
            <a:bodyPr wrap="none" lIns="0" tIns="0" rIns="0" bIns="0" anchor="t" anchorCtr="0">
              <a:spAutoFit/>
            </a:bodyPr>
            <a:lstStyle/>
            <a:p>
              <a:pPr algn="l"/>
              <a:r>
                <a:rPr lang="zh-CN" sz="1010" dirty="0">
                  <a:solidFill>
                    <a:srgbClr val="1A2230"/>
                  </a:solidFill>
                  <a:latin typeface="Arial"/>
                  <a:ea typeface="Microsoft YaHei"/>
                  <a:cs typeface="Arial"/>
                </a:rPr>
                <a:t>固态 Solid — 冰 Ice</a:t>
              </a:r>
            </a:p>
          </p:txBody>
        </p:sp>
        <p:sp>
          <p:nvSpPr>
            <p:cNvPr id="15" name="TextBox 15"/>
            <p:cNvSpPr txBox="1"/>
            <p:nvPr/>
          </p:nvSpPr>
          <p:spPr>
            <a:xfrm>
              <a:off x="7843456" y="2195751"/>
              <a:ext cx="2306160" cy="198025"/>
            </a:xfrm>
            <a:prstGeom prst="rect">
              <a:avLst/>
            </a:prstGeom>
            <a:noFill/>
            <a:ln>
              <a:noFill/>
            </a:ln>
          </p:spPr>
          <p:txBody>
            <a:bodyPr wrap="none" lIns="0" tIns="0" rIns="0" bIns="0" anchor="t" anchorCtr="0">
              <a:spAutoFit/>
            </a:bodyPr>
            <a:lstStyle/>
            <a:p>
              <a:pPr algn="l"/>
              <a:r>
                <a:rPr lang="zh-CN" sz="1010" dirty="0">
                  <a:solidFill>
                    <a:srgbClr val="1A2230"/>
                  </a:solidFill>
                  <a:latin typeface="Arial"/>
                  <a:ea typeface="Microsoft YaHei"/>
                  <a:cs typeface="Arial"/>
                </a:rPr>
                <a:t>液态 Liquid — 水 Water（0–100 °C）</a:t>
              </a:r>
            </a:p>
          </p:txBody>
        </p:sp>
        <p:sp>
          <p:nvSpPr>
            <p:cNvPr id="16" name="TextBox 16"/>
            <p:cNvSpPr txBox="1"/>
            <p:nvPr/>
          </p:nvSpPr>
          <p:spPr>
            <a:xfrm>
              <a:off x="7843456" y="2462451"/>
              <a:ext cx="1409873" cy="198025"/>
            </a:xfrm>
            <a:prstGeom prst="rect">
              <a:avLst/>
            </a:prstGeom>
            <a:noFill/>
            <a:ln>
              <a:noFill/>
            </a:ln>
          </p:spPr>
          <p:txBody>
            <a:bodyPr wrap="none" lIns="0" tIns="0" rIns="0" bIns="0" anchor="t" anchorCtr="0">
              <a:spAutoFit/>
            </a:bodyPr>
            <a:lstStyle/>
            <a:p>
              <a:pPr algn="l"/>
              <a:r>
                <a:rPr lang="zh-CN" sz="1010" dirty="0">
                  <a:solidFill>
                    <a:srgbClr val="1A2230"/>
                  </a:solidFill>
                  <a:latin typeface="Arial"/>
                  <a:ea typeface="Microsoft YaHei"/>
                  <a:cs typeface="Arial"/>
                </a:rPr>
                <a:t>气态 Gas — 水汽 Vapor</a:t>
              </a:r>
            </a:p>
          </p:txBody>
        </p:sp>
      </p:grpSp>
      <p:grpSp>
        <p:nvGrpSpPr>
          <p:cNvPr id="23" name="Group 23"/>
          <p:cNvGrpSpPr/>
          <p:nvPr/>
        </p:nvGrpSpPr>
        <p:grpSpPr>
          <a:xfrm>
            <a:off x="7658100" y="2895600"/>
            <a:ext cx="4152900" cy="1447800"/>
            <a:chOff x="7658100" y="2895600"/>
            <a:chExt cx="4152900" cy="1447800"/>
          </a:xfrm>
        </p:grpSpPr>
        <p:sp>
          <p:nvSpPr>
            <p:cNvPr id="18" name="Rectangle 18"/>
            <p:cNvSpPr/>
            <p:nvPr/>
          </p:nvSpPr>
          <p:spPr>
            <a:xfrm>
              <a:off x="7658100" y="2895600"/>
              <a:ext cx="4152900" cy="1447800"/>
            </a:xfrm>
            <a:prstGeom prst="roundRect">
              <a:avLst>
                <a:gd name="adj" fmla="val 7895"/>
              </a:avLst>
            </a:prstGeom>
            <a:solidFill>
              <a:srgbClr val="FFFFFF"/>
            </a:solidFill>
            <a:ln w="9525">
              <a:solidFill>
                <a:srgbClr val="D6DCE5"/>
              </a:solidFill>
            </a:ln>
          </p:spPr>
        </p:sp>
        <p:sp>
          <p:nvSpPr>
            <p:cNvPr id="19" name="TextBox 19"/>
            <p:cNvSpPr txBox="1"/>
            <p:nvPr/>
          </p:nvSpPr>
          <p:spPr>
            <a:xfrm>
              <a:off x="7842885" y="3078956"/>
              <a:ext cx="2463982" cy="220028"/>
            </a:xfrm>
            <a:prstGeom prst="rect">
              <a:avLst/>
            </a:prstGeom>
            <a:noFill/>
            <a:ln>
              <a:noFill/>
            </a:ln>
          </p:spPr>
          <p:txBody>
            <a:bodyPr wrap="none" lIns="0" tIns="0" rIns="0" bIns="0" anchor="t" anchorCtr="0">
              <a:spAutoFit/>
            </a:bodyPr>
            <a:lstStyle/>
            <a:p>
              <a:pPr algn="l"/>
              <a:r>
                <a:rPr lang="zh-CN" sz="1120" b="1" dirty="0">
                  <a:solidFill>
                    <a:srgbClr val="1E4FA8"/>
                  </a:solidFill>
                  <a:latin typeface="Arial"/>
                  <a:ea typeface="Microsoft YaHei"/>
                  <a:cs typeface="Arial"/>
                </a:rPr>
                <a:t>吸热：能量进入水 | Heat absorbed</a:t>
              </a:r>
            </a:p>
          </p:txBody>
        </p:sp>
        <p:sp>
          <p:nvSpPr>
            <p:cNvPr id="20" name="TextBox 20"/>
            <p:cNvSpPr txBox="1"/>
            <p:nvPr/>
          </p:nvSpPr>
          <p:spPr>
            <a:xfrm>
              <a:off x="7843647" y="3399949"/>
              <a:ext cx="1905500" cy="190690"/>
            </a:xfrm>
            <a:prstGeom prst="rect">
              <a:avLst/>
            </a:prstGeom>
            <a:noFill/>
            <a:ln>
              <a:noFill/>
            </a:ln>
          </p:spPr>
          <p:txBody>
            <a:bodyPr wrap="none" lIns="0" tIns="0" rIns="0" bIns="0" anchor="t" anchorCtr="0">
              <a:spAutoFit/>
            </a:bodyPr>
            <a:lstStyle/>
            <a:p>
              <a:pPr algn="l"/>
              <a:r>
                <a:rPr lang="zh-CN" sz="980" dirty="0">
                  <a:solidFill>
                    <a:srgbClr val="1A2230"/>
                  </a:solidFill>
                  <a:latin typeface="Arial"/>
                  <a:ea typeface="Microsoft YaHei"/>
                  <a:cs typeface="Arial"/>
                </a:rPr>
                <a:t>熔融 Melting　+80 Cal（0 °C）</a:t>
              </a:r>
            </a:p>
          </p:txBody>
        </p:sp>
        <p:sp>
          <p:nvSpPr>
            <p:cNvPr id="21" name="TextBox 21"/>
            <p:cNvSpPr txBox="1"/>
            <p:nvPr/>
          </p:nvSpPr>
          <p:spPr>
            <a:xfrm>
              <a:off x="7843647" y="3666649"/>
              <a:ext cx="2334185" cy="190690"/>
            </a:xfrm>
            <a:prstGeom prst="rect">
              <a:avLst/>
            </a:prstGeom>
            <a:noFill/>
            <a:ln>
              <a:noFill/>
            </a:ln>
          </p:spPr>
          <p:txBody>
            <a:bodyPr wrap="none" lIns="0" tIns="0" rIns="0" bIns="0" anchor="t" anchorCtr="0">
              <a:spAutoFit/>
            </a:bodyPr>
            <a:lstStyle/>
            <a:p>
              <a:pPr algn="l"/>
              <a:r>
                <a:rPr lang="zh-CN" sz="980" dirty="0">
                  <a:solidFill>
                    <a:srgbClr val="1A2230"/>
                  </a:solidFill>
                  <a:latin typeface="Arial"/>
                  <a:ea typeface="Microsoft YaHei"/>
                  <a:cs typeface="Arial"/>
                </a:rPr>
                <a:t>增温 Warming　+100 Cal（0→100 °C）</a:t>
              </a:r>
            </a:p>
          </p:txBody>
        </p:sp>
        <p:sp>
          <p:nvSpPr>
            <p:cNvPr id="22" name="TextBox 22"/>
            <p:cNvSpPr txBox="1"/>
            <p:nvPr/>
          </p:nvSpPr>
          <p:spPr>
            <a:xfrm>
              <a:off x="7843647" y="3933349"/>
              <a:ext cx="2456471" cy="190690"/>
            </a:xfrm>
            <a:prstGeom prst="rect">
              <a:avLst/>
            </a:prstGeom>
            <a:noFill/>
            <a:ln>
              <a:noFill/>
            </a:ln>
          </p:spPr>
          <p:txBody>
            <a:bodyPr wrap="none" lIns="0" tIns="0" rIns="0" bIns="0" anchor="t" anchorCtr="0">
              <a:spAutoFit/>
            </a:bodyPr>
            <a:lstStyle/>
            <a:p>
              <a:pPr algn="l"/>
              <a:r>
                <a:rPr lang="zh-CN" sz="980" dirty="0">
                  <a:solidFill>
                    <a:srgbClr val="1A2230"/>
                  </a:solidFill>
                  <a:latin typeface="Arial"/>
                  <a:ea typeface="Microsoft YaHei"/>
                  <a:cs typeface="Arial"/>
                </a:rPr>
                <a:t>蒸发 Vaporization　+540 Cal（100 °C）</a:t>
              </a:r>
            </a:p>
          </p:txBody>
        </p:sp>
      </p:grpSp>
      <p:grpSp>
        <p:nvGrpSpPr>
          <p:cNvPr id="29" name="Group 29"/>
          <p:cNvGrpSpPr/>
          <p:nvPr/>
        </p:nvGrpSpPr>
        <p:grpSpPr>
          <a:xfrm>
            <a:off x="7658100" y="4476750"/>
            <a:ext cx="4152900" cy="1428750"/>
            <a:chOff x="7658100" y="4476750"/>
            <a:chExt cx="4152900" cy="1428750"/>
          </a:xfrm>
        </p:grpSpPr>
        <p:sp>
          <p:nvSpPr>
            <p:cNvPr id="24" name="Rectangle 24"/>
            <p:cNvSpPr/>
            <p:nvPr/>
          </p:nvSpPr>
          <p:spPr>
            <a:xfrm>
              <a:off x="7658100" y="4476750"/>
              <a:ext cx="4152900" cy="1428750"/>
            </a:xfrm>
            <a:prstGeom prst="roundRect">
              <a:avLst>
                <a:gd name="adj" fmla="val 8000"/>
              </a:avLst>
            </a:prstGeom>
            <a:solidFill>
              <a:srgbClr val="F0F5FC"/>
            </a:solidFill>
            <a:ln w="9525">
              <a:solidFill>
                <a:srgbClr val="D6DCE5"/>
              </a:solidFill>
            </a:ln>
          </p:spPr>
        </p:sp>
        <p:sp>
          <p:nvSpPr>
            <p:cNvPr id="25" name="TextBox 25"/>
            <p:cNvSpPr txBox="1"/>
            <p:nvPr/>
          </p:nvSpPr>
          <p:spPr>
            <a:xfrm>
              <a:off x="7842885" y="4660106"/>
              <a:ext cx="2424217" cy="220028"/>
            </a:xfrm>
            <a:prstGeom prst="rect">
              <a:avLst/>
            </a:prstGeom>
            <a:noFill/>
            <a:ln>
              <a:noFill/>
            </a:ln>
          </p:spPr>
          <p:txBody>
            <a:bodyPr wrap="none" lIns="0" tIns="0" rIns="0" bIns="0" anchor="t" anchorCtr="0">
              <a:spAutoFit/>
            </a:bodyPr>
            <a:lstStyle/>
            <a:p>
              <a:pPr algn="l"/>
              <a:r>
                <a:rPr lang="zh-CN" sz="1120" b="1" dirty="0">
                  <a:solidFill>
                    <a:srgbClr val="3D7BD9"/>
                  </a:solidFill>
                  <a:latin typeface="Arial"/>
                  <a:ea typeface="Microsoft YaHei"/>
                  <a:cs typeface="Arial"/>
                </a:rPr>
                <a:t>放热：能量离开水 | Heat released</a:t>
              </a:r>
            </a:p>
          </p:txBody>
        </p:sp>
        <p:sp>
          <p:nvSpPr>
            <p:cNvPr id="26" name="TextBox 26"/>
            <p:cNvSpPr txBox="1"/>
            <p:nvPr/>
          </p:nvSpPr>
          <p:spPr>
            <a:xfrm>
              <a:off x="7843647" y="4981099"/>
              <a:ext cx="1449388" cy="190690"/>
            </a:xfrm>
            <a:prstGeom prst="rect">
              <a:avLst/>
            </a:prstGeom>
            <a:noFill/>
            <a:ln>
              <a:noFill/>
            </a:ln>
          </p:spPr>
          <p:txBody>
            <a:bodyPr wrap="none" lIns="0" tIns="0" rIns="0" bIns="0" anchor="t" anchorCtr="0">
              <a:spAutoFit/>
            </a:bodyPr>
            <a:lstStyle/>
            <a:p>
              <a:pPr algn="l"/>
              <a:r>
                <a:rPr lang="zh-CN" sz="980" dirty="0">
                  <a:solidFill>
                    <a:srgbClr val="1A2230"/>
                  </a:solidFill>
                  <a:latin typeface="Arial"/>
                  <a:ea typeface="Microsoft YaHei"/>
                  <a:cs typeface="Arial"/>
                </a:rPr>
                <a:t>冻结 Freezing　−80 Cal</a:t>
              </a:r>
            </a:p>
          </p:txBody>
        </p:sp>
        <p:sp>
          <p:nvSpPr>
            <p:cNvPr id="27" name="TextBox 27"/>
            <p:cNvSpPr txBox="1"/>
            <p:nvPr/>
          </p:nvSpPr>
          <p:spPr>
            <a:xfrm>
              <a:off x="7843647" y="5247799"/>
              <a:ext cx="1417499" cy="190690"/>
            </a:xfrm>
            <a:prstGeom prst="rect">
              <a:avLst/>
            </a:prstGeom>
            <a:noFill/>
            <a:ln>
              <a:noFill/>
            </a:ln>
          </p:spPr>
          <p:txBody>
            <a:bodyPr wrap="none" lIns="0" tIns="0" rIns="0" bIns="0" anchor="t" anchorCtr="0">
              <a:spAutoFit/>
            </a:bodyPr>
            <a:lstStyle/>
            <a:p>
              <a:pPr algn="l"/>
              <a:r>
                <a:rPr lang="zh-CN" sz="980" dirty="0">
                  <a:solidFill>
                    <a:srgbClr val="1A2230"/>
                  </a:solidFill>
                  <a:latin typeface="Arial"/>
                  <a:ea typeface="Microsoft YaHei"/>
                  <a:cs typeface="Arial"/>
                </a:rPr>
                <a:t>降温 Cooling　−100 Cal</a:t>
              </a:r>
            </a:p>
          </p:txBody>
        </p:sp>
        <p:sp>
          <p:nvSpPr>
            <p:cNvPr id="28" name="TextBox 28"/>
            <p:cNvSpPr txBox="1"/>
            <p:nvPr/>
          </p:nvSpPr>
          <p:spPr>
            <a:xfrm>
              <a:off x="7843647" y="5514499"/>
              <a:ext cx="1811016" cy="190690"/>
            </a:xfrm>
            <a:prstGeom prst="rect">
              <a:avLst/>
            </a:prstGeom>
            <a:noFill/>
            <a:ln>
              <a:noFill/>
            </a:ln>
          </p:spPr>
          <p:txBody>
            <a:bodyPr wrap="none" lIns="0" tIns="0" rIns="0" bIns="0" anchor="t" anchorCtr="0">
              <a:spAutoFit/>
            </a:bodyPr>
            <a:lstStyle/>
            <a:p>
              <a:pPr algn="l"/>
              <a:r>
                <a:rPr lang="zh-CN" sz="980" dirty="0">
                  <a:solidFill>
                    <a:srgbClr val="1A2230"/>
                  </a:solidFill>
                  <a:latin typeface="Arial"/>
                  <a:ea typeface="Microsoft YaHei"/>
                  <a:cs typeface="Arial"/>
                </a:rPr>
                <a:t>凝结 Condensation　−540 Cal</a:t>
              </a:r>
            </a:p>
          </p:txBody>
        </p:sp>
      </p:grpSp>
      <p:grpSp>
        <p:nvGrpSpPr>
          <p:cNvPr id="32" name="Group 32"/>
          <p:cNvGrpSpPr/>
          <p:nvPr/>
        </p:nvGrpSpPr>
        <p:grpSpPr>
          <a:xfrm>
            <a:off x="381000" y="5981700"/>
            <a:ext cx="11430000" cy="419100"/>
            <a:chOff x="381000" y="5981700"/>
            <a:chExt cx="11430000" cy="419100"/>
          </a:xfrm>
        </p:grpSpPr>
        <p:sp>
          <p:nvSpPr>
            <p:cNvPr id="30" name="Rectangle 30"/>
            <p:cNvSpPr/>
            <p:nvPr/>
          </p:nvSpPr>
          <p:spPr>
            <a:xfrm>
              <a:off x="381000" y="5981700"/>
              <a:ext cx="11430000" cy="419100"/>
            </a:xfrm>
            <a:prstGeom prst="roundRect">
              <a:avLst>
                <a:gd name="adj" fmla="val 22727"/>
              </a:avLst>
            </a:prstGeom>
            <a:solidFill>
              <a:srgbClr val="E8EFF8"/>
            </a:solidFill>
            <a:ln>
              <a:noFill/>
            </a:ln>
          </p:spPr>
        </p:sp>
        <p:sp>
          <p:nvSpPr>
            <p:cNvPr id="31" name="TextBox 31"/>
            <p:cNvSpPr txBox="1"/>
            <p:nvPr/>
          </p:nvSpPr>
          <p:spPr>
            <a:xfrm>
              <a:off x="1686789" y="6131004"/>
              <a:ext cx="8818421" cy="212693"/>
            </a:xfrm>
            <a:prstGeom prst="rect">
              <a:avLst/>
            </a:prstGeom>
            <a:noFill/>
            <a:ln>
              <a:noFill/>
            </a:ln>
          </p:spPr>
          <p:txBody>
            <a:bodyPr wrap="none" lIns="0" tIns="0" rIns="0" bIns="0" anchor="t" anchorCtr="0">
              <a:spAutoFit/>
            </a:bodyPr>
            <a:lstStyle/>
            <a:p>
              <a:pPr algn="ctr"/>
              <a:r>
                <a:rPr lang="zh-CN" sz="1090" b="1" dirty="0">
                  <a:solidFill>
                    <a:srgbClr val="0E3F8C"/>
                  </a:solidFill>
                  <a:latin typeface="Arial"/>
                  <a:ea typeface="Microsoft YaHei"/>
                  <a:cs typeface="Arial"/>
                </a:rPr>
                <a:t>熔融潜热 Latent heat of fusion 80 Cal　｜　汽化潜热 Latent heat of vaporization 540 Cal（约 7 倍）　｜　1 Cal = 4.184 J</a:t>
              </a:r>
            </a:p>
          </p:txBody>
        </p:sp>
      </p:grpSp>
      <p:sp>
        <p:nvSpPr>
          <p:cNvPr id="33" name="TextBox 33"/>
          <p:cNvSpPr txBox="1"/>
          <p:nvPr/>
        </p:nvSpPr>
        <p:spPr>
          <a:xfrm>
            <a:off x="376238" y="6532245"/>
            <a:ext cx="7376202" cy="176212"/>
          </a:xfrm>
          <a:prstGeom prst="rect">
            <a:avLst/>
          </a:prstGeom>
          <a:noFill/>
          <a:ln>
            <a:noFill/>
          </a:ln>
        </p:spPr>
        <p:txBody>
          <a:bodyPr wrap="none" lIns="0" tIns="0" rIns="0" bIns="0" anchor="t" anchorCtr="0">
            <a:spAutoFit/>
          </a:bodyPr>
          <a:lstStyle/>
          <a:p>
            <a:pPr algn="l"/>
            <a:r>
              <a:rPr lang="zh-CN" sz="900" dirty="0">
                <a:solidFill>
                  <a:srgbClr val="4A5568"/>
                </a:solidFill>
                <a:latin typeface="Arial"/>
                <a:ea typeface="Microsoft YaHei"/>
                <a:cs typeface="Arial"/>
              </a:rPr>
              <a:t>Source: 地球系统与演变, Fig. 3-17, p.112 (PDF p.27). Figure W-05 shown intact; arrow directions and all values preserved.</a:t>
            </a:r>
          </a:p>
        </p:txBody>
      </p:sp>
      <p:sp>
        <p:nvSpPr>
          <p:cNvPr id="34" name="TextBox 34"/>
          <p:cNvSpPr txBox="1"/>
          <p:nvPr/>
        </p:nvSpPr>
        <p:spPr>
          <a:xfrm>
            <a:off x="11672964" y="6532245"/>
            <a:ext cx="142799" cy="176212"/>
          </a:xfrm>
          <a:prstGeom prst="rect">
            <a:avLst/>
          </a:prstGeom>
          <a:noFill/>
          <a:ln>
            <a:noFill/>
          </a:ln>
        </p:spPr>
        <p:txBody>
          <a:bodyPr wrap="none" lIns="0" tIns="0" rIns="0" bIns="0" anchor="t" anchorCtr="0">
            <a:spAutoFit/>
          </a:bodyPr>
          <a:lstStyle/>
          <a:p>
            <a:pPr algn="r"/>
            <a:r>
              <a:rPr lang="en-US" sz="900" dirty="0">
                <a:solidFill>
                  <a:srgbClr val="4A5568"/>
                </a:solidFill>
                <a:latin typeface="Arial"/>
                <a:ea typeface="Arial"/>
                <a:cs typeface="Arial"/>
              </a:rPr>
              <a:t>11</a:t>
            </a:r>
          </a:p>
        </p:txBody>
      </p:sp>
    </p:spTree>
    <p:extLst>
      <p:ext uri="{BB962C8B-B14F-4D97-AF65-F5344CB8AC3E}">
        <p14:creationId xmlns:p14="http://schemas.microsoft.com/office/powerpoint/2010/main" val="171080375"/>
      </p:ext>
    </p:extLst>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5"/>
          <p:cNvGrpSpPr/>
          <p:nvPr/>
        </p:nvGrpSpPr>
        <p:grpSpPr>
          <a:xfrm>
            <a:off x="0" y="0"/>
            <a:ext cx="12192000" cy="685800"/>
            <a:chOff x="0" y="0"/>
            <a:chExt cx="12192000" cy="685800"/>
          </a:xfrm>
        </p:grpSpPr>
        <p:sp>
          <p:nvSpPr>
            <p:cNvPr id="2" name="Rectangle 2"/>
            <p:cNvSpPr/>
            <p:nvPr/>
          </p:nvSpPr>
          <p:spPr>
            <a:xfrm>
              <a:off x="0" y="0"/>
              <a:ext cx="12192000" cy="685800"/>
            </a:xfrm>
            <a:prstGeom prst="rect">
              <a:avLst/>
            </a:prstGeom>
            <a:solidFill>
              <a:srgbClr val="0E3F8C"/>
            </a:solidFill>
            <a:ln>
              <a:noFill/>
            </a:ln>
          </p:spPr>
        </p:sp>
        <p:sp>
          <p:nvSpPr>
            <p:cNvPr id="3" name="TextBox 3"/>
            <p:cNvSpPr txBox="1"/>
            <p:nvPr/>
          </p:nvSpPr>
          <p:spPr>
            <a:xfrm>
              <a:off x="374142" y="282892"/>
              <a:ext cx="4604069" cy="264033"/>
            </a:xfrm>
            <a:prstGeom prst="rect">
              <a:avLst/>
            </a:prstGeom>
            <a:noFill/>
            <a:ln>
              <a:noFill/>
            </a:ln>
          </p:spPr>
          <p:txBody>
            <a:bodyPr wrap="none" lIns="0" tIns="0" rIns="0" bIns="0" anchor="t" anchorCtr="0">
              <a:spAutoFit/>
            </a:bodyPr>
            <a:lstStyle/>
            <a:p>
              <a:pPr algn="l"/>
              <a:r>
                <a:rPr lang="zh-CN" sz="1350" b="1" dirty="0">
                  <a:solidFill>
                    <a:srgbClr val="FFFFFF"/>
                  </a:solidFill>
                  <a:latin typeface="Arial"/>
                  <a:ea typeface="Microsoft YaHei"/>
                  <a:cs typeface="Arial"/>
                </a:rPr>
                <a:t>1.9 蒸发与蒸散 | Evaporation &amp; Evapotranspiration</a:t>
              </a:r>
            </a:p>
          </p:txBody>
        </p:sp>
        <p:sp>
          <p:nvSpPr>
            <p:cNvPr id="4" name="TextBox 4"/>
            <p:cNvSpPr txBox="1"/>
            <p:nvPr/>
          </p:nvSpPr>
          <p:spPr>
            <a:xfrm>
              <a:off x="10780776" y="299085"/>
              <a:ext cx="1036320" cy="234696"/>
            </a:xfrm>
            <a:prstGeom prst="rect">
              <a:avLst/>
            </a:prstGeom>
            <a:noFill/>
            <a:ln>
              <a:noFill/>
            </a:ln>
          </p:spPr>
          <p:txBody>
            <a:bodyPr wrap="none" lIns="0" tIns="0" rIns="0" bIns="0" anchor="t" anchorCtr="0">
              <a:spAutoFit/>
            </a:bodyPr>
            <a:lstStyle/>
            <a:p>
              <a:pPr algn="r"/>
              <a:r>
                <a:rPr lang="en-US" sz="1200" dirty="0">
                  <a:solidFill>
                    <a:srgbClr val="C7D7F2"/>
                  </a:solidFill>
                  <a:latin typeface="Arial"/>
                  <a:ea typeface="Arial"/>
                  <a:cs typeface="Arial"/>
                </a:rPr>
                <a:t>WATER CYCLE</a:t>
              </a:r>
            </a:p>
          </p:txBody>
        </p:sp>
      </p:grpSp>
      <p:grpSp>
        <p:nvGrpSpPr>
          <p:cNvPr id="8" name="Group 8"/>
          <p:cNvGrpSpPr/>
          <p:nvPr/>
        </p:nvGrpSpPr>
        <p:grpSpPr>
          <a:xfrm>
            <a:off x="381000" y="914400"/>
            <a:ext cx="6135040" cy="357093"/>
            <a:chOff x="381000" y="914400"/>
            <a:chExt cx="6135040" cy="357093"/>
          </a:xfrm>
        </p:grpSpPr>
        <p:sp>
          <p:nvSpPr>
            <p:cNvPr id="6" name="Rectangle 6"/>
            <p:cNvSpPr/>
            <p:nvPr/>
          </p:nvSpPr>
          <p:spPr>
            <a:xfrm>
              <a:off x="381000" y="914400"/>
              <a:ext cx="57150" cy="266700"/>
            </a:xfrm>
            <a:prstGeom prst="roundRect">
              <a:avLst>
                <a:gd name="adj" fmla="val 50000"/>
              </a:avLst>
            </a:prstGeom>
            <a:solidFill>
              <a:srgbClr val="1E4FA8"/>
            </a:solidFill>
            <a:ln>
              <a:noFill/>
            </a:ln>
          </p:spPr>
        </p:sp>
        <p:sp>
          <p:nvSpPr>
            <p:cNvPr id="7" name="TextBox 7"/>
            <p:cNvSpPr txBox="1"/>
            <p:nvPr/>
          </p:nvSpPr>
          <p:spPr>
            <a:xfrm>
              <a:off x="544449" y="963454"/>
              <a:ext cx="5971591" cy="308039"/>
            </a:xfrm>
            <a:prstGeom prst="rect">
              <a:avLst/>
            </a:prstGeom>
            <a:noFill/>
            <a:ln>
              <a:noFill/>
            </a:ln>
          </p:spPr>
          <p:txBody>
            <a:bodyPr wrap="none" lIns="0" tIns="0" rIns="0" bIns="0" anchor="t" anchorCtr="0">
              <a:spAutoFit/>
            </a:bodyPr>
            <a:lstStyle/>
            <a:p>
              <a:pPr algn="l"/>
              <a:r>
                <a:rPr lang="zh-CN" sz="1580" b="1" dirty="0">
                  <a:solidFill>
                    <a:srgbClr val="0E3F8C"/>
                  </a:solidFill>
                  <a:latin typeface="Arial"/>
                  <a:ea typeface="Microsoft YaHei"/>
                  <a:cs typeface="Arial"/>
                </a:rPr>
                <a:t>海洋、陆地表面与植物分别把水返还大气；蒸发加蒸腾合称蒸散</a:t>
              </a:r>
            </a:p>
          </p:txBody>
        </p:sp>
      </p:grpSp>
      <p:grpSp>
        <p:nvGrpSpPr>
          <p:cNvPr id="42" name="Group 42"/>
          <p:cNvGrpSpPr/>
          <p:nvPr/>
        </p:nvGrpSpPr>
        <p:grpSpPr>
          <a:xfrm>
            <a:off x="381000" y="1428750"/>
            <a:ext cx="11430000" cy="3314700"/>
            <a:chOff x="381000" y="1428750"/>
            <a:chExt cx="11430000" cy="3314700"/>
          </a:xfrm>
        </p:grpSpPr>
        <p:sp>
          <p:nvSpPr>
            <p:cNvPr id="9" name="Rectangle 9"/>
            <p:cNvSpPr/>
            <p:nvPr/>
          </p:nvSpPr>
          <p:spPr>
            <a:xfrm>
              <a:off x="381000" y="1428750"/>
              <a:ext cx="11430000" cy="3314700"/>
            </a:xfrm>
            <a:prstGeom prst="roundRect">
              <a:avLst>
                <a:gd name="adj" fmla="val 3448"/>
              </a:avLst>
            </a:prstGeom>
            <a:solidFill>
              <a:srgbClr val="F7F9FC"/>
            </a:solidFill>
            <a:ln w="9525">
              <a:solidFill>
                <a:srgbClr val="D6DCE5"/>
              </a:solidFill>
            </a:ln>
          </p:spPr>
        </p:sp>
        <p:grpSp>
          <p:nvGrpSpPr>
            <p:cNvPr id="12" name="Group 12"/>
            <p:cNvGrpSpPr/>
            <p:nvPr/>
          </p:nvGrpSpPr>
          <p:grpSpPr>
            <a:xfrm>
              <a:off x="571500" y="1581150"/>
              <a:ext cx="11049000" cy="514350"/>
              <a:chOff x="571500" y="1581150"/>
              <a:chExt cx="11049000" cy="514350"/>
            </a:xfrm>
          </p:grpSpPr>
          <p:sp>
            <p:nvSpPr>
              <p:cNvPr id="10" name="Rectangle 10"/>
              <p:cNvSpPr/>
              <p:nvPr/>
            </p:nvSpPr>
            <p:spPr>
              <a:xfrm>
                <a:off x="571500" y="1581150"/>
                <a:ext cx="11049000" cy="514350"/>
              </a:xfrm>
              <a:prstGeom prst="roundRect">
                <a:avLst>
                  <a:gd name="adj" fmla="val 18519"/>
                </a:avLst>
              </a:prstGeom>
              <a:solidFill>
                <a:srgbClr val="E8EFF8"/>
              </a:solidFill>
              <a:ln>
                <a:noFill/>
              </a:ln>
            </p:spPr>
          </p:sp>
          <p:sp>
            <p:nvSpPr>
              <p:cNvPr id="11" name="TextBox 11"/>
              <p:cNvSpPr txBox="1"/>
              <p:nvPr/>
            </p:nvSpPr>
            <p:spPr>
              <a:xfrm>
                <a:off x="757047" y="1790224"/>
                <a:ext cx="5198802" cy="190690"/>
              </a:xfrm>
              <a:prstGeom prst="rect">
                <a:avLst/>
              </a:prstGeom>
              <a:noFill/>
              <a:ln>
                <a:noFill/>
              </a:ln>
            </p:spPr>
            <p:txBody>
              <a:bodyPr wrap="none" lIns="0" tIns="0" rIns="0" bIns="0" anchor="t" anchorCtr="0">
                <a:spAutoFit/>
              </a:bodyPr>
              <a:lstStyle/>
              <a:p>
                <a:pPr algn="l"/>
                <a:r>
                  <a:rPr lang="zh-CN" sz="980" b="1" dirty="0">
                    <a:solidFill>
                      <a:srgbClr val="1E4FA8"/>
                    </a:solidFill>
                    <a:latin typeface="Arial"/>
                    <a:ea typeface="Microsoft YaHei"/>
                    <a:cs typeface="Arial"/>
                  </a:rPr>
                  <a:t>ATMOSPHERE · 大气：接收返还的水汽 Water vapor returned to the atmosphere</a:t>
                </a:r>
              </a:p>
            </p:txBody>
          </p:sp>
        </p:grpSp>
        <p:grpSp>
          <p:nvGrpSpPr>
            <p:cNvPr id="18" name="Group 18"/>
            <p:cNvGrpSpPr/>
            <p:nvPr/>
          </p:nvGrpSpPr>
          <p:grpSpPr>
            <a:xfrm>
              <a:off x="571500" y="3943350"/>
              <a:ext cx="11049000" cy="800100"/>
              <a:chOff x="571500" y="3943350"/>
              <a:chExt cx="11049000" cy="800100"/>
            </a:xfrm>
          </p:grpSpPr>
          <p:sp>
            <p:nvSpPr>
              <p:cNvPr id="13" name="Rectangle 13"/>
              <p:cNvSpPr/>
              <p:nvPr/>
            </p:nvSpPr>
            <p:spPr>
              <a:xfrm>
                <a:off x="571500" y="4000500"/>
                <a:ext cx="6096000" cy="742950"/>
              </a:xfrm>
              <a:prstGeom prst="rect">
                <a:avLst/>
              </a:prstGeom>
              <a:solidFill>
                <a:srgbClr val="EFEDE7"/>
              </a:solidFill>
              <a:ln w="9525">
                <a:solidFill>
                  <a:srgbClr val="D6DCE5"/>
                </a:solidFill>
              </a:ln>
            </p:spPr>
          </p:sp>
          <p:sp>
            <p:nvSpPr>
              <p:cNvPr id="14" name="Rectangle 14"/>
              <p:cNvSpPr/>
              <p:nvPr/>
            </p:nvSpPr>
            <p:spPr>
              <a:xfrm>
                <a:off x="6667500" y="4000500"/>
                <a:ext cx="4953000" cy="742950"/>
              </a:xfrm>
              <a:prstGeom prst="rect">
                <a:avLst/>
              </a:prstGeom>
              <a:solidFill>
                <a:srgbClr val="DCEAF8"/>
              </a:solidFill>
              <a:ln w="9525">
                <a:solidFill>
                  <a:srgbClr val="B8C7DC"/>
                </a:solidFill>
              </a:ln>
            </p:spPr>
          </p:sp>
          <p:sp>
            <p:nvSpPr>
              <p:cNvPr id="15" name="Freeform 15"/>
              <p:cNvSpPr/>
              <p:nvPr/>
            </p:nvSpPr>
            <p:spPr>
              <a:xfrm>
                <a:off x="6667500" y="3943350"/>
                <a:ext cx="4953000" cy="114300"/>
              </a:xfrm>
              <a:custGeom>
                <a:avLst/>
                <a:gdLst/>
                <a:ahLst/>
                <a:cxnLst/>
                <a:rect l="l" t="t" r="r" b="b"/>
                <a:pathLst>
                  <a:path w="4953000" h="114300">
                    <a:moveTo>
                      <a:pt x="0" y="57150"/>
                    </a:moveTo>
                    <a:cubicBezTo>
                      <a:pt x="381000" y="0"/>
                      <a:pt x="762000" y="114300"/>
                      <a:pt x="1143000" y="57150"/>
                    </a:cubicBezTo>
                    <a:cubicBezTo>
                      <a:pt x="1524000" y="0"/>
                      <a:pt x="1905000" y="114300"/>
                      <a:pt x="2286000" y="57150"/>
                    </a:cubicBezTo>
                    <a:cubicBezTo>
                      <a:pt x="2667000" y="0"/>
                      <a:pt x="3048000" y="114300"/>
                      <a:pt x="3429000" y="57150"/>
                    </a:cubicBezTo>
                    <a:cubicBezTo>
                      <a:pt x="3810000" y="0"/>
                      <a:pt x="4191000" y="114300"/>
                      <a:pt x="4572000" y="57150"/>
                    </a:cubicBezTo>
                    <a:cubicBezTo>
                      <a:pt x="4705350" y="38100"/>
                      <a:pt x="4838700" y="38100"/>
                      <a:pt x="4953000" y="57150"/>
                    </a:cubicBezTo>
                  </a:path>
                </a:pathLst>
              </a:custGeom>
              <a:noFill/>
              <a:ln w="19050">
                <a:solidFill>
                  <a:srgbClr val="3D7BD9"/>
                </a:solidFill>
              </a:ln>
            </p:spPr>
          </p:sp>
          <p:sp>
            <p:nvSpPr>
              <p:cNvPr id="16" name="TextBox 16"/>
              <p:cNvSpPr txBox="1"/>
              <p:nvPr/>
            </p:nvSpPr>
            <p:spPr>
              <a:xfrm>
                <a:off x="719138" y="4531995"/>
                <a:ext cx="585597" cy="176212"/>
              </a:xfrm>
              <a:prstGeom prst="rect">
                <a:avLst/>
              </a:prstGeom>
              <a:noFill/>
              <a:ln>
                <a:noFill/>
              </a:ln>
            </p:spPr>
            <p:txBody>
              <a:bodyPr wrap="none" lIns="0" tIns="0" rIns="0" bIns="0" anchor="t" anchorCtr="0">
                <a:spAutoFit/>
              </a:bodyPr>
              <a:lstStyle/>
              <a:p>
                <a:pPr algn="l"/>
                <a:r>
                  <a:rPr lang="zh-CN" sz="900" dirty="0">
                    <a:solidFill>
                      <a:srgbClr val="4A5568"/>
                    </a:solidFill>
                    <a:latin typeface="Arial"/>
                    <a:ea typeface="Microsoft YaHei"/>
                    <a:cs typeface="Arial"/>
                  </a:rPr>
                  <a:t>陆地 LAND</a:t>
                </a:r>
              </a:p>
            </p:txBody>
          </p:sp>
          <p:sp>
            <p:nvSpPr>
              <p:cNvPr id="17" name="TextBox 17"/>
              <p:cNvSpPr txBox="1"/>
              <p:nvPr/>
            </p:nvSpPr>
            <p:spPr>
              <a:xfrm>
                <a:off x="10791254" y="4531995"/>
                <a:ext cx="681609" cy="176212"/>
              </a:xfrm>
              <a:prstGeom prst="rect">
                <a:avLst/>
              </a:prstGeom>
              <a:noFill/>
              <a:ln>
                <a:noFill/>
              </a:ln>
            </p:spPr>
            <p:txBody>
              <a:bodyPr wrap="none" lIns="0" tIns="0" rIns="0" bIns="0" anchor="t" anchorCtr="0">
                <a:spAutoFit/>
              </a:bodyPr>
              <a:lstStyle/>
              <a:p>
                <a:pPr algn="r"/>
                <a:r>
                  <a:rPr lang="zh-CN" sz="900" dirty="0">
                    <a:solidFill>
                      <a:srgbClr val="1E4FA8"/>
                    </a:solidFill>
                    <a:latin typeface="Arial"/>
                    <a:ea typeface="Microsoft YaHei"/>
                    <a:cs typeface="Arial"/>
                  </a:rPr>
                  <a:t>海洋 OCEAN</a:t>
                </a:r>
              </a:p>
            </p:txBody>
          </p:sp>
        </p:grpSp>
        <p:grpSp>
          <p:nvGrpSpPr>
            <p:cNvPr id="23" name="Group 23"/>
            <p:cNvGrpSpPr/>
            <p:nvPr/>
          </p:nvGrpSpPr>
          <p:grpSpPr>
            <a:xfrm>
              <a:off x="1514475" y="2209800"/>
              <a:ext cx="1912001" cy="1733550"/>
              <a:chOff x="1514475" y="2209800"/>
              <a:chExt cx="1912001" cy="1733550"/>
            </a:xfrm>
          </p:grpSpPr>
          <p:sp>
            <p:nvSpPr>
              <p:cNvPr id="19" name="Line 19"/>
              <p:cNvSpPr/>
              <p:nvPr/>
            </p:nvSpPr>
            <p:spPr>
              <a:xfrm>
                <a:off x="1619250" y="2247900"/>
                <a:ext cx="9525" cy="1695450"/>
              </a:xfrm>
              <a:custGeom>
                <a:avLst/>
                <a:gdLst/>
                <a:ahLst/>
                <a:cxnLst/>
                <a:rect l="l" t="t" r="r" b="b"/>
                <a:pathLst>
                  <a:path w="9525" h="1695450">
                    <a:moveTo>
                      <a:pt x="0" y="1695450"/>
                    </a:moveTo>
                    <a:lnTo>
                      <a:pt x="0" y="0"/>
                    </a:lnTo>
                  </a:path>
                </a:pathLst>
              </a:custGeom>
              <a:noFill/>
              <a:ln w="47625">
                <a:solidFill>
                  <a:srgbClr val="3D7BD9"/>
                </a:solidFill>
              </a:ln>
            </p:spPr>
          </p:sp>
          <p:sp>
            <p:nvSpPr>
              <p:cNvPr id="20" name="Polygon 20"/>
              <p:cNvSpPr/>
              <p:nvPr/>
            </p:nvSpPr>
            <p:spPr>
              <a:xfrm>
                <a:off x="1514475" y="2209800"/>
                <a:ext cx="209550" cy="190500"/>
              </a:xfrm>
              <a:custGeom>
                <a:avLst/>
                <a:gdLst/>
                <a:ahLst/>
                <a:cxnLst/>
                <a:rect l="l" t="t" r="r" b="b"/>
                <a:pathLst>
                  <a:path w="209550" h="190500">
                    <a:moveTo>
                      <a:pt x="0" y="190500"/>
                    </a:moveTo>
                    <a:lnTo>
                      <a:pt x="104775" y="0"/>
                    </a:lnTo>
                    <a:lnTo>
                      <a:pt x="209550" y="190500"/>
                    </a:lnTo>
                    <a:close/>
                  </a:path>
                </a:pathLst>
              </a:custGeom>
              <a:solidFill>
                <a:srgbClr val="3D7BD9"/>
              </a:solidFill>
              <a:ln>
                <a:noFill/>
              </a:ln>
            </p:spPr>
          </p:sp>
          <p:sp>
            <p:nvSpPr>
              <p:cNvPr id="21" name="TextBox 21"/>
              <p:cNvSpPr txBox="1"/>
              <p:nvPr/>
            </p:nvSpPr>
            <p:spPr>
              <a:xfrm>
                <a:off x="1861947" y="2714149"/>
                <a:ext cx="537616" cy="190690"/>
              </a:xfrm>
              <a:prstGeom prst="rect">
                <a:avLst/>
              </a:prstGeom>
              <a:noFill/>
              <a:ln>
                <a:noFill/>
              </a:ln>
            </p:spPr>
            <p:txBody>
              <a:bodyPr wrap="none" lIns="0" tIns="0" rIns="0" bIns="0" anchor="t" anchorCtr="0">
                <a:spAutoFit/>
              </a:bodyPr>
              <a:lstStyle/>
              <a:p>
                <a:pPr algn="l"/>
                <a:r>
                  <a:rPr lang="zh-CN" sz="980" b="1" dirty="0">
                    <a:solidFill>
                      <a:srgbClr val="1E4FA8"/>
                    </a:solidFill>
                    <a:latin typeface="Arial"/>
                    <a:ea typeface="Microsoft YaHei"/>
                    <a:cs typeface="Arial"/>
                  </a:rPr>
                  <a:t>陆地蒸发</a:t>
                </a:r>
              </a:p>
            </p:txBody>
          </p:sp>
          <p:sp>
            <p:nvSpPr>
              <p:cNvPr id="22" name="TextBox 22"/>
              <p:cNvSpPr txBox="1"/>
              <p:nvPr/>
            </p:nvSpPr>
            <p:spPr>
              <a:xfrm>
                <a:off x="1862138" y="2931795"/>
                <a:ext cx="1564338" cy="176212"/>
              </a:xfrm>
              <a:prstGeom prst="rect">
                <a:avLst/>
              </a:prstGeom>
              <a:noFill/>
              <a:ln>
                <a:noFill/>
              </a:ln>
            </p:spPr>
            <p:txBody>
              <a:bodyPr wrap="none" lIns="0" tIns="0" rIns="0" bIns="0" anchor="t" anchorCtr="0">
                <a:spAutoFit/>
              </a:bodyPr>
              <a:lstStyle/>
              <a:p>
                <a:pPr algn="l"/>
                <a:r>
                  <a:rPr lang="en-US" sz="900" dirty="0">
                    <a:solidFill>
                      <a:srgbClr val="4A5568"/>
                    </a:solidFill>
                    <a:latin typeface="Arial"/>
                    <a:ea typeface="Arial"/>
                    <a:cs typeface="Arial"/>
                  </a:rPr>
                  <a:t>Surface / soil evaporation</a:t>
                </a:r>
              </a:p>
            </p:txBody>
          </p:sp>
        </p:grpSp>
        <p:grpSp>
          <p:nvGrpSpPr>
            <p:cNvPr id="34" name="Group 34"/>
            <p:cNvGrpSpPr/>
            <p:nvPr/>
          </p:nvGrpSpPr>
          <p:grpSpPr>
            <a:xfrm>
              <a:off x="3138488" y="2209800"/>
              <a:ext cx="2793685" cy="2419112"/>
              <a:chOff x="3138488" y="2209800"/>
              <a:chExt cx="2793685" cy="2419112"/>
            </a:xfrm>
          </p:grpSpPr>
          <p:sp>
            <p:nvSpPr>
              <p:cNvPr id="24" name="Line 24"/>
              <p:cNvSpPr/>
              <p:nvPr/>
            </p:nvSpPr>
            <p:spPr>
              <a:xfrm>
                <a:off x="3429000" y="4000500"/>
                <a:ext cx="190500" cy="323850"/>
              </a:xfrm>
              <a:custGeom>
                <a:avLst/>
                <a:gdLst/>
                <a:ahLst/>
                <a:cxnLst/>
                <a:rect l="l" t="t" r="r" b="b"/>
                <a:pathLst>
                  <a:path w="190500" h="323850">
                    <a:moveTo>
                      <a:pt x="0" y="0"/>
                    </a:moveTo>
                    <a:lnTo>
                      <a:pt x="190500" y="323850"/>
                    </a:lnTo>
                  </a:path>
                </a:pathLst>
              </a:custGeom>
              <a:noFill/>
              <a:ln w="19050">
                <a:solidFill>
                  <a:srgbClr val="8FB083"/>
                </a:solidFill>
              </a:ln>
            </p:spPr>
          </p:sp>
          <p:sp>
            <p:nvSpPr>
              <p:cNvPr id="25" name="Line 25"/>
              <p:cNvSpPr/>
              <p:nvPr/>
            </p:nvSpPr>
            <p:spPr>
              <a:xfrm>
                <a:off x="3676650" y="4000500"/>
                <a:ext cx="9525" cy="361950"/>
              </a:xfrm>
              <a:custGeom>
                <a:avLst/>
                <a:gdLst/>
                <a:ahLst/>
                <a:cxnLst/>
                <a:rect l="l" t="t" r="r" b="b"/>
                <a:pathLst>
                  <a:path w="9525" h="361950">
                    <a:moveTo>
                      <a:pt x="0" y="0"/>
                    </a:moveTo>
                    <a:lnTo>
                      <a:pt x="0" y="361950"/>
                    </a:lnTo>
                  </a:path>
                </a:pathLst>
              </a:custGeom>
              <a:noFill/>
              <a:ln w="19050">
                <a:solidFill>
                  <a:srgbClr val="8FB083"/>
                </a:solidFill>
              </a:ln>
            </p:spPr>
          </p:sp>
          <p:sp>
            <p:nvSpPr>
              <p:cNvPr id="26" name="Line 26"/>
              <p:cNvSpPr/>
              <p:nvPr/>
            </p:nvSpPr>
            <p:spPr>
              <a:xfrm>
                <a:off x="3733800" y="4000500"/>
                <a:ext cx="190500" cy="323850"/>
              </a:xfrm>
              <a:custGeom>
                <a:avLst/>
                <a:gdLst/>
                <a:ahLst/>
                <a:cxnLst/>
                <a:rect l="l" t="t" r="r" b="b"/>
                <a:pathLst>
                  <a:path w="190500" h="323850">
                    <a:moveTo>
                      <a:pt x="190500" y="0"/>
                    </a:moveTo>
                    <a:lnTo>
                      <a:pt x="0" y="323850"/>
                    </a:lnTo>
                  </a:path>
                </a:pathLst>
              </a:custGeom>
              <a:noFill/>
              <a:ln w="19050">
                <a:solidFill>
                  <a:srgbClr val="8FB083"/>
                </a:solidFill>
              </a:ln>
            </p:spPr>
          </p:sp>
          <p:sp>
            <p:nvSpPr>
              <p:cNvPr id="27" name="Rectangle 27"/>
              <p:cNvSpPr/>
              <p:nvPr/>
            </p:nvSpPr>
            <p:spPr>
              <a:xfrm>
                <a:off x="3619500" y="3390900"/>
                <a:ext cx="114300" cy="609600"/>
              </a:xfrm>
              <a:prstGeom prst="rect">
                <a:avLst/>
              </a:prstGeom>
              <a:solidFill>
                <a:srgbClr val="6F965A"/>
              </a:solidFill>
              <a:ln>
                <a:noFill/>
              </a:ln>
            </p:spPr>
          </p:sp>
          <p:sp>
            <p:nvSpPr>
              <p:cNvPr id="28" name="Ellipse 28"/>
              <p:cNvSpPr/>
              <p:nvPr/>
            </p:nvSpPr>
            <p:spPr>
              <a:xfrm>
                <a:off x="3219450" y="3009900"/>
                <a:ext cx="914400" cy="571500"/>
              </a:xfrm>
              <a:prstGeom prst="ellipse">
                <a:avLst/>
              </a:prstGeom>
              <a:solidFill>
                <a:srgbClr val="DCEBD9"/>
              </a:solidFill>
              <a:ln w="14288">
                <a:solidFill>
                  <a:srgbClr val="8FB083"/>
                </a:solidFill>
              </a:ln>
            </p:spPr>
          </p:sp>
          <p:sp>
            <p:nvSpPr>
              <p:cNvPr id="29" name="Line 29"/>
              <p:cNvSpPr/>
              <p:nvPr/>
            </p:nvSpPr>
            <p:spPr>
              <a:xfrm>
                <a:off x="3676650" y="2247900"/>
                <a:ext cx="9525" cy="857250"/>
              </a:xfrm>
              <a:custGeom>
                <a:avLst/>
                <a:gdLst/>
                <a:ahLst/>
                <a:cxnLst/>
                <a:rect l="l" t="t" r="r" b="b"/>
                <a:pathLst>
                  <a:path w="9525" h="857250">
                    <a:moveTo>
                      <a:pt x="0" y="857250"/>
                    </a:moveTo>
                    <a:lnTo>
                      <a:pt x="0" y="0"/>
                    </a:lnTo>
                  </a:path>
                </a:pathLst>
              </a:custGeom>
              <a:noFill/>
              <a:ln w="47625">
                <a:solidFill>
                  <a:srgbClr val="1E4FA8"/>
                </a:solidFill>
              </a:ln>
            </p:spPr>
          </p:sp>
          <p:sp>
            <p:nvSpPr>
              <p:cNvPr id="30" name="Polygon 30"/>
              <p:cNvSpPr/>
              <p:nvPr/>
            </p:nvSpPr>
            <p:spPr>
              <a:xfrm>
                <a:off x="3571875" y="2209800"/>
                <a:ext cx="209550" cy="190500"/>
              </a:xfrm>
              <a:custGeom>
                <a:avLst/>
                <a:gdLst/>
                <a:ahLst/>
                <a:cxnLst/>
                <a:rect l="l" t="t" r="r" b="b"/>
                <a:pathLst>
                  <a:path w="209550" h="190500">
                    <a:moveTo>
                      <a:pt x="0" y="190500"/>
                    </a:moveTo>
                    <a:lnTo>
                      <a:pt x="104775" y="0"/>
                    </a:lnTo>
                    <a:lnTo>
                      <a:pt x="209550" y="190500"/>
                    </a:lnTo>
                    <a:close/>
                  </a:path>
                </a:pathLst>
              </a:custGeom>
              <a:solidFill>
                <a:srgbClr val="1E4FA8"/>
              </a:solidFill>
              <a:ln>
                <a:noFill/>
              </a:ln>
            </p:spPr>
          </p:sp>
          <p:sp>
            <p:nvSpPr>
              <p:cNvPr id="31" name="TextBox 31"/>
              <p:cNvSpPr txBox="1"/>
              <p:nvPr/>
            </p:nvSpPr>
            <p:spPr>
              <a:xfrm>
                <a:off x="4243197" y="2714149"/>
                <a:ext cx="537616" cy="190690"/>
              </a:xfrm>
              <a:prstGeom prst="rect">
                <a:avLst/>
              </a:prstGeom>
              <a:noFill/>
              <a:ln>
                <a:noFill/>
              </a:ln>
            </p:spPr>
            <p:txBody>
              <a:bodyPr wrap="none" lIns="0" tIns="0" rIns="0" bIns="0" anchor="t" anchorCtr="0">
                <a:spAutoFit/>
              </a:bodyPr>
              <a:lstStyle/>
              <a:p>
                <a:pPr algn="l"/>
                <a:r>
                  <a:rPr lang="zh-CN" sz="980" b="1" dirty="0">
                    <a:solidFill>
                      <a:srgbClr val="1E4FA8"/>
                    </a:solidFill>
                    <a:latin typeface="Arial"/>
                    <a:ea typeface="Microsoft YaHei"/>
                    <a:cs typeface="Arial"/>
                  </a:rPr>
                  <a:t>植物蒸腾</a:t>
                </a:r>
              </a:p>
            </p:txBody>
          </p:sp>
          <p:sp>
            <p:nvSpPr>
              <p:cNvPr id="32" name="TextBox 32"/>
              <p:cNvSpPr txBox="1"/>
              <p:nvPr/>
            </p:nvSpPr>
            <p:spPr>
              <a:xfrm>
                <a:off x="4243388" y="2931795"/>
                <a:ext cx="1688785" cy="176212"/>
              </a:xfrm>
              <a:prstGeom prst="rect">
                <a:avLst/>
              </a:prstGeom>
              <a:noFill/>
              <a:ln>
                <a:noFill/>
              </a:ln>
            </p:spPr>
            <p:txBody>
              <a:bodyPr wrap="none" lIns="0" tIns="0" rIns="0" bIns="0" anchor="t" anchorCtr="0">
                <a:spAutoFit/>
              </a:bodyPr>
              <a:lstStyle/>
              <a:p>
                <a:pPr algn="l"/>
                <a:r>
                  <a:rPr lang="zh-CN" sz="900" dirty="0">
                    <a:solidFill>
                      <a:srgbClr val="4A5568"/>
                    </a:solidFill>
                    <a:latin typeface="Arial"/>
                    <a:ea typeface="Microsoft YaHei"/>
                    <a:cs typeface="Arial"/>
                  </a:rPr>
                  <a:t>Transpiration（根系 → 叶片）</a:t>
                </a:r>
              </a:p>
            </p:txBody>
          </p:sp>
          <p:sp>
            <p:nvSpPr>
              <p:cNvPr id="33" name="TextBox 33"/>
              <p:cNvSpPr txBox="1"/>
              <p:nvPr/>
            </p:nvSpPr>
            <p:spPr>
              <a:xfrm>
                <a:off x="3138488" y="4459843"/>
                <a:ext cx="897702" cy="169069"/>
              </a:xfrm>
              <a:prstGeom prst="rect">
                <a:avLst/>
              </a:prstGeom>
              <a:noFill/>
              <a:ln>
                <a:noFill/>
              </a:ln>
            </p:spPr>
            <p:txBody>
              <a:bodyPr wrap="none" lIns="0" tIns="0" rIns="0" bIns="0" anchor="t" anchorCtr="0">
                <a:spAutoFit/>
              </a:bodyPr>
              <a:lstStyle/>
              <a:p>
                <a:pPr algn="l"/>
                <a:r>
                  <a:rPr lang="zh-CN" sz="860" dirty="0">
                    <a:solidFill>
                      <a:srgbClr val="4A5568"/>
                    </a:solidFill>
                    <a:latin typeface="Arial"/>
                    <a:ea typeface="Microsoft YaHei"/>
                    <a:cs typeface="Arial"/>
                  </a:rPr>
                  <a:t>根系吸水 Uptake</a:t>
                </a:r>
              </a:p>
            </p:txBody>
          </p:sp>
        </p:grpSp>
        <p:grpSp>
          <p:nvGrpSpPr>
            <p:cNvPr id="41" name="Group 41"/>
            <p:cNvGrpSpPr/>
            <p:nvPr/>
          </p:nvGrpSpPr>
          <p:grpSpPr>
            <a:xfrm>
              <a:off x="8963025" y="2209800"/>
              <a:ext cx="2066925" cy="1733550"/>
              <a:chOff x="8963025" y="2209800"/>
              <a:chExt cx="2066925" cy="1733550"/>
            </a:xfrm>
          </p:grpSpPr>
          <p:sp>
            <p:nvSpPr>
              <p:cNvPr id="35" name="Line 35"/>
              <p:cNvSpPr/>
              <p:nvPr/>
            </p:nvSpPr>
            <p:spPr>
              <a:xfrm>
                <a:off x="9067800" y="2247900"/>
                <a:ext cx="9525" cy="1695450"/>
              </a:xfrm>
              <a:custGeom>
                <a:avLst/>
                <a:gdLst/>
                <a:ahLst/>
                <a:cxnLst/>
                <a:rect l="l" t="t" r="r" b="b"/>
                <a:pathLst>
                  <a:path w="9525" h="1695450">
                    <a:moveTo>
                      <a:pt x="0" y="1695450"/>
                    </a:moveTo>
                    <a:lnTo>
                      <a:pt x="0" y="0"/>
                    </a:lnTo>
                  </a:path>
                </a:pathLst>
              </a:custGeom>
              <a:noFill/>
              <a:ln w="47625">
                <a:solidFill>
                  <a:srgbClr val="1E4FA8"/>
                </a:solidFill>
              </a:ln>
            </p:spPr>
          </p:sp>
          <p:sp>
            <p:nvSpPr>
              <p:cNvPr id="36" name="Polygon 36"/>
              <p:cNvSpPr/>
              <p:nvPr/>
            </p:nvSpPr>
            <p:spPr>
              <a:xfrm>
                <a:off x="8963025" y="2209800"/>
                <a:ext cx="209550" cy="190500"/>
              </a:xfrm>
              <a:custGeom>
                <a:avLst/>
                <a:gdLst/>
                <a:ahLst/>
                <a:cxnLst/>
                <a:rect l="l" t="t" r="r" b="b"/>
                <a:pathLst>
                  <a:path w="209550" h="190500">
                    <a:moveTo>
                      <a:pt x="0" y="190500"/>
                    </a:moveTo>
                    <a:lnTo>
                      <a:pt x="104775" y="0"/>
                    </a:lnTo>
                    <a:lnTo>
                      <a:pt x="209550" y="190500"/>
                    </a:lnTo>
                    <a:close/>
                  </a:path>
                </a:pathLst>
              </a:custGeom>
              <a:solidFill>
                <a:srgbClr val="1E4FA8"/>
              </a:solidFill>
              <a:ln>
                <a:noFill/>
              </a:ln>
            </p:spPr>
          </p:sp>
          <p:sp>
            <p:nvSpPr>
              <p:cNvPr id="37" name="Line 37"/>
              <p:cNvSpPr/>
              <p:nvPr/>
            </p:nvSpPr>
            <p:spPr>
              <a:xfrm>
                <a:off x="10953750" y="2400300"/>
                <a:ext cx="9525" cy="1543050"/>
              </a:xfrm>
              <a:custGeom>
                <a:avLst/>
                <a:gdLst/>
                <a:ahLst/>
                <a:cxnLst/>
                <a:rect l="l" t="t" r="r" b="b"/>
                <a:pathLst>
                  <a:path w="9525" h="1543050">
                    <a:moveTo>
                      <a:pt x="0" y="1543050"/>
                    </a:moveTo>
                    <a:lnTo>
                      <a:pt x="0" y="0"/>
                    </a:lnTo>
                  </a:path>
                </a:pathLst>
              </a:custGeom>
              <a:noFill/>
              <a:ln w="28575">
                <a:solidFill>
                  <a:srgbClr val="3D7BD9"/>
                </a:solidFill>
              </a:ln>
            </p:spPr>
          </p:sp>
          <p:sp>
            <p:nvSpPr>
              <p:cNvPr id="38" name="Polygon 38"/>
              <p:cNvSpPr/>
              <p:nvPr/>
            </p:nvSpPr>
            <p:spPr>
              <a:xfrm>
                <a:off x="10877550" y="2381250"/>
                <a:ext cx="152400" cy="152400"/>
              </a:xfrm>
              <a:custGeom>
                <a:avLst/>
                <a:gdLst/>
                <a:ahLst/>
                <a:cxnLst/>
                <a:rect l="l" t="t" r="r" b="b"/>
                <a:pathLst>
                  <a:path w="152400" h="152400">
                    <a:moveTo>
                      <a:pt x="0" y="152400"/>
                    </a:moveTo>
                    <a:lnTo>
                      <a:pt x="76200" y="0"/>
                    </a:lnTo>
                    <a:lnTo>
                      <a:pt x="152400" y="152400"/>
                    </a:lnTo>
                    <a:close/>
                  </a:path>
                </a:pathLst>
              </a:custGeom>
              <a:solidFill>
                <a:srgbClr val="3D7BD9"/>
              </a:solidFill>
              <a:ln>
                <a:noFill/>
              </a:ln>
            </p:spPr>
          </p:sp>
          <p:sp>
            <p:nvSpPr>
              <p:cNvPr id="39" name="TextBox 39"/>
              <p:cNvSpPr txBox="1"/>
              <p:nvPr/>
            </p:nvSpPr>
            <p:spPr>
              <a:xfrm>
                <a:off x="9329547" y="2714149"/>
                <a:ext cx="537616" cy="190690"/>
              </a:xfrm>
              <a:prstGeom prst="rect">
                <a:avLst/>
              </a:prstGeom>
              <a:noFill/>
              <a:ln>
                <a:noFill/>
              </a:ln>
            </p:spPr>
            <p:txBody>
              <a:bodyPr wrap="none" lIns="0" tIns="0" rIns="0" bIns="0" anchor="t" anchorCtr="0">
                <a:spAutoFit/>
              </a:bodyPr>
              <a:lstStyle/>
              <a:p>
                <a:pPr algn="l"/>
                <a:r>
                  <a:rPr lang="zh-CN" sz="980" b="1" dirty="0">
                    <a:solidFill>
                      <a:srgbClr val="1E4FA8"/>
                    </a:solidFill>
                    <a:latin typeface="Arial"/>
                    <a:ea typeface="Microsoft YaHei"/>
                    <a:cs typeface="Arial"/>
                  </a:rPr>
                  <a:t>海洋蒸发</a:t>
                </a:r>
              </a:p>
            </p:txBody>
          </p:sp>
          <p:sp>
            <p:nvSpPr>
              <p:cNvPr id="40" name="TextBox 40"/>
              <p:cNvSpPr txBox="1"/>
              <p:nvPr/>
            </p:nvSpPr>
            <p:spPr>
              <a:xfrm>
                <a:off x="9329738" y="2931795"/>
                <a:ext cx="1109884" cy="176212"/>
              </a:xfrm>
              <a:prstGeom prst="rect">
                <a:avLst/>
              </a:prstGeom>
              <a:noFill/>
              <a:ln>
                <a:noFill/>
              </a:ln>
            </p:spPr>
            <p:txBody>
              <a:bodyPr wrap="none" lIns="0" tIns="0" rIns="0" bIns="0" anchor="t" anchorCtr="0">
                <a:spAutoFit/>
              </a:bodyPr>
              <a:lstStyle/>
              <a:p>
                <a:pPr algn="l"/>
                <a:r>
                  <a:rPr lang="en-US" sz="900" dirty="0">
                    <a:solidFill>
                      <a:srgbClr val="4A5568"/>
                    </a:solidFill>
                    <a:latin typeface="Arial"/>
                    <a:ea typeface="Arial"/>
                    <a:cs typeface="Arial"/>
                  </a:rPr>
                  <a:t>Ocean evaporation</a:t>
                </a:r>
              </a:p>
            </p:txBody>
          </p:sp>
        </p:grpSp>
      </p:grpSp>
      <p:grpSp>
        <p:nvGrpSpPr>
          <p:cNvPr id="45" name="Group 45"/>
          <p:cNvGrpSpPr/>
          <p:nvPr/>
        </p:nvGrpSpPr>
        <p:grpSpPr>
          <a:xfrm>
            <a:off x="381000" y="4857750"/>
            <a:ext cx="11430000" cy="438150"/>
            <a:chOff x="381000" y="4857750"/>
            <a:chExt cx="11430000" cy="438150"/>
          </a:xfrm>
        </p:grpSpPr>
        <p:sp>
          <p:nvSpPr>
            <p:cNvPr id="43" name="Rectangle 43"/>
            <p:cNvSpPr/>
            <p:nvPr/>
          </p:nvSpPr>
          <p:spPr>
            <a:xfrm>
              <a:off x="381000" y="4857750"/>
              <a:ext cx="11430000" cy="438150"/>
            </a:xfrm>
            <a:prstGeom prst="roundRect">
              <a:avLst>
                <a:gd name="adj" fmla="val 21739"/>
              </a:avLst>
            </a:prstGeom>
            <a:solidFill>
              <a:srgbClr val="0E3F8C"/>
            </a:solidFill>
            <a:ln>
              <a:noFill/>
            </a:ln>
          </p:spPr>
        </p:sp>
        <p:sp>
          <p:nvSpPr>
            <p:cNvPr id="44" name="TextBox 44"/>
            <p:cNvSpPr txBox="1"/>
            <p:nvPr/>
          </p:nvSpPr>
          <p:spPr>
            <a:xfrm>
              <a:off x="2518589" y="4997768"/>
              <a:ext cx="7154823" cy="264033"/>
            </a:xfrm>
            <a:prstGeom prst="rect">
              <a:avLst/>
            </a:prstGeom>
            <a:noFill/>
            <a:ln>
              <a:noFill/>
            </a:ln>
          </p:spPr>
          <p:txBody>
            <a:bodyPr wrap="none" lIns="0" tIns="0" rIns="0" bIns="0" anchor="t" anchorCtr="0">
              <a:spAutoFit/>
            </a:bodyPr>
            <a:lstStyle/>
            <a:p>
              <a:pPr algn="ctr"/>
              <a:r>
                <a:rPr lang="zh-CN" sz="1350" b="1" dirty="0">
                  <a:solidFill>
                    <a:srgbClr val="FFFFFF"/>
                  </a:solidFill>
                  <a:latin typeface="Arial"/>
                  <a:ea typeface="Microsoft YaHei"/>
                  <a:cs typeface="Arial"/>
                </a:rPr>
                <a:t>蒸发 Evaporation　＋　蒸腾 Transpiration　＝　蒸散 Evapotranspiration（ET）</a:t>
              </a:r>
            </a:p>
          </p:txBody>
        </p:sp>
      </p:grpSp>
      <p:grpSp>
        <p:nvGrpSpPr>
          <p:cNvPr id="49" name="Group 49"/>
          <p:cNvGrpSpPr/>
          <p:nvPr/>
        </p:nvGrpSpPr>
        <p:grpSpPr>
          <a:xfrm>
            <a:off x="381000" y="5448300"/>
            <a:ext cx="3733800" cy="609600"/>
            <a:chOff x="381000" y="5448300"/>
            <a:chExt cx="3733800" cy="609600"/>
          </a:xfrm>
        </p:grpSpPr>
        <p:sp>
          <p:nvSpPr>
            <p:cNvPr id="46" name="Rectangle 46"/>
            <p:cNvSpPr/>
            <p:nvPr/>
          </p:nvSpPr>
          <p:spPr>
            <a:xfrm>
              <a:off x="381000" y="5448300"/>
              <a:ext cx="3733800" cy="609600"/>
            </a:xfrm>
            <a:prstGeom prst="roundRect">
              <a:avLst>
                <a:gd name="adj" fmla="val 15625"/>
              </a:avLst>
            </a:prstGeom>
            <a:solidFill>
              <a:srgbClr val="F7F9FC"/>
            </a:solidFill>
            <a:ln w="9525">
              <a:solidFill>
                <a:srgbClr val="D6DCE5"/>
              </a:solidFill>
            </a:ln>
          </p:spPr>
        </p:sp>
        <p:sp>
          <p:nvSpPr>
            <p:cNvPr id="47" name="TextBox 47"/>
            <p:cNvSpPr txBox="1"/>
            <p:nvPr/>
          </p:nvSpPr>
          <p:spPr>
            <a:xfrm>
              <a:off x="566356" y="5577126"/>
              <a:ext cx="1708714" cy="198025"/>
            </a:xfrm>
            <a:prstGeom prst="rect">
              <a:avLst/>
            </a:prstGeom>
            <a:noFill/>
            <a:ln>
              <a:noFill/>
            </a:ln>
          </p:spPr>
          <p:txBody>
            <a:bodyPr wrap="none" lIns="0" tIns="0" rIns="0" bIns="0" anchor="t" anchorCtr="0">
              <a:spAutoFit/>
            </a:bodyPr>
            <a:lstStyle/>
            <a:p>
              <a:pPr algn="l"/>
              <a:r>
                <a:rPr lang="zh-CN" sz="1010" b="1" dirty="0">
                  <a:solidFill>
                    <a:srgbClr val="0E3F8C"/>
                  </a:solidFill>
                  <a:latin typeface="Arial"/>
                  <a:ea typeface="Microsoft YaHei"/>
                  <a:cs typeface="Arial"/>
                </a:rPr>
                <a:t>海洋 | Ocean evaporation</a:t>
              </a:r>
            </a:p>
          </p:txBody>
        </p:sp>
        <p:sp>
          <p:nvSpPr>
            <p:cNvPr id="48" name="TextBox 48"/>
            <p:cNvSpPr txBox="1"/>
            <p:nvPr/>
          </p:nvSpPr>
          <p:spPr>
            <a:xfrm>
              <a:off x="566738" y="5827395"/>
              <a:ext cx="1750543" cy="176212"/>
            </a:xfrm>
            <a:prstGeom prst="rect">
              <a:avLst/>
            </a:prstGeom>
            <a:noFill/>
            <a:ln>
              <a:noFill/>
            </a:ln>
          </p:spPr>
          <p:txBody>
            <a:bodyPr wrap="none" lIns="0" tIns="0" rIns="0" bIns="0" anchor="t" anchorCtr="0">
              <a:spAutoFit/>
            </a:bodyPr>
            <a:lstStyle/>
            <a:p>
              <a:pPr algn="l"/>
              <a:r>
                <a:rPr lang="zh-CN" sz="900" dirty="0">
                  <a:solidFill>
                    <a:srgbClr val="1A2230"/>
                  </a:solidFill>
                  <a:latin typeface="Arial"/>
                  <a:ea typeface="Microsoft YaHei"/>
                  <a:cs typeface="Arial"/>
                </a:rPr>
                <a:t>最大蒸发源：E 434 多于 P 398</a:t>
              </a:r>
            </a:p>
          </p:txBody>
        </p:sp>
      </p:grpSp>
      <p:grpSp>
        <p:nvGrpSpPr>
          <p:cNvPr id="53" name="Group 53"/>
          <p:cNvGrpSpPr/>
          <p:nvPr/>
        </p:nvGrpSpPr>
        <p:grpSpPr>
          <a:xfrm>
            <a:off x="4229100" y="5448300"/>
            <a:ext cx="3733800" cy="609600"/>
            <a:chOff x="4229100" y="5448300"/>
            <a:chExt cx="3733800" cy="609600"/>
          </a:xfrm>
        </p:grpSpPr>
        <p:sp>
          <p:nvSpPr>
            <p:cNvPr id="50" name="Rectangle 50"/>
            <p:cNvSpPr/>
            <p:nvPr/>
          </p:nvSpPr>
          <p:spPr>
            <a:xfrm>
              <a:off x="4229100" y="5448300"/>
              <a:ext cx="3733800" cy="609600"/>
            </a:xfrm>
            <a:prstGeom prst="roundRect">
              <a:avLst>
                <a:gd name="adj" fmla="val 15625"/>
              </a:avLst>
            </a:prstGeom>
            <a:solidFill>
              <a:srgbClr val="F7F9FC"/>
            </a:solidFill>
            <a:ln w="9525">
              <a:solidFill>
                <a:srgbClr val="D6DCE5"/>
              </a:solidFill>
            </a:ln>
          </p:spPr>
        </p:sp>
        <p:sp>
          <p:nvSpPr>
            <p:cNvPr id="51" name="TextBox 51"/>
            <p:cNvSpPr txBox="1"/>
            <p:nvPr/>
          </p:nvSpPr>
          <p:spPr>
            <a:xfrm>
              <a:off x="4414456" y="5577126"/>
              <a:ext cx="2109728" cy="198025"/>
            </a:xfrm>
            <a:prstGeom prst="rect">
              <a:avLst/>
            </a:prstGeom>
            <a:noFill/>
            <a:ln>
              <a:noFill/>
            </a:ln>
          </p:spPr>
          <p:txBody>
            <a:bodyPr wrap="none" lIns="0" tIns="0" rIns="0" bIns="0" anchor="t" anchorCtr="0">
              <a:spAutoFit/>
            </a:bodyPr>
            <a:lstStyle/>
            <a:p>
              <a:pPr algn="l"/>
              <a:r>
                <a:rPr lang="zh-CN" sz="1010" b="1" dirty="0">
                  <a:solidFill>
                    <a:srgbClr val="0E3F8C"/>
                  </a:solidFill>
                  <a:latin typeface="Arial"/>
                  <a:ea typeface="Microsoft YaHei"/>
                  <a:cs typeface="Arial"/>
                </a:rPr>
                <a:t>陆地表面 | Surface evaporation</a:t>
              </a:r>
            </a:p>
          </p:txBody>
        </p:sp>
        <p:sp>
          <p:nvSpPr>
            <p:cNvPr id="52" name="TextBox 52"/>
            <p:cNvSpPr txBox="1"/>
            <p:nvPr/>
          </p:nvSpPr>
          <p:spPr>
            <a:xfrm>
              <a:off x="4414838" y="5827395"/>
              <a:ext cx="1342263" cy="176212"/>
            </a:xfrm>
            <a:prstGeom prst="rect">
              <a:avLst/>
            </a:prstGeom>
            <a:noFill/>
            <a:ln>
              <a:noFill/>
            </a:ln>
          </p:spPr>
          <p:txBody>
            <a:bodyPr wrap="none" lIns="0" tIns="0" rIns="0" bIns="0" anchor="t" anchorCtr="0">
              <a:spAutoFit/>
            </a:bodyPr>
            <a:lstStyle/>
            <a:p>
              <a:pPr algn="l"/>
              <a:r>
                <a:rPr lang="zh-CN" sz="900" dirty="0">
                  <a:solidFill>
                    <a:srgbClr val="1A2230"/>
                  </a:solidFill>
                  <a:latin typeface="Arial"/>
                  <a:ea typeface="Microsoft YaHei"/>
                  <a:cs typeface="Arial"/>
                </a:rPr>
                <a:t>土壤与地表水体直接蒸发</a:t>
              </a:r>
            </a:p>
          </p:txBody>
        </p:sp>
      </p:grpSp>
      <p:grpSp>
        <p:nvGrpSpPr>
          <p:cNvPr id="57" name="Group 57"/>
          <p:cNvGrpSpPr/>
          <p:nvPr/>
        </p:nvGrpSpPr>
        <p:grpSpPr>
          <a:xfrm>
            <a:off x="8077200" y="5448300"/>
            <a:ext cx="3733800" cy="609600"/>
            <a:chOff x="8077200" y="5448300"/>
            <a:chExt cx="3733800" cy="609600"/>
          </a:xfrm>
        </p:grpSpPr>
        <p:sp>
          <p:nvSpPr>
            <p:cNvPr id="54" name="Rectangle 54"/>
            <p:cNvSpPr/>
            <p:nvPr/>
          </p:nvSpPr>
          <p:spPr>
            <a:xfrm>
              <a:off x="8077200" y="5448300"/>
              <a:ext cx="3733800" cy="609600"/>
            </a:xfrm>
            <a:prstGeom prst="roundRect">
              <a:avLst>
                <a:gd name="adj" fmla="val 15625"/>
              </a:avLst>
            </a:prstGeom>
            <a:solidFill>
              <a:srgbClr val="F7F9FC"/>
            </a:solidFill>
            <a:ln w="9525">
              <a:solidFill>
                <a:srgbClr val="D6DCE5"/>
              </a:solidFill>
            </a:ln>
          </p:spPr>
        </p:sp>
        <p:sp>
          <p:nvSpPr>
            <p:cNvPr id="55" name="TextBox 55"/>
            <p:cNvSpPr txBox="1"/>
            <p:nvPr/>
          </p:nvSpPr>
          <p:spPr>
            <a:xfrm>
              <a:off x="8262556" y="5577126"/>
              <a:ext cx="1365969" cy="198025"/>
            </a:xfrm>
            <a:prstGeom prst="rect">
              <a:avLst/>
            </a:prstGeom>
            <a:noFill/>
            <a:ln>
              <a:noFill/>
            </a:ln>
          </p:spPr>
          <p:txBody>
            <a:bodyPr wrap="none" lIns="0" tIns="0" rIns="0" bIns="0" anchor="t" anchorCtr="0">
              <a:spAutoFit/>
            </a:bodyPr>
            <a:lstStyle/>
            <a:p>
              <a:pPr algn="l"/>
              <a:r>
                <a:rPr lang="zh-CN" sz="1010" b="1" dirty="0">
                  <a:solidFill>
                    <a:srgbClr val="0E3F8C"/>
                  </a:solidFill>
                  <a:latin typeface="Arial"/>
                  <a:ea typeface="Microsoft YaHei"/>
                  <a:cs typeface="Arial"/>
                </a:rPr>
                <a:t>植被 | Transpiration</a:t>
              </a:r>
            </a:p>
          </p:txBody>
        </p:sp>
        <p:sp>
          <p:nvSpPr>
            <p:cNvPr id="56" name="TextBox 56"/>
            <p:cNvSpPr txBox="1"/>
            <p:nvPr/>
          </p:nvSpPr>
          <p:spPr>
            <a:xfrm>
              <a:off x="8262938" y="5827395"/>
              <a:ext cx="2190369" cy="176212"/>
            </a:xfrm>
            <a:prstGeom prst="rect">
              <a:avLst/>
            </a:prstGeom>
            <a:noFill/>
            <a:ln>
              <a:noFill/>
            </a:ln>
          </p:spPr>
          <p:txBody>
            <a:bodyPr wrap="none" lIns="0" tIns="0" rIns="0" bIns="0" anchor="t" anchorCtr="0">
              <a:spAutoFit/>
            </a:bodyPr>
            <a:lstStyle/>
            <a:p>
              <a:pPr algn="l"/>
              <a:r>
                <a:rPr lang="zh-CN" sz="900" dirty="0">
                  <a:solidFill>
                    <a:srgbClr val="1A2230"/>
                  </a:solidFill>
                  <a:latin typeface="Arial"/>
                  <a:ea typeface="Microsoft YaHei"/>
                  <a:cs typeface="Arial"/>
                </a:rPr>
                <a:t>根系吸水、叶片释水汽，与光合作用耦合</a:t>
              </a:r>
            </a:p>
          </p:txBody>
        </p:sp>
      </p:grpSp>
      <p:grpSp>
        <p:nvGrpSpPr>
          <p:cNvPr id="59" name="Group 59"/>
          <p:cNvGrpSpPr/>
          <p:nvPr/>
        </p:nvGrpSpPr>
        <p:grpSpPr>
          <a:xfrm>
            <a:off x="566738" y="6256020"/>
            <a:ext cx="8107680" cy="176212"/>
            <a:chOff x="566738" y="6256020"/>
            <a:chExt cx="8107680" cy="176212"/>
          </a:xfrm>
        </p:grpSpPr>
        <p:sp>
          <p:nvSpPr>
            <p:cNvPr id="58" name="TextBox 58"/>
            <p:cNvSpPr txBox="1"/>
            <p:nvPr/>
          </p:nvSpPr>
          <p:spPr>
            <a:xfrm>
              <a:off x="566738" y="6256020"/>
              <a:ext cx="8107680" cy="176212"/>
            </a:xfrm>
            <a:prstGeom prst="rect">
              <a:avLst/>
            </a:prstGeom>
            <a:noFill/>
            <a:ln>
              <a:noFill/>
            </a:ln>
          </p:spPr>
          <p:txBody>
            <a:bodyPr wrap="none" lIns="0" tIns="0" rIns="0" bIns="0" anchor="t" anchorCtr="0">
              <a:spAutoFit/>
            </a:bodyPr>
            <a:lstStyle/>
            <a:p>
              <a:pPr algn="l"/>
              <a:r>
                <a:rPr lang="zh-CN" sz="900" dirty="0">
                  <a:solidFill>
                    <a:srgbClr val="4A5568"/>
                  </a:solidFill>
                  <a:latin typeface="Arial"/>
                  <a:ea typeface="Microsoft YaHei"/>
                  <a:cs typeface="Arial"/>
                </a:rPr>
                <a:t>中文教材估计（Ch.4 §4.3.5）：陆地约 80%–90% 来水经蒸散返回大气；大树日蒸腾 200–1000 L、年吸水约 150 t；约一半陆地太阳能用于蒸腾。</a:t>
              </a:r>
            </a:p>
          </p:txBody>
        </p:sp>
      </p:grpSp>
      <p:sp>
        <p:nvSpPr>
          <p:cNvPr id="60" name="TextBox 60"/>
          <p:cNvSpPr txBox="1"/>
          <p:nvPr/>
        </p:nvSpPr>
        <p:spPr>
          <a:xfrm>
            <a:off x="376238" y="6532245"/>
            <a:ext cx="7096868" cy="176212"/>
          </a:xfrm>
          <a:prstGeom prst="rect">
            <a:avLst/>
          </a:prstGeom>
          <a:noFill/>
          <a:ln>
            <a:noFill/>
          </a:ln>
        </p:spPr>
        <p:txBody>
          <a:bodyPr wrap="none" lIns="0" tIns="0" rIns="0" bIns="0" anchor="t" anchorCtr="0">
            <a:spAutoFit/>
          </a:bodyPr>
          <a:lstStyle/>
          <a:p>
            <a:pPr algn="l"/>
            <a:r>
              <a:rPr lang="en-US" sz="900" dirty="0">
                <a:solidFill>
                  <a:srgbClr val="4A5568"/>
                </a:solidFill>
                <a:latin typeface="Arial"/>
                <a:ea typeface="Arial"/>
                <a:cs typeface="Arial"/>
              </a:rPr>
              <a:t>Redrawn from approved sources: CN Ch.4 §4.3.5 (PDF pp.73–74); UE 8e, pp.1653–1654, 1168. Native process diagram.</a:t>
            </a:r>
          </a:p>
        </p:txBody>
      </p:sp>
      <p:sp>
        <p:nvSpPr>
          <p:cNvPr id="61" name="TextBox 61"/>
          <p:cNvSpPr txBox="1"/>
          <p:nvPr/>
        </p:nvSpPr>
        <p:spPr>
          <a:xfrm>
            <a:off x="11672964" y="6532245"/>
            <a:ext cx="142799" cy="176212"/>
          </a:xfrm>
          <a:prstGeom prst="rect">
            <a:avLst/>
          </a:prstGeom>
          <a:noFill/>
          <a:ln>
            <a:noFill/>
          </a:ln>
        </p:spPr>
        <p:txBody>
          <a:bodyPr wrap="none" lIns="0" tIns="0" rIns="0" bIns="0" anchor="t" anchorCtr="0">
            <a:spAutoFit/>
          </a:bodyPr>
          <a:lstStyle/>
          <a:p>
            <a:pPr algn="r"/>
            <a:r>
              <a:rPr lang="en-US" sz="900" dirty="0">
                <a:solidFill>
                  <a:srgbClr val="4A5568"/>
                </a:solidFill>
                <a:latin typeface="Arial"/>
                <a:ea typeface="Arial"/>
                <a:cs typeface="Arial"/>
              </a:rPr>
              <a:t>12</a:t>
            </a:r>
          </a:p>
        </p:txBody>
      </p:sp>
    </p:spTree>
    <p:extLst>
      <p:ext uri="{BB962C8B-B14F-4D97-AF65-F5344CB8AC3E}">
        <p14:creationId xmlns:p14="http://schemas.microsoft.com/office/powerpoint/2010/main" val="1715004641"/>
      </p:ext>
    </p:extLst>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5"/>
          <p:cNvGrpSpPr/>
          <p:nvPr/>
        </p:nvGrpSpPr>
        <p:grpSpPr>
          <a:xfrm>
            <a:off x="0" y="0"/>
            <a:ext cx="12192000" cy="685800"/>
            <a:chOff x="0" y="0"/>
            <a:chExt cx="12192000" cy="685800"/>
          </a:xfrm>
        </p:grpSpPr>
        <p:sp>
          <p:nvSpPr>
            <p:cNvPr id="2" name="Rectangle 2"/>
            <p:cNvSpPr/>
            <p:nvPr/>
          </p:nvSpPr>
          <p:spPr>
            <a:xfrm>
              <a:off x="0" y="0"/>
              <a:ext cx="12192000" cy="685800"/>
            </a:xfrm>
            <a:prstGeom prst="rect">
              <a:avLst/>
            </a:prstGeom>
            <a:solidFill>
              <a:srgbClr val="0E3F8C"/>
            </a:solidFill>
            <a:ln>
              <a:noFill/>
            </a:ln>
          </p:spPr>
        </p:sp>
        <p:sp>
          <p:nvSpPr>
            <p:cNvPr id="3" name="TextBox 3"/>
            <p:cNvSpPr txBox="1"/>
            <p:nvPr/>
          </p:nvSpPr>
          <p:spPr>
            <a:xfrm>
              <a:off x="374142" y="282892"/>
              <a:ext cx="7164791" cy="264033"/>
            </a:xfrm>
            <a:prstGeom prst="rect">
              <a:avLst/>
            </a:prstGeom>
            <a:noFill/>
            <a:ln>
              <a:noFill/>
            </a:ln>
          </p:spPr>
          <p:txBody>
            <a:bodyPr wrap="none" lIns="0" tIns="0" rIns="0" bIns="0" anchor="t" anchorCtr="0">
              <a:spAutoFit/>
            </a:bodyPr>
            <a:lstStyle/>
            <a:p>
              <a:pPr algn="l"/>
              <a:r>
                <a:rPr lang="zh-CN" sz="1350" b="1" dirty="0">
                  <a:solidFill>
                    <a:srgbClr val="FFFFFF"/>
                  </a:solidFill>
                  <a:latin typeface="Arial"/>
                  <a:ea typeface="Microsoft YaHei"/>
                  <a:cs typeface="Arial"/>
                </a:rPr>
                <a:t>1.10 水汽输送、凝结与降水 | Moisture Transport, Condensation &amp; Precipitation</a:t>
              </a:r>
            </a:p>
          </p:txBody>
        </p:sp>
        <p:sp>
          <p:nvSpPr>
            <p:cNvPr id="4" name="TextBox 4"/>
            <p:cNvSpPr txBox="1"/>
            <p:nvPr/>
          </p:nvSpPr>
          <p:spPr>
            <a:xfrm>
              <a:off x="10780776" y="299085"/>
              <a:ext cx="1036320" cy="234696"/>
            </a:xfrm>
            <a:prstGeom prst="rect">
              <a:avLst/>
            </a:prstGeom>
            <a:noFill/>
            <a:ln>
              <a:noFill/>
            </a:ln>
          </p:spPr>
          <p:txBody>
            <a:bodyPr wrap="none" lIns="0" tIns="0" rIns="0" bIns="0" anchor="t" anchorCtr="0">
              <a:spAutoFit/>
            </a:bodyPr>
            <a:lstStyle/>
            <a:p>
              <a:pPr algn="r"/>
              <a:r>
                <a:rPr lang="en-US" sz="1200" dirty="0">
                  <a:solidFill>
                    <a:srgbClr val="C7D7F2"/>
                  </a:solidFill>
                  <a:latin typeface="Arial"/>
                  <a:ea typeface="Arial"/>
                  <a:cs typeface="Arial"/>
                </a:rPr>
                <a:t>WATER CYCLE</a:t>
              </a:r>
            </a:p>
          </p:txBody>
        </p:sp>
      </p:grpSp>
      <p:grpSp>
        <p:nvGrpSpPr>
          <p:cNvPr id="8" name="Group 8"/>
          <p:cNvGrpSpPr/>
          <p:nvPr/>
        </p:nvGrpSpPr>
        <p:grpSpPr>
          <a:xfrm>
            <a:off x="381000" y="914400"/>
            <a:ext cx="6928941" cy="357093"/>
            <a:chOff x="381000" y="914400"/>
            <a:chExt cx="6928941" cy="357093"/>
          </a:xfrm>
        </p:grpSpPr>
        <p:sp>
          <p:nvSpPr>
            <p:cNvPr id="6" name="Rectangle 6"/>
            <p:cNvSpPr/>
            <p:nvPr/>
          </p:nvSpPr>
          <p:spPr>
            <a:xfrm>
              <a:off x="381000" y="914400"/>
              <a:ext cx="57150" cy="266700"/>
            </a:xfrm>
            <a:prstGeom prst="roundRect">
              <a:avLst>
                <a:gd name="adj" fmla="val 50000"/>
              </a:avLst>
            </a:prstGeom>
            <a:solidFill>
              <a:srgbClr val="1E4FA8"/>
            </a:solidFill>
            <a:ln>
              <a:noFill/>
            </a:ln>
          </p:spPr>
        </p:sp>
        <p:sp>
          <p:nvSpPr>
            <p:cNvPr id="7" name="TextBox 7"/>
            <p:cNvSpPr txBox="1"/>
            <p:nvPr/>
          </p:nvSpPr>
          <p:spPr>
            <a:xfrm>
              <a:off x="544449" y="963454"/>
              <a:ext cx="6765492" cy="308039"/>
            </a:xfrm>
            <a:prstGeom prst="rect">
              <a:avLst/>
            </a:prstGeom>
            <a:noFill/>
            <a:ln>
              <a:noFill/>
            </a:ln>
          </p:spPr>
          <p:txBody>
            <a:bodyPr wrap="none" lIns="0" tIns="0" rIns="0" bIns="0" anchor="t" anchorCtr="0">
              <a:spAutoFit/>
            </a:bodyPr>
            <a:lstStyle/>
            <a:p>
              <a:pPr algn="l"/>
              <a:r>
                <a:rPr lang="zh-CN" sz="1580" b="1" dirty="0">
                  <a:solidFill>
                    <a:srgbClr val="0E3F8C"/>
                  </a:solidFill>
                  <a:latin typeface="Arial"/>
                  <a:ea typeface="Microsoft YaHei"/>
                  <a:cs typeface="Arial"/>
                </a:rPr>
                <a:t>大气是储量极小、周转极快的储库：蒸发—输送—凝结—降水构成快速回路</a:t>
              </a:r>
            </a:p>
          </p:txBody>
        </p:sp>
      </p:grpSp>
      <p:grpSp>
        <p:nvGrpSpPr>
          <p:cNvPr id="84" name="Group 84"/>
          <p:cNvGrpSpPr/>
          <p:nvPr/>
        </p:nvGrpSpPr>
        <p:grpSpPr>
          <a:xfrm>
            <a:off x="381000" y="1428750"/>
            <a:ext cx="11430000" cy="4781550"/>
            <a:chOff x="381000" y="1428750"/>
            <a:chExt cx="11430000" cy="4781550"/>
          </a:xfrm>
        </p:grpSpPr>
        <p:sp>
          <p:nvSpPr>
            <p:cNvPr id="9" name="Rectangle 9"/>
            <p:cNvSpPr/>
            <p:nvPr/>
          </p:nvSpPr>
          <p:spPr>
            <a:xfrm>
              <a:off x="381000" y="1428750"/>
              <a:ext cx="11430000" cy="4781550"/>
            </a:xfrm>
            <a:prstGeom prst="roundRect">
              <a:avLst>
                <a:gd name="adj" fmla="val 2390"/>
              </a:avLst>
            </a:prstGeom>
            <a:solidFill>
              <a:srgbClr val="F7F9FC"/>
            </a:solidFill>
            <a:ln w="9525">
              <a:solidFill>
                <a:srgbClr val="D6DCE5"/>
              </a:solidFill>
            </a:ln>
          </p:spPr>
        </p:sp>
        <p:grpSp>
          <p:nvGrpSpPr>
            <p:cNvPr id="19" name="Group 19"/>
            <p:cNvGrpSpPr/>
            <p:nvPr/>
          </p:nvGrpSpPr>
          <p:grpSpPr>
            <a:xfrm>
              <a:off x="571500" y="1581150"/>
              <a:ext cx="11029950" cy="742950"/>
              <a:chOff x="571500" y="1581150"/>
              <a:chExt cx="11029950" cy="742950"/>
            </a:xfrm>
          </p:grpSpPr>
          <p:sp>
            <p:nvSpPr>
              <p:cNvPr id="10" name="Rectangle 10"/>
              <p:cNvSpPr/>
              <p:nvPr/>
            </p:nvSpPr>
            <p:spPr>
              <a:xfrm>
                <a:off x="571500" y="1581150"/>
                <a:ext cx="3600450" cy="742950"/>
              </a:xfrm>
              <a:prstGeom prst="roundRect">
                <a:avLst>
                  <a:gd name="adj" fmla="val 12821"/>
                </a:avLst>
              </a:prstGeom>
              <a:solidFill>
                <a:srgbClr val="F0F5FC"/>
              </a:solidFill>
              <a:ln>
                <a:noFill/>
              </a:ln>
            </p:spPr>
          </p:sp>
          <p:sp>
            <p:nvSpPr>
              <p:cNvPr id="11" name="TextBox 11"/>
              <p:cNvSpPr txBox="1"/>
              <p:nvPr/>
            </p:nvSpPr>
            <p:spPr>
              <a:xfrm>
                <a:off x="753618" y="1745932"/>
                <a:ext cx="1287863" cy="322707"/>
              </a:xfrm>
              <a:prstGeom prst="rect">
                <a:avLst/>
              </a:prstGeom>
              <a:noFill/>
              <a:ln>
                <a:noFill/>
              </a:ln>
            </p:spPr>
            <p:txBody>
              <a:bodyPr wrap="none" lIns="0" tIns="0" rIns="0" bIns="0" anchor="t" anchorCtr="0">
                <a:spAutoFit/>
              </a:bodyPr>
              <a:lstStyle/>
              <a:p>
                <a:pPr algn="l"/>
                <a:r>
                  <a:rPr lang="en-US" sz="1650" b="1" dirty="0">
                    <a:solidFill>
                      <a:srgbClr val="0E3F8C"/>
                    </a:solidFill>
                    <a:latin typeface="Arial"/>
                    <a:ea typeface="Arial"/>
                    <a:cs typeface="Arial"/>
                  </a:rPr>
                  <a:t>12,900 km³</a:t>
                </a:r>
              </a:p>
            </p:txBody>
          </p:sp>
          <p:sp>
            <p:nvSpPr>
              <p:cNvPr id="12" name="TextBox 12"/>
              <p:cNvSpPr txBox="1"/>
              <p:nvPr/>
            </p:nvSpPr>
            <p:spPr>
              <a:xfrm>
                <a:off x="757238" y="2080022"/>
                <a:ext cx="2413838" cy="183356"/>
              </a:xfrm>
              <a:prstGeom prst="rect">
                <a:avLst/>
              </a:prstGeom>
              <a:noFill/>
              <a:ln>
                <a:noFill/>
              </a:ln>
            </p:spPr>
            <p:txBody>
              <a:bodyPr wrap="none" lIns="0" tIns="0" rIns="0" bIns="0" anchor="t" anchorCtr="0">
                <a:spAutoFit/>
              </a:bodyPr>
              <a:lstStyle/>
              <a:p>
                <a:pPr algn="l"/>
                <a:r>
                  <a:rPr lang="zh-CN" sz="940" dirty="0">
                    <a:solidFill>
                      <a:srgbClr val="4A5568"/>
                    </a:solidFill>
                    <a:latin typeface="Arial"/>
                    <a:ea typeface="Microsoft YaHei"/>
                    <a:cs typeface="Arial"/>
                  </a:rPr>
                  <a:t>大气水储量（约为海洋储量的十万分之一）</a:t>
                </a:r>
              </a:p>
            </p:txBody>
          </p:sp>
          <p:sp>
            <p:nvSpPr>
              <p:cNvPr id="13" name="Rectangle 13"/>
              <p:cNvSpPr/>
              <p:nvPr/>
            </p:nvSpPr>
            <p:spPr>
              <a:xfrm>
                <a:off x="4286250" y="1581150"/>
                <a:ext cx="3600450" cy="742950"/>
              </a:xfrm>
              <a:prstGeom prst="roundRect">
                <a:avLst>
                  <a:gd name="adj" fmla="val 12821"/>
                </a:avLst>
              </a:prstGeom>
              <a:solidFill>
                <a:srgbClr val="F0F5FC"/>
              </a:solidFill>
              <a:ln>
                <a:noFill/>
              </a:ln>
            </p:spPr>
          </p:sp>
          <p:sp>
            <p:nvSpPr>
              <p:cNvPr id="14" name="TextBox 14"/>
              <p:cNvSpPr txBox="1"/>
              <p:nvPr/>
            </p:nvSpPr>
            <p:spPr>
              <a:xfrm>
                <a:off x="4468368" y="1745932"/>
                <a:ext cx="729224" cy="322707"/>
              </a:xfrm>
              <a:prstGeom prst="rect">
                <a:avLst/>
              </a:prstGeom>
              <a:noFill/>
              <a:ln>
                <a:noFill/>
              </a:ln>
            </p:spPr>
            <p:txBody>
              <a:bodyPr wrap="none" lIns="0" tIns="0" rIns="0" bIns="0" anchor="t" anchorCtr="0">
                <a:spAutoFit/>
              </a:bodyPr>
              <a:lstStyle/>
              <a:p>
                <a:pPr algn="l"/>
                <a:r>
                  <a:rPr lang="zh-CN" sz="1650" b="1" dirty="0">
                    <a:solidFill>
                      <a:srgbClr val="0E3F8C"/>
                    </a:solidFill>
                    <a:latin typeface="Arial"/>
                    <a:ea typeface="Microsoft YaHei"/>
                    <a:cs typeface="Arial"/>
                  </a:rPr>
                  <a:t>仅 9 天</a:t>
                </a:r>
              </a:p>
            </p:txBody>
          </p:sp>
          <p:sp>
            <p:nvSpPr>
              <p:cNvPr id="15" name="TextBox 15"/>
              <p:cNvSpPr txBox="1"/>
              <p:nvPr/>
            </p:nvSpPr>
            <p:spPr>
              <a:xfrm>
                <a:off x="4471988" y="2080022"/>
                <a:ext cx="2329317" cy="183356"/>
              </a:xfrm>
              <a:prstGeom prst="rect">
                <a:avLst/>
              </a:prstGeom>
              <a:noFill/>
              <a:ln>
                <a:noFill/>
              </a:ln>
            </p:spPr>
            <p:txBody>
              <a:bodyPr wrap="none" lIns="0" tIns="0" rIns="0" bIns="0" anchor="t" anchorCtr="0">
                <a:spAutoFit/>
              </a:bodyPr>
              <a:lstStyle/>
              <a:p>
                <a:pPr algn="l"/>
                <a:r>
                  <a:rPr lang="zh-CN" sz="940" dirty="0">
                    <a:solidFill>
                      <a:srgbClr val="4A5568"/>
                    </a:solidFill>
                    <a:latin typeface="Arial"/>
                    <a:ea typeface="Microsoft YaHei"/>
                    <a:cs typeface="Arial"/>
                  </a:rPr>
                  <a:t>平均滞留时间，交换极快（CN 表 3-1）</a:t>
                </a:r>
              </a:p>
            </p:txBody>
          </p:sp>
          <p:sp>
            <p:nvSpPr>
              <p:cNvPr id="16" name="Rectangle 16"/>
              <p:cNvSpPr/>
              <p:nvPr/>
            </p:nvSpPr>
            <p:spPr>
              <a:xfrm>
                <a:off x="8001000" y="1581150"/>
                <a:ext cx="3600450" cy="742950"/>
              </a:xfrm>
              <a:prstGeom prst="roundRect">
                <a:avLst>
                  <a:gd name="adj" fmla="val 12821"/>
                </a:avLst>
              </a:prstGeom>
              <a:solidFill>
                <a:srgbClr val="F0F5FC"/>
              </a:solidFill>
              <a:ln>
                <a:noFill/>
              </a:ln>
            </p:spPr>
          </p:sp>
          <p:sp>
            <p:nvSpPr>
              <p:cNvPr id="17" name="TextBox 17"/>
              <p:cNvSpPr txBox="1"/>
              <p:nvPr/>
            </p:nvSpPr>
            <p:spPr>
              <a:xfrm>
                <a:off x="8183118" y="1745932"/>
                <a:ext cx="973004" cy="322707"/>
              </a:xfrm>
              <a:prstGeom prst="rect">
                <a:avLst/>
              </a:prstGeom>
              <a:noFill/>
              <a:ln>
                <a:noFill/>
              </a:ln>
            </p:spPr>
            <p:txBody>
              <a:bodyPr wrap="none" lIns="0" tIns="0" rIns="0" bIns="0" anchor="t" anchorCtr="0">
                <a:spAutoFit/>
              </a:bodyPr>
              <a:lstStyle/>
              <a:p>
                <a:pPr algn="l"/>
                <a:r>
                  <a:rPr lang="en-US" sz="1650" b="1" dirty="0">
                    <a:solidFill>
                      <a:srgbClr val="0E3F8C"/>
                    </a:solidFill>
                    <a:latin typeface="Arial"/>
                    <a:ea typeface="Arial"/>
                    <a:cs typeface="Arial"/>
                  </a:rPr>
                  <a:t>≈ 2.5 cm</a:t>
                </a:r>
              </a:p>
            </p:txBody>
          </p:sp>
          <p:sp>
            <p:nvSpPr>
              <p:cNvPr id="18" name="TextBox 18"/>
              <p:cNvSpPr txBox="1"/>
              <p:nvPr/>
            </p:nvSpPr>
            <p:spPr>
              <a:xfrm>
                <a:off x="8186738" y="2080022"/>
                <a:ext cx="2160753" cy="183356"/>
              </a:xfrm>
              <a:prstGeom prst="rect">
                <a:avLst/>
              </a:prstGeom>
              <a:noFill/>
              <a:ln>
                <a:noFill/>
              </a:ln>
            </p:spPr>
            <p:txBody>
              <a:bodyPr wrap="none" lIns="0" tIns="0" rIns="0" bIns="0" anchor="t" anchorCtr="0">
                <a:spAutoFit/>
              </a:bodyPr>
              <a:lstStyle/>
              <a:p>
                <a:pPr algn="l"/>
                <a:r>
                  <a:rPr lang="zh-CN" sz="940" dirty="0">
                    <a:solidFill>
                      <a:srgbClr val="4A5568"/>
                    </a:solidFill>
                    <a:latin typeface="Arial"/>
                    <a:ea typeface="Microsoft YaHei"/>
                    <a:cs typeface="Arial"/>
                  </a:rPr>
                  <a:t>若水汽一次性全部降下的等效水层厚度</a:t>
                </a:r>
              </a:p>
            </p:txBody>
          </p:sp>
        </p:grpSp>
        <p:grpSp>
          <p:nvGrpSpPr>
            <p:cNvPr id="33" name="Group 33"/>
            <p:cNvGrpSpPr/>
            <p:nvPr/>
          </p:nvGrpSpPr>
          <p:grpSpPr>
            <a:xfrm>
              <a:off x="571500" y="2552700"/>
              <a:ext cx="2457450" cy="2743200"/>
              <a:chOff x="571500" y="2552700"/>
              <a:chExt cx="2457450" cy="2743200"/>
            </a:xfrm>
          </p:grpSpPr>
          <p:sp>
            <p:nvSpPr>
              <p:cNvPr id="20" name="Rectangle 20"/>
              <p:cNvSpPr/>
              <p:nvPr/>
            </p:nvSpPr>
            <p:spPr>
              <a:xfrm>
                <a:off x="571500" y="2552700"/>
                <a:ext cx="2457450" cy="2743200"/>
              </a:xfrm>
              <a:prstGeom prst="roundRect">
                <a:avLst>
                  <a:gd name="adj" fmla="val 4651"/>
                </a:avLst>
              </a:prstGeom>
              <a:solidFill>
                <a:srgbClr val="FFFFFF"/>
              </a:solidFill>
              <a:ln w="14288">
                <a:solidFill>
                  <a:srgbClr val="D6DCE5"/>
                </a:solidFill>
              </a:ln>
            </p:spPr>
          </p:sp>
          <p:sp>
            <p:nvSpPr>
              <p:cNvPr id="21" name="Ellipse 21"/>
              <p:cNvSpPr/>
              <p:nvPr/>
            </p:nvSpPr>
            <p:spPr>
              <a:xfrm>
                <a:off x="704850" y="2705100"/>
                <a:ext cx="304800" cy="304800"/>
              </a:xfrm>
              <a:prstGeom prst="ellipse">
                <a:avLst/>
              </a:prstGeom>
              <a:solidFill>
                <a:srgbClr val="1E4FA8"/>
              </a:solidFill>
              <a:ln>
                <a:noFill/>
              </a:ln>
            </p:spPr>
          </p:sp>
          <p:sp>
            <p:nvSpPr>
              <p:cNvPr id="22" name="TextBox 22"/>
              <p:cNvSpPr txBox="1"/>
              <p:nvPr/>
            </p:nvSpPr>
            <p:spPr>
              <a:xfrm>
                <a:off x="811101" y="2801302"/>
                <a:ext cx="92298" cy="205359"/>
              </a:xfrm>
              <a:prstGeom prst="rect">
                <a:avLst/>
              </a:prstGeom>
              <a:noFill/>
              <a:ln>
                <a:noFill/>
              </a:ln>
            </p:spPr>
            <p:txBody>
              <a:bodyPr wrap="none" lIns="0" tIns="0" rIns="0" bIns="0" anchor="t" anchorCtr="0">
                <a:spAutoFit/>
              </a:bodyPr>
              <a:lstStyle/>
              <a:p>
                <a:pPr algn="ctr"/>
                <a:r>
                  <a:rPr lang="en-US" sz="1050" b="1" dirty="0">
                    <a:solidFill>
                      <a:srgbClr val="FFFFFF"/>
                    </a:solidFill>
                    <a:latin typeface="Arial"/>
                    <a:ea typeface="Arial"/>
                    <a:cs typeface="Arial"/>
                  </a:rPr>
                  <a:t>1</a:t>
                </a:r>
              </a:p>
            </p:txBody>
          </p:sp>
          <p:sp>
            <p:nvSpPr>
              <p:cNvPr id="23" name="TextBox 23"/>
              <p:cNvSpPr txBox="1"/>
              <p:nvPr/>
            </p:nvSpPr>
            <p:spPr>
              <a:xfrm>
                <a:off x="1099185" y="2793206"/>
                <a:ext cx="312979" cy="220028"/>
              </a:xfrm>
              <a:prstGeom prst="rect">
                <a:avLst/>
              </a:prstGeom>
              <a:noFill/>
              <a:ln>
                <a:noFill/>
              </a:ln>
            </p:spPr>
            <p:txBody>
              <a:bodyPr wrap="none" lIns="0" tIns="0" rIns="0" bIns="0" anchor="t" anchorCtr="0">
                <a:spAutoFit/>
              </a:bodyPr>
              <a:lstStyle/>
              <a:p>
                <a:pPr algn="l"/>
                <a:r>
                  <a:rPr lang="zh-CN" sz="1120" b="1" dirty="0">
                    <a:solidFill>
                      <a:srgbClr val="0E3F8C"/>
                    </a:solidFill>
                    <a:latin typeface="Arial"/>
                    <a:ea typeface="Microsoft YaHei"/>
                    <a:cs typeface="Arial"/>
                  </a:rPr>
                  <a:t>蒸发</a:t>
                </a:r>
              </a:p>
            </p:txBody>
          </p:sp>
          <p:sp>
            <p:nvSpPr>
              <p:cNvPr id="24" name="TextBox 24"/>
              <p:cNvSpPr txBox="1"/>
              <p:nvPr/>
            </p:nvSpPr>
            <p:spPr>
              <a:xfrm>
                <a:off x="757238" y="3103245"/>
                <a:ext cx="715857" cy="176212"/>
              </a:xfrm>
              <a:prstGeom prst="rect">
                <a:avLst/>
              </a:prstGeom>
              <a:noFill/>
              <a:ln>
                <a:noFill/>
              </a:ln>
            </p:spPr>
            <p:txBody>
              <a:bodyPr wrap="none" lIns="0" tIns="0" rIns="0" bIns="0" anchor="t" anchorCtr="0">
                <a:spAutoFit/>
              </a:bodyPr>
              <a:lstStyle/>
              <a:p>
                <a:pPr algn="l"/>
                <a:r>
                  <a:rPr lang="en-US" sz="900" dirty="0">
                    <a:solidFill>
                      <a:srgbClr val="3D7BD9"/>
                    </a:solidFill>
                    <a:latin typeface="Arial"/>
                    <a:ea typeface="Arial"/>
                    <a:cs typeface="Arial"/>
                  </a:rPr>
                  <a:t>Evaporation</a:t>
                </a:r>
              </a:p>
            </p:txBody>
          </p:sp>
          <p:sp>
            <p:nvSpPr>
              <p:cNvPr id="25" name="Line 25"/>
              <p:cNvSpPr/>
              <p:nvPr/>
            </p:nvSpPr>
            <p:spPr>
              <a:xfrm>
                <a:off x="762000" y="3314700"/>
                <a:ext cx="2076450" cy="9525"/>
              </a:xfrm>
              <a:custGeom>
                <a:avLst/>
                <a:gdLst/>
                <a:ahLst/>
                <a:cxnLst/>
                <a:rect l="l" t="t" r="r" b="b"/>
                <a:pathLst>
                  <a:path w="2076450" h="9525">
                    <a:moveTo>
                      <a:pt x="0" y="0"/>
                    </a:moveTo>
                    <a:lnTo>
                      <a:pt x="2076450" y="0"/>
                    </a:lnTo>
                  </a:path>
                </a:pathLst>
              </a:custGeom>
              <a:noFill/>
              <a:ln w="9525">
                <a:solidFill>
                  <a:srgbClr val="D6DCE5"/>
                </a:solidFill>
              </a:ln>
            </p:spPr>
          </p:sp>
          <p:sp>
            <p:nvSpPr>
              <p:cNvPr id="26" name="TextBox 26"/>
              <p:cNvSpPr txBox="1"/>
              <p:nvPr/>
            </p:nvSpPr>
            <p:spPr>
              <a:xfrm>
                <a:off x="757238" y="3499247"/>
                <a:ext cx="1274953" cy="183356"/>
              </a:xfrm>
              <a:prstGeom prst="rect">
                <a:avLst/>
              </a:prstGeom>
              <a:noFill/>
              <a:ln>
                <a:noFill/>
              </a:ln>
            </p:spPr>
            <p:txBody>
              <a:bodyPr wrap="none" lIns="0" tIns="0" rIns="0" bIns="0" anchor="t" anchorCtr="0">
                <a:spAutoFit/>
              </a:bodyPr>
              <a:lstStyle/>
              <a:p>
                <a:pPr algn="l"/>
                <a:r>
                  <a:rPr lang="zh-CN" sz="940" dirty="0">
                    <a:solidFill>
                      <a:srgbClr val="1A2230"/>
                    </a:solidFill>
                    <a:latin typeface="Arial"/>
                    <a:ea typeface="Microsoft YaHei"/>
                    <a:cs typeface="Arial"/>
                  </a:rPr>
                  <a:t>太阳加热海面与陆地，</a:t>
                </a:r>
              </a:p>
            </p:txBody>
          </p:sp>
          <p:sp>
            <p:nvSpPr>
              <p:cNvPr id="27" name="TextBox 27"/>
              <p:cNvSpPr txBox="1"/>
              <p:nvPr/>
            </p:nvSpPr>
            <p:spPr>
              <a:xfrm>
                <a:off x="757238" y="3746897"/>
                <a:ext cx="1274953" cy="183356"/>
              </a:xfrm>
              <a:prstGeom prst="rect">
                <a:avLst/>
              </a:prstGeom>
              <a:noFill/>
              <a:ln>
                <a:noFill/>
              </a:ln>
            </p:spPr>
            <p:txBody>
              <a:bodyPr wrap="none" lIns="0" tIns="0" rIns="0" bIns="0" anchor="t" anchorCtr="0">
                <a:spAutoFit/>
              </a:bodyPr>
              <a:lstStyle/>
              <a:p>
                <a:pPr algn="l"/>
                <a:r>
                  <a:rPr lang="zh-CN" sz="940" dirty="0">
                    <a:solidFill>
                      <a:srgbClr val="1A2230"/>
                    </a:solidFill>
                    <a:latin typeface="Arial"/>
                    <a:ea typeface="Microsoft YaHei"/>
                    <a:cs typeface="Arial"/>
                  </a:rPr>
                  <a:t>水变为水汽进入大气。</a:t>
                </a:r>
              </a:p>
            </p:txBody>
          </p:sp>
          <p:sp>
            <p:nvSpPr>
              <p:cNvPr id="28" name="Freeform 28"/>
              <p:cNvSpPr/>
              <p:nvPr/>
            </p:nvSpPr>
            <p:spPr>
              <a:xfrm>
                <a:off x="876300" y="4800600"/>
                <a:ext cx="1504950" cy="152400"/>
              </a:xfrm>
              <a:custGeom>
                <a:avLst/>
                <a:gdLst/>
                <a:ahLst/>
                <a:cxnLst/>
                <a:rect l="l" t="t" r="r" b="b"/>
                <a:pathLst>
                  <a:path w="1504950" h="152400">
                    <a:moveTo>
                      <a:pt x="0" y="76200"/>
                    </a:moveTo>
                    <a:cubicBezTo>
                      <a:pt x="266700" y="0"/>
                      <a:pt x="552450" y="152400"/>
                      <a:pt x="819150" y="76200"/>
                    </a:cubicBezTo>
                    <a:cubicBezTo>
                      <a:pt x="1085850" y="0"/>
                      <a:pt x="1333500" y="133350"/>
                      <a:pt x="1504950" y="76200"/>
                    </a:cubicBezTo>
                  </a:path>
                </a:pathLst>
              </a:custGeom>
              <a:noFill/>
              <a:ln w="19050">
                <a:solidFill>
                  <a:srgbClr val="3D7BD9"/>
                </a:solidFill>
              </a:ln>
            </p:spPr>
          </p:sp>
          <p:sp>
            <p:nvSpPr>
              <p:cNvPr id="29" name="Line 29"/>
              <p:cNvSpPr/>
              <p:nvPr/>
            </p:nvSpPr>
            <p:spPr>
              <a:xfrm>
                <a:off x="1143000" y="4476750"/>
                <a:ext cx="9525" cy="342900"/>
              </a:xfrm>
              <a:custGeom>
                <a:avLst/>
                <a:gdLst/>
                <a:ahLst/>
                <a:cxnLst/>
                <a:rect l="l" t="t" r="r" b="b"/>
                <a:pathLst>
                  <a:path w="9525" h="342900">
                    <a:moveTo>
                      <a:pt x="0" y="342900"/>
                    </a:moveTo>
                    <a:lnTo>
                      <a:pt x="0" y="0"/>
                    </a:lnTo>
                  </a:path>
                </a:pathLst>
              </a:custGeom>
              <a:noFill/>
              <a:ln w="38100">
                <a:solidFill>
                  <a:srgbClr val="1E4FA8"/>
                </a:solidFill>
              </a:ln>
            </p:spPr>
          </p:sp>
          <p:sp>
            <p:nvSpPr>
              <p:cNvPr id="30" name="Polygon 30"/>
              <p:cNvSpPr/>
              <p:nvPr/>
            </p:nvSpPr>
            <p:spPr>
              <a:xfrm>
                <a:off x="1057275" y="4438650"/>
                <a:ext cx="171450" cy="152400"/>
              </a:xfrm>
              <a:custGeom>
                <a:avLst/>
                <a:gdLst/>
                <a:ahLst/>
                <a:cxnLst/>
                <a:rect l="l" t="t" r="r" b="b"/>
                <a:pathLst>
                  <a:path w="171450" h="152400">
                    <a:moveTo>
                      <a:pt x="0" y="152400"/>
                    </a:moveTo>
                    <a:lnTo>
                      <a:pt x="85725" y="0"/>
                    </a:lnTo>
                    <a:lnTo>
                      <a:pt x="171450" y="152400"/>
                    </a:lnTo>
                    <a:close/>
                  </a:path>
                </a:pathLst>
              </a:custGeom>
              <a:solidFill>
                <a:srgbClr val="1E4FA8"/>
              </a:solidFill>
              <a:ln>
                <a:noFill/>
              </a:ln>
            </p:spPr>
          </p:sp>
          <p:sp>
            <p:nvSpPr>
              <p:cNvPr id="31" name="Line 31"/>
              <p:cNvSpPr/>
              <p:nvPr/>
            </p:nvSpPr>
            <p:spPr>
              <a:xfrm>
                <a:off x="1905000" y="4476750"/>
                <a:ext cx="9525" cy="342900"/>
              </a:xfrm>
              <a:custGeom>
                <a:avLst/>
                <a:gdLst/>
                <a:ahLst/>
                <a:cxnLst/>
                <a:rect l="l" t="t" r="r" b="b"/>
                <a:pathLst>
                  <a:path w="9525" h="342900">
                    <a:moveTo>
                      <a:pt x="0" y="342900"/>
                    </a:moveTo>
                    <a:lnTo>
                      <a:pt x="0" y="0"/>
                    </a:lnTo>
                  </a:path>
                </a:pathLst>
              </a:custGeom>
              <a:noFill/>
              <a:ln w="38100">
                <a:solidFill>
                  <a:srgbClr val="1E4FA8"/>
                </a:solidFill>
              </a:ln>
            </p:spPr>
          </p:sp>
          <p:sp>
            <p:nvSpPr>
              <p:cNvPr id="32" name="Polygon 32"/>
              <p:cNvSpPr/>
              <p:nvPr/>
            </p:nvSpPr>
            <p:spPr>
              <a:xfrm>
                <a:off x="1819275" y="4438650"/>
                <a:ext cx="171450" cy="152400"/>
              </a:xfrm>
              <a:custGeom>
                <a:avLst/>
                <a:gdLst/>
                <a:ahLst/>
                <a:cxnLst/>
                <a:rect l="l" t="t" r="r" b="b"/>
                <a:pathLst>
                  <a:path w="171450" h="152400">
                    <a:moveTo>
                      <a:pt x="0" y="152400"/>
                    </a:moveTo>
                    <a:lnTo>
                      <a:pt x="85725" y="0"/>
                    </a:lnTo>
                    <a:lnTo>
                      <a:pt x="171450" y="152400"/>
                    </a:lnTo>
                    <a:close/>
                  </a:path>
                </a:pathLst>
              </a:custGeom>
              <a:solidFill>
                <a:srgbClr val="1E4FA8"/>
              </a:solidFill>
              <a:ln>
                <a:noFill/>
              </a:ln>
            </p:spPr>
          </p:sp>
        </p:grpSp>
        <p:grpSp>
          <p:nvGrpSpPr>
            <p:cNvPr id="46" name="Group 46"/>
            <p:cNvGrpSpPr/>
            <p:nvPr/>
          </p:nvGrpSpPr>
          <p:grpSpPr>
            <a:xfrm>
              <a:off x="3409950" y="2552700"/>
              <a:ext cx="2457450" cy="2743200"/>
              <a:chOff x="3409950" y="2552700"/>
              <a:chExt cx="2457450" cy="2743200"/>
            </a:xfrm>
          </p:grpSpPr>
          <p:sp>
            <p:nvSpPr>
              <p:cNvPr id="34" name="Rectangle 34"/>
              <p:cNvSpPr/>
              <p:nvPr/>
            </p:nvSpPr>
            <p:spPr>
              <a:xfrm>
                <a:off x="3409950" y="2552700"/>
                <a:ext cx="2457450" cy="2743200"/>
              </a:xfrm>
              <a:prstGeom prst="roundRect">
                <a:avLst>
                  <a:gd name="adj" fmla="val 4651"/>
                </a:avLst>
              </a:prstGeom>
              <a:solidFill>
                <a:srgbClr val="FFFFFF"/>
              </a:solidFill>
              <a:ln w="14288">
                <a:solidFill>
                  <a:srgbClr val="D6DCE5"/>
                </a:solidFill>
              </a:ln>
            </p:spPr>
          </p:sp>
          <p:sp>
            <p:nvSpPr>
              <p:cNvPr id="35" name="Ellipse 35"/>
              <p:cNvSpPr/>
              <p:nvPr/>
            </p:nvSpPr>
            <p:spPr>
              <a:xfrm>
                <a:off x="3543300" y="2705100"/>
                <a:ext cx="304800" cy="304800"/>
              </a:xfrm>
              <a:prstGeom prst="ellipse">
                <a:avLst/>
              </a:prstGeom>
              <a:solidFill>
                <a:srgbClr val="1E4FA8"/>
              </a:solidFill>
              <a:ln>
                <a:noFill/>
              </a:ln>
            </p:spPr>
          </p:sp>
          <p:sp>
            <p:nvSpPr>
              <p:cNvPr id="36" name="TextBox 36"/>
              <p:cNvSpPr txBox="1"/>
              <p:nvPr/>
            </p:nvSpPr>
            <p:spPr>
              <a:xfrm>
                <a:off x="3649551" y="2801302"/>
                <a:ext cx="92298" cy="205359"/>
              </a:xfrm>
              <a:prstGeom prst="rect">
                <a:avLst/>
              </a:prstGeom>
              <a:noFill/>
              <a:ln>
                <a:noFill/>
              </a:ln>
            </p:spPr>
            <p:txBody>
              <a:bodyPr wrap="none" lIns="0" tIns="0" rIns="0" bIns="0" anchor="t" anchorCtr="0">
                <a:spAutoFit/>
              </a:bodyPr>
              <a:lstStyle/>
              <a:p>
                <a:pPr algn="ctr"/>
                <a:r>
                  <a:rPr lang="en-US" sz="1050" b="1" dirty="0">
                    <a:solidFill>
                      <a:srgbClr val="FFFFFF"/>
                    </a:solidFill>
                    <a:latin typeface="Arial"/>
                    <a:ea typeface="Arial"/>
                    <a:cs typeface="Arial"/>
                  </a:rPr>
                  <a:t>2</a:t>
                </a:r>
              </a:p>
            </p:txBody>
          </p:sp>
          <p:sp>
            <p:nvSpPr>
              <p:cNvPr id="37" name="TextBox 37"/>
              <p:cNvSpPr txBox="1"/>
              <p:nvPr/>
            </p:nvSpPr>
            <p:spPr>
              <a:xfrm>
                <a:off x="3937635" y="2793206"/>
                <a:ext cx="614528" cy="220028"/>
              </a:xfrm>
              <a:prstGeom prst="rect">
                <a:avLst/>
              </a:prstGeom>
              <a:noFill/>
              <a:ln>
                <a:noFill/>
              </a:ln>
            </p:spPr>
            <p:txBody>
              <a:bodyPr wrap="none" lIns="0" tIns="0" rIns="0" bIns="0" anchor="t" anchorCtr="0">
                <a:spAutoFit/>
              </a:bodyPr>
              <a:lstStyle/>
              <a:p>
                <a:pPr algn="l"/>
                <a:r>
                  <a:rPr lang="zh-CN" sz="1120" b="1" dirty="0">
                    <a:solidFill>
                      <a:srgbClr val="0E3F8C"/>
                    </a:solidFill>
                    <a:latin typeface="Arial"/>
                    <a:ea typeface="Microsoft YaHei"/>
                    <a:cs typeface="Arial"/>
                  </a:rPr>
                  <a:t>水汽输送</a:t>
                </a:r>
              </a:p>
            </p:txBody>
          </p:sp>
          <p:sp>
            <p:nvSpPr>
              <p:cNvPr id="38" name="TextBox 38"/>
              <p:cNvSpPr txBox="1"/>
              <p:nvPr/>
            </p:nvSpPr>
            <p:spPr>
              <a:xfrm>
                <a:off x="3595688" y="3103245"/>
                <a:ext cx="1176515" cy="176212"/>
              </a:xfrm>
              <a:prstGeom prst="rect">
                <a:avLst/>
              </a:prstGeom>
              <a:noFill/>
              <a:ln>
                <a:noFill/>
              </a:ln>
            </p:spPr>
            <p:txBody>
              <a:bodyPr wrap="none" lIns="0" tIns="0" rIns="0" bIns="0" anchor="t" anchorCtr="0">
                <a:spAutoFit/>
              </a:bodyPr>
              <a:lstStyle/>
              <a:p>
                <a:pPr algn="l"/>
                <a:r>
                  <a:rPr lang="en-US" sz="900" dirty="0">
                    <a:solidFill>
                      <a:srgbClr val="3D7BD9"/>
                    </a:solidFill>
                    <a:latin typeface="Arial"/>
                    <a:ea typeface="Arial"/>
                    <a:cs typeface="Arial"/>
                  </a:rPr>
                  <a:t>Moisture transport</a:t>
                </a:r>
              </a:p>
            </p:txBody>
          </p:sp>
          <p:sp>
            <p:nvSpPr>
              <p:cNvPr id="39" name="Line 39"/>
              <p:cNvSpPr/>
              <p:nvPr/>
            </p:nvSpPr>
            <p:spPr>
              <a:xfrm>
                <a:off x="3600450" y="3314700"/>
                <a:ext cx="2076450" cy="9525"/>
              </a:xfrm>
              <a:custGeom>
                <a:avLst/>
                <a:gdLst/>
                <a:ahLst/>
                <a:cxnLst/>
                <a:rect l="l" t="t" r="r" b="b"/>
                <a:pathLst>
                  <a:path w="2076450" h="9525">
                    <a:moveTo>
                      <a:pt x="0" y="0"/>
                    </a:moveTo>
                    <a:lnTo>
                      <a:pt x="2076450" y="0"/>
                    </a:lnTo>
                  </a:path>
                </a:pathLst>
              </a:custGeom>
              <a:noFill/>
              <a:ln w="9525">
                <a:solidFill>
                  <a:srgbClr val="D6DCE5"/>
                </a:solidFill>
              </a:ln>
            </p:spPr>
          </p:sp>
          <p:sp>
            <p:nvSpPr>
              <p:cNvPr id="40" name="TextBox 40"/>
              <p:cNvSpPr txBox="1"/>
              <p:nvPr/>
            </p:nvSpPr>
            <p:spPr>
              <a:xfrm>
                <a:off x="3595688" y="3499247"/>
                <a:ext cx="1274953" cy="183356"/>
              </a:xfrm>
              <a:prstGeom prst="rect">
                <a:avLst/>
              </a:prstGeom>
              <a:noFill/>
              <a:ln>
                <a:noFill/>
              </a:ln>
            </p:spPr>
            <p:txBody>
              <a:bodyPr wrap="none" lIns="0" tIns="0" rIns="0" bIns="0" anchor="t" anchorCtr="0">
                <a:spAutoFit/>
              </a:bodyPr>
              <a:lstStyle/>
              <a:p>
                <a:pPr algn="l"/>
                <a:r>
                  <a:rPr lang="zh-CN" sz="940" dirty="0">
                    <a:solidFill>
                      <a:srgbClr val="1A2230"/>
                    </a:solidFill>
                    <a:latin typeface="Arial"/>
                    <a:ea typeface="Microsoft YaHei"/>
                    <a:cs typeface="Arial"/>
                  </a:rPr>
                  <a:t>大气运动把水汽从海洋</a:t>
                </a:r>
              </a:p>
            </p:txBody>
          </p:sp>
          <p:sp>
            <p:nvSpPr>
              <p:cNvPr id="41" name="TextBox 41"/>
              <p:cNvSpPr txBox="1"/>
              <p:nvPr/>
            </p:nvSpPr>
            <p:spPr>
              <a:xfrm>
                <a:off x="3595688" y="3746897"/>
                <a:ext cx="1274953" cy="183356"/>
              </a:xfrm>
              <a:prstGeom prst="rect">
                <a:avLst/>
              </a:prstGeom>
              <a:noFill/>
              <a:ln>
                <a:noFill/>
              </a:ln>
            </p:spPr>
            <p:txBody>
              <a:bodyPr wrap="none" lIns="0" tIns="0" rIns="0" bIns="0" anchor="t" anchorCtr="0">
                <a:spAutoFit/>
              </a:bodyPr>
              <a:lstStyle/>
              <a:p>
                <a:pPr algn="l"/>
                <a:r>
                  <a:rPr lang="zh-CN" sz="940" dirty="0">
                    <a:solidFill>
                      <a:srgbClr val="1A2230"/>
                    </a:solidFill>
                    <a:latin typeface="Arial"/>
                    <a:ea typeface="Microsoft YaHei"/>
                    <a:cs typeface="Arial"/>
                  </a:rPr>
                  <a:t>上空输送到陆地上空。</a:t>
                </a:r>
              </a:p>
            </p:txBody>
          </p:sp>
          <p:sp>
            <p:nvSpPr>
              <p:cNvPr id="42" name="Line 42"/>
              <p:cNvSpPr/>
              <p:nvPr/>
            </p:nvSpPr>
            <p:spPr>
              <a:xfrm>
                <a:off x="3695700" y="4629150"/>
                <a:ext cx="1905000" cy="9525"/>
              </a:xfrm>
              <a:custGeom>
                <a:avLst/>
                <a:gdLst/>
                <a:ahLst/>
                <a:cxnLst/>
                <a:rect l="l" t="t" r="r" b="b"/>
                <a:pathLst>
                  <a:path w="1905000" h="9525">
                    <a:moveTo>
                      <a:pt x="0" y="0"/>
                    </a:moveTo>
                    <a:lnTo>
                      <a:pt x="1905000" y="0"/>
                    </a:lnTo>
                  </a:path>
                </a:pathLst>
              </a:custGeom>
              <a:noFill/>
              <a:ln w="38100">
                <a:solidFill>
                  <a:srgbClr val="1E4FA8"/>
                </a:solidFill>
              </a:ln>
            </p:spPr>
          </p:sp>
          <p:sp>
            <p:nvSpPr>
              <p:cNvPr id="43" name="Polygon 43"/>
              <p:cNvSpPr/>
              <p:nvPr/>
            </p:nvSpPr>
            <p:spPr>
              <a:xfrm>
                <a:off x="5448300" y="4533900"/>
                <a:ext cx="190500" cy="190500"/>
              </a:xfrm>
              <a:custGeom>
                <a:avLst/>
                <a:gdLst/>
                <a:ahLst/>
                <a:cxnLst/>
                <a:rect l="l" t="t" r="r" b="b"/>
                <a:pathLst>
                  <a:path w="190500" h="190500">
                    <a:moveTo>
                      <a:pt x="0" y="0"/>
                    </a:moveTo>
                    <a:lnTo>
                      <a:pt x="190500" y="95250"/>
                    </a:lnTo>
                    <a:lnTo>
                      <a:pt x="0" y="190500"/>
                    </a:lnTo>
                    <a:close/>
                  </a:path>
                </a:pathLst>
              </a:custGeom>
              <a:solidFill>
                <a:srgbClr val="1E4FA8"/>
              </a:solidFill>
              <a:ln>
                <a:noFill/>
              </a:ln>
            </p:spPr>
          </p:sp>
          <p:sp>
            <p:nvSpPr>
              <p:cNvPr id="44" name="Line 44"/>
              <p:cNvSpPr/>
              <p:nvPr/>
            </p:nvSpPr>
            <p:spPr>
              <a:xfrm>
                <a:off x="3695700" y="4895850"/>
                <a:ext cx="1905000" cy="9525"/>
              </a:xfrm>
              <a:custGeom>
                <a:avLst/>
                <a:gdLst/>
                <a:ahLst/>
                <a:cxnLst/>
                <a:rect l="l" t="t" r="r" b="b"/>
                <a:pathLst>
                  <a:path w="1905000" h="9525">
                    <a:moveTo>
                      <a:pt x="0" y="0"/>
                    </a:moveTo>
                    <a:lnTo>
                      <a:pt x="1905000" y="0"/>
                    </a:lnTo>
                  </a:path>
                </a:pathLst>
              </a:custGeom>
              <a:noFill/>
              <a:ln w="38100">
                <a:solidFill>
                  <a:srgbClr val="3D7BD9"/>
                </a:solidFill>
              </a:ln>
            </p:spPr>
          </p:sp>
          <p:sp>
            <p:nvSpPr>
              <p:cNvPr id="45" name="Polygon 45"/>
              <p:cNvSpPr/>
              <p:nvPr/>
            </p:nvSpPr>
            <p:spPr>
              <a:xfrm>
                <a:off x="5448300" y="4800600"/>
                <a:ext cx="190500" cy="190500"/>
              </a:xfrm>
              <a:custGeom>
                <a:avLst/>
                <a:gdLst/>
                <a:ahLst/>
                <a:cxnLst/>
                <a:rect l="l" t="t" r="r" b="b"/>
                <a:pathLst>
                  <a:path w="190500" h="190500">
                    <a:moveTo>
                      <a:pt x="0" y="0"/>
                    </a:moveTo>
                    <a:lnTo>
                      <a:pt x="190500" y="95250"/>
                    </a:lnTo>
                    <a:lnTo>
                      <a:pt x="0" y="190500"/>
                    </a:lnTo>
                    <a:close/>
                  </a:path>
                </a:pathLst>
              </a:custGeom>
              <a:solidFill>
                <a:srgbClr val="3D7BD9"/>
              </a:solidFill>
              <a:ln>
                <a:noFill/>
              </a:ln>
            </p:spPr>
          </p:sp>
        </p:grpSp>
        <p:grpSp>
          <p:nvGrpSpPr>
            <p:cNvPr id="58" name="Group 58"/>
            <p:cNvGrpSpPr/>
            <p:nvPr/>
          </p:nvGrpSpPr>
          <p:grpSpPr>
            <a:xfrm>
              <a:off x="6248400" y="2552700"/>
              <a:ext cx="2457450" cy="2743200"/>
              <a:chOff x="6248400" y="2552700"/>
              <a:chExt cx="2457450" cy="2743200"/>
            </a:xfrm>
          </p:grpSpPr>
          <p:sp>
            <p:nvSpPr>
              <p:cNvPr id="47" name="Rectangle 47"/>
              <p:cNvSpPr/>
              <p:nvPr/>
            </p:nvSpPr>
            <p:spPr>
              <a:xfrm>
                <a:off x="6248400" y="2552700"/>
                <a:ext cx="2457450" cy="2743200"/>
              </a:xfrm>
              <a:prstGeom prst="roundRect">
                <a:avLst>
                  <a:gd name="adj" fmla="val 4651"/>
                </a:avLst>
              </a:prstGeom>
              <a:solidFill>
                <a:srgbClr val="FFFFFF"/>
              </a:solidFill>
              <a:ln w="14288">
                <a:solidFill>
                  <a:srgbClr val="D6DCE5"/>
                </a:solidFill>
              </a:ln>
            </p:spPr>
          </p:sp>
          <p:sp>
            <p:nvSpPr>
              <p:cNvPr id="48" name="Ellipse 48"/>
              <p:cNvSpPr/>
              <p:nvPr/>
            </p:nvSpPr>
            <p:spPr>
              <a:xfrm>
                <a:off x="6381750" y="2705100"/>
                <a:ext cx="304800" cy="304800"/>
              </a:xfrm>
              <a:prstGeom prst="ellipse">
                <a:avLst/>
              </a:prstGeom>
              <a:solidFill>
                <a:srgbClr val="1E4FA8"/>
              </a:solidFill>
              <a:ln>
                <a:noFill/>
              </a:ln>
            </p:spPr>
          </p:sp>
          <p:sp>
            <p:nvSpPr>
              <p:cNvPr id="49" name="TextBox 49"/>
              <p:cNvSpPr txBox="1"/>
              <p:nvPr/>
            </p:nvSpPr>
            <p:spPr>
              <a:xfrm>
                <a:off x="6488001" y="2801302"/>
                <a:ext cx="92298" cy="205359"/>
              </a:xfrm>
              <a:prstGeom prst="rect">
                <a:avLst/>
              </a:prstGeom>
              <a:noFill/>
              <a:ln>
                <a:noFill/>
              </a:ln>
            </p:spPr>
            <p:txBody>
              <a:bodyPr wrap="none" lIns="0" tIns="0" rIns="0" bIns="0" anchor="t" anchorCtr="0">
                <a:spAutoFit/>
              </a:bodyPr>
              <a:lstStyle/>
              <a:p>
                <a:pPr algn="ctr"/>
                <a:r>
                  <a:rPr lang="en-US" sz="1050" b="1" dirty="0">
                    <a:solidFill>
                      <a:srgbClr val="FFFFFF"/>
                    </a:solidFill>
                    <a:latin typeface="Arial"/>
                    <a:ea typeface="Arial"/>
                    <a:cs typeface="Arial"/>
                  </a:rPr>
                  <a:t>3</a:t>
                </a:r>
              </a:p>
            </p:txBody>
          </p:sp>
          <p:sp>
            <p:nvSpPr>
              <p:cNvPr id="50" name="TextBox 50"/>
              <p:cNvSpPr txBox="1"/>
              <p:nvPr/>
            </p:nvSpPr>
            <p:spPr>
              <a:xfrm>
                <a:off x="6776085" y="2793206"/>
                <a:ext cx="614528" cy="220028"/>
              </a:xfrm>
              <a:prstGeom prst="rect">
                <a:avLst/>
              </a:prstGeom>
              <a:noFill/>
              <a:ln>
                <a:noFill/>
              </a:ln>
            </p:spPr>
            <p:txBody>
              <a:bodyPr wrap="none" lIns="0" tIns="0" rIns="0" bIns="0" anchor="t" anchorCtr="0">
                <a:spAutoFit/>
              </a:bodyPr>
              <a:lstStyle/>
              <a:p>
                <a:pPr algn="l"/>
                <a:r>
                  <a:rPr lang="zh-CN" sz="1120" b="1" dirty="0">
                    <a:solidFill>
                      <a:srgbClr val="0E3F8C"/>
                    </a:solidFill>
                    <a:latin typeface="Arial"/>
                    <a:ea typeface="Microsoft YaHei"/>
                    <a:cs typeface="Arial"/>
                  </a:rPr>
                  <a:t>冷却凝结</a:t>
                </a:r>
              </a:p>
            </p:txBody>
          </p:sp>
          <p:sp>
            <p:nvSpPr>
              <p:cNvPr id="51" name="TextBox 51"/>
              <p:cNvSpPr txBox="1"/>
              <p:nvPr/>
            </p:nvSpPr>
            <p:spPr>
              <a:xfrm>
                <a:off x="6434138" y="3103245"/>
                <a:ext cx="1331922" cy="176212"/>
              </a:xfrm>
              <a:prstGeom prst="rect">
                <a:avLst/>
              </a:prstGeom>
              <a:noFill/>
              <a:ln>
                <a:noFill/>
              </a:ln>
            </p:spPr>
            <p:txBody>
              <a:bodyPr wrap="none" lIns="0" tIns="0" rIns="0" bIns="0" anchor="t" anchorCtr="0">
                <a:spAutoFit/>
              </a:bodyPr>
              <a:lstStyle/>
              <a:p>
                <a:pPr algn="l"/>
                <a:r>
                  <a:rPr lang="en-US" sz="900" dirty="0">
                    <a:solidFill>
                      <a:srgbClr val="3D7BD9"/>
                    </a:solidFill>
                    <a:latin typeface="Arial"/>
                    <a:ea typeface="Arial"/>
                    <a:cs typeface="Arial"/>
                  </a:rPr>
                  <a:t>Cooling &amp; Condensation</a:t>
                </a:r>
              </a:p>
            </p:txBody>
          </p:sp>
          <p:sp>
            <p:nvSpPr>
              <p:cNvPr id="52" name="Line 52"/>
              <p:cNvSpPr/>
              <p:nvPr/>
            </p:nvSpPr>
            <p:spPr>
              <a:xfrm>
                <a:off x="6438900" y="3314700"/>
                <a:ext cx="2076450" cy="9525"/>
              </a:xfrm>
              <a:custGeom>
                <a:avLst/>
                <a:gdLst/>
                <a:ahLst/>
                <a:cxnLst/>
                <a:rect l="l" t="t" r="r" b="b"/>
                <a:pathLst>
                  <a:path w="2076450" h="9525">
                    <a:moveTo>
                      <a:pt x="0" y="0"/>
                    </a:moveTo>
                    <a:lnTo>
                      <a:pt x="2076450" y="0"/>
                    </a:lnTo>
                  </a:path>
                </a:pathLst>
              </a:custGeom>
              <a:noFill/>
              <a:ln w="9525">
                <a:solidFill>
                  <a:srgbClr val="D6DCE5"/>
                </a:solidFill>
              </a:ln>
            </p:spPr>
          </p:sp>
          <p:sp>
            <p:nvSpPr>
              <p:cNvPr id="53" name="TextBox 53"/>
              <p:cNvSpPr txBox="1"/>
              <p:nvPr/>
            </p:nvSpPr>
            <p:spPr>
              <a:xfrm>
                <a:off x="6434138" y="3499247"/>
                <a:ext cx="1021867" cy="183356"/>
              </a:xfrm>
              <a:prstGeom prst="rect">
                <a:avLst/>
              </a:prstGeom>
              <a:noFill/>
              <a:ln>
                <a:noFill/>
              </a:ln>
            </p:spPr>
            <p:txBody>
              <a:bodyPr wrap="none" lIns="0" tIns="0" rIns="0" bIns="0" anchor="t" anchorCtr="0">
                <a:spAutoFit/>
              </a:bodyPr>
              <a:lstStyle/>
              <a:p>
                <a:pPr algn="l"/>
                <a:r>
                  <a:rPr lang="zh-CN" sz="940" dirty="0">
                    <a:solidFill>
                      <a:srgbClr val="1A2230"/>
                    </a:solidFill>
                    <a:latin typeface="Arial"/>
                    <a:ea typeface="Microsoft YaHei"/>
                    <a:cs typeface="Arial"/>
                  </a:rPr>
                  <a:t>湿空气上升冷却，</a:t>
                </a:r>
              </a:p>
            </p:txBody>
          </p:sp>
          <p:sp>
            <p:nvSpPr>
              <p:cNvPr id="54" name="TextBox 54"/>
              <p:cNvSpPr txBox="1"/>
              <p:nvPr/>
            </p:nvSpPr>
            <p:spPr>
              <a:xfrm>
                <a:off x="6434138" y="3746897"/>
                <a:ext cx="1274953" cy="183356"/>
              </a:xfrm>
              <a:prstGeom prst="rect">
                <a:avLst/>
              </a:prstGeom>
              <a:noFill/>
              <a:ln>
                <a:noFill/>
              </a:ln>
            </p:spPr>
            <p:txBody>
              <a:bodyPr wrap="none" lIns="0" tIns="0" rIns="0" bIns="0" anchor="t" anchorCtr="0">
                <a:spAutoFit/>
              </a:bodyPr>
              <a:lstStyle/>
              <a:p>
                <a:pPr algn="l"/>
                <a:r>
                  <a:rPr lang="zh-CN" sz="940" dirty="0">
                    <a:solidFill>
                      <a:srgbClr val="1A2230"/>
                    </a:solidFill>
                    <a:latin typeface="Arial"/>
                    <a:ea typeface="Microsoft YaHei"/>
                    <a:cs typeface="Arial"/>
                  </a:rPr>
                  <a:t>水汽凝结成微小云滴。</a:t>
                </a:r>
              </a:p>
            </p:txBody>
          </p:sp>
          <p:sp>
            <p:nvSpPr>
              <p:cNvPr id="55" name="Ellipse 55"/>
              <p:cNvSpPr/>
              <p:nvPr/>
            </p:nvSpPr>
            <p:spPr>
              <a:xfrm>
                <a:off x="6572250" y="4648200"/>
                <a:ext cx="571500" cy="323850"/>
              </a:xfrm>
              <a:prstGeom prst="ellipse">
                <a:avLst/>
              </a:prstGeom>
              <a:solidFill>
                <a:srgbClr val="E8EFF8"/>
              </a:solidFill>
              <a:ln w="14288">
                <a:solidFill>
                  <a:srgbClr val="B8C7DC"/>
                </a:solidFill>
              </a:ln>
            </p:spPr>
          </p:sp>
          <p:sp>
            <p:nvSpPr>
              <p:cNvPr id="56" name="Ellipse 56"/>
              <p:cNvSpPr/>
              <p:nvPr/>
            </p:nvSpPr>
            <p:spPr>
              <a:xfrm>
                <a:off x="6896100" y="4505325"/>
                <a:ext cx="723900" cy="419100"/>
              </a:xfrm>
              <a:prstGeom prst="ellipse">
                <a:avLst/>
              </a:prstGeom>
              <a:solidFill>
                <a:srgbClr val="E8EFF8"/>
              </a:solidFill>
              <a:ln w="14288">
                <a:solidFill>
                  <a:srgbClr val="B8C7DC"/>
                </a:solidFill>
              </a:ln>
            </p:spPr>
          </p:sp>
          <p:sp>
            <p:nvSpPr>
              <p:cNvPr id="57" name="Ellipse 57"/>
              <p:cNvSpPr/>
              <p:nvPr/>
            </p:nvSpPr>
            <p:spPr>
              <a:xfrm>
                <a:off x="7410450" y="4657725"/>
                <a:ext cx="533400" cy="304800"/>
              </a:xfrm>
              <a:prstGeom prst="ellipse">
                <a:avLst/>
              </a:prstGeom>
              <a:solidFill>
                <a:srgbClr val="E8EFF8"/>
              </a:solidFill>
              <a:ln w="14288">
                <a:solidFill>
                  <a:srgbClr val="B8C7DC"/>
                </a:solidFill>
              </a:ln>
            </p:spPr>
          </p:sp>
        </p:grpSp>
        <p:grpSp>
          <p:nvGrpSpPr>
            <p:cNvPr id="73" name="Group 73"/>
            <p:cNvGrpSpPr/>
            <p:nvPr/>
          </p:nvGrpSpPr>
          <p:grpSpPr>
            <a:xfrm>
              <a:off x="9086850" y="2552700"/>
              <a:ext cx="2457450" cy="2743200"/>
              <a:chOff x="9086850" y="2552700"/>
              <a:chExt cx="2457450" cy="2743200"/>
            </a:xfrm>
          </p:grpSpPr>
          <p:sp>
            <p:nvSpPr>
              <p:cNvPr id="59" name="Rectangle 59"/>
              <p:cNvSpPr/>
              <p:nvPr/>
            </p:nvSpPr>
            <p:spPr>
              <a:xfrm>
                <a:off x="9086850" y="2552700"/>
                <a:ext cx="2457450" cy="2743200"/>
              </a:xfrm>
              <a:prstGeom prst="roundRect">
                <a:avLst>
                  <a:gd name="adj" fmla="val 4651"/>
                </a:avLst>
              </a:prstGeom>
              <a:solidFill>
                <a:srgbClr val="FFFFFF"/>
              </a:solidFill>
              <a:ln w="14288">
                <a:solidFill>
                  <a:srgbClr val="D6DCE5"/>
                </a:solidFill>
              </a:ln>
            </p:spPr>
          </p:sp>
          <p:sp>
            <p:nvSpPr>
              <p:cNvPr id="60" name="Ellipse 60"/>
              <p:cNvSpPr/>
              <p:nvPr/>
            </p:nvSpPr>
            <p:spPr>
              <a:xfrm>
                <a:off x="9220200" y="2705100"/>
                <a:ext cx="304800" cy="304800"/>
              </a:xfrm>
              <a:prstGeom prst="ellipse">
                <a:avLst/>
              </a:prstGeom>
              <a:solidFill>
                <a:srgbClr val="1E4FA8"/>
              </a:solidFill>
              <a:ln>
                <a:noFill/>
              </a:ln>
            </p:spPr>
          </p:sp>
          <p:sp>
            <p:nvSpPr>
              <p:cNvPr id="61" name="TextBox 61"/>
              <p:cNvSpPr txBox="1"/>
              <p:nvPr/>
            </p:nvSpPr>
            <p:spPr>
              <a:xfrm>
                <a:off x="9326451" y="2801302"/>
                <a:ext cx="92298" cy="205359"/>
              </a:xfrm>
              <a:prstGeom prst="rect">
                <a:avLst/>
              </a:prstGeom>
              <a:noFill/>
              <a:ln>
                <a:noFill/>
              </a:ln>
            </p:spPr>
            <p:txBody>
              <a:bodyPr wrap="none" lIns="0" tIns="0" rIns="0" bIns="0" anchor="t" anchorCtr="0">
                <a:spAutoFit/>
              </a:bodyPr>
              <a:lstStyle/>
              <a:p>
                <a:pPr algn="ctr"/>
                <a:r>
                  <a:rPr lang="en-US" sz="1050" b="1" dirty="0">
                    <a:solidFill>
                      <a:srgbClr val="FFFFFF"/>
                    </a:solidFill>
                    <a:latin typeface="Arial"/>
                    <a:ea typeface="Arial"/>
                    <a:cs typeface="Arial"/>
                  </a:rPr>
                  <a:t>4</a:t>
                </a:r>
              </a:p>
            </p:txBody>
          </p:sp>
          <p:sp>
            <p:nvSpPr>
              <p:cNvPr id="62" name="TextBox 62"/>
              <p:cNvSpPr txBox="1"/>
              <p:nvPr/>
            </p:nvSpPr>
            <p:spPr>
              <a:xfrm>
                <a:off x="9614535" y="2793206"/>
                <a:ext cx="312979" cy="220028"/>
              </a:xfrm>
              <a:prstGeom prst="rect">
                <a:avLst/>
              </a:prstGeom>
              <a:noFill/>
              <a:ln>
                <a:noFill/>
              </a:ln>
            </p:spPr>
            <p:txBody>
              <a:bodyPr wrap="none" lIns="0" tIns="0" rIns="0" bIns="0" anchor="t" anchorCtr="0">
                <a:spAutoFit/>
              </a:bodyPr>
              <a:lstStyle/>
              <a:p>
                <a:pPr algn="l"/>
                <a:r>
                  <a:rPr lang="zh-CN" sz="1120" b="1" dirty="0">
                    <a:solidFill>
                      <a:srgbClr val="0E3F8C"/>
                    </a:solidFill>
                    <a:latin typeface="Arial"/>
                    <a:ea typeface="Microsoft YaHei"/>
                    <a:cs typeface="Arial"/>
                  </a:rPr>
                  <a:t>降水</a:t>
                </a:r>
              </a:p>
            </p:txBody>
          </p:sp>
          <p:sp>
            <p:nvSpPr>
              <p:cNvPr id="63" name="TextBox 63"/>
              <p:cNvSpPr txBox="1"/>
              <p:nvPr/>
            </p:nvSpPr>
            <p:spPr>
              <a:xfrm>
                <a:off x="9272588" y="3103245"/>
                <a:ext cx="788312" cy="176212"/>
              </a:xfrm>
              <a:prstGeom prst="rect">
                <a:avLst/>
              </a:prstGeom>
              <a:noFill/>
              <a:ln>
                <a:noFill/>
              </a:ln>
            </p:spPr>
            <p:txBody>
              <a:bodyPr wrap="none" lIns="0" tIns="0" rIns="0" bIns="0" anchor="t" anchorCtr="0">
                <a:spAutoFit/>
              </a:bodyPr>
              <a:lstStyle/>
              <a:p>
                <a:pPr algn="l"/>
                <a:r>
                  <a:rPr lang="en-US" sz="900" dirty="0">
                    <a:solidFill>
                      <a:srgbClr val="3D7BD9"/>
                    </a:solidFill>
                    <a:latin typeface="Arial"/>
                    <a:ea typeface="Arial"/>
                    <a:cs typeface="Arial"/>
                  </a:rPr>
                  <a:t>Precipitation</a:t>
                </a:r>
              </a:p>
            </p:txBody>
          </p:sp>
          <p:sp>
            <p:nvSpPr>
              <p:cNvPr id="64" name="Line 64"/>
              <p:cNvSpPr/>
              <p:nvPr/>
            </p:nvSpPr>
            <p:spPr>
              <a:xfrm>
                <a:off x="9277350" y="3314700"/>
                <a:ext cx="2076450" cy="9525"/>
              </a:xfrm>
              <a:custGeom>
                <a:avLst/>
                <a:gdLst/>
                <a:ahLst/>
                <a:cxnLst/>
                <a:rect l="l" t="t" r="r" b="b"/>
                <a:pathLst>
                  <a:path w="2076450" h="9525">
                    <a:moveTo>
                      <a:pt x="0" y="0"/>
                    </a:moveTo>
                    <a:lnTo>
                      <a:pt x="2076450" y="0"/>
                    </a:lnTo>
                  </a:path>
                </a:pathLst>
              </a:custGeom>
              <a:noFill/>
              <a:ln w="9525">
                <a:solidFill>
                  <a:srgbClr val="D6DCE5"/>
                </a:solidFill>
              </a:ln>
            </p:spPr>
          </p:sp>
          <p:sp>
            <p:nvSpPr>
              <p:cNvPr id="65" name="TextBox 65"/>
              <p:cNvSpPr txBox="1"/>
              <p:nvPr/>
            </p:nvSpPr>
            <p:spPr>
              <a:xfrm>
                <a:off x="9272588" y="3499247"/>
                <a:ext cx="895325" cy="183356"/>
              </a:xfrm>
              <a:prstGeom prst="rect">
                <a:avLst/>
              </a:prstGeom>
              <a:noFill/>
              <a:ln>
                <a:noFill/>
              </a:ln>
            </p:spPr>
            <p:txBody>
              <a:bodyPr wrap="none" lIns="0" tIns="0" rIns="0" bIns="0" anchor="t" anchorCtr="0">
                <a:spAutoFit/>
              </a:bodyPr>
              <a:lstStyle/>
              <a:p>
                <a:pPr algn="l"/>
                <a:r>
                  <a:rPr lang="zh-CN" sz="940" dirty="0">
                    <a:solidFill>
                      <a:srgbClr val="1A2230"/>
                    </a:solidFill>
                    <a:latin typeface="Arial"/>
                    <a:ea typeface="Microsoft YaHei"/>
                    <a:cs typeface="Arial"/>
                  </a:rPr>
                  <a:t>云滴碰撞长大，</a:t>
                </a:r>
              </a:p>
            </p:txBody>
          </p:sp>
          <p:sp>
            <p:nvSpPr>
              <p:cNvPr id="66" name="TextBox 66"/>
              <p:cNvSpPr txBox="1"/>
              <p:nvPr/>
            </p:nvSpPr>
            <p:spPr>
              <a:xfrm>
                <a:off x="9272588" y="3746897"/>
                <a:ext cx="1274953" cy="183356"/>
              </a:xfrm>
              <a:prstGeom prst="rect">
                <a:avLst/>
              </a:prstGeom>
              <a:noFill/>
              <a:ln>
                <a:noFill/>
              </a:ln>
            </p:spPr>
            <p:txBody>
              <a:bodyPr wrap="none" lIns="0" tIns="0" rIns="0" bIns="0" anchor="t" anchorCtr="0">
                <a:spAutoFit/>
              </a:bodyPr>
              <a:lstStyle/>
              <a:p>
                <a:pPr algn="l"/>
                <a:r>
                  <a:rPr lang="zh-CN" sz="940" dirty="0">
                    <a:solidFill>
                      <a:srgbClr val="1A2230"/>
                    </a:solidFill>
                    <a:latin typeface="Arial"/>
                    <a:ea typeface="Microsoft YaHei"/>
                    <a:cs typeface="Arial"/>
                  </a:rPr>
                  <a:t>以雨、雪等落回地表。</a:t>
                </a:r>
              </a:p>
            </p:txBody>
          </p:sp>
          <p:sp>
            <p:nvSpPr>
              <p:cNvPr id="67" name="Ellipse 67"/>
              <p:cNvSpPr/>
              <p:nvPr/>
            </p:nvSpPr>
            <p:spPr>
              <a:xfrm>
                <a:off x="9601200" y="4429125"/>
                <a:ext cx="419100" cy="247650"/>
              </a:xfrm>
              <a:prstGeom prst="ellipse">
                <a:avLst/>
              </a:prstGeom>
              <a:solidFill>
                <a:srgbClr val="E8EFF8"/>
              </a:solidFill>
              <a:ln w="14288">
                <a:solidFill>
                  <a:srgbClr val="B8C7DC"/>
                </a:solidFill>
              </a:ln>
            </p:spPr>
          </p:sp>
          <p:sp>
            <p:nvSpPr>
              <p:cNvPr id="68" name="Ellipse 68"/>
              <p:cNvSpPr/>
              <p:nvPr/>
            </p:nvSpPr>
            <p:spPr>
              <a:xfrm>
                <a:off x="9848850" y="4333875"/>
                <a:ext cx="533400" cy="304800"/>
              </a:xfrm>
              <a:prstGeom prst="ellipse">
                <a:avLst/>
              </a:prstGeom>
              <a:solidFill>
                <a:srgbClr val="E8EFF8"/>
              </a:solidFill>
              <a:ln w="14288">
                <a:solidFill>
                  <a:srgbClr val="B8C7DC"/>
                </a:solidFill>
              </a:ln>
            </p:spPr>
          </p:sp>
          <p:sp>
            <p:nvSpPr>
              <p:cNvPr id="69" name="Ellipse 69"/>
              <p:cNvSpPr/>
              <p:nvPr/>
            </p:nvSpPr>
            <p:spPr>
              <a:xfrm>
                <a:off x="10239375" y="4438650"/>
                <a:ext cx="400050" cy="228600"/>
              </a:xfrm>
              <a:prstGeom prst="ellipse">
                <a:avLst/>
              </a:prstGeom>
              <a:solidFill>
                <a:srgbClr val="E8EFF8"/>
              </a:solidFill>
              <a:ln w="14288">
                <a:solidFill>
                  <a:srgbClr val="B8C7DC"/>
                </a:solidFill>
              </a:ln>
            </p:spPr>
          </p:sp>
          <p:sp>
            <p:nvSpPr>
              <p:cNvPr id="70" name="Line 70"/>
              <p:cNvSpPr/>
              <p:nvPr/>
            </p:nvSpPr>
            <p:spPr>
              <a:xfrm>
                <a:off x="9810750" y="4724400"/>
                <a:ext cx="9525" cy="247650"/>
              </a:xfrm>
              <a:custGeom>
                <a:avLst/>
                <a:gdLst/>
                <a:ahLst/>
                <a:cxnLst/>
                <a:rect l="l" t="t" r="r" b="b"/>
                <a:pathLst>
                  <a:path w="9525" h="247650">
                    <a:moveTo>
                      <a:pt x="0" y="0"/>
                    </a:moveTo>
                    <a:lnTo>
                      <a:pt x="0" y="247650"/>
                    </a:lnTo>
                  </a:path>
                </a:pathLst>
              </a:custGeom>
              <a:noFill/>
              <a:ln w="28575">
                <a:solidFill>
                  <a:srgbClr val="3D7BD9"/>
                </a:solidFill>
              </a:ln>
            </p:spPr>
          </p:sp>
          <p:sp>
            <p:nvSpPr>
              <p:cNvPr id="71" name="Line 71"/>
              <p:cNvSpPr/>
              <p:nvPr/>
            </p:nvSpPr>
            <p:spPr>
              <a:xfrm>
                <a:off x="10134600" y="4724400"/>
                <a:ext cx="9525" cy="247650"/>
              </a:xfrm>
              <a:custGeom>
                <a:avLst/>
                <a:gdLst/>
                <a:ahLst/>
                <a:cxnLst/>
                <a:rect l="l" t="t" r="r" b="b"/>
                <a:pathLst>
                  <a:path w="9525" h="247650">
                    <a:moveTo>
                      <a:pt x="0" y="0"/>
                    </a:moveTo>
                    <a:lnTo>
                      <a:pt x="0" y="247650"/>
                    </a:lnTo>
                  </a:path>
                </a:pathLst>
              </a:custGeom>
              <a:noFill/>
              <a:ln w="28575">
                <a:solidFill>
                  <a:srgbClr val="3D7BD9"/>
                </a:solidFill>
              </a:ln>
            </p:spPr>
          </p:sp>
          <p:sp>
            <p:nvSpPr>
              <p:cNvPr id="72" name="Line 72"/>
              <p:cNvSpPr/>
              <p:nvPr/>
            </p:nvSpPr>
            <p:spPr>
              <a:xfrm>
                <a:off x="10458450" y="4724400"/>
                <a:ext cx="9525" cy="247650"/>
              </a:xfrm>
              <a:custGeom>
                <a:avLst/>
                <a:gdLst/>
                <a:ahLst/>
                <a:cxnLst/>
                <a:rect l="l" t="t" r="r" b="b"/>
                <a:pathLst>
                  <a:path w="9525" h="247650">
                    <a:moveTo>
                      <a:pt x="0" y="0"/>
                    </a:moveTo>
                    <a:lnTo>
                      <a:pt x="0" y="247650"/>
                    </a:lnTo>
                  </a:path>
                </a:pathLst>
              </a:custGeom>
              <a:noFill/>
              <a:ln w="28575">
                <a:solidFill>
                  <a:srgbClr val="3D7BD9"/>
                </a:solidFill>
              </a:ln>
            </p:spPr>
          </p:sp>
        </p:grpSp>
        <p:grpSp>
          <p:nvGrpSpPr>
            <p:cNvPr id="80" name="Group 80"/>
            <p:cNvGrpSpPr/>
            <p:nvPr/>
          </p:nvGrpSpPr>
          <p:grpSpPr>
            <a:xfrm>
              <a:off x="3028950" y="3667125"/>
              <a:ext cx="6057900" cy="171450"/>
              <a:chOff x="3028950" y="3667125"/>
              <a:chExt cx="6057900" cy="171450"/>
            </a:xfrm>
          </p:grpSpPr>
          <p:sp>
            <p:nvSpPr>
              <p:cNvPr id="74" name="Line 74"/>
              <p:cNvSpPr/>
              <p:nvPr/>
            </p:nvSpPr>
            <p:spPr>
              <a:xfrm>
                <a:off x="3028950" y="3752850"/>
                <a:ext cx="323850" cy="9525"/>
              </a:xfrm>
              <a:custGeom>
                <a:avLst/>
                <a:gdLst/>
                <a:ahLst/>
                <a:cxnLst/>
                <a:rect l="l" t="t" r="r" b="b"/>
                <a:pathLst>
                  <a:path w="323850" h="9525">
                    <a:moveTo>
                      <a:pt x="0" y="0"/>
                    </a:moveTo>
                    <a:lnTo>
                      <a:pt x="323850" y="0"/>
                    </a:lnTo>
                  </a:path>
                </a:pathLst>
              </a:custGeom>
              <a:noFill/>
              <a:ln w="38100">
                <a:solidFill>
                  <a:srgbClr val="1E4FA8"/>
                </a:solidFill>
              </a:ln>
            </p:spPr>
          </p:sp>
          <p:sp>
            <p:nvSpPr>
              <p:cNvPr id="75" name="Polygon 75"/>
              <p:cNvSpPr/>
              <p:nvPr/>
            </p:nvSpPr>
            <p:spPr>
              <a:xfrm>
                <a:off x="3257550" y="3667125"/>
                <a:ext cx="152400" cy="171450"/>
              </a:xfrm>
              <a:custGeom>
                <a:avLst/>
                <a:gdLst/>
                <a:ahLst/>
                <a:cxnLst/>
                <a:rect l="l" t="t" r="r" b="b"/>
                <a:pathLst>
                  <a:path w="152400" h="171450">
                    <a:moveTo>
                      <a:pt x="0" y="0"/>
                    </a:moveTo>
                    <a:lnTo>
                      <a:pt x="152400" y="85725"/>
                    </a:lnTo>
                    <a:lnTo>
                      <a:pt x="0" y="171450"/>
                    </a:lnTo>
                    <a:close/>
                  </a:path>
                </a:pathLst>
              </a:custGeom>
              <a:solidFill>
                <a:srgbClr val="1E4FA8"/>
              </a:solidFill>
              <a:ln>
                <a:noFill/>
              </a:ln>
            </p:spPr>
          </p:sp>
          <p:sp>
            <p:nvSpPr>
              <p:cNvPr id="76" name="Line 76"/>
              <p:cNvSpPr/>
              <p:nvPr/>
            </p:nvSpPr>
            <p:spPr>
              <a:xfrm>
                <a:off x="5867400" y="3752850"/>
                <a:ext cx="323850" cy="9525"/>
              </a:xfrm>
              <a:custGeom>
                <a:avLst/>
                <a:gdLst/>
                <a:ahLst/>
                <a:cxnLst/>
                <a:rect l="l" t="t" r="r" b="b"/>
                <a:pathLst>
                  <a:path w="323850" h="9525">
                    <a:moveTo>
                      <a:pt x="0" y="0"/>
                    </a:moveTo>
                    <a:lnTo>
                      <a:pt x="323850" y="0"/>
                    </a:lnTo>
                  </a:path>
                </a:pathLst>
              </a:custGeom>
              <a:noFill/>
              <a:ln w="38100">
                <a:solidFill>
                  <a:srgbClr val="1E4FA8"/>
                </a:solidFill>
              </a:ln>
            </p:spPr>
          </p:sp>
          <p:sp>
            <p:nvSpPr>
              <p:cNvPr id="77" name="Polygon 77"/>
              <p:cNvSpPr/>
              <p:nvPr/>
            </p:nvSpPr>
            <p:spPr>
              <a:xfrm>
                <a:off x="6096000" y="3667125"/>
                <a:ext cx="152400" cy="171450"/>
              </a:xfrm>
              <a:custGeom>
                <a:avLst/>
                <a:gdLst/>
                <a:ahLst/>
                <a:cxnLst/>
                <a:rect l="l" t="t" r="r" b="b"/>
                <a:pathLst>
                  <a:path w="152400" h="171450">
                    <a:moveTo>
                      <a:pt x="0" y="0"/>
                    </a:moveTo>
                    <a:lnTo>
                      <a:pt x="152400" y="85725"/>
                    </a:lnTo>
                    <a:lnTo>
                      <a:pt x="0" y="171450"/>
                    </a:lnTo>
                    <a:close/>
                  </a:path>
                </a:pathLst>
              </a:custGeom>
              <a:solidFill>
                <a:srgbClr val="1E4FA8"/>
              </a:solidFill>
              <a:ln>
                <a:noFill/>
              </a:ln>
            </p:spPr>
          </p:sp>
          <p:sp>
            <p:nvSpPr>
              <p:cNvPr id="78" name="Line 78"/>
              <p:cNvSpPr/>
              <p:nvPr/>
            </p:nvSpPr>
            <p:spPr>
              <a:xfrm>
                <a:off x="8705850" y="3752850"/>
                <a:ext cx="323850" cy="9525"/>
              </a:xfrm>
              <a:custGeom>
                <a:avLst/>
                <a:gdLst/>
                <a:ahLst/>
                <a:cxnLst/>
                <a:rect l="l" t="t" r="r" b="b"/>
                <a:pathLst>
                  <a:path w="323850" h="9525">
                    <a:moveTo>
                      <a:pt x="0" y="0"/>
                    </a:moveTo>
                    <a:lnTo>
                      <a:pt x="323850" y="0"/>
                    </a:lnTo>
                  </a:path>
                </a:pathLst>
              </a:custGeom>
              <a:noFill/>
              <a:ln w="38100">
                <a:solidFill>
                  <a:srgbClr val="1E4FA8"/>
                </a:solidFill>
              </a:ln>
            </p:spPr>
          </p:sp>
          <p:sp>
            <p:nvSpPr>
              <p:cNvPr id="79" name="Polygon 79"/>
              <p:cNvSpPr/>
              <p:nvPr/>
            </p:nvSpPr>
            <p:spPr>
              <a:xfrm>
                <a:off x="8934450" y="3667125"/>
                <a:ext cx="152400" cy="171450"/>
              </a:xfrm>
              <a:custGeom>
                <a:avLst/>
                <a:gdLst/>
                <a:ahLst/>
                <a:cxnLst/>
                <a:rect l="l" t="t" r="r" b="b"/>
                <a:pathLst>
                  <a:path w="152400" h="171450">
                    <a:moveTo>
                      <a:pt x="0" y="0"/>
                    </a:moveTo>
                    <a:lnTo>
                      <a:pt x="152400" y="85725"/>
                    </a:lnTo>
                    <a:lnTo>
                      <a:pt x="0" y="171450"/>
                    </a:lnTo>
                    <a:close/>
                  </a:path>
                </a:pathLst>
              </a:custGeom>
              <a:solidFill>
                <a:srgbClr val="1E4FA8"/>
              </a:solidFill>
              <a:ln>
                <a:noFill/>
              </a:ln>
            </p:spPr>
          </p:sp>
        </p:grpSp>
        <p:grpSp>
          <p:nvGrpSpPr>
            <p:cNvPr id="83" name="Group 83"/>
            <p:cNvGrpSpPr/>
            <p:nvPr/>
          </p:nvGrpSpPr>
          <p:grpSpPr>
            <a:xfrm>
              <a:off x="571500" y="5448300"/>
              <a:ext cx="11029950" cy="457200"/>
              <a:chOff x="571500" y="5448300"/>
              <a:chExt cx="11029950" cy="457200"/>
            </a:xfrm>
          </p:grpSpPr>
          <p:sp>
            <p:nvSpPr>
              <p:cNvPr id="81" name="Rectangle 81"/>
              <p:cNvSpPr/>
              <p:nvPr/>
            </p:nvSpPr>
            <p:spPr>
              <a:xfrm>
                <a:off x="571500" y="5448300"/>
                <a:ext cx="11029950" cy="457200"/>
              </a:xfrm>
              <a:prstGeom prst="roundRect">
                <a:avLst>
                  <a:gd name="adj" fmla="val 20833"/>
                </a:avLst>
              </a:prstGeom>
              <a:solidFill>
                <a:srgbClr val="E8EFF8"/>
              </a:solidFill>
              <a:ln>
                <a:noFill/>
              </a:ln>
            </p:spPr>
          </p:sp>
          <p:sp>
            <p:nvSpPr>
              <p:cNvPr id="82" name="TextBox 82"/>
              <p:cNvSpPr txBox="1"/>
              <p:nvPr/>
            </p:nvSpPr>
            <p:spPr>
              <a:xfrm>
                <a:off x="3351178" y="5612606"/>
                <a:ext cx="5470594" cy="220028"/>
              </a:xfrm>
              <a:prstGeom prst="rect">
                <a:avLst/>
              </a:prstGeom>
              <a:noFill/>
              <a:ln>
                <a:noFill/>
              </a:ln>
            </p:spPr>
            <p:txBody>
              <a:bodyPr wrap="none" lIns="0" tIns="0" rIns="0" bIns="0" anchor="t" anchorCtr="0">
                <a:spAutoFit/>
              </a:bodyPr>
              <a:lstStyle/>
              <a:p>
                <a:pPr algn="ctr"/>
                <a:r>
                  <a:rPr lang="zh-CN" sz="1120" b="1" dirty="0">
                    <a:solidFill>
                      <a:srgbClr val="0E3F8C"/>
                    </a:solidFill>
                    <a:latin typeface="Arial"/>
                    <a:ea typeface="Microsoft YaHei"/>
                    <a:cs typeface="Arial"/>
                  </a:rPr>
                  <a:t>储量小不等于作用小：大气以约 9 天的快速周转，成为海陆之间最活跃的输水通道</a:t>
                </a:r>
              </a:p>
            </p:txBody>
          </p:sp>
        </p:grpSp>
      </p:grpSp>
      <p:sp>
        <p:nvSpPr>
          <p:cNvPr id="85" name="TextBox 85"/>
          <p:cNvSpPr txBox="1"/>
          <p:nvPr/>
        </p:nvSpPr>
        <p:spPr>
          <a:xfrm>
            <a:off x="376238" y="6532245"/>
            <a:ext cx="7471089" cy="176212"/>
          </a:xfrm>
          <a:prstGeom prst="rect">
            <a:avLst/>
          </a:prstGeom>
          <a:noFill/>
          <a:ln>
            <a:noFill/>
          </a:ln>
        </p:spPr>
        <p:txBody>
          <a:bodyPr wrap="none" lIns="0" tIns="0" rIns="0" bIns="0" anchor="t" anchorCtr="0">
            <a:spAutoFit/>
          </a:bodyPr>
          <a:lstStyle/>
          <a:p>
            <a:pPr algn="l"/>
            <a:r>
              <a:rPr lang="zh-CN" sz="900" dirty="0">
                <a:solidFill>
                  <a:srgbClr val="4A5568"/>
                </a:solidFill>
                <a:latin typeface="Arial"/>
                <a:ea typeface="Microsoft YaHei"/>
                <a:cs typeface="Arial"/>
              </a:rPr>
              <a:t>Source: UE 8e pp.1653, 1148, 1150; 地球系统与演变 Table 3-1, p.94 (PDF p.9); storage/residence pair verified against W-04.</a:t>
            </a:r>
          </a:p>
        </p:txBody>
      </p:sp>
      <p:sp>
        <p:nvSpPr>
          <p:cNvPr id="86" name="TextBox 86"/>
          <p:cNvSpPr txBox="1"/>
          <p:nvPr/>
        </p:nvSpPr>
        <p:spPr>
          <a:xfrm>
            <a:off x="11672964" y="6532245"/>
            <a:ext cx="142799" cy="176212"/>
          </a:xfrm>
          <a:prstGeom prst="rect">
            <a:avLst/>
          </a:prstGeom>
          <a:noFill/>
          <a:ln>
            <a:noFill/>
          </a:ln>
        </p:spPr>
        <p:txBody>
          <a:bodyPr wrap="none" lIns="0" tIns="0" rIns="0" bIns="0" anchor="t" anchorCtr="0">
            <a:spAutoFit/>
          </a:bodyPr>
          <a:lstStyle/>
          <a:p>
            <a:pPr algn="r"/>
            <a:r>
              <a:rPr lang="en-US" sz="900" dirty="0">
                <a:solidFill>
                  <a:srgbClr val="4A5568"/>
                </a:solidFill>
                <a:latin typeface="Arial"/>
                <a:ea typeface="Arial"/>
                <a:cs typeface="Arial"/>
              </a:rPr>
              <a:t>13</a:t>
            </a:r>
          </a:p>
        </p:txBody>
      </p:sp>
    </p:spTree>
    <p:extLst>
      <p:ext uri="{BB962C8B-B14F-4D97-AF65-F5344CB8AC3E}">
        <p14:creationId xmlns:p14="http://schemas.microsoft.com/office/powerpoint/2010/main" val="1857828125"/>
      </p:ext>
    </p:extLst>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5"/>
          <p:cNvGrpSpPr/>
          <p:nvPr/>
        </p:nvGrpSpPr>
        <p:grpSpPr>
          <a:xfrm>
            <a:off x="0" y="0"/>
            <a:ext cx="12192000" cy="685800"/>
            <a:chOff x="0" y="0"/>
            <a:chExt cx="12192000" cy="685800"/>
          </a:xfrm>
        </p:grpSpPr>
        <p:sp>
          <p:nvSpPr>
            <p:cNvPr id="2" name="Rectangle 2"/>
            <p:cNvSpPr/>
            <p:nvPr/>
          </p:nvSpPr>
          <p:spPr>
            <a:xfrm>
              <a:off x="0" y="0"/>
              <a:ext cx="12192000" cy="685800"/>
            </a:xfrm>
            <a:prstGeom prst="rect">
              <a:avLst/>
            </a:prstGeom>
            <a:solidFill>
              <a:srgbClr val="0E3F8C"/>
            </a:solidFill>
            <a:ln>
              <a:noFill/>
            </a:ln>
          </p:spPr>
        </p:sp>
        <p:sp>
          <p:nvSpPr>
            <p:cNvPr id="3" name="TextBox 3"/>
            <p:cNvSpPr txBox="1"/>
            <p:nvPr/>
          </p:nvSpPr>
          <p:spPr>
            <a:xfrm>
              <a:off x="374142" y="282892"/>
              <a:ext cx="4425239" cy="264033"/>
            </a:xfrm>
            <a:prstGeom prst="rect">
              <a:avLst/>
            </a:prstGeom>
            <a:noFill/>
            <a:ln>
              <a:noFill/>
            </a:ln>
          </p:spPr>
          <p:txBody>
            <a:bodyPr wrap="none" lIns="0" tIns="0" rIns="0" bIns="0" anchor="t" anchorCtr="0">
              <a:spAutoFit/>
            </a:bodyPr>
            <a:lstStyle/>
            <a:p>
              <a:pPr algn="l"/>
              <a:r>
                <a:rPr lang="zh-CN" sz="1350" b="1" dirty="0">
                  <a:solidFill>
                    <a:srgbClr val="FFFFFF"/>
                  </a:solidFill>
                  <a:latin typeface="Arial"/>
                  <a:ea typeface="Microsoft YaHei"/>
                  <a:cs typeface="Arial"/>
                </a:rPr>
                <a:t>1.11 降水落地后去了哪里？ | Runoff &amp; Infiltration</a:t>
              </a:r>
            </a:p>
          </p:txBody>
        </p:sp>
        <p:sp>
          <p:nvSpPr>
            <p:cNvPr id="4" name="TextBox 4"/>
            <p:cNvSpPr txBox="1"/>
            <p:nvPr/>
          </p:nvSpPr>
          <p:spPr>
            <a:xfrm>
              <a:off x="10780776" y="299085"/>
              <a:ext cx="1036320" cy="234696"/>
            </a:xfrm>
            <a:prstGeom prst="rect">
              <a:avLst/>
            </a:prstGeom>
            <a:noFill/>
            <a:ln>
              <a:noFill/>
            </a:ln>
          </p:spPr>
          <p:txBody>
            <a:bodyPr wrap="none" lIns="0" tIns="0" rIns="0" bIns="0" anchor="t" anchorCtr="0">
              <a:spAutoFit/>
            </a:bodyPr>
            <a:lstStyle/>
            <a:p>
              <a:pPr algn="r"/>
              <a:r>
                <a:rPr lang="en-US" sz="1200" dirty="0">
                  <a:solidFill>
                    <a:srgbClr val="C7D7F2"/>
                  </a:solidFill>
                  <a:latin typeface="Arial"/>
                  <a:ea typeface="Arial"/>
                  <a:cs typeface="Arial"/>
                </a:rPr>
                <a:t>WATER CYCLE</a:t>
              </a:r>
            </a:p>
          </p:txBody>
        </p:sp>
      </p:grpSp>
      <p:grpSp>
        <p:nvGrpSpPr>
          <p:cNvPr id="8" name="Group 8"/>
          <p:cNvGrpSpPr/>
          <p:nvPr/>
        </p:nvGrpSpPr>
        <p:grpSpPr>
          <a:xfrm>
            <a:off x="381000" y="914400"/>
            <a:ext cx="6560439" cy="357093"/>
            <a:chOff x="381000" y="914400"/>
            <a:chExt cx="6560439" cy="357093"/>
          </a:xfrm>
        </p:grpSpPr>
        <p:sp>
          <p:nvSpPr>
            <p:cNvPr id="6" name="Rectangle 6"/>
            <p:cNvSpPr/>
            <p:nvPr/>
          </p:nvSpPr>
          <p:spPr>
            <a:xfrm>
              <a:off x="381000" y="914400"/>
              <a:ext cx="57150" cy="266700"/>
            </a:xfrm>
            <a:prstGeom prst="roundRect">
              <a:avLst>
                <a:gd name="adj" fmla="val 50000"/>
              </a:avLst>
            </a:prstGeom>
            <a:solidFill>
              <a:srgbClr val="1E4FA8"/>
            </a:solidFill>
            <a:ln>
              <a:noFill/>
            </a:ln>
          </p:spPr>
        </p:sp>
        <p:sp>
          <p:nvSpPr>
            <p:cNvPr id="7" name="TextBox 7"/>
            <p:cNvSpPr txBox="1"/>
            <p:nvPr/>
          </p:nvSpPr>
          <p:spPr>
            <a:xfrm>
              <a:off x="544449" y="963454"/>
              <a:ext cx="6396990" cy="308039"/>
            </a:xfrm>
            <a:prstGeom prst="rect">
              <a:avLst/>
            </a:prstGeom>
            <a:noFill/>
            <a:ln>
              <a:noFill/>
            </a:ln>
          </p:spPr>
          <p:txBody>
            <a:bodyPr wrap="none" lIns="0" tIns="0" rIns="0" bIns="0" anchor="t" anchorCtr="0">
              <a:spAutoFit/>
            </a:bodyPr>
            <a:lstStyle/>
            <a:p>
              <a:pPr algn="l"/>
              <a:r>
                <a:rPr lang="zh-CN" sz="1580" b="1" dirty="0">
                  <a:solidFill>
                    <a:srgbClr val="0E3F8C"/>
                  </a:solidFill>
                  <a:latin typeface="Arial"/>
                  <a:ea typeface="Microsoft YaHei"/>
                  <a:cs typeface="Arial"/>
                </a:rPr>
                <a:t>落地降水在蒸散、地表与地下径流、入渗之间分配，比例因环境而异</a:t>
              </a:r>
            </a:p>
          </p:txBody>
        </p:sp>
      </p:grpSp>
      <p:grpSp>
        <p:nvGrpSpPr>
          <p:cNvPr id="76" name="Group 76"/>
          <p:cNvGrpSpPr/>
          <p:nvPr/>
        </p:nvGrpSpPr>
        <p:grpSpPr>
          <a:xfrm>
            <a:off x="381000" y="1428750"/>
            <a:ext cx="11430000" cy="4781550"/>
            <a:chOff x="381000" y="1428750"/>
            <a:chExt cx="11430000" cy="4781550"/>
          </a:xfrm>
        </p:grpSpPr>
        <p:sp>
          <p:nvSpPr>
            <p:cNvPr id="9" name="Rectangle 9"/>
            <p:cNvSpPr/>
            <p:nvPr/>
          </p:nvSpPr>
          <p:spPr>
            <a:xfrm>
              <a:off x="381000" y="1428750"/>
              <a:ext cx="11430000" cy="4781550"/>
            </a:xfrm>
            <a:prstGeom prst="roundRect">
              <a:avLst>
                <a:gd name="adj" fmla="val 2390"/>
              </a:avLst>
            </a:prstGeom>
            <a:solidFill>
              <a:srgbClr val="F7F9FC"/>
            </a:solidFill>
            <a:ln w="9525">
              <a:solidFill>
                <a:srgbClr val="D6DCE5"/>
              </a:solidFill>
            </a:ln>
          </p:spPr>
        </p:sp>
        <p:grpSp>
          <p:nvGrpSpPr>
            <p:cNvPr id="57" name="Group 57"/>
            <p:cNvGrpSpPr/>
            <p:nvPr/>
          </p:nvGrpSpPr>
          <p:grpSpPr>
            <a:xfrm>
              <a:off x="571500" y="1581150"/>
              <a:ext cx="7239000" cy="4476750"/>
              <a:chOff x="571500" y="1581150"/>
              <a:chExt cx="7239000" cy="4476750"/>
            </a:xfrm>
          </p:grpSpPr>
          <p:sp>
            <p:nvSpPr>
              <p:cNvPr id="10" name="Rectangle 10"/>
              <p:cNvSpPr/>
              <p:nvPr/>
            </p:nvSpPr>
            <p:spPr>
              <a:xfrm>
                <a:off x="571500" y="1581150"/>
                <a:ext cx="7239000" cy="4476750"/>
              </a:xfrm>
              <a:prstGeom prst="roundRect">
                <a:avLst>
                  <a:gd name="adj" fmla="val 2553"/>
                </a:avLst>
              </a:prstGeom>
              <a:solidFill>
                <a:srgbClr val="FFFFFF"/>
              </a:solidFill>
              <a:ln w="14288">
                <a:solidFill>
                  <a:srgbClr val="D6DCE5"/>
                </a:solidFill>
              </a:ln>
            </p:spPr>
          </p:sp>
          <p:grpSp>
            <p:nvGrpSpPr>
              <p:cNvPr id="21" name="Group 21"/>
              <p:cNvGrpSpPr/>
              <p:nvPr/>
            </p:nvGrpSpPr>
            <p:grpSpPr>
              <a:xfrm>
                <a:off x="2057400" y="1752600"/>
                <a:ext cx="2821359" cy="1581150"/>
                <a:chOff x="2057400" y="1752600"/>
                <a:chExt cx="2821359" cy="1581150"/>
              </a:xfrm>
            </p:grpSpPr>
            <p:sp>
              <p:nvSpPr>
                <p:cNvPr id="11" name="Ellipse 11"/>
                <p:cNvSpPr/>
                <p:nvPr/>
              </p:nvSpPr>
              <p:spPr>
                <a:xfrm>
                  <a:off x="2057400" y="1876425"/>
                  <a:ext cx="647700" cy="342900"/>
                </a:xfrm>
                <a:prstGeom prst="ellipse">
                  <a:avLst/>
                </a:prstGeom>
                <a:solidFill>
                  <a:srgbClr val="E8EFF8"/>
                </a:solidFill>
                <a:ln w="14288">
                  <a:solidFill>
                    <a:srgbClr val="B8C7DC"/>
                  </a:solidFill>
                </a:ln>
              </p:spPr>
            </p:sp>
            <p:sp>
              <p:nvSpPr>
                <p:cNvPr id="12" name="Ellipse 12"/>
                <p:cNvSpPr/>
                <p:nvPr/>
              </p:nvSpPr>
              <p:spPr>
                <a:xfrm>
                  <a:off x="2343150" y="1752600"/>
                  <a:ext cx="800100" cy="419100"/>
                </a:xfrm>
                <a:prstGeom prst="ellipse">
                  <a:avLst/>
                </a:prstGeom>
                <a:solidFill>
                  <a:srgbClr val="E8EFF8"/>
                </a:solidFill>
                <a:ln w="14288">
                  <a:solidFill>
                    <a:srgbClr val="B8C7DC"/>
                  </a:solidFill>
                </a:ln>
              </p:spPr>
            </p:sp>
            <p:sp>
              <p:nvSpPr>
                <p:cNvPr id="13" name="Ellipse 13"/>
                <p:cNvSpPr/>
                <p:nvPr/>
              </p:nvSpPr>
              <p:spPr>
                <a:xfrm>
                  <a:off x="2838450" y="1885950"/>
                  <a:ext cx="609600" cy="323850"/>
                </a:xfrm>
                <a:prstGeom prst="ellipse">
                  <a:avLst/>
                </a:prstGeom>
                <a:solidFill>
                  <a:srgbClr val="E8EFF8"/>
                </a:solidFill>
                <a:ln w="14288">
                  <a:solidFill>
                    <a:srgbClr val="B8C7DC"/>
                  </a:solidFill>
                </a:ln>
              </p:spPr>
            </p:sp>
            <p:sp>
              <p:nvSpPr>
                <p:cNvPr id="14" name="TextBox 14"/>
                <p:cNvSpPr txBox="1"/>
                <p:nvPr/>
              </p:nvSpPr>
              <p:spPr>
                <a:xfrm>
                  <a:off x="3671697" y="1914049"/>
                  <a:ext cx="1207062" cy="190690"/>
                </a:xfrm>
                <a:prstGeom prst="rect">
                  <a:avLst/>
                </a:prstGeom>
                <a:noFill/>
                <a:ln>
                  <a:noFill/>
                </a:ln>
              </p:spPr>
              <p:txBody>
                <a:bodyPr wrap="none" lIns="0" tIns="0" rIns="0" bIns="0" anchor="t" anchorCtr="0">
                  <a:spAutoFit/>
                </a:bodyPr>
                <a:lstStyle/>
                <a:p>
                  <a:pPr algn="l"/>
                  <a:r>
                    <a:rPr lang="zh-CN" sz="980" b="1" dirty="0">
                      <a:solidFill>
                        <a:srgbClr val="1E4FA8"/>
                      </a:solidFill>
                      <a:latin typeface="Arial"/>
                      <a:ea typeface="Microsoft YaHei"/>
                      <a:cs typeface="Arial"/>
                    </a:rPr>
                    <a:t>降水 Precipitation</a:t>
                  </a:r>
                </a:p>
              </p:txBody>
            </p:sp>
            <p:sp>
              <p:nvSpPr>
                <p:cNvPr id="15" name="Line 15"/>
                <p:cNvSpPr/>
                <p:nvPr/>
              </p:nvSpPr>
              <p:spPr>
                <a:xfrm>
                  <a:off x="2286000" y="2286000"/>
                  <a:ext cx="9525" cy="933450"/>
                </a:xfrm>
                <a:custGeom>
                  <a:avLst/>
                  <a:gdLst/>
                  <a:ahLst/>
                  <a:cxnLst/>
                  <a:rect l="l" t="t" r="r" b="b"/>
                  <a:pathLst>
                    <a:path w="9525" h="933450">
                      <a:moveTo>
                        <a:pt x="0" y="0"/>
                      </a:moveTo>
                      <a:lnTo>
                        <a:pt x="0" y="933450"/>
                      </a:lnTo>
                    </a:path>
                  </a:pathLst>
                </a:custGeom>
                <a:noFill/>
                <a:ln w="28575">
                  <a:solidFill>
                    <a:srgbClr val="3D7BD9"/>
                  </a:solidFill>
                </a:ln>
              </p:spPr>
            </p:sp>
            <p:sp>
              <p:nvSpPr>
                <p:cNvPr id="16" name="Polygon 16"/>
                <p:cNvSpPr/>
                <p:nvPr/>
              </p:nvSpPr>
              <p:spPr>
                <a:xfrm>
                  <a:off x="2219325" y="3124200"/>
                  <a:ext cx="133350" cy="133350"/>
                </a:xfrm>
                <a:custGeom>
                  <a:avLst/>
                  <a:gdLst/>
                  <a:ahLst/>
                  <a:cxnLst/>
                  <a:rect l="l" t="t" r="r" b="b"/>
                  <a:pathLst>
                    <a:path w="133350" h="133350">
                      <a:moveTo>
                        <a:pt x="0" y="0"/>
                      </a:moveTo>
                      <a:lnTo>
                        <a:pt x="66675" y="133350"/>
                      </a:lnTo>
                      <a:lnTo>
                        <a:pt x="133350" y="0"/>
                      </a:lnTo>
                      <a:close/>
                    </a:path>
                  </a:pathLst>
                </a:custGeom>
                <a:solidFill>
                  <a:srgbClr val="3D7BD9"/>
                </a:solidFill>
                <a:ln>
                  <a:noFill/>
                </a:ln>
              </p:spPr>
            </p:sp>
            <p:sp>
              <p:nvSpPr>
                <p:cNvPr id="17" name="Line 17"/>
                <p:cNvSpPr/>
                <p:nvPr/>
              </p:nvSpPr>
              <p:spPr>
                <a:xfrm>
                  <a:off x="2705100" y="2324100"/>
                  <a:ext cx="9525" cy="971550"/>
                </a:xfrm>
                <a:custGeom>
                  <a:avLst/>
                  <a:gdLst/>
                  <a:ahLst/>
                  <a:cxnLst/>
                  <a:rect l="l" t="t" r="r" b="b"/>
                  <a:pathLst>
                    <a:path w="9525" h="971550">
                      <a:moveTo>
                        <a:pt x="0" y="0"/>
                      </a:moveTo>
                      <a:lnTo>
                        <a:pt x="0" y="971550"/>
                      </a:lnTo>
                    </a:path>
                  </a:pathLst>
                </a:custGeom>
                <a:noFill/>
                <a:ln w="28575">
                  <a:solidFill>
                    <a:srgbClr val="3D7BD9"/>
                  </a:solidFill>
                </a:ln>
              </p:spPr>
            </p:sp>
            <p:sp>
              <p:nvSpPr>
                <p:cNvPr id="18" name="Polygon 18"/>
                <p:cNvSpPr/>
                <p:nvPr/>
              </p:nvSpPr>
              <p:spPr>
                <a:xfrm>
                  <a:off x="2638425" y="3200400"/>
                  <a:ext cx="133350" cy="133350"/>
                </a:xfrm>
                <a:custGeom>
                  <a:avLst/>
                  <a:gdLst/>
                  <a:ahLst/>
                  <a:cxnLst/>
                  <a:rect l="l" t="t" r="r" b="b"/>
                  <a:pathLst>
                    <a:path w="133350" h="133350">
                      <a:moveTo>
                        <a:pt x="0" y="0"/>
                      </a:moveTo>
                      <a:lnTo>
                        <a:pt x="66675" y="133350"/>
                      </a:lnTo>
                      <a:lnTo>
                        <a:pt x="133350" y="0"/>
                      </a:lnTo>
                      <a:close/>
                    </a:path>
                  </a:pathLst>
                </a:custGeom>
                <a:solidFill>
                  <a:srgbClr val="3D7BD9"/>
                </a:solidFill>
                <a:ln>
                  <a:noFill/>
                </a:ln>
              </p:spPr>
            </p:sp>
            <p:sp>
              <p:nvSpPr>
                <p:cNvPr id="19" name="Line 19"/>
                <p:cNvSpPr/>
                <p:nvPr/>
              </p:nvSpPr>
              <p:spPr>
                <a:xfrm>
                  <a:off x="3105150" y="2286000"/>
                  <a:ext cx="9525" cy="933450"/>
                </a:xfrm>
                <a:custGeom>
                  <a:avLst/>
                  <a:gdLst/>
                  <a:ahLst/>
                  <a:cxnLst/>
                  <a:rect l="l" t="t" r="r" b="b"/>
                  <a:pathLst>
                    <a:path w="9525" h="933450">
                      <a:moveTo>
                        <a:pt x="0" y="0"/>
                      </a:moveTo>
                      <a:lnTo>
                        <a:pt x="0" y="933450"/>
                      </a:lnTo>
                    </a:path>
                  </a:pathLst>
                </a:custGeom>
                <a:noFill/>
                <a:ln w="28575">
                  <a:solidFill>
                    <a:srgbClr val="3D7BD9"/>
                  </a:solidFill>
                </a:ln>
              </p:spPr>
            </p:sp>
            <p:sp>
              <p:nvSpPr>
                <p:cNvPr id="20" name="Polygon 20"/>
                <p:cNvSpPr/>
                <p:nvPr/>
              </p:nvSpPr>
              <p:spPr>
                <a:xfrm>
                  <a:off x="3038475" y="3124200"/>
                  <a:ext cx="133350" cy="133350"/>
                </a:xfrm>
                <a:custGeom>
                  <a:avLst/>
                  <a:gdLst/>
                  <a:ahLst/>
                  <a:cxnLst/>
                  <a:rect l="l" t="t" r="r" b="b"/>
                  <a:pathLst>
                    <a:path w="133350" h="133350">
                      <a:moveTo>
                        <a:pt x="0" y="0"/>
                      </a:moveTo>
                      <a:lnTo>
                        <a:pt x="66675" y="133350"/>
                      </a:lnTo>
                      <a:lnTo>
                        <a:pt x="133350" y="0"/>
                      </a:lnTo>
                      <a:close/>
                    </a:path>
                  </a:pathLst>
                </a:custGeom>
                <a:solidFill>
                  <a:srgbClr val="3D7BD9"/>
                </a:solidFill>
                <a:ln>
                  <a:noFill/>
                </a:ln>
              </p:spPr>
            </p:sp>
          </p:grpSp>
          <p:grpSp>
            <p:nvGrpSpPr>
              <p:cNvPr id="34" name="Group 34"/>
              <p:cNvGrpSpPr/>
              <p:nvPr/>
            </p:nvGrpSpPr>
            <p:grpSpPr>
              <a:xfrm>
                <a:off x="685800" y="3143250"/>
                <a:ext cx="7010400" cy="2800350"/>
                <a:chOff x="685800" y="3143250"/>
                <a:chExt cx="7010400" cy="2800350"/>
              </a:xfrm>
            </p:grpSpPr>
            <p:sp>
              <p:nvSpPr>
                <p:cNvPr id="22" name="Polygon 22"/>
                <p:cNvSpPr/>
                <p:nvPr/>
              </p:nvSpPr>
              <p:spPr>
                <a:xfrm>
                  <a:off x="685800" y="3143250"/>
                  <a:ext cx="5981700" cy="2800350"/>
                </a:xfrm>
                <a:custGeom>
                  <a:avLst/>
                  <a:gdLst/>
                  <a:ahLst/>
                  <a:cxnLst/>
                  <a:rect l="l" t="t" r="r" b="b"/>
                  <a:pathLst>
                    <a:path w="5981700" h="2800350">
                      <a:moveTo>
                        <a:pt x="171450" y="0"/>
                      </a:moveTo>
                      <a:lnTo>
                        <a:pt x="5981700" y="1019175"/>
                      </a:lnTo>
                      <a:lnTo>
                        <a:pt x="5981700" y="2800350"/>
                      </a:lnTo>
                      <a:lnTo>
                        <a:pt x="0" y="2800350"/>
                      </a:lnTo>
                      <a:close/>
                    </a:path>
                  </a:pathLst>
                </a:custGeom>
                <a:solidFill>
                  <a:srgbClr val="EFEDE7"/>
                </a:solidFill>
                <a:ln w="9525">
                  <a:solidFill>
                    <a:srgbClr val="D6DCE5"/>
                  </a:solidFill>
                </a:ln>
              </p:spPr>
            </p:sp>
            <p:sp>
              <p:nvSpPr>
                <p:cNvPr id="23" name="Rectangle 23"/>
                <p:cNvSpPr/>
                <p:nvPr/>
              </p:nvSpPr>
              <p:spPr>
                <a:xfrm>
                  <a:off x="6667500" y="4162425"/>
                  <a:ext cx="1028700" cy="1781175"/>
                </a:xfrm>
                <a:prstGeom prst="rect">
                  <a:avLst/>
                </a:prstGeom>
                <a:solidFill>
                  <a:srgbClr val="DCEAF8"/>
                </a:solidFill>
                <a:ln>
                  <a:noFill/>
                </a:ln>
              </p:spPr>
            </p:sp>
            <p:sp>
              <p:nvSpPr>
                <p:cNvPr id="24" name="Freeform 24"/>
                <p:cNvSpPr/>
                <p:nvPr/>
              </p:nvSpPr>
              <p:spPr>
                <a:xfrm>
                  <a:off x="6667500" y="4105275"/>
                  <a:ext cx="1028700" cy="142875"/>
                </a:xfrm>
                <a:custGeom>
                  <a:avLst/>
                  <a:gdLst/>
                  <a:ahLst/>
                  <a:cxnLst/>
                  <a:rect l="l" t="t" r="r" b="b"/>
                  <a:pathLst>
                    <a:path w="1028700" h="142875">
                      <a:moveTo>
                        <a:pt x="0" y="57150"/>
                      </a:moveTo>
                      <a:cubicBezTo>
                        <a:pt x="257175" y="0"/>
                        <a:pt x="504825" y="114300"/>
                        <a:pt x="762000" y="57150"/>
                      </a:cubicBezTo>
                      <a:cubicBezTo>
                        <a:pt x="895350" y="28575"/>
                        <a:pt x="971550" y="38100"/>
                        <a:pt x="1028700" y="57150"/>
                      </a:cubicBezTo>
                      <a:lnTo>
                        <a:pt x="1028700" y="142875"/>
                      </a:lnTo>
                      <a:lnTo>
                        <a:pt x="0" y="142875"/>
                      </a:lnTo>
                      <a:close/>
                    </a:path>
                  </a:pathLst>
                </a:custGeom>
                <a:solidFill>
                  <a:srgbClr val="DCEAF8"/>
                </a:solidFill>
                <a:ln w="9525">
                  <a:solidFill>
                    <a:srgbClr val="B8C7DC"/>
                  </a:solidFill>
                </a:ln>
              </p:spPr>
            </p:sp>
            <p:sp>
              <p:nvSpPr>
                <p:cNvPr id="25" name="Ellipse 25"/>
                <p:cNvSpPr/>
                <p:nvPr/>
              </p:nvSpPr>
              <p:spPr>
                <a:xfrm>
                  <a:off x="1690688" y="4929188"/>
                  <a:ext cx="47625" cy="47625"/>
                </a:xfrm>
                <a:prstGeom prst="ellipse">
                  <a:avLst/>
                </a:prstGeom>
                <a:solidFill>
                  <a:srgbClr val="D6DCE5"/>
                </a:solidFill>
                <a:ln>
                  <a:noFill/>
                </a:ln>
              </p:spPr>
            </p:sp>
            <p:sp>
              <p:nvSpPr>
                <p:cNvPr id="26" name="Ellipse 26"/>
                <p:cNvSpPr/>
                <p:nvPr/>
              </p:nvSpPr>
              <p:spPr>
                <a:xfrm>
                  <a:off x="2262188" y="5310188"/>
                  <a:ext cx="47625" cy="47625"/>
                </a:xfrm>
                <a:prstGeom prst="ellipse">
                  <a:avLst/>
                </a:prstGeom>
                <a:solidFill>
                  <a:srgbClr val="D6DCE5"/>
                </a:solidFill>
                <a:ln>
                  <a:noFill/>
                </a:ln>
              </p:spPr>
            </p:sp>
            <p:sp>
              <p:nvSpPr>
                <p:cNvPr id="27" name="Ellipse 27"/>
                <p:cNvSpPr/>
                <p:nvPr/>
              </p:nvSpPr>
              <p:spPr>
                <a:xfrm>
                  <a:off x="3119438" y="5500688"/>
                  <a:ext cx="47625" cy="47625"/>
                </a:xfrm>
                <a:prstGeom prst="ellipse">
                  <a:avLst/>
                </a:prstGeom>
                <a:solidFill>
                  <a:srgbClr val="D6DCE5"/>
                </a:solidFill>
                <a:ln>
                  <a:noFill/>
                </a:ln>
              </p:spPr>
            </p:sp>
            <p:sp>
              <p:nvSpPr>
                <p:cNvPr id="28" name="Ellipse 28"/>
                <p:cNvSpPr/>
                <p:nvPr/>
              </p:nvSpPr>
              <p:spPr>
                <a:xfrm>
                  <a:off x="4738688" y="5500688"/>
                  <a:ext cx="47625" cy="47625"/>
                </a:xfrm>
                <a:prstGeom prst="ellipse">
                  <a:avLst/>
                </a:prstGeom>
                <a:solidFill>
                  <a:srgbClr val="D6DCE5"/>
                </a:solidFill>
                <a:ln>
                  <a:noFill/>
                </a:ln>
              </p:spPr>
            </p:sp>
            <p:sp>
              <p:nvSpPr>
                <p:cNvPr id="29" name="Ellipse 29"/>
                <p:cNvSpPr/>
                <p:nvPr/>
              </p:nvSpPr>
              <p:spPr>
                <a:xfrm>
                  <a:off x="5310188" y="5119688"/>
                  <a:ext cx="47625" cy="47625"/>
                </a:xfrm>
                <a:prstGeom prst="ellipse">
                  <a:avLst/>
                </a:prstGeom>
                <a:solidFill>
                  <a:srgbClr val="D6DCE5"/>
                </a:solidFill>
                <a:ln>
                  <a:noFill/>
                </a:ln>
              </p:spPr>
            </p:sp>
            <p:sp>
              <p:nvSpPr>
                <p:cNvPr id="30" name="Ellipse 30"/>
                <p:cNvSpPr/>
                <p:nvPr/>
              </p:nvSpPr>
              <p:spPr>
                <a:xfrm>
                  <a:off x="1881188" y="5691188"/>
                  <a:ext cx="47625" cy="47625"/>
                </a:xfrm>
                <a:prstGeom prst="ellipse">
                  <a:avLst/>
                </a:prstGeom>
                <a:solidFill>
                  <a:srgbClr val="D6DCE5"/>
                </a:solidFill>
                <a:ln>
                  <a:noFill/>
                </a:ln>
              </p:spPr>
            </p:sp>
            <p:sp>
              <p:nvSpPr>
                <p:cNvPr id="31" name="TextBox 31"/>
                <p:cNvSpPr txBox="1"/>
                <p:nvPr/>
              </p:nvSpPr>
              <p:spPr>
                <a:xfrm>
                  <a:off x="6827076" y="4402693"/>
                  <a:ext cx="709549" cy="169069"/>
                </a:xfrm>
                <a:prstGeom prst="rect">
                  <a:avLst/>
                </a:prstGeom>
                <a:noFill/>
                <a:ln>
                  <a:noFill/>
                </a:ln>
              </p:spPr>
              <p:txBody>
                <a:bodyPr wrap="none" lIns="0" tIns="0" rIns="0" bIns="0" anchor="t" anchorCtr="0">
                  <a:spAutoFit/>
                </a:bodyPr>
                <a:lstStyle/>
                <a:p>
                  <a:pPr algn="ctr"/>
                  <a:r>
                    <a:rPr lang="zh-CN" sz="860" b="1" dirty="0">
                      <a:solidFill>
                        <a:srgbClr val="1E4FA8"/>
                      </a:solidFill>
                      <a:latin typeface="Arial"/>
                      <a:ea typeface="Microsoft YaHei"/>
                      <a:cs typeface="Arial"/>
                    </a:rPr>
                    <a:t>河道 Stream</a:t>
                  </a:r>
                </a:p>
              </p:txBody>
            </p:sp>
            <p:sp>
              <p:nvSpPr>
                <p:cNvPr id="32" name="Line 32"/>
                <p:cNvSpPr/>
                <p:nvPr/>
              </p:nvSpPr>
              <p:spPr>
                <a:xfrm>
                  <a:off x="6781800" y="5334000"/>
                  <a:ext cx="723900" cy="9525"/>
                </a:xfrm>
                <a:custGeom>
                  <a:avLst/>
                  <a:gdLst/>
                  <a:ahLst/>
                  <a:cxnLst/>
                  <a:rect l="l" t="t" r="r" b="b"/>
                  <a:pathLst>
                    <a:path w="723900" h="9525">
                      <a:moveTo>
                        <a:pt x="0" y="0"/>
                      </a:moveTo>
                      <a:lnTo>
                        <a:pt x="723900" y="0"/>
                      </a:lnTo>
                    </a:path>
                  </a:pathLst>
                </a:custGeom>
                <a:noFill/>
                <a:ln w="19050">
                  <a:solidFill>
                    <a:srgbClr val="3D7BD9"/>
                  </a:solidFill>
                </a:ln>
              </p:spPr>
            </p:sp>
            <p:sp>
              <p:nvSpPr>
                <p:cNvPr id="33" name="Polygon 33"/>
                <p:cNvSpPr/>
                <p:nvPr/>
              </p:nvSpPr>
              <p:spPr>
                <a:xfrm>
                  <a:off x="7429500" y="5286375"/>
                  <a:ext cx="95250" cy="95250"/>
                </a:xfrm>
                <a:custGeom>
                  <a:avLst/>
                  <a:gdLst/>
                  <a:ahLst/>
                  <a:cxnLst/>
                  <a:rect l="l" t="t" r="r" b="b"/>
                  <a:pathLst>
                    <a:path w="95250" h="95250">
                      <a:moveTo>
                        <a:pt x="0" y="0"/>
                      </a:moveTo>
                      <a:lnTo>
                        <a:pt x="95250" y="47625"/>
                      </a:lnTo>
                      <a:lnTo>
                        <a:pt x="0" y="95250"/>
                      </a:lnTo>
                      <a:close/>
                    </a:path>
                  </a:pathLst>
                </a:custGeom>
                <a:solidFill>
                  <a:srgbClr val="3D7BD9"/>
                </a:solidFill>
                <a:ln>
                  <a:noFill/>
                </a:ln>
              </p:spPr>
            </p:sp>
          </p:grpSp>
          <p:grpSp>
            <p:nvGrpSpPr>
              <p:cNvPr id="39" name="Group 39"/>
              <p:cNvGrpSpPr/>
              <p:nvPr/>
            </p:nvGrpSpPr>
            <p:grpSpPr>
              <a:xfrm>
                <a:off x="1343025" y="2409825"/>
                <a:ext cx="706846" cy="819150"/>
                <a:chOff x="1343025" y="2409825"/>
                <a:chExt cx="706846" cy="819150"/>
              </a:xfrm>
            </p:grpSpPr>
            <p:sp>
              <p:nvSpPr>
                <p:cNvPr id="35" name="Line 35"/>
                <p:cNvSpPr/>
                <p:nvPr/>
              </p:nvSpPr>
              <p:spPr>
                <a:xfrm>
                  <a:off x="1428750" y="2428875"/>
                  <a:ext cx="9525" cy="800100"/>
                </a:xfrm>
                <a:custGeom>
                  <a:avLst/>
                  <a:gdLst/>
                  <a:ahLst/>
                  <a:cxnLst/>
                  <a:rect l="l" t="t" r="r" b="b"/>
                  <a:pathLst>
                    <a:path w="9525" h="800100">
                      <a:moveTo>
                        <a:pt x="0" y="800100"/>
                      </a:moveTo>
                      <a:lnTo>
                        <a:pt x="0" y="0"/>
                      </a:lnTo>
                    </a:path>
                  </a:pathLst>
                </a:custGeom>
                <a:noFill/>
                <a:ln w="38100">
                  <a:solidFill>
                    <a:srgbClr val="1E4FA8"/>
                  </a:solidFill>
                </a:ln>
              </p:spPr>
            </p:sp>
            <p:sp>
              <p:nvSpPr>
                <p:cNvPr id="36" name="Polygon 36"/>
                <p:cNvSpPr/>
                <p:nvPr/>
              </p:nvSpPr>
              <p:spPr>
                <a:xfrm>
                  <a:off x="1343025" y="2409825"/>
                  <a:ext cx="171450" cy="152400"/>
                </a:xfrm>
                <a:custGeom>
                  <a:avLst/>
                  <a:gdLst/>
                  <a:ahLst/>
                  <a:cxnLst/>
                  <a:rect l="l" t="t" r="r" b="b"/>
                  <a:pathLst>
                    <a:path w="171450" h="152400">
                      <a:moveTo>
                        <a:pt x="0" y="152400"/>
                      </a:moveTo>
                      <a:lnTo>
                        <a:pt x="85725" y="0"/>
                      </a:lnTo>
                      <a:lnTo>
                        <a:pt x="171450" y="152400"/>
                      </a:lnTo>
                      <a:close/>
                    </a:path>
                  </a:pathLst>
                </a:custGeom>
                <a:solidFill>
                  <a:srgbClr val="1E4FA8"/>
                </a:solidFill>
                <a:ln>
                  <a:noFill/>
                </a:ln>
              </p:spPr>
            </p:sp>
            <p:sp>
              <p:nvSpPr>
                <p:cNvPr id="37" name="TextBox 37"/>
                <p:cNvSpPr txBox="1"/>
                <p:nvPr/>
              </p:nvSpPr>
              <p:spPr>
                <a:xfrm>
                  <a:off x="1576388" y="2613422"/>
                  <a:ext cx="473483" cy="183356"/>
                </a:xfrm>
                <a:prstGeom prst="rect">
                  <a:avLst/>
                </a:prstGeom>
                <a:noFill/>
                <a:ln>
                  <a:noFill/>
                </a:ln>
              </p:spPr>
              <p:txBody>
                <a:bodyPr wrap="none" lIns="0" tIns="0" rIns="0" bIns="0" anchor="t" anchorCtr="0">
                  <a:spAutoFit/>
                </a:bodyPr>
                <a:lstStyle/>
                <a:p>
                  <a:pPr algn="l"/>
                  <a:r>
                    <a:rPr lang="zh-CN" sz="940" b="1" dirty="0">
                      <a:solidFill>
                        <a:srgbClr val="1E4FA8"/>
                      </a:solidFill>
                      <a:latin typeface="Arial"/>
                      <a:ea typeface="Microsoft YaHei"/>
                      <a:cs typeface="Arial"/>
                    </a:rPr>
                    <a:t>蒸散 ET</a:t>
                  </a:r>
                </a:p>
              </p:txBody>
            </p:sp>
            <p:sp>
              <p:nvSpPr>
                <p:cNvPr id="38" name="TextBox 38"/>
                <p:cNvSpPr txBox="1"/>
                <p:nvPr/>
              </p:nvSpPr>
              <p:spPr>
                <a:xfrm>
                  <a:off x="1576388" y="2831068"/>
                  <a:ext cx="472618" cy="169069"/>
                </a:xfrm>
                <a:prstGeom prst="rect">
                  <a:avLst/>
                </a:prstGeom>
                <a:noFill/>
                <a:ln>
                  <a:noFill/>
                </a:ln>
              </p:spPr>
              <p:txBody>
                <a:bodyPr wrap="none" lIns="0" tIns="0" rIns="0" bIns="0" anchor="t" anchorCtr="0">
                  <a:spAutoFit/>
                </a:bodyPr>
                <a:lstStyle/>
                <a:p>
                  <a:pPr algn="l"/>
                  <a:r>
                    <a:rPr lang="zh-CN" sz="860" dirty="0">
                      <a:solidFill>
                        <a:srgbClr val="4A5568"/>
                      </a:solidFill>
                      <a:latin typeface="Arial"/>
                      <a:ea typeface="Microsoft YaHei"/>
                      <a:cs typeface="Arial"/>
                    </a:rPr>
                    <a:t>返回大气</a:t>
                  </a:r>
                </a:p>
              </p:txBody>
            </p:sp>
          </p:grpSp>
          <p:grpSp>
            <p:nvGrpSpPr>
              <p:cNvPr id="43" name="Group 43"/>
              <p:cNvGrpSpPr/>
              <p:nvPr/>
            </p:nvGrpSpPr>
            <p:grpSpPr>
              <a:xfrm>
                <a:off x="2381250" y="3295650"/>
                <a:ext cx="4019550" cy="828675"/>
                <a:chOff x="2381250" y="3295650"/>
                <a:chExt cx="4019550" cy="828675"/>
              </a:xfrm>
            </p:grpSpPr>
            <p:sp>
              <p:nvSpPr>
                <p:cNvPr id="40" name="Line 40"/>
                <p:cNvSpPr/>
                <p:nvPr/>
              </p:nvSpPr>
              <p:spPr>
                <a:xfrm>
                  <a:off x="2381250" y="3295650"/>
                  <a:ext cx="4019550" cy="781050"/>
                </a:xfrm>
                <a:custGeom>
                  <a:avLst/>
                  <a:gdLst/>
                  <a:ahLst/>
                  <a:cxnLst/>
                  <a:rect l="l" t="t" r="r" b="b"/>
                  <a:pathLst>
                    <a:path w="4019550" h="781050">
                      <a:moveTo>
                        <a:pt x="0" y="0"/>
                      </a:moveTo>
                      <a:lnTo>
                        <a:pt x="4019550" y="781050"/>
                      </a:lnTo>
                    </a:path>
                  </a:pathLst>
                </a:custGeom>
                <a:noFill/>
                <a:ln w="47625">
                  <a:solidFill>
                    <a:srgbClr val="3D7BD9"/>
                  </a:solidFill>
                </a:ln>
              </p:spPr>
            </p:sp>
            <p:sp>
              <p:nvSpPr>
                <p:cNvPr id="41" name="Polygon 41"/>
                <p:cNvSpPr/>
                <p:nvPr/>
              </p:nvSpPr>
              <p:spPr>
                <a:xfrm>
                  <a:off x="6172200" y="3952875"/>
                  <a:ext cx="228600" cy="171450"/>
                </a:xfrm>
                <a:custGeom>
                  <a:avLst/>
                  <a:gdLst/>
                  <a:ahLst/>
                  <a:cxnLst/>
                  <a:rect l="l" t="t" r="r" b="b"/>
                  <a:pathLst>
                    <a:path w="228600" h="171450">
                      <a:moveTo>
                        <a:pt x="0" y="0"/>
                      </a:moveTo>
                      <a:lnTo>
                        <a:pt x="228600" y="123825"/>
                      </a:lnTo>
                      <a:lnTo>
                        <a:pt x="38100" y="171450"/>
                      </a:lnTo>
                      <a:close/>
                    </a:path>
                  </a:pathLst>
                </a:custGeom>
                <a:solidFill>
                  <a:srgbClr val="3D7BD9"/>
                </a:solidFill>
                <a:ln>
                  <a:noFill/>
                </a:ln>
              </p:spPr>
            </p:sp>
            <p:sp>
              <p:nvSpPr>
                <p:cNvPr id="42" name="TextBox 42"/>
                <p:cNvSpPr txBox="1"/>
                <p:nvPr/>
              </p:nvSpPr>
              <p:spPr>
                <a:xfrm>
                  <a:off x="3805238" y="3384947"/>
                  <a:ext cx="1465910" cy="183356"/>
                </a:xfrm>
                <a:prstGeom prst="rect">
                  <a:avLst/>
                </a:prstGeom>
                <a:noFill/>
                <a:ln>
                  <a:noFill/>
                </a:ln>
              </p:spPr>
              <p:txBody>
                <a:bodyPr wrap="none" lIns="0" tIns="0" rIns="0" bIns="0" anchor="t" anchorCtr="0">
                  <a:spAutoFit/>
                </a:bodyPr>
                <a:lstStyle/>
                <a:p>
                  <a:pPr algn="l"/>
                  <a:r>
                    <a:rPr lang="zh-CN" sz="940" b="1" dirty="0">
                      <a:solidFill>
                        <a:srgbClr val="1E4FA8"/>
                      </a:solidFill>
                      <a:latin typeface="Arial"/>
                      <a:ea typeface="Microsoft YaHei"/>
                      <a:cs typeface="Arial"/>
                    </a:rPr>
                    <a:t>地表径流 Overland flow</a:t>
                  </a:r>
                </a:p>
              </p:txBody>
            </p:sp>
          </p:grpSp>
          <p:grpSp>
            <p:nvGrpSpPr>
              <p:cNvPr id="56" name="Group 56"/>
              <p:cNvGrpSpPr/>
              <p:nvPr/>
            </p:nvGrpSpPr>
            <p:grpSpPr>
              <a:xfrm>
                <a:off x="909638" y="3486150"/>
                <a:ext cx="5700712" cy="2362200"/>
                <a:chOff x="909638" y="3486150"/>
                <a:chExt cx="5700712" cy="2362200"/>
              </a:xfrm>
            </p:grpSpPr>
            <p:sp>
              <p:nvSpPr>
                <p:cNvPr id="44" name="Line 44"/>
                <p:cNvSpPr/>
                <p:nvPr/>
              </p:nvSpPr>
              <p:spPr>
                <a:xfrm>
                  <a:off x="2857500" y="3486150"/>
                  <a:ext cx="9525" cy="723900"/>
                </a:xfrm>
                <a:custGeom>
                  <a:avLst/>
                  <a:gdLst/>
                  <a:ahLst/>
                  <a:cxnLst/>
                  <a:rect l="l" t="t" r="r" b="b"/>
                  <a:pathLst>
                    <a:path w="9525" h="723900">
                      <a:moveTo>
                        <a:pt x="0" y="0"/>
                      </a:moveTo>
                      <a:lnTo>
                        <a:pt x="0" y="723900"/>
                      </a:lnTo>
                    </a:path>
                  </a:pathLst>
                </a:custGeom>
                <a:noFill/>
                <a:ln w="28575">
                  <a:solidFill>
                    <a:srgbClr val="3D7BD9"/>
                  </a:solidFill>
                </a:ln>
              </p:spPr>
            </p:sp>
            <p:sp>
              <p:nvSpPr>
                <p:cNvPr id="45" name="Polygon 45"/>
                <p:cNvSpPr/>
                <p:nvPr/>
              </p:nvSpPr>
              <p:spPr>
                <a:xfrm>
                  <a:off x="2790825" y="4095750"/>
                  <a:ext cx="133350" cy="152400"/>
                </a:xfrm>
                <a:custGeom>
                  <a:avLst/>
                  <a:gdLst/>
                  <a:ahLst/>
                  <a:cxnLst/>
                  <a:rect l="l" t="t" r="r" b="b"/>
                  <a:pathLst>
                    <a:path w="133350" h="152400">
                      <a:moveTo>
                        <a:pt x="0" y="0"/>
                      </a:moveTo>
                      <a:lnTo>
                        <a:pt x="66675" y="152400"/>
                      </a:lnTo>
                      <a:lnTo>
                        <a:pt x="133350" y="0"/>
                      </a:lnTo>
                      <a:close/>
                    </a:path>
                  </a:pathLst>
                </a:custGeom>
                <a:solidFill>
                  <a:srgbClr val="3D7BD9"/>
                </a:solidFill>
                <a:ln>
                  <a:noFill/>
                </a:ln>
              </p:spPr>
            </p:sp>
            <p:sp>
              <p:nvSpPr>
                <p:cNvPr id="46" name="Line 46"/>
                <p:cNvSpPr/>
                <p:nvPr/>
              </p:nvSpPr>
              <p:spPr>
                <a:xfrm>
                  <a:off x="3333750" y="3552825"/>
                  <a:ext cx="9525" cy="657225"/>
                </a:xfrm>
                <a:custGeom>
                  <a:avLst/>
                  <a:gdLst/>
                  <a:ahLst/>
                  <a:cxnLst/>
                  <a:rect l="l" t="t" r="r" b="b"/>
                  <a:pathLst>
                    <a:path w="9525" h="657225">
                      <a:moveTo>
                        <a:pt x="0" y="0"/>
                      </a:moveTo>
                      <a:lnTo>
                        <a:pt x="0" y="657225"/>
                      </a:lnTo>
                    </a:path>
                  </a:pathLst>
                </a:custGeom>
                <a:noFill/>
                <a:ln w="28575">
                  <a:solidFill>
                    <a:srgbClr val="3D7BD9"/>
                  </a:solidFill>
                </a:ln>
              </p:spPr>
            </p:sp>
            <p:sp>
              <p:nvSpPr>
                <p:cNvPr id="47" name="Polygon 47"/>
                <p:cNvSpPr/>
                <p:nvPr/>
              </p:nvSpPr>
              <p:spPr>
                <a:xfrm>
                  <a:off x="3267075" y="4095750"/>
                  <a:ext cx="133350" cy="152400"/>
                </a:xfrm>
                <a:custGeom>
                  <a:avLst/>
                  <a:gdLst/>
                  <a:ahLst/>
                  <a:cxnLst/>
                  <a:rect l="l" t="t" r="r" b="b"/>
                  <a:pathLst>
                    <a:path w="133350" h="152400">
                      <a:moveTo>
                        <a:pt x="0" y="0"/>
                      </a:moveTo>
                      <a:lnTo>
                        <a:pt x="66675" y="152400"/>
                      </a:lnTo>
                      <a:lnTo>
                        <a:pt x="133350" y="0"/>
                      </a:lnTo>
                      <a:close/>
                    </a:path>
                  </a:pathLst>
                </a:custGeom>
                <a:solidFill>
                  <a:srgbClr val="3D7BD9"/>
                </a:solidFill>
                <a:ln>
                  <a:noFill/>
                </a:ln>
              </p:spPr>
            </p:sp>
            <p:sp>
              <p:nvSpPr>
                <p:cNvPr id="48" name="TextBox 48"/>
                <p:cNvSpPr txBox="1"/>
                <p:nvPr/>
              </p:nvSpPr>
              <p:spPr>
                <a:xfrm>
                  <a:off x="909638" y="4398645"/>
                  <a:ext cx="2346123" cy="176212"/>
                </a:xfrm>
                <a:prstGeom prst="rect">
                  <a:avLst/>
                </a:prstGeom>
                <a:noFill/>
                <a:ln>
                  <a:noFill/>
                </a:ln>
              </p:spPr>
              <p:txBody>
                <a:bodyPr wrap="none" lIns="0" tIns="0" rIns="0" bIns="0" anchor="t" anchorCtr="0">
                  <a:spAutoFit/>
                </a:bodyPr>
                <a:lstStyle/>
                <a:p>
                  <a:pPr algn="l"/>
                  <a:r>
                    <a:rPr lang="zh-CN" sz="900" b="1" dirty="0">
                      <a:solidFill>
                        <a:srgbClr val="1E4FA8"/>
                      </a:solidFill>
                      <a:latin typeface="Arial"/>
                      <a:ea typeface="Microsoft YaHei"/>
                      <a:cs typeface="Arial"/>
                    </a:rPr>
                    <a:t>入渗 Infiltration：经孔隙、裂隙进入土壤</a:t>
                  </a:r>
                </a:p>
              </p:txBody>
            </p:sp>
            <p:sp>
              <p:nvSpPr>
                <p:cNvPr id="49" name="Line 49"/>
                <p:cNvSpPr/>
                <p:nvPr/>
              </p:nvSpPr>
              <p:spPr>
                <a:xfrm>
                  <a:off x="3333750" y="4686300"/>
                  <a:ext cx="2952750" cy="142875"/>
                </a:xfrm>
                <a:custGeom>
                  <a:avLst/>
                  <a:gdLst/>
                  <a:ahLst/>
                  <a:cxnLst/>
                  <a:rect l="l" t="t" r="r" b="b"/>
                  <a:pathLst>
                    <a:path w="2952750" h="142875">
                      <a:moveTo>
                        <a:pt x="0" y="0"/>
                      </a:moveTo>
                      <a:lnTo>
                        <a:pt x="2952750" y="142875"/>
                      </a:lnTo>
                    </a:path>
                  </a:pathLst>
                </a:custGeom>
                <a:noFill/>
                <a:ln w="28575">
                  <a:solidFill>
                    <a:srgbClr val="1E4FA8"/>
                  </a:solidFill>
                </a:ln>
              </p:spPr>
            </p:sp>
            <p:sp>
              <p:nvSpPr>
                <p:cNvPr id="50" name="Line 50"/>
                <p:cNvSpPr/>
                <p:nvPr/>
              </p:nvSpPr>
              <p:spPr>
                <a:xfrm>
                  <a:off x="6286500" y="4267200"/>
                  <a:ext cx="323850" cy="561975"/>
                </a:xfrm>
                <a:custGeom>
                  <a:avLst/>
                  <a:gdLst/>
                  <a:ahLst/>
                  <a:cxnLst/>
                  <a:rect l="l" t="t" r="r" b="b"/>
                  <a:pathLst>
                    <a:path w="323850" h="561975">
                      <a:moveTo>
                        <a:pt x="0" y="561975"/>
                      </a:moveTo>
                      <a:lnTo>
                        <a:pt x="323850" y="0"/>
                      </a:lnTo>
                    </a:path>
                  </a:pathLst>
                </a:custGeom>
                <a:noFill/>
                <a:ln w="28575">
                  <a:solidFill>
                    <a:srgbClr val="1E4FA8"/>
                  </a:solidFill>
                </a:ln>
              </p:spPr>
            </p:sp>
            <p:sp>
              <p:nvSpPr>
                <p:cNvPr id="51" name="Polygon 51"/>
                <p:cNvSpPr/>
                <p:nvPr/>
              </p:nvSpPr>
              <p:spPr>
                <a:xfrm>
                  <a:off x="6457950" y="4267200"/>
                  <a:ext cx="152400" cy="180975"/>
                </a:xfrm>
                <a:custGeom>
                  <a:avLst/>
                  <a:gdLst/>
                  <a:ahLst/>
                  <a:cxnLst/>
                  <a:rect l="l" t="t" r="r" b="b"/>
                  <a:pathLst>
                    <a:path w="152400" h="180975">
                      <a:moveTo>
                        <a:pt x="133350" y="180975"/>
                      </a:moveTo>
                      <a:lnTo>
                        <a:pt x="152400" y="0"/>
                      </a:lnTo>
                      <a:lnTo>
                        <a:pt x="0" y="104775"/>
                      </a:lnTo>
                      <a:close/>
                    </a:path>
                  </a:pathLst>
                </a:custGeom>
                <a:solidFill>
                  <a:srgbClr val="1E4FA8"/>
                </a:solidFill>
                <a:ln>
                  <a:noFill/>
                </a:ln>
              </p:spPr>
            </p:sp>
            <p:sp>
              <p:nvSpPr>
                <p:cNvPr id="52" name="TextBox 52"/>
                <p:cNvSpPr txBox="1"/>
                <p:nvPr/>
              </p:nvSpPr>
              <p:spPr>
                <a:xfrm>
                  <a:off x="3652838" y="5012293"/>
                  <a:ext cx="1746123" cy="169069"/>
                </a:xfrm>
                <a:prstGeom prst="rect">
                  <a:avLst/>
                </a:prstGeom>
                <a:noFill/>
                <a:ln>
                  <a:noFill/>
                </a:ln>
              </p:spPr>
              <p:txBody>
                <a:bodyPr wrap="none" lIns="0" tIns="0" rIns="0" bIns="0" anchor="t" anchorCtr="0">
                  <a:spAutoFit/>
                </a:bodyPr>
                <a:lstStyle/>
                <a:p>
                  <a:pPr algn="l"/>
                  <a:r>
                    <a:rPr lang="zh-CN" sz="860" dirty="0">
                      <a:solidFill>
                        <a:srgbClr val="4A5568"/>
                      </a:solidFill>
                      <a:latin typeface="Arial"/>
                      <a:ea typeface="Microsoft YaHei"/>
                      <a:cs typeface="Arial"/>
                    </a:rPr>
                    <a:t>近地表入渗水回归地表、并入径流</a:t>
                  </a:r>
                </a:p>
              </p:txBody>
            </p:sp>
            <p:sp>
              <p:nvSpPr>
                <p:cNvPr id="53" name="Line 53"/>
                <p:cNvSpPr/>
                <p:nvPr/>
              </p:nvSpPr>
              <p:spPr>
                <a:xfrm>
                  <a:off x="4095750" y="5181600"/>
                  <a:ext cx="9525" cy="628650"/>
                </a:xfrm>
                <a:custGeom>
                  <a:avLst/>
                  <a:gdLst/>
                  <a:ahLst/>
                  <a:cxnLst/>
                  <a:rect l="l" t="t" r="r" b="b"/>
                  <a:pathLst>
                    <a:path w="9525" h="628650">
                      <a:moveTo>
                        <a:pt x="0" y="0"/>
                      </a:moveTo>
                      <a:lnTo>
                        <a:pt x="0" y="628650"/>
                      </a:lnTo>
                    </a:path>
                  </a:pathLst>
                </a:custGeom>
                <a:noFill/>
                <a:ln w="28575">
                  <a:solidFill>
                    <a:srgbClr val="8FA3BD"/>
                  </a:solidFill>
                  <a:custDash>
                    <a:ds d="200000" sp="133333"/>
                  </a:custDash>
                </a:ln>
              </p:spPr>
            </p:sp>
            <p:sp>
              <p:nvSpPr>
                <p:cNvPr id="54" name="Polygon 54"/>
                <p:cNvSpPr/>
                <p:nvPr/>
              </p:nvSpPr>
              <p:spPr>
                <a:xfrm>
                  <a:off x="4019550" y="5695950"/>
                  <a:ext cx="152400" cy="152400"/>
                </a:xfrm>
                <a:custGeom>
                  <a:avLst/>
                  <a:gdLst/>
                  <a:ahLst/>
                  <a:cxnLst/>
                  <a:rect l="l" t="t" r="r" b="b"/>
                  <a:pathLst>
                    <a:path w="152400" h="152400">
                      <a:moveTo>
                        <a:pt x="0" y="0"/>
                      </a:moveTo>
                      <a:lnTo>
                        <a:pt x="76200" y="152400"/>
                      </a:lnTo>
                      <a:lnTo>
                        <a:pt x="152400" y="0"/>
                      </a:lnTo>
                      <a:close/>
                    </a:path>
                  </a:pathLst>
                </a:custGeom>
                <a:solidFill>
                  <a:srgbClr val="8FA3BD"/>
                </a:solidFill>
                <a:ln>
                  <a:noFill/>
                </a:ln>
              </p:spPr>
            </p:sp>
            <p:sp>
              <p:nvSpPr>
                <p:cNvPr id="55" name="TextBox 55"/>
                <p:cNvSpPr txBox="1"/>
                <p:nvPr/>
              </p:nvSpPr>
              <p:spPr>
                <a:xfrm>
                  <a:off x="4243388" y="5545693"/>
                  <a:ext cx="1439324" cy="169069"/>
                </a:xfrm>
                <a:prstGeom prst="rect">
                  <a:avLst/>
                </a:prstGeom>
                <a:noFill/>
                <a:ln>
                  <a:noFill/>
                </a:ln>
              </p:spPr>
              <p:txBody>
                <a:bodyPr wrap="none" lIns="0" tIns="0" rIns="0" bIns="0" anchor="t" anchorCtr="0">
                  <a:spAutoFit/>
                </a:bodyPr>
                <a:lstStyle/>
                <a:p>
                  <a:pPr algn="l"/>
                  <a:r>
                    <a:rPr lang="zh-CN" sz="860" dirty="0">
                      <a:solidFill>
                        <a:srgbClr val="4A5568"/>
                      </a:solidFill>
                      <a:latin typeface="Arial"/>
                      <a:ea typeface="Microsoft YaHei"/>
                      <a:cs typeface="Arial"/>
                    </a:rPr>
                    <a:t>继续下渗 → 地下水（1.12）</a:t>
                  </a:r>
                </a:p>
              </p:txBody>
            </p:sp>
          </p:grpSp>
        </p:grpSp>
        <p:grpSp>
          <p:nvGrpSpPr>
            <p:cNvPr id="63" name="Group 63"/>
            <p:cNvGrpSpPr/>
            <p:nvPr/>
          </p:nvGrpSpPr>
          <p:grpSpPr>
            <a:xfrm>
              <a:off x="8001000" y="1581150"/>
              <a:ext cx="3619500" cy="1333500"/>
              <a:chOff x="8001000" y="1581150"/>
              <a:chExt cx="3619500" cy="1333500"/>
            </a:xfrm>
          </p:grpSpPr>
          <p:sp>
            <p:nvSpPr>
              <p:cNvPr id="58" name="Rectangle 58"/>
              <p:cNvSpPr/>
              <p:nvPr/>
            </p:nvSpPr>
            <p:spPr>
              <a:xfrm>
                <a:off x="8001000" y="1581150"/>
                <a:ext cx="3619500" cy="1333500"/>
              </a:xfrm>
              <a:prstGeom prst="roundRect">
                <a:avLst>
                  <a:gd name="adj" fmla="val 8571"/>
                </a:avLst>
              </a:prstGeom>
              <a:solidFill>
                <a:srgbClr val="F0F5FC"/>
              </a:solidFill>
              <a:ln w="9525">
                <a:solidFill>
                  <a:srgbClr val="D6DCE5"/>
                </a:solidFill>
              </a:ln>
            </p:spPr>
          </p:sp>
          <p:sp>
            <p:nvSpPr>
              <p:cNvPr id="59" name="TextBox 59"/>
              <p:cNvSpPr txBox="1"/>
              <p:nvPr/>
            </p:nvSpPr>
            <p:spPr>
              <a:xfrm>
                <a:off x="8185785" y="1764506"/>
                <a:ext cx="987011" cy="220028"/>
              </a:xfrm>
              <a:prstGeom prst="rect">
                <a:avLst/>
              </a:prstGeom>
              <a:noFill/>
              <a:ln>
                <a:noFill/>
              </a:ln>
            </p:spPr>
            <p:txBody>
              <a:bodyPr wrap="none" lIns="0" tIns="0" rIns="0" bIns="0" anchor="t" anchorCtr="0">
                <a:spAutoFit/>
              </a:bodyPr>
              <a:lstStyle/>
              <a:p>
                <a:pPr algn="l"/>
                <a:r>
                  <a:rPr lang="zh-CN" sz="1120" b="1" dirty="0">
                    <a:solidFill>
                      <a:srgbClr val="0E3F8C"/>
                    </a:solidFill>
                    <a:latin typeface="Arial"/>
                    <a:ea typeface="Microsoft YaHei"/>
                    <a:cs typeface="Arial"/>
                  </a:rPr>
                  <a:t>径流 | Runoff</a:t>
                </a:r>
              </a:p>
            </p:txBody>
          </p:sp>
          <p:sp>
            <p:nvSpPr>
              <p:cNvPr id="60" name="TextBox 60"/>
              <p:cNvSpPr txBox="1"/>
              <p:nvPr/>
            </p:nvSpPr>
            <p:spPr>
              <a:xfrm>
                <a:off x="8186738" y="2070497"/>
                <a:ext cx="1654581" cy="183356"/>
              </a:xfrm>
              <a:prstGeom prst="rect">
                <a:avLst/>
              </a:prstGeom>
              <a:noFill/>
              <a:ln>
                <a:noFill/>
              </a:ln>
            </p:spPr>
            <p:txBody>
              <a:bodyPr wrap="none" lIns="0" tIns="0" rIns="0" bIns="0" anchor="t" anchorCtr="0">
                <a:spAutoFit/>
              </a:bodyPr>
              <a:lstStyle/>
              <a:p>
                <a:pPr algn="l"/>
                <a:r>
                  <a:rPr lang="zh-CN" sz="940" dirty="0">
                    <a:solidFill>
                      <a:srgbClr val="1A2230"/>
                    </a:solidFill>
                    <a:latin typeface="Arial"/>
                    <a:ea typeface="Microsoft YaHei"/>
                    <a:cs typeface="Arial"/>
                  </a:rPr>
                  <a:t>沿地表漫流的水，加上近地表</a:t>
                </a:r>
              </a:p>
            </p:txBody>
          </p:sp>
          <p:sp>
            <p:nvSpPr>
              <p:cNvPr id="61" name="TextBox 61"/>
              <p:cNvSpPr txBox="1"/>
              <p:nvPr/>
            </p:nvSpPr>
            <p:spPr>
              <a:xfrm>
                <a:off x="8186738" y="2299097"/>
                <a:ext cx="1654581" cy="183356"/>
              </a:xfrm>
              <a:prstGeom prst="rect">
                <a:avLst/>
              </a:prstGeom>
              <a:noFill/>
              <a:ln>
                <a:noFill/>
              </a:ln>
            </p:spPr>
            <p:txBody>
              <a:bodyPr wrap="none" lIns="0" tIns="0" rIns="0" bIns="0" anchor="t" anchorCtr="0">
                <a:spAutoFit/>
              </a:bodyPr>
              <a:lstStyle/>
              <a:p>
                <a:pPr algn="l"/>
                <a:r>
                  <a:rPr lang="zh-CN" sz="940" dirty="0">
                    <a:solidFill>
                      <a:srgbClr val="1A2230"/>
                    </a:solidFill>
                    <a:latin typeface="Arial"/>
                    <a:ea typeface="Microsoft YaHei"/>
                    <a:cs typeface="Arial"/>
                  </a:rPr>
                  <a:t>入渗后又回到地表的水，共同</a:t>
                </a:r>
              </a:p>
            </p:txBody>
          </p:sp>
          <p:sp>
            <p:nvSpPr>
              <p:cNvPr id="62" name="TextBox 62"/>
              <p:cNvSpPr txBox="1"/>
              <p:nvPr/>
            </p:nvSpPr>
            <p:spPr>
              <a:xfrm>
                <a:off x="8186738" y="2527697"/>
                <a:ext cx="1667474" cy="183356"/>
              </a:xfrm>
              <a:prstGeom prst="rect">
                <a:avLst/>
              </a:prstGeom>
              <a:noFill/>
              <a:ln>
                <a:noFill/>
              </a:ln>
            </p:spPr>
            <p:txBody>
              <a:bodyPr wrap="none" lIns="0" tIns="0" rIns="0" bIns="0" anchor="t" anchorCtr="0">
                <a:spAutoFit/>
              </a:bodyPr>
              <a:lstStyle/>
              <a:p>
                <a:pPr algn="l"/>
                <a:r>
                  <a:rPr lang="zh-CN" sz="940" dirty="0">
                    <a:solidFill>
                      <a:srgbClr val="1A2230"/>
                    </a:solidFill>
                    <a:latin typeface="Arial"/>
                    <a:ea typeface="Microsoft YaHei"/>
                    <a:cs typeface="Arial"/>
                  </a:rPr>
                  <a:t>构成径流（UE 广义定义）。</a:t>
                </a:r>
              </a:p>
            </p:txBody>
          </p:sp>
        </p:grpSp>
        <p:grpSp>
          <p:nvGrpSpPr>
            <p:cNvPr id="69" name="Group 69"/>
            <p:cNvGrpSpPr/>
            <p:nvPr/>
          </p:nvGrpSpPr>
          <p:grpSpPr>
            <a:xfrm>
              <a:off x="8001000" y="3028950"/>
              <a:ext cx="3619500" cy="1333500"/>
              <a:chOff x="8001000" y="3028950"/>
              <a:chExt cx="3619500" cy="1333500"/>
            </a:xfrm>
          </p:grpSpPr>
          <p:sp>
            <p:nvSpPr>
              <p:cNvPr id="64" name="Rectangle 64"/>
              <p:cNvSpPr/>
              <p:nvPr/>
            </p:nvSpPr>
            <p:spPr>
              <a:xfrm>
                <a:off x="8001000" y="3028950"/>
                <a:ext cx="3619500" cy="1333500"/>
              </a:xfrm>
              <a:prstGeom prst="roundRect">
                <a:avLst>
                  <a:gd name="adj" fmla="val 8571"/>
                </a:avLst>
              </a:prstGeom>
              <a:solidFill>
                <a:srgbClr val="FFFFFF"/>
              </a:solidFill>
              <a:ln w="9525">
                <a:solidFill>
                  <a:srgbClr val="D6DCE5"/>
                </a:solidFill>
              </a:ln>
            </p:spPr>
          </p:sp>
          <p:sp>
            <p:nvSpPr>
              <p:cNvPr id="65" name="TextBox 65"/>
              <p:cNvSpPr txBox="1"/>
              <p:nvPr/>
            </p:nvSpPr>
            <p:spPr>
              <a:xfrm>
                <a:off x="8185785" y="3212306"/>
                <a:ext cx="1348290" cy="220028"/>
              </a:xfrm>
              <a:prstGeom prst="rect">
                <a:avLst/>
              </a:prstGeom>
              <a:noFill/>
              <a:ln>
                <a:noFill/>
              </a:ln>
            </p:spPr>
            <p:txBody>
              <a:bodyPr wrap="none" lIns="0" tIns="0" rIns="0" bIns="0" anchor="t" anchorCtr="0">
                <a:spAutoFit/>
              </a:bodyPr>
              <a:lstStyle/>
              <a:p>
                <a:pPr algn="l"/>
                <a:r>
                  <a:rPr lang="zh-CN" sz="1120" b="1" dirty="0">
                    <a:solidFill>
                      <a:srgbClr val="0E3F8C"/>
                    </a:solidFill>
                    <a:latin typeface="Arial"/>
                    <a:ea typeface="Microsoft YaHei"/>
                    <a:cs typeface="Arial"/>
                  </a:rPr>
                  <a:t>入渗 | Infiltration</a:t>
                </a:r>
              </a:p>
            </p:txBody>
          </p:sp>
          <p:sp>
            <p:nvSpPr>
              <p:cNvPr id="66" name="TextBox 66"/>
              <p:cNvSpPr txBox="1"/>
              <p:nvPr/>
            </p:nvSpPr>
            <p:spPr>
              <a:xfrm>
                <a:off x="8186738" y="3518297"/>
                <a:ext cx="1528039" cy="183356"/>
              </a:xfrm>
              <a:prstGeom prst="rect">
                <a:avLst/>
              </a:prstGeom>
              <a:noFill/>
              <a:ln>
                <a:noFill/>
              </a:ln>
            </p:spPr>
            <p:txBody>
              <a:bodyPr wrap="none" lIns="0" tIns="0" rIns="0" bIns="0" anchor="t" anchorCtr="0">
                <a:spAutoFit/>
              </a:bodyPr>
              <a:lstStyle/>
              <a:p>
                <a:pPr algn="l"/>
                <a:r>
                  <a:rPr lang="zh-CN" sz="940" dirty="0">
                    <a:solidFill>
                      <a:srgbClr val="1A2230"/>
                    </a:solidFill>
                    <a:latin typeface="Arial"/>
                    <a:ea typeface="Microsoft YaHei"/>
                    <a:cs typeface="Arial"/>
                  </a:rPr>
                  <a:t>水通过土壤、岩石的孔隙或</a:t>
                </a:r>
              </a:p>
            </p:txBody>
          </p:sp>
          <p:sp>
            <p:nvSpPr>
              <p:cNvPr id="67" name="TextBox 67"/>
              <p:cNvSpPr txBox="1"/>
              <p:nvPr/>
            </p:nvSpPr>
            <p:spPr>
              <a:xfrm>
                <a:off x="8186738" y="3746897"/>
                <a:ext cx="1528039" cy="183356"/>
              </a:xfrm>
              <a:prstGeom prst="rect">
                <a:avLst/>
              </a:prstGeom>
              <a:noFill/>
              <a:ln>
                <a:noFill/>
              </a:ln>
            </p:spPr>
            <p:txBody>
              <a:bodyPr wrap="none" lIns="0" tIns="0" rIns="0" bIns="0" anchor="t" anchorCtr="0">
                <a:spAutoFit/>
              </a:bodyPr>
              <a:lstStyle/>
              <a:p>
                <a:pPr algn="l"/>
                <a:r>
                  <a:rPr lang="zh-CN" sz="940" dirty="0">
                    <a:solidFill>
                      <a:srgbClr val="1A2230"/>
                    </a:solidFill>
                    <a:latin typeface="Arial"/>
                    <a:ea typeface="Microsoft YaHei"/>
                    <a:cs typeface="Arial"/>
                  </a:rPr>
                  <a:t>裂隙向下运动；入渗不等于</a:t>
                </a:r>
              </a:p>
            </p:txBody>
          </p:sp>
          <p:sp>
            <p:nvSpPr>
              <p:cNvPr id="68" name="TextBox 68"/>
              <p:cNvSpPr txBox="1"/>
              <p:nvPr/>
            </p:nvSpPr>
            <p:spPr>
              <a:xfrm>
                <a:off x="8186738" y="3975497"/>
                <a:ext cx="895325" cy="183356"/>
              </a:xfrm>
              <a:prstGeom prst="rect">
                <a:avLst/>
              </a:prstGeom>
              <a:noFill/>
              <a:ln>
                <a:noFill/>
              </a:ln>
            </p:spPr>
            <p:txBody>
              <a:bodyPr wrap="none" lIns="0" tIns="0" rIns="0" bIns="0" anchor="t" anchorCtr="0">
                <a:spAutoFit/>
              </a:bodyPr>
              <a:lstStyle/>
              <a:p>
                <a:pPr algn="l"/>
                <a:r>
                  <a:rPr lang="zh-CN" sz="940" dirty="0">
                    <a:solidFill>
                      <a:srgbClr val="1A2230"/>
                    </a:solidFill>
                    <a:latin typeface="Arial"/>
                    <a:ea typeface="Microsoft YaHei"/>
                    <a:cs typeface="Arial"/>
                  </a:rPr>
                  <a:t>永久离开径流。</a:t>
                </a:r>
              </a:p>
            </p:txBody>
          </p:sp>
        </p:grpSp>
        <p:grpSp>
          <p:nvGrpSpPr>
            <p:cNvPr id="75" name="Group 75"/>
            <p:cNvGrpSpPr/>
            <p:nvPr/>
          </p:nvGrpSpPr>
          <p:grpSpPr>
            <a:xfrm>
              <a:off x="8001000" y="4476750"/>
              <a:ext cx="3619500" cy="1333500"/>
              <a:chOff x="8001000" y="4476750"/>
              <a:chExt cx="3619500" cy="1333500"/>
            </a:xfrm>
          </p:grpSpPr>
          <p:sp>
            <p:nvSpPr>
              <p:cNvPr id="70" name="Rectangle 70"/>
              <p:cNvSpPr/>
              <p:nvPr/>
            </p:nvSpPr>
            <p:spPr>
              <a:xfrm>
                <a:off x="8001000" y="4476750"/>
                <a:ext cx="3619500" cy="1333500"/>
              </a:xfrm>
              <a:prstGeom prst="roundRect">
                <a:avLst>
                  <a:gd name="adj" fmla="val 8571"/>
                </a:avLst>
              </a:prstGeom>
              <a:solidFill>
                <a:srgbClr val="F0F5FC"/>
              </a:solidFill>
              <a:ln w="9525">
                <a:solidFill>
                  <a:srgbClr val="D6DCE5"/>
                </a:solidFill>
              </a:ln>
            </p:spPr>
          </p:sp>
          <p:sp>
            <p:nvSpPr>
              <p:cNvPr id="71" name="TextBox 71"/>
              <p:cNvSpPr txBox="1"/>
              <p:nvPr/>
            </p:nvSpPr>
            <p:spPr>
              <a:xfrm>
                <a:off x="8185785" y="4660106"/>
                <a:ext cx="1949680" cy="220028"/>
              </a:xfrm>
              <a:prstGeom prst="rect">
                <a:avLst/>
              </a:prstGeom>
              <a:noFill/>
              <a:ln>
                <a:noFill/>
              </a:ln>
            </p:spPr>
            <p:txBody>
              <a:bodyPr wrap="none" lIns="0" tIns="0" rIns="0" bIns="0" anchor="t" anchorCtr="0">
                <a:spAutoFit/>
              </a:bodyPr>
              <a:lstStyle/>
              <a:p>
                <a:pPr algn="l"/>
                <a:r>
                  <a:rPr lang="zh-CN" sz="1120" b="1" dirty="0">
                    <a:solidFill>
                      <a:srgbClr val="0E3F8C"/>
                    </a:solidFill>
                    <a:latin typeface="Arial"/>
                    <a:ea typeface="Microsoft YaHei"/>
                    <a:cs typeface="Arial"/>
                  </a:rPr>
                  <a:t>蒸散 | Evapotranspiration</a:t>
                </a:r>
              </a:p>
            </p:txBody>
          </p:sp>
          <p:sp>
            <p:nvSpPr>
              <p:cNvPr id="72" name="TextBox 72"/>
              <p:cNvSpPr txBox="1"/>
              <p:nvPr/>
            </p:nvSpPr>
            <p:spPr>
              <a:xfrm>
                <a:off x="8186738" y="4966097"/>
                <a:ext cx="1401496" cy="183356"/>
              </a:xfrm>
              <a:prstGeom prst="rect">
                <a:avLst/>
              </a:prstGeom>
              <a:noFill/>
              <a:ln>
                <a:noFill/>
              </a:ln>
            </p:spPr>
            <p:txBody>
              <a:bodyPr wrap="none" lIns="0" tIns="0" rIns="0" bIns="0" anchor="t" anchorCtr="0">
                <a:spAutoFit/>
              </a:bodyPr>
              <a:lstStyle/>
              <a:p>
                <a:pPr algn="l"/>
                <a:r>
                  <a:rPr lang="zh-CN" sz="940" dirty="0">
                    <a:solidFill>
                      <a:srgbClr val="1A2230"/>
                    </a:solidFill>
                    <a:latin typeface="Arial"/>
                    <a:ea typeface="Microsoft YaHei"/>
                    <a:cs typeface="Arial"/>
                  </a:rPr>
                  <a:t>部分落地水经蒸发或植物</a:t>
                </a:r>
              </a:p>
            </p:txBody>
          </p:sp>
          <p:sp>
            <p:nvSpPr>
              <p:cNvPr id="73" name="TextBox 73"/>
              <p:cNvSpPr txBox="1"/>
              <p:nvPr/>
            </p:nvSpPr>
            <p:spPr>
              <a:xfrm>
                <a:off x="8186738" y="5194697"/>
                <a:ext cx="1021867" cy="183356"/>
              </a:xfrm>
              <a:prstGeom prst="rect">
                <a:avLst/>
              </a:prstGeom>
              <a:noFill/>
              <a:ln>
                <a:noFill/>
              </a:ln>
            </p:spPr>
            <p:txBody>
              <a:bodyPr wrap="none" lIns="0" tIns="0" rIns="0" bIns="0" anchor="t" anchorCtr="0">
                <a:spAutoFit/>
              </a:bodyPr>
              <a:lstStyle/>
              <a:p>
                <a:pPr algn="l"/>
                <a:r>
                  <a:rPr lang="zh-CN" sz="940" dirty="0">
                    <a:solidFill>
                      <a:srgbClr val="1A2230"/>
                    </a:solidFill>
                    <a:latin typeface="Arial"/>
                    <a:ea typeface="Microsoft YaHei"/>
                    <a:cs typeface="Arial"/>
                  </a:rPr>
                  <a:t>蒸腾直接返回大气</a:t>
                </a:r>
              </a:p>
            </p:txBody>
          </p:sp>
          <p:sp>
            <p:nvSpPr>
              <p:cNvPr id="74" name="TextBox 74"/>
              <p:cNvSpPr txBox="1"/>
              <p:nvPr/>
            </p:nvSpPr>
            <p:spPr>
              <a:xfrm>
                <a:off x="8186738" y="5423297"/>
                <a:ext cx="1559674" cy="183356"/>
              </a:xfrm>
              <a:prstGeom prst="rect">
                <a:avLst/>
              </a:prstGeom>
              <a:noFill/>
              <a:ln>
                <a:noFill/>
              </a:ln>
            </p:spPr>
            <p:txBody>
              <a:bodyPr wrap="none" lIns="0" tIns="0" rIns="0" bIns="0" anchor="t" anchorCtr="0">
                <a:spAutoFit/>
              </a:bodyPr>
              <a:lstStyle/>
              <a:p>
                <a:pPr algn="l"/>
                <a:r>
                  <a:rPr lang="zh-CN" sz="940" dirty="0">
                    <a:solidFill>
                      <a:srgbClr val="1A2230"/>
                    </a:solidFill>
                    <a:latin typeface="Arial"/>
                    <a:ea typeface="Microsoft YaHei"/>
                    <a:cs typeface="Arial"/>
                  </a:rPr>
                  <a:t>（承接 1.9 蒸发与蒸散）。</a:t>
                </a:r>
              </a:p>
            </p:txBody>
          </p:sp>
        </p:grpSp>
      </p:grpSp>
      <p:grpSp>
        <p:nvGrpSpPr>
          <p:cNvPr id="78" name="Group 78"/>
          <p:cNvGrpSpPr/>
          <p:nvPr/>
        </p:nvGrpSpPr>
        <p:grpSpPr>
          <a:xfrm>
            <a:off x="2696667" y="6309122"/>
            <a:ext cx="6798666" cy="183356"/>
            <a:chOff x="2696667" y="6309122"/>
            <a:chExt cx="6798666" cy="183356"/>
          </a:xfrm>
        </p:grpSpPr>
        <p:sp>
          <p:nvSpPr>
            <p:cNvPr id="77" name="TextBox 77"/>
            <p:cNvSpPr txBox="1"/>
            <p:nvPr/>
          </p:nvSpPr>
          <p:spPr>
            <a:xfrm>
              <a:off x="2696667" y="6309122"/>
              <a:ext cx="6798666" cy="183356"/>
            </a:xfrm>
            <a:prstGeom prst="rect">
              <a:avLst/>
            </a:prstGeom>
            <a:noFill/>
            <a:ln>
              <a:noFill/>
            </a:ln>
          </p:spPr>
          <p:txBody>
            <a:bodyPr wrap="none" lIns="0" tIns="0" rIns="0" bIns="0" anchor="t" anchorCtr="0">
              <a:spAutoFit/>
            </a:bodyPr>
            <a:lstStyle/>
            <a:p>
              <a:pPr algn="ctr"/>
              <a:r>
                <a:rPr lang="zh-CN" sz="940" dirty="0">
                  <a:solidFill>
                    <a:srgbClr val="4A5568"/>
                  </a:solidFill>
                  <a:latin typeface="Arial"/>
                  <a:ea typeface="Microsoft YaHei"/>
                  <a:cs typeface="Arial"/>
                </a:rPr>
                <a:t>三者比例受气候、地形、岩土与植被控制，不存在统一的全球百分比（UE p.1667）；本图为过程示意，非定量比例。</a:t>
              </a:r>
            </a:p>
          </p:txBody>
        </p:sp>
      </p:grpSp>
      <p:sp>
        <p:nvSpPr>
          <p:cNvPr id="79" name="TextBox 79"/>
          <p:cNvSpPr txBox="1"/>
          <p:nvPr/>
        </p:nvSpPr>
        <p:spPr>
          <a:xfrm>
            <a:off x="376238" y="6532245"/>
            <a:ext cx="8031256" cy="176212"/>
          </a:xfrm>
          <a:prstGeom prst="rect">
            <a:avLst/>
          </a:prstGeom>
          <a:noFill/>
          <a:ln>
            <a:noFill/>
          </a:ln>
        </p:spPr>
        <p:txBody>
          <a:bodyPr wrap="none" lIns="0" tIns="0" rIns="0" bIns="0" anchor="t" anchorCtr="0">
            <a:spAutoFit/>
          </a:bodyPr>
          <a:lstStyle/>
          <a:p>
            <a:pPr algn="l"/>
            <a:r>
              <a:rPr lang="zh-CN" sz="900" dirty="0">
                <a:solidFill>
                  <a:srgbClr val="4A5568"/>
                </a:solidFill>
                <a:latin typeface="Arial"/>
                <a:ea typeface="Microsoft YaHei"/>
                <a:cs typeface="Arial"/>
              </a:rPr>
              <a:t>Source: UE 8e pp.1654, 1667; 地球系统与演变 Ch.3 (CN Fig.3-7/3-15B statements). Native partition diagram; no global numerical split.</a:t>
            </a:r>
          </a:p>
        </p:txBody>
      </p:sp>
      <p:sp>
        <p:nvSpPr>
          <p:cNvPr id="80" name="TextBox 80"/>
          <p:cNvSpPr txBox="1"/>
          <p:nvPr/>
        </p:nvSpPr>
        <p:spPr>
          <a:xfrm>
            <a:off x="11672964" y="6532245"/>
            <a:ext cx="142799" cy="176212"/>
          </a:xfrm>
          <a:prstGeom prst="rect">
            <a:avLst/>
          </a:prstGeom>
          <a:noFill/>
          <a:ln>
            <a:noFill/>
          </a:ln>
        </p:spPr>
        <p:txBody>
          <a:bodyPr wrap="none" lIns="0" tIns="0" rIns="0" bIns="0" anchor="t" anchorCtr="0">
            <a:spAutoFit/>
          </a:bodyPr>
          <a:lstStyle/>
          <a:p>
            <a:pPr algn="r"/>
            <a:r>
              <a:rPr lang="en-US" sz="900" dirty="0">
                <a:solidFill>
                  <a:srgbClr val="4A5568"/>
                </a:solidFill>
                <a:latin typeface="Arial"/>
                <a:ea typeface="Arial"/>
                <a:cs typeface="Arial"/>
              </a:rPr>
              <a:t>14</a:t>
            </a:r>
          </a:p>
        </p:txBody>
      </p:sp>
    </p:spTree>
    <p:extLst>
      <p:ext uri="{BB962C8B-B14F-4D97-AF65-F5344CB8AC3E}">
        <p14:creationId xmlns:p14="http://schemas.microsoft.com/office/powerpoint/2010/main" val="797060638"/>
      </p:ext>
    </p:extLst>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5"/>
          <p:cNvGrpSpPr/>
          <p:nvPr/>
        </p:nvGrpSpPr>
        <p:grpSpPr>
          <a:xfrm>
            <a:off x="0" y="0"/>
            <a:ext cx="12192000" cy="685800"/>
            <a:chOff x="0" y="0"/>
            <a:chExt cx="12192000" cy="685800"/>
          </a:xfrm>
        </p:grpSpPr>
        <p:sp>
          <p:nvSpPr>
            <p:cNvPr id="2" name="Rectangle 2"/>
            <p:cNvSpPr/>
            <p:nvPr/>
          </p:nvSpPr>
          <p:spPr>
            <a:xfrm>
              <a:off x="0" y="0"/>
              <a:ext cx="12192000" cy="685800"/>
            </a:xfrm>
            <a:prstGeom prst="rect">
              <a:avLst/>
            </a:prstGeom>
            <a:solidFill>
              <a:srgbClr val="0E3F8C"/>
            </a:solidFill>
            <a:ln>
              <a:noFill/>
            </a:ln>
          </p:spPr>
        </p:sp>
        <p:sp>
          <p:nvSpPr>
            <p:cNvPr id="3" name="TextBox 3"/>
            <p:cNvSpPr txBox="1"/>
            <p:nvPr/>
          </p:nvSpPr>
          <p:spPr>
            <a:xfrm>
              <a:off x="374142" y="282892"/>
              <a:ext cx="5496407" cy="264033"/>
            </a:xfrm>
            <a:prstGeom prst="rect">
              <a:avLst/>
            </a:prstGeom>
            <a:noFill/>
            <a:ln>
              <a:noFill/>
            </a:ln>
          </p:spPr>
          <p:txBody>
            <a:bodyPr wrap="none" lIns="0" tIns="0" rIns="0" bIns="0" anchor="t" anchorCtr="0">
              <a:spAutoFit/>
            </a:bodyPr>
            <a:lstStyle/>
            <a:p>
              <a:pPr algn="l"/>
              <a:r>
                <a:rPr lang="zh-CN" sz="1350" b="1" dirty="0">
                  <a:solidFill>
                    <a:srgbClr val="FFFFFF"/>
                  </a:solidFill>
                  <a:latin typeface="Arial"/>
                  <a:ea typeface="Microsoft YaHei"/>
                  <a:cs typeface="Arial"/>
                </a:rPr>
                <a:t>1.12 地下水：慢一些的路径 | Groundwater: A Slower Pathway</a:t>
              </a:r>
            </a:p>
          </p:txBody>
        </p:sp>
        <p:sp>
          <p:nvSpPr>
            <p:cNvPr id="4" name="TextBox 4"/>
            <p:cNvSpPr txBox="1"/>
            <p:nvPr/>
          </p:nvSpPr>
          <p:spPr>
            <a:xfrm>
              <a:off x="10780776" y="299085"/>
              <a:ext cx="1036320" cy="234696"/>
            </a:xfrm>
            <a:prstGeom prst="rect">
              <a:avLst/>
            </a:prstGeom>
            <a:noFill/>
            <a:ln>
              <a:noFill/>
            </a:ln>
          </p:spPr>
          <p:txBody>
            <a:bodyPr wrap="none" lIns="0" tIns="0" rIns="0" bIns="0" anchor="t" anchorCtr="0">
              <a:spAutoFit/>
            </a:bodyPr>
            <a:lstStyle/>
            <a:p>
              <a:pPr algn="r"/>
              <a:r>
                <a:rPr lang="en-US" sz="1200" dirty="0">
                  <a:solidFill>
                    <a:srgbClr val="C7D7F2"/>
                  </a:solidFill>
                  <a:latin typeface="Arial"/>
                  <a:ea typeface="Arial"/>
                  <a:cs typeface="Arial"/>
                </a:rPr>
                <a:t>WATER CYCLE</a:t>
              </a:r>
            </a:p>
          </p:txBody>
        </p:sp>
      </p:grpSp>
      <p:grpSp>
        <p:nvGrpSpPr>
          <p:cNvPr id="8" name="Group 8"/>
          <p:cNvGrpSpPr/>
          <p:nvPr/>
        </p:nvGrpSpPr>
        <p:grpSpPr>
          <a:xfrm>
            <a:off x="381000" y="914400"/>
            <a:ext cx="5922340" cy="357093"/>
            <a:chOff x="381000" y="914400"/>
            <a:chExt cx="5922340" cy="357093"/>
          </a:xfrm>
        </p:grpSpPr>
        <p:sp>
          <p:nvSpPr>
            <p:cNvPr id="6" name="Rectangle 6"/>
            <p:cNvSpPr/>
            <p:nvPr/>
          </p:nvSpPr>
          <p:spPr>
            <a:xfrm>
              <a:off x="381000" y="914400"/>
              <a:ext cx="57150" cy="266700"/>
            </a:xfrm>
            <a:prstGeom prst="roundRect">
              <a:avLst>
                <a:gd name="adj" fmla="val 50000"/>
              </a:avLst>
            </a:prstGeom>
            <a:solidFill>
              <a:srgbClr val="1E4FA8"/>
            </a:solidFill>
            <a:ln>
              <a:noFill/>
            </a:ln>
          </p:spPr>
        </p:sp>
        <p:sp>
          <p:nvSpPr>
            <p:cNvPr id="7" name="TextBox 7"/>
            <p:cNvSpPr txBox="1"/>
            <p:nvPr/>
          </p:nvSpPr>
          <p:spPr>
            <a:xfrm>
              <a:off x="544449" y="963454"/>
              <a:ext cx="5758891" cy="308039"/>
            </a:xfrm>
            <a:prstGeom prst="rect">
              <a:avLst/>
            </a:prstGeom>
            <a:noFill/>
            <a:ln>
              <a:noFill/>
            </a:ln>
          </p:spPr>
          <p:txBody>
            <a:bodyPr wrap="none" lIns="0" tIns="0" rIns="0" bIns="0" anchor="t" anchorCtr="0">
              <a:spAutoFit/>
            </a:bodyPr>
            <a:lstStyle/>
            <a:p>
              <a:pPr algn="l"/>
              <a:r>
                <a:rPr lang="zh-CN" sz="1580" b="1" dirty="0">
                  <a:solidFill>
                    <a:srgbClr val="0E3F8C"/>
                  </a:solidFill>
                  <a:latin typeface="Arial"/>
                  <a:ea typeface="Microsoft YaHei"/>
                  <a:cs typeface="Arial"/>
                </a:rPr>
                <a:t>补给、储存、排泄三步定义地下水：走得慢，但最终回到地表</a:t>
              </a:r>
            </a:p>
          </p:txBody>
        </p:sp>
      </p:grpSp>
      <p:grpSp>
        <p:nvGrpSpPr>
          <p:cNvPr id="60" name="Group 60"/>
          <p:cNvGrpSpPr/>
          <p:nvPr/>
        </p:nvGrpSpPr>
        <p:grpSpPr>
          <a:xfrm>
            <a:off x="381000" y="1428750"/>
            <a:ext cx="11430000" cy="4781550"/>
            <a:chOff x="381000" y="1428750"/>
            <a:chExt cx="11430000" cy="4781550"/>
          </a:xfrm>
        </p:grpSpPr>
        <p:sp>
          <p:nvSpPr>
            <p:cNvPr id="9" name="Rectangle 9"/>
            <p:cNvSpPr/>
            <p:nvPr/>
          </p:nvSpPr>
          <p:spPr>
            <a:xfrm>
              <a:off x="381000" y="1428750"/>
              <a:ext cx="11430000" cy="4781550"/>
            </a:xfrm>
            <a:prstGeom prst="roundRect">
              <a:avLst>
                <a:gd name="adj" fmla="val 2390"/>
              </a:avLst>
            </a:prstGeom>
            <a:solidFill>
              <a:srgbClr val="F7F9FC"/>
            </a:solidFill>
            <a:ln w="9525">
              <a:solidFill>
                <a:srgbClr val="D6DCE5"/>
              </a:solidFill>
            </a:ln>
          </p:spPr>
        </p:sp>
        <p:grpSp>
          <p:nvGrpSpPr>
            <p:cNvPr id="44" name="Group 44"/>
            <p:cNvGrpSpPr/>
            <p:nvPr/>
          </p:nvGrpSpPr>
          <p:grpSpPr>
            <a:xfrm>
              <a:off x="571500" y="1581150"/>
              <a:ext cx="11049000" cy="3105150"/>
              <a:chOff x="571500" y="1581150"/>
              <a:chExt cx="11049000" cy="3105150"/>
            </a:xfrm>
          </p:grpSpPr>
          <p:sp>
            <p:nvSpPr>
              <p:cNvPr id="10" name="Rectangle 10"/>
              <p:cNvSpPr/>
              <p:nvPr/>
            </p:nvSpPr>
            <p:spPr>
              <a:xfrm>
                <a:off x="571500" y="1581150"/>
                <a:ext cx="11049000" cy="3105150"/>
              </a:xfrm>
              <a:prstGeom prst="roundRect">
                <a:avLst>
                  <a:gd name="adj" fmla="val 3681"/>
                </a:avLst>
              </a:prstGeom>
              <a:solidFill>
                <a:srgbClr val="FFFFFF"/>
              </a:solidFill>
              <a:ln w="14288">
                <a:solidFill>
                  <a:srgbClr val="D6DCE5"/>
                </a:solidFill>
              </a:ln>
            </p:spPr>
          </p:sp>
          <p:sp>
            <p:nvSpPr>
              <p:cNvPr id="11" name="Rectangle 11"/>
              <p:cNvSpPr/>
              <p:nvPr/>
            </p:nvSpPr>
            <p:spPr>
              <a:xfrm>
                <a:off x="685800" y="1714500"/>
                <a:ext cx="10820400" cy="1714500"/>
              </a:xfrm>
              <a:prstGeom prst="rect">
                <a:avLst/>
              </a:prstGeom>
              <a:solidFill>
                <a:srgbClr val="F7F9FC"/>
              </a:solidFill>
              <a:ln>
                <a:noFill/>
              </a:ln>
            </p:spPr>
          </p:sp>
          <p:sp>
            <p:nvSpPr>
              <p:cNvPr id="12" name="TextBox 12"/>
              <p:cNvSpPr txBox="1"/>
              <p:nvPr/>
            </p:nvSpPr>
            <p:spPr>
              <a:xfrm>
                <a:off x="833438" y="1864995"/>
                <a:ext cx="2058741" cy="176212"/>
              </a:xfrm>
              <a:prstGeom prst="rect">
                <a:avLst/>
              </a:prstGeom>
              <a:noFill/>
              <a:ln>
                <a:noFill/>
              </a:ln>
            </p:spPr>
            <p:txBody>
              <a:bodyPr wrap="none" lIns="0" tIns="0" rIns="0" bIns="0" anchor="t" anchorCtr="0">
                <a:spAutoFit/>
              </a:bodyPr>
              <a:lstStyle/>
              <a:p>
                <a:pPr algn="l"/>
                <a:r>
                  <a:rPr lang="zh-CN" sz="900" dirty="0">
                    <a:solidFill>
                      <a:srgbClr val="4A5568"/>
                    </a:solidFill>
                    <a:latin typeface="Arial"/>
                    <a:ea typeface="Microsoft YaHei"/>
                    <a:cs typeface="Arial"/>
                  </a:rPr>
                  <a:t>包气带 Unsaturated zone（未饱和）</a:t>
                </a:r>
              </a:p>
            </p:txBody>
          </p:sp>
          <p:grpSp>
            <p:nvGrpSpPr>
              <p:cNvPr id="19" name="Group 19"/>
              <p:cNvGrpSpPr/>
              <p:nvPr/>
            </p:nvGrpSpPr>
            <p:grpSpPr>
              <a:xfrm>
                <a:off x="1042988" y="2038350"/>
                <a:ext cx="1167257" cy="1295400"/>
                <a:chOff x="1042988" y="2038350"/>
                <a:chExt cx="1167257" cy="1295400"/>
              </a:xfrm>
            </p:grpSpPr>
            <p:sp>
              <p:nvSpPr>
                <p:cNvPr id="13" name="Line 13"/>
                <p:cNvSpPr/>
                <p:nvPr/>
              </p:nvSpPr>
              <p:spPr>
                <a:xfrm>
                  <a:off x="1428750" y="2038350"/>
                  <a:ext cx="9525" cy="1257300"/>
                </a:xfrm>
                <a:custGeom>
                  <a:avLst/>
                  <a:gdLst/>
                  <a:ahLst/>
                  <a:cxnLst/>
                  <a:rect l="l" t="t" r="r" b="b"/>
                  <a:pathLst>
                    <a:path w="9525" h="1257300">
                      <a:moveTo>
                        <a:pt x="0" y="0"/>
                      </a:moveTo>
                      <a:lnTo>
                        <a:pt x="0" y="1257300"/>
                      </a:lnTo>
                    </a:path>
                  </a:pathLst>
                </a:custGeom>
                <a:noFill/>
                <a:ln w="28575">
                  <a:solidFill>
                    <a:srgbClr val="3D7BD9"/>
                  </a:solidFill>
                </a:ln>
              </p:spPr>
            </p:sp>
            <p:sp>
              <p:nvSpPr>
                <p:cNvPr id="14" name="Polygon 14"/>
                <p:cNvSpPr/>
                <p:nvPr/>
              </p:nvSpPr>
              <p:spPr>
                <a:xfrm>
                  <a:off x="1362075" y="3181350"/>
                  <a:ext cx="133350" cy="152400"/>
                </a:xfrm>
                <a:custGeom>
                  <a:avLst/>
                  <a:gdLst/>
                  <a:ahLst/>
                  <a:cxnLst/>
                  <a:rect l="l" t="t" r="r" b="b"/>
                  <a:pathLst>
                    <a:path w="133350" h="152400">
                      <a:moveTo>
                        <a:pt x="0" y="0"/>
                      </a:moveTo>
                      <a:lnTo>
                        <a:pt x="66675" y="152400"/>
                      </a:lnTo>
                      <a:lnTo>
                        <a:pt x="133350" y="0"/>
                      </a:lnTo>
                      <a:close/>
                    </a:path>
                  </a:pathLst>
                </a:custGeom>
                <a:solidFill>
                  <a:srgbClr val="3D7BD9"/>
                </a:solidFill>
                <a:ln>
                  <a:noFill/>
                </a:ln>
              </p:spPr>
            </p:sp>
            <p:sp>
              <p:nvSpPr>
                <p:cNvPr id="15" name="Line 15"/>
                <p:cNvSpPr/>
                <p:nvPr/>
              </p:nvSpPr>
              <p:spPr>
                <a:xfrm>
                  <a:off x="1809750" y="2038350"/>
                  <a:ext cx="9525" cy="1257300"/>
                </a:xfrm>
                <a:custGeom>
                  <a:avLst/>
                  <a:gdLst/>
                  <a:ahLst/>
                  <a:cxnLst/>
                  <a:rect l="l" t="t" r="r" b="b"/>
                  <a:pathLst>
                    <a:path w="9525" h="1257300">
                      <a:moveTo>
                        <a:pt x="0" y="0"/>
                      </a:moveTo>
                      <a:lnTo>
                        <a:pt x="0" y="1257300"/>
                      </a:lnTo>
                    </a:path>
                  </a:pathLst>
                </a:custGeom>
                <a:noFill/>
                <a:ln w="28575">
                  <a:solidFill>
                    <a:srgbClr val="3D7BD9"/>
                  </a:solidFill>
                </a:ln>
              </p:spPr>
            </p:sp>
            <p:sp>
              <p:nvSpPr>
                <p:cNvPr id="16" name="Polygon 16"/>
                <p:cNvSpPr/>
                <p:nvPr/>
              </p:nvSpPr>
              <p:spPr>
                <a:xfrm>
                  <a:off x="1743075" y="3181350"/>
                  <a:ext cx="133350" cy="152400"/>
                </a:xfrm>
                <a:custGeom>
                  <a:avLst/>
                  <a:gdLst/>
                  <a:ahLst/>
                  <a:cxnLst/>
                  <a:rect l="l" t="t" r="r" b="b"/>
                  <a:pathLst>
                    <a:path w="133350" h="152400">
                      <a:moveTo>
                        <a:pt x="0" y="0"/>
                      </a:moveTo>
                      <a:lnTo>
                        <a:pt x="66675" y="152400"/>
                      </a:lnTo>
                      <a:lnTo>
                        <a:pt x="133350" y="0"/>
                      </a:lnTo>
                      <a:close/>
                    </a:path>
                  </a:pathLst>
                </a:custGeom>
                <a:solidFill>
                  <a:srgbClr val="3D7BD9"/>
                </a:solidFill>
                <a:ln>
                  <a:noFill/>
                </a:ln>
              </p:spPr>
            </p:sp>
            <p:sp>
              <p:nvSpPr>
                <p:cNvPr id="17" name="TextBox 17"/>
                <p:cNvSpPr txBox="1"/>
                <p:nvPr/>
              </p:nvSpPr>
              <p:spPr>
                <a:xfrm>
                  <a:off x="1042988" y="2299097"/>
                  <a:ext cx="966904" cy="183356"/>
                </a:xfrm>
                <a:prstGeom prst="rect">
                  <a:avLst/>
                </a:prstGeom>
                <a:noFill/>
                <a:ln>
                  <a:noFill/>
                </a:ln>
              </p:spPr>
              <p:txBody>
                <a:bodyPr wrap="none" lIns="0" tIns="0" rIns="0" bIns="0" anchor="t" anchorCtr="0">
                  <a:spAutoFit/>
                </a:bodyPr>
                <a:lstStyle/>
                <a:p>
                  <a:pPr algn="l"/>
                  <a:r>
                    <a:rPr lang="zh-CN" sz="940" b="1" dirty="0">
                      <a:solidFill>
                        <a:srgbClr val="1E4FA8"/>
                      </a:solidFill>
                      <a:latin typeface="Arial"/>
                      <a:ea typeface="Microsoft YaHei"/>
                      <a:cs typeface="Arial"/>
                    </a:rPr>
                    <a:t>①补给 Recharge</a:t>
                  </a:r>
                </a:p>
              </p:txBody>
            </p:sp>
            <p:sp>
              <p:nvSpPr>
                <p:cNvPr id="18" name="TextBox 18"/>
                <p:cNvSpPr txBox="1"/>
                <p:nvPr/>
              </p:nvSpPr>
              <p:spPr>
                <a:xfrm>
                  <a:off x="1042988" y="2516743"/>
                  <a:ext cx="1167257" cy="169069"/>
                </a:xfrm>
                <a:prstGeom prst="rect">
                  <a:avLst/>
                </a:prstGeom>
                <a:noFill/>
                <a:ln>
                  <a:noFill/>
                </a:ln>
              </p:spPr>
              <p:txBody>
                <a:bodyPr wrap="none" lIns="0" tIns="0" rIns="0" bIns="0" anchor="t" anchorCtr="0">
                  <a:spAutoFit/>
                </a:bodyPr>
                <a:lstStyle/>
                <a:p>
                  <a:pPr algn="l"/>
                  <a:r>
                    <a:rPr lang="zh-CN" sz="860" dirty="0">
                      <a:solidFill>
                        <a:srgbClr val="4A5568"/>
                      </a:solidFill>
                      <a:latin typeface="Arial"/>
                      <a:ea typeface="Microsoft YaHei"/>
                      <a:cs typeface="Arial"/>
                    </a:rPr>
                    <a:t>降水入渗，穿过包气带</a:t>
                  </a:r>
                </a:p>
              </p:txBody>
            </p:sp>
          </p:grpSp>
          <p:grpSp>
            <p:nvGrpSpPr>
              <p:cNvPr id="24" name="Group 24"/>
              <p:cNvGrpSpPr/>
              <p:nvPr/>
            </p:nvGrpSpPr>
            <p:grpSpPr>
              <a:xfrm>
                <a:off x="8382000" y="1866900"/>
                <a:ext cx="2857500" cy="876300"/>
                <a:chOff x="8382000" y="1866900"/>
                <a:chExt cx="2857500" cy="876300"/>
              </a:xfrm>
            </p:grpSpPr>
            <p:sp>
              <p:nvSpPr>
                <p:cNvPr id="20" name="Rectangle 20"/>
                <p:cNvSpPr/>
                <p:nvPr/>
              </p:nvSpPr>
              <p:spPr>
                <a:xfrm>
                  <a:off x="8382000" y="1866900"/>
                  <a:ext cx="2857500" cy="876300"/>
                </a:xfrm>
                <a:prstGeom prst="roundRect">
                  <a:avLst>
                    <a:gd name="adj" fmla="val 10870"/>
                  </a:avLst>
                </a:prstGeom>
                <a:solidFill>
                  <a:srgbClr val="FFFFFF"/>
                </a:solidFill>
                <a:ln w="14288">
                  <a:solidFill>
                    <a:srgbClr val="D6DCE5"/>
                  </a:solidFill>
                </a:ln>
              </p:spPr>
            </p:sp>
            <p:sp>
              <p:nvSpPr>
                <p:cNvPr id="21" name="TextBox 21"/>
                <p:cNvSpPr txBox="1"/>
                <p:nvPr/>
              </p:nvSpPr>
              <p:spPr>
                <a:xfrm>
                  <a:off x="8567738" y="2021443"/>
                  <a:ext cx="2156843" cy="169069"/>
                </a:xfrm>
                <a:prstGeom prst="rect">
                  <a:avLst/>
                </a:prstGeom>
                <a:noFill/>
                <a:ln>
                  <a:noFill/>
                </a:ln>
              </p:spPr>
              <p:txBody>
                <a:bodyPr wrap="none" lIns="0" tIns="0" rIns="0" bIns="0" anchor="t" anchorCtr="0">
                  <a:spAutoFit/>
                </a:bodyPr>
                <a:lstStyle/>
                <a:p>
                  <a:pPr algn="l"/>
                  <a:r>
                    <a:rPr lang="zh-CN" sz="860" b="1" dirty="0">
                      <a:solidFill>
                        <a:srgbClr val="0E3F8C"/>
                      </a:solidFill>
                      <a:latin typeface="Arial"/>
                      <a:ea typeface="Microsoft YaHei"/>
                      <a:cs typeface="Arial"/>
                    </a:rPr>
                    <a:t>滞留时间 Residence time（CN 表 3-1）</a:t>
                  </a:r>
                </a:p>
              </p:txBody>
            </p:sp>
            <p:sp>
              <p:nvSpPr>
                <p:cNvPr id="22" name="TextBox 22"/>
                <p:cNvSpPr txBox="1"/>
                <p:nvPr/>
              </p:nvSpPr>
              <p:spPr>
                <a:xfrm>
                  <a:off x="8567738" y="2265045"/>
                  <a:ext cx="1275626" cy="176212"/>
                </a:xfrm>
                <a:prstGeom prst="rect">
                  <a:avLst/>
                </a:prstGeom>
                <a:noFill/>
                <a:ln>
                  <a:noFill/>
                </a:ln>
              </p:spPr>
              <p:txBody>
                <a:bodyPr wrap="none" lIns="0" tIns="0" rIns="0" bIns="0" anchor="t" anchorCtr="0">
                  <a:spAutoFit/>
                </a:bodyPr>
                <a:lstStyle/>
                <a:p>
                  <a:pPr algn="l"/>
                  <a:r>
                    <a:rPr lang="zh-CN" sz="900" dirty="0">
                      <a:solidFill>
                        <a:srgbClr val="1A2230"/>
                      </a:solidFill>
                      <a:latin typeface="Arial"/>
                      <a:ea typeface="Microsoft YaHei"/>
                      <a:cs typeface="Arial"/>
                    </a:rPr>
                    <a:t>浅层地下水 100–200 年</a:t>
                  </a:r>
                </a:p>
              </p:txBody>
            </p:sp>
            <p:sp>
              <p:nvSpPr>
                <p:cNvPr id="23" name="TextBox 23"/>
                <p:cNvSpPr txBox="1"/>
                <p:nvPr/>
              </p:nvSpPr>
              <p:spPr>
                <a:xfrm>
                  <a:off x="8567738" y="2493645"/>
                  <a:ext cx="1832953" cy="176212"/>
                </a:xfrm>
                <a:prstGeom prst="rect">
                  <a:avLst/>
                </a:prstGeom>
                <a:noFill/>
                <a:ln>
                  <a:noFill/>
                </a:ln>
              </p:spPr>
              <p:txBody>
                <a:bodyPr wrap="none" lIns="0" tIns="0" rIns="0" bIns="0" anchor="t" anchorCtr="0">
                  <a:spAutoFit/>
                </a:bodyPr>
                <a:lstStyle/>
                <a:p>
                  <a:pPr algn="l"/>
                  <a:r>
                    <a:rPr lang="zh-CN" sz="900" dirty="0">
                      <a:solidFill>
                        <a:srgbClr val="1A2230"/>
                      </a:solidFill>
                      <a:latin typeface="Arial"/>
                      <a:ea typeface="Microsoft YaHei"/>
                      <a:cs typeface="Arial"/>
                    </a:rPr>
                    <a:t>深层约 10,000 年（大气仅 9 天）</a:t>
                  </a:r>
                </a:p>
              </p:txBody>
            </p:sp>
          </p:grpSp>
          <p:sp>
            <p:nvSpPr>
              <p:cNvPr id="25" name="Line 25"/>
              <p:cNvSpPr/>
              <p:nvPr/>
            </p:nvSpPr>
            <p:spPr>
              <a:xfrm>
                <a:off x="685800" y="3429000"/>
                <a:ext cx="10820400" cy="9525"/>
              </a:xfrm>
              <a:custGeom>
                <a:avLst/>
                <a:gdLst/>
                <a:ahLst/>
                <a:cxnLst/>
                <a:rect l="l" t="t" r="r" b="b"/>
                <a:pathLst>
                  <a:path w="10820400" h="9525">
                    <a:moveTo>
                      <a:pt x="0" y="0"/>
                    </a:moveTo>
                    <a:lnTo>
                      <a:pt x="10820400" y="0"/>
                    </a:lnTo>
                  </a:path>
                </a:pathLst>
              </a:custGeom>
              <a:noFill/>
              <a:ln w="19050">
                <a:solidFill>
                  <a:srgbClr val="3D7BD9"/>
                </a:solidFill>
                <a:custDash>
                  <a:ds d="500000" sp="300000"/>
                </a:custDash>
              </a:ln>
            </p:spPr>
          </p:sp>
          <p:sp>
            <p:nvSpPr>
              <p:cNvPr id="26" name="TextBox 26"/>
              <p:cNvSpPr txBox="1"/>
              <p:nvPr/>
            </p:nvSpPr>
            <p:spPr>
              <a:xfrm>
                <a:off x="833438" y="3255645"/>
                <a:ext cx="1278013" cy="176212"/>
              </a:xfrm>
              <a:prstGeom prst="rect">
                <a:avLst/>
              </a:prstGeom>
              <a:noFill/>
              <a:ln>
                <a:noFill/>
              </a:ln>
            </p:spPr>
            <p:txBody>
              <a:bodyPr wrap="none" lIns="0" tIns="0" rIns="0" bIns="0" anchor="t" anchorCtr="0">
                <a:spAutoFit/>
              </a:bodyPr>
              <a:lstStyle/>
              <a:p>
                <a:pPr algn="l"/>
                <a:r>
                  <a:rPr lang="zh-CN" sz="900" b="1" dirty="0">
                    <a:solidFill>
                      <a:srgbClr val="1E4FA8"/>
                    </a:solidFill>
                    <a:latin typeface="Arial"/>
                    <a:ea typeface="Microsoft YaHei"/>
                    <a:cs typeface="Arial"/>
                  </a:rPr>
                  <a:t>地下水位 Water Table</a:t>
                </a:r>
              </a:p>
            </p:txBody>
          </p:sp>
          <p:sp>
            <p:nvSpPr>
              <p:cNvPr id="27" name="Rectangle 27"/>
              <p:cNvSpPr/>
              <p:nvPr/>
            </p:nvSpPr>
            <p:spPr>
              <a:xfrm>
                <a:off x="685800" y="3448050"/>
                <a:ext cx="10820400" cy="1219200"/>
              </a:xfrm>
              <a:prstGeom prst="rect">
                <a:avLst/>
              </a:prstGeom>
              <a:solidFill>
                <a:srgbClr val="DCEAF8"/>
              </a:solidFill>
              <a:ln w="9525">
                <a:solidFill>
                  <a:srgbClr val="B8C7DC"/>
                </a:solidFill>
              </a:ln>
            </p:spPr>
          </p:sp>
          <p:sp>
            <p:nvSpPr>
              <p:cNvPr id="28" name="TextBox 28"/>
              <p:cNvSpPr txBox="1"/>
              <p:nvPr/>
            </p:nvSpPr>
            <p:spPr>
              <a:xfrm>
                <a:off x="833247" y="3628549"/>
                <a:ext cx="3999756" cy="190690"/>
              </a:xfrm>
              <a:prstGeom prst="rect">
                <a:avLst/>
              </a:prstGeom>
              <a:noFill/>
              <a:ln>
                <a:noFill/>
              </a:ln>
            </p:spPr>
            <p:txBody>
              <a:bodyPr wrap="none" lIns="0" tIns="0" rIns="0" bIns="0" anchor="t" anchorCtr="0">
                <a:spAutoFit/>
              </a:bodyPr>
              <a:lstStyle/>
              <a:p>
                <a:pPr algn="l"/>
                <a:r>
                  <a:rPr lang="zh-CN" sz="980" b="1" dirty="0">
                    <a:solidFill>
                      <a:srgbClr val="0E3F8C"/>
                    </a:solidFill>
                    <a:latin typeface="Arial"/>
                    <a:ea typeface="Microsoft YaHei"/>
                    <a:cs typeface="Arial"/>
                  </a:rPr>
                  <a:t>饱水带 Saturated zone　②储存 Storage：地下水在其中缓慢流动</a:t>
                </a:r>
              </a:p>
            </p:txBody>
          </p:sp>
          <p:sp>
            <p:nvSpPr>
              <p:cNvPr id="29" name="Line 29"/>
              <p:cNvSpPr/>
              <p:nvPr/>
            </p:nvSpPr>
            <p:spPr>
              <a:xfrm>
                <a:off x="2857500" y="4267200"/>
                <a:ext cx="5524500" cy="9525"/>
              </a:xfrm>
              <a:custGeom>
                <a:avLst/>
                <a:gdLst/>
                <a:ahLst/>
                <a:cxnLst/>
                <a:rect l="l" t="t" r="r" b="b"/>
                <a:pathLst>
                  <a:path w="5524500" h="9525">
                    <a:moveTo>
                      <a:pt x="0" y="0"/>
                    </a:moveTo>
                    <a:lnTo>
                      <a:pt x="5524500" y="0"/>
                    </a:lnTo>
                  </a:path>
                </a:pathLst>
              </a:custGeom>
              <a:noFill/>
              <a:ln w="28575">
                <a:solidFill>
                  <a:srgbClr val="1E4FA8"/>
                </a:solidFill>
                <a:custDash>
                  <a:ds d="266667" sp="166667"/>
                </a:custDash>
              </a:ln>
            </p:spPr>
          </p:sp>
          <p:sp>
            <p:nvSpPr>
              <p:cNvPr id="30" name="Polygon 30"/>
              <p:cNvSpPr/>
              <p:nvPr/>
            </p:nvSpPr>
            <p:spPr>
              <a:xfrm>
                <a:off x="8248650" y="4191000"/>
                <a:ext cx="190500" cy="152400"/>
              </a:xfrm>
              <a:custGeom>
                <a:avLst/>
                <a:gdLst/>
                <a:ahLst/>
                <a:cxnLst/>
                <a:rect l="l" t="t" r="r" b="b"/>
                <a:pathLst>
                  <a:path w="190500" h="152400">
                    <a:moveTo>
                      <a:pt x="0" y="0"/>
                    </a:moveTo>
                    <a:lnTo>
                      <a:pt x="190500" y="76200"/>
                    </a:lnTo>
                    <a:lnTo>
                      <a:pt x="0" y="152400"/>
                    </a:lnTo>
                    <a:close/>
                  </a:path>
                </a:pathLst>
              </a:custGeom>
              <a:solidFill>
                <a:srgbClr val="1E4FA8"/>
              </a:solidFill>
              <a:ln>
                <a:noFill/>
              </a:ln>
            </p:spPr>
          </p:sp>
          <p:sp>
            <p:nvSpPr>
              <p:cNvPr id="31" name="TextBox 31"/>
              <p:cNvSpPr txBox="1"/>
              <p:nvPr/>
            </p:nvSpPr>
            <p:spPr>
              <a:xfrm>
                <a:off x="4659916" y="4059793"/>
                <a:ext cx="1919668" cy="169069"/>
              </a:xfrm>
              <a:prstGeom prst="rect">
                <a:avLst/>
              </a:prstGeom>
              <a:noFill/>
              <a:ln>
                <a:noFill/>
              </a:ln>
            </p:spPr>
            <p:txBody>
              <a:bodyPr wrap="none" lIns="0" tIns="0" rIns="0" bIns="0" anchor="t" anchorCtr="0">
                <a:spAutoFit/>
              </a:bodyPr>
              <a:lstStyle/>
              <a:p>
                <a:pPr algn="ctr"/>
                <a:r>
                  <a:rPr lang="zh-CN" sz="860" dirty="0">
                    <a:solidFill>
                      <a:srgbClr val="1E4FA8"/>
                    </a:solidFill>
                    <a:latin typeface="Arial"/>
                    <a:ea typeface="Microsoft YaHei"/>
                    <a:cs typeface="Arial"/>
                  </a:rPr>
                  <a:t>缓慢地下流 Slow groundwater flow</a:t>
                </a:r>
              </a:p>
            </p:txBody>
          </p:sp>
          <p:grpSp>
            <p:nvGrpSpPr>
              <p:cNvPr id="43" name="Group 43"/>
              <p:cNvGrpSpPr/>
              <p:nvPr/>
            </p:nvGrpSpPr>
            <p:grpSpPr>
              <a:xfrm>
                <a:off x="8853488" y="3022997"/>
                <a:ext cx="2481262" cy="1472803"/>
                <a:chOff x="8853488" y="3022997"/>
                <a:chExt cx="2481262" cy="1472803"/>
              </a:xfrm>
            </p:grpSpPr>
            <p:sp>
              <p:nvSpPr>
                <p:cNvPr id="32" name="TextBox 32"/>
                <p:cNvSpPr txBox="1"/>
                <p:nvPr/>
              </p:nvSpPr>
              <p:spPr>
                <a:xfrm>
                  <a:off x="8853488" y="3022997"/>
                  <a:ext cx="1006268" cy="183356"/>
                </a:xfrm>
                <a:prstGeom prst="rect">
                  <a:avLst/>
                </a:prstGeom>
                <a:noFill/>
                <a:ln>
                  <a:noFill/>
                </a:ln>
              </p:spPr>
              <p:txBody>
                <a:bodyPr wrap="none" lIns="0" tIns="0" rIns="0" bIns="0" anchor="t" anchorCtr="0">
                  <a:spAutoFit/>
                </a:bodyPr>
                <a:lstStyle/>
                <a:p>
                  <a:pPr algn="l"/>
                  <a:r>
                    <a:rPr lang="zh-CN" sz="940" b="1" dirty="0">
                      <a:solidFill>
                        <a:srgbClr val="1E4FA8"/>
                      </a:solidFill>
                      <a:latin typeface="Arial"/>
                      <a:ea typeface="Microsoft YaHei"/>
                      <a:cs typeface="Arial"/>
                    </a:rPr>
                    <a:t>③排泄 Discharge</a:t>
                  </a:r>
                </a:p>
              </p:txBody>
            </p:sp>
            <p:sp>
              <p:nvSpPr>
                <p:cNvPr id="33" name="Line 33"/>
                <p:cNvSpPr/>
                <p:nvPr/>
              </p:nvSpPr>
              <p:spPr>
                <a:xfrm>
                  <a:off x="9048750" y="3295650"/>
                  <a:ext cx="9525" cy="800100"/>
                </a:xfrm>
                <a:custGeom>
                  <a:avLst/>
                  <a:gdLst/>
                  <a:ahLst/>
                  <a:cxnLst/>
                  <a:rect l="l" t="t" r="r" b="b"/>
                  <a:pathLst>
                    <a:path w="9525" h="800100">
                      <a:moveTo>
                        <a:pt x="0" y="800100"/>
                      </a:moveTo>
                      <a:lnTo>
                        <a:pt x="0" y="0"/>
                      </a:lnTo>
                    </a:path>
                  </a:pathLst>
                </a:custGeom>
                <a:noFill/>
                <a:ln w="28575">
                  <a:solidFill>
                    <a:srgbClr val="1E4FA8"/>
                  </a:solidFill>
                </a:ln>
              </p:spPr>
            </p:sp>
            <p:sp>
              <p:nvSpPr>
                <p:cNvPr id="34" name="Polygon 34"/>
                <p:cNvSpPr/>
                <p:nvPr/>
              </p:nvSpPr>
              <p:spPr>
                <a:xfrm>
                  <a:off x="8972550" y="3257550"/>
                  <a:ext cx="152400" cy="152400"/>
                </a:xfrm>
                <a:custGeom>
                  <a:avLst/>
                  <a:gdLst/>
                  <a:ahLst/>
                  <a:cxnLst/>
                  <a:rect l="l" t="t" r="r" b="b"/>
                  <a:pathLst>
                    <a:path w="152400" h="152400">
                      <a:moveTo>
                        <a:pt x="0" y="152400"/>
                      </a:moveTo>
                      <a:lnTo>
                        <a:pt x="76200" y="0"/>
                      </a:lnTo>
                      <a:lnTo>
                        <a:pt x="152400" y="152400"/>
                      </a:lnTo>
                      <a:close/>
                    </a:path>
                  </a:pathLst>
                </a:custGeom>
                <a:solidFill>
                  <a:srgbClr val="1E4FA8"/>
                </a:solidFill>
                <a:ln>
                  <a:noFill/>
                </a:ln>
              </p:spPr>
            </p:sp>
            <p:sp>
              <p:nvSpPr>
                <p:cNvPr id="35" name="TextBox 35"/>
                <p:cNvSpPr txBox="1"/>
                <p:nvPr/>
              </p:nvSpPr>
              <p:spPr>
                <a:xfrm>
                  <a:off x="9196388" y="3735943"/>
                  <a:ext cx="374211" cy="169069"/>
                </a:xfrm>
                <a:prstGeom prst="rect">
                  <a:avLst/>
                </a:prstGeom>
                <a:noFill/>
                <a:ln>
                  <a:noFill/>
                </a:ln>
              </p:spPr>
              <p:txBody>
                <a:bodyPr wrap="none" lIns="0" tIns="0" rIns="0" bIns="0" anchor="t" anchorCtr="0">
                  <a:spAutoFit/>
                </a:bodyPr>
                <a:lstStyle/>
                <a:p>
                  <a:pPr algn="l"/>
                  <a:r>
                    <a:rPr lang="zh-CN" sz="860" dirty="0">
                      <a:solidFill>
                        <a:srgbClr val="1A2230"/>
                      </a:solidFill>
                      <a:latin typeface="Arial"/>
                      <a:ea typeface="Microsoft YaHei"/>
                      <a:cs typeface="Arial"/>
                    </a:rPr>
                    <a:t>泉 / 河</a:t>
                  </a:r>
                </a:p>
              </p:txBody>
            </p:sp>
            <p:sp>
              <p:nvSpPr>
                <p:cNvPr id="36" name="TextBox 36"/>
                <p:cNvSpPr txBox="1"/>
                <p:nvPr/>
              </p:nvSpPr>
              <p:spPr>
                <a:xfrm>
                  <a:off x="9196388" y="3915489"/>
                  <a:ext cx="836144" cy="154781"/>
                </a:xfrm>
                <a:prstGeom prst="rect">
                  <a:avLst/>
                </a:prstGeom>
                <a:noFill/>
                <a:ln>
                  <a:noFill/>
                </a:ln>
              </p:spPr>
              <p:txBody>
                <a:bodyPr wrap="none" lIns="0" tIns="0" rIns="0" bIns="0" anchor="t" anchorCtr="0">
                  <a:spAutoFit/>
                </a:bodyPr>
                <a:lstStyle/>
                <a:p>
                  <a:pPr algn="l"/>
                  <a:r>
                    <a:rPr lang="en-US" sz="790" dirty="0">
                      <a:solidFill>
                        <a:srgbClr val="4A5568"/>
                      </a:solidFill>
                      <a:latin typeface="Arial"/>
                      <a:ea typeface="Arial"/>
                      <a:cs typeface="Arial"/>
                    </a:rPr>
                    <a:t>Spring · Stream</a:t>
                  </a:r>
                </a:p>
              </p:txBody>
            </p:sp>
            <p:sp>
              <p:nvSpPr>
                <p:cNvPr id="37" name="Line 37"/>
                <p:cNvSpPr/>
                <p:nvPr/>
              </p:nvSpPr>
              <p:spPr>
                <a:xfrm>
                  <a:off x="10115550" y="3295650"/>
                  <a:ext cx="9525" cy="800100"/>
                </a:xfrm>
                <a:custGeom>
                  <a:avLst/>
                  <a:gdLst/>
                  <a:ahLst/>
                  <a:cxnLst/>
                  <a:rect l="l" t="t" r="r" b="b"/>
                  <a:pathLst>
                    <a:path w="9525" h="800100">
                      <a:moveTo>
                        <a:pt x="0" y="800100"/>
                      </a:moveTo>
                      <a:lnTo>
                        <a:pt x="0" y="0"/>
                      </a:lnTo>
                    </a:path>
                  </a:pathLst>
                </a:custGeom>
                <a:noFill/>
                <a:ln w="28575">
                  <a:solidFill>
                    <a:srgbClr val="1E4FA8"/>
                  </a:solidFill>
                </a:ln>
              </p:spPr>
            </p:sp>
            <p:sp>
              <p:nvSpPr>
                <p:cNvPr id="38" name="Polygon 38"/>
                <p:cNvSpPr/>
                <p:nvPr/>
              </p:nvSpPr>
              <p:spPr>
                <a:xfrm>
                  <a:off x="10039350" y="3257550"/>
                  <a:ext cx="152400" cy="152400"/>
                </a:xfrm>
                <a:custGeom>
                  <a:avLst/>
                  <a:gdLst/>
                  <a:ahLst/>
                  <a:cxnLst/>
                  <a:rect l="l" t="t" r="r" b="b"/>
                  <a:pathLst>
                    <a:path w="152400" h="152400">
                      <a:moveTo>
                        <a:pt x="0" y="152400"/>
                      </a:moveTo>
                      <a:lnTo>
                        <a:pt x="76200" y="0"/>
                      </a:lnTo>
                      <a:lnTo>
                        <a:pt x="152400" y="152400"/>
                      </a:lnTo>
                      <a:close/>
                    </a:path>
                  </a:pathLst>
                </a:custGeom>
                <a:solidFill>
                  <a:srgbClr val="1E4FA8"/>
                </a:solidFill>
                <a:ln>
                  <a:noFill/>
                </a:ln>
              </p:spPr>
            </p:sp>
            <p:sp>
              <p:nvSpPr>
                <p:cNvPr id="39" name="TextBox 39"/>
                <p:cNvSpPr txBox="1"/>
                <p:nvPr/>
              </p:nvSpPr>
              <p:spPr>
                <a:xfrm>
                  <a:off x="10263188" y="3831193"/>
                  <a:ext cx="425435" cy="169069"/>
                </a:xfrm>
                <a:prstGeom prst="rect">
                  <a:avLst/>
                </a:prstGeom>
                <a:noFill/>
                <a:ln>
                  <a:noFill/>
                </a:ln>
              </p:spPr>
              <p:txBody>
                <a:bodyPr wrap="none" lIns="0" tIns="0" rIns="0" bIns="0" anchor="t" anchorCtr="0">
                  <a:spAutoFit/>
                </a:bodyPr>
                <a:lstStyle/>
                <a:p>
                  <a:pPr algn="l"/>
                  <a:r>
                    <a:rPr lang="zh-CN" sz="860" dirty="0">
                      <a:solidFill>
                        <a:srgbClr val="1A2230"/>
                      </a:solidFill>
                      <a:latin typeface="Arial"/>
                      <a:ea typeface="Microsoft YaHei"/>
                      <a:cs typeface="Arial"/>
                    </a:rPr>
                    <a:t>蒸发 ET</a:t>
                  </a:r>
                </a:p>
              </p:txBody>
            </p:sp>
            <p:sp>
              <p:nvSpPr>
                <p:cNvPr id="40" name="Line 40"/>
                <p:cNvSpPr/>
                <p:nvPr/>
              </p:nvSpPr>
              <p:spPr>
                <a:xfrm>
                  <a:off x="10477500" y="4419600"/>
                  <a:ext cx="819150" cy="9525"/>
                </a:xfrm>
                <a:custGeom>
                  <a:avLst/>
                  <a:gdLst/>
                  <a:ahLst/>
                  <a:cxnLst/>
                  <a:rect l="l" t="t" r="r" b="b"/>
                  <a:pathLst>
                    <a:path w="819150" h="9525">
                      <a:moveTo>
                        <a:pt x="0" y="0"/>
                      </a:moveTo>
                      <a:lnTo>
                        <a:pt x="819150" y="0"/>
                      </a:lnTo>
                    </a:path>
                  </a:pathLst>
                </a:custGeom>
                <a:noFill/>
                <a:ln w="28575">
                  <a:solidFill>
                    <a:srgbClr val="1E4FA8"/>
                  </a:solidFill>
                </a:ln>
              </p:spPr>
            </p:sp>
            <p:sp>
              <p:nvSpPr>
                <p:cNvPr id="41" name="Polygon 41"/>
                <p:cNvSpPr/>
                <p:nvPr/>
              </p:nvSpPr>
              <p:spPr>
                <a:xfrm>
                  <a:off x="11182350" y="4343400"/>
                  <a:ext cx="152400" cy="152400"/>
                </a:xfrm>
                <a:custGeom>
                  <a:avLst/>
                  <a:gdLst/>
                  <a:ahLst/>
                  <a:cxnLst/>
                  <a:rect l="l" t="t" r="r" b="b"/>
                  <a:pathLst>
                    <a:path w="152400" h="152400">
                      <a:moveTo>
                        <a:pt x="0" y="0"/>
                      </a:moveTo>
                      <a:lnTo>
                        <a:pt x="152400" y="76200"/>
                      </a:lnTo>
                      <a:lnTo>
                        <a:pt x="0" y="152400"/>
                      </a:lnTo>
                      <a:close/>
                    </a:path>
                  </a:pathLst>
                </a:custGeom>
                <a:solidFill>
                  <a:srgbClr val="1E4FA8"/>
                </a:solidFill>
                <a:ln>
                  <a:noFill/>
                </a:ln>
              </p:spPr>
            </p:sp>
            <p:sp>
              <p:nvSpPr>
                <p:cNvPr id="42" name="TextBox 42"/>
                <p:cNvSpPr txBox="1"/>
                <p:nvPr/>
              </p:nvSpPr>
              <p:spPr>
                <a:xfrm>
                  <a:off x="10574967" y="4231243"/>
                  <a:ext cx="624215" cy="169069"/>
                </a:xfrm>
                <a:prstGeom prst="rect">
                  <a:avLst/>
                </a:prstGeom>
                <a:noFill/>
                <a:ln>
                  <a:noFill/>
                </a:ln>
              </p:spPr>
              <p:txBody>
                <a:bodyPr wrap="none" lIns="0" tIns="0" rIns="0" bIns="0" anchor="t" anchorCtr="0">
                  <a:spAutoFit/>
                </a:bodyPr>
                <a:lstStyle/>
                <a:p>
                  <a:pPr algn="ctr"/>
                  <a:r>
                    <a:rPr lang="zh-CN" sz="860" dirty="0">
                      <a:solidFill>
                        <a:srgbClr val="1A2230"/>
                      </a:solidFill>
                      <a:latin typeface="Arial"/>
                      <a:ea typeface="Microsoft YaHei"/>
                      <a:cs typeface="Arial"/>
                    </a:rPr>
                    <a:t>海洋 Ocean</a:t>
                  </a:r>
                </a:p>
              </p:txBody>
            </p:sp>
          </p:grpSp>
        </p:grpSp>
        <p:grpSp>
          <p:nvGrpSpPr>
            <p:cNvPr id="49" name="Group 49"/>
            <p:cNvGrpSpPr/>
            <p:nvPr/>
          </p:nvGrpSpPr>
          <p:grpSpPr>
            <a:xfrm>
              <a:off x="571500" y="4876800"/>
              <a:ext cx="3581400" cy="1181100"/>
              <a:chOff x="571500" y="4876800"/>
              <a:chExt cx="3581400" cy="1181100"/>
            </a:xfrm>
          </p:grpSpPr>
          <p:sp>
            <p:nvSpPr>
              <p:cNvPr id="45" name="Rectangle 45"/>
              <p:cNvSpPr/>
              <p:nvPr/>
            </p:nvSpPr>
            <p:spPr>
              <a:xfrm>
                <a:off x="571500" y="4876800"/>
                <a:ext cx="3581400" cy="1181100"/>
              </a:xfrm>
              <a:prstGeom prst="roundRect">
                <a:avLst>
                  <a:gd name="adj" fmla="val 9677"/>
                </a:avLst>
              </a:prstGeom>
              <a:solidFill>
                <a:srgbClr val="F7F9FC"/>
              </a:solidFill>
              <a:ln w="9525">
                <a:solidFill>
                  <a:srgbClr val="D6DCE5"/>
                </a:solidFill>
              </a:ln>
            </p:spPr>
          </p:sp>
          <p:sp>
            <p:nvSpPr>
              <p:cNvPr id="46" name="TextBox 46"/>
              <p:cNvSpPr txBox="1"/>
              <p:nvPr/>
            </p:nvSpPr>
            <p:spPr>
              <a:xfrm>
                <a:off x="756285" y="5098256"/>
                <a:ext cx="1199967" cy="220028"/>
              </a:xfrm>
              <a:prstGeom prst="rect">
                <a:avLst/>
              </a:prstGeom>
              <a:noFill/>
              <a:ln>
                <a:noFill/>
              </a:ln>
            </p:spPr>
            <p:txBody>
              <a:bodyPr wrap="none" lIns="0" tIns="0" rIns="0" bIns="0" anchor="t" anchorCtr="0">
                <a:spAutoFit/>
              </a:bodyPr>
              <a:lstStyle/>
              <a:p>
                <a:pPr algn="l"/>
                <a:r>
                  <a:rPr lang="zh-CN" sz="1120" b="1" dirty="0">
                    <a:solidFill>
                      <a:srgbClr val="0E3F8C"/>
                    </a:solidFill>
                    <a:latin typeface="Arial"/>
                    <a:ea typeface="Microsoft YaHei"/>
                    <a:cs typeface="Arial"/>
                  </a:rPr>
                  <a:t>① 补给 Recharge</a:t>
                </a:r>
              </a:p>
            </p:txBody>
          </p:sp>
          <p:sp>
            <p:nvSpPr>
              <p:cNvPr id="47" name="TextBox 47"/>
              <p:cNvSpPr txBox="1"/>
              <p:nvPr/>
            </p:nvSpPr>
            <p:spPr>
              <a:xfrm>
                <a:off x="757238" y="5442347"/>
                <a:ext cx="1654581" cy="183356"/>
              </a:xfrm>
              <a:prstGeom prst="rect">
                <a:avLst/>
              </a:prstGeom>
              <a:noFill/>
              <a:ln>
                <a:noFill/>
              </a:ln>
            </p:spPr>
            <p:txBody>
              <a:bodyPr wrap="none" lIns="0" tIns="0" rIns="0" bIns="0" anchor="t" anchorCtr="0">
                <a:spAutoFit/>
              </a:bodyPr>
              <a:lstStyle/>
              <a:p>
                <a:pPr algn="l"/>
                <a:r>
                  <a:rPr lang="zh-CN" sz="940" dirty="0">
                    <a:solidFill>
                      <a:srgbClr val="1A2230"/>
                    </a:solidFill>
                    <a:latin typeface="Arial"/>
                    <a:ea typeface="Microsoft YaHei"/>
                    <a:cs typeface="Arial"/>
                  </a:rPr>
                  <a:t>近期降水入渗，穿过包气带，</a:t>
                </a:r>
              </a:p>
            </p:txBody>
          </p:sp>
          <p:sp>
            <p:nvSpPr>
              <p:cNvPr id="48" name="TextBox 48"/>
              <p:cNvSpPr txBox="1"/>
              <p:nvPr/>
            </p:nvSpPr>
            <p:spPr>
              <a:xfrm>
                <a:off x="757238" y="5689997"/>
                <a:ext cx="1654581" cy="183356"/>
              </a:xfrm>
              <a:prstGeom prst="rect">
                <a:avLst/>
              </a:prstGeom>
              <a:noFill/>
              <a:ln>
                <a:noFill/>
              </a:ln>
            </p:spPr>
            <p:txBody>
              <a:bodyPr wrap="none" lIns="0" tIns="0" rIns="0" bIns="0" anchor="t" anchorCtr="0">
                <a:spAutoFit/>
              </a:bodyPr>
              <a:lstStyle/>
              <a:p>
                <a:pPr algn="l"/>
                <a:r>
                  <a:rPr lang="zh-CN" sz="940" dirty="0">
                    <a:solidFill>
                      <a:srgbClr val="1A2230"/>
                    </a:solidFill>
                    <a:latin typeface="Arial"/>
                    <a:ea typeface="Microsoft YaHei"/>
                    <a:cs typeface="Arial"/>
                  </a:rPr>
                  <a:t>到达地下水位，形成地下水。</a:t>
                </a:r>
              </a:p>
            </p:txBody>
          </p:sp>
        </p:grpSp>
        <p:grpSp>
          <p:nvGrpSpPr>
            <p:cNvPr id="54" name="Group 54"/>
            <p:cNvGrpSpPr/>
            <p:nvPr/>
          </p:nvGrpSpPr>
          <p:grpSpPr>
            <a:xfrm>
              <a:off x="4295775" y="4876800"/>
              <a:ext cx="3581400" cy="1181100"/>
              <a:chOff x="4295775" y="4876800"/>
              <a:chExt cx="3581400" cy="1181100"/>
            </a:xfrm>
          </p:grpSpPr>
          <p:sp>
            <p:nvSpPr>
              <p:cNvPr id="50" name="Rectangle 50"/>
              <p:cNvSpPr/>
              <p:nvPr/>
            </p:nvSpPr>
            <p:spPr>
              <a:xfrm>
                <a:off x="4295775" y="4876800"/>
                <a:ext cx="3581400" cy="1181100"/>
              </a:xfrm>
              <a:prstGeom prst="roundRect">
                <a:avLst>
                  <a:gd name="adj" fmla="val 9677"/>
                </a:avLst>
              </a:prstGeom>
              <a:solidFill>
                <a:srgbClr val="F7F9FC"/>
              </a:solidFill>
              <a:ln w="9525">
                <a:solidFill>
                  <a:srgbClr val="D6DCE5"/>
                </a:solidFill>
              </a:ln>
            </p:spPr>
          </p:sp>
          <p:sp>
            <p:nvSpPr>
              <p:cNvPr id="51" name="TextBox 51"/>
              <p:cNvSpPr txBox="1"/>
              <p:nvPr/>
            </p:nvSpPr>
            <p:spPr>
              <a:xfrm>
                <a:off x="4480560" y="5098256"/>
                <a:ext cx="1113384" cy="220028"/>
              </a:xfrm>
              <a:prstGeom prst="rect">
                <a:avLst/>
              </a:prstGeom>
              <a:noFill/>
              <a:ln>
                <a:noFill/>
              </a:ln>
            </p:spPr>
            <p:txBody>
              <a:bodyPr wrap="none" lIns="0" tIns="0" rIns="0" bIns="0" anchor="t" anchorCtr="0">
                <a:spAutoFit/>
              </a:bodyPr>
              <a:lstStyle/>
              <a:p>
                <a:pPr algn="l"/>
                <a:r>
                  <a:rPr lang="zh-CN" sz="1120" b="1" dirty="0">
                    <a:solidFill>
                      <a:srgbClr val="0E3F8C"/>
                    </a:solidFill>
                    <a:latin typeface="Arial"/>
                    <a:ea typeface="Microsoft YaHei"/>
                    <a:cs typeface="Arial"/>
                  </a:rPr>
                  <a:t>② 储存 Storage</a:t>
                </a:r>
              </a:p>
            </p:txBody>
          </p:sp>
          <p:sp>
            <p:nvSpPr>
              <p:cNvPr id="52" name="TextBox 52"/>
              <p:cNvSpPr txBox="1"/>
              <p:nvPr/>
            </p:nvSpPr>
            <p:spPr>
              <a:xfrm>
                <a:off x="4481512" y="5442347"/>
                <a:ext cx="1781124" cy="183356"/>
              </a:xfrm>
              <a:prstGeom prst="rect">
                <a:avLst/>
              </a:prstGeom>
              <a:noFill/>
              <a:ln>
                <a:noFill/>
              </a:ln>
            </p:spPr>
            <p:txBody>
              <a:bodyPr wrap="none" lIns="0" tIns="0" rIns="0" bIns="0" anchor="t" anchorCtr="0">
                <a:spAutoFit/>
              </a:bodyPr>
              <a:lstStyle/>
              <a:p>
                <a:pPr algn="l"/>
                <a:r>
                  <a:rPr lang="zh-CN" sz="940" dirty="0">
                    <a:solidFill>
                      <a:srgbClr val="1A2230"/>
                    </a:solidFill>
                    <a:latin typeface="Arial"/>
                    <a:ea typeface="Microsoft YaHei"/>
                    <a:cs typeface="Arial"/>
                  </a:rPr>
                  <a:t>水在水位以下的饱水带中储存，</a:t>
                </a:r>
              </a:p>
            </p:txBody>
          </p:sp>
          <p:sp>
            <p:nvSpPr>
              <p:cNvPr id="53" name="TextBox 53"/>
              <p:cNvSpPr txBox="1"/>
              <p:nvPr/>
            </p:nvSpPr>
            <p:spPr>
              <a:xfrm>
                <a:off x="4481512" y="5689997"/>
                <a:ext cx="1274953" cy="183356"/>
              </a:xfrm>
              <a:prstGeom prst="rect">
                <a:avLst/>
              </a:prstGeom>
              <a:noFill/>
              <a:ln>
                <a:noFill/>
              </a:ln>
            </p:spPr>
            <p:txBody>
              <a:bodyPr wrap="none" lIns="0" tIns="0" rIns="0" bIns="0" anchor="t" anchorCtr="0">
                <a:spAutoFit/>
              </a:bodyPr>
              <a:lstStyle/>
              <a:p>
                <a:pPr algn="l"/>
                <a:r>
                  <a:rPr lang="zh-CN" sz="940" dirty="0">
                    <a:solidFill>
                      <a:srgbClr val="1A2230"/>
                    </a:solidFill>
                    <a:latin typeface="Arial"/>
                    <a:ea typeface="Microsoft YaHei"/>
                    <a:cs typeface="Arial"/>
                  </a:rPr>
                  <a:t>并以极慢的速度流动。</a:t>
                </a:r>
              </a:p>
            </p:txBody>
          </p:sp>
        </p:grpSp>
        <p:grpSp>
          <p:nvGrpSpPr>
            <p:cNvPr id="59" name="Group 59"/>
            <p:cNvGrpSpPr/>
            <p:nvPr/>
          </p:nvGrpSpPr>
          <p:grpSpPr>
            <a:xfrm>
              <a:off x="8020050" y="4876800"/>
              <a:ext cx="3581400" cy="1181100"/>
              <a:chOff x="8020050" y="4876800"/>
              <a:chExt cx="3581400" cy="1181100"/>
            </a:xfrm>
          </p:grpSpPr>
          <p:sp>
            <p:nvSpPr>
              <p:cNvPr id="55" name="Rectangle 55"/>
              <p:cNvSpPr/>
              <p:nvPr/>
            </p:nvSpPr>
            <p:spPr>
              <a:xfrm>
                <a:off x="8020050" y="4876800"/>
                <a:ext cx="3581400" cy="1181100"/>
              </a:xfrm>
              <a:prstGeom prst="roundRect">
                <a:avLst>
                  <a:gd name="adj" fmla="val 9677"/>
                </a:avLst>
              </a:prstGeom>
              <a:solidFill>
                <a:srgbClr val="F7F9FC"/>
              </a:solidFill>
              <a:ln w="9525">
                <a:solidFill>
                  <a:srgbClr val="D6DCE5"/>
                </a:solidFill>
              </a:ln>
            </p:spPr>
          </p:sp>
          <p:sp>
            <p:nvSpPr>
              <p:cNvPr id="56" name="TextBox 56"/>
              <p:cNvSpPr txBox="1"/>
              <p:nvPr/>
            </p:nvSpPr>
            <p:spPr>
              <a:xfrm>
                <a:off x="8204835" y="5098256"/>
                <a:ext cx="1246832" cy="220028"/>
              </a:xfrm>
              <a:prstGeom prst="rect">
                <a:avLst/>
              </a:prstGeom>
              <a:noFill/>
              <a:ln>
                <a:noFill/>
              </a:ln>
            </p:spPr>
            <p:txBody>
              <a:bodyPr wrap="none" lIns="0" tIns="0" rIns="0" bIns="0" anchor="t" anchorCtr="0">
                <a:spAutoFit/>
              </a:bodyPr>
              <a:lstStyle/>
              <a:p>
                <a:pPr algn="l"/>
                <a:r>
                  <a:rPr lang="zh-CN" sz="1120" b="1" dirty="0">
                    <a:solidFill>
                      <a:srgbClr val="0E3F8C"/>
                    </a:solidFill>
                    <a:latin typeface="Arial"/>
                    <a:ea typeface="Microsoft YaHei"/>
                    <a:cs typeface="Arial"/>
                  </a:rPr>
                  <a:t>③ 排泄 Discharge</a:t>
                </a:r>
              </a:p>
            </p:txBody>
          </p:sp>
          <p:sp>
            <p:nvSpPr>
              <p:cNvPr id="57" name="TextBox 57"/>
              <p:cNvSpPr txBox="1"/>
              <p:nvPr/>
            </p:nvSpPr>
            <p:spPr>
              <a:xfrm>
                <a:off x="8205788" y="5442347"/>
                <a:ext cx="1907667" cy="183356"/>
              </a:xfrm>
              <a:prstGeom prst="rect">
                <a:avLst/>
              </a:prstGeom>
              <a:noFill/>
              <a:ln>
                <a:noFill/>
              </a:ln>
            </p:spPr>
            <p:txBody>
              <a:bodyPr wrap="none" lIns="0" tIns="0" rIns="0" bIns="0" anchor="t" anchorCtr="0">
                <a:spAutoFit/>
              </a:bodyPr>
              <a:lstStyle/>
              <a:p>
                <a:pPr algn="l"/>
                <a:r>
                  <a:rPr lang="zh-CN" sz="940" dirty="0">
                    <a:solidFill>
                      <a:srgbClr val="1A2230"/>
                    </a:solidFill>
                    <a:latin typeface="Arial"/>
                    <a:ea typeface="Microsoft YaHei"/>
                    <a:cs typeface="Arial"/>
                  </a:rPr>
                  <a:t>以泉、河、蒸发或海洋方式排出；</a:t>
                </a:r>
              </a:p>
            </p:txBody>
          </p:sp>
          <p:sp>
            <p:nvSpPr>
              <p:cNvPr id="58" name="TextBox 58"/>
              <p:cNvSpPr txBox="1"/>
              <p:nvPr/>
            </p:nvSpPr>
            <p:spPr>
              <a:xfrm>
                <a:off x="8205788" y="5689997"/>
                <a:ext cx="1850723" cy="183356"/>
              </a:xfrm>
              <a:prstGeom prst="rect">
                <a:avLst/>
              </a:prstGeom>
              <a:noFill/>
              <a:ln>
                <a:noFill/>
              </a:ln>
            </p:spPr>
            <p:txBody>
              <a:bodyPr wrap="none" lIns="0" tIns="0" rIns="0" bIns="0" anchor="t" anchorCtr="0">
                <a:spAutoFit/>
              </a:bodyPr>
              <a:lstStyle/>
              <a:p>
                <a:pPr algn="l"/>
                <a:r>
                  <a:rPr lang="zh-CN" sz="940" dirty="0">
                    <a:solidFill>
                      <a:srgbClr val="1A2230"/>
                    </a:solidFill>
                    <a:latin typeface="Arial"/>
                    <a:ea typeface="Microsoft YaHei"/>
                    <a:cs typeface="Arial"/>
                  </a:rPr>
                  <a:t>长期补给≈排泄，维持水位稳定。</a:t>
                </a:r>
              </a:p>
            </p:txBody>
          </p:sp>
        </p:grpSp>
      </p:grpSp>
      <p:sp>
        <p:nvSpPr>
          <p:cNvPr id="61" name="TextBox 61"/>
          <p:cNvSpPr txBox="1"/>
          <p:nvPr/>
        </p:nvSpPr>
        <p:spPr>
          <a:xfrm>
            <a:off x="376238" y="6532245"/>
            <a:ext cx="8534748" cy="176212"/>
          </a:xfrm>
          <a:prstGeom prst="rect">
            <a:avLst/>
          </a:prstGeom>
          <a:noFill/>
          <a:ln>
            <a:noFill/>
          </a:ln>
        </p:spPr>
        <p:txBody>
          <a:bodyPr wrap="none" lIns="0" tIns="0" rIns="0" bIns="0" anchor="t" anchorCtr="0">
            <a:spAutoFit/>
          </a:bodyPr>
          <a:lstStyle/>
          <a:p>
            <a:pPr algn="l"/>
            <a:r>
              <a:rPr lang="zh-CN" sz="900" dirty="0">
                <a:solidFill>
                  <a:srgbClr val="4A5568"/>
                </a:solidFill>
                <a:latin typeface="Arial"/>
                <a:ea typeface="Microsoft YaHei"/>
                <a:cs typeface="Arial"/>
              </a:rPr>
              <a:t>Source: UE 8e pp.1675, 1682–1688, 1694–1695; 地球系统与演变 Ch.3 PDF pp.13–14; residence times CN Table 3-1 (W-04). Native cross-section.</a:t>
            </a:r>
          </a:p>
        </p:txBody>
      </p:sp>
      <p:sp>
        <p:nvSpPr>
          <p:cNvPr id="62" name="TextBox 62"/>
          <p:cNvSpPr txBox="1"/>
          <p:nvPr/>
        </p:nvSpPr>
        <p:spPr>
          <a:xfrm>
            <a:off x="11672964" y="6532245"/>
            <a:ext cx="142799" cy="176212"/>
          </a:xfrm>
          <a:prstGeom prst="rect">
            <a:avLst/>
          </a:prstGeom>
          <a:noFill/>
          <a:ln>
            <a:noFill/>
          </a:ln>
        </p:spPr>
        <p:txBody>
          <a:bodyPr wrap="none" lIns="0" tIns="0" rIns="0" bIns="0" anchor="t" anchorCtr="0">
            <a:spAutoFit/>
          </a:bodyPr>
          <a:lstStyle/>
          <a:p>
            <a:pPr algn="r"/>
            <a:r>
              <a:rPr lang="en-US" sz="900" dirty="0">
                <a:solidFill>
                  <a:srgbClr val="4A5568"/>
                </a:solidFill>
                <a:latin typeface="Arial"/>
                <a:ea typeface="Arial"/>
                <a:cs typeface="Arial"/>
              </a:rPr>
              <a:t>15</a:t>
            </a:r>
          </a:p>
        </p:txBody>
      </p:sp>
    </p:spTree>
    <p:extLst>
      <p:ext uri="{BB962C8B-B14F-4D97-AF65-F5344CB8AC3E}">
        <p14:creationId xmlns:p14="http://schemas.microsoft.com/office/powerpoint/2010/main" val="4156537970"/>
      </p:ext>
    </p:extLst>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5"/>
          <p:cNvGrpSpPr/>
          <p:nvPr/>
        </p:nvGrpSpPr>
        <p:grpSpPr>
          <a:xfrm>
            <a:off x="0" y="0"/>
            <a:ext cx="12192000" cy="685800"/>
            <a:chOff x="0" y="0"/>
            <a:chExt cx="12192000" cy="685800"/>
          </a:xfrm>
        </p:grpSpPr>
        <p:sp>
          <p:nvSpPr>
            <p:cNvPr id="2" name="Rectangle 2"/>
            <p:cNvSpPr/>
            <p:nvPr/>
          </p:nvSpPr>
          <p:spPr>
            <a:xfrm>
              <a:off x="0" y="0"/>
              <a:ext cx="12192000" cy="685800"/>
            </a:xfrm>
            <a:prstGeom prst="rect">
              <a:avLst/>
            </a:prstGeom>
            <a:solidFill>
              <a:srgbClr val="0E3F8C"/>
            </a:solidFill>
            <a:ln>
              <a:noFill/>
            </a:ln>
          </p:spPr>
        </p:sp>
        <p:sp>
          <p:nvSpPr>
            <p:cNvPr id="3" name="TextBox 3"/>
            <p:cNvSpPr txBox="1"/>
            <p:nvPr/>
          </p:nvSpPr>
          <p:spPr>
            <a:xfrm>
              <a:off x="374142" y="282892"/>
              <a:ext cx="5567782" cy="264033"/>
            </a:xfrm>
            <a:prstGeom prst="rect">
              <a:avLst/>
            </a:prstGeom>
            <a:noFill/>
            <a:ln>
              <a:noFill/>
            </a:ln>
          </p:spPr>
          <p:txBody>
            <a:bodyPr wrap="none" lIns="0" tIns="0" rIns="0" bIns="0" anchor="t" anchorCtr="0">
              <a:spAutoFit/>
            </a:bodyPr>
            <a:lstStyle/>
            <a:p>
              <a:pPr algn="l"/>
              <a:r>
                <a:rPr lang="zh-CN" sz="1350" b="1" dirty="0">
                  <a:solidFill>
                    <a:srgbClr val="FFFFFF"/>
                  </a:solidFill>
                  <a:latin typeface="Arial"/>
                  <a:ea typeface="Microsoft YaHei"/>
                  <a:cs typeface="Arial"/>
                </a:rPr>
                <a:t>1.13 冰冻圈：会移动的水库 | Cryosphere as a Water Reservoir</a:t>
              </a:r>
            </a:p>
          </p:txBody>
        </p:sp>
        <p:sp>
          <p:nvSpPr>
            <p:cNvPr id="4" name="TextBox 4"/>
            <p:cNvSpPr txBox="1"/>
            <p:nvPr/>
          </p:nvSpPr>
          <p:spPr>
            <a:xfrm>
              <a:off x="10780776" y="299085"/>
              <a:ext cx="1036320" cy="234696"/>
            </a:xfrm>
            <a:prstGeom prst="rect">
              <a:avLst/>
            </a:prstGeom>
            <a:noFill/>
            <a:ln>
              <a:noFill/>
            </a:ln>
          </p:spPr>
          <p:txBody>
            <a:bodyPr wrap="none" lIns="0" tIns="0" rIns="0" bIns="0" anchor="t" anchorCtr="0">
              <a:spAutoFit/>
            </a:bodyPr>
            <a:lstStyle/>
            <a:p>
              <a:pPr algn="r"/>
              <a:r>
                <a:rPr lang="en-US" sz="1200" dirty="0">
                  <a:solidFill>
                    <a:srgbClr val="C7D7F2"/>
                  </a:solidFill>
                  <a:latin typeface="Arial"/>
                  <a:ea typeface="Arial"/>
                  <a:cs typeface="Arial"/>
                </a:rPr>
                <a:t>WATER CYCLE</a:t>
              </a:r>
            </a:p>
          </p:txBody>
        </p:sp>
      </p:grpSp>
      <p:grpSp>
        <p:nvGrpSpPr>
          <p:cNvPr id="8" name="Group 8"/>
          <p:cNvGrpSpPr/>
          <p:nvPr/>
        </p:nvGrpSpPr>
        <p:grpSpPr>
          <a:xfrm>
            <a:off x="381000" y="914400"/>
            <a:ext cx="6773139" cy="357093"/>
            <a:chOff x="381000" y="914400"/>
            <a:chExt cx="6773139" cy="357093"/>
          </a:xfrm>
        </p:grpSpPr>
        <p:sp>
          <p:nvSpPr>
            <p:cNvPr id="6" name="Rectangle 6"/>
            <p:cNvSpPr/>
            <p:nvPr/>
          </p:nvSpPr>
          <p:spPr>
            <a:xfrm>
              <a:off x="381000" y="914400"/>
              <a:ext cx="57150" cy="266700"/>
            </a:xfrm>
            <a:prstGeom prst="roundRect">
              <a:avLst>
                <a:gd name="adj" fmla="val 50000"/>
              </a:avLst>
            </a:prstGeom>
            <a:solidFill>
              <a:srgbClr val="1E4FA8"/>
            </a:solidFill>
            <a:ln>
              <a:noFill/>
            </a:ln>
          </p:spPr>
        </p:sp>
        <p:sp>
          <p:nvSpPr>
            <p:cNvPr id="7" name="TextBox 7"/>
            <p:cNvSpPr txBox="1"/>
            <p:nvPr/>
          </p:nvSpPr>
          <p:spPr>
            <a:xfrm>
              <a:off x="544449" y="963454"/>
              <a:ext cx="6609690" cy="308039"/>
            </a:xfrm>
            <a:prstGeom prst="rect">
              <a:avLst/>
            </a:prstGeom>
            <a:noFill/>
            <a:ln>
              <a:noFill/>
            </a:ln>
          </p:spPr>
          <p:txBody>
            <a:bodyPr wrap="none" lIns="0" tIns="0" rIns="0" bIns="0" anchor="t" anchorCtr="0">
              <a:spAutoFit/>
            </a:bodyPr>
            <a:lstStyle/>
            <a:p>
              <a:pPr algn="l"/>
              <a:r>
                <a:rPr lang="zh-CN" sz="1580" b="1" dirty="0">
                  <a:solidFill>
                    <a:srgbClr val="0E3F8C"/>
                  </a:solidFill>
                  <a:latin typeface="Arial"/>
                  <a:ea typeface="Microsoft YaHei"/>
                  <a:cs typeface="Arial"/>
                </a:rPr>
                <a:t>冰冻圈是一座会移动的水库：积累与消融同时改变储水、海平面与气候</a:t>
              </a:r>
            </a:p>
          </p:txBody>
        </p:sp>
      </p:grpSp>
      <p:grpSp>
        <p:nvGrpSpPr>
          <p:cNvPr id="41" name="Group 41"/>
          <p:cNvGrpSpPr/>
          <p:nvPr/>
        </p:nvGrpSpPr>
        <p:grpSpPr>
          <a:xfrm>
            <a:off x="381000" y="1466850"/>
            <a:ext cx="6667500" cy="4572000"/>
            <a:chOff x="381000" y="1466850"/>
            <a:chExt cx="6667500" cy="4572000"/>
          </a:xfrm>
        </p:grpSpPr>
        <p:sp>
          <p:nvSpPr>
            <p:cNvPr id="9" name="Rectangle 9"/>
            <p:cNvSpPr/>
            <p:nvPr/>
          </p:nvSpPr>
          <p:spPr>
            <a:xfrm>
              <a:off x="381000" y="1466850"/>
              <a:ext cx="6667500" cy="4572000"/>
            </a:xfrm>
            <a:prstGeom prst="roundRect">
              <a:avLst>
                <a:gd name="adj" fmla="val 2500"/>
              </a:avLst>
            </a:prstGeom>
            <a:solidFill>
              <a:srgbClr val="F7F9FC"/>
            </a:solidFill>
            <a:ln w="9525">
              <a:solidFill>
                <a:srgbClr val="D6DCE5"/>
              </a:solidFill>
            </a:ln>
          </p:spPr>
        </p:sp>
        <p:sp>
          <p:nvSpPr>
            <p:cNvPr id="10" name="Rectangle 10"/>
            <p:cNvSpPr/>
            <p:nvPr/>
          </p:nvSpPr>
          <p:spPr>
            <a:xfrm>
              <a:off x="571500" y="1638300"/>
              <a:ext cx="6286500" cy="495300"/>
            </a:xfrm>
            <a:prstGeom prst="roundRect">
              <a:avLst>
                <a:gd name="adj" fmla="val 15385"/>
              </a:avLst>
            </a:prstGeom>
            <a:solidFill>
              <a:srgbClr val="F0F5FC"/>
            </a:solidFill>
            <a:ln w="9525">
              <a:solidFill>
                <a:srgbClr val="D6DCE5"/>
              </a:solidFill>
            </a:ln>
          </p:spPr>
        </p:sp>
        <p:sp>
          <p:nvSpPr>
            <p:cNvPr id="11" name="TextBox 11"/>
            <p:cNvSpPr txBox="1"/>
            <p:nvPr/>
          </p:nvSpPr>
          <p:spPr>
            <a:xfrm>
              <a:off x="718185" y="1821656"/>
              <a:ext cx="1421569" cy="220028"/>
            </a:xfrm>
            <a:prstGeom prst="rect">
              <a:avLst/>
            </a:prstGeom>
            <a:noFill/>
            <a:ln>
              <a:noFill/>
            </a:ln>
          </p:spPr>
          <p:txBody>
            <a:bodyPr wrap="none" lIns="0" tIns="0" rIns="0" bIns="0" anchor="t" anchorCtr="0">
              <a:spAutoFit/>
            </a:bodyPr>
            <a:lstStyle/>
            <a:p>
              <a:pPr algn="l"/>
              <a:r>
                <a:rPr lang="zh-CN" sz="1120" b="1" dirty="0">
                  <a:solidFill>
                    <a:srgbClr val="1E4FA8"/>
                  </a:solidFill>
                  <a:latin typeface="Arial"/>
                  <a:ea typeface="Microsoft YaHei"/>
                  <a:cs typeface="Arial"/>
                </a:rPr>
                <a:t>大气圈 Atmosphere</a:t>
              </a:r>
            </a:p>
          </p:txBody>
        </p:sp>
        <p:sp>
          <p:nvSpPr>
            <p:cNvPr id="12" name="TextBox 12"/>
            <p:cNvSpPr txBox="1"/>
            <p:nvPr/>
          </p:nvSpPr>
          <p:spPr>
            <a:xfrm>
              <a:off x="5341793" y="1837849"/>
              <a:ext cx="1368760" cy="190690"/>
            </a:xfrm>
            <a:prstGeom prst="rect">
              <a:avLst/>
            </a:prstGeom>
            <a:noFill/>
            <a:ln>
              <a:noFill/>
            </a:ln>
          </p:spPr>
          <p:txBody>
            <a:bodyPr wrap="none" lIns="0" tIns="0" rIns="0" bIns="0" anchor="t" anchorCtr="0">
              <a:spAutoFit/>
            </a:bodyPr>
            <a:lstStyle/>
            <a:p>
              <a:pPr algn="r"/>
              <a:r>
                <a:rPr lang="zh-CN" sz="980" dirty="0">
                  <a:solidFill>
                    <a:srgbClr val="4A5568"/>
                  </a:solidFill>
                  <a:latin typeface="Arial"/>
                  <a:ea typeface="Microsoft YaHei"/>
                  <a:cs typeface="Arial"/>
                </a:rPr>
                <a:t>降水 · 蒸发 · 升华交换</a:t>
              </a:r>
            </a:p>
          </p:txBody>
        </p:sp>
        <p:sp>
          <p:nvSpPr>
            <p:cNvPr id="13" name="Rectangle 13"/>
            <p:cNvSpPr/>
            <p:nvPr/>
          </p:nvSpPr>
          <p:spPr>
            <a:xfrm>
              <a:off x="571500" y="2857500"/>
              <a:ext cx="2857500" cy="1905000"/>
            </a:xfrm>
            <a:prstGeom prst="rect">
              <a:avLst/>
            </a:prstGeom>
            <a:solidFill>
              <a:srgbClr val="D6DCE5"/>
            </a:solidFill>
            <a:ln>
              <a:noFill/>
            </a:ln>
          </p:spPr>
        </p:sp>
        <p:sp>
          <p:nvSpPr>
            <p:cNvPr id="14" name="TextBox 14"/>
            <p:cNvSpPr txBox="1"/>
            <p:nvPr/>
          </p:nvSpPr>
          <p:spPr>
            <a:xfrm>
              <a:off x="1586339" y="4371499"/>
              <a:ext cx="827822" cy="190690"/>
            </a:xfrm>
            <a:prstGeom prst="rect">
              <a:avLst/>
            </a:prstGeom>
            <a:noFill/>
            <a:ln>
              <a:noFill/>
            </a:ln>
          </p:spPr>
          <p:txBody>
            <a:bodyPr wrap="none" lIns="0" tIns="0" rIns="0" bIns="0" anchor="t" anchorCtr="0">
              <a:spAutoFit/>
            </a:bodyPr>
            <a:lstStyle/>
            <a:p>
              <a:pPr algn="ctr"/>
              <a:r>
                <a:rPr lang="zh-CN" sz="980" dirty="0">
                  <a:solidFill>
                    <a:srgbClr val="4A5568"/>
                  </a:solidFill>
                  <a:latin typeface="Arial"/>
                  <a:ea typeface="Microsoft YaHei"/>
                  <a:cs typeface="Arial"/>
                </a:rPr>
                <a:t>基岩 Bedrock</a:t>
              </a:r>
            </a:p>
          </p:txBody>
        </p:sp>
        <p:sp>
          <p:nvSpPr>
            <p:cNvPr id="15" name="Freeform 15"/>
            <p:cNvSpPr/>
            <p:nvPr/>
          </p:nvSpPr>
          <p:spPr>
            <a:xfrm>
              <a:off x="571500" y="2463800"/>
              <a:ext cx="2857500" cy="393700"/>
            </a:xfrm>
            <a:custGeom>
              <a:avLst/>
              <a:gdLst/>
              <a:ahLst/>
              <a:cxnLst/>
              <a:rect l="l" t="t" r="r" b="b"/>
              <a:pathLst>
                <a:path w="2857500" h="393700">
                  <a:moveTo>
                    <a:pt x="0" y="393700"/>
                  </a:moveTo>
                  <a:cubicBezTo>
                    <a:pt x="952500" y="0"/>
                    <a:pt x="1905000" y="0"/>
                    <a:pt x="2857500" y="393700"/>
                  </a:cubicBezTo>
                  <a:close/>
                </a:path>
              </a:pathLst>
            </a:custGeom>
            <a:solidFill>
              <a:srgbClr val="FFFFFF"/>
            </a:solidFill>
            <a:ln w="19050">
              <a:solidFill>
                <a:srgbClr val="1E4FA8"/>
              </a:solidFill>
            </a:ln>
          </p:spPr>
        </p:sp>
        <p:sp>
          <p:nvSpPr>
            <p:cNvPr id="16" name="TextBox 16"/>
            <p:cNvSpPr txBox="1"/>
            <p:nvPr/>
          </p:nvSpPr>
          <p:spPr>
            <a:xfrm>
              <a:off x="1003689" y="2676049"/>
              <a:ext cx="1993121" cy="190690"/>
            </a:xfrm>
            <a:prstGeom prst="rect">
              <a:avLst/>
            </a:prstGeom>
            <a:noFill/>
            <a:ln>
              <a:noFill/>
            </a:ln>
          </p:spPr>
          <p:txBody>
            <a:bodyPr wrap="none" lIns="0" tIns="0" rIns="0" bIns="0" anchor="t" anchorCtr="0">
              <a:spAutoFit/>
            </a:bodyPr>
            <a:lstStyle/>
            <a:p>
              <a:pPr algn="ctr"/>
              <a:r>
                <a:rPr lang="zh-CN" sz="980" b="1" dirty="0">
                  <a:solidFill>
                    <a:srgbClr val="0E3F8C"/>
                  </a:solidFill>
                  <a:latin typeface="Arial"/>
                  <a:ea typeface="Microsoft YaHei"/>
                  <a:cs typeface="Arial"/>
                </a:rPr>
                <a:t>冰盖 / 冰川 Ice sheet / Glacier</a:t>
              </a:r>
            </a:p>
          </p:txBody>
        </p:sp>
        <p:sp>
          <p:nvSpPr>
            <p:cNvPr id="17" name="Rectangle 17"/>
            <p:cNvSpPr/>
            <p:nvPr/>
          </p:nvSpPr>
          <p:spPr>
            <a:xfrm>
              <a:off x="3429000" y="2857500"/>
              <a:ext cx="3429000" cy="1905000"/>
            </a:xfrm>
            <a:prstGeom prst="rect">
              <a:avLst/>
            </a:prstGeom>
            <a:solidFill>
              <a:srgbClr val="3D7BD9"/>
            </a:solidFill>
            <a:ln>
              <a:noFill/>
            </a:ln>
          </p:spPr>
        </p:sp>
        <p:sp>
          <p:nvSpPr>
            <p:cNvPr id="18" name="TextBox 18"/>
            <p:cNvSpPr txBox="1"/>
            <p:nvPr/>
          </p:nvSpPr>
          <p:spPr>
            <a:xfrm>
              <a:off x="4725133" y="4355306"/>
              <a:ext cx="836735"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Arial"/>
                  <a:ea typeface="Microsoft YaHei"/>
                  <a:cs typeface="Arial"/>
                </a:rPr>
                <a:t>海洋 Ocean</a:t>
              </a:r>
            </a:p>
          </p:txBody>
        </p:sp>
        <p:sp>
          <p:nvSpPr>
            <p:cNvPr id="19" name="Freeform 19"/>
            <p:cNvSpPr/>
            <p:nvPr/>
          </p:nvSpPr>
          <p:spPr>
            <a:xfrm>
              <a:off x="3238500" y="2857500"/>
              <a:ext cx="914400" cy="209550"/>
            </a:xfrm>
            <a:custGeom>
              <a:avLst/>
              <a:gdLst/>
              <a:ahLst/>
              <a:cxnLst/>
              <a:rect l="l" t="t" r="r" b="b"/>
              <a:pathLst>
                <a:path w="914400" h="209550">
                  <a:moveTo>
                    <a:pt x="0" y="0"/>
                  </a:moveTo>
                  <a:lnTo>
                    <a:pt x="914400" y="0"/>
                  </a:lnTo>
                  <a:lnTo>
                    <a:pt x="704850" y="209550"/>
                  </a:lnTo>
                  <a:lnTo>
                    <a:pt x="114300" y="190500"/>
                  </a:lnTo>
                  <a:close/>
                </a:path>
              </a:pathLst>
            </a:custGeom>
            <a:solidFill>
              <a:srgbClr val="FFFFFF"/>
            </a:solidFill>
            <a:ln w="14288">
              <a:solidFill>
                <a:srgbClr val="1E4FA8"/>
              </a:solidFill>
            </a:ln>
          </p:spPr>
        </p:sp>
        <p:sp>
          <p:nvSpPr>
            <p:cNvPr id="20" name="Line 20"/>
            <p:cNvSpPr/>
            <p:nvPr/>
          </p:nvSpPr>
          <p:spPr>
            <a:xfrm>
              <a:off x="4000500" y="2705100"/>
              <a:ext cx="438150" cy="190500"/>
            </a:xfrm>
            <a:custGeom>
              <a:avLst/>
              <a:gdLst/>
              <a:ahLst/>
              <a:cxnLst/>
              <a:rect l="l" t="t" r="r" b="b"/>
              <a:pathLst>
                <a:path w="438150" h="190500">
                  <a:moveTo>
                    <a:pt x="438150" y="0"/>
                  </a:moveTo>
                  <a:lnTo>
                    <a:pt x="0" y="190500"/>
                  </a:lnTo>
                </a:path>
              </a:pathLst>
            </a:custGeom>
            <a:noFill/>
            <a:ln w="9525">
              <a:solidFill>
                <a:srgbClr val="4A5568"/>
              </a:solidFill>
            </a:ln>
          </p:spPr>
        </p:sp>
        <p:sp>
          <p:nvSpPr>
            <p:cNvPr id="21" name="TextBox 21"/>
            <p:cNvSpPr txBox="1"/>
            <p:nvPr/>
          </p:nvSpPr>
          <p:spPr>
            <a:xfrm>
              <a:off x="4471797" y="2637949"/>
              <a:ext cx="903397" cy="190690"/>
            </a:xfrm>
            <a:prstGeom prst="rect">
              <a:avLst/>
            </a:prstGeom>
            <a:noFill/>
            <a:ln>
              <a:noFill/>
            </a:ln>
          </p:spPr>
          <p:txBody>
            <a:bodyPr wrap="none" lIns="0" tIns="0" rIns="0" bIns="0" anchor="t" anchorCtr="0">
              <a:spAutoFit/>
            </a:bodyPr>
            <a:lstStyle/>
            <a:p>
              <a:pPr algn="l"/>
              <a:r>
                <a:rPr lang="zh-CN" sz="980" b="1" dirty="0">
                  <a:solidFill>
                    <a:srgbClr val="0E3F8C"/>
                  </a:solidFill>
                  <a:latin typeface="Arial"/>
                  <a:ea typeface="Microsoft YaHei"/>
                  <a:cs typeface="Arial"/>
                </a:rPr>
                <a:t>冰架 Ice shelf</a:t>
              </a:r>
            </a:p>
          </p:txBody>
        </p:sp>
        <p:sp>
          <p:nvSpPr>
            <p:cNvPr id="22" name="Rectangle 22"/>
            <p:cNvSpPr/>
            <p:nvPr/>
          </p:nvSpPr>
          <p:spPr>
            <a:xfrm>
              <a:off x="4762500" y="2781300"/>
              <a:ext cx="571500" cy="95250"/>
            </a:xfrm>
            <a:prstGeom prst="roundRect">
              <a:avLst>
                <a:gd name="adj" fmla="val 40000"/>
              </a:avLst>
            </a:prstGeom>
            <a:solidFill>
              <a:srgbClr val="FFFFFF"/>
            </a:solidFill>
            <a:ln w="9525">
              <a:solidFill>
                <a:srgbClr val="1E4FA8"/>
              </a:solidFill>
            </a:ln>
          </p:spPr>
        </p:sp>
        <p:sp>
          <p:nvSpPr>
            <p:cNvPr id="23" name="Rectangle 23"/>
            <p:cNvSpPr/>
            <p:nvPr/>
          </p:nvSpPr>
          <p:spPr>
            <a:xfrm>
              <a:off x="5524500" y="2781300"/>
              <a:ext cx="476250" cy="95250"/>
            </a:xfrm>
            <a:prstGeom prst="roundRect">
              <a:avLst>
                <a:gd name="adj" fmla="val 40000"/>
              </a:avLst>
            </a:prstGeom>
            <a:solidFill>
              <a:srgbClr val="FFFFFF"/>
            </a:solidFill>
            <a:ln w="9525">
              <a:solidFill>
                <a:srgbClr val="1E4FA8"/>
              </a:solidFill>
            </a:ln>
          </p:spPr>
        </p:sp>
        <p:sp>
          <p:nvSpPr>
            <p:cNvPr id="24" name="Rectangle 24"/>
            <p:cNvSpPr/>
            <p:nvPr/>
          </p:nvSpPr>
          <p:spPr>
            <a:xfrm>
              <a:off x="6191250" y="2781300"/>
              <a:ext cx="523875" cy="95250"/>
            </a:xfrm>
            <a:prstGeom prst="roundRect">
              <a:avLst>
                <a:gd name="adj" fmla="val 40000"/>
              </a:avLst>
            </a:prstGeom>
            <a:solidFill>
              <a:srgbClr val="FFFFFF"/>
            </a:solidFill>
            <a:ln w="9525">
              <a:solidFill>
                <a:srgbClr val="1E4FA8"/>
              </a:solidFill>
            </a:ln>
          </p:spPr>
        </p:sp>
        <p:sp>
          <p:nvSpPr>
            <p:cNvPr id="25" name="TextBox 25"/>
            <p:cNvSpPr txBox="1"/>
            <p:nvPr/>
          </p:nvSpPr>
          <p:spPr>
            <a:xfrm>
              <a:off x="5512184" y="2637949"/>
              <a:ext cx="786633" cy="190690"/>
            </a:xfrm>
            <a:prstGeom prst="rect">
              <a:avLst/>
            </a:prstGeom>
            <a:noFill/>
            <a:ln>
              <a:noFill/>
            </a:ln>
          </p:spPr>
          <p:txBody>
            <a:bodyPr wrap="none" lIns="0" tIns="0" rIns="0" bIns="0" anchor="t" anchorCtr="0">
              <a:spAutoFit/>
            </a:bodyPr>
            <a:lstStyle/>
            <a:p>
              <a:pPr algn="ctr"/>
              <a:r>
                <a:rPr lang="zh-CN" sz="980" b="1" dirty="0">
                  <a:solidFill>
                    <a:srgbClr val="0E3F8C"/>
                  </a:solidFill>
                  <a:latin typeface="Arial"/>
                  <a:ea typeface="Microsoft YaHei"/>
                  <a:cs typeface="Arial"/>
                </a:rPr>
                <a:t>海冰 Sea ice</a:t>
              </a:r>
            </a:p>
          </p:txBody>
        </p:sp>
        <p:sp>
          <p:nvSpPr>
            <p:cNvPr id="26" name="Line 26"/>
            <p:cNvSpPr/>
            <p:nvPr/>
          </p:nvSpPr>
          <p:spPr>
            <a:xfrm>
              <a:off x="1333500" y="2171700"/>
              <a:ext cx="9525" cy="190500"/>
            </a:xfrm>
            <a:custGeom>
              <a:avLst/>
              <a:gdLst/>
              <a:ahLst/>
              <a:cxnLst/>
              <a:rect l="l" t="t" r="r" b="b"/>
              <a:pathLst>
                <a:path w="9525" h="190500">
                  <a:moveTo>
                    <a:pt x="0" y="0"/>
                  </a:moveTo>
                  <a:lnTo>
                    <a:pt x="0" y="190500"/>
                  </a:lnTo>
                </a:path>
              </a:pathLst>
            </a:custGeom>
            <a:noFill/>
            <a:ln w="28575">
              <a:solidFill>
                <a:srgbClr val="1E4FA8"/>
              </a:solidFill>
            </a:ln>
          </p:spPr>
        </p:sp>
        <p:sp>
          <p:nvSpPr>
            <p:cNvPr id="27" name="Polygon 27"/>
            <p:cNvSpPr/>
            <p:nvPr/>
          </p:nvSpPr>
          <p:spPr>
            <a:xfrm>
              <a:off x="1266825" y="2343150"/>
              <a:ext cx="133350" cy="95250"/>
            </a:xfrm>
            <a:custGeom>
              <a:avLst/>
              <a:gdLst/>
              <a:ahLst/>
              <a:cxnLst/>
              <a:rect l="l" t="t" r="r" b="b"/>
              <a:pathLst>
                <a:path w="133350" h="95250">
                  <a:moveTo>
                    <a:pt x="66675" y="95250"/>
                  </a:moveTo>
                  <a:lnTo>
                    <a:pt x="0" y="0"/>
                  </a:lnTo>
                  <a:lnTo>
                    <a:pt x="133350" y="0"/>
                  </a:lnTo>
                  <a:close/>
                </a:path>
              </a:pathLst>
            </a:custGeom>
            <a:solidFill>
              <a:srgbClr val="1E4FA8"/>
            </a:solidFill>
            <a:ln>
              <a:noFill/>
            </a:ln>
          </p:spPr>
        </p:sp>
        <p:sp>
          <p:nvSpPr>
            <p:cNvPr id="28" name="Line 28"/>
            <p:cNvSpPr/>
            <p:nvPr/>
          </p:nvSpPr>
          <p:spPr>
            <a:xfrm>
              <a:off x="2857500" y="2209800"/>
              <a:ext cx="9525" cy="247650"/>
            </a:xfrm>
            <a:custGeom>
              <a:avLst/>
              <a:gdLst/>
              <a:ahLst/>
              <a:cxnLst/>
              <a:rect l="l" t="t" r="r" b="b"/>
              <a:pathLst>
                <a:path w="9525" h="247650">
                  <a:moveTo>
                    <a:pt x="0" y="247650"/>
                  </a:moveTo>
                  <a:lnTo>
                    <a:pt x="0" y="0"/>
                  </a:lnTo>
                </a:path>
              </a:pathLst>
            </a:custGeom>
            <a:noFill/>
            <a:ln w="28575">
              <a:solidFill>
                <a:srgbClr val="3D7BD9"/>
              </a:solidFill>
            </a:ln>
          </p:spPr>
        </p:sp>
        <p:sp>
          <p:nvSpPr>
            <p:cNvPr id="29" name="Polygon 29"/>
            <p:cNvSpPr/>
            <p:nvPr/>
          </p:nvSpPr>
          <p:spPr>
            <a:xfrm>
              <a:off x="2790825" y="2133600"/>
              <a:ext cx="133350" cy="95250"/>
            </a:xfrm>
            <a:custGeom>
              <a:avLst/>
              <a:gdLst/>
              <a:ahLst/>
              <a:cxnLst/>
              <a:rect l="l" t="t" r="r" b="b"/>
              <a:pathLst>
                <a:path w="133350" h="95250">
                  <a:moveTo>
                    <a:pt x="66675" y="0"/>
                  </a:moveTo>
                  <a:lnTo>
                    <a:pt x="0" y="95250"/>
                  </a:lnTo>
                  <a:lnTo>
                    <a:pt x="133350" y="95250"/>
                  </a:lnTo>
                  <a:close/>
                </a:path>
              </a:pathLst>
            </a:custGeom>
            <a:solidFill>
              <a:srgbClr val="3D7BD9"/>
            </a:solidFill>
            <a:ln>
              <a:noFill/>
            </a:ln>
          </p:spPr>
        </p:sp>
        <p:sp>
          <p:nvSpPr>
            <p:cNvPr id="30" name="Line 30"/>
            <p:cNvSpPr/>
            <p:nvPr/>
          </p:nvSpPr>
          <p:spPr>
            <a:xfrm>
              <a:off x="3619500" y="3143250"/>
              <a:ext cx="476250" cy="9525"/>
            </a:xfrm>
            <a:custGeom>
              <a:avLst/>
              <a:gdLst/>
              <a:ahLst/>
              <a:cxnLst/>
              <a:rect l="l" t="t" r="r" b="b"/>
              <a:pathLst>
                <a:path w="476250" h="9525">
                  <a:moveTo>
                    <a:pt x="0" y="0"/>
                  </a:moveTo>
                  <a:lnTo>
                    <a:pt x="476250" y="0"/>
                  </a:lnTo>
                </a:path>
              </a:pathLst>
            </a:custGeom>
            <a:noFill/>
            <a:ln w="28575">
              <a:solidFill>
                <a:srgbClr val="FFFFFF"/>
              </a:solidFill>
            </a:ln>
          </p:spPr>
        </p:sp>
        <p:sp>
          <p:nvSpPr>
            <p:cNvPr id="31" name="Polygon 31"/>
            <p:cNvSpPr/>
            <p:nvPr/>
          </p:nvSpPr>
          <p:spPr>
            <a:xfrm>
              <a:off x="4076700" y="3086100"/>
              <a:ext cx="95250" cy="114300"/>
            </a:xfrm>
            <a:custGeom>
              <a:avLst/>
              <a:gdLst/>
              <a:ahLst/>
              <a:cxnLst/>
              <a:rect l="l" t="t" r="r" b="b"/>
              <a:pathLst>
                <a:path w="95250" h="114300">
                  <a:moveTo>
                    <a:pt x="95250" y="57150"/>
                  </a:moveTo>
                  <a:lnTo>
                    <a:pt x="0" y="0"/>
                  </a:lnTo>
                  <a:lnTo>
                    <a:pt x="0" y="114300"/>
                  </a:lnTo>
                  <a:close/>
                </a:path>
              </a:pathLst>
            </a:custGeom>
            <a:solidFill>
              <a:srgbClr val="FFFFFF"/>
            </a:solidFill>
            <a:ln>
              <a:noFill/>
            </a:ln>
          </p:spPr>
        </p:sp>
        <p:sp>
          <p:nvSpPr>
            <p:cNvPr id="32" name="Line 32"/>
            <p:cNvSpPr/>
            <p:nvPr/>
          </p:nvSpPr>
          <p:spPr>
            <a:xfrm>
              <a:off x="6572250" y="2495550"/>
              <a:ext cx="9525" cy="228600"/>
            </a:xfrm>
            <a:custGeom>
              <a:avLst/>
              <a:gdLst/>
              <a:ahLst/>
              <a:cxnLst/>
              <a:rect l="l" t="t" r="r" b="b"/>
              <a:pathLst>
                <a:path w="9525" h="228600">
                  <a:moveTo>
                    <a:pt x="0" y="0"/>
                  </a:moveTo>
                  <a:lnTo>
                    <a:pt x="0" y="228600"/>
                  </a:lnTo>
                </a:path>
              </a:pathLst>
            </a:custGeom>
            <a:noFill/>
            <a:ln w="28575">
              <a:solidFill>
                <a:srgbClr val="1E4FA8"/>
              </a:solidFill>
            </a:ln>
          </p:spPr>
        </p:sp>
        <p:sp>
          <p:nvSpPr>
            <p:cNvPr id="33" name="Polygon 33"/>
            <p:cNvSpPr/>
            <p:nvPr/>
          </p:nvSpPr>
          <p:spPr>
            <a:xfrm>
              <a:off x="6505575" y="2419350"/>
              <a:ext cx="133350" cy="95250"/>
            </a:xfrm>
            <a:custGeom>
              <a:avLst/>
              <a:gdLst/>
              <a:ahLst/>
              <a:cxnLst/>
              <a:rect l="l" t="t" r="r" b="b"/>
              <a:pathLst>
                <a:path w="133350" h="95250">
                  <a:moveTo>
                    <a:pt x="66675" y="0"/>
                  </a:moveTo>
                  <a:lnTo>
                    <a:pt x="0" y="95250"/>
                  </a:lnTo>
                  <a:lnTo>
                    <a:pt x="133350" y="95250"/>
                  </a:lnTo>
                  <a:close/>
                </a:path>
              </a:pathLst>
            </a:custGeom>
            <a:solidFill>
              <a:srgbClr val="1E4FA8"/>
            </a:solidFill>
            <a:ln>
              <a:noFill/>
            </a:ln>
          </p:spPr>
        </p:sp>
        <p:sp>
          <p:nvSpPr>
            <p:cNvPr id="34" name="Polygon 34"/>
            <p:cNvSpPr/>
            <p:nvPr/>
          </p:nvSpPr>
          <p:spPr>
            <a:xfrm>
              <a:off x="6505575" y="2705100"/>
              <a:ext cx="133350" cy="95250"/>
            </a:xfrm>
            <a:custGeom>
              <a:avLst/>
              <a:gdLst/>
              <a:ahLst/>
              <a:cxnLst/>
              <a:rect l="l" t="t" r="r" b="b"/>
              <a:pathLst>
                <a:path w="133350" h="95250">
                  <a:moveTo>
                    <a:pt x="66675" y="95250"/>
                  </a:moveTo>
                  <a:lnTo>
                    <a:pt x="0" y="0"/>
                  </a:lnTo>
                  <a:lnTo>
                    <a:pt x="133350" y="0"/>
                  </a:lnTo>
                  <a:close/>
                </a:path>
              </a:pathLst>
            </a:custGeom>
            <a:solidFill>
              <a:srgbClr val="1E4FA8"/>
            </a:solidFill>
            <a:ln>
              <a:noFill/>
            </a:ln>
          </p:spPr>
        </p:sp>
        <p:sp>
          <p:nvSpPr>
            <p:cNvPr id="35" name="Line 35"/>
            <p:cNvSpPr/>
            <p:nvPr/>
          </p:nvSpPr>
          <p:spPr>
            <a:xfrm>
              <a:off x="571500" y="4953000"/>
              <a:ext cx="6286500" cy="9525"/>
            </a:xfrm>
            <a:custGeom>
              <a:avLst/>
              <a:gdLst/>
              <a:ahLst/>
              <a:cxnLst/>
              <a:rect l="l" t="t" r="r" b="b"/>
              <a:pathLst>
                <a:path w="6286500" h="9525">
                  <a:moveTo>
                    <a:pt x="0" y="0"/>
                  </a:moveTo>
                  <a:lnTo>
                    <a:pt x="6286500" y="0"/>
                  </a:lnTo>
                </a:path>
              </a:pathLst>
            </a:custGeom>
            <a:noFill/>
            <a:ln w="9525">
              <a:solidFill>
                <a:srgbClr val="D6DCE5"/>
              </a:solidFill>
            </a:ln>
          </p:spPr>
        </p:sp>
        <p:sp>
          <p:nvSpPr>
            <p:cNvPr id="36" name="TextBox 36"/>
            <p:cNvSpPr txBox="1"/>
            <p:nvPr/>
          </p:nvSpPr>
          <p:spPr>
            <a:xfrm>
              <a:off x="566547" y="5114449"/>
              <a:ext cx="1262503" cy="190690"/>
            </a:xfrm>
            <a:prstGeom prst="rect">
              <a:avLst/>
            </a:prstGeom>
            <a:noFill/>
            <a:ln>
              <a:noFill/>
            </a:ln>
          </p:spPr>
          <p:txBody>
            <a:bodyPr wrap="none" lIns="0" tIns="0" rIns="0" bIns="0" anchor="t" anchorCtr="0">
              <a:spAutoFit/>
            </a:bodyPr>
            <a:lstStyle/>
            <a:p>
              <a:pPr algn="l"/>
              <a:r>
                <a:rPr lang="zh-CN" sz="980" dirty="0">
                  <a:solidFill>
                    <a:srgbClr val="4A5568"/>
                  </a:solidFill>
                  <a:latin typeface="Arial"/>
                  <a:ea typeface="Microsoft YaHei"/>
                  <a:cs typeface="Arial"/>
                </a:rPr>
                <a:t>↓ 积累 Accumulation</a:t>
              </a:r>
            </a:p>
          </p:txBody>
        </p:sp>
        <p:sp>
          <p:nvSpPr>
            <p:cNvPr id="37" name="TextBox 37"/>
            <p:cNvSpPr txBox="1"/>
            <p:nvPr/>
          </p:nvSpPr>
          <p:spPr>
            <a:xfrm>
              <a:off x="2376297" y="5114449"/>
              <a:ext cx="1614444" cy="190690"/>
            </a:xfrm>
            <a:prstGeom prst="rect">
              <a:avLst/>
            </a:prstGeom>
            <a:noFill/>
            <a:ln>
              <a:noFill/>
            </a:ln>
          </p:spPr>
          <p:txBody>
            <a:bodyPr wrap="none" lIns="0" tIns="0" rIns="0" bIns="0" anchor="t" anchorCtr="0">
              <a:spAutoFit/>
            </a:bodyPr>
            <a:lstStyle/>
            <a:p>
              <a:pPr algn="l"/>
              <a:r>
                <a:rPr lang="zh-CN" sz="980" dirty="0">
                  <a:solidFill>
                    <a:srgbClr val="4A5568"/>
                  </a:solidFill>
                  <a:latin typeface="Arial"/>
                  <a:ea typeface="Microsoft YaHei"/>
                  <a:cs typeface="Arial"/>
                </a:rPr>
                <a:t>↑ 蒸发 / 升华 Evaporation</a:t>
              </a:r>
            </a:p>
          </p:txBody>
        </p:sp>
        <p:sp>
          <p:nvSpPr>
            <p:cNvPr id="38" name="TextBox 38"/>
            <p:cNvSpPr txBox="1"/>
            <p:nvPr/>
          </p:nvSpPr>
          <p:spPr>
            <a:xfrm>
              <a:off x="4186047" y="5114449"/>
              <a:ext cx="900968" cy="190690"/>
            </a:xfrm>
            <a:prstGeom prst="rect">
              <a:avLst/>
            </a:prstGeom>
            <a:noFill/>
            <a:ln>
              <a:noFill/>
            </a:ln>
          </p:spPr>
          <p:txBody>
            <a:bodyPr wrap="none" lIns="0" tIns="0" rIns="0" bIns="0" anchor="t" anchorCtr="0">
              <a:spAutoFit/>
            </a:bodyPr>
            <a:lstStyle/>
            <a:p>
              <a:pPr algn="l"/>
              <a:r>
                <a:rPr lang="zh-CN" sz="980" dirty="0">
                  <a:solidFill>
                    <a:srgbClr val="4A5568"/>
                  </a:solidFill>
                  <a:latin typeface="Arial"/>
                  <a:ea typeface="Microsoft YaHei"/>
                  <a:cs typeface="Arial"/>
                </a:rPr>
                <a:t>→ 消融 Melting</a:t>
              </a:r>
            </a:p>
          </p:txBody>
        </p:sp>
        <p:sp>
          <p:nvSpPr>
            <p:cNvPr id="39" name="TextBox 39"/>
            <p:cNvSpPr txBox="1"/>
            <p:nvPr/>
          </p:nvSpPr>
          <p:spPr>
            <a:xfrm>
              <a:off x="5519547" y="5114449"/>
              <a:ext cx="1245514" cy="190690"/>
            </a:xfrm>
            <a:prstGeom prst="rect">
              <a:avLst/>
            </a:prstGeom>
            <a:noFill/>
            <a:ln>
              <a:noFill/>
            </a:ln>
          </p:spPr>
          <p:txBody>
            <a:bodyPr wrap="none" lIns="0" tIns="0" rIns="0" bIns="0" anchor="t" anchorCtr="0">
              <a:spAutoFit/>
            </a:bodyPr>
            <a:lstStyle/>
            <a:p>
              <a:pPr algn="l"/>
              <a:r>
                <a:rPr lang="zh-CN" sz="980" dirty="0">
                  <a:solidFill>
                    <a:srgbClr val="4A5568"/>
                  </a:solidFill>
                  <a:latin typeface="Arial"/>
                  <a:ea typeface="Microsoft YaHei"/>
                  <a:cs typeface="Arial"/>
                </a:rPr>
                <a:t>↕ 季节变化 Seasonal</a:t>
              </a:r>
            </a:p>
          </p:txBody>
        </p:sp>
        <p:sp>
          <p:nvSpPr>
            <p:cNvPr id="40" name="TextBox 40"/>
            <p:cNvSpPr txBox="1"/>
            <p:nvPr/>
          </p:nvSpPr>
          <p:spPr>
            <a:xfrm>
              <a:off x="566547" y="5457349"/>
              <a:ext cx="4683379" cy="438341"/>
            </a:xfrm>
            <a:prstGeom prst="rect">
              <a:avLst/>
            </a:prstGeom>
            <a:noFill/>
            <a:ln>
              <a:noFill/>
            </a:ln>
          </p:spPr>
          <p:txBody>
            <a:bodyPr wrap="none" lIns="0" tIns="0" rIns="0" bIns="0" anchor="t" anchorCtr="0">
              <a:spAutoFit/>
            </a:bodyPr>
            <a:lstStyle/>
            <a:p>
              <a:pPr algn="l">
                <a:lnSpc>
                  <a:spcPts val="1950"/>
                </a:lnSpc>
              </a:pPr>
              <a:r>
                <a:rPr lang="zh-CN" sz="980" dirty="0">
                  <a:solidFill>
                    <a:srgbClr val="4A5568"/>
                  </a:solidFill>
                  <a:latin typeface="Arial"/>
                  <a:ea typeface="Microsoft YaHei"/>
                  <a:cs typeface="Arial"/>
                </a:rPr>
                <a:t>储存 Storage：陆地冰是长期储库，海冰是季节性薄层</a:t>
              </a:r>
              <a:br/>
              <a:r>
                <a:rPr lang="en-US" sz="980" dirty="0">
                  <a:solidFill>
                    <a:srgbClr val="4A5568"/>
                  </a:solidFill>
                  <a:latin typeface="Arial"/>
                  <a:ea typeface="Arial"/>
                  <a:cs typeface="Arial"/>
                </a:rPr>
                <a:t>Storage: continental ice = long-term reservoir; sea ice = thin seasonal layer</a:t>
              </a:r>
            </a:p>
          </p:txBody>
        </p:sp>
      </p:grpSp>
      <p:grpSp>
        <p:nvGrpSpPr>
          <p:cNvPr id="49" name="Group 49"/>
          <p:cNvGrpSpPr/>
          <p:nvPr/>
        </p:nvGrpSpPr>
        <p:grpSpPr>
          <a:xfrm>
            <a:off x="7239000" y="1466850"/>
            <a:ext cx="4572000" cy="2343150"/>
            <a:chOff x="7239000" y="1466850"/>
            <a:chExt cx="4572000" cy="2343150"/>
          </a:xfrm>
        </p:grpSpPr>
        <p:sp>
          <p:nvSpPr>
            <p:cNvPr id="42" name="Rectangle 42"/>
            <p:cNvSpPr/>
            <p:nvPr/>
          </p:nvSpPr>
          <p:spPr>
            <a:xfrm>
              <a:off x="7239000" y="1466850"/>
              <a:ext cx="4572000" cy="2343150"/>
            </a:xfrm>
            <a:prstGeom prst="roundRect">
              <a:avLst>
                <a:gd name="adj" fmla="val 4878"/>
              </a:avLst>
            </a:prstGeom>
            <a:solidFill>
              <a:srgbClr val="F7F9FC"/>
            </a:solidFill>
            <a:ln w="9525">
              <a:solidFill>
                <a:srgbClr val="D6DCE5"/>
              </a:solidFill>
            </a:ln>
          </p:spPr>
        </p:sp>
        <p:sp>
          <p:nvSpPr>
            <p:cNvPr id="43" name="TextBox 43"/>
            <p:cNvSpPr txBox="1"/>
            <p:nvPr/>
          </p:nvSpPr>
          <p:spPr>
            <a:xfrm>
              <a:off x="7423404" y="1642110"/>
              <a:ext cx="2347425" cy="234696"/>
            </a:xfrm>
            <a:prstGeom prst="rect">
              <a:avLst/>
            </a:prstGeom>
            <a:noFill/>
            <a:ln>
              <a:noFill/>
            </a:ln>
          </p:spPr>
          <p:txBody>
            <a:bodyPr wrap="none" lIns="0" tIns="0" rIns="0" bIns="0" anchor="t" anchorCtr="0">
              <a:spAutoFit/>
            </a:bodyPr>
            <a:lstStyle/>
            <a:p>
              <a:pPr algn="l"/>
              <a:r>
                <a:rPr lang="zh-CN" sz="1200" b="1" dirty="0">
                  <a:solidFill>
                    <a:srgbClr val="0E3F8C"/>
                  </a:solidFill>
                  <a:latin typeface="Arial"/>
                  <a:ea typeface="Microsoft YaHei"/>
                  <a:cs typeface="Arial"/>
                </a:rPr>
                <a:t>海平面效应 | Sea-level effect</a:t>
              </a:r>
            </a:p>
          </p:txBody>
        </p:sp>
        <p:sp>
          <p:nvSpPr>
            <p:cNvPr id="44" name="TextBox 44"/>
            <p:cNvSpPr txBox="1"/>
            <p:nvPr/>
          </p:nvSpPr>
          <p:spPr>
            <a:xfrm>
              <a:off x="7423785" y="1974056"/>
              <a:ext cx="2144888" cy="220028"/>
            </a:xfrm>
            <a:prstGeom prst="rect">
              <a:avLst/>
            </a:prstGeom>
            <a:noFill/>
            <a:ln>
              <a:noFill/>
            </a:ln>
          </p:spPr>
          <p:txBody>
            <a:bodyPr wrap="none" lIns="0" tIns="0" rIns="0" bIns="0" anchor="t" anchorCtr="0">
              <a:spAutoFit/>
            </a:bodyPr>
            <a:lstStyle/>
            <a:p>
              <a:pPr algn="l"/>
              <a:r>
                <a:rPr lang="zh-CN" sz="1120" dirty="0">
                  <a:solidFill>
                    <a:srgbClr val="1A2230"/>
                  </a:solidFill>
                  <a:latin typeface="Arial"/>
                  <a:ea typeface="Microsoft YaHei"/>
                  <a:cs typeface="Arial"/>
                </a:rPr>
                <a:t>大陆冰积累、扩张 → 海平面下降</a:t>
              </a:r>
            </a:p>
          </p:txBody>
        </p:sp>
        <p:sp>
          <p:nvSpPr>
            <p:cNvPr id="45" name="TextBox 45"/>
            <p:cNvSpPr txBox="1"/>
            <p:nvPr/>
          </p:nvSpPr>
          <p:spPr>
            <a:xfrm>
              <a:off x="7423785" y="2297906"/>
              <a:ext cx="1692565" cy="220028"/>
            </a:xfrm>
            <a:prstGeom prst="rect">
              <a:avLst/>
            </a:prstGeom>
            <a:noFill/>
            <a:ln>
              <a:noFill/>
            </a:ln>
          </p:spPr>
          <p:txBody>
            <a:bodyPr wrap="none" lIns="0" tIns="0" rIns="0" bIns="0" anchor="t" anchorCtr="0">
              <a:spAutoFit/>
            </a:bodyPr>
            <a:lstStyle/>
            <a:p>
              <a:pPr algn="l"/>
              <a:r>
                <a:rPr lang="zh-CN" sz="1120" dirty="0">
                  <a:solidFill>
                    <a:srgbClr val="1A2230"/>
                  </a:solidFill>
                  <a:latin typeface="Arial"/>
                  <a:ea typeface="Microsoft YaHei"/>
                  <a:cs typeface="Arial"/>
                </a:rPr>
                <a:t>大陆冰融化 → 海平面上升</a:t>
              </a:r>
            </a:p>
          </p:txBody>
        </p:sp>
        <p:sp>
          <p:nvSpPr>
            <p:cNvPr id="46" name="TextBox 46"/>
            <p:cNvSpPr txBox="1"/>
            <p:nvPr/>
          </p:nvSpPr>
          <p:spPr>
            <a:xfrm>
              <a:off x="7423785" y="2621756"/>
              <a:ext cx="2725369" cy="220028"/>
            </a:xfrm>
            <a:prstGeom prst="rect">
              <a:avLst/>
            </a:prstGeom>
            <a:noFill/>
            <a:ln>
              <a:noFill/>
            </a:ln>
          </p:spPr>
          <p:txBody>
            <a:bodyPr wrap="none" lIns="0" tIns="0" rIns="0" bIns="0" anchor="t" anchorCtr="0">
              <a:spAutoFit/>
            </a:bodyPr>
            <a:lstStyle/>
            <a:p>
              <a:pPr algn="l"/>
              <a:r>
                <a:rPr lang="zh-CN" sz="1120" dirty="0">
                  <a:solidFill>
                    <a:srgbClr val="1A2230"/>
                  </a:solidFill>
                  <a:latin typeface="Arial"/>
                  <a:ea typeface="Microsoft YaHei"/>
                  <a:cs typeface="Arial"/>
                </a:rPr>
                <a:t>海冰漂浮于海面，融化不直接抬升海平面</a:t>
              </a:r>
            </a:p>
          </p:txBody>
        </p:sp>
        <p:sp>
          <p:nvSpPr>
            <p:cNvPr id="47" name="TextBox 47"/>
            <p:cNvSpPr txBox="1"/>
            <p:nvPr/>
          </p:nvSpPr>
          <p:spPr>
            <a:xfrm>
              <a:off x="7424547" y="2942749"/>
              <a:ext cx="2830989" cy="190690"/>
            </a:xfrm>
            <a:prstGeom prst="rect">
              <a:avLst/>
            </a:prstGeom>
            <a:noFill/>
            <a:ln>
              <a:noFill/>
            </a:ln>
          </p:spPr>
          <p:txBody>
            <a:bodyPr wrap="none" lIns="0" tIns="0" rIns="0" bIns="0" anchor="t" anchorCtr="0">
              <a:spAutoFit/>
            </a:bodyPr>
            <a:lstStyle/>
            <a:p>
              <a:pPr algn="l"/>
              <a:r>
                <a:rPr lang="en-US" sz="980" dirty="0">
                  <a:solidFill>
                    <a:srgbClr val="4A5568"/>
                  </a:solidFill>
                  <a:latin typeface="Arial"/>
                  <a:ea typeface="Arial"/>
                  <a:cs typeface="Arial"/>
                </a:rPr>
                <a:t>Floating sea-ice melt ≠ continental-ice melt</a:t>
              </a:r>
            </a:p>
          </p:txBody>
        </p:sp>
        <p:sp>
          <p:nvSpPr>
            <p:cNvPr id="48" name="TextBox 48"/>
            <p:cNvSpPr txBox="1"/>
            <p:nvPr/>
          </p:nvSpPr>
          <p:spPr>
            <a:xfrm>
              <a:off x="7424547" y="3209449"/>
              <a:ext cx="3358673" cy="190690"/>
            </a:xfrm>
            <a:prstGeom prst="rect">
              <a:avLst/>
            </a:prstGeom>
            <a:noFill/>
            <a:ln>
              <a:noFill/>
            </a:ln>
          </p:spPr>
          <p:txBody>
            <a:bodyPr wrap="none" lIns="0" tIns="0" rIns="0" bIns="0" anchor="t" anchorCtr="0">
              <a:spAutoFit/>
            </a:bodyPr>
            <a:lstStyle/>
            <a:p>
              <a:pPr algn="l"/>
              <a:r>
                <a:rPr lang="en-US" sz="980" dirty="0">
                  <a:solidFill>
                    <a:srgbClr val="4A5568"/>
                  </a:solidFill>
                  <a:latin typeface="Arial"/>
                  <a:ea typeface="Arial"/>
                  <a:cs typeface="Arial"/>
                </a:rPr>
                <a:t>Sea-level change tracks continental ice, not sea ice</a:t>
              </a:r>
            </a:p>
          </p:txBody>
        </p:sp>
      </p:grpSp>
      <p:grpSp>
        <p:nvGrpSpPr>
          <p:cNvPr id="53" name="Group 53"/>
          <p:cNvGrpSpPr/>
          <p:nvPr/>
        </p:nvGrpSpPr>
        <p:grpSpPr>
          <a:xfrm>
            <a:off x="7239000" y="3952875"/>
            <a:ext cx="4572000" cy="1428750"/>
            <a:chOff x="7239000" y="3952875"/>
            <a:chExt cx="4572000" cy="1428750"/>
          </a:xfrm>
        </p:grpSpPr>
        <p:sp>
          <p:nvSpPr>
            <p:cNvPr id="50" name="Rectangle 50"/>
            <p:cNvSpPr/>
            <p:nvPr/>
          </p:nvSpPr>
          <p:spPr>
            <a:xfrm>
              <a:off x="7239000" y="3952875"/>
              <a:ext cx="4572000" cy="1428750"/>
            </a:xfrm>
            <a:prstGeom prst="roundRect">
              <a:avLst>
                <a:gd name="adj" fmla="val 8000"/>
              </a:avLst>
            </a:prstGeom>
            <a:solidFill>
              <a:srgbClr val="F0F5FC"/>
            </a:solidFill>
            <a:ln w="9525">
              <a:solidFill>
                <a:srgbClr val="D6DCE5"/>
              </a:solidFill>
            </a:ln>
          </p:spPr>
        </p:sp>
        <p:sp>
          <p:nvSpPr>
            <p:cNvPr id="51" name="TextBox 51"/>
            <p:cNvSpPr txBox="1"/>
            <p:nvPr/>
          </p:nvSpPr>
          <p:spPr>
            <a:xfrm>
              <a:off x="7423404" y="4128135"/>
              <a:ext cx="2634598" cy="234696"/>
            </a:xfrm>
            <a:prstGeom prst="rect">
              <a:avLst/>
            </a:prstGeom>
            <a:noFill/>
            <a:ln>
              <a:noFill/>
            </a:ln>
          </p:spPr>
          <p:txBody>
            <a:bodyPr wrap="none" lIns="0" tIns="0" rIns="0" bIns="0" anchor="t" anchorCtr="0">
              <a:spAutoFit/>
            </a:bodyPr>
            <a:lstStyle/>
            <a:p>
              <a:pPr algn="l"/>
              <a:r>
                <a:rPr lang="zh-CN" sz="1200" b="1" dirty="0">
                  <a:solidFill>
                    <a:srgbClr val="0E3F8C"/>
                  </a:solidFill>
                  <a:latin typeface="Arial"/>
                  <a:ea typeface="Microsoft YaHei"/>
                  <a:cs typeface="Arial"/>
                </a:rPr>
                <a:t>海平面当量 | Sea-level equivalent</a:t>
              </a:r>
            </a:p>
          </p:txBody>
        </p:sp>
        <p:sp>
          <p:nvSpPr>
            <p:cNvPr id="52" name="TextBox 52"/>
            <p:cNvSpPr txBox="1"/>
            <p:nvPr/>
          </p:nvSpPr>
          <p:spPr>
            <a:xfrm>
              <a:off x="7423785" y="4441031"/>
              <a:ext cx="2735326" cy="791528"/>
            </a:xfrm>
            <a:prstGeom prst="rect">
              <a:avLst/>
            </a:prstGeom>
            <a:noFill/>
            <a:ln>
              <a:noFill/>
            </a:ln>
          </p:spPr>
          <p:txBody>
            <a:bodyPr wrap="none" lIns="0" tIns="0" rIns="0" bIns="0" anchor="t" anchorCtr="0">
              <a:spAutoFit/>
            </a:bodyPr>
            <a:lstStyle/>
            <a:p>
              <a:pPr algn="l">
                <a:lnSpc>
                  <a:spcPts val="2250"/>
                </a:lnSpc>
              </a:pPr>
              <a:r>
                <a:rPr lang="zh-CN" sz="1120" dirty="0">
                  <a:solidFill>
                    <a:srgbClr val="1A2230"/>
                  </a:solidFill>
                  <a:latin typeface="Arial"/>
                  <a:ea typeface="Microsoft YaHei"/>
                  <a:cs typeface="Arial"/>
                </a:rPr>
                <a:t>南极冰盖 Antarctic ice sheet · 58.3 m</a:t>
              </a:r>
              <a:br/>
              <a:r>
                <a:rPr lang="zh-CN" sz="1120" dirty="0">
                  <a:solidFill>
                    <a:srgbClr val="1A2230"/>
                  </a:solidFill>
                  <a:latin typeface="Arial"/>
                  <a:ea typeface="Microsoft YaHei"/>
                  <a:cs typeface="Arial"/>
                </a:rPr>
                <a:t>格陵兰冰盖 Greenland ice sheet · 7.36 m</a:t>
              </a:r>
              <a:br/>
              <a:r>
                <a:rPr lang="zh-CN" sz="1120" dirty="0">
                  <a:solidFill>
                    <a:srgbClr val="1A2230"/>
                  </a:solidFill>
                  <a:latin typeface="Arial"/>
                  <a:ea typeface="Microsoft YaHei"/>
                  <a:cs typeface="Arial"/>
                </a:rPr>
                <a:t>冰川 Glaciers · 0.41 m</a:t>
              </a:r>
            </a:p>
          </p:txBody>
        </p:sp>
      </p:grpSp>
      <p:grpSp>
        <p:nvGrpSpPr>
          <p:cNvPr id="56" name="Group 56"/>
          <p:cNvGrpSpPr/>
          <p:nvPr/>
        </p:nvGrpSpPr>
        <p:grpSpPr>
          <a:xfrm>
            <a:off x="7239000" y="5524500"/>
            <a:ext cx="4572000" cy="514350"/>
            <a:chOff x="7239000" y="5524500"/>
            <a:chExt cx="4572000" cy="514350"/>
          </a:xfrm>
        </p:grpSpPr>
        <p:sp>
          <p:nvSpPr>
            <p:cNvPr id="54" name="Rectangle 54"/>
            <p:cNvSpPr/>
            <p:nvPr/>
          </p:nvSpPr>
          <p:spPr>
            <a:xfrm>
              <a:off x="7239000" y="5524500"/>
              <a:ext cx="4572000" cy="514350"/>
            </a:xfrm>
            <a:prstGeom prst="roundRect">
              <a:avLst>
                <a:gd name="adj" fmla="val 22222"/>
              </a:avLst>
            </a:prstGeom>
            <a:solidFill>
              <a:srgbClr val="E8EFF8"/>
            </a:solidFill>
            <a:ln w="9525">
              <a:solidFill>
                <a:srgbClr val="D6DCE5"/>
              </a:solidFill>
            </a:ln>
          </p:spPr>
        </p:sp>
        <p:sp>
          <p:nvSpPr>
            <p:cNvPr id="55" name="TextBox 55"/>
            <p:cNvSpPr txBox="1"/>
            <p:nvPr/>
          </p:nvSpPr>
          <p:spPr>
            <a:xfrm>
              <a:off x="7424547" y="5724049"/>
              <a:ext cx="3802879" cy="190690"/>
            </a:xfrm>
            <a:prstGeom prst="rect">
              <a:avLst/>
            </a:prstGeom>
            <a:noFill/>
            <a:ln>
              <a:noFill/>
            </a:ln>
          </p:spPr>
          <p:txBody>
            <a:bodyPr wrap="none" lIns="0" tIns="0" rIns="0" bIns="0" anchor="t" anchorCtr="0">
              <a:spAutoFit/>
            </a:bodyPr>
            <a:lstStyle/>
            <a:p>
              <a:pPr algn="l"/>
              <a:r>
                <a:rPr lang="zh-CN" sz="980" b="1" dirty="0">
                  <a:solidFill>
                    <a:srgbClr val="1E4FA8"/>
                  </a:solidFill>
                  <a:latin typeface="Arial"/>
                  <a:ea typeface="Microsoft YaHei"/>
                  <a:cs typeface="Arial"/>
                </a:rPr>
                <a:t>交换同时改变反照率与海平面 → 连接气候 Connects to climate</a:t>
              </a:r>
            </a:p>
          </p:txBody>
        </p:sp>
      </p:grpSp>
      <p:sp>
        <p:nvSpPr>
          <p:cNvPr id="57" name="TextBox 57"/>
          <p:cNvSpPr txBox="1"/>
          <p:nvPr/>
        </p:nvSpPr>
        <p:spPr>
          <a:xfrm>
            <a:off x="376238" y="6532245"/>
            <a:ext cx="8075720" cy="176212"/>
          </a:xfrm>
          <a:prstGeom prst="rect">
            <a:avLst/>
          </a:prstGeom>
          <a:noFill/>
          <a:ln>
            <a:noFill/>
          </a:ln>
        </p:spPr>
        <p:txBody>
          <a:bodyPr wrap="none" lIns="0" tIns="0" rIns="0" bIns="0" anchor="t" anchorCtr="0">
            <a:spAutoFit/>
          </a:bodyPr>
          <a:lstStyle/>
          <a:p>
            <a:pPr algn="l"/>
            <a:r>
              <a:rPr lang="zh-CN" sz="900" dirty="0">
                <a:solidFill>
                  <a:srgbClr val="4A5568"/>
                </a:solidFill>
                <a:latin typeface="Arial"/>
                <a:ea typeface="Microsoft YaHei"/>
                <a:cs typeface="Arial"/>
              </a:rPr>
              <a:t>Source: 地球系统与演变, Ch.3 §3.2.1.3 &amp; Table 3-2, PDF pp.15–19 (print pp.100–104); UE 8e, Ch.12, PDF pp.1159–1162; EP 5e, p.881.</a:t>
            </a:r>
          </a:p>
        </p:txBody>
      </p:sp>
      <p:sp>
        <p:nvSpPr>
          <p:cNvPr id="58" name="TextBox 58"/>
          <p:cNvSpPr txBox="1"/>
          <p:nvPr/>
        </p:nvSpPr>
        <p:spPr>
          <a:xfrm>
            <a:off x="11672964" y="6532245"/>
            <a:ext cx="142799" cy="176212"/>
          </a:xfrm>
          <a:prstGeom prst="rect">
            <a:avLst/>
          </a:prstGeom>
          <a:noFill/>
          <a:ln>
            <a:noFill/>
          </a:ln>
        </p:spPr>
        <p:txBody>
          <a:bodyPr wrap="none" lIns="0" tIns="0" rIns="0" bIns="0" anchor="t" anchorCtr="0">
            <a:spAutoFit/>
          </a:bodyPr>
          <a:lstStyle/>
          <a:p>
            <a:pPr algn="r"/>
            <a:r>
              <a:rPr lang="en-US" sz="900" dirty="0">
                <a:solidFill>
                  <a:srgbClr val="4A5568"/>
                </a:solidFill>
                <a:latin typeface="Arial"/>
                <a:ea typeface="Arial"/>
                <a:cs typeface="Arial"/>
              </a:rPr>
              <a:t>16</a:t>
            </a:r>
          </a:p>
        </p:txBody>
      </p:sp>
    </p:spTree>
    <p:extLst>
      <p:ext uri="{BB962C8B-B14F-4D97-AF65-F5344CB8AC3E}">
        <p14:creationId xmlns:p14="http://schemas.microsoft.com/office/powerpoint/2010/main" val="2187350427"/>
      </p:ext>
    </p:extLst>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5"/>
          <p:cNvGrpSpPr/>
          <p:nvPr/>
        </p:nvGrpSpPr>
        <p:grpSpPr>
          <a:xfrm>
            <a:off x="0" y="0"/>
            <a:ext cx="12192000" cy="685800"/>
            <a:chOff x="0" y="0"/>
            <a:chExt cx="12192000" cy="685800"/>
          </a:xfrm>
        </p:grpSpPr>
        <p:sp>
          <p:nvSpPr>
            <p:cNvPr id="2" name="Rectangle 2"/>
            <p:cNvSpPr/>
            <p:nvPr/>
          </p:nvSpPr>
          <p:spPr>
            <a:xfrm>
              <a:off x="0" y="0"/>
              <a:ext cx="12192000" cy="685800"/>
            </a:xfrm>
            <a:prstGeom prst="rect">
              <a:avLst/>
            </a:prstGeom>
            <a:solidFill>
              <a:srgbClr val="0E3F8C"/>
            </a:solidFill>
            <a:ln>
              <a:noFill/>
            </a:ln>
          </p:spPr>
        </p:sp>
        <p:sp>
          <p:nvSpPr>
            <p:cNvPr id="3" name="TextBox 3"/>
            <p:cNvSpPr txBox="1"/>
            <p:nvPr/>
          </p:nvSpPr>
          <p:spPr>
            <a:xfrm>
              <a:off x="374142" y="282892"/>
              <a:ext cx="4287134" cy="264033"/>
            </a:xfrm>
            <a:prstGeom prst="rect">
              <a:avLst/>
            </a:prstGeom>
            <a:noFill/>
            <a:ln>
              <a:noFill/>
            </a:ln>
          </p:spPr>
          <p:txBody>
            <a:bodyPr wrap="none" lIns="0" tIns="0" rIns="0" bIns="0" anchor="t" anchorCtr="0">
              <a:spAutoFit/>
            </a:bodyPr>
            <a:lstStyle/>
            <a:p>
              <a:pPr algn="l"/>
              <a:r>
                <a:rPr lang="zh-CN" sz="1350" b="1" dirty="0">
                  <a:solidFill>
                    <a:srgbClr val="FFFFFF"/>
                  </a:solidFill>
                  <a:latin typeface="Arial"/>
                  <a:ea typeface="Microsoft YaHei"/>
                  <a:cs typeface="Arial"/>
                </a:rPr>
                <a:t>1.14 水也进入岩石和地球内部 | Deep Water Cycle</a:t>
              </a:r>
            </a:p>
          </p:txBody>
        </p:sp>
        <p:sp>
          <p:nvSpPr>
            <p:cNvPr id="4" name="TextBox 4"/>
            <p:cNvSpPr txBox="1"/>
            <p:nvPr/>
          </p:nvSpPr>
          <p:spPr>
            <a:xfrm>
              <a:off x="10780776" y="299085"/>
              <a:ext cx="1036320" cy="234696"/>
            </a:xfrm>
            <a:prstGeom prst="rect">
              <a:avLst/>
            </a:prstGeom>
            <a:noFill/>
            <a:ln>
              <a:noFill/>
            </a:ln>
          </p:spPr>
          <p:txBody>
            <a:bodyPr wrap="none" lIns="0" tIns="0" rIns="0" bIns="0" anchor="t" anchorCtr="0">
              <a:spAutoFit/>
            </a:bodyPr>
            <a:lstStyle/>
            <a:p>
              <a:pPr algn="r"/>
              <a:r>
                <a:rPr lang="en-US" sz="1200" dirty="0">
                  <a:solidFill>
                    <a:srgbClr val="C7D7F2"/>
                  </a:solidFill>
                  <a:latin typeface="Arial"/>
                  <a:ea typeface="Arial"/>
                  <a:cs typeface="Arial"/>
                </a:rPr>
                <a:t>WATER CYCLE</a:t>
              </a:r>
            </a:p>
          </p:txBody>
        </p:sp>
      </p:grpSp>
      <p:grpSp>
        <p:nvGrpSpPr>
          <p:cNvPr id="8" name="Group 8"/>
          <p:cNvGrpSpPr/>
          <p:nvPr/>
        </p:nvGrpSpPr>
        <p:grpSpPr>
          <a:xfrm>
            <a:off x="381000" y="914400"/>
            <a:ext cx="7836637" cy="357093"/>
            <a:chOff x="381000" y="914400"/>
            <a:chExt cx="7836637" cy="357093"/>
          </a:xfrm>
        </p:grpSpPr>
        <p:sp>
          <p:nvSpPr>
            <p:cNvPr id="6" name="Rectangle 6"/>
            <p:cNvSpPr/>
            <p:nvPr/>
          </p:nvSpPr>
          <p:spPr>
            <a:xfrm>
              <a:off x="381000" y="914400"/>
              <a:ext cx="57150" cy="266700"/>
            </a:xfrm>
            <a:prstGeom prst="roundRect">
              <a:avLst>
                <a:gd name="adj" fmla="val 50000"/>
              </a:avLst>
            </a:prstGeom>
            <a:solidFill>
              <a:srgbClr val="1E4FA8"/>
            </a:solidFill>
            <a:ln>
              <a:noFill/>
            </a:ln>
          </p:spPr>
        </p:sp>
        <p:sp>
          <p:nvSpPr>
            <p:cNvPr id="7" name="TextBox 7"/>
            <p:cNvSpPr txBox="1"/>
            <p:nvPr/>
          </p:nvSpPr>
          <p:spPr>
            <a:xfrm>
              <a:off x="544449" y="963454"/>
              <a:ext cx="7673188" cy="308039"/>
            </a:xfrm>
            <a:prstGeom prst="rect">
              <a:avLst/>
            </a:prstGeom>
            <a:noFill/>
            <a:ln>
              <a:noFill/>
            </a:ln>
          </p:spPr>
          <p:txBody>
            <a:bodyPr wrap="none" lIns="0" tIns="0" rIns="0" bIns="0" anchor="t" anchorCtr="0">
              <a:spAutoFit/>
            </a:bodyPr>
            <a:lstStyle/>
            <a:p>
              <a:pPr algn="l"/>
              <a:r>
                <a:rPr lang="zh-CN" sz="1580" b="1" dirty="0">
                  <a:solidFill>
                    <a:srgbClr val="0E3F8C"/>
                  </a:solidFill>
                  <a:latin typeface="Arial"/>
                  <a:ea typeface="Microsoft YaHei"/>
                  <a:cs typeface="Arial"/>
                </a:rPr>
                <a:t>水循环不只在表层：俯冲把水带入地球内部，熔融与火山再把它送回表层与大气圈</a:t>
              </a:r>
            </a:p>
          </p:txBody>
        </p:sp>
      </p:grpSp>
      <p:grpSp>
        <p:nvGrpSpPr>
          <p:cNvPr id="12" name="Group 12"/>
          <p:cNvGrpSpPr/>
          <p:nvPr/>
        </p:nvGrpSpPr>
        <p:grpSpPr>
          <a:xfrm>
            <a:off x="381000" y="1466850"/>
            <a:ext cx="6667500" cy="4581239"/>
            <a:chOff x="381000" y="1466850"/>
            <a:chExt cx="6667500" cy="4581239"/>
          </a:xfrm>
        </p:grpSpPr>
        <p:sp>
          <p:nvSpPr>
            <p:cNvPr id="9" name="Rectangle 9"/>
            <p:cNvSpPr/>
            <p:nvPr/>
          </p:nvSpPr>
          <p:spPr>
            <a:xfrm>
              <a:off x="381000" y="1466850"/>
              <a:ext cx="6667500" cy="4572000"/>
            </a:xfrm>
            <a:prstGeom prst="roundRect">
              <a:avLst>
                <a:gd name="adj" fmla="val 2500"/>
              </a:avLst>
            </a:prstGeom>
            <a:solidFill>
              <a:srgbClr val="F7F9FC"/>
            </a:solidFill>
            <a:ln w="9525">
              <a:solidFill>
                <a:srgbClr val="D6DCE5"/>
              </a:solidFill>
            </a:ln>
          </p:spPr>
        </p:sp>
        <p:pic>
          <p:nvPicPr>
            <p:cNvPr id="10" name="Image 10"/>
            <p:cNvPicPr>
              <a:picLocks noChangeAspect="1"/>
            </p:cNvPicPr>
            <p:nvPr/>
          </p:nvPicPr>
          <p:blipFill>
            <a:blip r:embed="rId3"/>
            <a:stretch>
              <a:fillRect/>
            </a:stretch>
          </p:blipFill>
          <p:spPr>
            <a:xfrm>
              <a:off x="666750" y="1619250"/>
              <a:ext cx="6105525" cy="4191000"/>
            </a:xfrm>
            <a:prstGeom prst="rect">
              <a:avLst/>
            </a:prstGeom>
          </p:spPr>
        </p:pic>
        <p:sp>
          <p:nvSpPr>
            <p:cNvPr id="11" name="TextBox 11"/>
            <p:cNvSpPr txBox="1"/>
            <p:nvPr/>
          </p:nvSpPr>
          <p:spPr>
            <a:xfrm>
              <a:off x="2249466" y="5857399"/>
              <a:ext cx="2930567" cy="190690"/>
            </a:xfrm>
            <a:prstGeom prst="rect">
              <a:avLst/>
            </a:prstGeom>
            <a:noFill/>
            <a:ln>
              <a:noFill/>
            </a:ln>
          </p:spPr>
          <p:txBody>
            <a:bodyPr wrap="none" lIns="0" tIns="0" rIns="0" bIns="0" anchor="t" anchorCtr="0">
              <a:spAutoFit/>
            </a:bodyPr>
            <a:lstStyle/>
            <a:p>
              <a:pPr algn="ctr"/>
              <a:r>
                <a:rPr lang="zh-CN" sz="980" dirty="0">
                  <a:solidFill>
                    <a:srgbClr val="4A5568"/>
                  </a:solidFill>
                  <a:latin typeface="Arial"/>
                  <a:ea typeface="Microsoft YaHei"/>
                  <a:cs typeface="Arial"/>
                </a:rPr>
                <a:t>W-06 整幅保留，未裁切 | Embedded un-cropped</a:t>
              </a:r>
            </a:p>
          </p:txBody>
        </p:sp>
      </p:grpSp>
      <p:grpSp>
        <p:nvGrpSpPr>
          <p:cNvPr id="31" name="Group 31"/>
          <p:cNvGrpSpPr/>
          <p:nvPr/>
        </p:nvGrpSpPr>
        <p:grpSpPr>
          <a:xfrm>
            <a:off x="7239000" y="1466850"/>
            <a:ext cx="4572000" cy="2724150"/>
            <a:chOff x="7239000" y="1466850"/>
            <a:chExt cx="4572000" cy="2724150"/>
          </a:xfrm>
        </p:grpSpPr>
        <p:sp>
          <p:nvSpPr>
            <p:cNvPr id="13" name="Rectangle 13"/>
            <p:cNvSpPr/>
            <p:nvPr/>
          </p:nvSpPr>
          <p:spPr>
            <a:xfrm>
              <a:off x="7239000" y="1466850"/>
              <a:ext cx="4572000" cy="2724150"/>
            </a:xfrm>
            <a:prstGeom prst="roundRect">
              <a:avLst>
                <a:gd name="adj" fmla="val 4196"/>
              </a:avLst>
            </a:prstGeom>
            <a:solidFill>
              <a:srgbClr val="F7F9FC"/>
            </a:solidFill>
            <a:ln w="9525">
              <a:solidFill>
                <a:srgbClr val="D6DCE5"/>
              </a:solidFill>
            </a:ln>
          </p:spPr>
        </p:sp>
        <p:sp>
          <p:nvSpPr>
            <p:cNvPr id="14" name="TextBox 14"/>
            <p:cNvSpPr txBox="1"/>
            <p:nvPr/>
          </p:nvSpPr>
          <p:spPr>
            <a:xfrm>
              <a:off x="7423404" y="1642110"/>
              <a:ext cx="2498528" cy="234696"/>
            </a:xfrm>
            <a:prstGeom prst="rect">
              <a:avLst/>
            </a:prstGeom>
            <a:noFill/>
            <a:ln>
              <a:noFill/>
            </a:ln>
          </p:spPr>
          <p:txBody>
            <a:bodyPr wrap="none" lIns="0" tIns="0" rIns="0" bIns="0" anchor="t" anchorCtr="0">
              <a:spAutoFit/>
            </a:bodyPr>
            <a:lstStyle/>
            <a:p>
              <a:pPr algn="l"/>
              <a:r>
                <a:rPr lang="zh-CN" sz="1200" b="1" dirty="0">
                  <a:solidFill>
                    <a:srgbClr val="0E3F8C"/>
                  </a:solidFill>
                  <a:latin typeface="Arial"/>
                  <a:ea typeface="Microsoft YaHei"/>
                  <a:cs typeface="Arial"/>
                </a:rPr>
                <a:t>读图顺序 | Reading the pathway</a:t>
              </a:r>
            </a:p>
          </p:txBody>
        </p:sp>
        <p:sp>
          <p:nvSpPr>
            <p:cNvPr id="15" name="Ellipse 15"/>
            <p:cNvSpPr/>
            <p:nvPr/>
          </p:nvSpPr>
          <p:spPr>
            <a:xfrm>
              <a:off x="7448550" y="1962150"/>
              <a:ext cx="228600" cy="228600"/>
            </a:xfrm>
            <a:prstGeom prst="ellipse">
              <a:avLst/>
            </a:prstGeom>
            <a:solidFill>
              <a:srgbClr val="1E4FA8"/>
            </a:solidFill>
            <a:ln>
              <a:noFill/>
            </a:ln>
          </p:spPr>
        </p:sp>
        <p:sp>
          <p:nvSpPr>
            <p:cNvPr id="16" name="TextBox 16"/>
            <p:cNvSpPr txBox="1"/>
            <p:nvPr/>
          </p:nvSpPr>
          <p:spPr>
            <a:xfrm>
              <a:off x="7519803" y="2018824"/>
              <a:ext cx="86094" cy="190690"/>
            </a:xfrm>
            <a:prstGeom prst="rect">
              <a:avLst/>
            </a:prstGeom>
            <a:noFill/>
            <a:ln>
              <a:noFill/>
            </a:ln>
          </p:spPr>
          <p:txBody>
            <a:bodyPr wrap="none" lIns="0" tIns="0" rIns="0" bIns="0" anchor="t" anchorCtr="0">
              <a:spAutoFit/>
            </a:bodyPr>
            <a:lstStyle/>
            <a:p>
              <a:pPr algn="ctr"/>
              <a:r>
                <a:rPr lang="en-US" sz="980" b="1" dirty="0">
                  <a:solidFill>
                    <a:srgbClr val="FFFFFF"/>
                  </a:solidFill>
                  <a:latin typeface="Arial"/>
                  <a:ea typeface="Arial"/>
                  <a:cs typeface="Arial"/>
                </a:rPr>
                <a:t>1</a:t>
              </a:r>
            </a:p>
          </p:txBody>
        </p:sp>
        <p:sp>
          <p:nvSpPr>
            <p:cNvPr id="17" name="TextBox 17"/>
            <p:cNvSpPr txBox="1"/>
            <p:nvPr/>
          </p:nvSpPr>
          <p:spPr>
            <a:xfrm>
              <a:off x="7766685" y="2002631"/>
              <a:ext cx="2628512" cy="220028"/>
            </a:xfrm>
            <a:prstGeom prst="rect">
              <a:avLst/>
            </a:prstGeom>
            <a:noFill/>
            <a:ln>
              <a:noFill/>
            </a:ln>
          </p:spPr>
          <p:txBody>
            <a:bodyPr wrap="none" lIns="0" tIns="0" rIns="0" bIns="0" anchor="t" anchorCtr="0">
              <a:spAutoFit/>
            </a:bodyPr>
            <a:lstStyle/>
            <a:p>
              <a:pPr algn="l"/>
              <a:r>
                <a:rPr lang="zh-CN" sz="1120" dirty="0">
                  <a:solidFill>
                    <a:srgbClr val="1A2230"/>
                  </a:solidFill>
                  <a:latin typeface="Arial"/>
                  <a:ea typeface="Microsoft YaHei"/>
                  <a:cs typeface="Arial"/>
                </a:rPr>
                <a:t>表层与海洋水 Surface &amp; ocean water</a:t>
              </a:r>
            </a:p>
          </p:txBody>
        </p:sp>
        <p:sp>
          <p:nvSpPr>
            <p:cNvPr id="18" name="Ellipse 18"/>
            <p:cNvSpPr/>
            <p:nvPr/>
          </p:nvSpPr>
          <p:spPr>
            <a:xfrm>
              <a:off x="7448550" y="2343150"/>
              <a:ext cx="228600" cy="228600"/>
            </a:xfrm>
            <a:prstGeom prst="ellipse">
              <a:avLst/>
            </a:prstGeom>
            <a:solidFill>
              <a:srgbClr val="1E4FA8"/>
            </a:solidFill>
            <a:ln>
              <a:noFill/>
            </a:ln>
          </p:spPr>
        </p:sp>
        <p:sp>
          <p:nvSpPr>
            <p:cNvPr id="19" name="TextBox 19"/>
            <p:cNvSpPr txBox="1"/>
            <p:nvPr/>
          </p:nvSpPr>
          <p:spPr>
            <a:xfrm>
              <a:off x="7519803" y="2399824"/>
              <a:ext cx="86094" cy="190690"/>
            </a:xfrm>
            <a:prstGeom prst="rect">
              <a:avLst/>
            </a:prstGeom>
            <a:noFill/>
            <a:ln>
              <a:noFill/>
            </a:ln>
          </p:spPr>
          <p:txBody>
            <a:bodyPr wrap="none" lIns="0" tIns="0" rIns="0" bIns="0" anchor="t" anchorCtr="0">
              <a:spAutoFit/>
            </a:bodyPr>
            <a:lstStyle/>
            <a:p>
              <a:pPr algn="ctr"/>
              <a:r>
                <a:rPr lang="en-US" sz="980" b="1" dirty="0">
                  <a:solidFill>
                    <a:srgbClr val="FFFFFF"/>
                  </a:solidFill>
                  <a:latin typeface="Arial"/>
                  <a:ea typeface="Arial"/>
                  <a:cs typeface="Arial"/>
                </a:rPr>
                <a:t>2</a:t>
              </a:r>
            </a:p>
          </p:txBody>
        </p:sp>
        <p:sp>
          <p:nvSpPr>
            <p:cNvPr id="20" name="TextBox 20"/>
            <p:cNvSpPr txBox="1"/>
            <p:nvPr/>
          </p:nvSpPr>
          <p:spPr>
            <a:xfrm>
              <a:off x="7766685" y="2383631"/>
              <a:ext cx="3224022" cy="220028"/>
            </a:xfrm>
            <a:prstGeom prst="rect">
              <a:avLst/>
            </a:prstGeom>
            <a:noFill/>
            <a:ln>
              <a:noFill/>
            </a:ln>
          </p:spPr>
          <p:txBody>
            <a:bodyPr wrap="none" lIns="0" tIns="0" rIns="0" bIns="0" anchor="t" anchorCtr="0">
              <a:spAutoFit/>
            </a:bodyPr>
            <a:lstStyle/>
            <a:p>
              <a:pPr algn="l"/>
              <a:r>
                <a:rPr lang="zh-CN" sz="1120" dirty="0">
                  <a:solidFill>
                    <a:srgbClr val="1A2230"/>
                  </a:solidFill>
                  <a:latin typeface="Arial"/>
                  <a:ea typeface="Microsoft YaHei"/>
                  <a:cs typeface="Arial"/>
                </a:rPr>
                <a:t>含水洋壳与沉积物 Hydrated crust &amp; sediment</a:t>
              </a:r>
            </a:p>
          </p:txBody>
        </p:sp>
        <p:sp>
          <p:nvSpPr>
            <p:cNvPr id="21" name="Ellipse 21"/>
            <p:cNvSpPr/>
            <p:nvPr/>
          </p:nvSpPr>
          <p:spPr>
            <a:xfrm>
              <a:off x="7448550" y="2724150"/>
              <a:ext cx="228600" cy="228600"/>
            </a:xfrm>
            <a:prstGeom prst="ellipse">
              <a:avLst/>
            </a:prstGeom>
            <a:solidFill>
              <a:srgbClr val="1E4FA8"/>
            </a:solidFill>
            <a:ln>
              <a:noFill/>
            </a:ln>
          </p:spPr>
        </p:sp>
        <p:sp>
          <p:nvSpPr>
            <p:cNvPr id="22" name="TextBox 22"/>
            <p:cNvSpPr txBox="1"/>
            <p:nvPr/>
          </p:nvSpPr>
          <p:spPr>
            <a:xfrm>
              <a:off x="7519803" y="2780824"/>
              <a:ext cx="86094" cy="190690"/>
            </a:xfrm>
            <a:prstGeom prst="rect">
              <a:avLst/>
            </a:prstGeom>
            <a:noFill/>
            <a:ln>
              <a:noFill/>
            </a:ln>
          </p:spPr>
          <p:txBody>
            <a:bodyPr wrap="none" lIns="0" tIns="0" rIns="0" bIns="0" anchor="t" anchorCtr="0">
              <a:spAutoFit/>
            </a:bodyPr>
            <a:lstStyle/>
            <a:p>
              <a:pPr algn="ctr"/>
              <a:r>
                <a:rPr lang="en-US" sz="980" b="1" dirty="0">
                  <a:solidFill>
                    <a:srgbClr val="FFFFFF"/>
                  </a:solidFill>
                  <a:latin typeface="Arial"/>
                  <a:ea typeface="Arial"/>
                  <a:cs typeface="Arial"/>
                </a:rPr>
                <a:t>3</a:t>
              </a:r>
            </a:p>
          </p:txBody>
        </p:sp>
        <p:sp>
          <p:nvSpPr>
            <p:cNvPr id="23" name="TextBox 23"/>
            <p:cNvSpPr txBox="1"/>
            <p:nvPr/>
          </p:nvSpPr>
          <p:spPr>
            <a:xfrm>
              <a:off x="7766685" y="2764631"/>
              <a:ext cx="3011360" cy="220028"/>
            </a:xfrm>
            <a:prstGeom prst="rect">
              <a:avLst/>
            </a:prstGeom>
            <a:noFill/>
            <a:ln>
              <a:noFill/>
            </a:ln>
          </p:spPr>
          <p:txBody>
            <a:bodyPr wrap="none" lIns="0" tIns="0" rIns="0" bIns="0" anchor="t" anchorCtr="0">
              <a:spAutoFit/>
            </a:bodyPr>
            <a:lstStyle/>
            <a:p>
              <a:pPr algn="l"/>
              <a:r>
                <a:rPr lang="zh-CN" sz="1120" dirty="0">
                  <a:solidFill>
                    <a:srgbClr val="1A2230"/>
                  </a:solidFill>
                  <a:latin typeface="Arial"/>
                  <a:ea typeface="Microsoft YaHei"/>
                  <a:cs typeface="Arial"/>
                </a:rPr>
                <a:t>俯冲带入地幔 Subduction carries water in</a:t>
              </a:r>
            </a:p>
          </p:txBody>
        </p:sp>
        <p:sp>
          <p:nvSpPr>
            <p:cNvPr id="24" name="Ellipse 24"/>
            <p:cNvSpPr/>
            <p:nvPr/>
          </p:nvSpPr>
          <p:spPr>
            <a:xfrm>
              <a:off x="7448550" y="3105150"/>
              <a:ext cx="228600" cy="228600"/>
            </a:xfrm>
            <a:prstGeom prst="ellipse">
              <a:avLst/>
            </a:prstGeom>
            <a:solidFill>
              <a:srgbClr val="1E4FA8"/>
            </a:solidFill>
            <a:ln>
              <a:noFill/>
            </a:ln>
          </p:spPr>
        </p:sp>
        <p:sp>
          <p:nvSpPr>
            <p:cNvPr id="25" name="TextBox 25"/>
            <p:cNvSpPr txBox="1"/>
            <p:nvPr/>
          </p:nvSpPr>
          <p:spPr>
            <a:xfrm>
              <a:off x="7519803" y="3161824"/>
              <a:ext cx="86094" cy="190690"/>
            </a:xfrm>
            <a:prstGeom prst="rect">
              <a:avLst/>
            </a:prstGeom>
            <a:noFill/>
            <a:ln>
              <a:noFill/>
            </a:ln>
          </p:spPr>
          <p:txBody>
            <a:bodyPr wrap="none" lIns="0" tIns="0" rIns="0" bIns="0" anchor="t" anchorCtr="0">
              <a:spAutoFit/>
            </a:bodyPr>
            <a:lstStyle/>
            <a:p>
              <a:pPr algn="ctr"/>
              <a:r>
                <a:rPr lang="en-US" sz="980" b="1" dirty="0">
                  <a:solidFill>
                    <a:srgbClr val="FFFFFF"/>
                  </a:solidFill>
                  <a:latin typeface="Arial"/>
                  <a:ea typeface="Arial"/>
                  <a:cs typeface="Arial"/>
                </a:rPr>
                <a:t>4</a:t>
              </a:r>
            </a:p>
          </p:txBody>
        </p:sp>
        <p:sp>
          <p:nvSpPr>
            <p:cNvPr id="26" name="TextBox 26"/>
            <p:cNvSpPr txBox="1"/>
            <p:nvPr/>
          </p:nvSpPr>
          <p:spPr>
            <a:xfrm>
              <a:off x="7766685" y="3145631"/>
              <a:ext cx="2462108" cy="220028"/>
            </a:xfrm>
            <a:prstGeom prst="rect">
              <a:avLst/>
            </a:prstGeom>
            <a:noFill/>
            <a:ln>
              <a:noFill/>
            </a:ln>
          </p:spPr>
          <p:txBody>
            <a:bodyPr wrap="none" lIns="0" tIns="0" rIns="0" bIns="0" anchor="t" anchorCtr="0">
              <a:spAutoFit/>
            </a:bodyPr>
            <a:lstStyle/>
            <a:p>
              <a:pPr algn="l"/>
              <a:r>
                <a:rPr lang="zh-CN" sz="1120" dirty="0">
                  <a:solidFill>
                    <a:srgbClr val="1A2230"/>
                  </a:solidFill>
                  <a:latin typeface="Arial"/>
                  <a:ea typeface="Microsoft YaHei"/>
                  <a:cs typeface="Arial"/>
                </a:rPr>
                <a:t>地幔深部储存 Deep mantle storage</a:t>
              </a:r>
            </a:p>
          </p:txBody>
        </p:sp>
        <p:sp>
          <p:nvSpPr>
            <p:cNvPr id="27" name="Ellipse 27"/>
            <p:cNvSpPr/>
            <p:nvPr/>
          </p:nvSpPr>
          <p:spPr>
            <a:xfrm>
              <a:off x="7448550" y="3486150"/>
              <a:ext cx="228600" cy="228600"/>
            </a:xfrm>
            <a:prstGeom prst="ellipse">
              <a:avLst/>
            </a:prstGeom>
            <a:solidFill>
              <a:srgbClr val="1E4FA8"/>
            </a:solidFill>
            <a:ln>
              <a:noFill/>
            </a:ln>
          </p:spPr>
        </p:sp>
        <p:sp>
          <p:nvSpPr>
            <p:cNvPr id="28" name="TextBox 28"/>
            <p:cNvSpPr txBox="1"/>
            <p:nvPr/>
          </p:nvSpPr>
          <p:spPr>
            <a:xfrm>
              <a:off x="7519803" y="3542824"/>
              <a:ext cx="86094" cy="190690"/>
            </a:xfrm>
            <a:prstGeom prst="rect">
              <a:avLst/>
            </a:prstGeom>
            <a:noFill/>
            <a:ln>
              <a:noFill/>
            </a:ln>
          </p:spPr>
          <p:txBody>
            <a:bodyPr wrap="none" lIns="0" tIns="0" rIns="0" bIns="0" anchor="t" anchorCtr="0">
              <a:spAutoFit/>
            </a:bodyPr>
            <a:lstStyle/>
            <a:p>
              <a:pPr algn="ctr"/>
              <a:r>
                <a:rPr lang="en-US" sz="980" b="1" dirty="0">
                  <a:solidFill>
                    <a:srgbClr val="FFFFFF"/>
                  </a:solidFill>
                  <a:latin typeface="Arial"/>
                  <a:ea typeface="Arial"/>
                  <a:cs typeface="Arial"/>
                </a:rPr>
                <a:t>5</a:t>
              </a:r>
            </a:p>
          </p:txBody>
        </p:sp>
        <p:sp>
          <p:nvSpPr>
            <p:cNvPr id="29" name="TextBox 29"/>
            <p:cNvSpPr txBox="1"/>
            <p:nvPr/>
          </p:nvSpPr>
          <p:spPr>
            <a:xfrm>
              <a:off x="7766685" y="3526631"/>
              <a:ext cx="3072467" cy="220028"/>
            </a:xfrm>
            <a:prstGeom prst="rect">
              <a:avLst/>
            </a:prstGeom>
            <a:noFill/>
            <a:ln>
              <a:noFill/>
            </a:ln>
          </p:spPr>
          <p:txBody>
            <a:bodyPr wrap="none" lIns="0" tIns="0" rIns="0" bIns="0" anchor="t" anchorCtr="0">
              <a:spAutoFit/>
            </a:bodyPr>
            <a:lstStyle/>
            <a:p>
              <a:pPr algn="l"/>
              <a:r>
                <a:rPr lang="zh-CN" sz="1120" dirty="0">
                  <a:solidFill>
                    <a:srgbClr val="1A2230"/>
                  </a:solidFill>
                  <a:latin typeface="Arial"/>
                  <a:ea typeface="Microsoft YaHei"/>
                  <a:cs typeface="Arial"/>
                </a:rPr>
                <a:t>熔融与火山返回 Melting &amp; volcanism return</a:t>
              </a:r>
            </a:p>
          </p:txBody>
        </p:sp>
        <p:sp>
          <p:nvSpPr>
            <p:cNvPr id="30" name="TextBox 30"/>
            <p:cNvSpPr txBox="1"/>
            <p:nvPr/>
          </p:nvSpPr>
          <p:spPr>
            <a:xfrm>
              <a:off x="7424547" y="3876199"/>
              <a:ext cx="2732823" cy="190690"/>
            </a:xfrm>
            <a:prstGeom prst="rect">
              <a:avLst/>
            </a:prstGeom>
            <a:noFill/>
            <a:ln>
              <a:noFill/>
            </a:ln>
          </p:spPr>
          <p:txBody>
            <a:bodyPr wrap="none" lIns="0" tIns="0" rIns="0" bIns="0" anchor="t" anchorCtr="0">
              <a:spAutoFit/>
            </a:bodyPr>
            <a:lstStyle/>
            <a:p>
              <a:pPr algn="l"/>
              <a:r>
                <a:rPr lang="zh-CN" sz="980" dirty="0">
                  <a:solidFill>
                    <a:srgbClr val="4A5568"/>
                  </a:solidFill>
                  <a:latin typeface="Arial"/>
                  <a:ea typeface="Microsoft YaHei"/>
                  <a:cs typeface="Arial"/>
                </a:rPr>
                <a:t>返回表层与大气圈，循环闭合 Closes the loop</a:t>
              </a:r>
            </a:p>
          </p:txBody>
        </p:sp>
      </p:grpSp>
      <p:grpSp>
        <p:nvGrpSpPr>
          <p:cNvPr id="36" name="Group 36"/>
          <p:cNvGrpSpPr/>
          <p:nvPr/>
        </p:nvGrpSpPr>
        <p:grpSpPr>
          <a:xfrm>
            <a:off x="7239000" y="4333875"/>
            <a:ext cx="4572000" cy="1704975"/>
            <a:chOff x="7239000" y="4333875"/>
            <a:chExt cx="4572000" cy="1704975"/>
          </a:xfrm>
        </p:grpSpPr>
        <p:sp>
          <p:nvSpPr>
            <p:cNvPr id="32" name="Rectangle 32"/>
            <p:cNvSpPr/>
            <p:nvPr/>
          </p:nvSpPr>
          <p:spPr>
            <a:xfrm>
              <a:off x="7239000" y="4333875"/>
              <a:ext cx="4572000" cy="1704975"/>
            </a:xfrm>
            <a:prstGeom prst="roundRect">
              <a:avLst>
                <a:gd name="adj" fmla="val 6704"/>
              </a:avLst>
            </a:prstGeom>
            <a:solidFill>
              <a:srgbClr val="F0F5FC"/>
            </a:solidFill>
            <a:ln w="9525">
              <a:solidFill>
                <a:srgbClr val="D6DCE5"/>
              </a:solidFill>
            </a:ln>
          </p:spPr>
        </p:sp>
        <p:sp>
          <p:nvSpPr>
            <p:cNvPr id="33" name="TextBox 33"/>
            <p:cNvSpPr txBox="1"/>
            <p:nvPr/>
          </p:nvSpPr>
          <p:spPr>
            <a:xfrm>
              <a:off x="7423404" y="4509135"/>
              <a:ext cx="2661159" cy="234696"/>
            </a:xfrm>
            <a:prstGeom prst="rect">
              <a:avLst/>
            </a:prstGeom>
            <a:noFill/>
            <a:ln>
              <a:noFill/>
            </a:ln>
          </p:spPr>
          <p:txBody>
            <a:bodyPr wrap="none" lIns="0" tIns="0" rIns="0" bIns="0" anchor="t" anchorCtr="0">
              <a:spAutoFit/>
            </a:bodyPr>
            <a:lstStyle/>
            <a:p>
              <a:pPr algn="l"/>
              <a:r>
                <a:rPr lang="zh-CN" sz="1200" b="1" dirty="0">
                  <a:solidFill>
                    <a:srgbClr val="0E3F8C"/>
                  </a:solidFill>
                  <a:latin typeface="Arial"/>
                  <a:ea typeface="Microsoft YaHei"/>
                  <a:cs typeface="Arial"/>
                </a:rPr>
                <a:t>箭头与边界 | Arrows &amp; boundaries</a:t>
              </a:r>
            </a:p>
          </p:txBody>
        </p:sp>
        <p:sp>
          <p:nvSpPr>
            <p:cNvPr id="34" name="TextBox 34"/>
            <p:cNvSpPr txBox="1"/>
            <p:nvPr/>
          </p:nvSpPr>
          <p:spPr>
            <a:xfrm>
              <a:off x="7424547" y="4819174"/>
              <a:ext cx="3028061" cy="933640"/>
            </a:xfrm>
            <a:prstGeom prst="rect">
              <a:avLst/>
            </a:prstGeom>
            <a:noFill/>
            <a:ln>
              <a:noFill/>
            </a:ln>
          </p:spPr>
          <p:txBody>
            <a:bodyPr wrap="none" lIns="0" tIns="0" rIns="0" bIns="0" anchor="t" anchorCtr="0">
              <a:spAutoFit/>
            </a:bodyPr>
            <a:lstStyle/>
            <a:p>
              <a:pPr algn="l">
                <a:lnSpc>
                  <a:spcPts val="1950"/>
                </a:lnSpc>
              </a:pPr>
              <a:r>
                <a:rPr lang="zh-CN" sz="980" dirty="0">
                  <a:solidFill>
                    <a:srgbClr val="1A2230"/>
                  </a:solidFill>
                  <a:latin typeface="Arial"/>
                  <a:ea typeface="Microsoft YaHei"/>
                  <a:cs typeface="Arial"/>
                </a:rPr>
                <a:t>深蓝色 = 俯冲板块 Subducting slab</a:t>
              </a:r>
              <a:br/>
              <a:r>
                <a:rPr lang="zh-CN" sz="980" dirty="0">
                  <a:solidFill>
                    <a:srgbClr val="1A2230"/>
                  </a:solidFill>
                  <a:latin typeface="Arial"/>
                  <a:ea typeface="Microsoft YaHei"/>
                  <a:cs typeface="Arial"/>
                </a:rPr>
                <a:t>浅蓝箭头 = 水向地幔 Water toward mantle</a:t>
              </a:r>
              <a:br/>
              <a:r>
                <a:rPr lang="zh-CN" sz="980" dirty="0">
                  <a:solidFill>
                    <a:srgbClr val="1A2230"/>
                  </a:solidFill>
                  <a:latin typeface="Arial"/>
                  <a:ea typeface="Microsoft YaHei"/>
                  <a:cs typeface="Arial"/>
                </a:rPr>
                <a:t>黄色箭头 = 水向表层 Water toward surface</a:t>
              </a:r>
              <a:br/>
              <a:r>
                <a:rPr lang="zh-CN" sz="980" dirty="0">
                  <a:solidFill>
                    <a:srgbClr val="1A2230"/>
                  </a:solidFill>
                  <a:latin typeface="Arial"/>
                  <a:ea typeface="Microsoft YaHei"/>
                  <a:cs typeface="Arial"/>
                </a:rPr>
                <a:t>深度边界 Depth bounds: 410 / 660 / 2900 / 5150 km</a:t>
              </a:r>
            </a:p>
          </p:txBody>
        </p:sp>
        <p:sp>
          <p:nvSpPr>
            <p:cNvPr id="35" name="TextBox 35"/>
            <p:cNvSpPr txBox="1"/>
            <p:nvPr/>
          </p:nvSpPr>
          <p:spPr>
            <a:xfrm>
              <a:off x="7424738" y="5808345"/>
              <a:ext cx="2965258" cy="176212"/>
            </a:xfrm>
            <a:prstGeom prst="rect">
              <a:avLst/>
            </a:prstGeom>
            <a:noFill/>
            <a:ln>
              <a:noFill/>
            </a:ln>
          </p:spPr>
          <p:txBody>
            <a:bodyPr wrap="none" lIns="0" tIns="0" rIns="0" bIns="0" anchor="t" anchorCtr="0">
              <a:spAutoFit/>
            </a:bodyPr>
            <a:lstStyle/>
            <a:p>
              <a:pPr algn="l"/>
              <a:r>
                <a:rPr lang="zh-CN" sz="900" dirty="0">
                  <a:solidFill>
                    <a:srgbClr val="4A5568"/>
                  </a:solidFill>
                  <a:latin typeface="Arial"/>
                  <a:ea typeface="Microsoft YaHei"/>
                  <a:cs typeface="Arial"/>
                </a:rPr>
                <a:t>边界与箭头含义取自原图标注 As printed in Fig. 3-13</a:t>
              </a:r>
            </a:p>
          </p:txBody>
        </p:sp>
      </p:grpSp>
      <p:sp>
        <p:nvSpPr>
          <p:cNvPr id="37" name="TextBox 37"/>
          <p:cNvSpPr txBox="1"/>
          <p:nvPr/>
        </p:nvSpPr>
        <p:spPr>
          <a:xfrm>
            <a:off x="376238" y="6532245"/>
            <a:ext cx="8110558" cy="176212"/>
          </a:xfrm>
          <a:prstGeom prst="rect">
            <a:avLst/>
          </a:prstGeom>
          <a:noFill/>
          <a:ln>
            <a:noFill/>
          </a:ln>
        </p:spPr>
        <p:txBody>
          <a:bodyPr wrap="none" lIns="0" tIns="0" rIns="0" bIns="0" anchor="t" anchorCtr="0">
            <a:spAutoFit/>
          </a:bodyPr>
          <a:lstStyle/>
          <a:p>
            <a:pPr algn="l"/>
            <a:r>
              <a:rPr lang="zh-CN" sz="900" dirty="0">
                <a:solidFill>
                  <a:srgbClr val="4A5568"/>
                </a:solidFill>
                <a:latin typeface="Arial"/>
                <a:ea typeface="Microsoft YaHei"/>
                <a:cs typeface="Arial"/>
              </a:rPr>
              <a:t>Source: 地球系统与演变, Fig. 3-13, p.106 (PDF p.21) = W-06; supporting context: HB Ch.9 approved volatile-cycling text (not plotted).</a:t>
            </a:r>
          </a:p>
        </p:txBody>
      </p:sp>
      <p:sp>
        <p:nvSpPr>
          <p:cNvPr id="38" name="TextBox 38"/>
          <p:cNvSpPr txBox="1"/>
          <p:nvPr/>
        </p:nvSpPr>
        <p:spPr>
          <a:xfrm>
            <a:off x="11672964" y="6532245"/>
            <a:ext cx="142799" cy="176212"/>
          </a:xfrm>
          <a:prstGeom prst="rect">
            <a:avLst/>
          </a:prstGeom>
          <a:noFill/>
          <a:ln>
            <a:noFill/>
          </a:ln>
        </p:spPr>
        <p:txBody>
          <a:bodyPr wrap="none" lIns="0" tIns="0" rIns="0" bIns="0" anchor="t" anchorCtr="0">
            <a:spAutoFit/>
          </a:bodyPr>
          <a:lstStyle/>
          <a:p>
            <a:pPr algn="r"/>
            <a:r>
              <a:rPr lang="en-US" sz="900" dirty="0">
                <a:solidFill>
                  <a:srgbClr val="4A5568"/>
                </a:solidFill>
                <a:latin typeface="Arial"/>
                <a:ea typeface="Arial"/>
                <a:cs typeface="Arial"/>
              </a:rPr>
              <a:t>17</a:t>
            </a:r>
          </a:p>
        </p:txBody>
      </p:sp>
    </p:spTree>
    <p:extLst>
      <p:ext uri="{BB962C8B-B14F-4D97-AF65-F5344CB8AC3E}">
        <p14:creationId xmlns:p14="http://schemas.microsoft.com/office/powerpoint/2010/main" val="2705499303"/>
      </p:ext>
    </p:extLst>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5"/>
          <p:cNvGrpSpPr/>
          <p:nvPr/>
        </p:nvGrpSpPr>
        <p:grpSpPr>
          <a:xfrm>
            <a:off x="0" y="0"/>
            <a:ext cx="12192000" cy="685800"/>
            <a:chOff x="0" y="0"/>
            <a:chExt cx="12192000" cy="685800"/>
          </a:xfrm>
        </p:grpSpPr>
        <p:sp>
          <p:nvSpPr>
            <p:cNvPr id="2" name="Rectangle 2"/>
            <p:cNvSpPr/>
            <p:nvPr/>
          </p:nvSpPr>
          <p:spPr>
            <a:xfrm>
              <a:off x="0" y="0"/>
              <a:ext cx="12192000" cy="685800"/>
            </a:xfrm>
            <a:prstGeom prst="rect">
              <a:avLst/>
            </a:prstGeom>
            <a:solidFill>
              <a:schemeClr val="accent1"/>
            </a:solidFill>
            <a:ln>
              <a:noFill/>
            </a:ln>
          </p:spPr>
        </p:sp>
        <p:sp>
          <p:nvSpPr>
            <p:cNvPr id="3" name="TextBox 3"/>
            <p:cNvSpPr txBox="1"/>
            <p:nvPr/>
          </p:nvSpPr>
          <p:spPr>
            <a:xfrm>
              <a:off x="374142" y="282892"/>
              <a:ext cx="5482682" cy="264033"/>
            </a:xfrm>
            <a:prstGeom prst="rect">
              <a:avLst/>
            </a:prstGeom>
            <a:noFill/>
            <a:ln>
              <a:noFill/>
            </a:ln>
          </p:spPr>
          <p:txBody>
            <a:bodyPr wrap="none" lIns="0" tIns="0" rIns="0" bIns="0" anchor="t" anchorCtr="0">
              <a:spAutoFit/>
            </a:bodyPr>
            <a:lstStyle/>
            <a:p>
              <a:pPr algn="l"/>
              <a:r>
                <a:rPr lang="zh-CN" sz="1350" b="1" dirty="0">
                  <a:solidFill>
                    <a:srgbClr val="FFFFFF"/>
                  </a:solidFill>
                  <a:latin typeface="+mn-lt"/>
                  <a:ea typeface="+mn-ea"/>
                  <a:cs typeface="+mn-cs"/>
                </a:rPr>
                <a:t>1.15 水循环连接四大圈层 | Water Connects the Earth System</a:t>
              </a:r>
            </a:p>
          </p:txBody>
        </p:sp>
        <p:sp>
          <p:nvSpPr>
            <p:cNvPr id="4" name="TextBox 4"/>
            <p:cNvSpPr txBox="1"/>
            <p:nvPr/>
          </p:nvSpPr>
          <p:spPr>
            <a:xfrm>
              <a:off x="10260178" y="299085"/>
              <a:ext cx="1556918" cy="234696"/>
            </a:xfrm>
            <a:prstGeom prst="rect">
              <a:avLst/>
            </a:prstGeom>
            <a:noFill/>
            <a:ln>
              <a:noFill/>
            </a:ln>
          </p:spPr>
          <p:txBody>
            <a:bodyPr wrap="none" lIns="0" tIns="0" rIns="0" bIns="0" anchor="t" anchorCtr="0">
              <a:spAutoFit/>
            </a:bodyPr>
            <a:lstStyle/>
            <a:p>
              <a:pPr algn="r"/>
              <a:r>
                <a:rPr lang="zh-CN" sz="1200" dirty="0">
                  <a:solidFill>
                    <a:srgbClr val="C7D7F2"/>
                  </a:solidFill>
                  <a:latin typeface="+mn-lt"/>
                  <a:ea typeface="+mn-ea"/>
                  <a:cs typeface="+mn-cs"/>
                </a:rPr>
                <a:t>EARTH-SYSTEM LINK</a:t>
              </a:r>
            </a:p>
          </p:txBody>
        </p:sp>
      </p:grpSp>
      <p:grpSp>
        <p:nvGrpSpPr>
          <p:cNvPr id="8" name="Group 8"/>
          <p:cNvGrpSpPr/>
          <p:nvPr/>
        </p:nvGrpSpPr>
        <p:grpSpPr>
          <a:xfrm>
            <a:off x="381000" y="914400"/>
            <a:ext cx="6773139" cy="357093"/>
            <a:chOff x="381000" y="914400"/>
            <a:chExt cx="6773139" cy="357093"/>
          </a:xfrm>
        </p:grpSpPr>
        <p:sp>
          <p:nvSpPr>
            <p:cNvPr id="6" name="Rectangle 6"/>
            <p:cNvSpPr/>
            <p:nvPr/>
          </p:nvSpPr>
          <p:spPr>
            <a:xfrm>
              <a:off x="381000" y="914400"/>
              <a:ext cx="57150" cy="266700"/>
            </a:xfrm>
            <a:prstGeom prst="roundRect">
              <a:avLst>
                <a:gd name="adj" fmla="val 50000"/>
              </a:avLst>
            </a:prstGeom>
            <a:solidFill>
              <a:schemeClr val="accent2"/>
            </a:solidFill>
            <a:ln>
              <a:noFill/>
            </a:ln>
          </p:spPr>
        </p:sp>
        <p:sp>
          <p:nvSpPr>
            <p:cNvPr id="7" name="TextBox 7"/>
            <p:cNvSpPr txBox="1"/>
            <p:nvPr/>
          </p:nvSpPr>
          <p:spPr>
            <a:xfrm>
              <a:off x="544449" y="963454"/>
              <a:ext cx="6609690" cy="308039"/>
            </a:xfrm>
            <a:prstGeom prst="rect">
              <a:avLst/>
            </a:prstGeom>
            <a:noFill/>
            <a:ln>
              <a:noFill/>
            </a:ln>
          </p:spPr>
          <p:txBody>
            <a:bodyPr wrap="none" lIns="0" tIns="0" rIns="0" bIns="0" anchor="t" anchorCtr="0">
              <a:spAutoFit/>
            </a:bodyPr>
            <a:lstStyle/>
            <a:p>
              <a:pPr algn="l"/>
              <a:r>
                <a:rPr lang="zh-CN" sz="1580" b="1" dirty="0">
                  <a:solidFill>
                    <a:schemeClr val="accent1"/>
                  </a:solidFill>
                  <a:latin typeface="+mn-lt"/>
                  <a:ea typeface="+mn-ea"/>
                  <a:cs typeface="+mn-cs"/>
                </a:rPr>
                <a:t>水把大气、海洋、生命、岩石与深部地球连接起来，并搬运质量与能量</a:t>
              </a:r>
            </a:p>
          </p:txBody>
        </p:sp>
      </p:grpSp>
      <p:grpSp>
        <p:nvGrpSpPr>
          <p:cNvPr id="11" name="Group 11"/>
          <p:cNvGrpSpPr/>
          <p:nvPr/>
        </p:nvGrpSpPr>
        <p:grpSpPr>
          <a:xfrm>
            <a:off x="381000" y="1447800"/>
            <a:ext cx="11430000" cy="609600"/>
            <a:chOff x="381000" y="1447800"/>
            <a:chExt cx="11430000" cy="609600"/>
          </a:xfrm>
        </p:grpSpPr>
        <p:sp>
          <p:nvSpPr>
            <p:cNvPr id="9" name="Rectangle 9"/>
            <p:cNvSpPr/>
            <p:nvPr/>
          </p:nvSpPr>
          <p:spPr>
            <a:xfrm>
              <a:off x="381000" y="1447800"/>
              <a:ext cx="11430000" cy="609600"/>
            </a:xfrm>
            <a:prstGeom prst="roundRect">
              <a:avLst>
                <a:gd name="adj" fmla="val 18750"/>
              </a:avLst>
            </a:prstGeom>
            <a:solidFill>
              <a:srgbClr val="F0F5FC"/>
            </a:solidFill>
            <a:ln w="9525">
              <a:solidFill>
                <a:srgbClr val="B8C7DC"/>
              </a:solidFill>
            </a:ln>
          </p:spPr>
        </p:sp>
        <p:sp>
          <p:nvSpPr>
            <p:cNvPr id="10" name="TextBox 10"/>
            <p:cNvSpPr txBox="1"/>
            <p:nvPr/>
          </p:nvSpPr>
          <p:spPr>
            <a:xfrm>
              <a:off x="5283298" y="1680210"/>
              <a:ext cx="1625404" cy="234696"/>
            </a:xfrm>
            <a:prstGeom prst="rect">
              <a:avLst/>
            </a:prstGeom>
            <a:noFill/>
            <a:ln>
              <a:noFill/>
            </a:ln>
          </p:spPr>
          <p:txBody>
            <a:bodyPr wrap="none" lIns="0" tIns="0" rIns="0" bIns="0" anchor="t" anchorCtr="0">
              <a:spAutoFit/>
            </a:bodyPr>
            <a:lstStyle/>
            <a:p>
              <a:pPr algn="ctr"/>
              <a:r>
                <a:rPr lang="zh-CN" sz="1200" b="1" dirty="0">
                  <a:solidFill>
                    <a:schemeClr val="accent1"/>
                  </a:solidFill>
                  <a:latin typeface="+mn-lt"/>
                  <a:ea typeface="+mn-ea"/>
                  <a:cs typeface="+mn-cs"/>
                </a:rPr>
                <a:t>大气圈 | Atmosphere</a:t>
              </a:r>
            </a:p>
          </p:txBody>
        </p:sp>
      </p:grpSp>
      <p:grpSp>
        <p:nvGrpSpPr>
          <p:cNvPr id="16" name="Group 16"/>
          <p:cNvGrpSpPr/>
          <p:nvPr/>
        </p:nvGrpSpPr>
        <p:grpSpPr>
          <a:xfrm>
            <a:off x="381000" y="2857500"/>
            <a:ext cx="4476750" cy="1428750"/>
            <a:chOff x="381000" y="2857500"/>
            <a:chExt cx="4476750" cy="1428750"/>
          </a:xfrm>
        </p:grpSpPr>
        <p:sp>
          <p:nvSpPr>
            <p:cNvPr id="12" name="Rectangle 12"/>
            <p:cNvSpPr/>
            <p:nvPr/>
          </p:nvSpPr>
          <p:spPr>
            <a:xfrm>
              <a:off x="381000" y="2857500"/>
              <a:ext cx="4476750" cy="1428750"/>
            </a:xfrm>
            <a:prstGeom prst="roundRect">
              <a:avLst>
                <a:gd name="adj" fmla="val 8000"/>
              </a:avLst>
            </a:prstGeom>
            <a:solidFill>
              <a:schemeClr val="lt2"/>
            </a:solidFill>
            <a:ln w="9525">
              <a:solidFill>
                <a:schemeClr val="accent6"/>
              </a:solidFill>
            </a:ln>
          </p:spPr>
        </p:sp>
        <p:sp>
          <p:nvSpPr>
            <p:cNvPr id="13" name="TextBox 13"/>
            <p:cNvSpPr txBox="1"/>
            <p:nvPr/>
          </p:nvSpPr>
          <p:spPr>
            <a:xfrm>
              <a:off x="603504" y="3070860"/>
              <a:ext cx="999372" cy="234696"/>
            </a:xfrm>
            <a:prstGeom prst="rect">
              <a:avLst/>
            </a:prstGeom>
            <a:noFill/>
            <a:ln>
              <a:noFill/>
            </a:ln>
          </p:spPr>
          <p:txBody>
            <a:bodyPr wrap="none" lIns="0" tIns="0" rIns="0" bIns="0" anchor="t" anchorCtr="0">
              <a:spAutoFit/>
            </a:bodyPr>
            <a:lstStyle/>
            <a:p>
              <a:pPr algn="l"/>
              <a:r>
                <a:rPr lang="zh-CN" sz="1200" b="1" dirty="0">
                  <a:solidFill>
                    <a:schemeClr val="accent1"/>
                  </a:solidFill>
                  <a:latin typeface="+mn-lt"/>
                  <a:ea typeface="+mn-ea"/>
                  <a:cs typeface="+mn-cs"/>
                </a:rPr>
                <a:t>海洋 | Ocean</a:t>
              </a:r>
            </a:p>
          </p:txBody>
        </p:sp>
        <p:sp>
          <p:nvSpPr>
            <p:cNvPr id="14" name="TextBox 14"/>
            <p:cNvSpPr txBox="1"/>
            <p:nvPr/>
          </p:nvSpPr>
          <p:spPr>
            <a:xfrm>
              <a:off x="604647" y="3361849"/>
              <a:ext cx="1876682" cy="190690"/>
            </a:xfrm>
            <a:prstGeom prst="rect">
              <a:avLst/>
            </a:prstGeom>
            <a:noFill/>
            <a:ln>
              <a:noFill/>
            </a:ln>
          </p:spPr>
          <p:txBody>
            <a:bodyPr wrap="none" lIns="0" tIns="0" rIns="0" bIns="0" anchor="t" anchorCtr="0">
              <a:spAutoFit/>
            </a:bodyPr>
            <a:lstStyle/>
            <a:p>
              <a:pPr algn="l"/>
              <a:r>
                <a:rPr lang="zh-CN" sz="980" dirty="0">
                  <a:solidFill>
                    <a:schemeClr val="accent5"/>
                  </a:solidFill>
                  <a:latin typeface="+mn-lt"/>
                  <a:ea typeface="+mn-ea"/>
                  <a:cs typeface="+mn-cs"/>
                </a:rPr>
                <a:t>水圈主体 · 海气交换与热量输送</a:t>
              </a:r>
            </a:p>
          </p:txBody>
        </p:sp>
        <p:sp>
          <p:nvSpPr>
            <p:cNvPr id="15" name="TextBox 15"/>
            <p:cNvSpPr txBox="1"/>
            <p:nvPr/>
          </p:nvSpPr>
          <p:spPr>
            <a:xfrm>
              <a:off x="604647" y="3609499"/>
              <a:ext cx="1197254" cy="190690"/>
            </a:xfrm>
            <a:prstGeom prst="rect">
              <a:avLst/>
            </a:prstGeom>
            <a:noFill/>
            <a:ln>
              <a:noFill/>
            </a:ln>
          </p:spPr>
          <p:txBody>
            <a:bodyPr wrap="none" lIns="0" tIns="0" rIns="0" bIns="0" anchor="t" anchorCtr="0">
              <a:spAutoFit/>
            </a:bodyPr>
            <a:lstStyle/>
            <a:p>
              <a:pPr algn="l"/>
              <a:r>
                <a:rPr lang="zh-CN" sz="980" dirty="0">
                  <a:solidFill>
                    <a:schemeClr val="accent5"/>
                  </a:solidFill>
                  <a:latin typeface="+mn-lt"/>
                  <a:ea typeface="+mn-ea"/>
                  <a:cs typeface="+mn-cs"/>
                </a:rPr>
                <a:t>接收径流与风化溶质</a:t>
              </a:r>
            </a:p>
          </p:txBody>
        </p:sp>
      </p:grpSp>
      <p:grpSp>
        <p:nvGrpSpPr>
          <p:cNvPr id="21" name="Group 21"/>
          <p:cNvGrpSpPr/>
          <p:nvPr/>
        </p:nvGrpSpPr>
        <p:grpSpPr>
          <a:xfrm>
            <a:off x="5810250" y="2857500"/>
            <a:ext cx="6000750" cy="1428750"/>
            <a:chOff x="5810250" y="2857500"/>
            <a:chExt cx="6000750" cy="1428750"/>
          </a:xfrm>
        </p:grpSpPr>
        <p:sp>
          <p:nvSpPr>
            <p:cNvPr id="17" name="Rectangle 17"/>
            <p:cNvSpPr/>
            <p:nvPr/>
          </p:nvSpPr>
          <p:spPr>
            <a:xfrm>
              <a:off x="5810250" y="2857500"/>
              <a:ext cx="6000750" cy="1428750"/>
            </a:xfrm>
            <a:prstGeom prst="roundRect">
              <a:avLst>
                <a:gd name="adj" fmla="val 8000"/>
              </a:avLst>
            </a:prstGeom>
            <a:solidFill>
              <a:schemeClr val="lt2"/>
            </a:solidFill>
            <a:ln w="9525">
              <a:solidFill>
                <a:schemeClr val="accent6"/>
              </a:solidFill>
            </a:ln>
          </p:spPr>
        </p:sp>
        <p:sp>
          <p:nvSpPr>
            <p:cNvPr id="18" name="TextBox 18"/>
            <p:cNvSpPr txBox="1"/>
            <p:nvPr/>
          </p:nvSpPr>
          <p:spPr>
            <a:xfrm>
              <a:off x="6032754" y="3070860"/>
              <a:ext cx="1842014" cy="234696"/>
            </a:xfrm>
            <a:prstGeom prst="rect">
              <a:avLst/>
            </a:prstGeom>
            <a:noFill/>
            <a:ln>
              <a:noFill/>
            </a:ln>
          </p:spPr>
          <p:txBody>
            <a:bodyPr wrap="none" lIns="0" tIns="0" rIns="0" bIns="0" anchor="t" anchorCtr="0">
              <a:spAutoFit/>
            </a:bodyPr>
            <a:lstStyle/>
            <a:p>
              <a:pPr algn="l"/>
              <a:r>
                <a:rPr lang="zh-CN" sz="1200" b="1" dirty="0">
                  <a:solidFill>
                    <a:schemeClr val="accent1"/>
                  </a:solidFill>
                  <a:latin typeface="+mn-lt"/>
                  <a:ea typeface="+mn-ea"/>
                  <a:cs typeface="+mn-cs"/>
                </a:rPr>
                <a:t>陆地与生命 | Land &amp; life</a:t>
              </a:r>
            </a:p>
          </p:txBody>
        </p:sp>
        <p:sp>
          <p:nvSpPr>
            <p:cNvPr id="19" name="TextBox 19"/>
            <p:cNvSpPr txBox="1"/>
            <p:nvPr/>
          </p:nvSpPr>
          <p:spPr>
            <a:xfrm>
              <a:off x="6033897" y="3361849"/>
              <a:ext cx="2008609" cy="190690"/>
            </a:xfrm>
            <a:prstGeom prst="rect">
              <a:avLst/>
            </a:prstGeom>
            <a:noFill/>
            <a:ln>
              <a:noFill/>
            </a:ln>
          </p:spPr>
          <p:txBody>
            <a:bodyPr wrap="none" lIns="0" tIns="0" rIns="0" bIns="0" anchor="t" anchorCtr="0">
              <a:spAutoFit/>
            </a:bodyPr>
            <a:lstStyle/>
            <a:p>
              <a:pPr algn="l"/>
              <a:r>
                <a:rPr lang="zh-CN" sz="980" dirty="0">
                  <a:solidFill>
                    <a:schemeClr val="accent5"/>
                  </a:solidFill>
                  <a:latin typeface="+mn-lt"/>
                  <a:ea typeface="+mn-ea"/>
                  <a:cs typeface="+mn-cs"/>
                </a:rPr>
                <a:t>生物圈 · 植被连接地下水与大气水</a:t>
              </a:r>
            </a:p>
          </p:txBody>
        </p:sp>
        <p:sp>
          <p:nvSpPr>
            <p:cNvPr id="20" name="TextBox 20"/>
            <p:cNvSpPr txBox="1"/>
            <p:nvPr/>
          </p:nvSpPr>
          <p:spPr>
            <a:xfrm>
              <a:off x="6033897" y="3609499"/>
              <a:ext cx="1461110" cy="190690"/>
            </a:xfrm>
            <a:prstGeom prst="rect">
              <a:avLst/>
            </a:prstGeom>
            <a:noFill/>
            <a:ln>
              <a:noFill/>
            </a:ln>
          </p:spPr>
          <p:txBody>
            <a:bodyPr wrap="none" lIns="0" tIns="0" rIns="0" bIns="0" anchor="t" anchorCtr="0">
              <a:spAutoFit/>
            </a:bodyPr>
            <a:lstStyle/>
            <a:p>
              <a:pPr algn="l"/>
              <a:r>
                <a:rPr lang="zh-CN" sz="980" dirty="0">
                  <a:solidFill>
                    <a:schemeClr val="accent5"/>
                  </a:solidFill>
                  <a:latin typeface="+mn-lt"/>
                  <a:ea typeface="+mn-ea"/>
                  <a:cs typeface="+mn-cs"/>
                </a:rPr>
                <a:t>蒸腾与生物转移返回水汽</a:t>
              </a:r>
            </a:p>
          </p:txBody>
        </p:sp>
      </p:grpSp>
      <p:grpSp>
        <p:nvGrpSpPr>
          <p:cNvPr id="25" name="Group 25"/>
          <p:cNvGrpSpPr/>
          <p:nvPr/>
        </p:nvGrpSpPr>
        <p:grpSpPr>
          <a:xfrm>
            <a:off x="381000" y="4762500"/>
            <a:ext cx="11430000" cy="952500"/>
            <a:chOff x="381000" y="4762500"/>
            <a:chExt cx="11430000" cy="952500"/>
          </a:xfrm>
        </p:grpSpPr>
        <p:sp>
          <p:nvSpPr>
            <p:cNvPr id="22" name="Rectangle 22"/>
            <p:cNvSpPr/>
            <p:nvPr/>
          </p:nvSpPr>
          <p:spPr>
            <a:xfrm>
              <a:off x="381000" y="4762500"/>
              <a:ext cx="11430000" cy="952500"/>
            </a:xfrm>
            <a:prstGeom prst="roundRect">
              <a:avLst>
                <a:gd name="adj" fmla="val 12000"/>
              </a:avLst>
            </a:prstGeom>
            <a:solidFill>
              <a:schemeClr val="lt2"/>
            </a:solidFill>
            <a:ln w="9525">
              <a:solidFill>
                <a:schemeClr val="accent6"/>
              </a:solidFill>
            </a:ln>
          </p:spPr>
        </p:sp>
        <p:sp>
          <p:nvSpPr>
            <p:cNvPr id="23" name="TextBox 23"/>
            <p:cNvSpPr txBox="1"/>
            <p:nvPr/>
          </p:nvSpPr>
          <p:spPr>
            <a:xfrm>
              <a:off x="603504" y="4975860"/>
              <a:ext cx="2452380" cy="234696"/>
            </a:xfrm>
            <a:prstGeom prst="rect">
              <a:avLst/>
            </a:prstGeom>
            <a:noFill/>
            <a:ln>
              <a:noFill/>
            </a:ln>
          </p:spPr>
          <p:txBody>
            <a:bodyPr wrap="none" lIns="0" tIns="0" rIns="0" bIns="0" anchor="t" anchorCtr="0">
              <a:spAutoFit/>
            </a:bodyPr>
            <a:lstStyle/>
            <a:p>
              <a:pPr algn="l"/>
              <a:r>
                <a:rPr lang="zh-CN" sz="1200" b="1" dirty="0">
                  <a:solidFill>
                    <a:schemeClr val="accent1"/>
                  </a:solidFill>
                  <a:latin typeface="+mn-lt"/>
                  <a:ea typeface="+mn-ea"/>
                  <a:cs typeface="+mn-cs"/>
                </a:rPr>
                <a:t>岩石与深部 | Rock &amp; deep Earth</a:t>
              </a:r>
            </a:p>
          </p:txBody>
        </p:sp>
        <p:sp>
          <p:nvSpPr>
            <p:cNvPr id="24" name="TextBox 24"/>
            <p:cNvSpPr txBox="1"/>
            <p:nvPr/>
          </p:nvSpPr>
          <p:spPr>
            <a:xfrm>
              <a:off x="604647" y="5266849"/>
              <a:ext cx="3479602" cy="190690"/>
            </a:xfrm>
            <a:prstGeom prst="rect">
              <a:avLst/>
            </a:prstGeom>
            <a:noFill/>
            <a:ln>
              <a:noFill/>
            </a:ln>
          </p:spPr>
          <p:txBody>
            <a:bodyPr wrap="none" lIns="0" tIns="0" rIns="0" bIns="0" anchor="t" anchorCtr="0">
              <a:spAutoFit/>
            </a:bodyPr>
            <a:lstStyle/>
            <a:p>
              <a:pPr algn="l"/>
              <a:r>
                <a:rPr lang="zh-CN" sz="980" dirty="0">
                  <a:solidFill>
                    <a:schemeClr val="accent5"/>
                  </a:solidFill>
                  <a:latin typeface="+mn-lt"/>
                  <a:ea typeface="+mn-ea"/>
                  <a:cs typeface="+mn-cs"/>
                </a:rPr>
                <a:t>俯冲把水带入内部 · 火山作用把水返回表层 · 风化释放溶质</a:t>
              </a:r>
            </a:p>
          </p:txBody>
        </p:sp>
      </p:grpSp>
      <p:grpSp>
        <p:nvGrpSpPr>
          <p:cNvPr id="30" name="Group 30"/>
          <p:cNvGrpSpPr/>
          <p:nvPr/>
        </p:nvGrpSpPr>
        <p:grpSpPr>
          <a:xfrm>
            <a:off x="818558" y="2114550"/>
            <a:ext cx="3483369" cy="723900"/>
            <a:chOff x="818558" y="2114550"/>
            <a:chExt cx="3483369" cy="723900"/>
          </a:xfrm>
        </p:grpSpPr>
        <p:sp>
          <p:nvSpPr>
            <p:cNvPr id="26" name="Line 26"/>
            <p:cNvSpPr/>
            <p:nvPr/>
          </p:nvSpPr>
          <p:spPr>
            <a:xfrm flipV="1">
              <a:off x="1905000" y="2114550"/>
              <a:ext cx="1" cy="723900"/>
            </a:xfrm>
            <a:prstGeom prst="line">
              <a:avLst/>
            </a:prstGeom>
            <a:noFill/>
            <a:ln w="28575">
              <a:solidFill>
                <a:schemeClr val="accent2"/>
              </a:solidFill>
              <a:tailEnd type="triangle" w="med" len="lg"/>
            </a:ln>
          </p:spPr>
        </p:sp>
        <p:sp>
          <p:nvSpPr>
            <p:cNvPr id="27" name="Line 27"/>
            <p:cNvSpPr/>
            <p:nvPr/>
          </p:nvSpPr>
          <p:spPr>
            <a:xfrm>
              <a:off x="3143250" y="2114550"/>
              <a:ext cx="1" cy="723900"/>
            </a:xfrm>
            <a:prstGeom prst="line">
              <a:avLst/>
            </a:prstGeom>
            <a:noFill/>
            <a:ln w="28575">
              <a:solidFill>
                <a:schemeClr val="accent2"/>
              </a:solidFill>
              <a:tailEnd type="triangle" w="med" len="lg"/>
            </a:ln>
          </p:spPr>
        </p:sp>
        <p:sp>
          <p:nvSpPr>
            <p:cNvPr id="28" name="TextBox 28"/>
            <p:cNvSpPr txBox="1"/>
            <p:nvPr/>
          </p:nvSpPr>
          <p:spPr>
            <a:xfrm>
              <a:off x="818558" y="2398395"/>
              <a:ext cx="995955" cy="176212"/>
            </a:xfrm>
            <a:prstGeom prst="rect">
              <a:avLst/>
            </a:prstGeom>
            <a:noFill/>
            <a:ln>
              <a:noFill/>
            </a:ln>
          </p:spPr>
          <p:txBody>
            <a:bodyPr wrap="none" lIns="0" tIns="0" rIns="0" bIns="0" anchor="t" anchorCtr="0">
              <a:spAutoFit/>
            </a:bodyPr>
            <a:lstStyle/>
            <a:p>
              <a:pPr algn="r"/>
              <a:r>
                <a:rPr lang="zh-CN" sz="900" dirty="0">
                  <a:solidFill>
                    <a:schemeClr val="accent5"/>
                  </a:solidFill>
                  <a:latin typeface="+mn-lt"/>
                  <a:ea typeface="+mn-ea"/>
                  <a:cs typeface="+mn-cs"/>
                </a:rPr>
                <a:t>蒸发 Evaporation</a:t>
              </a:r>
            </a:p>
          </p:txBody>
        </p:sp>
        <p:sp>
          <p:nvSpPr>
            <p:cNvPr id="29" name="TextBox 29"/>
            <p:cNvSpPr txBox="1"/>
            <p:nvPr/>
          </p:nvSpPr>
          <p:spPr>
            <a:xfrm>
              <a:off x="3233738" y="2398395"/>
              <a:ext cx="1068189" cy="176212"/>
            </a:xfrm>
            <a:prstGeom prst="rect">
              <a:avLst/>
            </a:prstGeom>
            <a:noFill/>
            <a:ln>
              <a:noFill/>
            </a:ln>
          </p:spPr>
          <p:txBody>
            <a:bodyPr wrap="none" lIns="0" tIns="0" rIns="0" bIns="0" anchor="t" anchorCtr="0">
              <a:spAutoFit/>
            </a:bodyPr>
            <a:lstStyle/>
            <a:p>
              <a:pPr algn="l"/>
              <a:r>
                <a:rPr lang="zh-CN" sz="900" dirty="0">
                  <a:solidFill>
                    <a:schemeClr val="accent5"/>
                  </a:solidFill>
                  <a:latin typeface="+mn-lt"/>
                  <a:ea typeface="+mn-ea"/>
                  <a:cs typeface="+mn-cs"/>
                </a:rPr>
                <a:t>降水 Precipitation</a:t>
              </a:r>
            </a:p>
          </p:txBody>
        </p:sp>
      </p:grpSp>
      <p:grpSp>
        <p:nvGrpSpPr>
          <p:cNvPr id="35" name="Group 35"/>
          <p:cNvGrpSpPr/>
          <p:nvPr/>
        </p:nvGrpSpPr>
        <p:grpSpPr>
          <a:xfrm>
            <a:off x="7620000" y="2114550"/>
            <a:ext cx="3570349" cy="723900"/>
            <a:chOff x="7620000" y="2114550"/>
            <a:chExt cx="3570349" cy="723900"/>
          </a:xfrm>
        </p:grpSpPr>
        <p:sp>
          <p:nvSpPr>
            <p:cNvPr id="31" name="Line 31"/>
            <p:cNvSpPr/>
            <p:nvPr/>
          </p:nvSpPr>
          <p:spPr>
            <a:xfrm>
              <a:off x="7620000" y="2114550"/>
              <a:ext cx="1" cy="723900"/>
            </a:xfrm>
            <a:prstGeom prst="line">
              <a:avLst/>
            </a:prstGeom>
            <a:noFill/>
            <a:ln w="28575">
              <a:solidFill>
                <a:schemeClr val="accent2"/>
              </a:solidFill>
              <a:tailEnd type="triangle" w="med" len="lg"/>
            </a:ln>
          </p:spPr>
        </p:sp>
        <p:sp>
          <p:nvSpPr>
            <p:cNvPr id="32" name="Line 32"/>
            <p:cNvSpPr/>
            <p:nvPr/>
          </p:nvSpPr>
          <p:spPr>
            <a:xfrm flipV="1">
              <a:off x="10001250" y="2114550"/>
              <a:ext cx="1" cy="723900"/>
            </a:xfrm>
            <a:prstGeom prst="line">
              <a:avLst/>
            </a:prstGeom>
            <a:noFill/>
            <a:ln w="28575">
              <a:solidFill>
                <a:schemeClr val="accent2"/>
              </a:solidFill>
              <a:tailEnd type="triangle" w="med" len="lg"/>
            </a:ln>
          </p:spPr>
        </p:sp>
        <p:sp>
          <p:nvSpPr>
            <p:cNvPr id="33" name="TextBox 33"/>
            <p:cNvSpPr txBox="1"/>
            <p:nvPr/>
          </p:nvSpPr>
          <p:spPr>
            <a:xfrm>
              <a:off x="7710488" y="2398395"/>
              <a:ext cx="1068189" cy="176212"/>
            </a:xfrm>
            <a:prstGeom prst="rect">
              <a:avLst/>
            </a:prstGeom>
            <a:noFill/>
            <a:ln>
              <a:noFill/>
            </a:ln>
          </p:spPr>
          <p:txBody>
            <a:bodyPr wrap="none" lIns="0" tIns="0" rIns="0" bIns="0" anchor="t" anchorCtr="0">
              <a:spAutoFit/>
            </a:bodyPr>
            <a:lstStyle/>
            <a:p>
              <a:pPr algn="l"/>
              <a:r>
                <a:rPr lang="zh-CN" sz="900" dirty="0">
                  <a:solidFill>
                    <a:schemeClr val="accent5"/>
                  </a:solidFill>
                  <a:latin typeface="+mn-lt"/>
                  <a:ea typeface="+mn-ea"/>
                  <a:cs typeface="+mn-cs"/>
                </a:rPr>
                <a:t>降水 Precipitation</a:t>
              </a:r>
            </a:p>
          </p:txBody>
        </p:sp>
        <p:sp>
          <p:nvSpPr>
            <p:cNvPr id="34" name="TextBox 34"/>
            <p:cNvSpPr txBox="1"/>
            <p:nvPr/>
          </p:nvSpPr>
          <p:spPr>
            <a:xfrm>
              <a:off x="10091738" y="2398395"/>
              <a:ext cx="1098611" cy="176212"/>
            </a:xfrm>
            <a:prstGeom prst="rect">
              <a:avLst/>
            </a:prstGeom>
            <a:noFill/>
            <a:ln>
              <a:noFill/>
            </a:ln>
          </p:spPr>
          <p:txBody>
            <a:bodyPr wrap="none" lIns="0" tIns="0" rIns="0" bIns="0" anchor="t" anchorCtr="0">
              <a:spAutoFit/>
            </a:bodyPr>
            <a:lstStyle/>
            <a:p>
              <a:pPr algn="l"/>
              <a:r>
                <a:rPr lang="zh-CN" sz="900" dirty="0">
                  <a:solidFill>
                    <a:schemeClr val="accent5"/>
                  </a:solidFill>
                  <a:latin typeface="+mn-lt"/>
                  <a:ea typeface="+mn-ea"/>
                  <a:cs typeface="+mn-cs"/>
                </a:rPr>
                <a:t>蒸腾 Transpiration</a:t>
              </a:r>
            </a:p>
          </p:txBody>
        </p:sp>
      </p:grpSp>
      <p:grpSp>
        <p:nvGrpSpPr>
          <p:cNvPr id="38" name="Group 38"/>
          <p:cNvGrpSpPr/>
          <p:nvPr/>
        </p:nvGrpSpPr>
        <p:grpSpPr>
          <a:xfrm>
            <a:off x="4914900" y="3369945"/>
            <a:ext cx="857250" cy="201931"/>
            <a:chOff x="4914900" y="3369945"/>
            <a:chExt cx="857250" cy="201931"/>
          </a:xfrm>
        </p:grpSpPr>
        <p:sp>
          <p:nvSpPr>
            <p:cNvPr id="36" name="Line 36"/>
            <p:cNvSpPr/>
            <p:nvPr/>
          </p:nvSpPr>
          <p:spPr>
            <a:xfrm flipH="1">
              <a:off x="4914900" y="3571875"/>
              <a:ext cx="857250" cy="1"/>
            </a:xfrm>
            <a:prstGeom prst="line">
              <a:avLst/>
            </a:prstGeom>
            <a:noFill/>
            <a:ln w="28575">
              <a:solidFill>
                <a:schemeClr val="accent2"/>
              </a:solidFill>
              <a:tailEnd type="triangle" w="med" len="lg"/>
            </a:ln>
          </p:spPr>
        </p:sp>
        <p:sp>
          <p:nvSpPr>
            <p:cNvPr id="37" name="TextBox 37"/>
            <p:cNvSpPr txBox="1"/>
            <p:nvPr/>
          </p:nvSpPr>
          <p:spPr>
            <a:xfrm>
              <a:off x="4996320" y="3369945"/>
              <a:ext cx="694411" cy="176212"/>
            </a:xfrm>
            <a:prstGeom prst="rect">
              <a:avLst/>
            </a:prstGeom>
            <a:noFill/>
            <a:ln>
              <a:noFill/>
            </a:ln>
          </p:spPr>
          <p:txBody>
            <a:bodyPr wrap="none" lIns="0" tIns="0" rIns="0" bIns="0" anchor="t" anchorCtr="0">
              <a:spAutoFit/>
            </a:bodyPr>
            <a:lstStyle/>
            <a:p>
              <a:pPr algn="ctr"/>
              <a:r>
                <a:rPr lang="zh-CN" sz="900" dirty="0">
                  <a:solidFill>
                    <a:schemeClr val="accent5"/>
                  </a:solidFill>
                  <a:latin typeface="+mn-lt"/>
                  <a:ea typeface="+mn-ea"/>
                  <a:cs typeface="+mn-cs"/>
                </a:rPr>
                <a:t>径流 Runoff</a:t>
              </a:r>
            </a:p>
          </p:txBody>
        </p:sp>
      </p:grpSp>
      <p:grpSp>
        <p:nvGrpSpPr>
          <p:cNvPr id="41" name="Group 41"/>
          <p:cNvGrpSpPr/>
          <p:nvPr/>
        </p:nvGrpSpPr>
        <p:grpSpPr>
          <a:xfrm>
            <a:off x="2381250" y="4305300"/>
            <a:ext cx="2160906" cy="438150"/>
            <a:chOff x="2381250" y="4305300"/>
            <a:chExt cx="2160906" cy="438150"/>
          </a:xfrm>
        </p:grpSpPr>
        <p:sp>
          <p:nvSpPr>
            <p:cNvPr id="39" name="Line 39"/>
            <p:cNvSpPr/>
            <p:nvPr/>
          </p:nvSpPr>
          <p:spPr>
            <a:xfrm flipV="1">
              <a:off x="2381250" y="4305300"/>
              <a:ext cx="1" cy="438150"/>
            </a:xfrm>
            <a:prstGeom prst="line">
              <a:avLst/>
            </a:prstGeom>
            <a:noFill/>
            <a:ln w="28575">
              <a:solidFill>
                <a:schemeClr val="accent2"/>
              </a:solidFill>
              <a:tailEnd type="triangle" w="med" len="lg"/>
            </a:ln>
          </p:spPr>
        </p:sp>
        <p:sp>
          <p:nvSpPr>
            <p:cNvPr id="40" name="TextBox 40"/>
            <p:cNvSpPr txBox="1"/>
            <p:nvPr/>
          </p:nvSpPr>
          <p:spPr>
            <a:xfrm>
              <a:off x="2471738" y="4474845"/>
              <a:ext cx="2070418" cy="176212"/>
            </a:xfrm>
            <a:prstGeom prst="rect">
              <a:avLst/>
            </a:prstGeom>
            <a:noFill/>
            <a:ln>
              <a:noFill/>
            </a:ln>
          </p:spPr>
          <p:txBody>
            <a:bodyPr wrap="none" lIns="0" tIns="0" rIns="0" bIns="0" anchor="t" anchorCtr="0">
              <a:spAutoFit/>
            </a:bodyPr>
            <a:lstStyle/>
            <a:p>
              <a:pPr algn="l"/>
              <a:r>
                <a:rPr lang="zh-CN" sz="900" dirty="0">
                  <a:solidFill>
                    <a:schemeClr val="accent5"/>
                  </a:solidFill>
                  <a:latin typeface="+mn-lt"/>
                  <a:ea typeface="+mn-ea"/>
                  <a:cs typeface="+mn-cs"/>
                </a:rPr>
                <a:t>风化与溶质输送 Weathering &amp; solute</a:t>
              </a:r>
            </a:p>
          </p:txBody>
        </p:sp>
      </p:grpSp>
      <p:grpSp>
        <p:nvGrpSpPr>
          <p:cNvPr id="48" name="Group 48"/>
          <p:cNvGrpSpPr/>
          <p:nvPr/>
        </p:nvGrpSpPr>
        <p:grpSpPr>
          <a:xfrm>
            <a:off x="6667500" y="4305300"/>
            <a:ext cx="4448934" cy="438150"/>
            <a:chOff x="6667500" y="4305300"/>
            <a:chExt cx="4448934" cy="438150"/>
          </a:xfrm>
        </p:grpSpPr>
        <p:sp>
          <p:nvSpPr>
            <p:cNvPr id="42" name="Line 42"/>
            <p:cNvSpPr/>
            <p:nvPr/>
          </p:nvSpPr>
          <p:spPr>
            <a:xfrm>
              <a:off x="6667500" y="4305300"/>
              <a:ext cx="1" cy="438150"/>
            </a:xfrm>
            <a:prstGeom prst="line">
              <a:avLst/>
            </a:prstGeom>
            <a:noFill/>
            <a:ln w="28575">
              <a:solidFill>
                <a:schemeClr val="accent2"/>
              </a:solidFill>
              <a:tailEnd type="triangle" w="med" len="lg"/>
            </a:ln>
          </p:spPr>
        </p:sp>
        <p:sp>
          <p:nvSpPr>
            <p:cNvPr id="43" name="TextBox 43"/>
            <p:cNvSpPr txBox="1"/>
            <p:nvPr/>
          </p:nvSpPr>
          <p:spPr>
            <a:xfrm>
              <a:off x="6757988" y="4531995"/>
              <a:ext cx="971188" cy="176212"/>
            </a:xfrm>
            <a:prstGeom prst="rect">
              <a:avLst/>
            </a:prstGeom>
            <a:noFill/>
            <a:ln>
              <a:noFill/>
            </a:ln>
          </p:spPr>
          <p:txBody>
            <a:bodyPr wrap="none" lIns="0" tIns="0" rIns="0" bIns="0" anchor="t" anchorCtr="0">
              <a:spAutoFit/>
            </a:bodyPr>
            <a:lstStyle/>
            <a:p>
              <a:pPr algn="l"/>
              <a:r>
                <a:rPr lang="zh-CN" sz="900" dirty="0">
                  <a:solidFill>
                    <a:schemeClr val="accent5"/>
                  </a:solidFill>
                  <a:latin typeface="+mn-lt"/>
                  <a:ea typeface="+mn-ea"/>
                  <a:cs typeface="+mn-cs"/>
                </a:rPr>
                <a:t>入渗 Infiltration</a:t>
              </a:r>
            </a:p>
          </p:txBody>
        </p:sp>
        <p:sp>
          <p:nvSpPr>
            <p:cNvPr id="44" name="Line 44"/>
            <p:cNvSpPr/>
            <p:nvPr/>
          </p:nvSpPr>
          <p:spPr>
            <a:xfrm flipV="1">
              <a:off x="8382000" y="4305300"/>
              <a:ext cx="1" cy="438150"/>
            </a:xfrm>
            <a:prstGeom prst="line">
              <a:avLst/>
            </a:prstGeom>
            <a:noFill/>
            <a:ln w="28575">
              <a:solidFill>
                <a:schemeClr val="accent2"/>
              </a:solidFill>
              <a:tailEnd type="triangle" w="med" len="lg"/>
            </a:ln>
          </p:spPr>
        </p:sp>
        <p:sp>
          <p:nvSpPr>
            <p:cNvPr id="45" name="TextBox 45"/>
            <p:cNvSpPr txBox="1"/>
            <p:nvPr/>
          </p:nvSpPr>
          <p:spPr>
            <a:xfrm>
              <a:off x="6846543" y="4322445"/>
              <a:ext cx="1444970" cy="176212"/>
            </a:xfrm>
            <a:prstGeom prst="rect">
              <a:avLst/>
            </a:prstGeom>
            <a:noFill/>
            <a:ln>
              <a:noFill/>
            </a:ln>
          </p:spPr>
          <p:txBody>
            <a:bodyPr wrap="none" lIns="0" tIns="0" rIns="0" bIns="0" anchor="t" anchorCtr="0">
              <a:spAutoFit/>
            </a:bodyPr>
            <a:lstStyle/>
            <a:p>
              <a:pPr algn="r"/>
              <a:r>
                <a:rPr lang="zh-CN" sz="900" dirty="0">
                  <a:solidFill>
                    <a:schemeClr val="accent5"/>
                  </a:solidFill>
                  <a:latin typeface="+mn-lt"/>
                  <a:ea typeface="+mn-ea"/>
                  <a:cs typeface="+mn-cs"/>
                </a:rPr>
                <a:t>火山回返 Volcanic return</a:t>
              </a:r>
            </a:p>
          </p:txBody>
        </p:sp>
        <p:sp>
          <p:nvSpPr>
            <p:cNvPr id="46" name="Line 46"/>
            <p:cNvSpPr/>
            <p:nvPr/>
          </p:nvSpPr>
          <p:spPr>
            <a:xfrm>
              <a:off x="10096500" y="4305300"/>
              <a:ext cx="1" cy="438150"/>
            </a:xfrm>
            <a:prstGeom prst="line">
              <a:avLst/>
            </a:prstGeom>
            <a:noFill/>
            <a:ln w="28575">
              <a:solidFill>
                <a:schemeClr val="accent2"/>
              </a:solidFill>
              <a:tailEnd type="triangle" w="med" len="lg"/>
            </a:ln>
          </p:spPr>
        </p:sp>
        <p:sp>
          <p:nvSpPr>
            <p:cNvPr id="47" name="TextBox 47"/>
            <p:cNvSpPr txBox="1"/>
            <p:nvPr/>
          </p:nvSpPr>
          <p:spPr>
            <a:xfrm>
              <a:off x="10186988" y="4474845"/>
              <a:ext cx="929446" cy="176212"/>
            </a:xfrm>
            <a:prstGeom prst="rect">
              <a:avLst/>
            </a:prstGeom>
            <a:noFill/>
            <a:ln>
              <a:noFill/>
            </a:ln>
          </p:spPr>
          <p:txBody>
            <a:bodyPr wrap="none" lIns="0" tIns="0" rIns="0" bIns="0" anchor="t" anchorCtr="0">
              <a:spAutoFit/>
            </a:bodyPr>
            <a:lstStyle/>
            <a:p>
              <a:pPr algn="l"/>
              <a:r>
                <a:rPr lang="zh-CN" sz="900" dirty="0">
                  <a:solidFill>
                    <a:schemeClr val="accent5"/>
                  </a:solidFill>
                  <a:latin typeface="+mn-lt"/>
                  <a:ea typeface="+mn-ea"/>
                  <a:cs typeface="+mn-cs"/>
                </a:rPr>
                <a:t>俯冲 Subduction</a:t>
              </a:r>
            </a:p>
          </p:txBody>
        </p:sp>
      </p:grpSp>
      <p:grpSp>
        <p:nvGrpSpPr>
          <p:cNvPr id="51" name="Group 51"/>
          <p:cNvGrpSpPr/>
          <p:nvPr/>
        </p:nvGrpSpPr>
        <p:grpSpPr>
          <a:xfrm>
            <a:off x="381000" y="5829300"/>
            <a:ext cx="11430000" cy="400050"/>
            <a:chOff x="381000" y="5829300"/>
            <a:chExt cx="11430000" cy="400050"/>
          </a:xfrm>
        </p:grpSpPr>
        <p:sp>
          <p:nvSpPr>
            <p:cNvPr id="49" name="Rectangle 49"/>
            <p:cNvSpPr/>
            <p:nvPr/>
          </p:nvSpPr>
          <p:spPr>
            <a:xfrm>
              <a:off x="381000" y="5829300"/>
              <a:ext cx="11430000" cy="400050"/>
            </a:xfrm>
            <a:prstGeom prst="roundRect">
              <a:avLst>
                <a:gd name="adj" fmla="val 28571"/>
              </a:avLst>
            </a:prstGeom>
            <a:solidFill>
              <a:srgbClr val="F0F5FC"/>
            </a:solidFill>
            <a:ln>
              <a:noFill/>
            </a:ln>
          </p:spPr>
        </p:sp>
        <p:sp>
          <p:nvSpPr>
            <p:cNvPr id="50" name="TextBox 50"/>
            <p:cNvSpPr txBox="1"/>
            <p:nvPr/>
          </p:nvSpPr>
          <p:spPr>
            <a:xfrm>
              <a:off x="680085" y="5955506"/>
              <a:ext cx="7332466" cy="220028"/>
            </a:xfrm>
            <a:prstGeom prst="rect">
              <a:avLst/>
            </a:prstGeom>
            <a:noFill/>
            <a:ln>
              <a:noFill/>
            </a:ln>
          </p:spPr>
          <p:txBody>
            <a:bodyPr wrap="none" lIns="0" tIns="0" rIns="0" bIns="0" anchor="t" anchorCtr="0">
              <a:spAutoFit/>
            </a:bodyPr>
            <a:lstStyle/>
            <a:p>
              <a:pPr algn="l"/>
              <a:r>
                <a:rPr lang="zh-CN" sz="1120" dirty="0">
                  <a:solidFill>
                    <a:schemeClr val="dk1"/>
                  </a:solidFill>
                  <a:latin typeface="+mn-lt"/>
                  <a:ea typeface="+mn-ea"/>
                  <a:cs typeface="+mn-cs"/>
                </a:rPr>
                <a:t>水搬运质量与能量：溶剂与搬运介质 · 相变输送潜热</a:t>
              </a:r>
              <a:r>
                <a:rPr lang="zh-CN" sz="980" dirty="0">
                  <a:solidFill>
                    <a:schemeClr val="accent5"/>
                  </a:solidFill>
                  <a:latin typeface="+mn-lt"/>
                  <a:ea typeface="+mn-ea"/>
                  <a:cs typeface="+mn-cs"/>
                </a:rPr>
                <a:t> Water carries mass &amp; energy; solvent and transport agent</a:t>
              </a:r>
            </a:p>
          </p:txBody>
        </p:sp>
      </p:grpSp>
      <p:sp>
        <p:nvSpPr>
          <p:cNvPr id="52" name="TextBox 52"/>
          <p:cNvSpPr txBox="1"/>
          <p:nvPr/>
        </p:nvSpPr>
        <p:spPr>
          <a:xfrm>
            <a:off x="376238" y="6532245"/>
            <a:ext cx="4995486" cy="176212"/>
          </a:xfrm>
          <a:prstGeom prst="rect">
            <a:avLst/>
          </a:prstGeom>
          <a:noFill/>
          <a:ln>
            <a:noFill/>
          </a:ln>
        </p:spPr>
        <p:txBody>
          <a:bodyPr wrap="none" lIns="0" tIns="0" rIns="0" bIns="0" anchor="t" anchorCtr="0">
            <a:spAutoFit/>
          </a:bodyPr>
          <a:lstStyle/>
          <a:p>
            <a:pPr algn="l"/>
            <a:r>
              <a:rPr lang="zh-CN" sz="900" dirty="0">
                <a:solidFill>
                  <a:schemeClr val="accent5"/>
                </a:solidFill>
                <a:latin typeface="+mn-lt"/>
                <a:ea typeface="+mn-ea"/>
                <a:cs typeface="+mn-cs"/>
              </a:rPr>
              <a:t>Redrawn from approved sources: W-02, W-06, and Source Matrix rows for Slide 18.</a:t>
            </a:r>
          </a:p>
        </p:txBody>
      </p:sp>
      <p:sp>
        <p:nvSpPr>
          <p:cNvPr id="53" name="TextBox 53"/>
          <p:cNvSpPr txBox="1"/>
          <p:nvPr/>
        </p:nvSpPr>
        <p:spPr>
          <a:xfrm>
            <a:off x="11672964" y="6532245"/>
            <a:ext cx="142799" cy="176212"/>
          </a:xfrm>
          <a:prstGeom prst="rect">
            <a:avLst/>
          </a:prstGeom>
          <a:noFill/>
          <a:ln>
            <a:noFill/>
          </a:ln>
        </p:spPr>
        <p:txBody>
          <a:bodyPr wrap="none" lIns="0" tIns="0" rIns="0" bIns="0" anchor="t" anchorCtr="0">
            <a:spAutoFit/>
          </a:bodyPr>
          <a:lstStyle/>
          <a:p>
            <a:pPr algn="r"/>
            <a:r>
              <a:rPr lang="zh-CN" sz="900" dirty="0">
                <a:solidFill>
                  <a:schemeClr val="accent5"/>
                </a:solidFill>
                <a:latin typeface="+mn-lt"/>
                <a:ea typeface="+mn-ea"/>
                <a:cs typeface="+mn-cs"/>
              </a:rPr>
              <a:t>18</a:t>
            </a:r>
          </a:p>
        </p:txBody>
      </p:sp>
    </p:spTree>
    <p:extLst>
      <p:ext uri="{BB962C8B-B14F-4D97-AF65-F5344CB8AC3E}">
        <p14:creationId xmlns:p14="http://schemas.microsoft.com/office/powerpoint/2010/main" val="1468616599"/>
      </p:ext>
    </p:extLst>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5"/>
          <p:cNvGrpSpPr/>
          <p:nvPr/>
        </p:nvGrpSpPr>
        <p:grpSpPr>
          <a:xfrm>
            <a:off x="0" y="0"/>
            <a:ext cx="12192000" cy="685800"/>
            <a:chOff x="0" y="0"/>
            <a:chExt cx="12192000" cy="685800"/>
          </a:xfrm>
        </p:grpSpPr>
        <p:sp>
          <p:nvSpPr>
            <p:cNvPr id="2" name="Rectangle 2"/>
            <p:cNvSpPr/>
            <p:nvPr/>
          </p:nvSpPr>
          <p:spPr>
            <a:xfrm>
              <a:off x="0" y="0"/>
              <a:ext cx="12192000" cy="685800"/>
            </a:xfrm>
            <a:prstGeom prst="rect">
              <a:avLst/>
            </a:prstGeom>
            <a:solidFill>
              <a:schemeClr val="accent1"/>
            </a:solidFill>
            <a:ln>
              <a:noFill/>
            </a:ln>
          </p:spPr>
        </p:sp>
        <p:sp>
          <p:nvSpPr>
            <p:cNvPr id="3" name="TextBox 3"/>
            <p:cNvSpPr txBox="1"/>
            <p:nvPr/>
          </p:nvSpPr>
          <p:spPr>
            <a:xfrm>
              <a:off x="374142" y="282892"/>
              <a:ext cx="2895280" cy="264033"/>
            </a:xfrm>
            <a:prstGeom prst="rect">
              <a:avLst/>
            </a:prstGeom>
            <a:noFill/>
            <a:ln>
              <a:noFill/>
            </a:ln>
          </p:spPr>
          <p:txBody>
            <a:bodyPr wrap="none" lIns="0" tIns="0" rIns="0" bIns="0" anchor="t" anchorCtr="0">
              <a:spAutoFit/>
            </a:bodyPr>
            <a:lstStyle/>
            <a:p>
              <a:pPr algn="l"/>
              <a:r>
                <a:rPr lang="zh-CN" sz="1350" b="1" dirty="0">
                  <a:solidFill>
                    <a:srgbClr val="FFFFFF"/>
                  </a:solidFill>
                  <a:latin typeface="+mn-lt"/>
                  <a:ea typeface="+mn-ea"/>
                  <a:cs typeface="+mn-cs"/>
                </a:rPr>
                <a:t>1.16 课堂读图 | Concept Check 1</a:t>
              </a:r>
            </a:p>
          </p:txBody>
        </p:sp>
        <p:sp>
          <p:nvSpPr>
            <p:cNvPr id="4" name="TextBox 4"/>
            <p:cNvSpPr txBox="1"/>
            <p:nvPr/>
          </p:nvSpPr>
          <p:spPr>
            <a:xfrm>
              <a:off x="10593019" y="299085"/>
              <a:ext cx="1224077" cy="234696"/>
            </a:xfrm>
            <a:prstGeom prst="rect">
              <a:avLst/>
            </a:prstGeom>
            <a:noFill/>
            <a:ln>
              <a:noFill/>
            </a:ln>
          </p:spPr>
          <p:txBody>
            <a:bodyPr wrap="none" lIns="0" tIns="0" rIns="0" bIns="0" anchor="t" anchorCtr="0">
              <a:spAutoFit/>
            </a:bodyPr>
            <a:lstStyle/>
            <a:p>
              <a:pPr algn="r"/>
              <a:r>
                <a:rPr lang="zh-CN" sz="1200" dirty="0">
                  <a:solidFill>
                    <a:srgbClr val="C7D7F2"/>
                  </a:solidFill>
                  <a:latin typeface="+mn-lt"/>
                  <a:ea typeface="+mn-ea"/>
                  <a:cs typeface="+mn-cs"/>
                </a:rPr>
                <a:t>CONCEPT CHECK</a:t>
              </a:r>
            </a:p>
          </p:txBody>
        </p:sp>
      </p:grpSp>
      <p:grpSp>
        <p:nvGrpSpPr>
          <p:cNvPr id="8" name="Group 8"/>
          <p:cNvGrpSpPr/>
          <p:nvPr/>
        </p:nvGrpSpPr>
        <p:grpSpPr>
          <a:xfrm>
            <a:off x="381000" y="914400"/>
            <a:ext cx="4858842" cy="357093"/>
            <a:chOff x="381000" y="914400"/>
            <a:chExt cx="4858842" cy="357093"/>
          </a:xfrm>
        </p:grpSpPr>
        <p:sp>
          <p:nvSpPr>
            <p:cNvPr id="6" name="Rectangle 6"/>
            <p:cNvSpPr/>
            <p:nvPr/>
          </p:nvSpPr>
          <p:spPr>
            <a:xfrm>
              <a:off x="381000" y="914400"/>
              <a:ext cx="57150" cy="266700"/>
            </a:xfrm>
            <a:prstGeom prst="roundRect">
              <a:avLst>
                <a:gd name="adj" fmla="val 50000"/>
              </a:avLst>
            </a:prstGeom>
            <a:solidFill>
              <a:schemeClr val="accent2"/>
            </a:solidFill>
            <a:ln>
              <a:noFill/>
            </a:ln>
          </p:spPr>
        </p:sp>
        <p:sp>
          <p:nvSpPr>
            <p:cNvPr id="7" name="TextBox 7"/>
            <p:cNvSpPr txBox="1"/>
            <p:nvPr/>
          </p:nvSpPr>
          <p:spPr>
            <a:xfrm>
              <a:off x="544449" y="963454"/>
              <a:ext cx="4695393" cy="308039"/>
            </a:xfrm>
            <a:prstGeom prst="rect">
              <a:avLst/>
            </a:prstGeom>
            <a:noFill/>
            <a:ln>
              <a:noFill/>
            </a:ln>
          </p:spPr>
          <p:txBody>
            <a:bodyPr wrap="none" lIns="0" tIns="0" rIns="0" bIns="0" anchor="t" anchorCtr="0">
              <a:spAutoFit/>
            </a:bodyPr>
            <a:lstStyle/>
            <a:p>
              <a:pPr algn="l"/>
              <a:r>
                <a:rPr lang="zh-CN" sz="1580" b="1" dirty="0">
                  <a:solidFill>
                    <a:schemeClr val="accent1"/>
                  </a:solidFill>
                  <a:latin typeface="+mn-lt"/>
                  <a:ea typeface="+mn-ea"/>
                  <a:cs typeface="+mn-cs"/>
                </a:rPr>
                <a:t>先读图再回答：储库、通量、快慢路径与能量入口</a:t>
              </a:r>
            </a:p>
          </p:txBody>
        </p:sp>
      </p:grpSp>
      <p:grpSp>
        <p:nvGrpSpPr>
          <p:cNvPr id="15" name="Group 15"/>
          <p:cNvGrpSpPr/>
          <p:nvPr/>
        </p:nvGrpSpPr>
        <p:grpSpPr>
          <a:xfrm>
            <a:off x="381000" y="1447800"/>
            <a:ext cx="8058150" cy="4781550"/>
            <a:chOff x="381000" y="1447800"/>
            <a:chExt cx="8058150" cy="4781550"/>
          </a:xfrm>
        </p:grpSpPr>
        <p:sp>
          <p:nvSpPr>
            <p:cNvPr id="9" name="Rectangle 9"/>
            <p:cNvSpPr/>
            <p:nvPr/>
          </p:nvSpPr>
          <p:spPr>
            <a:xfrm>
              <a:off x="381000" y="1447800"/>
              <a:ext cx="8058150" cy="4781550"/>
            </a:xfrm>
            <a:prstGeom prst="roundRect">
              <a:avLst>
                <a:gd name="adj" fmla="val 2390"/>
              </a:avLst>
            </a:prstGeom>
            <a:solidFill>
              <a:schemeClr val="lt2"/>
            </a:solidFill>
            <a:ln w="9525">
              <a:solidFill>
                <a:schemeClr val="accent6"/>
              </a:solidFill>
            </a:ln>
          </p:spPr>
        </p:sp>
        <p:pic>
          <p:nvPicPr>
            <p:cNvPr id="10" name="Image 10"/>
            <p:cNvPicPr>
              <a:picLocks noChangeAspect="1"/>
            </p:cNvPicPr>
            <p:nvPr/>
          </p:nvPicPr>
          <p:blipFill>
            <a:blip r:embed="rId3"/>
            <a:stretch>
              <a:fillRect/>
            </a:stretch>
          </p:blipFill>
          <p:spPr>
            <a:xfrm>
              <a:off x="700509" y="1562100"/>
              <a:ext cx="7419132" cy="4419600"/>
            </a:xfrm>
            <a:prstGeom prst="rect">
              <a:avLst/>
            </a:prstGeom>
          </p:spPr>
        </p:pic>
        <p:sp>
          <p:nvSpPr>
            <p:cNvPr id="11" name="Rectangle 11"/>
            <p:cNvSpPr/>
            <p:nvPr/>
          </p:nvSpPr>
          <p:spPr>
            <a:xfrm>
              <a:off x="552450" y="5772150"/>
              <a:ext cx="3009900" cy="304800"/>
            </a:xfrm>
            <a:prstGeom prst="roundRect">
              <a:avLst>
                <a:gd name="adj" fmla="val 37500"/>
              </a:avLst>
            </a:prstGeom>
            <a:solidFill>
              <a:schemeClr val="lt1"/>
            </a:solidFill>
            <a:ln w="9525">
              <a:solidFill>
                <a:schemeClr val="accent6"/>
              </a:solidFill>
            </a:ln>
          </p:spPr>
        </p:sp>
        <p:sp>
          <p:nvSpPr>
            <p:cNvPr id="12" name="TextBox 12"/>
            <p:cNvSpPr txBox="1"/>
            <p:nvPr/>
          </p:nvSpPr>
          <p:spPr>
            <a:xfrm>
              <a:off x="699897" y="5866924"/>
              <a:ext cx="1048415" cy="190690"/>
            </a:xfrm>
            <a:prstGeom prst="rect">
              <a:avLst/>
            </a:prstGeom>
            <a:noFill/>
            <a:ln>
              <a:noFill/>
            </a:ln>
          </p:spPr>
          <p:txBody>
            <a:bodyPr wrap="none" lIns="0" tIns="0" rIns="0" bIns="0" anchor="t" anchorCtr="0">
              <a:spAutoFit/>
            </a:bodyPr>
            <a:lstStyle/>
            <a:p>
              <a:pPr algn="l"/>
              <a:r>
                <a:rPr lang="zh-CN" sz="980" b="1" dirty="0">
                  <a:solidFill>
                    <a:schemeClr val="accent2"/>
                  </a:solidFill>
                  <a:latin typeface="+mn-lt"/>
                  <a:ea typeface="+mn-ea"/>
                  <a:cs typeface="+mn-cs"/>
                </a:rPr>
                <a:t>Reservoirs 储库</a:t>
              </a:r>
            </a:p>
          </p:txBody>
        </p:sp>
        <p:sp>
          <p:nvSpPr>
            <p:cNvPr id="13" name="TextBox 13"/>
            <p:cNvSpPr txBox="1"/>
            <p:nvPr/>
          </p:nvSpPr>
          <p:spPr>
            <a:xfrm>
              <a:off x="1938147" y="5866924"/>
              <a:ext cx="82466" cy="190690"/>
            </a:xfrm>
            <a:prstGeom prst="rect">
              <a:avLst/>
            </a:prstGeom>
            <a:noFill/>
            <a:ln>
              <a:noFill/>
            </a:ln>
          </p:spPr>
          <p:txBody>
            <a:bodyPr wrap="none" lIns="0" tIns="0" rIns="0" bIns="0" anchor="t" anchorCtr="0">
              <a:spAutoFit/>
            </a:bodyPr>
            <a:lstStyle/>
            <a:p>
              <a:pPr algn="l"/>
              <a:r>
                <a:rPr lang="zh-CN" sz="980" dirty="0">
                  <a:solidFill>
                    <a:schemeClr val="accent5"/>
                  </a:solidFill>
                  <a:latin typeface="+mn-lt"/>
                  <a:ea typeface="+mn-ea"/>
                  <a:cs typeface="+mn-cs"/>
                </a:rPr>
                <a:t>→</a:t>
              </a:r>
            </a:p>
          </p:txBody>
        </p:sp>
        <p:sp>
          <p:nvSpPr>
            <p:cNvPr id="14" name="TextBox 14"/>
            <p:cNvSpPr txBox="1"/>
            <p:nvPr/>
          </p:nvSpPr>
          <p:spPr>
            <a:xfrm>
              <a:off x="2204847" y="5866924"/>
              <a:ext cx="744684" cy="190690"/>
            </a:xfrm>
            <a:prstGeom prst="rect">
              <a:avLst/>
            </a:prstGeom>
            <a:noFill/>
            <a:ln>
              <a:noFill/>
            </a:ln>
          </p:spPr>
          <p:txBody>
            <a:bodyPr wrap="none" lIns="0" tIns="0" rIns="0" bIns="0" anchor="t" anchorCtr="0">
              <a:spAutoFit/>
            </a:bodyPr>
            <a:lstStyle/>
            <a:p>
              <a:pPr algn="l"/>
              <a:r>
                <a:rPr lang="zh-CN" sz="980" b="1" dirty="0">
                  <a:solidFill>
                    <a:schemeClr val="accent1"/>
                  </a:solidFill>
                  <a:latin typeface="+mn-lt"/>
                  <a:ea typeface="+mn-ea"/>
                  <a:cs typeface="+mn-cs"/>
                </a:rPr>
                <a:t>Fluxes 通量</a:t>
              </a:r>
            </a:p>
          </p:txBody>
        </p:sp>
      </p:grpSp>
      <p:grpSp>
        <p:nvGrpSpPr>
          <p:cNvPr id="22" name="Group 22"/>
          <p:cNvGrpSpPr/>
          <p:nvPr/>
        </p:nvGrpSpPr>
        <p:grpSpPr>
          <a:xfrm>
            <a:off x="8705850" y="1447800"/>
            <a:ext cx="3105150" cy="1047750"/>
            <a:chOff x="8705850" y="1447800"/>
            <a:chExt cx="3105150" cy="1047750"/>
          </a:xfrm>
        </p:grpSpPr>
        <p:sp>
          <p:nvSpPr>
            <p:cNvPr id="16" name="Rectangle 16"/>
            <p:cNvSpPr/>
            <p:nvPr/>
          </p:nvSpPr>
          <p:spPr>
            <a:xfrm>
              <a:off x="8705850" y="1447800"/>
              <a:ext cx="3105150" cy="1047750"/>
            </a:xfrm>
            <a:prstGeom prst="roundRect">
              <a:avLst>
                <a:gd name="adj" fmla="val 10909"/>
              </a:avLst>
            </a:prstGeom>
            <a:solidFill>
              <a:schemeClr val="lt2"/>
            </a:solidFill>
            <a:ln w="9525">
              <a:solidFill>
                <a:schemeClr val="accent6"/>
              </a:solidFill>
            </a:ln>
          </p:spPr>
        </p:sp>
        <p:sp>
          <p:nvSpPr>
            <p:cNvPr id="17" name="Ellipse 17"/>
            <p:cNvSpPr/>
            <p:nvPr/>
          </p:nvSpPr>
          <p:spPr>
            <a:xfrm>
              <a:off x="8877300" y="1619250"/>
              <a:ext cx="419100" cy="419100"/>
            </a:xfrm>
            <a:prstGeom prst="ellipse">
              <a:avLst/>
            </a:prstGeom>
            <a:solidFill>
              <a:schemeClr val="accent2"/>
            </a:solidFill>
            <a:ln>
              <a:noFill/>
            </a:ln>
          </p:spPr>
        </p:sp>
        <p:sp>
          <p:nvSpPr>
            <p:cNvPr id="18" name="TextBox 18"/>
            <p:cNvSpPr txBox="1"/>
            <p:nvPr/>
          </p:nvSpPr>
          <p:spPr>
            <a:xfrm>
              <a:off x="9034108" y="1765935"/>
              <a:ext cx="105484" cy="234696"/>
            </a:xfrm>
            <a:prstGeom prst="rect">
              <a:avLst/>
            </a:prstGeom>
            <a:noFill/>
            <a:ln>
              <a:noFill/>
            </a:ln>
          </p:spPr>
          <p:txBody>
            <a:bodyPr wrap="none" lIns="0" tIns="0" rIns="0" bIns="0" anchor="t" anchorCtr="0">
              <a:spAutoFit/>
            </a:bodyPr>
            <a:lstStyle/>
            <a:p>
              <a:pPr algn="ctr"/>
              <a:r>
                <a:rPr lang="zh-CN" sz="1200" b="1" dirty="0">
                  <a:solidFill>
                    <a:srgbClr val="FFFFFF"/>
                  </a:solidFill>
                  <a:latin typeface="+mn-lt"/>
                  <a:ea typeface="+mn-ea"/>
                  <a:cs typeface="+mn-cs"/>
                </a:rPr>
                <a:t>1</a:t>
              </a:r>
            </a:p>
          </p:txBody>
        </p:sp>
        <p:sp>
          <p:nvSpPr>
            <p:cNvPr id="19" name="TextBox 19"/>
            <p:cNvSpPr txBox="1"/>
            <p:nvPr/>
          </p:nvSpPr>
          <p:spPr>
            <a:xfrm>
              <a:off x="9423654" y="1661160"/>
              <a:ext cx="1548642" cy="234696"/>
            </a:xfrm>
            <a:prstGeom prst="rect">
              <a:avLst/>
            </a:prstGeom>
            <a:noFill/>
            <a:ln>
              <a:noFill/>
            </a:ln>
          </p:spPr>
          <p:txBody>
            <a:bodyPr wrap="none" lIns="0" tIns="0" rIns="0" bIns="0" anchor="t" anchorCtr="0">
              <a:spAutoFit/>
            </a:bodyPr>
            <a:lstStyle/>
            <a:p>
              <a:pPr algn="l"/>
              <a:r>
                <a:rPr lang="zh-CN" sz="1200" b="1" dirty="0">
                  <a:solidFill>
                    <a:schemeClr val="accent1"/>
                  </a:solidFill>
                  <a:latin typeface="+mn-lt"/>
                  <a:ea typeface="+mn-ea"/>
                  <a:cs typeface="+mn-cs"/>
                </a:rPr>
                <a:t>找储库 | Reservoirs</a:t>
              </a:r>
            </a:p>
          </p:txBody>
        </p:sp>
        <p:sp>
          <p:nvSpPr>
            <p:cNvPr id="20" name="TextBox 20"/>
            <p:cNvSpPr txBox="1"/>
            <p:nvPr/>
          </p:nvSpPr>
          <p:spPr>
            <a:xfrm>
              <a:off x="8948547" y="2009299"/>
              <a:ext cx="1593037" cy="190690"/>
            </a:xfrm>
            <a:prstGeom prst="rect">
              <a:avLst/>
            </a:prstGeom>
            <a:noFill/>
            <a:ln>
              <a:noFill/>
            </a:ln>
          </p:spPr>
          <p:txBody>
            <a:bodyPr wrap="none" lIns="0" tIns="0" rIns="0" bIns="0" anchor="t" anchorCtr="0">
              <a:spAutoFit/>
            </a:bodyPr>
            <a:lstStyle/>
            <a:p>
              <a:pPr algn="l"/>
              <a:r>
                <a:rPr lang="zh-CN" sz="980" dirty="0">
                  <a:solidFill>
                    <a:schemeClr val="dk1"/>
                  </a:solidFill>
                  <a:latin typeface="+mn-lt"/>
                  <a:ea typeface="+mn-ea"/>
                  <a:cs typeface="+mn-cs"/>
                </a:rPr>
                <a:t>在图中至少指出四个储库。</a:t>
              </a:r>
            </a:p>
          </p:txBody>
        </p:sp>
        <p:sp>
          <p:nvSpPr>
            <p:cNvPr id="21" name="TextBox 21"/>
            <p:cNvSpPr txBox="1"/>
            <p:nvPr/>
          </p:nvSpPr>
          <p:spPr>
            <a:xfrm>
              <a:off x="8948547" y="2218849"/>
              <a:ext cx="2019746" cy="190690"/>
            </a:xfrm>
            <a:prstGeom prst="rect">
              <a:avLst/>
            </a:prstGeom>
            <a:noFill/>
            <a:ln>
              <a:noFill/>
            </a:ln>
          </p:spPr>
          <p:txBody>
            <a:bodyPr wrap="none" lIns="0" tIns="0" rIns="0" bIns="0" anchor="t" anchorCtr="0">
              <a:spAutoFit/>
            </a:bodyPr>
            <a:lstStyle/>
            <a:p>
              <a:pPr algn="l"/>
              <a:r>
                <a:rPr lang="zh-CN" sz="980" dirty="0">
                  <a:solidFill>
                    <a:schemeClr val="accent5"/>
                  </a:solidFill>
                  <a:latin typeface="+mn-lt"/>
                  <a:ea typeface="+mn-ea"/>
                  <a:cs typeface="+mn-cs"/>
                </a:rPr>
                <a:t>Name at least four reservoirs.</a:t>
              </a:r>
            </a:p>
          </p:txBody>
        </p:sp>
      </p:grpSp>
      <p:grpSp>
        <p:nvGrpSpPr>
          <p:cNvPr id="29" name="Group 29"/>
          <p:cNvGrpSpPr/>
          <p:nvPr/>
        </p:nvGrpSpPr>
        <p:grpSpPr>
          <a:xfrm>
            <a:off x="8705850" y="2609850"/>
            <a:ext cx="3105150" cy="1047750"/>
            <a:chOff x="8705850" y="2609850"/>
            <a:chExt cx="3105150" cy="1047750"/>
          </a:xfrm>
        </p:grpSpPr>
        <p:sp>
          <p:nvSpPr>
            <p:cNvPr id="23" name="Rectangle 23"/>
            <p:cNvSpPr/>
            <p:nvPr/>
          </p:nvSpPr>
          <p:spPr>
            <a:xfrm>
              <a:off x="8705850" y="2609850"/>
              <a:ext cx="3105150" cy="1047750"/>
            </a:xfrm>
            <a:prstGeom prst="roundRect">
              <a:avLst>
                <a:gd name="adj" fmla="val 10909"/>
              </a:avLst>
            </a:prstGeom>
            <a:solidFill>
              <a:schemeClr val="lt2"/>
            </a:solidFill>
            <a:ln w="9525">
              <a:solidFill>
                <a:schemeClr val="accent6"/>
              </a:solidFill>
            </a:ln>
          </p:spPr>
        </p:sp>
        <p:sp>
          <p:nvSpPr>
            <p:cNvPr id="24" name="Ellipse 24"/>
            <p:cNvSpPr/>
            <p:nvPr/>
          </p:nvSpPr>
          <p:spPr>
            <a:xfrm>
              <a:off x="8877300" y="2781300"/>
              <a:ext cx="419100" cy="419100"/>
            </a:xfrm>
            <a:prstGeom prst="ellipse">
              <a:avLst/>
            </a:prstGeom>
            <a:solidFill>
              <a:srgbClr val="3D7BD9"/>
            </a:solidFill>
            <a:ln>
              <a:noFill/>
            </a:ln>
          </p:spPr>
        </p:sp>
        <p:sp>
          <p:nvSpPr>
            <p:cNvPr id="25" name="TextBox 25"/>
            <p:cNvSpPr txBox="1"/>
            <p:nvPr/>
          </p:nvSpPr>
          <p:spPr>
            <a:xfrm>
              <a:off x="9034108" y="2927985"/>
              <a:ext cx="105484" cy="234696"/>
            </a:xfrm>
            <a:prstGeom prst="rect">
              <a:avLst/>
            </a:prstGeom>
            <a:noFill/>
            <a:ln>
              <a:noFill/>
            </a:ln>
          </p:spPr>
          <p:txBody>
            <a:bodyPr wrap="none" lIns="0" tIns="0" rIns="0" bIns="0" anchor="t" anchorCtr="0">
              <a:spAutoFit/>
            </a:bodyPr>
            <a:lstStyle/>
            <a:p>
              <a:pPr algn="ctr"/>
              <a:r>
                <a:rPr lang="zh-CN" sz="1200" b="1" dirty="0">
                  <a:solidFill>
                    <a:srgbClr val="FFFFFF"/>
                  </a:solidFill>
                  <a:latin typeface="+mn-lt"/>
                  <a:ea typeface="+mn-ea"/>
                  <a:cs typeface="+mn-cs"/>
                </a:rPr>
                <a:t>2</a:t>
              </a:r>
            </a:p>
          </p:txBody>
        </p:sp>
        <p:sp>
          <p:nvSpPr>
            <p:cNvPr id="26" name="TextBox 26"/>
            <p:cNvSpPr txBox="1"/>
            <p:nvPr/>
          </p:nvSpPr>
          <p:spPr>
            <a:xfrm>
              <a:off x="9423654" y="2823210"/>
              <a:ext cx="1177721" cy="234696"/>
            </a:xfrm>
            <a:prstGeom prst="rect">
              <a:avLst/>
            </a:prstGeom>
            <a:noFill/>
            <a:ln>
              <a:noFill/>
            </a:ln>
          </p:spPr>
          <p:txBody>
            <a:bodyPr wrap="none" lIns="0" tIns="0" rIns="0" bIns="0" anchor="t" anchorCtr="0">
              <a:spAutoFit/>
            </a:bodyPr>
            <a:lstStyle/>
            <a:p>
              <a:pPr algn="l"/>
              <a:r>
                <a:rPr lang="zh-CN" sz="1200" b="1" dirty="0">
                  <a:solidFill>
                    <a:schemeClr val="accent1"/>
                  </a:solidFill>
                  <a:latin typeface="+mn-lt"/>
                  <a:ea typeface="+mn-ea"/>
                  <a:cs typeface="+mn-cs"/>
                </a:rPr>
                <a:t>读通量 | Fluxes</a:t>
              </a:r>
            </a:p>
          </p:txBody>
        </p:sp>
        <p:sp>
          <p:nvSpPr>
            <p:cNvPr id="27" name="TextBox 27"/>
            <p:cNvSpPr txBox="1"/>
            <p:nvPr/>
          </p:nvSpPr>
          <p:spPr>
            <a:xfrm>
              <a:off x="8948547" y="3171349"/>
              <a:ext cx="1724965" cy="190690"/>
            </a:xfrm>
            <a:prstGeom prst="rect">
              <a:avLst/>
            </a:prstGeom>
            <a:noFill/>
            <a:ln>
              <a:noFill/>
            </a:ln>
          </p:spPr>
          <p:txBody>
            <a:bodyPr wrap="none" lIns="0" tIns="0" rIns="0" bIns="0" anchor="t" anchorCtr="0">
              <a:spAutoFit/>
            </a:bodyPr>
            <a:lstStyle/>
            <a:p>
              <a:pPr algn="l"/>
              <a:r>
                <a:rPr lang="zh-CN" sz="980" dirty="0">
                  <a:solidFill>
                    <a:schemeClr val="dk1"/>
                  </a:solidFill>
                  <a:latin typeface="+mn-lt"/>
                  <a:ea typeface="+mn-ea"/>
                  <a:cs typeface="+mn-cs"/>
                </a:rPr>
                <a:t>至少指出四个通量（箭头）。</a:t>
              </a:r>
            </a:p>
          </p:txBody>
        </p:sp>
        <p:sp>
          <p:nvSpPr>
            <p:cNvPr id="28" name="TextBox 28"/>
            <p:cNvSpPr txBox="1"/>
            <p:nvPr/>
          </p:nvSpPr>
          <p:spPr>
            <a:xfrm>
              <a:off x="8948547" y="3380899"/>
              <a:ext cx="2376361" cy="190690"/>
            </a:xfrm>
            <a:prstGeom prst="rect">
              <a:avLst/>
            </a:prstGeom>
            <a:noFill/>
            <a:ln>
              <a:noFill/>
            </a:ln>
          </p:spPr>
          <p:txBody>
            <a:bodyPr wrap="none" lIns="0" tIns="0" rIns="0" bIns="0" anchor="t" anchorCtr="0">
              <a:spAutoFit/>
            </a:bodyPr>
            <a:lstStyle/>
            <a:p>
              <a:pPr algn="l"/>
              <a:r>
                <a:rPr lang="zh-CN" sz="980" dirty="0">
                  <a:solidFill>
                    <a:schemeClr val="accent5"/>
                  </a:solidFill>
                  <a:latin typeface="+mn-lt"/>
                  <a:ea typeface="+mn-ea"/>
                  <a:cs typeface="+mn-cs"/>
                </a:rPr>
                <a:t>Name at least four fluxes (arrows).</a:t>
              </a:r>
            </a:p>
          </p:txBody>
        </p:sp>
      </p:grpSp>
      <p:grpSp>
        <p:nvGrpSpPr>
          <p:cNvPr id="36" name="Group 36"/>
          <p:cNvGrpSpPr/>
          <p:nvPr/>
        </p:nvGrpSpPr>
        <p:grpSpPr>
          <a:xfrm>
            <a:off x="8705850" y="3771900"/>
            <a:ext cx="3105150" cy="1047750"/>
            <a:chOff x="8705850" y="3771900"/>
            <a:chExt cx="3105150" cy="1047750"/>
          </a:xfrm>
        </p:grpSpPr>
        <p:sp>
          <p:nvSpPr>
            <p:cNvPr id="30" name="Rectangle 30"/>
            <p:cNvSpPr/>
            <p:nvPr/>
          </p:nvSpPr>
          <p:spPr>
            <a:xfrm>
              <a:off x="8705850" y="3771900"/>
              <a:ext cx="3105150" cy="1047750"/>
            </a:xfrm>
            <a:prstGeom prst="roundRect">
              <a:avLst>
                <a:gd name="adj" fmla="val 10909"/>
              </a:avLst>
            </a:prstGeom>
            <a:solidFill>
              <a:schemeClr val="lt2"/>
            </a:solidFill>
            <a:ln w="9525">
              <a:solidFill>
                <a:schemeClr val="accent6"/>
              </a:solidFill>
            </a:ln>
          </p:spPr>
        </p:sp>
        <p:sp>
          <p:nvSpPr>
            <p:cNvPr id="31" name="Ellipse 31"/>
            <p:cNvSpPr/>
            <p:nvPr/>
          </p:nvSpPr>
          <p:spPr>
            <a:xfrm>
              <a:off x="8877300" y="3943350"/>
              <a:ext cx="419100" cy="419100"/>
            </a:xfrm>
            <a:prstGeom prst="ellipse">
              <a:avLst/>
            </a:prstGeom>
            <a:solidFill>
              <a:schemeClr val="accent1"/>
            </a:solidFill>
            <a:ln>
              <a:noFill/>
            </a:ln>
          </p:spPr>
        </p:sp>
        <p:sp>
          <p:nvSpPr>
            <p:cNvPr id="32" name="TextBox 32"/>
            <p:cNvSpPr txBox="1"/>
            <p:nvPr/>
          </p:nvSpPr>
          <p:spPr>
            <a:xfrm>
              <a:off x="9034108" y="4090035"/>
              <a:ext cx="105484" cy="234696"/>
            </a:xfrm>
            <a:prstGeom prst="rect">
              <a:avLst/>
            </a:prstGeom>
            <a:noFill/>
            <a:ln>
              <a:noFill/>
            </a:ln>
          </p:spPr>
          <p:txBody>
            <a:bodyPr wrap="none" lIns="0" tIns="0" rIns="0" bIns="0" anchor="t" anchorCtr="0">
              <a:spAutoFit/>
            </a:bodyPr>
            <a:lstStyle/>
            <a:p>
              <a:pPr algn="ctr"/>
              <a:r>
                <a:rPr lang="zh-CN" sz="1200" b="1" dirty="0">
                  <a:solidFill>
                    <a:srgbClr val="FFFFFF"/>
                  </a:solidFill>
                  <a:latin typeface="+mn-lt"/>
                  <a:ea typeface="+mn-ea"/>
                  <a:cs typeface="+mn-cs"/>
                </a:rPr>
                <a:t>3</a:t>
              </a:r>
            </a:p>
          </p:txBody>
        </p:sp>
        <p:sp>
          <p:nvSpPr>
            <p:cNvPr id="33" name="TextBox 33"/>
            <p:cNvSpPr txBox="1"/>
            <p:nvPr/>
          </p:nvSpPr>
          <p:spPr>
            <a:xfrm>
              <a:off x="9423654" y="3985260"/>
              <a:ext cx="1964733" cy="234696"/>
            </a:xfrm>
            <a:prstGeom prst="rect">
              <a:avLst/>
            </a:prstGeom>
            <a:noFill/>
            <a:ln>
              <a:noFill/>
            </a:ln>
          </p:spPr>
          <p:txBody>
            <a:bodyPr wrap="none" lIns="0" tIns="0" rIns="0" bIns="0" anchor="t" anchorCtr="0">
              <a:spAutoFit/>
            </a:bodyPr>
            <a:lstStyle/>
            <a:p>
              <a:pPr algn="l"/>
              <a:r>
                <a:rPr lang="zh-CN" sz="1200" b="1" dirty="0">
                  <a:solidFill>
                    <a:schemeClr val="accent1"/>
                  </a:solidFill>
                  <a:latin typeface="+mn-lt"/>
                  <a:ea typeface="+mn-ea"/>
                  <a:cs typeface="+mn-cs"/>
                </a:rPr>
                <a:t>比速度 | Faster &amp; slower</a:t>
              </a:r>
            </a:p>
          </p:txBody>
        </p:sp>
        <p:sp>
          <p:nvSpPr>
            <p:cNvPr id="34" name="TextBox 34"/>
            <p:cNvSpPr txBox="1"/>
            <p:nvPr/>
          </p:nvSpPr>
          <p:spPr>
            <a:xfrm>
              <a:off x="8948547" y="4333399"/>
              <a:ext cx="1856892" cy="190690"/>
            </a:xfrm>
            <a:prstGeom prst="rect">
              <a:avLst/>
            </a:prstGeom>
            <a:noFill/>
            <a:ln>
              <a:noFill/>
            </a:ln>
          </p:spPr>
          <p:txBody>
            <a:bodyPr wrap="none" lIns="0" tIns="0" rIns="0" bIns="0" anchor="t" anchorCtr="0">
              <a:spAutoFit/>
            </a:bodyPr>
            <a:lstStyle/>
            <a:p>
              <a:pPr algn="l"/>
              <a:r>
                <a:rPr lang="zh-CN" sz="980" dirty="0">
                  <a:solidFill>
                    <a:schemeClr val="dk1"/>
                  </a:solidFill>
                  <a:latin typeface="+mn-lt"/>
                  <a:ea typeface="+mn-ea"/>
                  <a:cs typeface="+mn-cs"/>
                </a:rPr>
                <a:t>指出一条较快与一条较慢路径。</a:t>
              </a:r>
            </a:p>
          </p:txBody>
        </p:sp>
        <p:sp>
          <p:nvSpPr>
            <p:cNvPr id="35" name="TextBox 35"/>
            <p:cNvSpPr txBox="1"/>
            <p:nvPr/>
          </p:nvSpPr>
          <p:spPr>
            <a:xfrm>
              <a:off x="8948547" y="4542949"/>
              <a:ext cx="2362965" cy="190690"/>
            </a:xfrm>
            <a:prstGeom prst="rect">
              <a:avLst/>
            </a:prstGeom>
            <a:noFill/>
            <a:ln>
              <a:noFill/>
            </a:ln>
          </p:spPr>
          <p:txBody>
            <a:bodyPr wrap="none" lIns="0" tIns="0" rIns="0" bIns="0" anchor="t" anchorCtr="0">
              <a:spAutoFit/>
            </a:bodyPr>
            <a:lstStyle/>
            <a:p>
              <a:pPr algn="l"/>
              <a:r>
                <a:rPr lang="zh-CN" sz="980" dirty="0">
                  <a:solidFill>
                    <a:schemeClr val="accent5"/>
                  </a:solidFill>
                  <a:latin typeface="+mn-lt"/>
                  <a:ea typeface="+mn-ea"/>
                  <a:cs typeface="+mn-cs"/>
                </a:rPr>
                <a:t>One faster and one slower pathway.</a:t>
              </a:r>
            </a:p>
          </p:txBody>
        </p:sp>
      </p:grpSp>
      <p:grpSp>
        <p:nvGrpSpPr>
          <p:cNvPr id="43" name="Group 43"/>
          <p:cNvGrpSpPr/>
          <p:nvPr/>
        </p:nvGrpSpPr>
        <p:grpSpPr>
          <a:xfrm>
            <a:off x="8705850" y="4933950"/>
            <a:ext cx="3105150" cy="1047750"/>
            <a:chOff x="8705850" y="4933950"/>
            <a:chExt cx="3105150" cy="1047750"/>
          </a:xfrm>
        </p:grpSpPr>
        <p:sp>
          <p:nvSpPr>
            <p:cNvPr id="37" name="Rectangle 37"/>
            <p:cNvSpPr/>
            <p:nvPr/>
          </p:nvSpPr>
          <p:spPr>
            <a:xfrm>
              <a:off x="8705850" y="4933950"/>
              <a:ext cx="3105150" cy="1047750"/>
            </a:xfrm>
            <a:prstGeom prst="roundRect">
              <a:avLst>
                <a:gd name="adj" fmla="val 10909"/>
              </a:avLst>
            </a:prstGeom>
            <a:solidFill>
              <a:srgbClr val="F0F5FC"/>
            </a:solidFill>
            <a:ln w="9525">
              <a:solidFill>
                <a:srgbClr val="B8C7DC"/>
              </a:solidFill>
            </a:ln>
          </p:spPr>
        </p:sp>
        <p:sp>
          <p:nvSpPr>
            <p:cNvPr id="38" name="Ellipse 38"/>
            <p:cNvSpPr/>
            <p:nvPr/>
          </p:nvSpPr>
          <p:spPr>
            <a:xfrm>
              <a:off x="8877300" y="5105400"/>
              <a:ext cx="419100" cy="419100"/>
            </a:xfrm>
            <a:prstGeom prst="ellipse">
              <a:avLst/>
            </a:prstGeom>
            <a:solidFill>
              <a:schemeClr val="accent2"/>
            </a:solidFill>
            <a:ln>
              <a:noFill/>
            </a:ln>
          </p:spPr>
        </p:sp>
        <p:sp>
          <p:nvSpPr>
            <p:cNvPr id="39" name="TextBox 39"/>
            <p:cNvSpPr txBox="1"/>
            <p:nvPr/>
          </p:nvSpPr>
          <p:spPr>
            <a:xfrm>
              <a:off x="9034108" y="5252085"/>
              <a:ext cx="105484" cy="234696"/>
            </a:xfrm>
            <a:prstGeom prst="rect">
              <a:avLst/>
            </a:prstGeom>
            <a:noFill/>
            <a:ln>
              <a:noFill/>
            </a:ln>
          </p:spPr>
          <p:txBody>
            <a:bodyPr wrap="none" lIns="0" tIns="0" rIns="0" bIns="0" anchor="t" anchorCtr="0">
              <a:spAutoFit/>
            </a:bodyPr>
            <a:lstStyle/>
            <a:p>
              <a:pPr algn="ctr"/>
              <a:r>
                <a:rPr lang="zh-CN" sz="1200" b="1" dirty="0">
                  <a:solidFill>
                    <a:srgbClr val="FFFFFF"/>
                  </a:solidFill>
                  <a:latin typeface="+mn-lt"/>
                  <a:ea typeface="+mn-ea"/>
                  <a:cs typeface="+mn-cs"/>
                </a:rPr>
                <a:t>4</a:t>
              </a:r>
            </a:p>
          </p:txBody>
        </p:sp>
        <p:sp>
          <p:nvSpPr>
            <p:cNvPr id="40" name="TextBox 40"/>
            <p:cNvSpPr txBox="1"/>
            <p:nvPr/>
          </p:nvSpPr>
          <p:spPr>
            <a:xfrm>
              <a:off x="9423654" y="5147310"/>
              <a:ext cx="1557171" cy="234696"/>
            </a:xfrm>
            <a:prstGeom prst="rect">
              <a:avLst/>
            </a:prstGeom>
            <a:noFill/>
            <a:ln>
              <a:noFill/>
            </a:ln>
          </p:spPr>
          <p:txBody>
            <a:bodyPr wrap="none" lIns="0" tIns="0" rIns="0" bIns="0" anchor="t" anchorCtr="0">
              <a:spAutoFit/>
            </a:bodyPr>
            <a:lstStyle/>
            <a:p>
              <a:pPr algn="l"/>
              <a:r>
                <a:rPr lang="zh-CN" sz="1200" b="1" dirty="0">
                  <a:solidFill>
                    <a:schemeClr val="accent1"/>
                  </a:solidFill>
                  <a:latin typeface="+mn-lt"/>
                  <a:ea typeface="+mn-ea"/>
                  <a:cs typeface="+mn-cs"/>
                </a:rPr>
                <a:t>找能量 | Solar input</a:t>
              </a:r>
            </a:p>
          </p:txBody>
        </p:sp>
        <p:sp>
          <p:nvSpPr>
            <p:cNvPr id="41" name="TextBox 41"/>
            <p:cNvSpPr txBox="1"/>
            <p:nvPr/>
          </p:nvSpPr>
          <p:spPr>
            <a:xfrm>
              <a:off x="8948547" y="5495449"/>
              <a:ext cx="1461110" cy="190690"/>
            </a:xfrm>
            <a:prstGeom prst="rect">
              <a:avLst/>
            </a:prstGeom>
            <a:noFill/>
            <a:ln>
              <a:noFill/>
            </a:ln>
          </p:spPr>
          <p:txBody>
            <a:bodyPr wrap="none" lIns="0" tIns="0" rIns="0" bIns="0" anchor="t" anchorCtr="0">
              <a:spAutoFit/>
            </a:bodyPr>
            <a:lstStyle/>
            <a:p>
              <a:pPr algn="l"/>
              <a:r>
                <a:rPr lang="zh-CN" sz="980" dirty="0">
                  <a:solidFill>
                    <a:schemeClr val="dk1"/>
                  </a:solidFill>
                  <a:latin typeface="+mn-lt"/>
                  <a:ea typeface="+mn-ea"/>
                  <a:cs typeface="+mn-cs"/>
                </a:rPr>
                <a:t>太阳能从哪里进入循环？</a:t>
              </a:r>
            </a:p>
          </p:txBody>
        </p:sp>
        <p:sp>
          <p:nvSpPr>
            <p:cNvPr id="42" name="TextBox 42"/>
            <p:cNvSpPr txBox="1"/>
            <p:nvPr/>
          </p:nvSpPr>
          <p:spPr>
            <a:xfrm>
              <a:off x="8948547" y="5704999"/>
              <a:ext cx="2052802" cy="190690"/>
            </a:xfrm>
            <a:prstGeom prst="rect">
              <a:avLst/>
            </a:prstGeom>
            <a:noFill/>
            <a:ln>
              <a:noFill/>
            </a:ln>
          </p:spPr>
          <p:txBody>
            <a:bodyPr wrap="none" lIns="0" tIns="0" rIns="0" bIns="0" anchor="t" anchorCtr="0">
              <a:spAutoFit/>
            </a:bodyPr>
            <a:lstStyle/>
            <a:p>
              <a:pPr algn="l"/>
              <a:r>
                <a:rPr lang="zh-CN" sz="980" dirty="0">
                  <a:solidFill>
                    <a:schemeClr val="accent5"/>
                  </a:solidFill>
                  <a:latin typeface="+mn-lt"/>
                  <a:ea typeface="+mn-ea"/>
                  <a:cs typeface="+mn-cs"/>
                </a:rPr>
                <a:t>Where does solar energy enter?</a:t>
              </a:r>
            </a:p>
          </p:txBody>
        </p:sp>
      </p:grpSp>
      <p:sp>
        <p:nvSpPr>
          <p:cNvPr id="44" name="TextBox 44"/>
          <p:cNvSpPr txBox="1"/>
          <p:nvPr/>
        </p:nvSpPr>
        <p:spPr>
          <a:xfrm>
            <a:off x="376238" y="6532245"/>
            <a:ext cx="6598349" cy="176212"/>
          </a:xfrm>
          <a:prstGeom prst="rect">
            <a:avLst/>
          </a:prstGeom>
          <a:noFill/>
          <a:ln>
            <a:noFill/>
          </a:ln>
        </p:spPr>
        <p:txBody>
          <a:bodyPr wrap="none" lIns="0" tIns="0" rIns="0" bIns="0" anchor="t" anchorCtr="0">
            <a:spAutoFit/>
          </a:bodyPr>
          <a:lstStyle/>
          <a:p>
            <a:pPr algn="l"/>
            <a:r>
              <a:rPr lang="zh-CN" sz="900" dirty="0">
                <a:solidFill>
                  <a:schemeClr val="accent5"/>
                </a:solidFill>
                <a:latin typeface="+mn-lt"/>
                <a:ea typeface="+mn-ea"/>
                <a:cs typeface="+mn-cs"/>
              </a:rPr>
              <a:t>Source: EP 5e, Interlude F, The Hydrologic Cycle, pp.580–581 (PDF pp.615–616); UE 8e, Ch.17, pp.1651–1654.</a:t>
            </a:r>
          </a:p>
        </p:txBody>
      </p:sp>
      <p:sp>
        <p:nvSpPr>
          <p:cNvPr id="45" name="TextBox 45"/>
          <p:cNvSpPr txBox="1"/>
          <p:nvPr/>
        </p:nvSpPr>
        <p:spPr>
          <a:xfrm>
            <a:off x="11672964" y="6532245"/>
            <a:ext cx="142799" cy="176212"/>
          </a:xfrm>
          <a:prstGeom prst="rect">
            <a:avLst/>
          </a:prstGeom>
          <a:noFill/>
          <a:ln>
            <a:noFill/>
          </a:ln>
        </p:spPr>
        <p:txBody>
          <a:bodyPr wrap="none" lIns="0" tIns="0" rIns="0" bIns="0" anchor="t" anchorCtr="0">
            <a:spAutoFit/>
          </a:bodyPr>
          <a:lstStyle/>
          <a:p>
            <a:pPr algn="r"/>
            <a:r>
              <a:rPr lang="zh-CN" sz="900" dirty="0">
                <a:solidFill>
                  <a:schemeClr val="accent5"/>
                </a:solidFill>
                <a:latin typeface="+mn-lt"/>
                <a:ea typeface="+mn-ea"/>
                <a:cs typeface="+mn-cs"/>
              </a:rPr>
              <a:t>19</a:t>
            </a:r>
          </a:p>
        </p:txBody>
      </p:sp>
    </p:spTree>
    <p:extLst>
      <p:ext uri="{BB962C8B-B14F-4D97-AF65-F5344CB8AC3E}">
        <p14:creationId xmlns:p14="http://schemas.microsoft.com/office/powerpoint/2010/main" val="1537659945"/>
      </p:ext>
    </p:extLst>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5"/>
          <p:cNvGrpSpPr/>
          <p:nvPr/>
        </p:nvGrpSpPr>
        <p:grpSpPr>
          <a:xfrm>
            <a:off x="0" y="0"/>
            <a:ext cx="12192000" cy="685800"/>
            <a:chOff x="0" y="0"/>
            <a:chExt cx="12192000" cy="685800"/>
          </a:xfrm>
        </p:grpSpPr>
        <p:sp>
          <p:nvSpPr>
            <p:cNvPr id="2" name="Rectangle 2"/>
            <p:cNvSpPr/>
            <p:nvPr/>
          </p:nvSpPr>
          <p:spPr>
            <a:xfrm>
              <a:off x="0" y="0"/>
              <a:ext cx="12192000" cy="685800"/>
            </a:xfrm>
            <a:prstGeom prst="rect">
              <a:avLst/>
            </a:prstGeom>
            <a:solidFill>
              <a:schemeClr val="accent1"/>
            </a:solidFill>
            <a:ln>
              <a:noFill/>
            </a:ln>
          </p:spPr>
        </p:sp>
        <p:sp>
          <p:nvSpPr>
            <p:cNvPr id="3" name="TextBox 3"/>
            <p:cNvSpPr txBox="1"/>
            <p:nvPr/>
          </p:nvSpPr>
          <p:spPr>
            <a:xfrm>
              <a:off x="374142" y="282892"/>
              <a:ext cx="4762875" cy="264033"/>
            </a:xfrm>
            <a:prstGeom prst="rect">
              <a:avLst/>
            </a:prstGeom>
            <a:noFill/>
            <a:ln>
              <a:noFill/>
            </a:ln>
          </p:spPr>
          <p:txBody>
            <a:bodyPr wrap="none" lIns="0" tIns="0" rIns="0" bIns="0" anchor="t" anchorCtr="0">
              <a:spAutoFit/>
            </a:bodyPr>
            <a:lstStyle/>
            <a:p>
              <a:pPr algn="l"/>
              <a:r>
                <a:rPr lang="zh-CN" sz="1350" b="1" dirty="0">
                  <a:solidFill>
                    <a:srgbClr val="FFFFFF"/>
                  </a:solidFill>
                  <a:latin typeface="+mn-lt"/>
                  <a:ea typeface="+mn-ea"/>
                  <a:cs typeface="+mn-cs"/>
                </a:rPr>
                <a:t>1.17 第一部分总结 | Water Moves Matter and Energy</a:t>
              </a:r>
            </a:p>
          </p:txBody>
        </p:sp>
        <p:sp>
          <p:nvSpPr>
            <p:cNvPr id="4" name="TextBox 4"/>
            <p:cNvSpPr txBox="1"/>
            <p:nvPr/>
          </p:nvSpPr>
          <p:spPr>
            <a:xfrm>
              <a:off x="10550347" y="299085"/>
              <a:ext cx="1266749" cy="234696"/>
            </a:xfrm>
            <a:prstGeom prst="rect">
              <a:avLst/>
            </a:prstGeom>
            <a:noFill/>
            <a:ln>
              <a:noFill/>
            </a:ln>
          </p:spPr>
          <p:txBody>
            <a:bodyPr wrap="none" lIns="0" tIns="0" rIns="0" bIns="0" anchor="t" anchorCtr="0">
              <a:spAutoFit/>
            </a:bodyPr>
            <a:lstStyle/>
            <a:p>
              <a:pPr algn="r"/>
              <a:r>
                <a:rPr lang="zh-CN" sz="1200" dirty="0">
                  <a:solidFill>
                    <a:srgbClr val="C7D7F2"/>
                  </a:solidFill>
                  <a:latin typeface="+mn-lt"/>
                  <a:ea typeface="+mn-ea"/>
                  <a:cs typeface="+mn-cs"/>
                </a:rPr>
                <a:t>PART I SUMMARY</a:t>
              </a:r>
            </a:p>
          </p:txBody>
        </p:sp>
      </p:grpSp>
      <p:grpSp>
        <p:nvGrpSpPr>
          <p:cNvPr id="8" name="Group 8"/>
          <p:cNvGrpSpPr/>
          <p:nvPr/>
        </p:nvGrpSpPr>
        <p:grpSpPr>
          <a:xfrm>
            <a:off x="381000" y="914400"/>
            <a:ext cx="4433443" cy="357093"/>
            <a:chOff x="381000" y="914400"/>
            <a:chExt cx="4433443" cy="357093"/>
          </a:xfrm>
        </p:grpSpPr>
        <p:sp>
          <p:nvSpPr>
            <p:cNvPr id="6" name="Rectangle 6"/>
            <p:cNvSpPr/>
            <p:nvPr/>
          </p:nvSpPr>
          <p:spPr>
            <a:xfrm>
              <a:off x="381000" y="914400"/>
              <a:ext cx="57150" cy="266700"/>
            </a:xfrm>
            <a:prstGeom prst="roundRect">
              <a:avLst>
                <a:gd name="adj" fmla="val 50000"/>
              </a:avLst>
            </a:prstGeom>
            <a:solidFill>
              <a:schemeClr val="accent2"/>
            </a:solidFill>
            <a:ln>
              <a:noFill/>
            </a:ln>
          </p:spPr>
        </p:sp>
        <p:sp>
          <p:nvSpPr>
            <p:cNvPr id="7" name="TextBox 7"/>
            <p:cNvSpPr txBox="1"/>
            <p:nvPr/>
          </p:nvSpPr>
          <p:spPr>
            <a:xfrm>
              <a:off x="544449" y="963454"/>
              <a:ext cx="4269994" cy="308039"/>
            </a:xfrm>
            <a:prstGeom prst="rect">
              <a:avLst/>
            </a:prstGeom>
            <a:noFill/>
            <a:ln>
              <a:noFill/>
            </a:ln>
          </p:spPr>
          <p:txBody>
            <a:bodyPr wrap="none" lIns="0" tIns="0" rIns="0" bIns="0" anchor="t" anchorCtr="0">
              <a:spAutoFit/>
            </a:bodyPr>
            <a:lstStyle/>
            <a:p>
              <a:pPr algn="l"/>
              <a:r>
                <a:rPr lang="zh-CN" sz="1580" b="1" dirty="0">
                  <a:solidFill>
                    <a:schemeClr val="accent1"/>
                  </a:solidFill>
                  <a:latin typeface="+mn-lt"/>
                  <a:ea typeface="+mn-ea"/>
                  <a:cs typeface="+mn-cs"/>
                </a:rPr>
                <a:t>水循环搬运物质与能量、塑造地表、连接圈层</a:t>
              </a:r>
            </a:p>
          </p:txBody>
        </p:sp>
      </p:grpSp>
      <p:grpSp>
        <p:nvGrpSpPr>
          <p:cNvPr id="15" name="Group 15"/>
          <p:cNvGrpSpPr/>
          <p:nvPr/>
        </p:nvGrpSpPr>
        <p:grpSpPr>
          <a:xfrm>
            <a:off x="381000" y="1447800"/>
            <a:ext cx="5619750" cy="1428750"/>
            <a:chOff x="381000" y="1447800"/>
            <a:chExt cx="5619750" cy="1428750"/>
          </a:xfrm>
        </p:grpSpPr>
        <p:sp>
          <p:nvSpPr>
            <p:cNvPr id="9" name="Rectangle 9"/>
            <p:cNvSpPr/>
            <p:nvPr/>
          </p:nvSpPr>
          <p:spPr>
            <a:xfrm>
              <a:off x="381000" y="1447800"/>
              <a:ext cx="5619750" cy="1428750"/>
            </a:xfrm>
            <a:prstGeom prst="roundRect">
              <a:avLst>
                <a:gd name="adj" fmla="val 8000"/>
              </a:avLst>
            </a:prstGeom>
            <a:solidFill>
              <a:schemeClr val="lt2"/>
            </a:solidFill>
            <a:ln w="9525">
              <a:solidFill>
                <a:schemeClr val="accent6"/>
              </a:solidFill>
            </a:ln>
          </p:spPr>
        </p:sp>
        <p:sp>
          <p:nvSpPr>
            <p:cNvPr id="10" name="Ellipse 10"/>
            <p:cNvSpPr/>
            <p:nvPr/>
          </p:nvSpPr>
          <p:spPr>
            <a:xfrm>
              <a:off x="571500" y="1657350"/>
              <a:ext cx="419100" cy="419100"/>
            </a:xfrm>
            <a:prstGeom prst="ellipse">
              <a:avLst/>
            </a:prstGeom>
            <a:solidFill>
              <a:schemeClr val="accent2"/>
            </a:solidFill>
            <a:ln>
              <a:noFill/>
            </a:ln>
          </p:spPr>
        </p:sp>
        <p:sp>
          <p:nvSpPr>
            <p:cNvPr id="11" name="TextBox 11"/>
            <p:cNvSpPr txBox="1"/>
            <p:nvPr/>
          </p:nvSpPr>
          <p:spPr>
            <a:xfrm>
              <a:off x="728308" y="1804035"/>
              <a:ext cx="105484" cy="234696"/>
            </a:xfrm>
            <a:prstGeom prst="rect">
              <a:avLst/>
            </a:prstGeom>
            <a:noFill/>
            <a:ln>
              <a:noFill/>
            </a:ln>
          </p:spPr>
          <p:txBody>
            <a:bodyPr wrap="none" lIns="0" tIns="0" rIns="0" bIns="0" anchor="t" anchorCtr="0">
              <a:spAutoFit/>
            </a:bodyPr>
            <a:lstStyle/>
            <a:p>
              <a:pPr algn="ctr"/>
              <a:r>
                <a:rPr lang="zh-CN" sz="1200" b="1" dirty="0">
                  <a:solidFill>
                    <a:srgbClr val="FFFFFF"/>
                  </a:solidFill>
                  <a:latin typeface="+mn-lt"/>
                  <a:ea typeface="+mn-ea"/>
                  <a:cs typeface="+mn-cs"/>
                </a:rPr>
                <a:t>1</a:t>
              </a:r>
            </a:p>
          </p:txBody>
        </p:sp>
        <p:sp>
          <p:nvSpPr>
            <p:cNvPr id="12" name="TextBox 12"/>
            <p:cNvSpPr txBox="1"/>
            <p:nvPr/>
          </p:nvSpPr>
          <p:spPr>
            <a:xfrm>
              <a:off x="1136904" y="1699260"/>
              <a:ext cx="1143000" cy="234696"/>
            </a:xfrm>
            <a:prstGeom prst="rect">
              <a:avLst/>
            </a:prstGeom>
            <a:noFill/>
            <a:ln>
              <a:noFill/>
            </a:ln>
          </p:spPr>
          <p:txBody>
            <a:bodyPr wrap="none" lIns="0" tIns="0" rIns="0" bIns="0" anchor="t" anchorCtr="0">
              <a:spAutoFit/>
            </a:bodyPr>
            <a:lstStyle/>
            <a:p>
              <a:pPr algn="l"/>
              <a:r>
                <a:rPr lang="zh-CN" sz="1200" b="1" dirty="0">
                  <a:solidFill>
                    <a:schemeClr val="accent1"/>
                  </a:solidFill>
                  <a:latin typeface="+mn-lt"/>
                  <a:ea typeface="+mn-ea"/>
                  <a:cs typeface="+mn-cs"/>
                </a:rPr>
                <a:t>水在储库间迁移</a:t>
              </a:r>
            </a:p>
          </p:txBody>
        </p:sp>
        <p:sp>
          <p:nvSpPr>
            <p:cNvPr id="13" name="TextBox 13"/>
            <p:cNvSpPr txBox="1"/>
            <p:nvPr/>
          </p:nvSpPr>
          <p:spPr>
            <a:xfrm>
              <a:off x="1138047" y="1952149"/>
              <a:ext cx="1993301" cy="190690"/>
            </a:xfrm>
            <a:prstGeom prst="rect">
              <a:avLst/>
            </a:prstGeom>
            <a:noFill/>
            <a:ln>
              <a:noFill/>
            </a:ln>
          </p:spPr>
          <p:txBody>
            <a:bodyPr wrap="none" lIns="0" tIns="0" rIns="0" bIns="0" anchor="t" anchorCtr="0">
              <a:spAutoFit/>
            </a:bodyPr>
            <a:lstStyle/>
            <a:p>
              <a:pPr algn="l"/>
              <a:r>
                <a:rPr lang="zh-CN" sz="980" dirty="0">
                  <a:solidFill>
                    <a:srgbClr val="3D7BD9"/>
                  </a:solidFill>
                  <a:latin typeface="+mn-lt"/>
                  <a:ea typeface="+mn-ea"/>
                  <a:cs typeface="+mn-cs"/>
                </a:rPr>
                <a:t>Water moves among reservoirs</a:t>
              </a:r>
            </a:p>
          </p:txBody>
        </p:sp>
        <p:sp>
          <p:nvSpPr>
            <p:cNvPr id="14" name="TextBox 14"/>
            <p:cNvSpPr txBox="1"/>
            <p:nvPr/>
          </p:nvSpPr>
          <p:spPr>
            <a:xfrm>
              <a:off x="756285" y="2278856"/>
              <a:ext cx="2429510" cy="467678"/>
            </a:xfrm>
            <a:prstGeom prst="rect">
              <a:avLst/>
            </a:prstGeom>
            <a:noFill/>
            <a:ln>
              <a:noFill/>
            </a:ln>
          </p:spPr>
          <p:txBody>
            <a:bodyPr wrap="none" lIns="0" tIns="0" rIns="0" bIns="0" anchor="t" anchorCtr="0">
              <a:spAutoFit/>
            </a:bodyPr>
            <a:lstStyle/>
            <a:p>
              <a:pPr algn="l">
                <a:lnSpc>
                  <a:spcPts val="1950"/>
                </a:lnSpc>
              </a:pPr>
              <a:r>
                <a:rPr lang="zh-CN" sz="1120" dirty="0">
                  <a:solidFill>
                    <a:schemeClr val="dk1"/>
                  </a:solidFill>
                  <a:latin typeface="+mn-lt"/>
                  <a:ea typeface="+mn-ea"/>
                  <a:cs typeface="+mn-cs"/>
                </a:rPr>
                <a:t>海洋、大气、冰雪、陆地与地下水之间</a:t>
              </a:r>
              <a:br/>
              <a:r>
                <a:rPr lang="zh-CN" sz="1120" dirty="0">
                  <a:solidFill>
                    <a:schemeClr val="dk1"/>
                  </a:solidFill>
                  <a:latin typeface="+mn-lt"/>
                  <a:ea typeface="+mn-ea"/>
                  <a:cs typeface="+mn-cs"/>
                </a:rPr>
                <a:t>以通量持续迁移。</a:t>
              </a:r>
            </a:p>
          </p:txBody>
        </p:sp>
      </p:grpSp>
      <p:grpSp>
        <p:nvGrpSpPr>
          <p:cNvPr id="22" name="Group 22"/>
          <p:cNvGrpSpPr/>
          <p:nvPr/>
        </p:nvGrpSpPr>
        <p:grpSpPr>
          <a:xfrm>
            <a:off x="6191250" y="1447800"/>
            <a:ext cx="5619750" cy="1428750"/>
            <a:chOff x="6191250" y="1447800"/>
            <a:chExt cx="5619750" cy="1428750"/>
          </a:xfrm>
        </p:grpSpPr>
        <p:sp>
          <p:nvSpPr>
            <p:cNvPr id="16" name="Rectangle 16"/>
            <p:cNvSpPr/>
            <p:nvPr/>
          </p:nvSpPr>
          <p:spPr>
            <a:xfrm>
              <a:off x="6191250" y="1447800"/>
              <a:ext cx="5619750" cy="1428750"/>
            </a:xfrm>
            <a:prstGeom prst="roundRect">
              <a:avLst>
                <a:gd name="adj" fmla="val 8000"/>
              </a:avLst>
            </a:prstGeom>
            <a:solidFill>
              <a:schemeClr val="lt2"/>
            </a:solidFill>
            <a:ln w="9525">
              <a:solidFill>
                <a:schemeClr val="accent6"/>
              </a:solidFill>
            </a:ln>
          </p:spPr>
        </p:sp>
        <p:sp>
          <p:nvSpPr>
            <p:cNvPr id="17" name="Ellipse 17"/>
            <p:cNvSpPr/>
            <p:nvPr/>
          </p:nvSpPr>
          <p:spPr>
            <a:xfrm>
              <a:off x="6381750" y="1657350"/>
              <a:ext cx="419100" cy="419100"/>
            </a:xfrm>
            <a:prstGeom prst="ellipse">
              <a:avLst/>
            </a:prstGeom>
            <a:solidFill>
              <a:srgbClr val="3D7BD9"/>
            </a:solidFill>
            <a:ln>
              <a:noFill/>
            </a:ln>
          </p:spPr>
        </p:sp>
        <p:sp>
          <p:nvSpPr>
            <p:cNvPr id="18" name="TextBox 18"/>
            <p:cNvSpPr txBox="1"/>
            <p:nvPr/>
          </p:nvSpPr>
          <p:spPr>
            <a:xfrm>
              <a:off x="6538558" y="1804035"/>
              <a:ext cx="105484" cy="234696"/>
            </a:xfrm>
            <a:prstGeom prst="rect">
              <a:avLst/>
            </a:prstGeom>
            <a:noFill/>
            <a:ln>
              <a:noFill/>
            </a:ln>
          </p:spPr>
          <p:txBody>
            <a:bodyPr wrap="none" lIns="0" tIns="0" rIns="0" bIns="0" anchor="t" anchorCtr="0">
              <a:spAutoFit/>
            </a:bodyPr>
            <a:lstStyle/>
            <a:p>
              <a:pPr algn="ctr"/>
              <a:r>
                <a:rPr lang="zh-CN" sz="1200" b="1" dirty="0">
                  <a:solidFill>
                    <a:srgbClr val="FFFFFF"/>
                  </a:solidFill>
                  <a:latin typeface="+mn-lt"/>
                  <a:ea typeface="+mn-ea"/>
                  <a:cs typeface="+mn-cs"/>
                </a:rPr>
                <a:t>2</a:t>
              </a:r>
            </a:p>
          </p:txBody>
        </p:sp>
        <p:sp>
          <p:nvSpPr>
            <p:cNvPr id="19" name="TextBox 19"/>
            <p:cNvSpPr txBox="1"/>
            <p:nvPr/>
          </p:nvSpPr>
          <p:spPr>
            <a:xfrm>
              <a:off x="6947154" y="1699260"/>
              <a:ext cx="981456" cy="234696"/>
            </a:xfrm>
            <a:prstGeom prst="rect">
              <a:avLst/>
            </a:prstGeom>
            <a:noFill/>
            <a:ln>
              <a:noFill/>
            </a:ln>
          </p:spPr>
          <p:txBody>
            <a:bodyPr wrap="none" lIns="0" tIns="0" rIns="0" bIns="0" anchor="t" anchorCtr="0">
              <a:spAutoFit/>
            </a:bodyPr>
            <a:lstStyle/>
            <a:p>
              <a:pPr algn="l"/>
              <a:r>
                <a:rPr lang="zh-CN" sz="1200" b="1" dirty="0">
                  <a:solidFill>
                    <a:schemeClr val="accent1"/>
                  </a:solidFill>
                  <a:latin typeface="+mn-lt"/>
                  <a:ea typeface="+mn-ea"/>
                  <a:cs typeface="+mn-cs"/>
                </a:rPr>
                <a:t>相变输送能量</a:t>
              </a:r>
            </a:p>
          </p:txBody>
        </p:sp>
        <p:sp>
          <p:nvSpPr>
            <p:cNvPr id="20" name="TextBox 20"/>
            <p:cNvSpPr txBox="1"/>
            <p:nvPr/>
          </p:nvSpPr>
          <p:spPr>
            <a:xfrm>
              <a:off x="6948297" y="1952149"/>
              <a:ext cx="2092122" cy="190690"/>
            </a:xfrm>
            <a:prstGeom prst="rect">
              <a:avLst/>
            </a:prstGeom>
            <a:noFill/>
            <a:ln>
              <a:noFill/>
            </a:ln>
          </p:spPr>
          <p:txBody>
            <a:bodyPr wrap="none" lIns="0" tIns="0" rIns="0" bIns="0" anchor="t" anchorCtr="0">
              <a:spAutoFit/>
            </a:bodyPr>
            <a:lstStyle/>
            <a:p>
              <a:pPr algn="l"/>
              <a:r>
                <a:rPr lang="zh-CN" sz="980" dirty="0">
                  <a:solidFill>
                    <a:srgbClr val="3D7BD9"/>
                  </a:solidFill>
                  <a:latin typeface="+mn-lt"/>
                  <a:ea typeface="+mn-ea"/>
                  <a:cs typeface="+mn-cs"/>
                </a:rPr>
                <a:t>Phase changes transport energy</a:t>
              </a:r>
            </a:p>
          </p:txBody>
        </p:sp>
        <p:sp>
          <p:nvSpPr>
            <p:cNvPr id="21" name="TextBox 21"/>
            <p:cNvSpPr txBox="1"/>
            <p:nvPr/>
          </p:nvSpPr>
          <p:spPr>
            <a:xfrm>
              <a:off x="6566535" y="2278856"/>
              <a:ext cx="1433830" cy="467678"/>
            </a:xfrm>
            <a:prstGeom prst="rect">
              <a:avLst/>
            </a:prstGeom>
            <a:noFill/>
            <a:ln>
              <a:noFill/>
            </a:ln>
          </p:spPr>
          <p:txBody>
            <a:bodyPr wrap="none" lIns="0" tIns="0" rIns="0" bIns="0" anchor="t" anchorCtr="0">
              <a:spAutoFit/>
            </a:bodyPr>
            <a:lstStyle/>
            <a:p>
              <a:pPr algn="l">
                <a:lnSpc>
                  <a:spcPts val="1950"/>
                </a:lnSpc>
              </a:pPr>
              <a:r>
                <a:rPr lang="zh-CN" sz="1120" dirty="0">
                  <a:solidFill>
                    <a:schemeClr val="dk1"/>
                  </a:solidFill>
                  <a:latin typeface="+mn-lt"/>
                  <a:ea typeface="+mn-ea"/>
                  <a:cs typeface="+mn-cs"/>
                </a:rPr>
                <a:t>蒸发吸热、凝结放热，</a:t>
              </a:r>
              <a:br/>
              <a:r>
                <a:rPr lang="zh-CN" sz="1120" dirty="0">
                  <a:solidFill>
                    <a:schemeClr val="dk1"/>
                  </a:solidFill>
                  <a:latin typeface="+mn-lt"/>
                  <a:ea typeface="+mn-ea"/>
                  <a:cs typeface="+mn-cs"/>
                </a:rPr>
                <a:t>水循环同时搬运能量。</a:t>
              </a:r>
            </a:p>
          </p:txBody>
        </p:sp>
      </p:grpSp>
      <p:grpSp>
        <p:nvGrpSpPr>
          <p:cNvPr id="29" name="Group 29"/>
          <p:cNvGrpSpPr/>
          <p:nvPr/>
        </p:nvGrpSpPr>
        <p:grpSpPr>
          <a:xfrm>
            <a:off x="381000" y="2990850"/>
            <a:ext cx="5619750" cy="1428750"/>
            <a:chOff x="381000" y="2990850"/>
            <a:chExt cx="5619750" cy="1428750"/>
          </a:xfrm>
        </p:grpSpPr>
        <p:sp>
          <p:nvSpPr>
            <p:cNvPr id="23" name="Rectangle 23"/>
            <p:cNvSpPr/>
            <p:nvPr/>
          </p:nvSpPr>
          <p:spPr>
            <a:xfrm>
              <a:off x="381000" y="2990850"/>
              <a:ext cx="5619750" cy="1428750"/>
            </a:xfrm>
            <a:prstGeom prst="roundRect">
              <a:avLst>
                <a:gd name="adj" fmla="val 8000"/>
              </a:avLst>
            </a:prstGeom>
            <a:solidFill>
              <a:schemeClr val="lt2"/>
            </a:solidFill>
            <a:ln w="9525">
              <a:solidFill>
                <a:schemeClr val="accent6"/>
              </a:solidFill>
            </a:ln>
          </p:spPr>
        </p:sp>
        <p:sp>
          <p:nvSpPr>
            <p:cNvPr id="24" name="Ellipse 24"/>
            <p:cNvSpPr/>
            <p:nvPr/>
          </p:nvSpPr>
          <p:spPr>
            <a:xfrm>
              <a:off x="571500" y="3200400"/>
              <a:ext cx="419100" cy="419100"/>
            </a:xfrm>
            <a:prstGeom prst="ellipse">
              <a:avLst/>
            </a:prstGeom>
            <a:solidFill>
              <a:schemeClr val="accent1"/>
            </a:solidFill>
            <a:ln>
              <a:noFill/>
            </a:ln>
          </p:spPr>
        </p:sp>
        <p:sp>
          <p:nvSpPr>
            <p:cNvPr id="25" name="TextBox 25"/>
            <p:cNvSpPr txBox="1"/>
            <p:nvPr/>
          </p:nvSpPr>
          <p:spPr>
            <a:xfrm>
              <a:off x="728308" y="3347085"/>
              <a:ext cx="105484" cy="234696"/>
            </a:xfrm>
            <a:prstGeom prst="rect">
              <a:avLst/>
            </a:prstGeom>
            <a:noFill/>
            <a:ln>
              <a:noFill/>
            </a:ln>
          </p:spPr>
          <p:txBody>
            <a:bodyPr wrap="none" lIns="0" tIns="0" rIns="0" bIns="0" anchor="t" anchorCtr="0">
              <a:spAutoFit/>
            </a:bodyPr>
            <a:lstStyle/>
            <a:p>
              <a:pPr algn="ctr"/>
              <a:r>
                <a:rPr lang="zh-CN" sz="1200" b="1" dirty="0">
                  <a:solidFill>
                    <a:srgbClr val="FFFFFF"/>
                  </a:solidFill>
                  <a:latin typeface="+mn-lt"/>
                  <a:ea typeface="+mn-ea"/>
                  <a:cs typeface="+mn-cs"/>
                </a:rPr>
                <a:t>3</a:t>
              </a:r>
            </a:p>
          </p:txBody>
        </p:sp>
        <p:sp>
          <p:nvSpPr>
            <p:cNvPr id="26" name="TextBox 26"/>
            <p:cNvSpPr txBox="1"/>
            <p:nvPr/>
          </p:nvSpPr>
          <p:spPr>
            <a:xfrm>
              <a:off x="1136904" y="3242310"/>
              <a:ext cx="2273808" cy="234696"/>
            </a:xfrm>
            <a:prstGeom prst="rect">
              <a:avLst/>
            </a:prstGeom>
            <a:noFill/>
            <a:ln>
              <a:noFill/>
            </a:ln>
          </p:spPr>
          <p:txBody>
            <a:bodyPr wrap="none" lIns="0" tIns="0" rIns="0" bIns="0" anchor="t" anchorCtr="0">
              <a:spAutoFit/>
            </a:bodyPr>
            <a:lstStyle/>
            <a:p>
              <a:pPr algn="l"/>
              <a:r>
                <a:rPr lang="zh-CN" sz="1200" b="1" dirty="0">
                  <a:solidFill>
                    <a:schemeClr val="accent1"/>
                  </a:solidFill>
                  <a:latin typeface="+mn-lt"/>
                  <a:ea typeface="+mn-ea"/>
                  <a:cs typeface="+mn-cs"/>
                </a:rPr>
                <a:t>径流与地下水搬运溶质与沉积物</a:t>
              </a:r>
            </a:p>
          </p:txBody>
        </p:sp>
        <p:sp>
          <p:nvSpPr>
            <p:cNvPr id="27" name="TextBox 27"/>
            <p:cNvSpPr txBox="1"/>
            <p:nvPr/>
          </p:nvSpPr>
          <p:spPr>
            <a:xfrm>
              <a:off x="1138047" y="3495199"/>
              <a:ext cx="3167552" cy="190690"/>
            </a:xfrm>
            <a:prstGeom prst="rect">
              <a:avLst/>
            </a:prstGeom>
            <a:noFill/>
            <a:ln>
              <a:noFill/>
            </a:ln>
          </p:spPr>
          <p:txBody>
            <a:bodyPr wrap="none" lIns="0" tIns="0" rIns="0" bIns="0" anchor="t" anchorCtr="0">
              <a:spAutoFit/>
            </a:bodyPr>
            <a:lstStyle/>
            <a:p>
              <a:pPr algn="l"/>
              <a:r>
                <a:rPr lang="zh-CN" sz="980" dirty="0">
                  <a:solidFill>
                    <a:srgbClr val="3D7BD9"/>
                  </a:solidFill>
                  <a:latin typeface="+mn-lt"/>
                  <a:ea typeface="+mn-ea"/>
                  <a:cs typeface="+mn-cs"/>
                </a:rPr>
                <a:t>Runoff &amp; groundwater move solutes and sediment</a:t>
              </a:r>
            </a:p>
          </p:txBody>
        </p:sp>
        <p:sp>
          <p:nvSpPr>
            <p:cNvPr id="28" name="TextBox 28"/>
            <p:cNvSpPr txBox="1"/>
            <p:nvPr/>
          </p:nvSpPr>
          <p:spPr>
            <a:xfrm>
              <a:off x="756285" y="3821906"/>
              <a:ext cx="1860550" cy="467678"/>
            </a:xfrm>
            <a:prstGeom prst="rect">
              <a:avLst/>
            </a:prstGeom>
            <a:noFill/>
            <a:ln>
              <a:noFill/>
            </a:ln>
          </p:spPr>
          <p:txBody>
            <a:bodyPr wrap="none" lIns="0" tIns="0" rIns="0" bIns="0" anchor="t" anchorCtr="0">
              <a:spAutoFit/>
            </a:bodyPr>
            <a:lstStyle/>
            <a:p>
              <a:pPr algn="l">
                <a:lnSpc>
                  <a:spcPts val="1950"/>
                </a:lnSpc>
              </a:pPr>
              <a:r>
                <a:rPr lang="zh-CN" sz="1120" dirty="0">
                  <a:solidFill>
                    <a:schemeClr val="dk1"/>
                  </a:solidFill>
                  <a:latin typeface="+mn-lt"/>
                  <a:ea typeface="+mn-ea"/>
                  <a:cs typeface="+mn-cs"/>
                </a:rPr>
                <a:t>径流与地下水把溶质和沉积物</a:t>
              </a:r>
              <a:br/>
              <a:r>
                <a:rPr lang="zh-CN" sz="1120" dirty="0">
                  <a:solidFill>
                    <a:schemeClr val="dk1"/>
                  </a:solidFill>
                  <a:latin typeface="+mn-lt"/>
                  <a:ea typeface="+mn-ea"/>
                  <a:cs typeface="+mn-cs"/>
                </a:rPr>
                <a:t>从陆地搬向海洋。</a:t>
              </a:r>
            </a:p>
          </p:txBody>
        </p:sp>
      </p:grpSp>
      <p:grpSp>
        <p:nvGrpSpPr>
          <p:cNvPr id="36" name="Group 36"/>
          <p:cNvGrpSpPr/>
          <p:nvPr/>
        </p:nvGrpSpPr>
        <p:grpSpPr>
          <a:xfrm>
            <a:off x="6191250" y="2990850"/>
            <a:ext cx="5619750" cy="1428750"/>
            <a:chOff x="6191250" y="2990850"/>
            <a:chExt cx="5619750" cy="1428750"/>
          </a:xfrm>
        </p:grpSpPr>
        <p:sp>
          <p:nvSpPr>
            <p:cNvPr id="30" name="Rectangle 30"/>
            <p:cNvSpPr/>
            <p:nvPr/>
          </p:nvSpPr>
          <p:spPr>
            <a:xfrm>
              <a:off x="6191250" y="2990850"/>
              <a:ext cx="5619750" cy="1428750"/>
            </a:xfrm>
            <a:prstGeom prst="roundRect">
              <a:avLst>
                <a:gd name="adj" fmla="val 8000"/>
              </a:avLst>
            </a:prstGeom>
            <a:solidFill>
              <a:schemeClr val="lt2"/>
            </a:solidFill>
            <a:ln w="9525">
              <a:solidFill>
                <a:schemeClr val="accent6"/>
              </a:solidFill>
            </a:ln>
          </p:spPr>
        </p:sp>
        <p:sp>
          <p:nvSpPr>
            <p:cNvPr id="31" name="Ellipse 31"/>
            <p:cNvSpPr/>
            <p:nvPr/>
          </p:nvSpPr>
          <p:spPr>
            <a:xfrm>
              <a:off x="6381750" y="3200400"/>
              <a:ext cx="419100" cy="419100"/>
            </a:xfrm>
            <a:prstGeom prst="ellipse">
              <a:avLst/>
            </a:prstGeom>
            <a:solidFill>
              <a:schemeClr val="accent2"/>
            </a:solidFill>
            <a:ln>
              <a:noFill/>
            </a:ln>
          </p:spPr>
        </p:sp>
        <p:sp>
          <p:nvSpPr>
            <p:cNvPr id="32" name="TextBox 32"/>
            <p:cNvSpPr txBox="1"/>
            <p:nvPr/>
          </p:nvSpPr>
          <p:spPr>
            <a:xfrm>
              <a:off x="6538558" y="3347085"/>
              <a:ext cx="105484" cy="234696"/>
            </a:xfrm>
            <a:prstGeom prst="rect">
              <a:avLst/>
            </a:prstGeom>
            <a:noFill/>
            <a:ln>
              <a:noFill/>
            </a:ln>
          </p:spPr>
          <p:txBody>
            <a:bodyPr wrap="none" lIns="0" tIns="0" rIns="0" bIns="0" anchor="t" anchorCtr="0">
              <a:spAutoFit/>
            </a:bodyPr>
            <a:lstStyle/>
            <a:p>
              <a:pPr algn="ctr"/>
              <a:r>
                <a:rPr lang="zh-CN" sz="1200" b="1" dirty="0">
                  <a:solidFill>
                    <a:srgbClr val="FFFFFF"/>
                  </a:solidFill>
                  <a:latin typeface="+mn-lt"/>
                  <a:ea typeface="+mn-ea"/>
                  <a:cs typeface="+mn-cs"/>
                </a:rPr>
                <a:t>4</a:t>
              </a:r>
            </a:p>
          </p:txBody>
        </p:sp>
        <p:sp>
          <p:nvSpPr>
            <p:cNvPr id="33" name="TextBox 33"/>
            <p:cNvSpPr txBox="1"/>
            <p:nvPr/>
          </p:nvSpPr>
          <p:spPr>
            <a:xfrm>
              <a:off x="6947154" y="3242310"/>
              <a:ext cx="819912" cy="234696"/>
            </a:xfrm>
            <a:prstGeom prst="rect">
              <a:avLst/>
            </a:prstGeom>
            <a:noFill/>
            <a:ln>
              <a:noFill/>
            </a:ln>
          </p:spPr>
          <p:txBody>
            <a:bodyPr wrap="none" lIns="0" tIns="0" rIns="0" bIns="0" anchor="t" anchorCtr="0">
              <a:spAutoFit/>
            </a:bodyPr>
            <a:lstStyle/>
            <a:p>
              <a:pPr algn="l"/>
              <a:r>
                <a:rPr lang="zh-CN" sz="1200" b="1" dirty="0">
                  <a:solidFill>
                    <a:schemeClr val="accent1"/>
                  </a:solidFill>
                  <a:latin typeface="+mn-lt"/>
                  <a:ea typeface="+mn-ea"/>
                  <a:cs typeface="+mn-cs"/>
                </a:rPr>
                <a:t>水塑造地表</a:t>
              </a:r>
            </a:p>
          </p:txBody>
        </p:sp>
        <p:sp>
          <p:nvSpPr>
            <p:cNvPr id="34" name="TextBox 34"/>
            <p:cNvSpPr txBox="1"/>
            <p:nvPr/>
          </p:nvSpPr>
          <p:spPr>
            <a:xfrm>
              <a:off x="6948297" y="3495199"/>
              <a:ext cx="1683288" cy="190690"/>
            </a:xfrm>
            <a:prstGeom prst="rect">
              <a:avLst/>
            </a:prstGeom>
            <a:noFill/>
            <a:ln>
              <a:noFill/>
            </a:ln>
          </p:spPr>
          <p:txBody>
            <a:bodyPr wrap="none" lIns="0" tIns="0" rIns="0" bIns="0" anchor="t" anchorCtr="0">
              <a:spAutoFit/>
            </a:bodyPr>
            <a:lstStyle/>
            <a:p>
              <a:pPr algn="l"/>
              <a:r>
                <a:rPr lang="zh-CN" sz="980" dirty="0">
                  <a:solidFill>
                    <a:srgbClr val="3D7BD9"/>
                  </a:solidFill>
                  <a:latin typeface="+mn-lt"/>
                  <a:ea typeface="+mn-ea"/>
                  <a:cs typeface="+mn-cs"/>
                </a:rPr>
                <a:t>Water shapes the surface</a:t>
              </a:r>
            </a:p>
          </p:txBody>
        </p:sp>
        <p:sp>
          <p:nvSpPr>
            <p:cNvPr id="35" name="TextBox 35"/>
            <p:cNvSpPr txBox="1"/>
            <p:nvPr/>
          </p:nvSpPr>
          <p:spPr>
            <a:xfrm>
              <a:off x="6566535" y="3821906"/>
              <a:ext cx="2002790" cy="467678"/>
            </a:xfrm>
            <a:prstGeom prst="rect">
              <a:avLst/>
            </a:prstGeom>
            <a:noFill/>
            <a:ln>
              <a:noFill/>
            </a:ln>
          </p:spPr>
          <p:txBody>
            <a:bodyPr wrap="none" lIns="0" tIns="0" rIns="0" bIns="0" anchor="t" anchorCtr="0">
              <a:spAutoFit/>
            </a:bodyPr>
            <a:lstStyle/>
            <a:p>
              <a:pPr algn="l">
                <a:lnSpc>
                  <a:spcPts val="1950"/>
                </a:lnSpc>
              </a:pPr>
              <a:r>
                <a:rPr lang="zh-CN" sz="1120" dirty="0">
                  <a:solidFill>
                    <a:schemeClr val="dk1"/>
                  </a:solidFill>
                  <a:latin typeface="+mn-lt"/>
                  <a:ea typeface="+mn-ea"/>
                  <a:cs typeface="+mn-cs"/>
                </a:rPr>
                <a:t>侵蚀与沉积持续改变地表形态，</a:t>
              </a:r>
              <a:br/>
              <a:r>
                <a:rPr lang="zh-CN" sz="1120" dirty="0">
                  <a:solidFill>
                    <a:schemeClr val="dk1"/>
                  </a:solidFill>
                  <a:latin typeface="+mn-lt"/>
                  <a:ea typeface="+mn-ea"/>
                  <a:cs typeface="+mn-cs"/>
                </a:rPr>
                <a:t>水是最主要的塑造者之一。</a:t>
              </a:r>
            </a:p>
          </p:txBody>
        </p:sp>
      </p:grpSp>
      <p:grpSp>
        <p:nvGrpSpPr>
          <p:cNvPr id="43" name="Group 43"/>
          <p:cNvGrpSpPr/>
          <p:nvPr/>
        </p:nvGrpSpPr>
        <p:grpSpPr>
          <a:xfrm>
            <a:off x="381000" y="4533900"/>
            <a:ext cx="5619750" cy="1428750"/>
            <a:chOff x="381000" y="4533900"/>
            <a:chExt cx="5619750" cy="1428750"/>
          </a:xfrm>
        </p:grpSpPr>
        <p:sp>
          <p:nvSpPr>
            <p:cNvPr id="37" name="Rectangle 37"/>
            <p:cNvSpPr/>
            <p:nvPr/>
          </p:nvSpPr>
          <p:spPr>
            <a:xfrm>
              <a:off x="381000" y="4533900"/>
              <a:ext cx="5619750" cy="1428750"/>
            </a:xfrm>
            <a:prstGeom prst="roundRect">
              <a:avLst>
                <a:gd name="adj" fmla="val 8000"/>
              </a:avLst>
            </a:prstGeom>
            <a:solidFill>
              <a:schemeClr val="lt2"/>
            </a:solidFill>
            <a:ln w="9525">
              <a:solidFill>
                <a:schemeClr val="accent6"/>
              </a:solidFill>
            </a:ln>
          </p:spPr>
        </p:sp>
        <p:sp>
          <p:nvSpPr>
            <p:cNvPr id="38" name="Ellipse 38"/>
            <p:cNvSpPr/>
            <p:nvPr/>
          </p:nvSpPr>
          <p:spPr>
            <a:xfrm>
              <a:off x="571500" y="4743450"/>
              <a:ext cx="419100" cy="419100"/>
            </a:xfrm>
            <a:prstGeom prst="ellipse">
              <a:avLst/>
            </a:prstGeom>
            <a:solidFill>
              <a:srgbClr val="3D7BD9"/>
            </a:solidFill>
            <a:ln>
              <a:noFill/>
            </a:ln>
          </p:spPr>
        </p:sp>
        <p:sp>
          <p:nvSpPr>
            <p:cNvPr id="39" name="TextBox 39"/>
            <p:cNvSpPr txBox="1"/>
            <p:nvPr/>
          </p:nvSpPr>
          <p:spPr>
            <a:xfrm>
              <a:off x="728308" y="4890135"/>
              <a:ext cx="105484" cy="234696"/>
            </a:xfrm>
            <a:prstGeom prst="rect">
              <a:avLst/>
            </a:prstGeom>
            <a:noFill/>
            <a:ln>
              <a:noFill/>
            </a:ln>
          </p:spPr>
          <p:txBody>
            <a:bodyPr wrap="none" lIns="0" tIns="0" rIns="0" bIns="0" anchor="t" anchorCtr="0">
              <a:spAutoFit/>
            </a:bodyPr>
            <a:lstStyle/>
            <a:p>
              <a:pPr algn="ctr"/>
              <a:r>
                <a:rPr lang="zh-CN" sz="1200" b="1" dirty="0">
                  <a:solidFill>
                    <a:srgbClr val="FFFFFF"/>
                  </a:solidFill>
                  <a:latin typeface="+mn-lt"/>
                  <a:ea typeface="+mn-ea"/>
                  <a:cs typeface="+mn-cs"/>
                </a:rPr>
                <a:t>5</a:t>
              </a:r>
            </a:p>
          </p:txBody>
        </p:sp>
        <p:sp>
          <p:nvSpPr>
            <p:cNvPr id="40" name="TextBox 40"/>
            <p:cNvSpPr txBox="1"/>
            <p:nvPr/>
          </p:nvSpPr>
          <p:spPr>
            <a:xfrm>
              <a:off x="1136904" y="4785360"/>
              <a:ext cx="1789176" cy="234696"/>
            </a:xfrm>
            <a:prstGeom prst="rect">
              <a:avLst/>
            </a:prstGeom>
            <a:noFill/>
            <a:ln>
              <a:noFill/>
            </a:ln>
          </p:spPr>
          <p:txBody>
            <a:bodyPr wrap="none" lIns="0" tIns="0" rIns="0" bIns="0" anchor="t" anchorCtr="0">
              <a:spAutoFit/>
            </a:bodyPr>
            <a:lstStyle/>
            <a:p>
              <a:pPr algn="l"/>
              <a:r>
                <a:rPr lang="zh-CN" sz="1200" b="1" dirty="0">
                  <a:solidFill>
                    <a:schemeClr val="accent1"/>
                  </a:solidFill>
                  <a:latin typeface="+mn-lt"/>
                  <a:ea typeface="+mn-ea"/>
                  <a:cs typeface="+mn-cs"/>
                </a:rPr>
                <a:t>表层与深部路径连接圈层</a:t>
              </a:r>
            </a:p>
          </p:txBody>
        </p:sp>
        <p:sp>
          <p:nvSpPr>
            <p:cNvPr id="41" name="TextBox 41"/>
            <p:cNvSpPr txBox="1"/>
            <p:nvPr/>
          </p:nvSpPr>
          <p:spPr>
            <a:xfrm>
              <a:off x="1138047" y="5038249"/>
              <a:ext cx="2923483" cy="190690"/>
            </a:xfrm>
            <a:prstGeom prst="rect">
              <a:avLst/>
            </a:prstGeom>
            <a:noFill/>
            <a:ln>
              <a:noFill/>
            </a:ln>
          </p:spPr>
          <p:txBody>
            <a:bodyPr wrap="none" lIns="0" tIns="0" rIns="0" bIns="0" anchor="t" anchorCtr="0">
              <a:spAutoFit/>
            </a:bodyPr>
            <a:lstStyle/>
            <a:p>
              <a:pPr algn="l"/>
              <a:r>
                <a:rPr lang="zh-CN" sz="980" dirty="0">
                  <a:solidFill>
                    <a:srgbClr val="3D7BD9"/>
                  </a:solidFill>
                  <a:latin typeface="+mn-lt"/>
                  <a:ea typeface="+mn-ea"/>
                  <a:cs typeface="+mn-cs"/>
                </a:rPr>
                <a:t>Surface &amp; deep pathways connect geospheres</a:t>
              </a:r>
            </a:p>
          </p:txBody>
        </p:sp>
        <p:sp>
          <p:nvSpPr>
            <p:cNvPr id="42" name="TextBox 42"/>
            <p:cNvSpPr txBox="1"/>
            <p:nvPr/>
          </p:nvSpPr>
          <p:spPr>
            <a:xfrm>
              <a:off x="756285" y="5364956"/>
              <a:ext cx="1938782" cy="467678"/>
            </a:xfrm>
            <a:prstGeom prst="rect">
              <a:avLst/>
            </a:prstGeom>
            <a:noFill/>
            <a:ln>
              <a:noFill/>
            </a:ln>
          </p:spPr>
          <p:txBody>
            <a:bodyPr wrap="none" lIns="0" tIns="0" rIns="0" bIns="0" anchor="t" anchorCtr="0">
              <a:spAutoFit/>
            </a:bodyPr>
            <a:lstStyle/>
            <a:p>
              <a:pPr algn="l">
                <a:lnSpc>
                  <a:spcPts val="1950"/>
                </a:lnSpc>
              </a:pPr>
              <a:r>
                <a:rPr lang="zh-CN" sz="1120" dirty="0">
                  <a:solidFill>
                    <a:schemeClr val="dk1"/>
                  </a:solidFill>
                  <a:latin typeface="+mn-lt"/>
                  <a:ea typeface="+mn-ea"/>
                  <a:cs typeface="+mn-cs"/>
                </a:rPr>
                <a:t>表层循环与俯冲—火山深部路径</a:t>
              </a:r>
              <a:br/>
              <a:r>
                <a:rPr lang="zh-CN" sz="1120" dirty="0">
                  <a:solidFill>
                    <a:schemeClr val="dk1"/>
                  </a:solidFill>
                  <a:latin typeface="+mn-lt"/>
                  <a:ea typeface="+mn-ea"/>
                  <a:cs typeface="+mn-cs"/>
                </a:rPr>
                <a:t>把水送入并送出岩石圈。</a:t>
              </a:r>
            </a:p>
          </p:txBody>
        </p:sp>
      </p:grpSp>
      <p:grpSp>
        <p:nvGrpSpPr>
          <p:cNvPr id="47" name="Group 47"/>
          <p:cNvGrpSpPr/>
          <p:nvPr/>
        </p:nvGrpSpPr>
        <p:grpSpPr>
          <a:xfrm>
            <a:off x="6191250" y="4533900"/>
            <a:ext cx="5619750" cy="1428750"/>
            <a:chOff x="6191250" y="4533900"/>
            <a:chExt cx="5619750" cy="1428750"/>
          </a:xfrm>
        </p:grpSpPr>
        <p:sp>
          <p:nvSpPr>
            <p:cNvPr id="44" name="Rectangle 44"/>
            <p:cNvSpPr/>
            <p:nvPr/>
          </p:nvSpPr>
          <p:spPr>
            <a:xfrm>
              <a:off x="6191250" y="4533900"/>
              <a:ext cx="5619750" cy="1428750"/>
            </a:xfrm>
            <a:prstGeom prst="roundRect">
              <a:avLst>
                <a:gd name="adj" fmla="val 8000"/>
              </a:avLst>
            </a:prstGeom>
            <a:solidFill>
              <a:srgbClr val="F0F5FC"/>
            </a:solidFill>
            <a:ln w="9525">
              <a:solidFill>
                <a:srgbClr val="B8C7DC"/>
              </a:solidFill>
            </a:ln>
          </p:spPr>
        </p:sp>
        <p:sp>
          <p:nvSpPr>
            <p:cNvPr id="45" name="TextBox 45"/>
            <p:cNvSpPr txBox="1"/>
            <p:nvPr/>
          </p:nvSpPr>
          <p:spPr>
            <a:xfrm>
              <a:off x="8217168" y="5030629"/>
              <a:ext cx="1567914" cy="308039"/>
            </a:xfrm>
            <a:prstGeom prst="rect">
              <a:avLst/>
            </a:prstGeom>
            <a:noFill/>
            <a:ln>
              <a:noFill/>
            </a:ln>
          </p:spPr>
          <p:txBody>
            <a:bodyPr wrap="none" lIns="0" tIns="0" rIns="0" bIns="0" anchor="t" anchorCtr="0">
              <a:spAutoFit/>
            </a:bodyPr>
            <a:lstStyle/>
            <a:p>
              <a:pPr algn="ctr"/>
              <a:r>
                <a:rPr lang="zh-CN" sz="1580" b="1" dirty="0">
                  <a:solidFill>
                    <a:schemeClr val="accent1"/>
                  </a:solidFill>
                  <a:latin typeface="+mn-lt"/>
                  <a:ea typeface="+mn-ea"/>
                  <a:cs typeface="+mn-cs"/>
                </a:rPr>
                <a:t>Break · 10 min</a:t>
              </a:r>
            </a:p>
          </p:txBody>
        </p:sp>
        <p:sp>
          <p:nvSpPr>
            <p:cNvPr id="46" name="TextBox 46"/>
            <p:cNvSpPr txBox="1"/>
            <p:nvPr/>
          </p:nvSpPr>
          <p:spPr>
            <a:xfrm>
              <a:off x="7996820" y="5400199"/>
              <a:ext cx="2008609" cy="190690"/>
            </a:xfrm>
            <a:prstGeom prst="rect">
              <a:avLst/>
            </a:prstGeom>
            <a:noFill/>
            <a:ln>
              <a:noFill/>
            </a:ln>
          </p:spPr>
          <p:txBody>
            <a:bodyPr wrap="none" lIns="0" tIns="0" rIns="0" bIns="0" anchor="t" anchorCtr="0">
              <a:spAutoFit/>
            </a:bodyPr>
            <a:lstStyle/>
            <a:p>
              <a:pPr algn="ctr"/>
              <a:r>
                <a:rPr lang="zh-CN" sz="980" dirty="0">
                  <a:solidFill>
                    <a:schemeClr val="accent5"/>
                  </a:solidFill>
                  <a:latin typeface="+mn-lt"/>
                  <a:ea typeface="+mn-ea"/>
                  <a:cs typeface="+mn-cs"/>
                </a:rPr>
                <a:t>第一部分结束 · 下一部分：碳循环</a:t>
              </a:r>
            </a:p>
          </p:txBody>
        </p:sp>
      </p:grpSp>
      <p:sp>
        <p:nvSpPr>
          <p:cNvPr id="48" name="TextBox 48"/>
          <p:cNvSpPr txBox="1"/>
          <p:nvPr/>
        </p:nvSpPr>
        <p:spPr>
          <a:xfrm>
            <a:off x="376238" y="6532245"/>
            <a:ext cx="4623103" cy="176212"/>
          </a:xfrm>
          <a:prstGeom prst="rect">
            <a:avLst/>
          </a:prstGeom>
          <a:noFill/>
          <a:ln>
            <a:noFill/>
          </a:ln>
        </p:spPr>
        <p:txBody>
          <a:bodyPr wrap="none" lIns="0" tIns="0" rIns="0" bIns="0" anchor="t" anchorCtr="0">
            <a:spAutoFit/>
          </a:bodyPr>
          <a:lstStyle/>
          <a:p>
            <a:pPr algn="l"/>
            <a:r>
              <a:rPr lang="zh-CN" sz="900" dirty="0">
                <a:solidFill>
                  <a:schemeClr val="accent5"/>
                </a:solidFill>
                <a:latin typeface="+mn-lt"/>
                <a:ea typeface="+mn-ea"/>
                <a:cs typeface="+mn-cs"/>
              </a:rPr>
              <a:t>Source: UE 8e, Chs.12 &amp; 17; 地球系统与演变 Ch.3; EP 5e, Interlude F &amp; Ch.23.</a:t>
            </a:r>
          </a:p>
        </p:txBody>
      </p:sp>
      <p:sp>
        <p:nvSpPr>
          <p:cNvPr id="49" name="TextBox 49"/>
          <p:cNvSpPr txBox="1"/>
          <p:nvPr/>
        </p:nvSpPr>
        <p:spPr>
          <a:xfrm>
            <a:off x="11672964" y="6532245"/>
            <a:ext cx="142799" cy="176212"/>
          </a:xfrm>
          <a:prstGeom prst="rect">
            <a:avLst/>
          </a:prstGeom>
          <a:noFill/>
          <a:ln>
            <a:noFill/>
          </a:ln>
        </p:spPr>
        <p:txBody>
          <a:bodyPr wrap="none" lIns="0" tIns="0" rIns="0" bIns="0" anchor="t" anchorCtr="0">
            <a:spAutoFit/>
          </a:bodyPr>
          <a:lstStyle/>
          <a:p>
            <a:pPr algn="r"/>
            <a:r>
              <a:rPr lang="zh-CN" sz="900" dirty="0">
                <a:solidFill>
                  <a:schemeClr val="accent5"/>
                </a:solidFill>
                <a:latin typeface="+mn-lt"/>
                <a:ea typeface="+mn-ea"/>
                <a:cs typeface="+mn-cs"/>
              </a:rPr>
              <a:t>20</a:t>
            </a:r>
          </a:p>
        </p:txBody>
      </p:sp>
    </p:spTree>
    <p:extLst>
      <p:ext uri="{BB962C8B-B14F-4D97-AF65-F5344CB8AC3E}">
        <p14:creationId xmlns:p14="http://schemas.microsoft.com/office/powerpoint/2010/main" val="4040780252"/>
      </p:ext>
    </p:extLst>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5"/>
          <p:cNvGrpSpPr/>
          <p:nvPr/>
        </p:nvGrpSpPr>
        <p:grpSpPr>
          <a:xfrm>
            <a:off x="0" y="0"/>
            <a:ext cx="12192000" cy="685800"/>
            <a:chOff x="0" y="0"/>
            <a:chExt cx="12192000" cy="685800"/>
          </a:xfrm>
        </p:grpSpPr>
        <p:sp>
          <p:nvSpPr>
            <p:cNvPr id="2" name="Rectangle 2"/>
            <p:cNvSpPr/>
            <p:nvPr/>
          </p:nvSpPr>
          <p:spPr>
            <a:xfrm>
              <a:off x="0" y="0"/>
              <a:ext cx="12192000" cy="685800"/>
            </a:xfrm>
            <a:prstGeom prst="rect">
              <a:avLst/>
            </a:prstGeom>
            <a:solidFill>
              <a:schemeClr val="accent1"/>
            </a:solidFill>
            <a:ln>
              <a:noFill/>
            </a:ln>
          </p:spPr>
        </p:sp>
        <p:sp>
          <p:nvSpPr>
            <p:cNvPr id="3" name="TextBox 3"/>
            <p:cNvSpPr txBox="1"/>
            <p:nvPr/>
          </p:nvSpPr>
          <p:spPr>
            <a:xfrm>
              <a:off x="374142" y="282892"/>
              <a:ext cx="3379957" cy="264033"/>
            </a:xfrm>
            <a:prstGeom prst="rect">
              <a:avLst/>
            </a:prstGeom>
            <a:noFill/>
            <a:ln>
              <a:noFill/>
            </a:ln>
          </p:spPr>
          <p:txBody>
            <a:bodyPr wrap="none" lIns="0" tIns="0" rIns="0" bIns="0" anchor="t" anchorCtr="0">
              <a:spAutoFit/>
            </a:bodyPr>
            <a:lstStyle/>
            <a:p>
              <a:pPr algn="l"/>
              <a:r>
                <a:rPr lang="zh-CN" sz="1350" b="1" dirty="0">
                  <a:solidFill>
                    <a:srgbClr val="FFFFFF"/>
                  </a:solidFill>
                  <a:latin typeface="+mn-lt"/>
                  <a:ea typeface="+mn-ea"/>
                  <a:cs typeface="+mn-cs"/>
                </a:rPr>
                <a:t>2.1 为什么接下来讲碳？ | Why Carbon?</a:t>
              </a:r>
            </a:p>
          </p:txBody>
        </p:sp>
        <p:sp>
          <p:nvSpPr>
            <p:cNvPr id="4" name="TextBox 4"/>
            <p:cNvSpPr txBox="1"/>
            <p:nvPr/>
          </p:nvSpPr>
          <p:spPr>
            <a:xfrm>
              <a:off x="9961474" y="299085"/>
              <a:ext cx="1855622" cy="234696"/>
            </a:xfrm>
            <a:prstGeom prst="rect">
              <a:avLst/>
            </a:prstGeom>
            <a:noFill/>
            <a:ln>
              <a:noFill/>
            </a:ln>
          </p:spPr>
          <p:txBody>
            <a:bodyPr wrap="none" lIns="0" tIns="0" rIns="0" bIns="0" anchor="t" anchorCtr="0">
              <a:spAutoFit/>
            </a:bodyPr>
            <a:lstStyle/>
            <a:p>
              <a:pPr algn="r"/>
              <a:r>
                <a:rPr lang="zh-CN" sz="1200" dirty="0">
                  <a:solidFill>
                    <a:srgbClr val="C7D7F2"/>
                  </a:solidFill>
                  <a:latin typeface="+mn-lt"/>
                  <a:ea typeface="+mn-ea"/>
                  <a:cs typeface="+mn-cs"/>
                </a:rPr>
                <a:t>PART II · CARBON CYCLE</a:t>
              </a:r>
            </a:p>
          </p:txBody>
        </p:sp>
      </p:grpSp>
      <p:grpSp>
        <p:nvGrpSpPr>
          <p:cNvPr id="8" name="Group 8"/>
          <p:cNvGrpSpPr/>
          <p:nvPr/>
        </p:nvGrpSpPr>
        <p:grpSpPr>
          <a:xfrm>
            <a:off x="381000" y="914400"/>
            <a:ext cx="6895973" cy="357093"/>
            <a:chOff x="381000" y="914400"/>
            <a:chExt cx="6895973" cy="357093"/>
          </a:xfrm>
        </p:grpSpPr>
        <p:sp>
          <p:nvSpPr>
            <p:cNvPr id="6" name="Rectangle 6"/>
            <p:cNvSpPr/>
            <p:nvPr/>
          </p:nvSpPr>
          <p:spPr>
            <a:xfrm>
              <a:off x="381000" y="914400"/>
              <a:ext cx="57150" cy="266700"/>
            </a:xfrm>
            <a:prstGeom prst="roundRect">
              <a:avLst>
                <a:gd name="adj" fmla="val 50000"/>
              </a:avLst>
            </a:prstGeom>
            <a:solidFill>
              <a:schemeClr val="accent3"/>
            </a:solidFill>
            <a:ln>
              <a:noFill/>
            </a:ln>
          </p:spPr>
        </p:sp>
        <p:sp>
          <p:nvSpPr>
            <p:cNvPr id="7" name="TextBox 7"/>
            <p:cNvSpPr txBox="1"/>
            <p:nvPr/>
          </p:nvSpPr>
          <p:spPr>
            <a:xfrm>
              <a:off x="544449" y="963454"/>
              <a:ext cx="6732524" cy="308039"/>
            </a:xfrm>
            <a:prstGeom prst="rect">
              <a:avLst/>
            </a:prstGeom>
            <a:noFill/>
            <a:ln>
              <a:noFill/>
            </a:ln>
          </p:spPr>
          <p:txBody>
            <a:bodyPr wrap="none" lIns="0" tIns="0" rIns="0" bIns="0" anchor="t" anchorCtr="0">
              <a:spAutoFit/>
            </a:bodyPr>
            <a:lstStyle/>
            <a:p>
              <a:pPr algn="l"/>
              <a:r>
                <a:rPr lang="zh-CN" sz="1580" b="1" dirty="0">
                  <a:solidFill>
                    <a:srgbClr val="C2410C"/>
                  </a:solidFill>
                  <a:latin typeface="+mn-lt"/>
                  <a:ea typeface="+mn-ea"/>
                  <a:cs typeface="+mn-cs"/>
                </a:rPr>
                <a:t>碳循环把气候、生命、海洋与岩石，接进与水循环同一套储库—通量框架</a:t>
              </a:r>
            </a:p>
          </p:txBody>
        </p:sp>
      </p:grpSp>
      <p:grpSp>
        <p:nvGrpSpPr>
          <p:cNvPr id="29" name="Group 29"/>
          <p:cNvGrpSpPr/>
          <p:nvPr/>
        </p:nvGrpSpPr>
        <p:grpSpPr>
          <a:xfrm>
            <a:off x="381000" y="1428750"/>
            <a:ext cx="5619750" cy="4800600"/>
            <a:chOff x="381000" y="1428750"/>
            <a:chExt cx="5619750" cy="4800600"/>
          </a:xfrm>
        </p:grpSpPr>
        <p:sp>
          <p:nvSpPr>
            <p:cNvPr id="9" name="Rectangle 9"/>
            <p:cNvSpPr/>
            <p:nvPr/>
          </p:nvSpPr>
          <p:spPr>
            <a:xfrm>
              <a:off x="381000" y="1428750"/>
              <a:ext cx="5619750" cy="4800600"/>
            </a:xfrm>
            <a:prstGeom prst="roundRect">
              <a:avLst>
                <a:gd name="adj" fmla="val 2381"/>
              </a:avLst>
            </a:prstGeom>
            <a:solidFill>
              <a:schemeClr val="lt2"/>
            </a:solidFill>
            <a:ln w="9525">
              <a:solidFill>
                <a:schemeClr val="accent6"/>
              </a:solidFill>
            </a:ln>
          </p:spPr>
        </p:sp>
        <p:sp>
          <p:nvSpPr>
            <p:cNvPr id="10" name="TextBox 10"/>
            <p:cNvSpPr txBox="1"/>
            <p:nvPr/>
          </p:nvSpPr>
          <p:spPr>
            <a:xfrm>
              <a:off x="641604" y="1680210"/>
              <a:ext cx="2091559" cy="234696"/>
            </a:xfrm>
            <a:prstGeom prst="rect">
              <a:avLst/>
            </a:prstGeom>
            <a:noFill/>
            <a:ln>
              <a:noFill/>
            </a:ln>
          </p:spPr>
          <p:txBody>
            <a:bodyPr wrap="none" lIns="0" tIns="0" rIns="0" bIns="0" anchor="t" anchorCtr="0">
              <a:spAutoFit/>
            </a:bodyPr>
            <a:lstStyle/>
            <a:p>
              <a:pPr algn="l"/>
              <a:r>
                <a:rPr lang="zh-CN" sz="1200" b="1" dirty="0">
                  <a:solidFill>
                    <a:schemeClr val="accent1"/>
                  </a:solidFill>
                  <a:latin typeface="+mn-lt"/>
                  <a:ea typeface="+mn-ea"/>
                  <a:cs typeface="+mn-cs"/>
                </a:rPr>
                <a:t>课程位置 | Course position</a:t>
              </a:r>
            </a:p>
          </p:txBody>
        </p:sp>
        <p:sp>
          <p:nvSpPr>
            <p:cNvPr id="11" name="TextBox 11"/>
            <p:cNvSpPr txBox="1"/>
            <p:nvPr/>
          </p:nvSpPr>
          <p:spPr>
            <a:xfrm>
              <a:off x="642747" y="1933099"/>
              <a:ext cx="3176168" cy="190690"/>
            </a:xfrm>
            <a:prstGeom prst="rect">
              <a:avLst/>
            </a:prstGeom>
            <a:noFill/>
            <a:ln>
              <a:noFill/>
            </a:ln>
          </p:spPr>
          <p:txBody>
            <a:bodyPr wrap="none" lIns="0" tIns="0" rIns="0" bIns="0" anchor="t" anchorCtr="0">
              <a:spAutoFit/>
            </a:bodyPr>
            <a:lstStyle/>
            <a:p>
              <a:pPr algn="l"/>
              <a:r>
                <a:rPr lang="zh-CN" sz="980" dirty="0">
                  <a:solidFill>
                    <a:schemeClr val="accent5"/>
                  </a:solidFill>
                  <a:latin typeface="+mn-lt"/>
                  <a:ea typeface="+mn-ea"/>
                  <a:cs typeface="+mn-cs"/>
                </a:rPr>
                <a:t>第二部分现在开始；先用同一套语言读完水，再读碳。</a:t>
              </a:r>
            </a:p>
          </p:txBody>
        </p:sp>
        <p:sp>
          <p:nvSpPr>
            <p:cNvPr id="12" name="Rectangle 12"/>
            <p:cNvSpPr/>
            <p:nvPr/>
          </p:nvSpPr>
          <p:spPr>
            <a:xfrm>
              <a:off x="647700" y="2247900"/>
              <a:ext cx="5086350" cy="1162050"/>
            </a:xfrm>
            <a:prstGeom prst="roundRect">
              <a:avLst>
                <a:gd name="adj" fmla="val 9836"/>
              </a:avLst>
            </a:prstGeom>
            <a:solidFill>
              <a:srgbClr val="F0F5FC"/>
            </a:solidFill>
            <a:ln>
              <a:noFill/>
            </a:ln>
          </p:spPr>
        </p:sp>
        <p:sp>
          <p:nvSpPr>
            <p:cNvPr id="13" name="Ellipse 13"/>
            <p:cNvSpPr/>
            <p:nvPr/>
          </p:nvSpPr>
          <p:spPr>
            <a:xfrm>
              <a:off x="781050" y="2619375"/>
              <a:ext cx="419100" cy="419100"/>
            </a:xfrm>
            <a:prstGeom prst="ellipse">
              <a:avLst/>
            </a:prstGeom>
            <a:solidFill>
              <a:schemeClr val="accent2"/>
            </a:solidFill>
            <a:ln>
              <a:noFill/>
            </a:ln>
          </p:spPr>
        </p:sp>
        <p:sp>
          <p:nvSpPr>
            <p:cNvPr id="14" name="TextBox 14"/>
            <p:cNvSpPr txBox="1"/>
            <p:nvPr/>
          </p:nvSpPr>
          <p:spPr>
            <a:xfrm>
              <a:off x="937858" y="2756535"/>
              <a:ext cx="105484" cy="234696"/>
            </a:xfrm>
            <a:prstGeom prst="rect">
              <a:avLst/>
            </a:prstGeom>
            <a:noFill/>
            <a:ln>
              <a:noFill/>
            </a:ln>
          </p:spPr>
          <p:txBody>
            <a:bodyPr wrap="none" lIns="0" tIns="0" rIns="0" bIns="0" anchor="t" anchorCtr="0">
              <a:spAutoFit/>
            </a:bodyPr>
            <a:lstStyle/>
            <a:p>
              <a:pPr algn="ctr"/>
              <a:r>
                <a:rPr lang="zh-CN" sz="1200" b="1" dirty="0">
                  <a:solidFill>
                    <a:srgbClr val="FFFFFF"/>
                  </a:solidFill>
                  <a:latin typeface="+mn-lt"/>
                  <a:ea typeface="+mn-ea"/>
                  <a:cs typeface="+mn-cs"/>
                </a:rPr>
                <a:t>1</a:t>
              </a:r>
            </a:p>
          </p:txBody>
        </p:sp>
        <p:sp>
          <p:nvSpPr>
            <p:cNvPr id="15" name="TextBox 15"/>
            <p:cNvSpPr txBox="1"/>
            <p:nvPr/>
          </p:nvSpPr>
          <p:spPr>
            <a:xfrm>
              <a:off x="1365504" y="2632710"/>
              <a:ext cx="1643061" cy="234696"/>
            </a:xfrm>
            <a:prstGeom prst="rect">
              <a:avLst/>
            </a:prstGeom>
            <a:noFill/>
            <a:ln>
              <a:noFill/>
            </a:ln>
          </p:spPr>
          <p:txBody>
            <a:bodyPr wrap="none" lIns="0" tIns="0" rIns="0" bIns="0" anchor="t" anchorCtr="0">
              <a:spAutoFit/>
            </a:bodyPr>
            <a:lstStyle/>
            <a:p>
              <a:pPr algn="l"/>
              <a:r>
                <a:rPr lang="zh-CN" sz="1200" b="1" dirty="0">
                  <a:solidFill>
                    <a:schemeClr val="accent1"/>
                  </a:solidFill>
                  <a:latin typeface="+mn-lt"/>
                  <a:ea typeface="+mn-ea"/>
                  <a:cs typeface="+mn-cs"/>
                </a:rPr>
                <a:t>水循环 | Water Cycle</a:t>
              </a:r>
            </a:p>
          </p:txBody>
        </p:sp>
        <p:sp>
          <p:nvSpPr>
            <p:cNvPr id="16" name="TextBox 16"/>
            <p:cNvSpPr txBox="1"/>
            <p:nvPr/>
          </p:nvSpPr>
          <p:spPr>
            <a:xfrm>
              <a:off x="1365885" y="2945606"/>
              <a:ext cx="2597211" cy="220028"/>
            </a:xfrm>
            <a:prstGeom prst="rect">
              <a:avLst/>
            </a:prstGeom>
            <a:noFill/>
            <a:ln>
              <a:noFill/>
            </a:ln>
          </p:spPr>
          <p:txBody>
            <a:bodyPr wrap="none" lIns="0" tIns="0" rIns="0" bIns="0" anchor="t" anchorCtr="0">
              <a:spAutoFit/>
            </a:bodyPr>
            <a:lstStyle/>
            <a:p>
              <a:pPr algn="l"/>
              <a:r>
                <a:rPr lang="zh-CN" sz="1120" dirty="0">
                  <a:solidFill>
                    <a:schemeClr val="dk1"/>
                  </a:solidFill>
                  <a:latin typeface="+mn-lt"/>
                  <a:ea typeface="+mn-ea"/>
                  <a:cs typeface="+mn-cs"/>
                </a:rPr>
                <a:t>已完成 · 储库、通量与停留时间已建立</a:t>
              </a:r>
            </a:p>
          </p:txBody>
        </p:sp>
        <p:sp>
          <p:nvSpPr>
            <p:cNvPr id="17" name="Rectangle 17"/>
            <p:cNvSpPr/>
            <p:nvPr/>
          </p:nvSpPr>
          <p:spPr>
            <a:xfrm>
              <a:off x="647700" y="3562350"/>
              <a:ext cx="5086350" cy="1162050"/>
            </a:xfrm>
            <a:prstGeom prst="roundRect">
              <a:avLst>
                <a:gd name="adj" fmla="val 9836"/>
              </a:avLst>
            </a:prstGeom>
            <a:solidFill>
              <a:srgbClr val="FDF4EF"/>
            </a:solidFill>
            <a:ln w="9525">
              <a:solidFill>
                <a:srgbClr val="F0CFC2"/>
              </a:solidFill>
            </a:ln>
          </p:spPr>
        </p:sp>
        <p:sp>
          <p:nvSpPr>
            <p:cNvPr id="18" name="Ellipse 18"/>
            <p:cNvSpPr/>
            <p:nvPr/>
          </p:nvSpPr>
          <p:spPr>
            <a:xfrm>
              <a:off x="781050" y="3933825"/>
              <a:ext cx="419100" cy="419100"/>
            </a:xfrm>
            <a:prstGeom prst="ellipse">
              <a:avLst/>
            </a:prstGeom>
            <a:solidFill>
              <a:schemeClr val="accent3"/>
            </a:solidFill>
            <a:ln>
              <a:noFill/>
            </a:ln>
          </p:spPr>
        </p:sp>
        <p:sp>
          <p:nvSpPr>
            <p:cNvPr id="19" name="TextBox 19"/>
            <p:cNvSpPr txBox="1"/>
            <p:nvPr/>
          </p:nvSpPr>
          <p:spPr>
            <a:xfrm>
              <a:off x="937858" y="4070985"/>
              <a:ext cx="105484" cy="234696"/>
            </a:xfrm>
            <a:prstGeom prst="rect">
              <a:avLst/>
            </a:prstGeom>
            <a:noFill/>
            <a:ln>
              <a:noFill/>
            </a:ln>
          </p:spPr>
          <p:txBody>
            <a:bodyPr wrap="none" lIns="0" tIns="0" rIns="0" bIns="0" anchor="t" anchorCtr="0">
              <a:spAutoFit/>
            </a:bodyPr>
            <a:lstStyle/>
            <a:p>
              <a:pPr algn="ctr"/>
              <a:r>
                <a:rPr lang="zh-CN" sz="1200" b="1" dirty="0">
                  <a:solidFill>
                    <a:srgbClr val="FFFFFF"/>
                  </a:solidFill>
                  <a:latin typeface="+mn-lt"/>
                  <a:ea typeface="+mn-ea"/>
                  <a:cs typeface="+mn-cs"/>
                </a:rPr>
                <a:t>2</a:t>
              </a:r>
            </a:p>
          </p:txBody>
        </p:sp>
        <p:sp>
          <p:nvSpPr>
            <p:cNvPr id="20" name="TextBox 20"/>
            <p:cNvSpPr txBox="1"/>
            <p:nvPr/>
          </p:nvSpPr>
          <p:spPr>
            <a:xfrm>
              <a:off x="1365504" y="3947160"/>
              <a:ext cx="1701380" cy="234696"/>
            </a:xfrm>
            <a:prstGeom prst="rect">
              <a:avLst/>
            </a:prstGeom>
            <a:noFill/>
            <a:ln>
              <a:noFill/>
            </a:ln>
          </p:spPr>
          <p:txBody>
            <a:bodyPr wrap="none" lIns="0" tIns="0" rIns="0" bIns="0" anchor="t" anchorCtr="0">
              <a:spAutoFit/>
            </a:bodyPr>
            <a:lstStyle/>
            <a:p>
              <a:pPr algn="l"/>
              <a:r>
                <a:rPr lang="zh-CN" sz="1200" b="1" dirty="0">
                  <a:solidFill>
                    <a:srgbClr val="C2410C"/>
                  </a:solidFill>
                  <a:latin typeface="+mn-lt"/>
                  <a:ea typeface="+mn-ea"/>
                  <a:cs typeface="+mn-cs"/>
                </a:rPr>
                <a:t>碳循环 | Carbon Cycle</a:t>
              </a:r>
            </a:p>
          </p:txBody>
        </p:sp>
        <p:sp>
          <p:nvSpPr>
            <p:cNvPr id="21" name="TextBox 21"/>
            <p:cNvSpPr txBox="1"/>
            <p:nvPr/>
          </p:nvSpPr>
          <p:spPr>
            <a:xfrm>
              <a:off x="1365885" y="4260056"/>
              <a:ext cx="2597211" cy="220028"/>
            </a:xfrm>
            <a:prstGeom prst="rect">
              <a:avLst/>
            </a:prstGeom>
            <a:noFill/>
            <a:ln>
              <a:noFill/>
            </a:ln>
          </p:spPr>
          <p:txBody>
            <a:bodyPr wrap="none" lIns="0" tIns="0" rIns="0" bIns="0" anchor="t" anchorCtr="0">
              <a:spAutoFit/>
            </a:bodyPr>
            <a:lstStyle/>
            <a:p>
              <a:pPr algn="l"/>
              <a:r>
                <a:rPr lang="zh-CN" sz="1120" dirty="0">
                  <a:solidFill>
                    <a:schemeClr val="dk1"/>
                  </a:solidFill>
                  <a:latin typeface="+mn-lt"/>
                  <a:ea typeface="+mn-ea"/>
                  <a:cs typeface="+mn-cs"/>
                </a:rPr>
                <a:t>当前 · 用同一套语言读碳的储库与路径</a:t>
              </a:r>
            </a:p>
          </p:txBody>
        </p:sp>
        <p:sp>
          <p:nvSpPr>
            <p:cNvPr id="22" name="Rectangle 22"/>
            <p:cNvSpPr/>
            <p:nvPr/>
          </p:nvSpPr>
          <p:spPr>
            <a:xfrm>
              <a:off x="4743450" y="3771900"/>
              <a:ext cx="685800" cy="247650"/>
            </a:xfrm>
            <a:prstGeom prst="roundRect">
              <a:avLst>
                <a:gd name="adj" fmla="val 30769"/>
              </a:avLst>
            </a:prstGeom>
            <a:solidFill>
              <a:schemeClr val="accent3"/>
            </a:solidFill>
            <a:ln>
              <a:noFill/>
            </a:ln>
          </p:spPr>
        </p:sp>
        <p:sp>
          <p:nvSpPr>
            <p:cNvPr id="23" name="TextBox 23"/>
            <p:cNvSpPr txBox="1"/>
            <p:nvPr/>
          </p:nvSpPr>
          <p:spPr>
            <a:xfrm>
              <a:off x="4949469" y="3838099"/>
              <a:ext cx="273761" cy="190690"/>
            </a:xfrm>
            <a:prstGeom prst="rect">
              <a:avLst/>
            </a:prstGeom>
            <a:noFill/>
            <a:ln>
              <a:noFill/>
            </a:ln>
          </p:spPr>
          <p:txBody>
            <a:bodyPr wrap="none" lIns="0" tIns="0" rIns="0" bIns="0" anchor="t" anchorCtr="0">
              <a:spAutoFit/>
            </a:bodyPr>
            <a:lstStyle/>
            <a:p>
              <a:pPr algn="ctr"/>
              <a:r>
                <a:rPr lang="zh-CN" sz="980" b="1" dirty="0">
                  <a:solidFill>
                    <a:srgbClr val="FFFFFF"/>
                  </a:solidFill>
                  <a:latin typeface="+mn-lt"/>
                  <a:ea typeface="+mn-ea"/>
                  <a:cs typeface="+mn-cs"/>
                </a:rPr>
                <a:t>当前</a:t>
              </a:r>
            </a:p>
          </p:txBody>
        </p:sp>
        <p:sp>
          <p:nvSpPr>
            <p:cNvPr id="24" name="Rectangle 24"/>
            <p:cNvSpPr/>
            <p:nvPr/>
          </p:nvSpPr>
          <p:spPr>
            <a:xfrm>
              <a:off x="647700" y="4876800"/>
              <a:ext cx="5086350" cy="1162050"/>
            </a:xfrm>
            <a:prstGeom prst="roundRect">
              <a:avLst>
                <a:gd name="adj" fmla="val 9836"/>
              </a:avLst>
            </a:prstGeom>
            <a:solidFill>
              <a:srgbClr val="F0F5FC"/>
            </a:solidFill>
            <a:ln>
              <a:noFill/>
            </a:ln>
          </p:spPr>
        </p:sp>
        <p:sp>
          <p:nvSpPr>
            <p:cNvPr id="25" name="Ellipse 25"/>
            <p:cNvSpPr/>
            <p:nvPr/>
          </p:nvSpPr>
          <p:spPr>
            <a:xfrm>
              <a:off x="781050" y="5248275"/>
              <a:ext cx="419100" cy="419100"/>
            </a:xfrm>
            <a:prstGeom prst="ellipse">
              <a:avLst/>
            </a:prstGeom>
            <a:solidFill>
              <a:srgbClr val="3D7BD9"/>
            </a:solidFill>
            <a:ln>
              <a:noFill/>
            </a:ln>
          </p:spPr>
        </p:sp>
        <p:sp>
          <p:nvSpPr>
            <p:cNvPr id="26" name="TextBox 26"/>
            <p:cNvSpPr txBox="1"/>
            <p:nvPr/>
          </p:nvSpPr>
          <p:spPr>
            <a:xfrm>
              <a:off x="937858" y="5385435"/>
              <a:ext cx="105484" cy="234696"/>
            </a:xfrm>
            <a:prstGeom prst="rect">
              <a:avLst/>
            </a:prstGeom>
            <a:noFill/>
            <a:ln>
              <a:noFill/>
            </a:ln>
          </p:spPr>
          <p:txBody>
            <a:bodyPr wrap="none" lIns="0" tIns="0" rIns="0" bIns="0" anchor="t" anchorCtr="0">
              <a:spAutoFit/>
            </a:bodyPr>
            <a:lstStyle/>
            <a:p>
              <a:pPr algn="ctr"/>
              <a:r>
                <a:rPr lang="zh-CN" sz="1200" b="1" dirty="0">
                  <a:solidFill>
                    <a:srgbClr val="FFFFFF"/>
                  </a:solidFill>
                  <a:latin typeface="+mn-lt"/>
                  <a:ea typeface="+mn-ea"/>
                  <a:cs typeface="+mn-cs"/>
                </a:rPr>
                <a:t>3</a:t>
              </a:r>
            </a:p>
          </p:txBody>
        </p:sp>
        <p:sp>
          <p:nvSpPr>
            <p:cNvPr id="27" name="TextBox 27"/>
            <p:cNvSpPr txBox="1"/>
            <p:nvPr/>
          </p:nvSpPr>
          <p:spPr>
            <a:xfrm>
              <a:off x="1365504" y="5261610"/>
              <a:ext cx="3011714" cy="234696"/>
            </a:xfrm>
            <a:prstGeom prst="rect">
              <a:avLst/>
            </a:prstGeom>
            <a:noFill/>
            <a:ln>
              <a:noFill/>
            </a:ln>
          </p:spPr>
          <p:txBody>
            <a:bodyPr wrap="none" lIns="0" tIns="0" rIns="0" bIns="0" anchor="t" anchorCtr="0">
              <a:spAutoFit/>
            </a:bodyPr>
            <a:lstStyle/>
            <a:p>
              <a:pPr algn="l"/>
              <a:r>
                <a:rPr lang="zh-CN" sz="1200" b="1" dirty="0">
                  <a:solidFill>
                    <a:schemeClr val="accent1"/>
                  </a:solidFill>
                  <a:latin typeface="+mn-lt"/>
                  <a:ea typeface="+mn-ea"/>
                  <a:cs typeface="+mn-cs"/>
                </a:rPr>
                <a:t>耦合与气候反馈 | Coupling &amp; Feedbacks</a:t>
              </a:r>
            </a:p>
          </p:txBody>
        </p:sp>
        <p:sp>
          <p:nvSpPr>
            <p:cNvPr id="28" name="TextBox 28"/>
            <p:cNvSpPr txBox="1"/>
            <p:nvPr/>
          </p:nvSpPr>
          <p:spPr>
            <a:xfrm>
              <a:off x="1365885" y="5574506"/>
              <a:ext cx="2747985" cy="220028"/>
            </a:xfrm>
            <a:prstGeom prst="rect">
              <a:avLst/>
            </a:prstGeom>
            <a:noFill/>
            <a:ln>
              <a:noFill/>
            </a:ln>
          </p:spPr>
          <p:txBody>
            <a:bodyPr wrap="none" lIns="0" tIns="0" rIns="0" bIns="0" anchor="t" anchorCtr="0">
              <a:spAutoFit/>
            </a:bodyPr>
            <a:lstStyle/>
            <a:p>
              <a:pPr algn="l"/>
              <a:r>
                <a:rPr lang="zh-CN" sz="1120" dirty="0">
                  <a:solidFill>
                    <a:schemeClr val="dk1"/>
                  </a:solidFill>
                  <a:latin typeface="+mn-lt"/>
                  <a:ea typeface="+mn-ea"/>
                  <a:cs typeface="+mn-cs"/>
                </a:rPr>
                <a:t>接下来 · 把两个循环放回同一个气候系统</a:t>
              </a:r>
            </a:p>
          </p:txBody>
        </p:sp>
      </p:grpSp>
      <p:grpSp>
        <p:nvGrpSpPr>
          <p:cNvPr id="61" name="Group 61"/>
          <p:cNvGrpSpPr/>
          <p:nvPr/>
        </p:nvGrpSpPr>
        <p:grpSpPr>
          <a:xfrm>
            <a:off x="6267450" y="1428750"/>
            <a:ext cx="5543550" cy="4800600"/>
            <a:chOff x="6267450" y="1428750"/>
            <a:chExt cx="5543550" cy="4800600"/>
          </a:xfrm>
        </p:grpSpPr>
        <p:sp>
          <p:nvSpPr>
            <p:cNvPr id="30" name="Rectangle 30"/>
            <p:cNvSpPr/>
            <p:nvPr/>
          </p:nvSpPr>
          <p:spPr>
            <a:xfrm>
              <a:off x="6267450" y="1428750"/>
              <a:ext cx="5543550" cy="4800600"/>
            </a:xfrm>
            <a:prstGeom prst="roundRect">
              <a:avLst>
                <a:gd name="adj" fmla="val 2381"/>
              </a:avLst>
            </a:prstGeom>
            <a:solidFill>
              <a:srgbClr val="FDF4EF"/>
            </a:solidFill>
            <a:ln w="9525">
              <a:solidFill>
                <a:srgbClr val="F0CFC2"/>
              </a:solidFill>
            </a:ln>
          </p:spPr>
        </p:sp>
        <p:sp>
          <p:nvSpPr>
            <p:cNvPr id="31" name="TextBox 31"/>
            <p:cNvSpPr txBox="1"/>
            <p:nvPr/>
          </p:nvSpPr>
          <p:spPr>
            <a:xfrm>
              <a:off x="6528054" y="1680210"/>
              <a:ext cx="2672643" cy="234696"/>
            </a:xfrm>
            <a:prstGeom prst="rect">
              <a:avLst/>
            </a:prstGeom>
            <a:noFill/>
            <a:ln>
              <a:noFill/>
            </a:ln>
          </p:spPr>
          <p:txBody>
            <a:bodyPr wrap="none" lIns="0" tIns="0" rIns="0" bIns="0" anchor="t" anchorCtr="0">
              <a:spAutoFit/>
            </a:bodyPr>
            <a:lstStyle/>
            <a:p>
              <a:pPr algn="l"/>
              <a:r>
                <a:rPr lang="zh-CN" sz="1200" b="1" dirty="0">
                  <a:solidFill>
                    <a:srgbClr val="C2410C"/>
                  </a:solidFill>
                  <a:latin typeface="+mn-lt"/>
                  <a:ea typeface="+mn-ea"/>
                  <a:cs typeface="+mn-cs"/>
                </a:rPr>
                <a:t>沿用同一套语言 | Same framework</a:t>
              </a:r>
            </a:p>
          </p:txBody>
        </p:sp>
        <p:sp>
          <p:nvSpPr>
            <p:cNvPr id="32" name="Rectangle 32"/>
            <p:cNvSpPr/>
            <p:nvPr/>
          </p:nvSpPr>
          <p:spPr>
            <a:xfrm>
              <a:off x="6534150" y="1962150"/>
              <a:ext cx="1619250" cy="571500"/>
            </a:xfrm>
            <a:prstGeom prst="roundRect">
              <a:avLst>
                <a:gd name="adj" fmla="val 16667"/>
              </a:avLst>
            </a:prstGeom>
            <a:solidFill>
              <a:schemeClr val="lt1"/>
            </a:solidFill>
            <a:ln w="9525">
              <a:solidFill>
                <a:srgbClr val="F0CFC2"/>
              </a:solidFill>
            </a:ln>
          </p:spPr>
        </p:sp>
        <p:sp>
          <p:nvSpPr>
            <p:cNvPr id="33" name="TextBox 33"/>
            <p:cNvSpPr txBox="1"/>
            <p:nvPr/>
          </p:nvSpPr>
          <p:spPr>
            <a:xfrm>
              <a:off x="7187286" y="2107406"/>
              <a:ext cx="312979" cy="220028"/>
            </a:xfrm>
            <a:prstGeom prst="rect">
              <a:avLst/>
            </a:prstGeom>
            <a:noFill/>
            <a:ln>
              <a:noFill/>
            </a:ln>
          </p:spPr>
          <p:txBody>
            <a:bodyPr wrap="none" lIns="0" tIns="0" rIns="0" bIns="0" anchor="t" anchorCtr="0">
              <a:spAutoFit/>
            </a:bodyPr>
            <a:lstStyle/>
            <a:p>
              <a:pPr algn="ctr"/>
              <a:r>
                <a:rPr lang="zh-CN" sz="1120" b="1" dirty="0">
                  <a:solidFill>
                    <a:schemeClr val="dk1"/>
                  </a:solidFill>
                  <a:latin typeface="+mn-lt"/>
                  <a:ea typeface="+mn-ea"/>
                  <a:cs typeface="+mn-cs"/>
                </a:rPr>
                <a:t>储库</a:t>
              </a:r>
            </a:p>
          </p:txBody>
        </p:sp>
        <p:sp>
          <p:nvSpPr>
            <p:cNvPr id="34" name="TextBox 34"/>
            <p:cNvSpPr txBox="1"/>
            <p:nvPr/>
          </p:nvSpPr>
          <p:spPr>
            <a:xfrm>
              <a:off x="7026842" y="2333149"/>
              <a:ext cx="633865" cy="190690"/>
            </a:xfrm>
            <a:prstGeom prst="rect">
              <a:avLst/>
            </a:prstGeom>
            <a:noFill/>
            <a:ln>
              <a:noFill/>
            </a:ln>
          </p:spPr>
          <p:txBody>
            <a:bodyPr wrap="none" lIns="0" tIns="0" rIns="0" bIns="0" anchor="t" anchorCtr="0">
              <a:spAutoFit/>
            </a:bodyPr>
            <a:lstStyle/>
            <a:p>
              <a:pPr algn="ctr"/>
              <a:r>
                <a:rPr lang="zh-CN" sz="980" dirty="0">
                  <a:solidFill>
                    <a:schemeClr val="accent5"/>
                  </a:solidFill>
                  <a:latin typeface="+mn-lt"/>
                  <a:ea typeface="+mn-ea"/>
                  <a:cs typeface="+mn-cs"/>
                </a:rPr>
                <a:t>Reservoir</a:t>
              </a:r>
            </a:p>
          </p:txBody>
        </p:sp>
        <p:sp>
          <p:nvSpPr>
            <p:cNvPr id="35" name="Rectangle 35"/>
            <p:cNvSpPr/>
            <p:nvPr/>
          </p:nvSpPr>
          <p:spPr>
            <a:xfrm>
              <a:off x="8267700" y="1962150"/>
              <a:ext cx="1619250" cy="571500"/>
            </a:xfrm>
            <a:prstGeom prst="roundRect">
              <a:avLst>
                <a:gd name="adj" fmla="val 16667"/>
              </a:avLst>
            </a:prstGeom>
            <a:solidFill>
              <a:schemeClr val="lt1"/>
            </a:solidFill>
            <a:ln w="9525">
              <a:solidFill>
                <a:srgbClr val="F0CFC2"/>
              </a:solidFill>
            </a:ln>
          </p:spPr>
        </p:sp>
        <p:sp>
          <p:nvSpPr>
            <p:cNvPr id="36" name="TextBox 36"/>
            <p:cNvSpPr txBox="1"/>
            <p:nvPr/>
          </p:nvSpPr>
          <p:spPr>
            <a:xfrm>
              <a:off x="8920836" y="2107406"/>
              <a:ext cx="312979" cy="220028"/>
            </a:xfrm>
            <a:prstGeom prst="rect">
              <a:avLst/>
            </a:prstGeom>
            <a:noFill/>
            <a:ln>
              <a:noFill/>
            </a:ln>
          </p:spPr>
          <p:txBody>
            <a:bodyPr wrap="none" lIns="0" tIns="0" rIns="0" bIns="0" anchor="t" anchorCtr="0">
              <a:spAutoFit/>
            </a:bodyPr>
            <a:lstStyle/>
            <a:p>
              <a:pPr algn="ctr"/>
              <a:r>
                <a:rPr lang="zh-CN" sz="1120" b="1" dirty="0">
                  <a:solidFill>
                    <a:schemeClr val="dk1"/>
                  </a:solidFill>
                  <a:latin typeface="+mn-lt"/>
                  <a:ea typeface="+mn-ea"/>
                  <a:cs typeface="+mn-cs"/>
                </a:rPr>
                <a:t>通量</a:t>
              </a:r>
            </a:p>
          </p:txBody>
        </p:sp>
        <p:sp>
          <p:nvSpPr>
            <p:cNvPr id="37" name="TextBox 37"/>
            <p:cNvSpPr txBox="1"/>
            <p:nvPr/>
          </p:nvSpPr>
          <p:spPr>
            <a:xfrm>
              <a:off x="8941922" y="2333149"/>
              <a:ext cx="270805" cy="190690"/>
            </a:xfrm>
            <a:prstGeom prst="rect">
              <a:avLst/>
            </a:prstGeom>
            <a:noFill/>
            <a:ln>
              <a:noFill/>
            </a:ln>
          </p:spPr>
          <p:txBody>
            <a:bodyPr wrap="none" lIns="0" tIns="0" rIns="0" bIns="0" anchor="t" anchorCtr="0">
              <a:spAutoFit/>
            </a:bodyPr>
            <a:lstStyle/>
            <a:p>
              <a:pPr algn="ctr"/>
              <a:r>
                <a:rPr lang="zh-CN" sz="980" dirty="0">
                  <a:solidFill>
                    <a:schemeClr val="accent5"/>
                  </a:solidFill>
                  <a:latin typeface="+mn-lt"/>
                  <a:ea typeface="+mn-ea"/>
                  <a:cs typeface="+mn-cs"/>
                </a:rPr>
                <a:t>Flux</a:t>
              </a:r>
            </a:p>
          </p:txBody>
        </p:sp>
        <p:sp>
          <p:nvSpPr>
            <p:cNvPr id="38" name="Rectangle 38"/>
            <p:cNvSpPr/>
            <p:nvPr/>
          </p:nvSpPr>
          <p:spPr>
            <a:xfrm>
              <a:off x="10001250" y="1962150"/>
              <a:ext cx="1619250" cy="571500"/>
            </a:xfrm>
            <a:prstGeom prst="roundRect">
              <a:avLst>
                <a:gd name="adj" fmla="val 16667"/>
              </a:avLst>
            </a:prstGeom>
            <a:solidFill>
              <a:schemeClr val="lt1"/>
            </a:solidFill>
            <a:ln w="9525">
              <a:solidFill>
                <a:srgbClr val="F0CFC2"/>
              </a:solidFill>
            </a:ln>
          </p:spPr>
        </p:sp>
        <p:sp>
          <p:nvSpPr>
            <p:cNvPr id="39" name="TextBox 39"/>
            <p:cNvSpPr txBox="1"/>
            <p:nvPr/>
          </p:nvSpPr>
          <p:spPr>
            <a:xfrm>
              <a:off x="10503611" y="2107406"/>
              <a:ext cx="614528" cy="220028"/>
            </a:xfrm>
            <a:prstGeom prst="rect">
              <a:avLst/>
            </a:prstGeom>
            <a:noFill/>
            <a:ln>
              <a:noFill/>
            </a:ln>
          </p:spPr>
          <p:txBody>
            <a:bodyPr wrap="none" lIns="0" tIns="0" rIns="0" bIns="0" anchor="t" anchorCtr="0">
              <a:spAutoFit/>
            </a:bodyPr>
            <a:lstStyle/>
            <a:p>
              <a:pPr algn="ctr"/>
              <a:r>
                <a:rPr lang="zh-CN" sz="1120" b="1" dirty="0">
                  <a:solidFill>
                    <a:schemeClr val="dk1"/>
                  </a:solidFill>
                  <a:latin typeface="+mn-lt"/>
                  <a:ea typeface="+mn-ea"/>
                  <a:cs typeface="+mn-cs"/>
                </a:rPr>
                <a:t>停留时间</a:t>
              </a:r>
            </a:p>
          </p:txBody>
        </p:sp>
        <p:sp>
          <p:nvSpPr>
            <p:cNvPr id="40" name="TextBox 40"/>
            <p:cNvSpPr txBox="1"/>
            <p:nvPr/>
          </p:nvSpPr>
          <p:spPr>
            <a:xfrm>
              <a:off x="10330174" y="2333149"/>
              <a:ext cx="961403" cy="190690"/>
            </a:xfrm>
            <a:prstGeom prst="rect">
              <a:avLst/>
            </a:prstGeom>
            <a:noFill/>
            <a:ln>
              <a:noFill/>
            </a:ln>
          </p:spPr>
          <p:txBody>
            <a:bodyPr wrap="none" lIns="0" tIns="0" rIns="0" bIns="0" anchor="t" anchorCtr="0">
              <a:spAutoFit/>
            </a:bodyPr>
            <a:lstStyle/>
            <a:p>
              <a:pPr algn="ctr"/>
              <a:r>
                <a:rPr lang="zh-CN" sz="980" dirty="0">
                  <a:solidFill>
                    <a:schemeClr val="accent5"/>
                  </a:solidFill>
                  <a:latin typeface="+mn-lt"/>
                  <a:ea typeface="+mn-ea"/>
                  <a:cs typeface="+mn-cs"/>
                </a:rPr>
                <a:t>Residence Time</a:t>
              </a:r>
            </a:p>
          </p:txBody>
        </p:sp>
        <p:sp>
          <p:nvSpPr>
            <p:cNvPr id="41" name="TextBox 41"/>
            <p:cNvSpPr txBox="1"/>
            <p:nvPr/>
          </p:nvSpPr>
          <p:spPr>
            <a:xfrm>
              <a:off x="6528435" y="2736056"/>
              <a:ext cx="1820723" cy="220028"/>
            </a:xfrm>
            <a:prstGeom prst="rect">
              <a:avLst/>
            </a:prstGeom>
            <a:noFill/>
            <a:ln>
              <a:noFill/>
            </a:ln>
          </p:spPr>
          <p:txBody>
            <a:bodyPr wrap="none" lIns="0" tIns="0" rIns="0" bIns="0" anchor="t" anchorCtr="0">
              <a:spAutoFit/>
            </a:bodyPr>
            <a:lstStyle/>
            <a:p>
              <a:pPr algn="l"/>
              <a:r>
                <a:rPr lang="zh-CN" sz="1120" dirty="0">
                  <a:solidFill>
                    <a:schemeClr val="dk1"/>
                  </a:solidFill>
                  <a:latin typeface="+mn-lt"/>
                  <a:ea typeface="+mn-ea"/>
                  <a:cs typeface="+mn-cs"/>
                </a:rPr>
                <a:t>碳再把它们连到四个领域：</a:t>
              </a:r>
            </a:p>
          </p:txBody>
        </p:sp>
        <p:sp>
          <p:nvSpPr>
            <p:cNvPr id="42" name="Rectangle 42"/>
            <p:cNvSpPr/>
            <p:nvPr/>
          </p:nvSpPr>
          <p:spPr>
            <a:xfrm>
              <a:off x="6534150" y="3009900"/>
              <a:ext cx="5143500" cy="457200"/>
            </a:xfrm>
            <a:prstGeom prst="roundRect">
              <a:avLst>
                <a:gd name="adj" fmla="val 20833"/>
              </a:avLst>
            </a:prstGeom>
            <a:solidFill>
              <a:schemeClr val="lt1"/>
            </a:solidFill>
            <a:ln w="9525">
              <a:solidFill>
                <a:srgbClr val="F0CFC2"/>
              </a:solidFill>
            </a:ln>
          </p:spPr>
        </p:sp>
        <p:sp>
          <p:nvSpPr>
            <p:cNvPr id="43" name="Ellipse 43"/>
            <p:cNvSpPr/>
            <p:nvPr/>
          </p:nvSpPr>
          <p:spPr>
            <a:xfrm>
              <a:off x="6724650" y="3181350"/>
              <a:ext cx="114300" cy="114300"/>
            </a:xfrm>
            <a:prstGeom prst="ellipse">
              <a:avLst/>
            </a:prstGeom>
            <a:solidFill>
              <a:schemeClr val="accent3"/>
            </a:solidFill>
            <a:ln>
              <a:noFill/>
            </a:ln>
          </p:spPr>
        </p:sp>
        <p:sp>
          <p:nvSpPr>
            <p:cNvPr id="44" name="TextBox 44"/>
            <p:cNvSpPr txBox="1"/>
            <p:nvPr/>
          </p:nvSpPr>
          <p:spPr>
            <a:xfrm>
              <a:off x="6966204" y="3166110"/>
              <a:ext cx="1098811" cy="234696"/>
            </a:xfrm>
            <a:prstGeom prst="rect">
              <a:avLst/>
            </a:prstGeom>
            <a:noFill/>
            <a:ln>
              <a:noFill/>
            </a:ln>
          </p:spPr>
          <p:txBody>
            <a:bodyPr wrap="none" lIns="0" tIns="0" rIns="0" bIns="0" anchor="t" anchorCtr="0">
              <a:spAutoFit/>
            </a:bodyPr>
            <a:lstStyle/>
            <a:p>
              <a:pPr algn="l"/>
              <a:r>
                <a:rPr lang="zh-CN" sz="1200" b="1" dirty="0">
                  <a:solidFill>
                    <a:srgbClr val="C2410C"/>
                  </a:solidFill>
                  <a:latin typeface="+mn-lt"/>
                  <a:ea typeface="+mn-ea"/>
                  <a:cs typeface="+mn-cs"/>
                </a:rPr>
                <a:t>气候 | Climate</a:t>
              </a:r>
            </a:p>
          </p:txBody>
        </p:sp>
        <p:sp>
          <p:nvSpPr>
            <p:cNvPr id="45" name="TextBox 45"/>
            <p:cNvSpPr txBox="1"/>
            <p:nvPr/>
          </p:nvSpPr>
          <p:spPr>
            <a:xfrm>
              <a:off x="10294849" y="3190399"/>
              <a:ext cx="1197254" cy="190690"/>
            </a:xfrm>
            <a:prstGeom prst="rect">
              <a:avLst/>
            </a:prstGeom>
            <a:noFill/>
            <a:ln>
              <a:noFill/>
            </a:ln>
          </p:spPr>
          <p:txBody>
            <a:bodyPr wrap="none" lIns="0" tIns="0" rIns="0" bIns="0" anchor="t" anchorCtr="0">
              <a:spAutoFit/>
            </a:bodyPr>
            <a:lstStyle/>
            <a:p>
              <a:pPr algn="r"/>
              <a:r>
                <a:rPr lang="zh-CN" sz="980" dirty="0">
                  <a:solidFill>
                    <a:schemeClr val="accent5"/>
                  </a:solidFill>
                  <a:latin typeface="+mn-lt"/>
                  <a:ea typeface="+mn-ea"/>
                  <a:cs typeface="+mn-cs"/>
                </a:rPr>
                <a:t>连接温室效应与温度</a:t>
              </a:r>
            </a:p>
          </p:txBody>
        </p:sp>
        <p:sp>
          <p:nvSpPr>
            <p:cNvPr id="46" name="Rectangle 46"/>
            <p:cNvSpPr/>
            <p:nvPr/>
          </p:nvSpPr>
          <p:spPr>
            <a:xfrm>
              <a:off x="6534150" y="3562350"/>
              <a:ext cx="5143500" cy="457200"/>
            </a:xfrm>
            <a:prstGeom prst="roundRect">
              <a:avLst>
                <a:gd name="adj" fmla="val 20833"/>
              </a:avLst>
            </a:prstGeom>
            <a:solidFill>
              <a:schemeClr val="lt1"/>
            </a:solidFill>
            <a:ln w="9525">
              <a:solidFill>
                <a:srgbClr val="F0CFC2"/>
              </a:solidFill>
            </a:ln>
          </p:spPr>
        </p:sp>
        <p:sp>
          <p:nvSpPr>
            <p:cNvPr id="47" name="Ellipse 47"/>
            <p:cNvSpPr/>
            <p:nvPr/>
          </p:nvSpPr>
          <p:spPr>
            <a:xfrm>
              <a:off x="6724650" y="3733800"/>
              <a:ext cx="114300" cy="114300"/>
            </a:xfrm>
            <a:prstGeom prst="ellipse">
              <a:avLst/>
            </a:prstGeom>
            <a:solidFill>
              <a:schemeClr val="accent3"/>
            </a:solidFill>
            <a:ln>
              <a:noFill/>
            </a:ln>
          </p:spPr>
        </p:sp>
        <p:sp>
          <p:nvSpPr>
            <p:cNvPr id="48" name="TextBox 48"/>
            <p:cNvSpPr txBox="1"/>
            <p:nvPr/>
          </p:nvSpPr>
          <p:spPr>
            <a:xfrm>
              <a:off x="6966204" y="3718560"/>
              <a:ext cx="830113" cy="234696"/>
            </a:xfrm>
            <a:prstGeom prst="rect">
              <a:avLst/>
            </a:prstGeom>
            <a:noFill/>
            <a:ln>
              <a:noFill/>
            </a:ln>
          </p:spPr>
          <p:txBody>
            <a:bodyPr wrap="none" lIns="0" tIns="0" rIns="0" bIns="0" anchor="t" anchorCtr="0">
              <a:spAutoFit/>
            </a:bodyPr>
            <a:lstStyle/>
            <a:p>
              <a:pPr algn="l"/>
              <a:r>
                <a:rPr lang="zh-CN" sz="1200" b="1" dirty="0">
                  <a:solidFill>
                    <a:srgbClr val="C2410C"/>
                  </a:solidFill>
                  <a:latin typeface="+mn-lt"/>
                  <a:ea typeface="+mn-ea"/>
                  <a:cs typeface="+mn-cs"/>
                </a:rPr>
                <a:t>生命 | Life</a:t>
              </a:r>
            </a:p>
          </p:txBody>
        </p:sp>
        <p:sp>
          <p:nvSpPr>
            <p:cNvPr id="49" name="TextBox 49"/>
            <p:cNvSpPr txBox="1"/>
            <p:nvPr/>
          </p:nvSpPr>
          <p:spPr>
            <a:xfrm>
              <a:off x="10294849" y="3742849"/>
              <a:ext cx="1197254" cy="190690"/>
            </a:xfrm>
            <a:prstGeom prst="rect">
              <a:avLst/>
            </a:prstGeom>
            <a:noFill/>
            <a:ln>
              <a:noFill/>
            </a:ln>
          </p:spPr>
          <p:txBody>
            <a:bodyPr wrap="none" lIns="0" tIns="0" rIns="0" bIns="0" anchor="t" anchorCtr="0">
              <a:spAutoFit/>
            </a:bodyPr>
            <a:lstStyle/>
            <a:p>
              <a:pPr algn="r"/>
              <a:r>
                <a:rPr lang="zh-CN" sz="980" dirty="0">
                  <a:solidFill>
                    <a:schemeClr val="accent5"/>
                  </a:solidFill>
                  <a:latin typeface="+mn-lt"/>
                  <a:ea typeface="+mn-ea"/>
                  <a:cs typeface="+mn-cs"/>
                </a:rPr>
                <a:t>光合作用固定无机碳</a:t>
              </a:r>
            </a:p>
          </p:txBody>
        </p:sp>
        <p:sp>
          <p:nvSpPr>
            <p:cNvPr id="50" name="Rectangle 50"/>
            <p:cNvSpPr/>
            <p:nvPr/>
          </p:nvSpPr>
          <p:spPr>
            <a:xfrm>
              <a:off x="6534150" y="4114800"/>
              <a:ext cx="5143500" cy="457200"/>
            </a:xfrm>
            <a:prstGeom prst="roundRect">
              <a:avLst>
                <a:gd name="adj" fmla="val 20833"/>
              </a:avLst>
            </a:prstGeom>
            <a:solidFill>
              <a:schemeClr val="lt1"/>
            </a:solidFill>
            <a:ln w="9525">
              <a:solidFill>
                <a:srgbClr val="F0CFC2"/>
              </a:solidFill>
            </a:ln>
          </p:spPr>
        </p:sp>
        <p:sp>
          <p:nvSpPr>
            <p:cNvPr id="51" name="Ellipse 51"/>
            <p:cNvSpPr/>
            <p:nvPr/>
          </p:nvSpPr>
          <p:spPr>
            <a:xfrm>
              <a:off x="6724650" y="4286250"/>
              <a:ext cx="114300" cy="114300"/>
            </a:xfrm>
            <a:prstGeom prst="ellipse">
              <a:avLst/>
            </a:prstGeom>
            <a:solidFill>
              <a:schemeClr val="accent3"/>
            </a:solidFill>
            <a:ln>
              <a:noFill/>
            </a:ln>
          </p:spPr>
        </p:sp>
        <p:sp>
          <p:nvSpPr>
            <p:cNvPr id="52" name="TextBox 52"/>
            <p:cNvSpPr txBox="1"/>
            <p:nvPr/>
          </p:nvSpPr>
          <p:spPr>
            <a:xfrm>
              <a:off x="6966204" y="4271010"/>
              <a:ext cx="999372" cy="234696"/>
            </a:xfrm>
            <a:prstGeom prst="rect">
              <a:avLst/>
            </a:prstGeom>
            <a:noFill/>
            <a:ln>
              <a:noFill/>
            </a:ln>
          </p:spPr>
          <p:txBody>
            <a:bodyPr wrap="none" lIns="0" tIns="0" rIns="0" bIns="0" anchor="t" anchorCtr="0">
              <a:spAutoFit/>
            </a:bodyPr>
            <a:lstStyle/>
            <a:p>
              <a:pPr algn="l"/>
              <a:r>
                <a:rPr lang="zh-CN" sz="1200" b="1" dirty="0">
                  <a:solidFill>
                    <a:srgbClr val="C2410C"/>
                  </a:solidFill>
                  <a:latin typeface="+mn-lt"/>
                  <a:ea typeface="+mn-ea"/>
                  <a:cs typeface="+mn-cs"/>
                </a:rPr>
                <a:t>海洋 | Ocean</a:t>
              </a:r>
            </a:p>
          </p:txBody>
        </p:sp>
        <p:sp>
          <p:nvSpPr>
            <p:cNvPr id="53" name="TextBox 53"/>
            <p:cNvSpPr txBox="1"/>
            <p:nvPr/>
          </p:nvSpPr>
          <p:spPr>
            <a:xfrm>
              <a:off x="10690631" y="4295299"/>
              <a:ext cx="801472" cy="190690"/>
            </a:xfrm>
            <a:prstGeom prst="rect">
              <a:avLst/>
            </a:prstGeom>
            <a:noFill/>
            <a:ln>
              <a:noFill/>
            </a:ln>
          </p:spPr>
          <p:txBody>
            <a:bodyPr wrap="none" lIns="0" tIns="0" rIns="0" bIns="0" anchor="t" anchorCtr="0">
              <a:spAutoFit/>
            </a:bodyPr>
            <a:lstStyle/>
            <a:p>
              <a:pPr algn="r"/>
              <a:r>
                <a:rPr lang="zh-CN" sz="980" dirty="0">
                  <a:solidFill>
                    <a:schemeClr val="accent5"/>
                  </a:solidFill>
                  <a:latin typeface="+mn-lt"/>
                  <a:ea typeface="+mn-ea"/>
                  <a:cs typeface="+mn-cs"/>
                </a:rPr>
                <a:t>溶解并输送碳</a:t>
              </a:r>
            </a:p>
          </p:txBody>
        </p:sp>
        <p:sp>
          <p:nvSpPr>
            <p:cNvPr id="54" name="Rectangle 54"/>
            <p:cNvSpPr/>
            <p:nvPr/>
          </p:nvSpPr>
          <p:spPr>
            <a:xfrm>
              <a:off x="6534150" y="4667250"/>
              <a:ext cx="5143500" cy="457200"/>
            </a:xfrm>
            <a:prstGeom prst="roundRect">
              <a:avLst>
                <a:gd name="adj" fmla="val 20833"/>
              </a:avLst>
            </a:prstGeom>
            <a:solidFill>
              <a:schemeClr val="lt1"/>
            </a:solidFill>
            <a:ln w="9525">
              <a:solidFill>
                <a:srgbClr val="F0CFC2"/>
              </a:solidFill>
            </a:ln>
          </p:spPr>
        </p:sp>
        <p:sp>
          <p:nvSpPr>
            <p:cNvPr id="55" name="Ellipse 55"/>
            <p:cNvSpPr/>
            <p:nvPr/>
          </p:nvSpPr>
          <p:spPr>
            <a:xfrm>
              <a:off x="6724650" y="4838700"/>
              <a:ext cx="114300" cy="114300"/>
            </a:xfrm>
            <a:prstGeom prst="ellipse">
              <a:avLst/>
            </a:prstGeom>
            <a:solidFill>
              <a:schemeClr val="accent3"/>
            </a:solidFill>
            <a:ln>
              <a:noFill/>
            </a:ln>
          </p:spPr>
        </p:sp>
        <p:sp>
          <p:nvSpPr>
            <p:cNvPr id="56" name="TextBox 56"/>
            <p:cNvSpPr txBox="1"/>
            <p:nvPr/>
          </p:nvSpPr>
          <p:spPr>
            <a:xfrm>
              <a:off x="6966204" y="4823460"/>
              <a:ext cx="965064" cy="234696"/>
            </a:xfrm>
            <a:prstGeom prst="rect">
              <a:avLst/>
            </a:prstGeom>
            <a:noFill/>
            <a:ln>
              <a:noFill/>
            </a:ln>
          </p:spPr>
          <p:txBody>
            <a:bodyPr wrap="none" lIns="0" tIns="0" rIns="0" bIns="0" anchor="t" anchorCtr="0">
              <a:spAutoFit/>
            </a:bodyPr>
            <a:lstStyle/>
            <a:p>
              <a:pPr algn="l"/>
              <a:r>
                <a:rPr lang="zh-CN" sz="1200" b="1" dirty="0">
                  <a:solidFill>
                    <a:srgbClr val="C2410C"/>
                  </a:solidFill>
                  <a:latin typeface="+mn-lt"/>
                  <a:ea typeface="+mn-ea"/>
                  <a:cs typeface="+mn-cs"/>
                </a:rPr>
                <a:t>岩石 | Rocks</a:t>
              </a:r>
            </a:p>
          </p:txBody>
        </p:sp>
        <p:sp>
          <p:nvSpPr>
            <p:cNvPr id="57" name="TextBox 57"/>
            <p:cNvSpPr txBox="1"/>
            <p:nvPr/>
          </p:nvSpPr>
          <p:spPr>
            <a:xfrm>
              <a:off x="10294849" y="4847749"/>
              <a:ext cx="1197254" cy="190690"/>
            </a:xfrm>
            <a:prstGeom prst="rect">
              <a:avLst/>
            </a:prstGeom>
            <a:noFill/>
            <a:ln>
              <a:noFill/>
            </a:ln>
          </p:spPr>
          <p:txBody>
            <a:bodyPr wrap="none" lIns="0" tIns="0" rIns="0" bIns="0" anchor="t" anchorCtr="0">
              <a:spAutoFit/>
            </a:bodyPr>
            <a:lstStyle/>
            <a:p>
              <a:pPr algn="r"/>
              <a:r>
                <a:rPr lang="zh-CN" sz="980" dirty="0">
                  <a:solidFill>
                    <a:schemeClr val="accent5"/>
                  </a:solidFill>
                  <a:latin typeface="+mn-lt"/>
                  <a:ea typeface="+mn-ea"/>
                  <a:cs typeface="+mn-cs"/>
                </a:rPr>
                <a:t>长期储碳并返回地表</a:t>
              </a:r>
            </a:p>
          </p:txBody>
        </p:sp>
        <p:sp>
          <p:nvSpPr>
            <p:cNvPr id="58" name="Rectangle 58"/>
            <p:cNvSpPr/>
            <p:nvPr/>
          </p:nvSpPr>
          <p:spPr>
            <a:xfrm>
              <a:off x="6534150" y="5314950"/>
              <a:ext cx="5143500" cy="781050"/>
            </a:xfrm>
            <a:prstGeom prst="roundRect">
              <a:avLst>
                <a:gd name="adj" fmla="val 14634"/>
              </a:avLst>
            </a:prstGeom>
            <a:solidFill>
              <a:srgbClr val="FDECDD"/>
            </a:solidFill>
            <a:ln>
              <a:noFill/>
            </a:ln>
          </p:spPr>
        </p:sp>
        <p:sp>
          <p:nvSpPr>
            <p:cNvPr id="59" name="TextBox 59"/>
            <p:cNvSpPr txBox="1"/>
            <p:nvPr/>
          </p:nvSpPr>
          <p:spPr>
            <a:xfrm>
              <a:off x="6775704" y="5471160"/>
              <a:ext cx="1482976" cy="234696"/>
            </a:xfrm>
            <a:prstGeom prst="rect">
              <a:avLst/>
            </a:prstGeom>
            <a:noFill/>
            <a:ln>
              <a:noFill/>
            </a:ln>
          </p:spPr>
          <p:txBody>
            <a:bodyPr wrap="none" lIns="0" tIns="0" rIns="0" bIns="0" anchor="t" anchorCtr="0">
              <a:spAutoFit/>
            </a:bodyPr>
            <a:lstStyle/>
            <a:p>
              <a:pPr algn="l"/>
              <a:r>
                <a:rPr lang="zh-CN" sz="1200" b="1" dirty="0">
                  <a:solidFill>
                    <a:srgbClr val="C2410C"/>
                  </a:solidFill>
                  <a:latin typeface="+mn-lt"/>
                  <a:ea typeface="+mn-ea"/>
                  <a:cs typeface="+mn-cs"/>
                </a:rPr>
                <a:t>Carbon ≠ CO₂ only</a:t>
              </a:r>
            </a:p>
          </p:txBody>
        </p:sp>
        <p:sp>
          <p:nvSpPr>
            <p:cNvPr id="60" name="TextBox 60"/>
            <p:cNvSpPr txBox="1"/>
            <p:nvPr/>
          </p:nvSpPr>
          <p:spPr>
            <a:xfrm>
              <a:off x="6776085" y="5765006"/>
              <a:ext cx="2106341" cy="220028"/>
            </a:xfrm>
            <a:prstGeom prst="rect">
              <a:avLst/>
            </a:prstGeom>
            <a:noFill/>
            <a:ln>
              <a:noFill/>
            </a:ln>
          </p:spPr>
          <p:txBody>
            <a:bodyPr wrap="none" lIns="0" tIns="0" rIns="0" bIns="0" anchor="t" anchorCtr="0">
              <a:spAutoFit/>
            </a:bodyPr>
            <a:lstStyle/>
            <a:p>
              <a:pPr algn="l"/>
              <a:r>
                <a:rPr lang="zh-CN" sz="1120" dirty="0">
                  <a:solidFill>
                    <a:srgbClr val="7A4A33"/>
                  </a:solidFill>
                  <a:latin typeface="+mn-lt"/>
                  <a:ea typeface="+mn-ea"/>
                  <a:cs typeface="+mn-cs"/>
                </a:rPr>
                <a:t>碳循环不等于只看大气 CO₂。</a:t>
              </a:r>
            </a:p>
          </p:txBody>
        </p:sp>
      </p:grpSp>
      <p:sp>
        <p:nvSpPr>
          <p:cNvPr id="62" name="TextBox 62"/>
          <p:cNvSpPr txBox="1"/>
          <p:nvPr/>
        </p:nvSpPr>
        <p:spPr>
          <a:xfrm>
            <a:off x="376238" y="6532245"/>
            <a:ext cx="5018151" cy="176212"/>
          </a:xfrm>
          <a:prstGeom prst="rect">
            <a:avLst/>
          </a:prstGeom>
          <a:noFill/>
          <a:ln>
            <a:noFill/>
          </a:ln>
        </p:spPr>
        <p:txBody>
          <a:bodyPr wrap="none" lIns="0" tIns="0" rIns="0" bIns="0" anchor="t" anchorCtr="0">
            <a:spAutoFit/>
          </a:bodyPr>
          <a:lstStyle/>
          <a:p>
            <a:pPr algn="l"/>
            <a:r>
              <a:rPr lang="zh-CN" sz="900" dirty="0">
                <a:solidFill>
                  <a:schemeClr val="accent5"/>
                </a:solidFill>
                <a:latin typeface="+mn-lt"/>
                <a:ea typeface="+mn-ea"/>
                <a:cs typeface="+mn-cs"/>
              </a:rPr>
              <a:t>Source: UE 8e, Ch.12, PDF pp.1204–1205; 地球系统与演变 Ch.4 §4.1, PDF pp.57–58.</a:t>
            </a:r>
          </a:p>
        </p:txBody>
      </p:sp>
      <p:sp>
        <p:nvSpPr>
          <p:cNvPr id="63" name="TextBox 63"/>
          <p:cNvSpPr txBox="1"/>
          <p:nvPr/>
        </p:nvSpPr>
        <p:spPr>
          <a:xfrm>
            <a:off x="11672964" y="6532245"/>
            <a:ext cx="142799" cy="176212"/>
          </a:xfrm>
          <a:prstGeom prst="rect">
            <a:avLst/>
          </a:prstGeom>
          <a:noFill/>
          <a:ln>
            <a:noFill/>
          </a:ln>
        </p:spPr>
        <p:txBody>
          <a:bodyPr wrap="none" lIns="0" tIns="0" rIns="0" bIns="0" anchor="t" anchorCtr="0">
            <a:spAutoFit/>
          </a:bodyPr>
          <a:lstStyle/>
          <a:p>
            <a:pPr algn="r"/>
            <a:r>
              <a:rPr lang="zh-CN" sz="900" dirty="0">
                <a:solidFill>
                  <a:schemeClr val="accent5"/>
                </a:solidFill>
                <a:latin typeface="+mn-lt"/>
                <a:ea typeface="+mn-ea"/>
                <a:cs typeface="+mn-cs"/>
              </a:rPr>
              <a:t>21</a:t>
            </a:r>
          </a:p>
        </p:txBody>
      </p:sp>
    </p:spTree>
    <p:extLst>
      <p:ext uri="{BB962C8B-B14F-4D97-AF65-F5344CB8AC3E}">
        <p14:creationId xmlns:p14="http://schemas.microsoft.com/office/powerpoint/2010/main" val="1450382554"/>
      </p:ext>
    </p:extLst>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5"/>
          <p:cNvGrpSpPr/>
          <p:nvPr/>
        </p:nvGrpSpPr>
        <p:grpSpPr>
          <a:xfrm>
            <a:off x="0" y="0"/>
            <a:ext cx="12192000" cy="685800"/>
            <a:chOff x="0" y="0"/>
            <a:chExt cx="12192000" cy="685800"/>
          </a:xfrm>
        </p:grpSpPr>
        <p:sp>
          <p:nvSpPr>
            <p:cNvPr id="2" name="Rectangle 2"/>
            <p:cNvSpPr/>
            <p:nvPr/>
          </p:nvSpPr>
          <p:spPr>
            <a:xfrm>
              <a:off x="0" y="0"/>
              <a:ext cx="12192000" cy="685800"/>
            </a:xfrm>
            <a:prstGeom prst="rect">
              <a:avLst/>
            </a:prstGeom>
            <a:solidFill>
              <a:schemeClr val="accent1"/>
            </a:solidFill>
            <a:ln>
              <a:noFill/>
            </a:ln>
          </p:spPr>
        </p:sp>
        <p:sp>
          <p:nvSpPr>
            <p:cNvPr id="3" name="TextBox 3"/>
            <p:cNvSpPr txBox="1"/>
            <p:nvPr/>
          </p:nvSpPr>
          <p:spPr>
            <a:xfrm>
              <a:off x="374142" y="282892"/>
              <a:ext cx="3543312" cy="264033"/>
            </a:xfrm>
            <a:prstGeom prst="rect">
              <a:avLst/>
            </a:prstGeom>
            <a:noFill/>
            <a:ln>
              <a:noFill/>
            </a:ln>
          </p:spPr>
          <p:txBody>
            <a:bodyPr wrap="none" lIns="0" tIns="0" rIns="0" bIns="0" anchor="t" anchorCtr="0">
              <a:spAutoFit/>
            </a:bodyPr>
            <a:lstStyle/>
            <a:p>
              <a:pPr algn="l"/>
              <a:r>
                <a:rPr lang="zh-CN" sz="1350" b="1" dirty="0">
                  <a:solidFill>
                    <a:srgbClr val="FFFFFF"/>
                  </a:solidFill>
                  <a:latin typeface="+mn-lt"/>
                  <a:ea typeface="+mn-ea"/>
                  <a:cs typeface="+mn-cs"/>
                </a:rPr>
                <a:t>2.2 碳储存在哪里？ | Carbon Reservoirs</a:t>
              </a:r>
            </a:p>
          </p:txBody>
        </p:sp>
        <p:sp>
          <p:nvSpPr>
            <p:cNvPr id="4" name="TextBox 4"/>
            <p:cNvSpPr txBox="1"/>
            <p:nvPr/>
          </p:nvSpPr>
          <p:spPr>
            <a:xfrm>
              <a:off x="10686898" y="299085"/>
              <a:ext cx="1130198" cy="234696"/>
            </a:xfrm>
            <a:prstGeom prst="rect">
              <a:avLst/>
            </a:prstGeom>
            <a:noFill/>
            <a:ln>
              <a:noFill/>
            </a:ln>
          </p:spPr>
          <p:txBody>
            <a:bodyPr wrap="none" lIns="0" tIns="0" rIns="0" bIns="0" anchor="t" anchorCtr="0">
              <a:spAutoFit/>
            </a:bodyPr>
            <a:lstStyle/>
            <a:p>
              <a:pPr algn="r"/>
              <a:r>
                <a:rPr lang="zh-CN" sz="1200" dirty="0">
                  <a:solidFill>
                    <a:srgbClr val="C7D7F2"/>
                  </a:solidFill>
                  <a:latin typeface="+mn-lt"/>
                  <a:ea typeface="+mn-ea"/>
                  <a:cs typeface="+mn-cs"/>
                </a:rPr>
                <a:t>CARBON CYCLE</a:t>
              </a:r>
            </a:p>
          </p:txBody>
        </p:sp>
      </p:grpSp>
      <p:grpSp>
        <p:nvGrpSpPr>
          <p:cNvPr id="8" name="Group 8"/>
          <p:cNvGrpSpPr/>
          <p:nvPr/>
        </p:nvGrpSpPr>
        <p:grpSpPr>
          <a:xfrm>
            <a:off x="381000" y="914400"/>
            <a:ext cx="6135040" cy="357093"/>
            <a:chOff x="381000" y="914400"/>
            <a:chExt cx="6135040" cy="357093"/>
          </a:xfrm>
        </p:grpSpPr>
        <p:sp>
          <p:nvSpPr>
            <p:cNvPr id="6" name="Rectangle 6"/>
            <p:cNvSpPr/>
            <p:nvPr/>
          </p:nvSpPr>
          <p:spPr>
            <a:xfrm>
              <a:off x="381000" y="914400"/>
              <a:ext cx="57150" cy="266700"/>
            </a:xfrm>
            <a:prstGeom prst="roundRect">
              <a:avLst>
                <a:gd name="adj" fmla="val 50000"/>
              </a:avLst>
            </a:prstGeom>
            <a:solidFill>
              <a:schemeClr val="accent3"/>
            </a:solidFill>
            <a:ln>
              <a:noFill/>
            </a:ln>
          </p:spPr>
        </p:sp>
        <p:sp>
          <p:nvSpPr>
            <p:cNvPr id="7" name="TextBox 7"/>
            <p:cNvSpPr txBox="1"/>
            <p:nvPr/>
          </p:nvSpPr>
          <p:spPr>
            <a:xfrm>
              <a:off x="544449" y="963454"/>
              <a:ext cx="5971591" cy="308039"/>
            </a:xfrm>
            <a:prstGeom prst="rect">
              <a:avLst/>
            </a:prstGeom>
            <a:noFill/>
            <a:ln>
              <a:noFill/>
            </a:ln>
          </p:spPr>
          <p:txBody>
            <a:bodyPr wrap="none" lIns="0" tIns="0" rIns="0" bIns="0" anchor="t" anchorCtr="0">
              <a:spAutoFit/>
            </a:bodyPr>
            <a:lstStyle/>
            <a:p>
              <a:pPr algn="l"/>
              <a:r>
                <a:rPr lang="zh-CN" sz="1580" b="1" dirty="0">
                  <a:solidFill>
                    <a:srgbClr val="C2410C"/>
                  </a:solidFill>
                  <a:latin typeface="+mn-lt"/>
                  <a:ea typeface="+mn-ea"/>
                  <a:cs typeface="+mn-cs"/>
                </a:rPr>
                <a:t>碳主要储存在海洋、沉积物与岩石里；大气只是一个很小的储库</a:t>
              </a:r>
            </a:p>
          </p:txBody>
        </p:sp>
      </p:grpSp>
      <p:grpSp>
        <p:nvGrpSpPr>
          <p:cNvPr id="15" name="Group 15"/>
          <p:cNvGrpSpPr/>
          <p:nvPr/>
        </p:nvGrpSpPr>
        <p:grpSpPr>
          <a:xfrm>
            <a:off x="381000" y="1428750"/>
            <a:ext cx="6572250" cy="4800600"/>
            <a:chOff x="381000" y="1428750"/>
            <a:chExt cx="6572250" cy="4800600"/>
          </a:xfrm>
        </p:grpSpPr>
        <p:sp>
          <p:nvSpPr>
            <p:cNvPr id="9" name="Rectangle 9"/>
            <p:cNvSpPr/>
            <p:nvPr/>
          </p:nvSpPr>
          <p:spPr>
            <a:xfrm>
              <a:off x="381000" y="1428750"/>
              <a:ext cx="6572250" cy="4800600"/>
            </a:xfrm>
            <a:prstGeom prst="roundRect">
              <a:avLst>
                <a:gd name="adj" fmla="val 2381"/>
              </a:avLst>
            </a:prstGeom>
            <a:solidFill>
              <a:schemeClr val="lt2"/>
            </a:solidFill>
            <a:ln w="9525">
              <a:solidFill>
                <a:schemeClr val="accent6"/>
              </a:solidFill>
            </a:ln>
          </p:spPr>
        </p:sp>
        <p:sp>
          <p:nvSpPr>
            <p:cNvPr id="10" name="TextBox 10"/>
            <p:cNvSpPr txBox="1"/>
            <p:nvPr/>
          </p:nvSpPr>
          <p:spPr>
            <a:xfrm>
              <a:off x="641604" y="1623060"/>
              <a:ext cx="1457203" cy="234696"/>
            </a:xfrm>
            <a:prstGeom prst="rect">
              <a:avLst/>
            </a:prstGeom>
            <a:noFill/>
            <a:ln>
              <a:noFill/>
            </a:ln>
          </p:spPr>
          <p:txBody>
            <a:bodyPr wrap="none" lIns="0" tIns="0" rIns="0" bIns="0" anchor="t" anchorCtr="0">
              <a:spAutoFit/>
            </a:bodyPr>
            <a:lstStyle/>
            <a:p>
              <a:pPr algn="l"/>
              <a:r>
                <a:rPr lang="zh-CN" sz="1200" b="1" dirty="0">
                  <a:solidFill>
                    <a:schemeClr val="accent1"/>
                  </a:solidFill>
                  <a:latin typeface="+mn-lt"/>
                  <a:ea typeface="+mn-ea"/>
                  <a:cs typeface="+mn-cs"/>
                </a:rPr>
                <a:t>证据图 | 单一数据集</a:t>
              </a:r>
            </a:p>
          </p:txBody>
        </p:sp>
        <p:pic>
          <p:nvPicPr>
            <p:cNvPr id="11" name="Image 11"/>
            <p:cNvPicPr>
              <a:picLocks noChangeAspect="1"/>
            </p:cNvPicPr>
            <p:nvPr/>
          </p:nvPicPr>
          <p:blipFill>
            <a:blip r:embed="rId3"/>
            <a:srcRect b="32880"/>
            <a:stretch>
              <a:fillRect/>
            </a:stretch>
          </p:blipFill>
          <p:spPr>
            <a:xfrm>
              <a:off x="647700" y="1866900"/>
              <a:ext cx="6038850" cy="3371850"/>
            </a:xfrm>
            <a:prstGeom prst="rect">
              <a:avLst/>
            </a:prstGeom>
          </p:spPr>
        </p:pic>
        <p:sp>
          <p:nvSpPr>
            <p:cNvPr id="12" name="Rectangle 12"/>
            <p:cNvSpPr/>
            <p:nvPr/>
          </p:nvSpPr>
          <p:spPr>
            <a:xfrm>
              <a:off x="647700" y="5410200"/>
              <a:ext cx="6038850" cy="723900"/>
            </a:xfrm>
            <a:prstGeom prst="roundRect">
              <a:avLst>
                <a:gd name="adj" fmla="val 13158"/>
              </a:avLst>
            </a:prstGeom>
            <a:solidFill>
              <a:schemeClr val="lt1"/>
            </a:solidFill>
            <a:ln w="9525">
              <a:solidFill>
                <a:schemeClr val="accent6"/>
              </a:solidFill>
            </a:ln>
          </p:spPr>
        </p:sp>
        <p:sp>
          <p:nvSpPr>
            <p:cNvPr id="13" name="TextBox 13"/>
            <p:cNvSpPr txBox="1"/>
            <p:nvPr/>
          </p:nvSpPr>
          <p:spPr>
            <a:xfrm>
              <a:off x="814197" y="5609749"/>
              <a:ext cx="2250030" cy="190690"/>
            </a:xfrm>
            <a:prstGeom prst="rect">
              <a:avLst/>
            </a:prstGeom>
            <a:noFill/>
            <a:ln>
              <a:noFill/>
            </a:ln>
          </p:spPr>
          <p:txBody>
            <a:bodyPr wrap="none" lIns="0" tIns="0" rIns="0" bIns="0" anchor="t" anchorCtr="0">
              <a:spAutoFit/>
            </a:bodyPr>
            <a:lstStyle/>
            <a:p>
              <a:pPr algn="l"/>
              <a:r>
                <a:rPr lang="zh-CN" sz="980" b="1" dirty="0">
                  <a:solidFill>
                    <a:srgbClr val="C2410C"/>
                  </a:solidFill>
                  <a:latin typeface="+mn-lt"/>
                  <a:ea typeface="+mn-ea"/>
                  <a:cs typeface="+mn-cs"/>
                </a:rPr>
                <a:t>本页数值单位：储库 Gt C（吉吨碳）</a:t>
              </a:r>
            </a:p>
          </p:txBody>
        </p:sp>
        <p:sp>
          <p:nvSpPr>
            <p:cNvPr id="14" name="TextBox 14"/>
            <p:cNvSpPr txBox="1"/>
            <p:nvPr/>
          </p:nvSpPr>
          <p:spPr>
            <a:xfrm>
              <a:off x="814197" y="5857399"/>
              <a:ext cx="4231589" cy="190690"/>
            </a:xfrm>
            <a:prstGeom prst="rect">
              <a:avLst/>
            </a:prstGeom>
            <a:noFill/>
            <a:ln>
              <a:noFill/>
            </a:ln>
          </p:spPr>
          <p:txBody>
            <a:bodyPr wrap="none" lIns="0" tIns="0" rIns="0" bIns="0" anchor="t" anchorCtr="0">
              <a:spAutoFit/>
            </a:bodyPr>
            <a:lstStyle/>
            <a:p>
              <a:pPr algn="l"/>
              <a:r>
                <a:rPr lang="zh-CN" sz="980" dirty="0">
                  <a:solidFill>
                    <a:schemeClr val="accent5"/>
                  </a:solidFill>
                  <a:latin typeface="+mn-lt"/>
                  <a:ea typeface="+mn-ea"/>
                  <a:cs typeface="+mn-cs"/>
                </a:rPr>
                <a:t>四个较小储库的数值取自这张图；沉积物与岩石未给出总量，只作定性。</a:t>
              </a:r>
            </a:p>
          </p:txBody>
        </p:sp>
      </p:grpSp>
      <p:grpSp>
        <p:nvGrpSpPr>
          <p:cNvPr id="56" name="Group 56"/>
          <p:cNvGrpSpPr/>
          <p:nvPr/>
        </p:nvGrpSpPr>
        <p:grpSpPr>
          <a:xfrm>
            <a:off x="7219950" y="1428750"/>
            <a:ext cx="4591050" cy="4800600"/>
            <a:chOff x="7219950" y="1428750"/>
            <a:chExt cx="4591050" cy="4800600"/>
          </a:xfrm>
        </p:grpSpPr>
        <p:sp>
          <p:nvSpPr>
            <p:cNvPr id="16" name="Rectangle 16"/>
            <p:cNvSpPr/>
            <p:nvPr/>
          </p:nvSpPr>
          <p:spPr>
            <a:xfrm>
              <a:off x="7219950" y="1428750"/>
              <a:ext cx="4591050" cy="4800600"/>
            </a:xfrm>
            <a:prstGeom prst="roundRect">
              <a:avLst>
                <a:gd name="adj" fmla="val 2490"/>
              </a:avLst>
            </a:prstGeom>
            <a:solidFill>
              <a:srgbClr val="FDF4EF"/>
            </a:solidFill>
            <a:ln w="9525">
              <a:solidFill>
                <a:srgbClr val="F0CFC2"/>
              </a:solidFill>
            </a:ln>
          </p:spPr>
        </p:sp>
        <p:sp>
          <p:nvSpPr>
            <p:cNvPr id="17" name="TextBox 17"/>
            <p:cNvSpPr txBox="1"/>
            <p:nvPr/>
          </p:nvSpPr>
          <p:spPr>
            <a:xfrm>
              <a:off x="7480554" y="1623060"/>
              <a:ext cx="2626091" cy="234696"/>
            </a:xfrm>
            <a:prstGeom prst="rect">
              <a:avLst/>
            </a:prstGeom>
            <a:noFill/>
            <a:ln>
              <a:noFill/>
            </a:ln>
          </p:spPr>
          <p:txBody>
            <a:bodyPr wrap="none" lIns="0" tIns="0" rIns="0" bIns="0" anchor="t" anchorCtr="0">
              <a:spAutoFit/>
            </a:bodyPr>
            <a:lstStyle/>
            <a:p>
              <a:pPr algn="l"/>
              <a:r>
                <a:rPr lang="zh-CN" sz="1200" b="1" dirty="0">
                  <a:solidFill>
                    <a:srgbClr val="C2410C"/>
                  </a:solidFill>
                  <a:latin typeface="+mn-lt"/>
                  <a:ea typeface="+mn-ea"/>
                  <a:cs typeface="+mn-cs"/>
                </a:rPr>
                <a:t>碳储库层级 | Reservoir hierarchy</a:t>
              </a:r>
            </a:p>
          </p:txBody>
        </p:sp>
        <p:sp>
          <p:nvSpPr>
            <p:cNvPr id="18" name="TextBox 18"/>
            <p:cNvSpPr txBox="1"/>
            <p:nvPr/>
          </p:nvSpPr>
          <p:spPr>
            <a:xfrm>
              <a:off x="7481697" y="1875949"/>
              <a:ext cx="1593037" cy="190690"/>
            </a:xfrm>
            <a:prstGeom prst="rect">
              <a:avLst/>
            </a:prstGeom>
            <a:noFill/>
            <a:ln>
              <a:noFill/>
            </a:ln>
          </p:spPr>
          <p:txBody>
            <a:bodyPr wrap="none" lIns="0" tIns="0" rIns="0" bIns="0" anchor="t" anchorCtr="0">
              <a:spAutoFit/>
            </a:bodyPr>
            <a:lstStyle/>
            <a:p>
              <a:pPr algn="l"/>
              <a:r>
                <a:rPr lang="zh-CN" sz="980" dirty="0">
                  <a:solidFill>
                    <a:srgbClr val="7A4A33"/>
                  </a:solidFill>
                  <a:latin typeface="+mn-lt"/>
                  <a:ea typeface="+mn-ea"/>
                  <a:cs typeface="+mn-cs"/>
                </a:rPr>
                <a:t>自小而大排序（本页整理）</a:t>
              </a:r>
            </a:p>
          </p:txBody>
        </p:sp>
        <p:sp>
          <p:nvSpPr>
            <p:cNvPr id="19" name="Rectangle 19"/>
            <p:cNvSpPr/>
            <p:nvPr/>
          </p:nvSpPr>
          <p:spPr>
            <a:xfrm>
              <a:off x="7372350" y="2114550"/>
              <a:ext cx="4286250" cy="552450"/>
            </a:xfrm>
            <a:prstGeom prst="roundRect">
              <a:avLst>
                <a:gd name="adj" fmla="val 17241"/>
              </a:avLst>
            </a:prstGeom>
            <a:solidFill>
              <a:schemeClr val="lt1"/>
            </a:solidFill>
            <a:ln w="9525">
              <a:solidFill>
                <a:srgbClr val="F0CFC2"/>
              </a:solidFill>
            </a:ln>
          </p:spPr>
        </p:sp>
        <p:sp>
          <p:nvSpPr>
            <p:cNvPr id="20" name="Ellipse 20"/>
            <p:cNvSpPr/>
            <p:nvPr/>
          </p:nvSpPr>
          <p:spPr>
            <a:xfrm>
              <a:off x="7458075" y="2247900"/>
              <a:ext cx="285750" cy="285750"/>
            </a:xfrm>
            <a:prstGeom prst="ellipse">
              <a:avLst/>
            </a:prstGeom>
            <a:solidFill>
              <a:schemeClr val="accent3"/>
            </a:solidFill>
            <a:ln>
              <a:noFill/>
            </a:ln>
          </p:spPr>
        </p:sp>
        <p:sp>
          <p:nvSpPr>
            <p:cNvPr id="21" name="TextBox 21"/>
            <p:cNvSpPr txBox="1"/>
            <p:nvPr/>
          </p:nvSpPr>
          <p:spPr>
            <a:xfrm>
              <a:off x="7557903" y="2333149"/>
              <a:ext cx="86094" cy="190690"/>
            </a:xfrm>
            <a:prstGeom prst="rect">
              <a:avLst/>
            </a:prstGeom>
            <a:noFill/>
            <a:ln>
              <a:noFill/>
            </a:ln>
          </p:spPr>
          <p:txBody>
            <a:bodyPr wrap="none" lIns="0" tIns="0" rIns="0" bIns="0" anchor="t" anchorCtr="0">
              <a:spAutoFit/>
            </a:bodyPr>
            <a:lstStyle/>
            <a:p>
              <a:pPr algn="ctr"/>
              <a:r>
                <a:rPr lang="zh-CN" sz="980" b="1" dirty="0">
                  <a:solidFill>
                    <a:srgbClr val="FFFFFF"/>
                  </a:solidFill>
                  <a:latin typeface="+mn-lt"/>
                  <a:ea typeface="+mn-ea"/>
                  <a:cs typeface="+mn-cs"/>
                </a:rPr>
                <a:t>1</a:t>
              </a:r>
            </a:p>
          </p:txBody>
        </p:sp>
        <p:sp>
          <p:nvSpPr>
            <p:cNvPr id="22" name="TextBox 22"/>
            <p:cNvSpPr txBox="1"/>
            <p:nvPr/>
          </p:nvSpPr>
          <p:spPr>
            <a:xfrm>
              <a:off x="7842504" y="2223135"/>
              <a:ext cx="1455725" cy="234696"/>
            </a:xfrm>
            <a:prstGeom prst="rect">
              <a:avLst/>
            </a:prstGeom>
            <a:noFill/>
            <a:ln>
              <a:noFill/>
            </a:ln>
          </p:spPr>
          <p:txBody>
            <a:bodyPr wrap="none" lIns="0" tIns="0" rIns="0" bIns="0" anchor="t" anchorCtr="0">
              <a:spAutoFit/>
            </a:bodyPr>
            <a:lstStyle/>
            <a:p>
              <a:pPr algn="l"/>
              <a:r>
                <a:rPr lang="zh-CN" sz="1200" b="1" dirty="0">
                  <a:solidFill>
                    <a:schemeClr val="dk1"/>
                  </a:solidFill>
                  <a:latin typeface="+mn-lt"/>
                  <a:ea typeface="+mn-ea"/>
                  <a:cs typeface="+mn-cs"/>
                </a:rPr>
                <a:t>生物圈 | Biosphere</a:t>
              </a:r>
            </a:p>
          </p:txBody>
        </p:sp>
        <p:sp>
          <p:nvSpPr>
            <p:cNvPr id="23" name="TextBox 23"/>
            <p:cNvSpPr txBox="1"/>
            <p:nvPr/>
          </p:nvSpPr>
          <p:spPr>
            <a:xfrm>
              <a:off x="10840715" y="2231231"/>
              <a:ext cx="652150" cy="220028"/>
            </a:xfrm>
            <a:prstGeom prst="rect">
              <a:avLst/>
            </a:prstGeom>
            <a:noFill/>
            <a:ln>
              <a:noFill/>
            </a:ln>
          </p:spPr>
          <p:txBody>
            <a:bodyPr wrap="none" lIns="0" tIns="0" rIns="0" bIns="0" anchor="t" anchorCtr="0">
              <a:spAutoFit/>
            </a:bodyPr>
            <a:lstStyle/>
            <a:p>
              <a:pPr algn="r"/>
              <a:r>
                <a:rPr lang="zh-CN" sz="1120" b="1" dirty="0">
                  <a:solidFill>
                    <a:srgbClr val="C2410C"/>
                  </a:solidFill>
                  <a:latin typeface="+mn-lt"/>
                  <a:ea typeface="+mn-ea"/>
                  <a:cs typeface="+mn-cs"/>
                </a:rPr>
                <a:t>500 Gt C</a:t>
              </a:r>
            </a:p>
          </p:txBody>
        </p:sp>
        <p:sp>
          <p:nvSpPr>
            <p:cNvPr id="24" name="TextBox 24"/>
            <p:cNvSpPr txBox="1"/>
            <p:nvPr/>
          </p:nvSpPr>
          <p:spPr>
            <a:xfrm>
              <a:off x="7843647" y="2447449"/>
              <a:ext cx="1197254" cy="190690"/>
            </a:xfrm>
            <a:prstGeom prst="rect">
              <a:avLst/>
            </a:prstGeom>
            <a:noFill/>
            <a:ln>
              <a:noFill/>
            </a:ln>
          </p:spPr>
          <p:txBody>
            <a:bodyPr wrap="none" lIns="0" tIns="0" rIns="0" bIns="0" anchor="t" anchorCtr="0">
              <a:spAutoFit/>
            </a:bodyPr>
            <a:lstStyle/>
            <a:p>
              <a:pPr algn="l"/>
              <a:r>
                <a:rPr lang="zh-CN" sz="980" dirty="0">
                  <a:solidFill>
                    <a:schemeClr val="accent5"/>
                  </a:solidFill>
                  <a:latin typeface="+mn-lt"/>
                  <a:ea typeface="+mn-ea"/>
                  <a:cs typeface="+mn-cs"/>
                </a:rPr>
                <a:t>陆地植物与海洋生物</a:t>
              </a:r>
            </a:p>
          </p:txBody>
        </p:sp>
        <p:sp>
          <p:nvSpPr>
            <p:cNvPr id="25" name="Rectangle 25"/>
            <p:cNvSpPr/>
            <p:nvPr/>
          </p:nvSpPr>
          <p:spPr>
            <a:xfrm>
              <a:off x="7372350" y="2724150"/>
              <a:ext cx="4286250" cy="552450"/>
            </a:xfrm>
            <a:prstGeom prst="roundRect">
              <a:avLst>
                <a:gd name="adj" fmla="val 17241"/>
              </a:avLst>
            </a:prstGeom>
            <a:solidFill>
              <a:schemeClr val="lt1"/>
            </a:solidFill>
            <a:ln w="9525">
              <a:solidFill>
                <a:srgbClr val="F0CFC2"/>
              </a:solidFill>
            </a:ln>
          </p:spPr>
        </p:sp>
        <p:sp>
          <p:nvSpPr>
            <p:cNvPr id="26" name="Ellipse 26"/>
            <p:cNvSpPr/>
            <p:nvPr/>
          </p:nvSpPr>
          <p:spPr>
            <a:xfrm>
              <a:off x="7458075" y="2857500"/>
              <a:ext cx="285750" cy="285750"/>
            </a:xfrm>
            <a:prstGeom prst="ellipse">
              <a:avLst/>
            </a:prstGeom>
            <a:solidFill>
              <a:schemeClr val="accent3"/>
            </a:solidFill>
            <a:ln>
              <a:noFill/>
            </a:ln>
          </p:spPr>
        </p:sp>
        <p:sp>
          <p:nvSpPr>
            <p:cNvPr id="27" name="TextBox 27"/>
            <p:cNvSpPr txBox="1"/>
            <p:nvPr/>
          </p:nvSpPr>
          <p:spPr>
            <a:xfrm>
              <a:off x="7557903" y="2942749"/>
              <a:ext cx="86094" cy="190690"/>
            </a:xfrm>
            <a:prstGeom prst="rect">
              <a:avLst/>
            </a:prstGeom>
            <a:noFill/>
            <a:ln>
              <a:noFill/>
            </a:ln>
          </p:spPr>
          <p:txBody>
            <a:bodyPr wrap="none" lIns="0" tIns="0" rIns="0" bIns="0" anchor="t" anchorCtr="0">
              <a:spAutoFit/>
            </a:bodyPr>
            <a:lstStyle/>
            <a:p>
              <a:pPr algn="ctr"/>
              <a:r>
                <a:rPr lang="zh-CN" sz="980" b="1" dirty="0">
                  <a:solidFill>
                    <a:srgbClr val="FFFFFF"/>
                  </a:solidFill>
                  <a:latin typeface="+mn-lt"/>
                  <a:ea typeface="+mn-ea"/>
                  <a:cs typeface="+mn-cs"/>
                </a:rPr>
                <a:t>2</a:t>
              </a:r>
            </a:p>
          </p:txBody>
        </p:sp>
        <p:sp>
          <p:nvSpPr>
            <p:cNvPr id="28" name="TextBox 28"/>
            <p:cNvSpPr txBox="1"/>
            <p:nvPr/>
          </p:nvSpPr>
          <p:spPr>
            <a:xfrm>
              <a:off x="7842504" y="2832735"/>
              <a:ext cx="1462946" cy="234696"/>
            </a:xfrm>
            <a:prstGeom prst="rect">
              <a:avLst/>
            </a:prstGeom>
            <a:noFill/>
            <a:ln>
              <a:noFill/>
            </a:ln>
          </p:spPr>
          <p:txBody>
            <a:bodyPr wrap="none" lIns="0" tIns="0" rIns="0" bIns="0" anchor="t" anchorCtr="0">
              <a:spAutoFit/>
            </a:bodyPr>
            <a:lstStyle/>
            <a:p>
              <a:pPr algn="l"/>
              <a:r>
                <a:rPr lang="zh-CN" sz="1200" b="1" dirty="0">
                  <a:solidFill>
                    <a:schemeClr val="dk1"/>
                  </a:solidFill>
                  <a:latin typeface="+mn-lt"/>
                  <a:ea typeface="+mn-ea"/>
                  <a:cs typeface="+mn-cs"/>
                </a:rPr>
                <a:t>大气 | Atmosphere</a:t>
              </a:r>
            </a:p>
          </p:txBody>
        </p:sp>
        <p:sp>
          <p:nvSpPr>
            <p:cNvPr id="29" name="TextBox 29"/>
            <p:cNvSpPr txBox="1"/>
            <p:nvPr/>
          </p:nvSpPr>
          <p:spPr>
            <a:xfrm>
              <a:off x="10840715" y="2840831"/>
              <a:ext cx="652150" cy="220028"/>
            </a:xfrm>
            <a:prstGeom prst="rect">
              <a:avLst/>
            </a:prstGeom>
            <a:noFill/>
            <a:ln>
              <a:noFill/>
            </a:ln>
          </p:spPr>
          <p:txBody>
            <a:bodyPr wrap="none" lIns="0" tIns="0" rIns="0" bIns="0" anchor="t" anchorCtr="0">
              <a:spAutoFit/>
            </a:bodyPr>
            <a:lstStyle/>
            <a:p>
              <a:pPr algn="r"/>
              <a:r>
                <a:rPr lang="zh-CN" sz="1120" b="1" dirty="0">
                  <a:solidFill>
                    <a:srgbClr val="C2410C"/>
                  </a:solidFill>
                  <a:latin typeface="+mn-lt"/>
                  <a:ea typeface="+mn-ea"/>
                  <a:cs typeface="+mn-cs"/>
                </a:rPr>
                <a:t>830 Gt C</a:t>
              </a:r>
            </a:p>
          </p:txBody>
        </p:sp>
        <p:sp>
          <p:nvSpPr>
            <p:cNvPr id="30" name="TextBox 30"/>
            <p:cNvSpPr txBox="1"/>
            <p:nvPr/>
          </p:nvSpPr>
          <p:spPr>
            <a:xfrm>
              <a:off x="7843647" y="3057049"/>
              <a:ext cx="1327191" cy="190690"/>
            </a:xfrm>
            <a:prstGeom prst="rect">
              <a:avLst/>
            </a:prstGeom>
            <a:noFill/>
            <a:ln>
              <a:noFill/>
            </a:ln>
          </p:spPr>
          <p:txBody>
            <a:bodyPr wrap="none" lIns="0" tIns="0" rIns="0" bIns="0" anchor="t" anchorCtr="0">
              <a:spAutoFit/>
            </a:bodyPr>
            <a:lstStyle/>
            <a:p>
              <a:pPr algn="l"/>
              <a:r>
                <a:rPr lang="zh-CN" sz="980" dirty="0">
                  <a:solidFill>
                    <a:schemeClr val="accent5"/>
                  </a:solidFill>
                  <a:latin typeface="+mn-lt"/>
                  <a:ea typeface="+mn-ea"/>
                  <a:cs typeface="+mn-cs"/>
                </a:rPr>
                <a:t>大气中 CO₂ 所含的碳</a:t>
              </a:r>
            </a:p>
          </p:txBody>
        </p:sp>
        <p:sp>
          <p:nvSpPr>
            <p:cNvPr id="31" name="Rectangle 31"/>
            <p:cNvSpPr/>
            <p:nvPr/>
          </p:nvSpPr>
          <p:spPr>
            <a:xfrm>
              <a:off x="7372350" y="3333750"/>
              <a:ext cx="4286250" cy="552450"/>
            </a:xfrm>
            <a:prstGeom prst="roundRect">
              <a:avLst>
                <a:gd name="adj" fmla="val 17241"/>
              </a:avLst>
            </a:prstGeom>
            <a:solidFill>
              <a:schemeClr val="lt1"/>
            </a:solidFill>
            <a:ln w="9525">
              <a:solidFill>
                <a:srgbClr val="F0CFC2"/>
              </a:solidFill>
            </a:ln>
          </p:spPr>
        </p:sp>
        <p:sp>
          <p:nvSpPr>
            <p:cNvPr id="32" name="Ellipse 32"/>
            <p:cNvSpPr/>
            <p:nvPr/>
          </p:nvSpPr>
          <p:spPr>
            <a:xfrm>
              <a:off x="7458075" y="3467100"/>
              <a:ext cx="285750" cy="285750"/>
            </a:xfrm>
            <a:prstGeom prst="ellipse">
              <a:avLst/>
            </a:prstGeom>
            <a:solidFill>
              <a:schemeClr val="accent3"/>
            </a:solidFill>
            <a:ln>
              <a:noFill/>
            </a:ln>
          </p:spPr>
        </p:sp>
        <p:sp>
          <p:nvSpPr>
            <p:cNvPr id="33" name="TextBox 33"/>
            <p:cNvSpPr txBox="1"/>
            <p:nvPr/>
          </p:nvSpPr>
          <p:spPr>
            <a:xfrm>
              <a:off x="7557903" y="3552349"/>
              <a:ext cx="86094" cy="190690"/>
            </a:xfrm>
            <a:prstGeom prst="rect">
              <a:avLst/>
            </a:prstGeom>
            <a:noFill/>
            <a:ln>
              <a:noFill/>
            </a:ln>
          </p:spPr>
          <p:txBody>
            <a:bodyPr wrap="none" lIns="0" tIns="0" rIns="0" bIns="0" anchor="t" anchorCtr="0">
              <a:spAutoFit/>
            </a:bodyPr>
            <a:lstStyle/>
            <a:p>
              <a:pPr algn="ctr"/>
              <a:r>
                <a:rPr lang="zh-CN" sz="980" b="1" dirty="0">
                  <a:solidFill>
                    <a:srgbClr val="FFFFFF"/>
                  </a:solidFill>
                  <a:latin typeface="+mn-lt"/>
                  <a:ea typeface="+mn-ea"/>
                  <a:cs typeface="+mn-cs"/>
                </a:rPr>
                <a:t>3</a:t>
              </a:r>
            </a:p>
          </p:txBody>
        </p:sp>
        <p:sp>
          <p:nvSpPr>
            <p:cNvPr id="34" name="TextBox 34"/>
            <p:cNvSpPr txBox="1"/>
            <p:nvPr/>
          </p:nvSpPr>
          <p:spPr>
            <a:xfrm>
              <a:off x="7842504" y="3442335"/>
              <a:ext cx="879293" cy="234696"/>
            </a:xfrm>
            <a:prstGeom prst="rect">
              <a:avLst/>
            </a:prstGeom>
            <a:noFill/>
            <a:ln>
              <a:noFill/>
            </a:ln>
          </p:spPr>
          <p:txBody>
            <a:bodyPr wrap="none" lIns="0" tIns="0" rIns="0" bIns="0" anchor="t" anchorCtr="0">
              <a:spAutoFit/>
            </a:bodyPr>
            <a:lstStyle/>
            <a:p>
              <a:pPr algn="l"/>
              <a:r>
                <a:rPr lang="zh-CN" sz="1200" b="1" dirty="0">
                  <a:solidFill>
                    <a:schemeClr val="dk1"/>
                  </a:solidFill>
                  <a:latin typeface="+mn-lt"/>
                  <a:ea typeface="+mn-ea"/>
                  <a:cs typeface="+mn-cs"/>
                </a:rPr>
                <a:t>土壤 | Soils</a:t>
              </a:r>
            </a:p>
          </p:txBody>
        </p:sp>
        <p:sp>
          <p:nvSpPr>
            <p:cNvPr id="35" name="TextBox 35"/>
            <p:cNvSpPr txBox="1"/>
            <p:nvPr/>
          </p:nvSpPr>
          <p:spPr>
            <a:xfrm>
              <a:off x="10750357" y="3450431"/>
              <a:ext cx="742508" cy="220028"/>
            </a:xfrm>
            <a:prstGeom prst="rect">
              <a:avLst/>
            </a:prstGeom>
            <a:noFill/>
            <a:ln>
              <a:noFill/>
            </a:ln>
          </p:spPr>
          <p:txBody>
            <a:bodyPr wrap="none" lIns="0" tIns="0" rIns="0" bIns="0" anchor="t" anchorCtr="0">
              <a:spAutoFit/>
            </a:bodyPr>
            <a:lstStyle/>
            <a:p>
              <a:pPr algn="r"/>
              <a:r>
                <a:rPr lang="zh-CN" sz="1120" b="1" dirty="0">
                  <a:solidFill>
                    <a:srgbClr val="C2410C"/>
                  </a:solidFill>
                  <a:latin typeface="+mn-lt"/>
                  <a:ea typeface="+mn-ea"/>
                  <a:cs typeface="+mn-cs"/>
                </a:rPr>
                <a:t>1500 Gt C</a:t>
              </a:r>
            </a:p>
          </p:txBody>
        </p:sp>
        <p:sp>
          <p:nvSpPr>
            <p:cNvPr id="36" name="TextBox 36"/>
            <p:cNvSpPr txBox="1"/>
            <p:nvPr/>
          </p:nvSpPr>
          <p:spPr>
            <a:xfrm>
              <a:off x="7843647" y="3666649"/>
              <a:ext cx="1461110" cy="190690"/>
            </a:xfrm>
            <a:prstGeom prst="rect">
              <a:avLst/>
            </a:prstGeom>
            <a:noFill/>
            <a:ln>
              <a:noFill/>
            </a:ln>
          </p:spPr>
          <p:txBody>
            <a:bodyPr wrap="none" lIns="0" tIns="0" rIns="0" bIns="0" anchor="t" anchorCtr="0">
              <a:spAutoFit/>
            </a:bodyPr>
            <a:lstStyle/>
            <a:p>
              <a:pPr algn="l"/>
              <a:r>
                <a:rPr lang="zh-CN" sz="980" dirty="0">
                  <a:solidFill>
                    <a:schemeClr val="accent5"/>
                  </a:solidFill>
                  <a:latin typeface="+mn-lt"/>
                  <a:ea typeface="+mn-ea"/>
                  <a:cs typeface="+mn-cs"/>
                </a:rPr>
                <a:t>土壤中有机碳的储存空间</a:t>
              </a:r>
            </a:p>
          </p:txBody>
        </p:sp>
        <p:sp>
          <p:nvSpPr>
            <p:cNvPr id="37" name="Rectangle 37"/>
            <p:cNvSpPr/>
            <p:nvPr/>
          </p:nvSpPr>
          <p:spPr>
            <a:xfrm>
              <a:off x="7372350" y="3943350"/>
              <a:ext cx="4286250" cy="552450"/>
            </a:xfrm>
            <a:prstGeom prst="roundRect">
              <a:avLst>
                <a:gd name="adj" fmla="val 17241"/>
              </a:avLst>
            </a:prstGeom>
            <a:solidFill>
              <a:schemeClr val="lt1"/>
            </a:solidFill>
            <a:ln w="9525">
              <a:solidFill>
                <a:srgbClr val="F0CFC2"/>
              </a:solidFill>
            </a:ln>
          </p:spPr>
        </p:sp>
        <p:sp>
          <p:nvSpPr>
            <p:cNvPr id="38" name="Ellipse 38"/>
            <p:cNvSpPr/>
            <p:nvPr/>
          </p:nvSpPr>
          <p:spPr>
            <a:xfrm>
              <a:off x="7458075" y="4076700"/>
              <a:ext cx="285750" cy="285750"/>
            </a:xfrm>
            <a:prstGeom prst="ellipse">
              <a:avLst/>
            </a:prstGeom>
            <a:solidFill>
              <a:schemeClr val="accent3"/>
            </a:solidFill>
            <a:ln>
              <a:noFill/>
            </a:ln>
          </p:spPr>
        </p:sp>
        <p:sp>
          <p:nvSpPr>
            <p:cNvPr id="39" name="TextBox 39"/>
            <p:cNvSpPr txBox="1"/>
            <p:nvPr/>
          </p:nvSpPr>
          <p:spPr>
            <a:xfrm>
              <a:off x="7557903" y="4161949"/>
              <a:ext cx="86094" cy="190690"/>
            </a:xfrm>
            <a:prstGeom prst="rect">
              <a:avLst/>
            </a:prstGeom>
            <a:noFill/>
            <a:ln>
              <a:noFill/>
            </a:ln>
          </p:spPr>
          <p:txBody>
            <a:bodyPr wrap="none" lIns="0" tIns="0" rIns="0" bIns="0" anchor="t" anchorCtr="0">
              <a:spAutoFit/>
            </a:bodyPr>
            <a:lstStyle/>
            <a:p>
              <a:pPr algn="ctr"/>
              <a:r>
                <a:rPr lang="zh-CN" sz="980" b="1" dirty="0">
                  <a:solidFill>
                    <a:srgbClr val="FFFFFF"/>
                  </a:solidFill>
                  <a:latin typeface="+mn-lt"/>
                  <a:ea typeface="+mn-ea"/>
                  <a:cs typeface="+mn-cs"/>
                </a:rPr>
                <a:t>4</a:t>
              </a:r>
            </a:p>
          </p:txBody>
        </p:sp>
        <p:sp>
          <p:nvSpPr>
            <p:cNvPr id="40" name="TextBox 40"/>
            <p:cNvSpPr txBox="1"/>
            <p:nvPr/>
          </p:nvSpPr>
          <p:spPr>
            <a:xfrm>
              <a:off x="7842504" y="4051935"/>
              <a:ext cx="999372" cy="234696"/>
            </a:xfrm>
            <a:prstGeom prst="rect">
              <a:avLst/>
            </a:prstGeom>
            <a:noFill/>
            <a:ln>
              <a:noFill/>
            </a:ln>
          </p:spPr>
          <p:txBody>
            <a:bodyPr wrap="none" lIns="0" tIns="0" rIns="0" bIns="0" anchor="t" anchorCtr="0">
              <a:spAutoFit/>
            </a:bodyPr>
            <a:lstStyle/>
            <a:p>
              <a:pPr algn="l"/>
              <a:r>
                <a:rPr lang="zh-CN" sz="1200" b="1" dirty="0">
                  <a:solidFill>
                    <a:schemeClr val="dk1"/>
                  </a:solidFill>
                  <a:latin typeface="+mn-lt"/>
                  <a:ea typeface="+mn-ea"/>
                  <a:cs typeface="+mn-cs"/>
                </a:rPr>
                <a:t>海洋 | Ocean</a:t>
              </a:r>
            </a:p>
          </p:txBody>
        </p:sp>
        <p:sp>
          <p:nvSpPr>
            <p:cNvPr id="41" name="TextBox 41"/>
            <p:cNvSpPr txBox="1"/>
            <p:nvPr/>
          </p:nvSpPr>
          <p:spPr>
            <a:xfrm>
              <a:off x="10569641" y="4060031"/>
              <a:ext cx="923224" cy="220028"/>
            </a:xfrm>
            <a:prstGeom prst="rect">
              <a:avLst/>
            </a:prstGeom>
            <a:noFill/>
            <a:ln>
              <a:noFill/>
            </a:ln>
          </p:spPr>
          <p:txBody>
            <a:bodyPr wrap="none" lIns="0" tIns="0" rIns="0" bIns="0" anchor="t" anchorCtr="0">
              <a:spAutoFit/>
            </a:bodyPr>
            <a:lstStyle/>
            <a:p>
              <a:pPr algn="r"/>
              <a:r>
                <a:rPr lang="zh-CN" sz="1120" b="1" dirty="0">
                  <a:solidFill>
                    <a:srgbClr val="C2410C"/>
                  </a:solidFill>
                  <a:latin typeface="+mn-lt"/>
                  <a:ea typeface="+mn-ea"/>
                  <a:cs typeface="+mn-cs"/>
                </a:rPr>
                <a:t>38,000 Gt C</a:t>
              </a:r>
            </a:p>
          </p:txBody>
        </p:sp>
        <p:sp>
          <p:nvSpPr>
            <p:cNvPr id="42" name="TextBox 42"/>
            <p:cNvSpPr txBox="1"/>
            <p:nvPr/>
          </p:nvSpPr>
          <p:spPr>
            <a:xfrm>
              <a:off x="7843647" y="4276249"/>
              <a:ext cx="1988820" cy="190690"/>
            </a:xfrm>
            <a:prstGeom prst="rect">
              <a:avLst/>
            </a:prstGeom>
            <a:noFill/>
            <a:ln>
              <a:noFill/>
            </a:ln>
          </p:spPr>
          <p:txBody>
            <a:bodyPr wrap="none" lIns="0" tIns="0" rIns="0" bIns="0" anchor="t" anchorCtr="0">
              <a:spAutoFit/>
            </a:bodyPr>
            <a:lstStyle/>
            <a:p>
              <a:pPr algn="l"/>
              <a:r>
                <a:rPr lang="zh-CN" sz="980" dirty="0">
                  <a:solidFill>
                    <a:schemeClr val="accent5"/>
                  </a:solidFill>
                  <a:latin typeface="+mn-lt"/>
                  <a:ea typeface="+mn-ea"/>
                  <a:cs typeface="+mn-cs"/>
                </a:rPr>
                <a:t>含海洋生物；表层库与深层库合计</a:t>
              </a:r>
            </a:p>
          </p:txBody>
        </p:sp>
        <p:sp>
          <p:nvSpPr>
            <p:cNvPr id="43" name="Line 43"/>
            <p:cNvSpPr/>
            <p:nvPr/>
          </p:nvSpPr>
          <p:spPr>
            <a:xfrm>
              <a:off x="7372350" y="4667250"/>
              <a:ext cx="4286250" cy="9525"/>
            </a:xfrm>
            <a:custGeom>
              <a:avLst/>
              <a:gdLst/>
              <a:ahLst/>
              <a:cxnLst/>
              <a:rect l="l" t="t" r="r" b="b"/>
              <a:pathLst>
                <a:path w="4286250" h="9525">
                  <a:moveTo>
                    <a:pt x="0" y="0"/>
                  </a:moveTo>
                  <a:lnTo>
                    <a:pt x="4286250" y="0"/>
                  </a:lnTo>
                </a:path>
              </a:pathLst>
            </a:custGeom>
            <a:noFill/>
            <a:ln w="9525">
              <a:solidFill>
                <a:srgbClr val="F0CFC2"/>
              </a:solidFill>
            </a:ln>
          </p:spPr>
        </p:sp>
        <p:sp>
          <p:nvSpPr>
            <p:cNvPr id="44" name="TextBox 44"/>
            <p:cNvSpPr txBox="1"/>
            <p:nvPr/>
          </p:nvSpPr>
          <p:spPr>
            <a:xfrm>
              <a:off x="7443406" y="4748451"/>
              <a:ext cx="2159179" cy="198025"/>
            </a:xfrm>
            <a:prstGeom prst="rect">
              <a:avLst/>
            </a:prstGeom>
            <a:noFill/>
            <a:ln>
              <a:noFill/>
            </a:ln>
          </p:spPr>
          <p:txBody>
            <a:bodyPr wrap="none" lIns="0" tIns="0" rIns="0" bIns="0" anchor="t" anchorCtr="0">
              <a:spAutoFit/>
            </a:bodyPr>
            <a:lstStyle/>
            <a:p>
              <a:pPr algn="l"/>
              <a:r>
                <a:rPr lang="zh-CN" sz="1010" b="1" dirty="0">
                  <a:solidFill>
                    <a:srgbClr val="7A4A33"/>
                  </a:solidFill>
                  <a:latin typeface="+mn-lt"/>
                  <a:ea typeface="+mn-ea"/>
                  <a:cs typeface="+mn-cs"/>
                </a:rPr>
                <a:t>地质储库 | Geological reservoirs</a:t>
              </a:r>
            </a:p>
          </p:txBody>
        </p:sp>
        <p:sp>
          <p:nvSpPr>
            <p:cNvPr id="45" name="TextBox 45"/>
            <p:cNvSpPr txBox="1"/>
            <p:nvPr/>
          </p:nvSpPr>
          <p:spPr>
            <a:xfrm>
              <a:off x="9806038" y="4756547"/>
              <a:ext cx="1781124" cy="183356"/>
            </a:xfrm>
            <a:prstGeom prst="rect">
              <a:avLst/>
            </a:prstGeom>
            <a:noFill/>
            <a:ln>
              <a:noFill/>
            </a:ln>
          </p:spPr>
          <p:txBody>
            <a:bodyPr wrap="none" lIns="0" tIns="0" rIns="0" bIns="0" anchor="t" anchorCtr="0">
              <a:spAutoFit/>
            </a:bodyPr>
            <a:lstStyle/>
            <a:p>
              <a:pPr algn="r"/>
              <a:r>
                <a:rPr lang="zh-CN" sz="940" dirty="0">
                  <a:solidFill>
                    <a:srgbClr val="7A4A33"/>
                  </a:solidFill>
                  <a:latin typeface="+mn-lt"/>
                  <a:ea typeface="+mn-ea"/>
                  <a:cs typeface="+mn-cs"/>
                </a:rPr>
                <a:t>定性描述，不参与上方数值排序</a:t>
              </a:r>
            </a:p>
          </p:txBody>
        </p:sp>
        <p:sp>
          <p:nvSpPr>
            <p:cNvPr id="46" name="Rectangle 46"/>
            <p:cNvSpPr/>
            <p:nvPr/>
          </p:nvSpPr>
          <p:spPr>
            <a:xfrm>
              <a:off x="7372350" y="4972050"/>
              <a:ext cx="4286250" cy="495300"/>
            </a:xfrm>
            <a:prstGeom prst="roundRect">
              <a:avLst>
                <a:gd name="adj" fmla="val 19231"/>
              </a:avLst>
            </a:prstGeom>
            <a:solidFill>
              <a:srgbClr val="FDECDD"/>
            </a:solidFill>
            <a:ln w="9525">
              <a:solidFill>
                <a:srgbClr val="F0CFC2"/>
              </a:solidFill>
            </a:ln>
          </p:spPr>
        </p:sp>
        <p:sp>
          <p:nvSpPr>
            <p:cNvPr id="47" name="Ellipse 47"/>
            <p:cNvSpPr/>
            <p:nvPr/>
          </p:nvSpPr>
          <p:spPr>
            <a:xfrm>
              <a:off x="7515225" y="5133975"/>
              <a:ext cx="171450" cy="171450"/>
            </a:xfrm>
            <a:prstGeom prst="ellipse">
              <a:avLst/>
            </a:prstGeom>
            <a:noFill/>
            <a:ln w="19050">
              <a:solidFill>
                <a:srgbClr val="7A4A33"/>
              </a:solidFill>
            </a:ln>
          </p:spPr>
        </p:sp>
        <p:sp>
          <p:nvSpPr>
            <p:cNvPr id="48" name="TextBox 48"/>
            <p:cNvSpPr txBox="1"/>
            <p:nvPr/>
          </p:nvSpPr>
          <p:spPr>
            <a:xfrm>
              <a:off x="7842885" y="5060156"/>
              <a:ext cx="1303978" cy="220028"/>
            </a:xfrm>
            <a:prstGeom prst="rect">
              <a:avLst/>
            </a:prstGeom>
            <a:noFill/>
            <a:ln>
              <a:noFill/>
            </a:ln>
          </p:spPr>
          <p:txBody>
            <a:bodyPr wrap="none" lIns="0" tIns="0" rIns="0" bIns="0" anchor="t" anchorCtr="0">
              <a:spAutoFit/>
            </a:bodyPr>
            <a:lstStyle/>
            <a:p>
              <a:pPr algn="l"/>
              <a:r>
                <a:rPr lang="zh-CN" sz="1120" b="1" dirty="0">
                  <a:solidFill>
                    <a:schemeClr val="dk1"/>
                  </a:solidFill>
                  <a:latin typeface="+mn-lt"/>
                  <a:ea typeface="+mn-ea"/>
                  <a:cs typeface="+mn-cs"/>
                </a:rPr>
                <a:t>沉积物 | Sediment</a:t>
              </a:r>
            </a:p>
          </p:txBody>
        </p:sp>
        <p:sp>
          <p:nvSpPr>
            <p:cNvPr id="49" name="TextBox 49"/>
            <p:cNvSpPr txBox="1"/>
            <p:nvPr/>
          </p:nvSpPr>
          <p:spPr>
            <a:xfrm>
              <a:off x="10558704" y="5076349"/>
              <a:ext cx="933399" cy="190690"/>
            </a:xfrm>
            <a:prstGeom prst="rect">
              <a:avLst/>
            </a:prstGeom>
            <a:noFill/>
            <a:ln>
              <a:noFill/>
            </a:ln>
          </p:spPr>
          <p:txBody>
            <a:bodyPr wrap="none" lIns="0" tIns="0" rIns="0" bIns="0" anchor="t" anchorCtr="0">
              <a:spAutoFit/>
            </a:bodyPr>
            <a:lstStyle/>
            <a:p>
              <a:pPr algn="r"/>
              <a:r>
                <a:rPr lang="zh-CN" sz="980" b="1" dirty="0">
                  <a:solidFill>
                    <a:srgbClr val="7A4A33"/>
                  </a:solidFill>
                  <a:latin typeface="+mn-lt"/>
                  <a:ea typeface="+mn-ea"/>
                  <a:cs typeface="+mn-cs"/>
                </a:rPr>
                <a:t>图中未给出总量</a:t>
              </a:r>
            </a:p>
          </p:txBody>
        </p:sp>
        <p:sp>
          <p:nvSpPr>
            <p:cNvPr id="50" name="TextBox 50"/>
            <p:cNvSpPr txBox="1"/>
            <p:nvPr/>
          </p:nvSpPr>
          <p:spPr>
            <a:xfrm>
              <a:off x="7843838" y="5261372"/>
              <a:ext cx="1528039" cy="183356"/>
            </a:xfrm>
            <a:prstGeom prst="rect">
              <a:avLst/>
            </a:prstGeom>
            <a:noFill/>
            <a:ln>
              <a:noFill/>
            </a:ln>
          </p:spPr>
          <p:txBody>
            <a:bodyPr wrap="none" lIns="0" tIns="0" rIns="0" bIns="0" anchor="t" anchorCtr="0">
              <a:spAutoFit/>
            </a:bodyPr>
            <a:lstStyle/>
            <a:p>
              <a:pPr algn="l"/>
              <a:r>
                <a:rPr lang="zh-CN" sz="940" dirty="0">
                  <a:solidFill>
                    <a:schemeClr val="accent5"/>
                  </a:solidFill>
                  <a:latin typeface="+mn-lt"/>
                  <a:ea typeface="+mn-ea"/>
                  <a:cs typeface="+mn-cs"/>
                </a:rPr>
                <a:t>连接海洋与岩石的过渡储库</a:t>
              </a:r>
            </a:p>
          </p:txBody>
        </p:sp>
        <p:sp>
          <p:nvSpPr>
            <p:cNvPr id="51" name="Rectangle 51"/>
            <p:cNvSpPr/>
            <p:nvPr/>
          </p:nvSpPr>
          <p:spPr>
            <a:xfrm>
              <a:off x="7372350" y="5543550"/>
              <a:ext cx="4286250" cy="495300"/>
            </a:xfrm>
            <a:prstGeom prst="roundRect">
              <a:avLst>
                <a:gd name="adj" fmla="val 19231"/>
              </a:avLst>
            </a:prstGeom>
            <a:solidFill>
              <a:srgbClr val="FDECDD"/>
            </a:solidFill>
            <a:ln w="9525">
              <a:solidFill>
                <a:srgbClr val="F0CFC2"/>
              </a:solidFill>
            </a:ln>
          </p:spPr>
        </p:sp>
        <p:sp>
          <p:nvSpPr>
            <p:cNvPr id="52" name="Ellipse 52"/>
            <p:cNvSpPr/>
            <p:nvPr/>
          </p:nvSpPr>
          <p:spPr>
            <a:xfrm>
              <a:off x="7515225" y="5705475"/>
              <a:ext cx="171450" cy="171450"/>
            </a:xfrm>
            <a:prstGeom prst="ellipse">
              <a:avLst/>
            </a:prstGeom>
            <a:noFill/>
            <a:ln w="19050">
              <a:solidFill>
                <a:srgbClr val="7A4A33"/>
              </a:solidFill>
            </a:ln>
          </p:spPr>
        </p:sp>
        <p:sp>
          <p:nvSpPr>
            <p:cNvPr id="53" name="TextBox 53"/>
            <p:cNvSpPr txBox="1"/>
            <p:nvPr/>
          </p:nvSpPr>
          <p:spPr>
            <a:xfrm>
              <a:off x="7842885" y="5631656"/>
              <a:ext cx="1532237" cy="220028"/>
            </a:xfrm>
            <a:prstGeom prst="rect">
              <a:avLst/>
            </a:prstGeom>
            <a:noFill/>
            <a:ln>
              <a:noFill/>
            </a:ln>
          </p:spPr>
          <p:txBody>
            <a:bodyPr wrap="none" lIns="0" tIns="0" rIns="0" bIns="0" anchor="t" anchorCtr="0">
              <a:spAutoFit/>
            </a:bodyPr>
            <a:lstStyle/>
            <a:p>
              <a:pPr algn="l"/>
              <a:r>
                <a:rPr lang="zh-CN" sz="1120" b="1" dirty="0">
                  <a:solidFill>
                    <a:schemeClr val="dk1"/>
                  </a:solidFill>
                  <a:latin typeface="+mn-lt"/>
                  <a:ea typeface="+mn-ea"/>
                  <a:cs typeface="+mn-cs"/>
                </a:rPr>
                <a:t>岩石圈 | Lithosphere</a:t>
              </a:r>
            </a:p>
          </p:txBody>
        </p:sp>
        <p:sp>
          <p:nvSpPr>
            <p:cNvPr id="54" name="TextBox 54"/>
            <p:cNvSpPr txBox="1"/>
            <p:nvPr/>
          </p:nvSpPr>
          <p:spPr>
            <a:xfrm>
              <a:off x="10558704" y="5647849"/>
              <a:ext cx="933399" cy="190690"/>
            </a:xfrm>
            <a:prstGeom prst="rect">
              <a:avLst/>
            </a:prstGeom>
            <a:noFill/>
            <a:ln>
              <a:noFill/>
            </a:ln>
          </p:spPr>
          <p:txBody>
            <a:bodyPr wrap="none" lIns="0" tIns="0" rIns="0" bIns="0" anchor="t" anchorCtr="0">
              <a:spAutoFit/>
            </a:bodyPr>
            <a:lstStyle/>
            <a:p>
              <a:pPr algn="r"/>
              <a:r>
                <a:rPr lang="zh-CN" sz="980" b="1" dirty="0">
                  <a:solidFill>
                    <a:srgbClr val="7A4A33"/>
                  </a:solidFill>
                  <a:latin typeface="+mn-lt"/>
                  <a:ea typeface="+mn-ea"/>
                  <a:cs typeface="+mn-cs"/>
                </a:rPr>
                <a:t>图中未给出总量</a:t>
              </a:r>
            </a:p>
          </p:txBody>
        </p:sp>
        <p:sp>
          <p:nvSpPr>
            <p:cNvPr id="55" name="TextBox 55"/>
            <p:cNvSpPr txBox="1"/>
            <p:nvPr/>
          </p:nvSpPr>
          <p:spPr>
            <a:xfrm>
              <a:off x="7843838" y="5832872"/>
              <a:ext cx="1274953" cy="183356"/>
            </a:xfrm>
            <a:prstGeom prst="rect">
              <a:avLst/>
            </a:prstGeom>
            <a:noFill/>
            <a:ln>
              <a:noFill/>
            </a:ln>
          </p:spPr>
          <p:txBody>
            <a:bodyPr wrap="none" lIns="0" tIns="0" rIns="0" bIns="0" anchor="t" anchorCtr="0">
              <a:spAutoFit/>
            </a:bodyPr>
            <a:lstStyle/>
            <a:p>
              <a:pPr algn="l"/>
              <a:r>
                <a:rPr lang="zh-CN" sz="940" dirty="0">
                  <a:solidFill>
                    <a:schemeClr val="accent5"/>
                  </a:solidFill>
                  <a:latin typeface="+mn-lt"/>
                  <a:ea typeface="+mn-ea"/>
                  <a:cs typeface="+mn-cs"/>
                </a:rPr>
                <a:t>化石有机碳与碳酸盐岩</a:t>
              </a:r>
            </a:p>
          </p:txBody>
        </p:sp>
      </p:grpSp>
      <p:sp>
        <p:nvSpPr>
          <p:cNvPr id="57" name="TextBox 57"/>
          <p:cNvSpPr txBox="1"/>
          <p:nvPr/>
        </p:nvSpPr>
        <p:spPr>
          <a:xfrm>
            <a:off x="376238" y="6532245"/>
            <a:ext cx="6294939" cy="176212"/>
          </a:xfrm>
          <a:prstGeom prst="rect">
            <a:avLst/>
          </a:prstGeom>
          <a:noFill/>
          <a:ln>
            <a:noFill/>
          </a:ln>
        </p:spPr>
        <p:txBody>
          <a:bodyPr wrap="none" lIns="0" tIns="0" rIns="0" bIns="0" anchor="t" anchorCtr="0">
            <a:spAutoFit/>
          </a:bodyPr>
          <a:lstStyle/>
          <a:p>
            <a:pPr algn="l"/>
            <a:r>
              <a:rPr lang="zh-CN" sz="900" dirty="0">
                <a:solidFill>
                  <a:schemeClr val="accent5"/>
                </a:solidFill>
                <a:latin typeface="+mn-lt"/>
                <a:ea typeface="+mn-ea"/>
                <a:cs typeface="+mn-cs"/>
              </a:rPr>
              <a:t>Source: UE 8e, Fig. 12.19, PDF p.1209 (Gt C); 地球系统与演变 Ch.4 §4.2、§4.5.1, PDF pp.58–64, 79–80.</a:t>
            </a:r>
          </a:p>
        </p:txBody>
      </p:sp>
      <p:sp>
        <p:nvSpPr>
          <p:cNvPr id="58" name="TextBox 58"/>
          <p:cNvSpPr txBox="1"/>
          <p:nvPr/>
        </p:nvSpPr>
        <p:spPr>
          <a:xfrm>
            <a:off x="11672964" y="6532245"/>
            <a:ext cx="142799" cy="176212"/>
          </a:xfrm>
          <a:prstGeom prst="rect">
            <a:avLst/>
          </a:prstGeom>
          <a:noFill/>
          <a:ln>
            <a:noFill/>
          </a:ln>
        </p:spPr>
        <p:txBody>
          <a:bodyPr wrap="none" lIns="0" tIns="0" rIns="0" bIns="0" anchor="t" anchorCtr="0">
            <a:spAutoFit/>
          </a:bodyPr>
          <a:lstStyle/>
          <a:p>
            <a:pPr algn="r"/>
            <a:r>
              <a:rPr lang="zh-CN" sz="900" dirty="0">
                <a:solidFill>
                  <a:schemeClr val="accent5"/>
                </a:solidFill>
                <a:latin typeface="+mn-lt"/>
                <a:ea typeface="+mn-ea"/>
                <a:cs typeface="+mn-cs"/>
              </a:rPr>
              <a:t>22</a:t>
            </a:r>
          </a:p>
        </p:txBody>
      </p:sp>
    </p:spTree>
    <p:extLst>
      <p:ext uri="{BB962C8B-B14F-4D97-AF65-F5344CB8AC3E}">
        <p14:creationId xmlns:p14="http://schemas.microsoft.com/office/powerpoint/2010/main" val="3005190074"/>
      </p:ext>
    </p:extLst>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5"/>
          <p:cNvGrpSpPr/>
          <p:nvPr/>
        </p:nvGrpSpPr>
        <p:grpSpPr>
          <a:xfrm>
            <a:off x="0" y="0"/>
            <a:ext cx="12192000" cy="685800"/>
            <a:chOff x="0" y="0"/>
            <a:chExt cx="12192000" cy="685800"/>
          </a:xfrm>
        </p:grpSpPr>
        <p:sp>
          <p:nvSpPr>
            <p:cNvPr id="2" name="Rectangle 2"/>
            <p:cNvSpPr/>
            <p:nvPr/>
          </p:nvSpPr>
          <p:spPr>
            <a:xfrm>
              <a:off x="0" y="0"/>
              <a:ext cx="12192000" cy="685800"/>
            </a:xfrm>
            <a:prstGeom prst="rect">
              <a:avLst/>
            </a:prstGeom>
            <a:solidFill>
              <a:schemeClr val="accent1"/>
            </a:solidFill>
            <a:ln>
              <a:noFill/>
            </a:ln>
          </p:spPr>
        </p:sp>
        <p:sp>
          <p:nvSpPr>
            <p:cNvPr id="3" name="TextBox 3"/>
            <p:cNvSpPr txBox="1"/>
            <p:nvPr/>
          </p:nvSpPr>
          <p:spPr>
            <a:xfrm>
              <a:off x="374142" y="282892"/>
              <a:ext cx="3253874" cy="264033"/>
            </a:xfrm>
            <a:prstGeom prst="rect">
              <a:avLst/>
            </a:prstGeom>
            <a:noFill/>
            <a:ln>
              <a:noFill/>
            </a:ln>
          </p:spPr>
          <p:txBody>
            <a:bodyPr wrap="none" lIns="0" tIns="0" rIns="0" bIns="0" anchor="t" anchorCtr="0">
              <a:spAutoFit/>
            </a:bodyPr>
            <a:lstStyle/>
            <a:p>
              <a:pPr algn="l"/>
              <a:r>
                <a:rPr lang="zh-CN" sz="1350" b="1" dirty="0">
                  <a:solidFill>
                    <a:srgbClr val="FFFFFF"/>
                  </a:solidFill>
                  <a:latin typeface="+mn-lt"/>
                  <a:ea typeface="+mn-ea"/>
                  <a:cs typeface="+mn-cs"/>
                </a:rPr>
                <a:t>2.3 全球碳循环 | Global Carbon Cycle</a:t>
              </a:r>
            </a:p>
          </p:txBody>
        </p:sp>
        <p:sp>
          <p:nvSpPr>
            <p:cNvPr id="4" name="TextBox 4"/>
            <p:cNvSpPr txBox="1"/>
            <p:nvPr/>
          </p:nvSpPr>
          <p:spPr>
            <a:xfrm>
              <a:off x="10686898" y="299085"/>
              <a:ext cx="1130198" cy="234696"/>
            </a:xfrm>
            <a:prstGeom prst="rect">
              <a:avLst/>
            </a:prstGeom>
            <a:noFill/>
            <a:ln>
              <a:noFill/>
            </a:ln>
          </p:spPr>
          <p:txBody>
            <a:bodyPr wrap="none" lIns="0" tIns="0" rIns="0" bIns="0" anchor="t" anchorCtr="0">
              <a:spAutoFit/>
            </a:bodyPr>
            <a:lstStyle/>
            <a:p>
              <a:pPr algn="r"/>
              <a:r>
                <a:rPr lang="zh-CN" sz="1200" dirty="0">
                  <a:solidFill>
                    <a:srgbClr val="C7D7F2"/>
                  </a:solidFill>
                  <a:latin typeface="+mn-lt"/>
                  <a:ea typeface="+mn-ea"/>
                  <a:cs typeface="+mn-cs"/>
                </a:rPr>
                <a:t>CARBON CYCLE</a:t>
              </a:r>
            </a:p>
          </p:txBody>
        </p:sp>
      </p:grpSp>
      <p:grpSp>
        <p:nvGrpSpPr>
          <p:cNvPr id="8" name="Group 8"/>
          <p:cNvGrpSpPr/>
          <p:nvPr/>
        </p:nvGrpSpPr>
        <p:grpSpPr>
          <a:xfrm>
            <a:off x="381000" y="914400"/>
            <a:ext cx="5709641" cy="357093"/>
            <a:chOff x="381000" y="914400"/>
            <a:chExt cx="5709641" cy="357093"/>
          </a:xfrm>
        </p:grpSpPr>
        <p:sp>
          <p:nvSpPr>
            <p:cNvPr id="6" name="Rectangle 6"/>
            <p:cNvSpPr/>
            <p:nvPr/>
          </p:nvSpPr>
          <p:spPr>
            <a:xfrm>
              <a:off x="381000" y="914400"/>
              <a:ext cx="57150" cy="266700"/>
            </a:xfrm>
            <a:prstGeom prst="roundRect">
              <a:avLst>
                <a:gd name="adj" fmla="val 50000"/>
              </a:avLst>
            </a:prstGeom>
            <a:solidFill>
              <a:schemeClr val="accent3"/>
            </a:solidFill>
            <a:ln>
              <a:noFill/>
            </a:ln>
          </p:spPr>
        </p:sp>
        <p:sp>
          <p:nvSpPr>
            <p:cNvPr id="7" name="TextBox 7"/>
            <p:cNvSpPr txBox="1"/>
            <p:nvPr/>
          </p:nvSpPr>
          <p:spPr>
            <a:xfrm>
              <a:off x="544449" y="963454"/>
              <a:ext cx="5546192" cy="308039"/>
            </a:xfrm>
            <a:prstGeom prst="rect">
              <a:avLst/>
            </a:prstGeom>
            <a:noFill/>
            <a:ln>
              <a:noFill/>
            </a:ln>
          </p:spPr>
          <p:txBody>
            <a:bodyPr wrap="none" lIns="0" tIns="0" rIns="0" bIns="0" anchor="t" anchorCtr="0">
              <a:spAutoFit/>
            </a:bodyPr>
            <a:lstStyle/>
            <a:p>
              <a:pPr algn="l"/>
              <a:r>
                <a:rPr lang="zh-CN" sz="1580" b="1" dirty="0">
                  <a:solidFill>
                    <a:srgbClr val="C2410C"/>
                  </a:solidFill>
                  <a:latin typeface="+mn-lt"/>
                  <a:ea typeface="+mn-ea"/>
                  <a:cs typeface="+mn-cs"/>
                </a:rPr>
                <a:t>先分清储库与通量，再比较交换速度；不需要背诵全部数字</a:t>
              </a:r>
            </a:p>
          </p:txBody>
        </p:sp>
      </p:grpSp>
      <p:grpSp>
        <p:nvGrpSpPr>
          <p:cNvPr id="11" name="Group 11"/>
          <p:cNvGrpSpPr/>
          <p:nvPr/>
        </p:nvGrpSpPr>
        <p:grpSpPr>
          <a:xfrm>
            <a:off x="381000" y="1466850"/>
            <a:ext cx="6496050" cy="4762500"/>
            <a:chOff x="381000" y="1466850"/>
            <a:chExt cx="6496050" cy="4762500"/>
          </a:xfrm>
        </p:grpSpPr>
        <p:sp>
          <p:nvSpPr>
            <p:cNvPr id="9" name="Rectangle 9"/>
            <p:cNvSpPr/>
            <p:nvPr/>
          </p:nvSpPr>
          <p:spPr>
            <a:xfrm>
              <a:off x="381000" y="1466850"/>
              <a:ext cx="6496050" cy="4762500"/>
            </a:xfrm>
            <a:prstGeom prst="roundRect">
              <a:avLst>
                <a:gd name="adj" fmla="val 2400"/>
              </a:avLst>
            </a:prstGeom>
            <a:solidFill>
              <a:schemeClr val="lt2"/>
            </a:solidFill>
            <a:ln w="9525">
              <a:solidFill>
                <a:schemeClr val="accent6"/>
              </a:solidFill>
            </a:ln>
          </p:spPr>
        </p:sp>
        <p:pic>
          <p:nvPicPr>
            <p:cNvPr id="10" name="Image 10"/>
            <p:cNvPicPr>
              <a:picLocks noChangeAspect="1"/>
            </p:cNvPicPr>
            <p:nvPr/>
          </p:nvPicPr>
          <p:blipFill>
            <a:blip r:embed="rId3"/>
            <a:stretch>
              <a:fillRect/>
            </a:stretch>
          </p:blipFill>
          <p:spPr>
            <a:xfrm>
              <a:off x="881046" y="1562100"/>
              <a:ext cx="5495958" cy="4572000"/>
            </a:xfrm>
            <a:prstGeom prst="rect">
              <a:avLst/>
            </a:prstGeom>
          </p:spPr>
        </p:pic>
      </p:grpSp>
      <p:grpSp>
        <p:nvGrpSpPr>
          <p:cNvPr id="17" name="Group 17"/>
          <p:cNvGrpSpPr/>
          <p:nvPr/>
        </p:nvGrpSpPr>
        <p:grpSpPr>
          <a:xfrm>
            <a:off x="7105650" y="1466850"/>
            <a:ext cx="4705350" cy="895350"/>
            <a:chOff x="7105650" y="1466850"/>
            <a:chExt cx="4705350" cy="895350"/>
          </a:xfrm>
        </p:grpSpPr>
        <p:sp>
          <p:nvSpPr>
            <p:cNvPr id="12" name="Rectangle 12"/>
            <p:cNvSpPr/>
            <p:nvPr/>
          </p:nvSpPr>
          <p:spPr>
            <a:xfrm>
              <a:off x="7105650" y="1466850"/>
              <a:ext cx="4705350" cy="895350"/>
            </a:xfrm>
            <a:prstGeom prst="roundRect">
              <a:avLst>
                <a:gd name="adj" fmla="val 12766"/>
              </a:avLst>
            </a:prstGeom>
            <a:solidFill>
              <a:srgbClr val="FDF4EF"/>
            </a:solidFill>
            <a:ln w="9525">
              <a:solidFill>
                <a:srgbClr val="F0CFC2"/>
              </a:solidFill>
            </a:ln>
          </p:spPr>
        </p:sp>
        <p:sp>
          <p:nvSpPr>
            <p:cNvPr id="13" name="Rectangle 13"/>
            <p:cNvSpPr/>
            <p:nvPr/>
          </p:nvSpPr>
          <p:spPr>
            <a:xfrm>
              <a:off x="7277100" y="1638300"/>
              <a:ext cx="457200" cy="457200"/>
            </a:xfrm>
            <a:prstGeom prst="roundRect">
              <a:avLst>
                <a:gd name="adj" fmla="val 25000"/>
              </a:avLst>
            </a:prstGeom>
            <a:solidFill>
              <a:schemeClr val="accent3"/>
            </a:solidFill>
            <a:ln>
              <a:noFill/>
            </a:ln>
          </p:spPr>
        </p:sp>
        <p:sp>
          <p:nvSpPr>
            <p:cNvPr id="14" name="TextBox 14"/>
            <p:cNvSpPr txBox="1"/>
            <p:nvPr/>
          </p:nvSpPr>
          <p:spPr>
            <a:xfrm>
              <a:off x="7391349" y="1773079"/>
              <a:ext cx="228702" cy="308039"/>
            </a:xfrm>
            <a:prstGeom prst="rect">
              <a:avLst/>
            </a:prstGeom>
            <a:noFill/>
            <a:ln>
              <a:noFill/>
            </a:ln>
          </p:spPr>
          <p:txBody>
            <a:bodyPr wrap="none" lIns="0" tIns="0" rIns="0" bIns="0" anchor="t" anchorCtr="0">
              <a:spAutoFit/>
            </a:bodyPr>
            <a:lstStyle/>
            <a:p>
              <a:pPr algn="ctr"/>
              <a:r>
                <a:rPr lang="zh-CN" sz="1580" b="1" dirty="0">
                  <a:solidFill>
                    <a:srgbClr val="FFFFFF"/>
                  </a:solidFill>
                  <a:latin typeface="+mn-lt"/>
                  <a:ea typeface="+mn-ea"/>
                  <a:cs typeface="+mn-cs"/>
                </a:rPr>
                <a:t>框</a:t>
              </a:r>
            </a:p>
          </p:txBody>
        </p:sp>
        <p:sp>
          <p:nvSpPr>
            <p:cNvPr id="15" name="TextBox 15"/>
            <p:cNvSpPr txBox="1"/>
            <p:nvPr/>
          </p:nvSpPr>
          <p:spPr>
            <a:xfrm>
              <a:off x="7918704" y="1661160"/>
              <a:ext cx="1293165" cy="234696"/>
            </a:xfrm>
            <a:prstGeom prst="rect">
              <a:avLst/>
            </a:prstGeom>
            <a:noFill/>
            <a:ln>
              <a:noFill/>
            </a:ln>
          </p:spPr>
          <p:txBody>
            <a:bodyPr wrap="none" lIns="0" tIns="0" rIns="0" bIns="0" anchor="t" anchorCtr="0">
              <a:spAutoFit/>
            </a:bodyPr>
            <a:lstStyle/>
            <a:p>
              <a:pPr algn="l"/>
              <a:r>
                <a:rPr lang="zh-CN" sz="1200" b="1" dirty="0">
                  <a:solidFill>
                    <a:srgbClr val="C2410C"/>
                  </a:solidFill>
                  <a:latin typeface="+mn-lt"/>
                  <a:ea typeface="+mn-ea"/>
                  <a:cs typeface="+mn-cs"/>
                </a:rPr>
                <a:t>储库 | Reservoir</a:t>
              </a:r>
            </a:p>
          </p:txBody>
        </p:sp>
        <p:sp>
          <p:nvSpPr>
            <p:cNvPr id="16" name="TextBox 16"/>
            <p:cNvSpPr txBox="1"/>
            <p:nvPr/>
          </p:nvSpPr>
          <p:spPr>
            <a:xfrm>
              <a:off x="7919085" y="1935956"/>
              <a:ext cx="2663495" cy="220028"/>
            </a:xfrm>
            <a:prstGeom prst="rect">
              <a:avLst/>
            </a:prstGeom>
            <a:noFill/>
            <a:ln>
              <a:noFill/>
            </a:ln>
          </p:spPr>
          <p:txBody>
            <a:bodyPr wrap="none" lIns="0" tIns="0" rIns="0" bIns="0" anchor="t" anchorCtr="0">
              <a:spAutoFit/>
            </a:bodyPr>
            <a:lstStyle/>
            <a:p>
              <a:pPr algn="l"/>
              <a:r>
                <a:rPr lang="zh-CN" sz="1120" dirty="0">
                  <a:solidFill>
                    <a:schemeClr val="dk1"/>
                  </a:solidFill>
                  <a:latin typeface="+mn-lt"/>
                  <a:ea typeface="+mn-ea"/>
                  <a:cs typeface="+mn-cs"/>
                </a:rPr>
                <a:t>单位：Gt C，表示某处储存了多少碳。</a:t>
              </a:r>
            </a:p>
          </p:txBody>
        </p:sp>
      </p:grpSp>
      <p:grpSp>
        <p:nvGrpSpPr>
          <p:cNvPr id="24" name="Group 24"/>
          <p:cNvGrpSpPr/>
          <p:nvPr/>
        </p:nvGrpSpPr>
        <p:grpSpPr>
          <a:xfrm>
            <a:off x="7105650" y="2476500"/>
            <a:ext cx="4705350" cy="1200150"/>
            <a:chOff x="7105650" y="2476500"/>
            <a:chExt cx="4705350" cy="1200150"/>
          </a:xfrm>
        </p:grpSpPr>
        <p:sp>
          <p:nvSpPr>
            <p:cNvPr id="18" name="Rectangle 18"/>
            <p:cNvSpPr/>
            <p:nvPr/>
          </p:nvSpPr>
          <p:spPr>
            <a:xfrm>
              <a:off x="7105650" y="2476500"/>
              <a:ext cx="4705350" cy="1200150"/>
            </a:xfrm>
            <a:prstGeom prst="roundRect">
              <a:avLst>
                <a:gd name="adj" fmla="val 9524"/>
              </a:avLst>
            </a:prstGeom>
            <a:solidFill>
              <a:srgbClr val="FDF4EF"/>
            </a:solidFill>
            <a:ln w="9525">
              <a:solidFill>
                <a:srgbClr val="F0CFC2"/>
              </a:solidFill>
            </a:ln>
          </p:spPr>
        </p:sp>
        <p:sp>
          <p:nvSpPr>
            <p:cNvPr id="19" name="Rectangle 19"/>
            <p:cNvSpPr/>
            <p:nvPr/>
          </p:nvSpPr>
          <p:spPr>
            <a:xfrm>
              <a:off x="7277100" y="2647950"/>
              <a:ext cx="457200" cy="457200"/>
            </a:xfrm>
            <a:prstGeom prst="roundRect">
              <a:avLst>
                <a:gd name="adj" fmla="val 25000"/>
              </a:avLst>
            </a:prstGeom>
            <a:solidFill>
              <a:srgbClr val="C2410C"/>
            </a:solidFill>
            <a:ln>
              <a:noFill/>
            </a:ln>
          </p:spPr>
        </p:sp>
        <p:sp>
          <p:nvSpPr>
            <p:cNvPr id="20" name="TextBox 20"/>
            <p:cNvSpPr txBox="1"/>
            <p:nvPr/>
          </p:nvSpPr>
          <p:spPr>
            <a:xfrm>
              <a:off x="7436282" y="2782729"/>
              <a:ext cx="138836" cy="308039"/>
            </a:xfrm>
            <a:prstGeom prst="rect">
              <a:avLst/>
            </a:prstGeom>
            <a:noFill/>
            <a:ln>
              <a:noFill/>
            </a:ln>
          </p:spPr>
          <p:txBody>
            <a:bodyPr wrap="none" lIns="0" tIns="0" rIns="0" bIns="0" anchor="t" anchorCtr="0">
              <a:spAutoFit/>
            </a:bodyPr>
            <a:lstStyle/>
            <a:p>
              <a:pPr algn="ctr"/>
              <a:r>
                <a:rPr lang="zh-CN" sz="1580" b="1" dirty="0">
                  <a:solidFill>
                    <a:srgbClr val="FFFFFF"/>
                  </a:solidFill>
                  <a:latin typeface="+mn-lt"/>
                  <a:ea typeface="+mn-ea"/>
                  <a:cs typeface="+mn-cs"/>
                </a:rPr>
                <a:t>→</a:t>
              </a:r>
            </a:p>
          </p:txBody>
        </p:sp>
        <p:sp>
          <p:nvSpPr>
            <p:cNvPr id="21" name="TextBox 21"/>
            <p:cNvSpPr txBox="1"/>
            <p:nvPr/>
          </p:nvSpPr>
          <p:spPr>
            <a:xfrm>
              <a:off x="7918704" y="2670810"/>
              <a:ext cx="830113" cy="234696"/>
            </a:xfrm>
            <a:prstGeom prst="rect">
              <a:avLst/>
            </a:prstGeom>
            <a:noFill/>
            <a:ln>
              <a:noFill/>
            </a:ln>
          </p:spPr>
          <p:txBody>
            <a:bodyPr wrap="none" lIns="0" tIns="0" rIns="0" bIns="0" anchor="t" anchorCtr="0">
              <a:spAutoFit/>
            </a:bodyPr>
            <a:lstStyle/>
            <a:p>
              <a:pPr algn="l"/>
              <a:r>
                <a:rPr lang="zh-CN" sz="1200" b="1" dirty="0">
                  <a:solidFill>
                    <a:srgbClr val="C2410C"/>
                  </a:solidFill>
                  <a:latin typeface="+mn-lt"/>
                  <a:ea typeface="+mn-ea"/>
                  <a:cs typeface="+mn-cs"/>
                </a:rPr>
                <a:t>通量 | Flux</a:t>
              </a:r>
            </a:p>
          </p:txBody>
        </p:sp>
        <p:sp>
          <p:nvSpPr>
            <p:cNvPr id="22" name="TextBox 22"/>
            <p:cNvSpPr txBox="1"/>
            <p:nvPr/>
          </p:nvSpPr>
          <p:spPr>
            <a:xfrm>
              <a:off x="7919085" y="2945606"/>
              <a:ext cx="2725142" cy="220028"/>
            </a:xfrm>
            <a:prstGeom prst="rect">
              <a:avLst/>
            </a:prstGeom>
            <a:noFill/>
            <a:ln>
              <a:noFill/>
            </a:ln>
          </p:spPr>
          <p:txBody>
            <a:bodyPr wrap="none" lIns="0" tIns="0" rIns="0" bIns="0" anchor="t" anchorCtr="0">
              <a:spAutoFit/>
            </a:bodyPr>
            <a:lstStyle/>
            <a:p>
              <a:pPr algn="l"/>
              <a:r>
                <a:rPr lang="zh-CN" sz="1120" dirty="0">
                  <a:solidFill>
                    <a:schemeClr val="dk1"/>
                  </a:solidFill>
                  <a:latin typeface="+mn-lt"/>
                  <a:ea typeface="+mn-ea"/>
                  <a:cs typeface="+mn-cs"/>
                </a:rPr>
                <a:t>单位：Gt C/yr，表示每年转移的速率。</a:t>
              </a:r>
            </a:p>
          </p:txBody>
        </p:sp>
        <p:sp>
          <p:nvSpPr>
            <p:cNvPr id="23" name="TextBox 23"/>
            <p:cNvSpPr txBox="1"/>
            <p:nvPr/>
          </p:nvSpPr>
          <p:spPr>
            <a:xfrm>
              <a:off x="7919847" y="3247549"/>
              <a:ext cx="2230577" cy="190690"/>
            </a:xfrm>
            <a:prstGeom prst="rect">
              <a:avLst/>
            </a:prstGeom>
            <a:noFill/>
            <a:ln>
              <a:noFill/>
            </a:ln>
          </p:spPr>
          <p:txBody>
            <a:bodyPr wrap="none" lIns="0" tIns="0" rIns="0" bIns="0" anchor="t" anchorCtr="0">
              <a:spAutoFit/>
            </a:bodyPr>
            <a:lstStyle/>
            <a:p>
              <a:pPr algn="l"/>
              <a:r>
                <a:rPr lang="zh-CN" sz="980" b="1" dirty="0">
                  <a:solidFill>
                    <a:schemeClr val="accent3"/>
                  </a:solidFill>
                  <a:latin typeface="+mn-lt"/>
                  <a:ea typeface="+mn-ea"/>
                  <a:cs typeface="+mn-cs"/>
                </a:rPr>
                <a:t>120 与 80 是总交换，不等于净碳汇。</a:t>
              </a:r>
            </a:p>
          </p:txBody>
        </p:sp>
      </p:grpSp>
      <p:grpSp>
        <p:nvGrpSpPr>
          <p:cNvPr id="31" name="Group 31"/>
          <p:cNvGrpSpPr/>
          <p:nvPr/>
        </p:nvGrpSpPr>
        <p:grpSpPr>
          <a:xfrm>
            <a:off x="7105650" y="3790950"/>
            <a:ext cx="4705350" cy="1562100"/>
            <a:chOff x="7105650" y="3790950"/>
            <a:chExt cx="4705350" cy="1562100"/>
          </a:xfrm>
        </p:grpSpPr>
        <p:sp>
          <p:nvSpPr>
            <p:cNvPr id="25" name="Rectangle 25"/>
            <p:cNvSpPr/>
            <p:nvPr/>
          </p:nvSpPr>
          <p:spPr>
            <a:xfrm>
              <a:off x="7105650" y="3790950"/>
              <a:ext cx="4705350" cy="1562100"/>
            </a:xfrm>
            <a:prstGeom prst="roundRect">
              <a:avLst>
                <a:gd name="adj" fmla="val 7317"/>
              </a:avLst>
            </a:prstGeom>
            <a:solidFill>
              <a:schemeClr val="lt2"/>
            </a:solidFill>
            <a:ln w="9525">
              <a:solidFill>
                <a:schemeClr val="accent6"/>
              </a:solidFill>
            </a:ln>
          </p:spPr>
        </p:sp>
        <p:sp>
          <p:nvSpPr>
            <p:cNvPr id="26" name="Ellipse 26"/>
            <p:cNvSpPr/>
            <p:nvPr/>
          </p:nvSpPr>
          <p:spPr>
            <a:xfrm>
              <a:off x="7277100" y="4000500"/>
              <a:ext cx="457200" cy="457200"/>
            </a:xfrm>
            <a:prstGeom prst="ellipse">
              <a:avLst/>
            </a:prstGeom>
            <a:solidFill>
              <a:schemeClr val="accent1"/>
            </a:solidFill>
            <a:ln>
              <a:noFill/>
            </a:ln>
          </p:spPr>
        </p:sp>
        <p:sp>
          <p:nvSpPr>
            <p:cNvPr id="27" name="Line 27"/>
            <p:cNvSpPr/>
            <p:nvPr/>
          </p:nvSpPr>
          <p:spPr>
            <a:xfrm>
              <a:off x="7505700" y="4086225"/>
              <a:ext cx="9525" cy="142875"/>
            </a:xfrm>
            <a:custGeom>
              <a:avLst/>
              <a:gdLst/>
              <a:ahLst/>
              <a:cxnLst/>
              <a:rect l="l" t="t" r="r" b="b"/>
              <a:pathLst>
                <a:path w="9525" h="142875">
                  <a:moveTo>
                    <a:pt x="0" y="142875"/>
                  </a:moveTo>
                  <a:lnTo>
                    <a:pt x="0" y="0"/>
                  </a:lnTo>
                </a:path>
              </a:pathLst>
            </a:custGeom>
            <a:noFill/>
            <a:ln w="28575">
              <a:solidFill>
                <a:srgbClr val="FFFFFF"/>
              </a:solidFill>
            </a:ln>
          </p:spPr>
        </p:sp>
        <p:sp>
          <p:nvSpPr>
            <p:cNvPr id="28" name="Line 28"/>
            <p:cNvSpPr/>
            <p:nvPr/>
          </p:nvSpPr>
          <p:spPr>
            <a:xfrm>
              <a:off x="7505700" y="4229100"/>
              <a:ext cx="114300" cy="76200"/>
            </a:xfrm>
            <a:custGeom>
              <a:avLst/>
              <a:gdLst/>
              <a:ahLst/>
              <a:cxnLst/>
              <a:rect l="l" t="t" r="r" b="b"/>
              <a:pathLst>
                <a:path w="114300" h="76200">
                  <a:moveTo>
                    <a:pt x="0" y="0"/>
                  </a:moveTo>
                  <a:lnTo>
                    <a:pt x="114300" y="76200"/>
                  </a:lnTo>
                </a:path>
              </a:pathLst>
            </a:custGeom>
            <a:noFill/>
            <a:ln w="28575">
              <a:solidFill>
                <a:srgbClr val="FFFFFF"/>
              </a:solidFill>
            </a:ln>
          </p:spPr>
        </p:sp>
        <p:sp>
          <p:nvSpPr>
            <p:cNvPr id="29" name="TextBox 29"/>
            <p:cNvSpPr txBox="1"/>
            <p:nvPr/>
          </p:nvSpPr>
          <p:spPr>
            <a:xfrm>
              <a:off x="7918704" y="3966210"/>
              <a:ext cx="2075167" cy="234696"/>
            </a:xfrm>
            <a:prstGeom prst="rect">
              <a:avLst/>
            </a:prstGeom>
            <a:noFill/>
            <a:ln>
              <a:noFill/>
            </a:ln>
          </p:spPr>
          <p:txBody>
            <a:bodyPr wrap="none" lIns="0" tIns="0" rIns="0" bIns="0" anchor="t" anchorCtr="0">
              <a:spAutoFit/>
            </a:bodyPr>
            <a:lstStyle/>
            <a:p>
              <a:pPr algn="l"/>
              <a:r>
                <a:rPr lang="zh-CN" sz="1200" b="1" dirty="0">
                  <a:solidFill>
                    <a:schemeClr val="accent1"/>
                  </a:solidFill>
                  <a:latin typeface="+mn-lt"/>
                  <a:ea typeface="+mn-ea"/>
                  <a:cs typeface="+mn-cs"/>
                </a:rPr>
                <a:t>比较时钟 | Compare clocks</a:t>
              </a:r>
            </a:p>
          </p:txBody>
        </p:sp>
        <p:sp>
          <p:nvSpPr>
            <p:cNvPr id="30" name="TextBox 30"/>
            <p:cNvSpPr txBox="1"/>
            <p:nvPr/>
          </p:nvSpPr>
          <p:spPr>
            <a:xfrm>
              <a:off x="7347585" y="4431506"/>
              <a:ext cx="2870454" cy="467678"/>
            </a:xfrm>
            <a:prstGeom prst="rect">
              <a:avLst/>
            </a:prstGeom>
            <a:noFill/>
            <a:ln>
              <a:noFill/>
            </a:ln>
          </p:spPr>
          <p:txBody>
            <a:bodyPr wrap="none" lIns="0" tIns="0" rIns="0" bIns="0" anchor="t" anchorCtr="0">
              <a:spAutoFit/>
            </a:bodyPr>
            <a:lstStyle/>
            <a:p>
              <a:pPr algn="l">
                <a:lnSpc>
                  <a:spcPts val="1950"/>
                </a:lnSpc>
              </a:pPr>
              <a:r>
                <a:rPr lang="zh-CN" sz="1120" dirty="0">
                  <a:solidFill>
                    <a:schemeClr val="dk1"/>
                  </a:solidFill>
                  <a:latin typeface="+mn-lt"/>
                  <a:ea typeface="+mn-ea"/>
                  <a:cs typeface="+mn-cs"/>
                </a:rPr>
                <a:t>生物与海气交换：高通量、快速</a:t>
              </a:r>
              <a:br/>
              <a:r>
                <a:rPr lang="zh-CN" sz="1120" dirty="0">
                  <a:solidFill>
                    <a:schemeClr val="dk1"/>
                  </a:solidFill>
                  <a:latin typeface="+mn-lt"/>
                  <a:ea typeface="+mn-ea"/>
                  <a:cs typeface="+mn-cs"/>
                </a:rPr>
                <a:t>硅酸盐风化与火山返回：&lt;0.1 Gt C/yr、缓慢</a:t>
              </a:r>
            </a:p>
          </p:txBody>
        </p:sp>
      </p:grpSp>
      <p:grpSp>
        <p:nvGrpSpPr>
          <p:cNvPr id="35" name="Group 35"/>
          <p:cNvGrpSpPr/>
          <p:nvPr/>
        </p:nvGrpSpPr>
        <p:grpSpPr>
          <a:xfrm>
            <a:off x="7105650" y="5505450"/>
            <a:ext cx="4705350" cy="723900"/>
            <a:chOff x="7105650" y="5505450"/>
            <a:chExt cx="4705350" cy="723900"/>
          </a:xfrm>
        </p:grpSpPr>
        <p:sp>
          <p:nvSpPr>
            <p:cNvPr id="32" name="Rectangle 32"/>
            <p:cNvSpPr/>
            <p:nvPr/>
          </p:nvSpPr>
          <p:spPr>
            <a:xfrm>
              <a:off x="7105650" y="5505450"/>
              <a:ext cx="4705350" cy="723900"/>
            </a:xfrm>
            <a:prstGeom prst="roundRect">
              <a:avLst>
                <a:gd name="adj" fmla="val 15789"/>
              </a:avLst>
            </a:prstGeom>
            <a:solidFill>
              <a:srgbClr val="FDECDD"/>
            </a:solidFill>
            <a:ln>
              <a:noFill/>
            </a:ln>
          </p:spPr>
        </p:sp>
        <p:sp>
          <p:nvSpPr>
            <p:cNvPr id="33" name="TextBox 33"/>
            <p:cNvSpPr txBox="1"/>
            <p:nvPr/>
          </p:nvSpPr>
          <p:spPr>
            <a:xfrm>
              <a:off x="7347204" y="5661660"/>
              <a:ext cx="1346759" cy="234696"/>
            </a:xfrm>
            <a:prstGeom prst="rect">
              <a:avLst/>
            </a:prstGeom>
            <a:noFill/>
            <a:ln>
              <a:noFill/>
            </a:ln>
          </p:spPr>
          <p:txBody>
            <a:bodyPr wrap="none" lIns="0" tIns="0" rIns="0" bIns="0" anchor="t" anchorCtr="0">
              <a:spAutoFit/>
            </a:bodyPr>
            <a:lstStyle/>
            <a:p>
              <a:pPr algn="l"/>
              <a:r>
                <a:rPr lang="zh-CN" sz="1200" b="1" dirty="0">
                  <a:solidFill>
                    <a:srgbClr val="C2410C"/>
                  </a:solidFill>
                  <a:latin typeface="+mn-lt"/>
                  <a:ea typeface="+mn-ea"/>
                  <a:cs typeface="+mn-cs"/>
                </a:rPr>
                <a:t>Reservoir ≠ Flux</a:t>
              </a:r>
            </a:p>
          </p:txBody>
        </p:sp>
        <p:sp>
          <p:nvSpPr>
            <p:cNvPr id="34" name="TextBox 34"/>
            <p:cNvSpPr txBox="1"/>
            <p:nvPr/>
          </p:nvSpPr>
          <p:spPr>
            <a:xfrm>
              <a:off x="7347585" y="5936456"/>
              <a:ext cx="2876144" cy="220028"/>
            </a:xfrm>
            <a:prstGeom prst="rect">
              <a:avLst/>
            </a:prstGeom>
            <a:noFill/>
            <a:ln>
              <a:noFill/>
            </a:ln>
          </p:spPr>
          <p:txBody>
            <a:bodyPr wrap="none" lIns="0" tIns="0" rIns="0" bIns="0" anchor="t" anchorCtr="0">
              <a:spAutoFit/>
            </a:bodyPr>
            <a:lstStyle/>
            <a:p>
              <a:pPr algn="l"/>
              <a:r>
                <a:rPr lang="zh-CN" sz="1120" dirty="0">
                  <a:solidFill>
                    <a:srgbClr val="7A4A33"/>
                  </a:solidFill>
                  <a:latin typeface="+mn-lt"/>
                  <a:ea typeface="+mn-ea"/>
                  <a:cs typeface="+mn-cs"/>
                </a:rPr>
                <a:t>大储库、快交换与净变化是三个不同问题。</a:t>
              </a:r>
            </a:p>
          </p:txBody>
        </p:sp>
      </p:grpSp>
      <p:sp>
        <p:nvSpPr>
          <p:cNvPr id="36" name="TextBox 36"/>
          <p:cNvSpPr txBox="1"/>
          <p:nvPr/>
        </p:nvSpPr>
        <p:spPr>
          <a:xfrm>
            <a:off x="376238" y="6532245"/>
            <a:ext cx="4352579" cy="176212"/>
          </a:xfrm>
          <a:prstGeom prst="rect">
            <a:avLst/>
          </a:prstGeom>
          <a:noFill/>
          <a:ln>
            <a:noFill/>
          </a:ln>
        </p:spPr>
        <p:txBody>
          <a:bodyPr wrap="none" lIns="0" tIns="0" rIns="0" bIns="0" anchor="t" anchorCtr="0">
            <a:spAutoFit/>
          </a:bodyPr>
          <a:lstStyle/>
          <a:p>
            <a:pPr algn="l"/>
            <a:r>
              <a:rPr lang="zh-CN" sz="900" dirty="0">
                <a:solidFill>
                  <a:schemeClr val="accent5"/>
                </a:solidFill>
                <a:latin typeface="+mn-lt"/>
                <a:ea typeface="+mn-ea"/>
                <a:cs typeface="+mn-cs"/>
              </a:rPr>
              <a:t>Source: UE 8e, Fig. 12.19, PDF p.1209. Amounts: Gt C; fluxes: Gt C/yr.</a:t>
            </a:r>
          </a:p>
        </p:txBody>
      </p:sp>
      <p:sp>
        <p:nvSpPr>
          <p:cNvPr id="37" name="TextBox 37"/>
          <p:cNvSpPr txBox="1"/>
          <p:nvPr/>
        </p:nvSpPr>
        <p:spPr>
          <a:xfrm>
            <a:off x="11672964" y="6532245"/>
            <a:ext cx="142799" cy="176212"/>
          </a:xfrm>
          <a:prstGeom prst="rect">
            <a:avLst/>
          </a:prstGeom>
          <a:noFill/>
          <a:ln>
            <a:noFill/>
          </a:ln>
        </p:spPr>
        <p:txBody>
          <a:bodyPr wrap="none" lIns="0" tIns="0" rIns="0" bIns="0" anchor="t" anchorCtr="0">
            <a:spAutoFit/>
          </a:bodyPr>
          <a:lstStyle/>
          <a:p>
            <a:pPr algn="r"/>
            <a:r>
              <a:rPr lang="zh-CN" sz="900" dirty="0">
                <a:solidFill>
                  <a:schemeClr val="accent5"/>
                </a:solidFill>
                <a:latin typeface="+mn-lt"/>
                <a:ea typeface="+mn-ea"/>
                <a:cs typeface="+mn-cs"/>
              </a:rPr>
              <a:t>23</a:t>
            </a:r>
          </a:p>
        </p:txBody>
      </p:sp>
    </p:spTree>
    <p:extLst>
      <p:ext uri="{BB962C8B-B14F-4D97-AF65-F5344CB8AC3E}">
        <p14:creationId xmlns:p14="http://schemas.microsoft.com/office/powerpoint/2010/main" val="799350030"/>
      </p:ext>
    </p:extLst>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5"/>
          <p:cNvGrpSpPr/>
          <p:nvPr/>
        </p:nvGrpSpPr>
        <p:grpSpPr>
          <a:xfrm>
            <a:off x="0" y="0"/>
            <a:ext cx="12192000" cy="685800"/>
            <a:chOff x="0" y="0"/>
            <a:chExt cx="12192000" cy="685800"/>
          </a:xfrm>
        </p:grpSpPr>
        <p:sp>
          <p:nvSpPr>
            <p:cNvPr id="2" name="Rectangle 2"/>
            <p:cNvSpPr/>
            <p:nvPr/>
          </p:nvSpPr>
          <p:spPr>
            <a:xfrm>
              <a:off x="0" y="0"/>
              <a:ext cx="12192000" cy="685800"/>
            </a:xfrm>
            <a:prstGeom prst="rect">
              <a:avLst/>
            </a:prstGeom>
            <a:solidFill>
              <a:schemeClr val="accent1"/>
            </a:solidFill>
            <a:ln>
              <a:noFill/>
            </a:ln>
          </p:spPr>
        </p:sp>
        <p:sp>
          <p:nvSpPr>
            <p:cNvPr id="3" name="TextBox 3"/>
            <p:cNvSpPr txBox="1"/>
            <p:nvPr/>
          </p:nvSpPr>
          <p:spPr>
            <a:xfrm>
              <a:off x="374142" y="282892"/>
              <a:ext cx="6611233" cy="264033"/>
            </a:xfrm>
            <a:prstGeom prst="rect">
              <a:avLst/>
            </a:prstGeom>
            <a:noFill/>
            <a:ln>
              <a:noFill/>
            </a:ln>
          </p:spPr>
          <p:txBody>
            <a:bodyPr wrap="none" lIns="0" tIns="0" rIns="0" bIns="0" anchor="t" anchorCtr="0">
              <a:spAutoFit/>
            </a:bodyPr>
            <a:lstStyle/>
            <a:p>
              <a:pPr algn="l"/>
              <a:r>
                <a:rPr lang="zh-CN" sz="1350" b="1" dirty="0">
                  <a:solidFill>
                    <a:srgbClr val="FFFFFF"/>
                  </a:solidFill>
                  <a:latin typeface="+mn-lt"/>
                  <a:ea typeface="+mn-ea"/>
                  <a:cs typeface="+mn-cs"/>
                </a:rPr>
                <a:t>2.4 同样的语言，不同的时间尺度 | Same Framework, Different Timescales</a:t>
              </a:r>
            </a:p>
          </p:txBody>
        </p:sp>
        <p:sp>
          <p:nvSpPr>
            <p:cNvPr id="4" name="TextBox 4"/>
            <p:cNvSpPr txBox="1"/>
            <p:nvPr/>
          </p:nvSpPr>
          <p:spPr>
            <a:xfrm>
              <a:off x="10686898" y="299085"/>
              <a:ext cx="1130198" cy="234696"/>
            </a:xfrm>
            <a:prstGeom prst="rect">
              <a:avLst/>
            </a:prstGeom>
            <a:noFill/>
            <a:ln>
              <a:noFill/>
            </a:ln>
          </p:spPr>
          <p:txBody>
            <a:bodyPr wrap="none" lIns="0" tIns="0" rIns="0" bIns="0" anchor="t" anchorCtr="0">
              <a:spAutoFit/>
            </a:bodyPr>
            <a:lstStyle/>
            <a:p>
              <a:pPr algn="r"/>
              <a:r>
                <a:rPr lang="zh-CN" sz="1200" dirty="0">
                  <a:solidFill>
                    <a:srgbClr val="C7D7F2"/>
                  </a:solidFill>
                  <a:latin typeface="+mn-lt"/>
                  <a:ea typeface="+mn-ea"/>
                  <a:cs typeface="+mn-cs"/>
                </a:rPr>
                <a:t>CARBON CYCLE</a:t>
              </a:r>
            </a:p>
          </p:txBody>
        </p:sp>
      </p:grpSp>
      <p:grpSp>
        <p:nvGrpSpPr>
          <p:cNvPr id="8" name="Group 8"/>
          <p:cNvGrpSpPr/>
          <p:nvPr/>
        </p:nvGrpSpPr>
        <p:grpSpPr>
          <a:xfrm>
            <a:off x="381000" y="914400"/>
            <a:ext cx="6773139" cy="357093"/>
            <a:chOff x="381000" y="914400"/>
            <a:chExt cx="6773139" cy="357093"/>
          </a:xfrm>
        </p:grpSpPr>
        <p:sp>
          <p:nvSpPr>
            <p:cNvPr id="6" name="Rectangle 6"/>
            <p:cNvSpPr/>
            <p:nvPr/>
          </p:nvSpPr>
          <p:spPr>
            <a:xfrm>
              <a:off x="381000" y="914400"/>
              <a:ext cx="57150" cy="266700"/>
            </a:xfrm>
            <a:prstGeom prst="roundRect">
              <a:avLst>
                <a:gd name="adj" fmla="val 50000"/>
              </a:avLst>
            </a:prstGeom>
            <a:solidFill>
              <a:schemeClr val="accent3"/>
            </a:solidFill>
            <a:ln>
              <a:noFill/>
            </a:ln>
          </p:spPr>
        </p:sp>
        <p:sp>
          <p:nvSpPr>
            <p:cNvPr id="7" name="TextBox 7"/>
            <p:cNvSpPr txBox="1"/>
            <p:nvPr/>
          </p:nvSpPr>
          <p:spPr>
            <a:xfrm>
              <a:off x="544449" y="963454"/>
              <a:ext cx="6609690" cy="308039"/>
            </a:xfrm>
            <a:prstGeom prst="rect">
              <a:avLst/>
            </a:prstGeom>
            <a:noFill/>
            <a:ln>
              <a:noFill/>
            </a:ln>
          </p:spPr>
          <p:txBody>
            <a:bodyPr wrap="none" lIns="0" tIns="0" rIns="0" bIns="0" anchor="t" anchorCtr="0">
              <a:spAutoFit/>
            </a:bodyPr>
            <a:lstStyle/>
            <a:p>
              <a:pPr algn="l"/>
              <a:r>
                <a:rPr lang="zh-CN" sz="1580" b="1" dirty="0">
                  <a:solidFill>
                    <a:srgbClr val="C2410C"/>
                  </a:solidFill>
                  <a:latin typeface="+mn-lt"/>
                  <a:ea typeface="+mn-ea"/>
                  <a:cs typeface="+mn-cs"/>
                </a:rPr>
                <a:t>储库、通量与停留时间可以同时读水和碳，但两个循环的时钟并不相同</a:t>
              </a:r>
            </a:p>
          </p:txBody>
        </p:sp>
      </p:grpSp>
      <p:grpSp>
        <p:nvGrpSpPr>
          <p:cNvPr id="18" name="Group 18"/>
          <p:cNvGrpSpPr/>
          <p:nvPr/>
        </p:nvGrpSpPr>
        <p:grpSpPr>
          <a:xfrm>
            <a:off x="381000" y="2247900"/>
            <a:ext cx="1352550" cy="2647950"/>
            <a:chOff x="381000" y="2247900"/>
            <a:chExt cx="1352550" cy="2647950"/>
          </a:xfrm>
        </p:grpSpPr>
        <p:sp>
          <p:nvSpPr>
            <p:cNvPr id="9" name="Rectangle 9"/>
            <p:cNvSpPr/>
            <p:nvPr/>
          </p:nvSpPr>
          <p:spPr>
            <a:xfrm>
              <a:off x="381000" y="2247900"/>
              <a:ext cx="1352550" cy="457200"/>
            </a:xfrm>
            <a:prstGeom prst="roundRect">
              <a:avLst>
                <a:gd name="adj" fmla="val 20833"/>
              </a:avLst>
            </a:prstGeom>
            <a:solidFill>
              <a:srgbClr val="F0F5FC"/>
            </a:solidFill>
            <a:ln w="9525">
              <a:solidFill>
                <a:schemeClr val="accent6"/>
              </a:solidFill>
            </a:ln>
          </p:spPr>
        </p:sp>
        <p:sp>
          <p:nvSpPr>
            <p:cNvPr id="10" name="TextBox 10"/>
            <p:cNvSpPr txBox="1"/>
            <p:nvPr/>
          </p:nvSpPr>
          <p:spPr>
            <a:xfrm>
              <a:off x="900786" y="2316956"/>
              <a:ext cx="312979" cy="220028"/>
            </a:xfrm>
            <a:prstGeom prst="rect">
              <a:avLst/>
            </a:prstGeom>
            <a:noFill/>
            <a:ln>
              <a:noFill/>
            </a:ln>
          </p:spPr>
          <p:txBody>
            <a:bodyPr wrap="none" lIns="0" tIns="0" rIns="0" bIns="0" anchor="t" anchorCtr="0">
              <a:spAutoFit/>
            </a:bodyPr>
            <a:lstStyle/>
            <a:p>
              <a:pPr algn="ctr"/>
              <a:r>
                <a:rPr lang="zh-CN" sz="1120" b="1" dirty="0">
                  <a:solidFill>
                    <a:schemeClr val="accent1"/>
                  </a:solidFill>
                  <a:latin typeface="+mn-lt"/>
                  <a:ea typeface="+mn-ea"/>
                  <a:cs typeface="+mn-cs"/>
                </a:rPr>
                <a:t>储库</a:t>
              </a:r>
            </a:p>
          </p:txBody>
        </p:sp>
        <p:sp>
          <p:nvSpPr>
            <p:cNvPr id="11" name="TextBox 11"/>
            <p:cNvSpPr txBox="1"/>
            <p:nvPr/>
          </p:nvSpPr>
          <p:spPr>
            <a:xfrm>
              <a:off x="740342" y="2504599"/>
              <a:ext cx="633865" cy="190690"/>
            </a:xfrm>
            <a:prstGeom prst="rect">
              <a:avLst/>
            </a:prstGeom>
            <a:noFill/>
            <a:ln>
              <a:noFill/>
            </a:ln>
          </p:spPr>
          <p:txBody>
            <a:bodyPr wrap="none" lIns="0" tIns="0" rIns="0" bIns="0" anchor="t" anchorCtr="0">
              <a:spAutoFit/>
            </a:bodyPr>
            <a:lstStyle/>
            <a:p>
              <a:pPr algn="ctr"/>
              <a:r>
                <a:rPr lang="zh-CN" sz="980" dirty="0">
                  <a:solidFill>
                    <a:schemeClr val="accent5"/>
                  </a:solidFill>
                  <a:latin typeface="+mn-lt"/>
                  <a:ea typeface="+mn-ea"/>
                  <a:cs typeface="+mn-cs"/>
                </a:rPr>
                <a:t>Reservoir</a:t>
              </a:r>
            </a:p>
          </p:txBody>
        </p:sp>
        <p:sp>
          <p:nvSpPr>
            <p:cNvPr id="12" name="Rectangle 12"/>
            <p:cNvSpPr/>
            <p:nvPr/>
          </p:nvSpPr>
          <p:spPr>
            <a:xfrm>
              <a:off x="381000" y="3200400"/>
              <a:ext cx="1352550" cy="457200"/>
            </a:xfrm>
            <a:prstGeom prst="roundRect">
              <a:avLst>
                <a:gd name="adj" fmla="val 20833"/>
              </a:avLst>
            </a:prstGeom>
            <a:solidFill>
              <a:srgbClr val="F0F5FC"/>
            </a:solidFill>
            <a:ln w="9525">
              <a:solidFill>
                <a:schemeClr val="accent6"/>
              </a:solidFill>
            </a:ln>
          </p:spPr>
        </p:sp>
        <p:sp>
          <p:nvSpPr>
            <p:cNvPr id="13" name="TextBox 13"/>
            <p:cNvSpPr txBox="1"/>
            <p:nvPr/>
          </p:nvSpPr>
          <p:spPr>
            <a:xfrm>
              <a:off x="900786" y="3269456"/>
              <a:ext cx="312979" cy="220028"/>
            </a:xfrm>
            <a:prstGeom prst="rect">
              <a:avLst/>
            </a:prstGeom>
            <a:noFill/>
            <a:ln>
              <a:noFill/>
            </a:ln>
          </p:spPr>
          <p:txBody>
            <a:bodyPr wrap="none" lIns="0" tIns="0" rIns="0" bIns="0" anchor="t" anchorCtr="0">
              <a:spAutoFit/>
            </a:bodyPr>
            <a:lstStyle/>
            <a:p>
              <a:pPr algn="ctr"/>
              <a:r>
                <a:rPr lang="zh-CN" sz="1120" b="1" dirty="0">
                  <a:solidFill>
                    <a:schemeClr val="accent1"/>
                  </a:solidFill>
                  <a:latin typeface="+mn-lt"/>
                  <a:ea typeface="+mn-ea"/>
                  <a:cs typeface="+mn-cs"/>
                </a:rPr>
                <a:t>通量</a:t>
              </a:r>
            </a:p>
          </p:txBody>
        </p:sp>
        <p:sp>
          <p:nvSpPr>
            <p:cNvPr id="14" name="TextBox 14"/>
            <p:cNvSpPr txBox="1"/>
            <p:nvPr/>
          </p:nvSpPr>
          <p:spPr>
            <a:xfrm>
              <a:off x="921872" y="3457099"/>
              <a:ext cx="270805" cy="190690"/>
            </a:xfrm>
            <a:prstGeom prst="rect">
              <a:avLst/>
            </a:prstGeom>
            <a:noFill/>
            <a:ln>
              <a:noFill/>
            </a:ln>
          </p:spPr>
          <p:txBody>
            <a:bodyPr wrap="none" lIns="0" tIns="0" rIns="0" bIns="0" anchor="t" anchorCtr="0">
              <a:spAutoFit/>
            </a:bodyPr>
            <a:lstStyle/>
            <a:p>
              <a:pPr algn="ctr"/>
              <a:r>
                <a:rPr lang="zh-CN" sz="980" dirty="0">
                  <a:solidFill>
                    <a:schemeClr val="accent5"/>
                  </a:solidFill>
                  <a:latin typeface="+mn-lt"/>
                  <a:ea typeface="+mn-ea"/>
                  <a:cs typeface="+mn-cs"/>
                </a:rPr>
                <a:t>Flux</a:t>
              </a:r>
            </a:p>
          </p:txBody>
        </p:sp>
        <p:sp>
          <p:nvSpPr>
            <p:cNvPr id="15" name="Rectangle 15"/>
            <p:cNvSpPr/>
            <p:nvPr/>
          </p:nvSpPr>
          <p:spPr>
            <a:xfrm>
              <a:off x="381000" y="4438650"/>
              <a:ext cx="1352550" cy="457200"/>
            </a:xfrm>
            <a:prstGeom prst="roundRect">
              <a:avLst>
                <a:gd name="adj" fmla="val 20833"/>
              </a:avLst>
            </a:prstGeom>
            <a:solidFill>
              <a:srgbClr val="F0F5FC"/>
            </a:solidFill>
            <a:ln w="9525">
              <a:solidFill>
                <a:schemeClr val="accent6"/>
              </a:solidFill>
            </a:ln>
          </p:spPr>
        </p:sp>
        <p:sp>
          <p:nvSpPr>
            <p:cNvPr id="16" name="TextBox 16"/>
            <p:cNvSpPr txBox="1"/>
            <p:nvPr/>
          </p:nvSpPr>
          <p:spPr>
            <a:xfrm>
              <a:off x="750011" y="4507706"/>
              <a:ext cx="614528" cy="220028"/>
            </a:xfrm>
            <a:prstGeom prst="rect">
              <a:avLst/>
            </a:prstGeom>
            <a:noFill/>
            <a:ln>
              <a:noFill/>
            </a:ln>
          </p:spPr>
          <p:txBody>
            <a:bodyPr wrap="none" lIns="0" tIns="0" rIns="0" bIns="0" anchor="t" anchorCtr="0">
              <a:spAutoFit/>
            </a:bodyPr>
            <a:lstStyle/>
            <a:p>
              <a:pPr algn="ctr"/>
              <a:r>
                <a:rPr lang="zh-CN" sz="1120" b="1" dirty="0">
                  <a:solidFill>
                    <a:schemeClr val="accent1"/>
                  </a:solidFill>
                  <a:latin typeface="+mn-lt"/>
                  <a:ea typeface="+mn-ea"/>
                  <a:cs typeface="+mn-cs"/>
                </a:rPr>
                <a:t>停留时间</a:t>
              </a:r>
            </a:p>
          </p:txBody>
        </p:sp>
        <p:sp>
          <p:nvSpPr>
            <p:cNvPr id="17" name="TextBox 17"/>
            <p:cNvSpPr txBox="1"/>
            <p:nvPr/>
          </p:nvSpPr>
          <p:spPr>
            <a:xfrm>
              <a:off x="576574" y="4695349"/>
              <a:ext cx="961403" cy="190690"/>
            </a:xfrm>
            <a:prstGeom prst="rect">
              <a:avLst/>
            </a:prstGeom>
            <a:noFill/>
            <a:ln>
              <a:noFill/>
            </a:ln>
          </p:spPr>
          <p:txBody>
            <a:bodyPr wrap="none" lIns="0" tIns="0" rIns="0" bIns="0" anchor="t" anchorCtr="0">
              <a:spAutoFit/>
            </a:bodyPr>
            <a:lstStyle/>
            <a:p>
              <a:pPr algn="ctr"/>
              <a:r>
                <a:rPr lang="zh-CN" sz="980" dirty="0">
                  <a:solidFill>
                    <a:schemeClr val="accent5"/>
                  </a:solidFill>
                  <a:latin typeface="+mn-lt"/>
                  <a:ea typeface="+mn-ea"/>
                  <a:cs typeface="+mn-cs"/>
                </a:rPr>
                <a:t>Residence Time</a:t>
              </a:r>
            </a:p>
          </p:txBody>
        </p:sp>
      </p:grpSp>
      <p:grpSp>
        <p:nvGrpSpPr>
          <p:cNvPr id="33" name="Group 33"/>
          <p:cNvGrpSpPr/>
          <p:nvPr/>
        </p:nvGrpSpPr>
        <p:grpSpPr>
          <a:xfrm>
            <a:off x="1962150" y="1428750"/>
            <a:ext cx="4810125" cy="3924300"/>
            <a:chOff x="1962150" y="1428750"/>
            <a:chExt cx="4810125" cy="3924300"/>
          </a:xfrm>
        </p:grpSpPr>
        <p:sp>
          <p:nvSpPr>
            <p:cNvPr id="19" name="Rectangle 19"/>
            <p:cNvSpPr/>
            <p:nvPr/>
          </p:nvSpPr>
          <p:spPr>
            <a:xfrm>
              <a:off x="1962150" y="1428750"/>
              <a:ext cx="4810125" cy="495300"/>
            </a:xfrm>
            <a:prstGeom prst="roundRect">
              <a:avLst>
                <a:gd name="adj" fmla="val 23077"/>
              </a:avLst>
            </a:prstGeom>
            <a:solidFill>
              <a:srgbClr val="F0F5FC"/>
            </a:solidFill>
            <a:ln w="9525">
              <a:solidFill>
                <a:schemeClr val="accent6"/>
              </a:solidFill>
            </a:ln>
          </p:spPr>
        </p:sp>
        <p:sp>
          <p:nvSpPr>
            <p:cNvPr id="20" name="TextBox 20"/>
            <p:cNvSpPr txBox="1"/>
            <p:nvPr/>
          </p:nvSpPr>
          <p:spPr>
            <a:xfrm>
              <a:off x="2164842" y="1606868"/>
              <a:ext cx="1848444" cy="264033"/>
            </a:xfrm>
            <a:prstGeom prst="rect">
              <a:avLst/>
            </a:prstGeom>
            <a:noFill/>
            <a:ln>
              <a:noFill/>
            </a:ln>
          </p:spPr>
          <p:txBody>
            <a:bodyPr wrap="none" lIns="0" tIns="0" rIns="0" bIns="0" anchor="t" anchorCtr="0">
              <a:spAutoFit/>
            </a:bodyPr>
            <a:lstStyle/>
            <a:p>
              <a:pPr algn="l"/>
              <a:r>
                <a:rPr lang="zh-CN" sz="1350" b="1" dirty="0">
                  <a:solidFill>
                    <a:schemeClr val="accent1"/>
                  </a:solidFill>
                  <a:latin typeface="+mn-lt"/>
                  <a:ea typeface="+mn-ea"/>
                  <a:cs typeface="+mn-cs"/>
                </a:rPr>
                <a:t>水循环 | Water Cycle</a:t>
              </a:r>
            </a:p>
          </p:txBody>
        </p:sp>
        <p:sp>
          <p:nvSpPr>
            <p:cNvPr id="21" name="Rectangle 21"/>
            <p:cNvSpPr/>
            <p:nvPr/>
          </p:nvSpPr>
          <p:spPr>
            <a:xfrm>
              <a:off x="1962150" y="2038350"/>
              <a:ext cx="4810125" cy="838200"/>
            </a:xfrm>
            <a:prstGeom prst="roundRect">
              <a:avLst>
                <a:gd name="adj" fmla="val 13636"/>
              </a:avLst>
            </a:prstGeom>
            <a:solidFill>
              <a:schemeClr val="lt2"/>
            </a:solidFill>
            <a:ln w="9525">
              <a:solidFill>
                <a:schemeClr val="accent6"/>
              </a:solidFill>
            </a:ln>
          </p:spPr>
        </p:sp>
        <p:sp>
          <p:nvSpPr>
            <p:cNvPr id="22" name="TextBox 22"/>
            <p:cNvSpPr txBox="1"/>
            <p:nvPr/>
          </p:nvSpPr>
          <p:spPr>
            <a:xfrm>
              <a:off x="2165985" y="2221706"/>
              <a:ext cx="3328467" cy="220028"/>
            </a:xfrm>
            <a:prstGeom prst="rect">
              <a:avLst/>
            </a:prstGeom>
            <a:noFill/>
            <a:ln>
              <a:noFill/>
            </a:ln>
          </p:spPr>
          <p:txBody>
            <a:bodyPr wrap="none" lIns="0" tIns="0" rIns="0" bIns="0" anchor="t" anchorCtr="0">
              <a:spAutoFit/>
            </a:bodyPr>
            <a:lstStyle/>
            <a:p>
              <a:pPr algn="l"/>
              <a:r>
                <a:rPr lang="zh-CN" sz="1120" dirty="0">
                  <a:solidFill>
                    <a:schemeClr val="dk1"/>
                  </a:solidFill>
                  <a:latin typeface="+mn-lt"/>
                  <a:ea typeface="+mn-ea"/>
                  <a:cs typeface="+mn-cs"/>
                </a:rPr>
                <a:t>水分布在大气、海洋、冰雪、地下水与生命体中。</a:t>
              </a:r>
            </a:p>
          </p:txBody>
        </p:sp>
        <p:sp>
          <p:nvSpPr>
            <p:cNvPr id="23" name="TextBox 23"/>
            <p:cNvSpPr txBox="1"/>
            <p:nvPr/>
          </p:nvSpPr>
          <p:spPr>
            <a:xfrm>
              <a:off x="2166747" y="2466499"/>
              <a:ext cx="2303648" cy="190690"/>
            </a:xfrm>
            <a:prstGeom prst="rect">
              <a:avLst/>
            </a:prstGeom>
            <a:noFill/>
            <a:ln>
              <a:noFill/>
            </a:ln>
          </p:spPr>
          <p:txBody>
            <a:bodyPr wrap="none" lIns="0" tIns="0" rIns="0" bIns="0" anchor="t" anchorCtr="0">
              <a:spAutoFit/>
            </a:bodyPr>
            <a:lstStyle/>
            <a:p>
              <a:pPr algn="l"/>
              <a:r>
                <a:rPr lang="zh-CN" sz="980" dirty="0">
                  <a:solidFill>
                    <a:schemeClr val="accent5"/>
                  </a:solidFill>
                  <a:latin typeface="+mn-lt"/>
                  <a:ea typeface="+mn-ea"/>
                  <a:cs typeface="+mn-cs"/>
                </a:rPr>
                <a:t>Reservoir — where water is stored.</a:t>
              </a:r>
            </a:p>
          </p:txBody>
        </p:sp>
        <p:sp>
          <p:nvSpPr>
            <p:cNvPr id="24" name="Rectangle 24"/>
            <p:cNvSpPr/>
            <p:nvPr/>
          </p:nvSpPr>
          <p:spPr>
            <a:xfrm>
              <a:off x="1962150" y="2990850"/>
              <a:ext cx="4810125" cy="838200"/>
            </a:xfrm>
            <a:prstGeom prst="roundRect">
              <a:avLst>
                <a:gd name="adj" fmla="val 13636"/>
              </a:avLst>
            </a:prstGeom>
            <a:solidFill>
              <a:schemeClr val="lt2"/>
            </a:solidFill>
            <a:ln w="9525">
              <a:solidFill>
                <a:schemeClr val="accent6"/>
              </a:solidFill>
            </a:ln>
          </p:spPr>
        </p:sp>
        <p:sp>
          <p:nvSpPr>
            <p:cNvPr id="25" name="TextBox 25"/>
            <p:cNvSpPr txBox="1"/>
            <p:nvPr/>
          </p:nvSpPr>
          <p:spPr>
            <a:xfrm>
              <a:off x="2165985" y="3174206"/>
              <a:ext cx="3177692" cy="220028"/>
            </a:xfrm>
            <a:prstGeom prst="rect">
              <a:avLst/>
            </a:prstGeom>
            <a:noFill/>
            <a:ln>
              <a:noFill/>
            </a:ln>
          </p:spPr>
          <p:txBody>
            <a:bodyPr wrap="none" lIns="0" tIns="0" rIns="0" bIns="0" anchor="t" anchorCtr="0">
              <a:spAutoFit/>
            </a:bodyPr>
            <a:lstStyle/>
            <a:p>
              <a:pPr algn="l"/>
              <a:r>
                <a:rPr lang="zh-CN" sz="1120" dirty="0">
                  <a:solidFill>
                    <a:schemeClr val="dk1"/>
                  </a:solidFill>
                  <a:latin typeface="+mn-lt"/>
                  <a:ea typeface="+mn-ea"/>
                  <a:cs typeface="+mn-cs"/>
                </a:rPr>
                <a:t>水靠蒸发、大气输送、降水、径流与下渗迁移。</a:t>
              </a:r>
            </a:p>
          </p:txBody>
        </p:sp>
        <p:sp>
          <p:nvSpPr>
            <p:cNvPr id="26" name="TextBox 26"/>
            <p:cNvSpPr txBox="1"/>
            <p:nvPr/>
          </p:nvSpPr>
          <p:spPr>
            <a:xfrm>
              <a:off x="2166747" y="3418999"/>
              <a:ext cx="2079442" cy="190690"/>
            </a:xfrm>
            <a:prstGeom prst="rect">
              <a:avLst/>
            </a:prstGeom>
            <a:noFill/>
            <a:ln>
              <a:noFill/>
            </a:ln>
          </p:spPr>
          <p:txBody>
            <a:bodyPr wrap="none" lIns="0" tIns="0" rIns="0" bIns="0" anchor="t" anchorCtr="0">
              <a:spAutoFit/>
            </a:bodyPr>
            <a:lstStyle/>
            <a:p>
              <a:pPr algn="l"/>
              <a:r>
                <a:rPr lang="zh-CN" sz="980" dirty="0">
                  <a:solidFill>
                    <a:schemeClr val="accent5"/>
                  </a:solidFill>
                  <a:latin typeface="+mn-lt"/>
                  <a:ea typeface="+mn-ea"/>
                  <a:cs typeface="+mn-cs"/>
                </a:rPr>
                <a:t>Flux — how fast material moves.</a:t>
              </a:r>
            </a:p>
          </p:txBody>
        </p:sp>
        <p:sp>
          <p:nvSpPr>
            <p:cNvPr id="27" name="Rectangle 27"/>
            <p:cNvSpPr/>
            <p:nvPr/>
          </p:nvSpPr>
          <p:spPr>
            <a:xfrm>
              <a:off x="1962150" y="3943350"/>
              <a:ext cx="4810125" cy="1409700"/>
            </a:xfrm>
            <a:prstGeom prst="roundRect">
              <a:avLst>
                <a:gd name="adj" fmla="val 8108"/>
              </a:avLst>
            </a:prstGeom>
            <a:solidFill>
              <a:schemeClr val="lt2"/>
            </a:solidFill>
            <a:ln w="9525">
              <a:solidFill>
                <a:schemeClr val="accent6"/>
              </a:solidFill>
            </a:ln>
          </p:spPr>
        </p:sp>
        <p:sp>
          <p:nvSpPr>
            <p:cNvPr id="28" name="TextBox 28"/>
            <p:cNvSpPr txBox="1"/>
            <p:nvPr/>
          </p:nvSpPr>
          <p:spPr>
            <a:xfrm>
              <a:off x="2165985" y="4126706"/>
              <a:ext cx="3177692" cy="220028"/>
            </a:xfrm>
            <a:prstGeom prst="rect">
              <a:avLst/>
            </a:prstGeom>
            <a:noFill/>
            <a:ln>
              <a:noFill/>
            </a:ln>
          </p:spPr>
          <p:txBody>
            <a:bodyPr wrap="none" lIns="0" tIns="0" rIns="0" bIns="0" anchor="t" anchorCtr="0">
              <a:spAutoFit/>
            </a:bodyPr>
            <a:lstStyle/>
            <a:p>
              <a:pPr algn="l"/>
              <a:r>
                <a:rPr lang="zh-CN" sz="1120" dirty="0">
                  <a:solidFill>
                    <a:schemeClr val="dk1"/>
                  </a:solidFill>
                  <a:latin typeface="+mn-lt"/>
                  <a:ea typeface="+mn-ea"/>
                  <a:cs typeface="+mn-cs"/>
                </a:rPr>
                <a:t>同一个循环里，不同储库的更新速度相差很大。</a:t>
              </a:r>
            </a:p>
          </p:txBody>
        </p:sp>
        <p:sp>
          <p:nvSpPr>
            <p:cNvPr id="29" name="TextBox 29"/>
            <p:cNvSpPr txBox="1"/>
            <p:nvPr/>
          </p:nvSpPr>
          <p:spPr>
            <a:xfrm>
              <a:off x="2166747" y="4581049"/>
              <a:ext cx="855418" cy="190690"/>
            </a:xfrm>
            <a:prstGeom prst="rect">
              <a:avLst/>
            </a:prstGeom>
            <a:noFill/>
            <a:ln>
              <a:noFill/>
            </a:ln>
          </p:spPr>
          <p:txBody>
            <a:bodyPr wrap="none" lIns="0" tIns="0" rIns="0" bIns="0" anchor="t" anchorCtr="0">
              <a:spAutoFit/>
            </a:bodyPr>
            <a:lstStyle/>
            <a:p>
              <a:pPr algn="l"/>
              <a:r>
                <a:rPr lang="zh-CN" sz="980" b="1" dirty="0">
                  <a:solidFill>
                    <a:schemeClr val="accent2"/>
                  </a:solidFill>
                  <a:latin typeface="+mn-lt"/>
                  <a:ea typeface="+mn-ea"/>
                  <a:cs typeface="+mn-cs"/>
                </a:rPr>
                <a:t>最快 Fastest</a:t>
              </a:r>
            </a:p>
          </p:txBody>
        </p:sp>
        <p:sp>
          <p:nvSpPr>
            <p:cNvPr id="30" name="TextBox 30"/>
            <p:cNvSpPr txBox="1"/>
            <p:nvPr/>
          </p:nvSpPr>
          <p:spPr>
            <a:xfrm>
              <a:off x="3328035" y="4564856"/>
              <a:ext cx="312979" cy="220028"/>
            </a:xfrm>
            <a:prstGeom prst="rect">
              <a:avLst/>
            </a:prstGeom>
            <a:noFill/>
            <a:ln>
              <a:noFill/>
            </a:ln>
          </p:spPr>
          <p:txBody>
            <a:bodyPr wrap="none" lIns="0" tIns="0" rIns="0" bIns="0" anchor="t" anchorCtr="0">
              <a:spAutoFit/>
            </a:bodyPr>
            <a:lstStyle/>
            <a:p>
              <a:pPr algn="l"/>
              <a:r>
                <a:rPr lang="zh-CN" sz="1120" dirty="0">
                  <a:solidFill>
                    <a:schemeClr val="dk1"/>
                  </a:solidFill>
                  <a:latin typeface="+mn-lt"/>
                  <a:ea typeface="+mn-ea"/>
                  <a:cs typeface="+mn-cs"/>
                </a:rPr>
                <a:t>大气</a:t>
              </a:r>
            </a:p>
          </p:txBody>
        </p:sp>
        <p:sp>
          <p:nvSpPr>
            <p:cNvPr id="31" name="TextBox 31"/>
            <p:cNvSpPr txBox="1"/>
            <p:nvPr/>
          </p:nvSpPr>
          <p:spPr>
            <a:xfrm>
              <a:off x="2166747" y="4885849"/>
              <a:ext cx="848436" cy="190690"/>
            </a:xfrm>
            <a:prstGeom prst="rect">
              <a:avLst/>
            </a:prstGeom>
            <a:noFill/>
            <a:ln>
              <a:noFill/>
            </a:ln>
          </p:spPr>
          <p:txBody>
            <a:bodyPr wrap="none" lIns="0" tIns="0" rIns="0" bIns="0" anchor="t" anchorCtr="0">
              <a:spAutoFit/>
            </a:bodyPr>
            <a:lstStyle/>
            <a:p>
              <a:pPr algn="l"/>
              <a:r>
                <a:rPr lang="zh-CN" sz="980" b="1" dirty="0">
                  <a:solidFill>
                    <a:schemeClr val="accent2"/>
                  </a:solidFill>
                  <a:latin typeface="+mn-lt"/>
                  <a:ea typeface="+mn-ea"/>
                  <a:cs typeface="+mn-cs"/>
                </a:rPr>
                <a:t>最慢 Slowest</a:t>
              </a:r>
            </a:p>
          </p:txBody>
        </p:sp>
        <p:sp>
          <p:nvSpPr>
            <p:cNvPr id="32" name="TextBox 32"/>
            <p:cNvSpPr txBox="1"/>
            <p:nvPr/>
          </p:nvSpPr>
          <p:spPr>
            <a:xfrm>
              <a:off x="3328035" y="4869656"/>
              <a:ext cx="1217625" cy="220028"/>
            </a:xfrm>
            <a:prstGeom prst="rect">
              <a:avLst/>
            </a:prstGeom>
            <a:noFill/>
            <a:ln>
              <a:noFill/>
            </a:ln>
          </p:spPr>
          <p:txBody>
            <a:bodyPr wrap="none" lIns="0" tIns="0" rIns="0" bIns="0" anchor="t" anchorCtr="0">
              <a:spAutoFit/>
            </a:bodyPr>
            <a:lstStyle/>
            <a:p>
              <a:pPr algn="l"/>
              <a:r>
                <a:rPr lang="zh-CN" sz="1120" dirty="0">
                  <a:solidFill>
                    <a:schemeClr val="dk1"/>
                  </a:solidFill>
                  <a:latin typeface="+mn-lt"/>
                  <a:ea typeface="+mn-ea"/>
                  <a:cs typeface="+mn-cs"/>
                </a:rPr>
                <a:t>冰盖、深层地下水</a:t>
              </a:r>
            </a:p>
          </p:txBody>
        </p:sp>
      </p:grpSp>
      <p:grpSp>
        <p:nvGrpSpPr>
          <p:cNvPr id="48" name="Group 48"/>
          <p:cNvGrpSpPr/>
          <p:nvPr/>
        </p:nvGrpSpPr>
        <p:grpSpPr>
          <a:xfrm>
            <a:off x="7000875" y="1428750"/>
            <a:ext cx="4810125" cy="3924300"/>
            <a:chOff x="7000875" y="1428750"/>
            <a:chExt cx="4810125" cy="3924300"/>
          </a:xfrm>
        </p:grpSpPr>
        <p:sp>
          <p:nvSpPr>
            <p:cNvPr id="34" name="Rectangle 34"/>
            <p:cNvSpPr/>
            <p:nvPr/>
          </p:nvSpPr>
          <p:spPr>
            <a:xfrm>
              <a:off x="7000875" y="1428750"/>
              <a:ext cx="4810125" cy="495300"/>
            </a:xfrm>
            <a:prstGeom prst="roundRect">
              <a:avLst>
                <a:gd name="adj" fmla="val 23077"/>
              </a:avLst>
            </a:prstGeom>
            <a:solidFill>
              <a:srgbClr val="FDF4EF"/>
            </a:solidFill>
            <a:ln w="9525">
              <a:solidFill>
                <a:srgbClr val="F0CFC2"/>
              </a:solidFill>
            </a:ln>
          </p:spPr>
        </p:sp>
        <p:sp>
          <p:nvSpPr>
            <p:cNvPr id="35" name="TextBox 35"/>
            <p:cNvSpPr txBox="1"/>
            <p:nvPr/>
          </p:nvSpPr>
          <p:spPr>
            <a:xfrm>
              <a:off x="7203567" y="1606868"/>
              <a:ext cx="1914052" cy="264033"/>
            </a:xfrm>
            <a:prstGeom prst="rect">
              <a:avLst/>
            </a:prstGeom>
            <a:noFill/>
            <a:ln>
              <a:noFill/>
            </a:ln>
          </p:spPr>
          <p:txBody>
            <a:bodyPr wrap="none" lIns="0" tIns="0" rIns="0" bIns="0" anchor="t" anchorCtr="0">
              <a:spAutoFit/>
            </a:bodyPr>
            <a:lstStyle/>
            <a:p>
              <a:pPr algn="l"/>
              <a:r>
                <a:rPr lang="zh-CN" sz="1350" b="1" dirty="0">
                  <a:solidFill>
                    <a:srgbClr val="C2410C"/>
                  </a:solidFill>
                  <a:latin typeface="+mn-lt"/>
                  <a:ea typeface="+mn-ea"/>
                  <a:cs typeface="+mn-cs"/>
                </a:rPr>
                <a:t>碳循环 | Carbon Cycle</a:t>
              </a:r>
            </a:p>
          </p:txBody>
        </p:sp>
        <p:sp>
          <p:nvSpPr>
            <p:cNvPr id="36" name="Rectangle 36"/>
            <p:cNvSpPr/>
            <p:nvPr/>
          </p:nvSpPr>
          <p:spPr>
            <a:xfrm>
              <a:off x="7000875" y="2038350"/>
              <a:ext cx="4810125" cy="838200"/>
            </a:xfrm>
            <a:prstGeom prst="roundRect">
              <a:avLst>
                <a:gd name="adj" fmla="val 13636"/>
              </a:avLst>
            </a:prstGeom>
            <a:solidFill>
              <a:schemeClr val="lt2"/>
            </a:solidFill>
            <a:ln w="9525">
              <a:solidFill>
                <a:schemeClr val="accent6"/>
              </a:solidFill>
            </a:ln>
          </p:spPr>
        </p:sp>
        <p:sp>
          <p:nvSpPr>
            <p:cNvPr id="37" name="TextBox 37"/>
            <p:cNvSpPr txBox="1"/>
            <p:nvPr/>
          </p:nvSpPr>
          <p:spPr>
            <a:xfrm>
              <a:off x="7204710" y="2221706"/>
              <a:ext cx="3780790" cy="220028"/>
            </a:xfrm>
            <a:prstGeom prst="rect">
              <a:avLst/>
            </a:prstGeom>
            <a:noFill/>
            <a:ln>
              <a:noFill/>
            </a:ln>
          </p:spPr>
          <p:txBody>
            <a:bodyPr wrap="none" lIns="0" tIns="0" rIns="0" bIns="0" anchor="t" anchorCtr="0">
              <a:spAutoFit/>
            </a:bodyPr>
            <a:lstStyle/>
            <a:p>
              <a:pPr algn="l"/>
              <a:r>
                <a:rPr lang="zh-CN" sz="1120" dirty="0">
                  <a:solidFill>
                    <a:schemeClr val="dk1"/>
                  </a:solidFill>
                  <a:latin typeface="+mn-lt"/>
                  <a:ea typeface="+mn-ea"/>
                  <a:cs typeface="+mn-cs"/>
                </a:rPr>
                <a:t>碳存在于大气、生物圈、土壤、海洋、沉积物与岩石中。</a:t>
              </a:r>
            </a:p>
          </p:txBody>
        </p:sp>
        <p:sp>
          <p:nvSpPr>
            <p:cNvPr id="38" name="TextBox 38"/>
            <p:cNvSpPr txBox="1"/>
            <p:nvPr/>
          </p:nvSpPr>
          <p:spPr>
            <a:xfrm>
              <a:off x="7205472" y="2466499"/>
              <a:ext cx="2349745" cy="190690"/>
            </a:xfrm>
            <a:prstGeom prst="rect">
              <a:avLst/>
            </a:prstGeom>
            <a:noFill/>
            <a:ln>
              <a:noFill/>
            </a:ln>
          </p:spPr>
          <p:txBody>
            <a:bodyPr wrap="none" lIns="0" tIns="0" rIns="0" bIns="0" anchor="t" anchorCtr="0">
              <a:spAutoFit/>
            </a:bodyPr>
            <a:lstStyle/>
            <a:p>
              <a:pPr algn="l"/>
              <a:r>
                <a:rPr lang="zh-CN" sz="980" dirty="0">
                  <a:solidFill>
                    <a:schemeClr val="accent5"/>
                  </a:solidFill>
                  <a:latin typeface="+mn-lt"/>
                  <a:ea typeface="+mn-ea"/>
                  <a:cs typeface="+mn-cs"/>
                </a:rPr>
                <a:t>Reservoir — where carbon is stored.</a:t>
              </a:r>
            </a:p>
          </p:txBody>
        </p:sp>
        <p:sp>
          <p:nvSpPr>
            <p:cNvPr id="39" name="Rectangle 39"/>
            <p:cNvSpPr/>
            <p:nvPr/>
          </p:nvSpPr>
          <p:spPr>
            <a:xfrm>
              <a:off x="7000875" y="2990850"/>
              <a:ext cx="4810125" cy="838200"/>
            </a:xfrm>
            <a:prstGeom prst="roundRect">
              <a:avLst>
                <a:gd name="adj" fmla="val 13636"/>
              </a:avLst>
            </a:prstGeom>
            <a:solidFill>
              <a:schemeClr val="lt2"/>
            </a:solidFill>
            <a:ln w="9525">
              <a:solidFill>
                <a:schemeClr val="accent6"/>
              </a:solidFill>
            </a:ln>
          </p:spPr>
        </p:sp>
        <p:sp>
          <p:nvSpPr>
            <p:cNvPr id="40" name="TextBox 40"/>
            <p:cNvSpPr txBox="1"/>
            <p:nvPr/>
          </p:nvSpPr>
          <p:spPr>
            <a:xfrm>
              <a:off x="7204710" y="3174206"/>
              <a:ext cx="3177692" cy="220028"/>
            </a:xfrm>
            <a:prstGeom prst="rect">
              <a:avLst/>
            </a:prstGeom>
            <a:noFill/>
            <a:ln>
              <a:noFill/>
            </a:ln>
          </p:spPr>
          <p:txBody>
            <a:bodyPr wrap="none" lIns="0" tIns="0" rIns="0" bIns="0" anchor="t" anchorCtr="0">
              <a:spAutoFit/>
            </a:bodyPr>
            <a:lstStyle/>
            <a:p>
              <a:pPr algn="l"/>
              <a:r>
                <a:rPr lang="zh-CN" sz="1120" dirty="0">
                  <a:solidFill>
                    <a:schemeClr val="dk1"/>
                  </a:solidFill>
                  <a:latin typeface="+mn-lt"/>
                  <a:ea typeface="+mn-ea"/>
                  <a:cs typeface="+mn-cs"/>
                </a:rPr>
                <a:t>碳靠光合、呼吸、海气交换、风化与埋藏迁移。</a:t>
              </a:r>
            </a:p>
          </p:txBody>
        </p:sp>
        <p:sp>
          <p:nvSpPr>
            <p:cNvPr id="41" name="TextBox 41"/>
            <p:cNvSpPr txBox="1"/>
            <p:nvPr/>
          </p:nvSpPr>
          <p:spPr>
            <a:xfrm>
              <a:off x="7205472" y="3418999"/>
              <a:ext cx="2079442" cy="190690"/>
            </a:xfrm>
            <a:prstGeom prst="rect">
              <a:avLst/>
            </a:prstGeom>
            <a:noFill/>
            <a:ln>
              <a:noFill/>
            </a:ln>
          </p:spPr>
          <p:txBody>
            <a:bodyPr wrap="none" lIns="0" tIns="0" rIns="0" bIns="0" anchor="t" anchorCtr="0">
              <a:spAutoFit/>
            </a:bodyPr>
            <a:lstStyle/>
            <a:p>
              <a:pPr algn="l"/>
              <a:r>
                <a:rPr lang="zh-CN" sz="980" dirty="0">
                  <a:solidFill>
                    <a:schemeClr val="accent5"/>
                  </a:solidFill>
                  <a:latin typeface="+mn-lt"/>
                  <a:ea typeface="+mn-ea"/>
                  <a:cs typeface="+mn-cs"/>
                </a:rPr>
                <a:t>Flux — how fast material moves.</a:t>
              </a:r>
            </a:p>
          </p:txBody>
        </p:sp>
        <p:sp>
          <p:nvSpPr>
            <p:cNvPr id="42" name="Rectangle 42"/>
            <p:cNvSpPr/>
            <p:nvPr/>
          </p:nvSpPr>
          <p:spPr>
            <a:xfrm>
              <a:off x="7000875" y="3943350"/>
              <a:ext cx="4810125" cy="1409700"/>
            </a:xfrm>
            <a:prstGeom prst="roundRect">
              <a:avLst>
                <a:gd name="adj" fmla="val 8108"/>
              </a:avLst>
            </a:prstGeom>
            <a:solidFill>
              <a:schemeClr val="lt2"/>
            </a:solidFill>
            <a:ln w="9525">
              <a:solidFill>
                <a:schemeClr val="accent6"/>
              </a:solidFill>
            </a:ln>
          </p:spPr>
        </p:sp>
        <p:sp>
          <p:nvSpPr>
            <p:cNvPr id="43" name="TextBox 43"/>
            <p:cNvSpPr txBox="1"/>
            <p:nvPr/>
          </p:nvSpPr>
          <p:spPr>
            <a:xfrm>
              <a:off x="7204710" y="4126706"/>
              <a:ext cx="3328467" cy="220028"/>
            </a:xfrm>
            <a:prstGeom prst="rect">
              <a:avLst/>
            </a:prstGeom>
            <a:noFill/>
            <a:ln>
              <a:noFill/>
            </a:ln>
          </p:spPr>
          <p:txBody>
            <a:bodyPr wrap="none" lIns="0" tIns="0" rIns="0" bIns="0" anchor="t" anchorCtr="0">
              <a:spAutoFit/>
            </a:bodyPr>
            <a:lstStyle/>
            <a:p>
              <a:pPr algn="l"/>
              <a:r>
                <a:rPr lang="zh-CN" sz="1120" dirty="0">
                  <a:solidFill>
                    <a:schemeClr val="dk1"/>
                  </a:solidFill>
                  <a:latin typeface="+mn-lt"/>
                  <a:ea typeface="+mn-ea"/>
                  <a:cs typeface="+mn-cs"/>
                </a:rPr>
                <a:t>同一个循环里，表层库较快，沉积物与岩石最慢。</a:t>
              </a:r>
            </a:p>
          </p:txBody>
        </p:sp>
        <p:sp>
          <p:nvSpPr>
            <p:cNvPr id="44" name="TextBox 44"/>
            <p:cNvSpPr txBox="1"/>
            <p:nvPr/>
          </p:nvSpPr>
          <p:spPr>
            <a:xfrm>
              <a:off x="7205472" y="4581049"/>
              <a:ext cx="855418" cy="190690"/>
            </a:xfrm>
            <a:prstGeom prst="rect">
              <a:avLst/>
            </a:prstGeom>
            <a:noFill/>
            <a:ln>
              <a:noFill/>
            </a:ln>
          </p:spPr>
          <p:txBody>
            <a:bodyPr wrap="none" lIns="0" tIns="0" rIns="0" bIns="0" anchor="t" anchorCtr="0">
              <a:spAutoFit/>
            </a:bodyPr>
            <a:lstStyle/>
            <a:p>
              <a:pPr algn="l"/>
              <a:r>
                <a:rPr lang="zh-CN" sz="980" b="1" dirty="0">
                  <a:solidFill>
                    <a:srgbClr val="C2410C"/>
                  </a:solidFill>
                  <a:latin typeface="+mn-lt"/>
                  <a:ea typeface="+mn-ea"/>
                  <a:cs typeface="+mn-cs"/>
                </a:rPr>
                <a:t>最快 Fastest</a:t>
              </a:r>
            </a:p>
          </p:txBody>
        </p:sp>
        <p:sp>
          <p:nvSpPr>
            <p:cNvPr id="45" name="TextBox 45"/>
            <p:cNvSpPr txBox="1"/>
            <p:nvPr/>
          </p:nvSpPr>
          <p:spPr>
            <a:xfrm>
              <a:off x="8366760" y="4564856"/>
              <a:ext cx="2137349" cy="220028"/>
            </a:xfrm>
            <a:prstGeom prst="rect">
              <a:avLst/>
            </a:prstGeom>
            <a:noFill/>
            <a:ln>
              <a:noFill/>
            </a:ln>
          </p:spPr>
          <p:txBody>
            <a:bodyPr wrap="none" lIns="0" tIns="0" rIns="0" bIns="0" anchor="t" anchorCtr="0">
              <a:spAutoFit/>
            </a:bodyPr>
            <a:lstStyle/>
            <a:p>
              <a:pPr algn="l"/>
              <a:r>
                <a:rPr lang="zh-CN" sz="1120" dirty="0">
                  <a:solidFill>
                    <a:schemeClr val="dk1"/>
                  </a:solidFill>
                  <a:latin typeface="+mn-lt"/>
                  <a:ea typeface="+mn-ea"/>
                  <a:cs typeface="+mn-cs"/>
                </a:rPr>
                <a:t>表层库（大气—生物圈—表层海）</a:t>
              </a:r>
            </a:p>
          </p:txBody>
        </p:sp>
        <p:sp>
          <p:nvSpPr>
            <p:cNvPr id="46" name="TextBox 46"/>
            <p:cNvSpPr txBox="1"/>
            <p:nvPr/>
          </p:nvSpPr>
          <p:spPr>
            <a:xfrm>
              <a:off x="7205472" y="4885849"/>
              <a:ext cx="848436" cy="190690"/>
            </a:xfrm>
            <a:prstGeom prst="rect">
              <a:avLst/>
            </a:prstGeom>
            <a:noFill/>
            <a:ln>
              <a:noFill/>
            </a:ln>
          </p:spPr>
          <p:txBody>
            <a:bodyPr wrap="none" lIns="0" tIns="0" rIns="0" bIns="0" anchor="t" anchorCtr="0">
              <a:spAutoFit/>
            </a:bodyPr>
            <a:lstStyle/>
            <a:p>
              <a:pPr algn="l"/>
              <a:r>
                <a:rPr lang="zh-CN" sz="980" b="1" dirty="0">
                  <a:solidFill>
                    <a:srgbClr val="C2410C"/>
                  </a:solidFill>
                  <a:latin typeface="+mn-lt"/>
                  <a:ea typeface="+mn-ea"/>
                  <a:cs typeface="+mn-cs"/>
                </a:rPr>
                <a:t>最慢 Slowest</a:t>
              </a:r>
            </a:p>
          </p:txBody>
        </p:sp>
        <p:sp>
          <p:nvSpPr>
            <p:cNvPr id="47" name="TextBox 47"/>
            <p:cNvSpPr txBox="1"/>
            <p:nvPr/>
          </p:nvSpPr>
          <p:spPr>
            <a:xfrm>
              <a:off x="8366760" y="4869656"/>
              <a:ext cx="916076" cy="220028"/>
            </a:xfrm>
            <a:prstGeom prst="rect">
              <a:avLst/>
            </a:prstGeom>
            <a:noFill/>
            <a:ln>
              <a:noFill/>
            </a:ln>
          </p:spPr>
          <p:txBody>
            <a:bodyPr wrap="none" lIns="0" tIns="0" rIns="0" bIns="0" anchor="t" anchorCtr="0">
              <a:spAutoFit/>
            </a:bodyPr>
            <a:lstStyle/>
            <a:p>
              <a:pPr algn="l"/>
              <a:r>
                <a:rPr lang="zh-CN" sz="1120" dirty="0">
                  <a:solidFill>
                    <a:schemeClr val="dk1"/>
                  </a:solidFill>
                  <a:latin typeface="+mn-lt"/>
                  <a:ea typeface="+mn-ea"/>
                  <a:cs typeface="+mn-cs"/>
                </a:rPr>
                <a:t>沉积物与岩石</a:t>
              </a:r>
            </a:p>
          </p:txBody>
        </p:sp>
      </p:grpSp>
      <p:grpSp>
        <p:nvGrpSpPr>
          <p:cNvPr id="52" name="Group 52"/>
          <p:cNvGrpSpPr/>
          <p:nvPr/>
        </p:nvGrpSpPr>
        <p:grpSpPr>
          <a:xfrm>
            <a:off x="381000" y="5505450"/>
            <a:ext cx="11430000" cy="723900"/>
            <a:chOff x="381000" y="5505450"/>
            <a:chExt cx="11430000" cy="723900"/>
          </a:xfrm>
        </p:grpSpPr>
        <p:sp>
          <p:nvSpPr>
            <p:cNvPr id="49" name="Rectangle 49"/>
            <p:cNvSpPr/>
            <p:nvPr/>
          </p:nvSpPr>
          <p:spPr>
            <a:xfrm>
              <a:off x="381000" y="5505450"/>
              <a:ext cx="11430000" cy="723900"/>
            </a:xfrm>
            <a:prstGeom prst="roundRect">
              <a:avLst>
                <a:gd name="adj" fmla="val 15789"/>
              </a:avLst>
            </a:prstGeom>
            <a:solidFill>
              <a:srgbClr val="FDECDD"/>
            </a:solidFill>
            <a:ln>
              <a:noFill/>
            </a:ln>
          </p:spPr>
        </p:sp>
        <p:sp>
          <p:nvSpPr>
            <p:cNvPr id="50" name="TextBox 50"/>
            <p:cNvSpPr txBox="1"/>
            <p:nvPr/>
          </p:nvSpPr>
          <p:spPr>
            <a:xfrm>
              <a:off x="603504" y="5661660"/>
              <a:ext cx="4623015" cy="234696"/>
            </a:xfrm>
            <a:prstGeom prst="rect">
              <a:avLst/>
            </a:prstGeom>
            <a:noFill/>
            <a:ln>
              <a:noFill/>
            </a:ln>
          </p:spPr>
          <p:txBody>
            <a:bodyPr wrap="none" lIns="0" tIns="0" rIns="0" bIns="0" anchor="t" anchorCtr="0">
              <a:spAutoFit/>
            </a:bodyPr>
            <a:lstStyle/>
            <a:p>
              <a:pPr algn="l"/>
              <a:r>
                <a:rPr lang="zh-CN" sz="1200" b="1" dirty="0">
                  <a:solidFill>
                    <a:srgbClr val="C2410C"/>
                  </a:solidFill>
                  <a:latin typeface="+mn-lt"/>
                  <a:ea typeface="+mn-ea"/>
                  <a:cs typeface="+mn-cs"/>
                </a:rPr>
                <a:t>同一套语言，不同的时钟 | Same language, different clocks</a:t>
              </a:r>
            </a:p>
          </p:txBody>
        </p:sp>
        <p:sp>
          <p:nvSpPr>
            <p:cNvPr id="51" name="TextBox 51"/>
            <p:cNvSpPr txBox="1"/>
            <p:nvPr/>
          </p:nvSpPr>
          <p:spPr>
            <a:xfrm>
              <a:off x="603885" y="5917406"/>
              <a:ext cx="7814005" cy="220028"/>
            </a:xfrm>
            <a:prstGeom prst="rect">
              <a:avLst/>
            </a:prstGeom>
            <a:noFill/>
            <a:ln>
              <a:noFill/>
            </a:ln>
          </p:spPr>
          <p:txBody>
            <a:bodyPr wrap="none" lIns="0" tIns="0" rIns="0" bIns="0" anchor="t" anchorCtr="0">
              <a:spAutoFit/>
            </a:bodyPr>
            <a:lstStyle/>
            <a:p>
              <a:pPr algn="l"/>
              <a:r>
                <a:rPr lang="zh-CN" sz="1120" dirty="0">
                  <a:solidFill>
                    <a:srgbClr val="7A4A33"/>
                  </a:solidFill>
                  <a:latin typeface="+mn-lt"/>
                  <a:ea typeface="+mn-ea"/>
                  <a:cs typeface="+mn-cs"/>
                </a:rPr>
                <a:t>两边都要问“这个储库多久更新一次”，但答案的档位不同；具体数值与单位见第 08 页表 3-1 与教材图 4-15、4-16。</a:t>
              </a:r>
            </a:p>
          </p:txBody>
        </p:sp>
      </p:grpSp>
      <p:sp>
        <p:nvSpPr>
          <p:cNvPr id="53" name="TextBox 53"/>
          <p:cNvSpPr txBox="1"/>
          <p:nvPr/>
        </p:nvSpPr>
        <p:spPr>
          <a:xfrm>
            <a:off x="376238" y="6532245"/>
            <a:ext cx="6118931" cy="176212"/>
          </a:xfrm>
          <a:prstGeom prst="rect">
            <a:avLst/>
          </a:prstGeom>
          <a:noFill/>
          <a:ln>
            <a:noFill/>
          </a:ln>
        </p:spPr>
        <p:txBody>
          <a:bodyPr wrap="none" lIns="0" tIns="0" rIns="0" bIns="0" anchor="t" anchorCtr="0">
            <a:spAutoFit/>
          </a:bodyPr>
          <a:lstStyle/>
          <a:p>
            <a:pPr algn="l"/>
            <a:r>
              <a:rPr lang="zh-CN" sz="900" dirty="0">
                <a:solidFill>
                  <a:schemeClr val="accent5"/>
                </a:solidFill>
                <a:latin typeface="+mn-lt"/>
                <a:ea typeface="+mn-ea"/>
                <a:cs typeface="+mn-cs"/>
              </a:rPr>
              <a:t>Source: UE 8e, Ch.12, PDF pp.1205–1206, 1209–1213; 地球系统与演变 Fig. 4-15 / 4-16, PDF pp.78–80.</a:t>
            </a:r>
          </a:p>
        </p:txBody>
      </p:sp>
      <p:sp>
        <p:nvSpPr>
          <p:cNvPr id="54" name="TextBox 54"/>
          <p:cNvSpPr txBox="1"/>
          <p:nvPr/>
        </p:nvSpPr>
        <p:spPr>
          <a:xfrm>
            <a:off x="11672964" y="6532245"/>
            <a:ext cx="142799" cy="176212"/>
          </a:xfrm>
          <a:prstGeom prst="rect">
            <a:avLst/>
          </a:prstGeom>
          <a:noFill/>
          <a:ln>
            <a:noFill/>
          </a:ln>
        </p:spPr>
        <p:txBody>
          <a:bodyPr wrap="none" lIns="0" tIns="0" rIns="0" bIns="0" anchor="t" anchorCtr="0">
            <a:spAutoFit/>
          </a:bodyPr>
          <a:lstStyle/>
          <a:p>
            <a:pPr algn="r"/>
            <a:r>
              <a:rPr lang="zh-CN" sz="900" dirty="0">
                <a:solidFill>
                  <a:schemeClr val="accent5"/>
                </a:solidFill>
                <a:latin typeface="+mn-lt"/>
                <a:ea typeface="+mn-ea"/>
                <a:cs typeface="+mn-cs"/>
              </a:rPr>
              <a:t>24</a:t>
            </a:r>
          </a:p>
        </p:txBody>
      </p:sp>
    </p:spTree>
    <p:extLst>
      <p:ext uri="{BB962C8B-B14F-4D97-AF65-F5344CB8AC3E}">
        <p14:creationId xmlns:p14="http://schemas.microsoft.com/office/powerpoint/2010/main" val="2544995134"/>
      </p:ext>
    </p:extLst>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5"/>
          <p:cNvGrpSpPr/>
          <p:nvPr/>
        </p:nvGrpSpPr>
        <p:grpSpPr>
          <a:xfrm>
            <a:off x="0" y="0"/>
            <a:ext cx="12192000" cy="685800"/>
            <a:chOff x="0" y="0"/>
            <a:chExt cx="12192000" cy="685800"/>
          </a:xfrm>
        </p:grpSpPr>
        <p:sp>
          <p:nvSpPr>
            <p:cNvPr id="2" name="Rectangle 2"/>
            <p:cNvSpPr/>
            <p:nvPr/>
          </p:nvSpPr>
          <p:spPr>
            <a:xfrm>
              <a:off x="0" y="0"/>
              <a:ext cx="12192000" cy="685800"/>
            </a:xfrm>
            <a:prstGeom prst="rect">
              <a:avLst/>
            </a:prstGeom>
            <a:solidFill>
              <a:schemeClr val="accent1"/>
            </a:solidFill>
            <a:ln>
              <a:noFill/>
            </a:ln>
          </p:spPr>
        </p:sp>
        <p:sp>
          <p:nvSpPr>
            <p:cNvPr id="3" name="TextBox 3"/>
            <p:cNvSpPr txBox="1"/>
            <p:nvPr/>
          </p:nvSpPr>
          <p:spPr>
            <a:xfrm>
              <a:off x="374142" y="282892"/>
              <a:ext cx="5354322" cy="264033"/>
            </a:xfrm>
            <a:prstGeom prst="rect">
              <a:avLst/>
            </a:prstGeom>
            <a:noFill/>
            <a:ln>
              <a:noFill/>
            </a:ln>
          </p:spPr>
          <p:txBody>
            <a:bodyPr wrap="none" lIns="0" tIns="0" rIns="0" bIns="0" anchor="t" anchorCtr="0">
              <a:spAutoFit/>
            </a:bodyPr>
            <a:lstStyle/>
            <a:p>
              <a:pPr algn="l"/>
              <a:r>
                <a:rPr lang="zh-CN" sz="1350" b="1" dirty="0">
                  <a:solidFill>
                    <a:srgbClr val="FFFFFF"/>
                  </a:solidFill>
                  <a:latin typeface="+mn-lt"/>
                  <a:ea typeface="+mn-ea"/>
                  <a:cs typeface="+mn-cs"/>
                </a:rPr>
                <a:t>2.5 快速碳循环：陆地生命 | Fast Carbon Cycle: Life on Land</a:t>
              </a:r>
            </a:p>
          </p:txBody>
        </p:sp>
        <p:sp>
          <p:nvSpPr>
            <p:cNvPr id="4" name="TextBox 4"/>
            <p:cNvSpPr txBox="1"/>
            <p:nvPr/>
          </p:nvSpPr>
          <p:spPr>
            <a:xfrm>
              <a:off x="10686898" y="299085"/>
              <a:ext cx="1130198" cy="234696"/>
            </a:xfrm>
            <a:prstGeom prst="rect">
              <a:avLst/>
            </a:prstGeom>
            <a:noFill/>
            <a:ln>
              <a:noFill/>
            </a:ln>
          </p:spPr>
          <p:txBody>
            <a:bodyPr wrap="none" lIns="0" tIns="0" rIns="0" bIns="0" anchor="t" anchorCtr="0">
              <a:spAutoFit/>
            </a:bodyPr>
            <a:lstStyle/>
            <a:p>
              <a:pPr algn="r"/>
              <a:r>
                <a:rPr lang="zh-CN" sz="1200" dirty="0">
                  <a:solidFill>
                    <a:srgbClr val="C7D7F2"/>
                  </a:solidFill>
                  <a:latin typeface="+mn-lt"/>
                  <a:ea typeface="+mn-ea"/>
                  <a:cs typeface="+mn-cs"/>
                </a:rPr>
                <a:t>CARBON CYCLE</a:t>
              </a:r>
            </a:p>
          </p:txBody>
        </p:sp>
      </p:grpSp>
      <p:grpSp>
        <p:nvGrpSpPr>
          <p:cNvPr id="8" name="Group 8"/>
          <p:cNvGrpSpPr/>
          <p:nvPr/>
        </p:nvGrpSpPr>
        <p:grpSpPr>
          <a:xfrm>
            <a:off x="381000" y="914400"/>
            <a:ext cx="6135040" cy="357093"/>
            <a:chOff x="381000" y="914400"/>
            <a:chExt cx="6135040" cy="357093"/>
          </a:xfrm>
        </p:grpSpPr>
        <p:sp>
          <p:nvSpPr>
            <p:cNvPr id="6" name="Rectangle 6"/>
            <p:cNvSpPr/>
            <p:nvPr/>
          </p:nvSpPr>
          <p:spPr>
            <a:xfrm>
              <a:off x="381000" y="914400"/>
              <a:ext cx="57150" cy="266700"/>
            </a:xfrm>
            <a:prstGeom prst="roundRect">
              <a:avLst>
                <a:gd name="adj" fmla="val 50000"/>
              </a:avLst>
            </a:prstGeom>
            <a:solidFill>
              <a:schemeClr val="accent3"/>
            </a:solidFill>
            <a:ln>
              <a:noFill/>
            </a:ln>
          </p:spPr>
        </p:sp>
        <p:sp>
          <p:nvSpPr>
            <p:cNvPr id="7" name="TextBox 7"/>
            <p:cNvSpPr txBox="1"/>
            <p:nvPr/>
          </p:nvSpPr>
          <p:spPr>
            <a:xfrm>
              <a:off x="544449" y="963454"/>
              <a:ext cx="5971591" cy="308039"/>
            </a:xfrm>
            <a:prstGeom prst="rect">
              <a:avLst/>
            </a:prstGeom>
            <a:noFill/>
            <a:ln>
              <a:noFill/>
            </a:ln>
          </p:spPr>
          <p:txBody>
            <a:bodyPr wrap="none" lIns="0" tIns="0" rIns="0" bIns="0" anchor="t" anchorCtr="0">
              <a:spAutoFit/>
            </a:bodyPr>
            <a:lstStyle/>
            <a:p>
              <a:pPr algn="l"/>
              <a:r>
                <a:rPr lang="zh-CN" sz="1580" b="1" dirty="0">
                  <a:solidFill>
                    <a:srgbClr val="C2410C"/>
                  </a:solidFill>
                  <a:latin typeface="+mn-lt"/>
                  <a:ea typeface="+mn-ea"/>
                  <a:cs typeface="+mn-cs"/>
                </a:rPr>
                <a:t>光合作用、呼吸与分解，把碳在大气、植被和土壤之间快速搬运</a:t>
              </a:r>
            </a:p>
          </p:txBody>
        </p:sp>
      </p:grpSp>
      <p:grpSp>
        <p:nvGrpSpPr>
          <p:cNvPr id="51" name="Group 51"/>
          <p:cNvGrpSpPr/>
          <p:nvPr/>
        </p:nvGrpSpPr>
        <p:grpSpPr>
          <a:xfrm>
            <a:off x="381000" y="1428750"/>
            <a:ext cx="8153400" cy="4800600"/>
            <a:chOff x="381000" y="1428750"/>
            <a:chExt cx="8153400" cy="4800600"/>
          </a:xfrm>
        </p:grpSpPr>
        <p:sp>
          <p:nvSpPr>
            <p:cNvPr id="9" name="Rectangle 9"/>
            <p:cNvSpPr/>
            <p:nvPr/>
          </p:nvSpPr>
          <p:spPr>
            <a:xfrm>
              <a:off x="381000" y="1428750"/>
              <a:ext cx="8153400" cy="4800600"/>
            </a:xfrm>
            <a:prstGeom prst="roundRect">
              <a:avLst>
                <a:gd name="adj" fmla="val 2381"/>
              </a:avLst>
            </a:prstGeom>
            <a:solidFill>
              <a:schemeClr val="lt2"/>
            </a:solidFill>
            <a:ln w="9525">
              <a:solidFill>
                <a:schemeClr val="accent6"/>
              </a:solidFill>
            </a:ln>
          </p:spPr>
        </p:sp>
        <p:sp>
          <p:nvSpPr>
            <p:cNvPr id="10" name="TextBox 10"/>
            <p:cNvSpPr txBox="1"/>
            <p:nvPr/>
          </p:nvSpPr>
          <p:spPr>
            <a:xfrm>
              <a:off x="603504" y="1623060"/>
              <a:ext cx="2124648" cy="234696"/>
            </a:xfrm>
            <a:prstGeom prst="rect">
              <a:avLst/>
            </a:prstGeom>
            <a:noFill/>
            <a:ln>
              <a:noFill/>
            </a:ln>
          </p:spPr>
          <p:txBody>
            <a:bodyPr wrap="none" lIns="0" tIns="0" rIns="0" bIns="0" anchor="t" anchorCtr="0">
              <a:spAutoFit/>
            </a:bodyPr>
            <a:lstStyle/>
            <a:p>
              <a:pPr algn="l"/>
              <a:r>
                <a:rPr lang="zh-CN" sz="1200" b="1" dirty="0">
                  <a:solidFill>
                    <a:schemeClr val="accent1"/>
                  </a:solidFill>
                  <a:latin typeface="+mn-lt"/>
                  <a:ea typeface="+mn-ea"/>
                  <a:cs typeface="+mn-cs"/>
                </a:rPr>
                <a:t>过程环 | The fast land loop</a:t>
              </a:r>
            </a:p>
          </p:txBody>
        </p:sp>
        <p:sp>
          <p:nvSpPr>
            <p:cNvPr id="11" name="Rectangle 11"/>
            <p:cNvSpPr/>
            <p:nvPr/>
          </p:nvSpPr>
          <p:spPr>
            <a:xfrm>
              <a:off x="609600" y="1905000"/>
              <a:ext cx="7696200" cy="723900"/>
            </a:xfrm>
            <a:prstGeom prst="roundRect">
              <a:avLst>
                <a:gd name="adj" fmla="val 13158"/>
              </a:avLst>
            </a:prstGeom>
            <a:solidFill>
              <a:srgbClr val="FDF4EF"/>
            </a:solidFill>
            <a:ln w="9525">
              <a:solidFill>
                <a:srgbClr val="F0CFC2"/>
              </a:solidFill>
            </a:ln>
          </p:spPr>
        </p:sp>
        <p:sp>
          <p:nvSpPr>
            <p:cNvPr id="12" name="TextBox 12"/>
            <p:cNvSpPr txBox="1"/>
            <p:nvPr/>
          </p:nvSpPr>
          <p:spPr>
            <a:xfrm>
              <a:off x="833247" y="2066449"/>
              <a:ext cx="1320569" cy="190690"/>
            </a:xfrm>
            <a:prstGeom prst="rect">
              <a:avLst/>
            </a:prstGeom>
            <a:noFill/>
            <a:ln>
              <a:noFill/>
            </a:ln>
          </p:spPr>
          <p:txBody>
            <a:bodyPr wrap="none" lIns="0" tIns="0" rIns="0" bIns="0" anchor="t" anchorCtr="0">
              <a:spAutoFit/>
            </a:bodyPr>
            <a:lstStyle/>
            <a:p>
              <a:pPr algn="l"/>
              <a:r>
                <a:rPr lang="zh-CN" sz="980" b="1" dirty="0">
                  <a:solidFill>
                    <a:srgbClr val="C2410C"/>
                  </a:solidFill>
                  <a:latin typeface="+mn-lt"/>
                  <a:ea typeface="+mn-ea"/>
                  <a:cs typeface="+mn-cs"/>
                </a:rPr>
                <a:t>ATMOSPHERE · 大气</a:t>
              </a:r>
            </a:p>
          </p:txBody>
        </p:sp>
        <p:sp>
          <p:nvSpPr>
            <p:cNvPr id="13" name="TextBox 13"/>
            <p:cNvSpPr txBox="1"/>
            <p:nvPr/>
          </p:nvSpPr>
          <p:spPr>
            <a:xfrm>
              <a:off x="3110463" y="2265521"/>
              <a:ext cx="2694475" cy="278702"/>
            </a:xfrm>
            <a:prstGeom prst="rect">
              <a:avLst/>
            </a:prstGeom>
            <a:noFill/>
            <a:ln>
              <a:noFill/>
            </a:ln>
          </p:spPr>
          <p:txBody>
            <a:bodyPr wrap="none" lIns="0" tIns="0" rIns="0" bIns="0" anchor="t" anchorCtr="0">
              <a:spAutoFit/>
            </a:bodyPr>
            <a:lstStyle/>
            <a:p>
              <a:pPr algn="ctr"/>
              <a:r>
                <a:rPr lang="zh-CN" sz="1420" b="1" dirty="0">
                  <a:solidFill>
                    <a:srgbClr val="C2410C"/>
                  </a:solidFill>
                  <a:latin typeface="+mn-lt"/>
                  <a:ea typeface="+mn-ea"/>
                  <a:cs typeface="+mn-cs"/>
                </a:rPr>
                <a:t>大气 CO₂ | Atmospheric CO₂</a:t>
              </a:r>
            </a:p>
          </p:txBody>
        </p:sp>
        <p:sp>
          <p:nvSpPr>
            <p:cNvPr id="14" name="Line 14"/>
            <p:cNvSpPr/>
            <p:nvPr/>
          </p:nvSpPr>
          <p:spPr>
            <a:xfrm>
              <a:off x="1714500" y="2724150"/>
              <a:ext cx="9525" cy="1714500"/>
            </a:xfrm>
            <a:custGeom>
              <a:avLst/>
              <a:gdLst/>
              <a:ahLst/>
              <a:cxnLst/>
              <a:rect l="l" t="t" r="r" b="b"/>
              <a:pathLst>
                <a:path w="9525" h="1714500">
                  <a:moveTo>
                    <a:pt x="0" y="0"/>
                  </a:moveTo>
                  <a:lnTo>
                    <a:pt x="0" y="1714500"/>
                  </a:lnTo>
                </a:path>
              </a:pathLst>
            </a:custGeom>
            <a:noFill/>
            <a:ln w="47625">
              <a:solidFill>
                <a:schemeClr val="accent3"/>
              </a:solidFill>
            </a:ln>
          </p:spPr>
        </p:sp>
        <p:sp>
          <p:nvSpPr>
            <p:cNvPr id="15" name="Polygon 15"/>
            <p:cNvSpPr/>
            <p:nvPr/>
          </p:nvSpPr>
          <p:spPr>
            <a:xfrm>
              <a:off x="1619250" y="4324350"/>
              <a:ext cx="190500" cy="190500"/>
            </a:xfrm>
            <a:custGeom>
              <a:avLst/>
              <a:gdLst/>
              <a:ahLst/>
              <a:cxnLst/>
              <a:rect l="l" t="t" r="r" b="b"/>
              <a:pathLst>
                <a:path w="190500" h="190500">
                  <a:moveTo>
                    <a:pt x="0" y="0"/>
                  </a:moveTo>
                  <a:lnTo>
                    <a:pt x="95250" y="190500"/>
                  </a:lnTo>
                  <a:lnTo>
                    <a:pt x="190500" y="0"/>
                  </a:lnTo>
                  <a:close/>
                </a:path>
              </a:pathLst>
            </a:custGeom>
            <a:solidFill>
              <a:schemeClr val="accent3"/>
            </a:solidFill>
            <a:ln>
              <a:noFill/>
            </a:ln>
          </p:spPr>
        </p:sp>
        <p:sp>
          <p:nvSpPr>
            <p:cNvPr id="16" name="TextBox 16"/>
            <p:cNvSpPr txBox="1"/>
            <p:nvPr/>
          </p:nvSpPr>
          <p:spPr>
            <a:xfrm>
              <a:off x="1898904" y="2975610"/>
              <a:ext cx="658368" cy="234696"/>
            </a:xfrm>
            <a:prstGeom prst="rect">
              <a:avLst/>
            </a:prstGeom>
            <a:noFill/>
            <a:ln>
              <a:noFill/>
            </a:ln>
          </p:spPr>
          <p:txBody>
            <a:bodyPr wrap="none" lIns="0" tIns="0" rIns="0" bIns="0" anchor="t" anchorCtr="0">
              <a:spAutoFit/>
            </a:bodyPr>
            <a:lstStyle/>
            <a:p>
              <a:pPr algn="l"/>
              <a:r>
                <a:rPr lang="zh-CN" sz="1200" b="1" dirty="0">
                  <a:solidFill>
                    <a:srgbClr val="C2410C"/>
                  </a:solidFill>
                  <a:latin typeface="+mn-lt"/>
                  <a:ea typeface="+mn-ea"/>
                  <a:cs typeface="+mn-cs"/>
                </a:rPr>
                <a:t>光合作用</a:t>
              </a:r>
            </a:p>
          </p:txBody>
        </p:sp>
        <p:sp>
          <p:nvSpPr>
            <p:cNvPr id="17" name="TextBox 17"/>
            <p:cNvSpPr txBox="1"/>
            <p:nvPr/>
          </p:nvSpPr>
          <p:spPr>
            <a:xfrm>
              <a:off x="1900047" y="3190399"/>
              <a:ext cx="996740" cy="190690"/>
            </a:xfrm>
            <a:prstGeom prst="rect">
              <a:avLst/>
            </a:prstGeom>
            <a:noFill/>
            <a:ln>
              <a:noFill/>
            </a:ln>
          </p:spPr>
          <p:txBody>
            <a:bodyPr wrap="none" lIns="0" tIns="0" rIns="0" bIns="0" anchor="t" anchorCtr="0">
              <a:spAutoFit/>
            </a:bodyPr>
            <a:lstStyle/>
            <a:p>
              <a:pPr algn="l"/>
              <a:r>
                <a:rPr lang="zh-CN" sz="980" dirty="0">
                  <a:solidFill>
                    <a:schemeClr val="accent5"/>
                  </a:solidFill>
                  <a:latin typeface="+mn-lt"/>
                  <a:ea typeface="+mn-ea"/>
                  <a:cs typeface="+mn-cs"/>
                </a:rPr>
                <a:t>Photosynthesis</a:t>
              </a:r>
            </a:p>
          </p:txBody>
        </p:sp>
        <p:sp>
          <p:nvSpPr>
            <p:cNvPr id="18" name="TextBox 18"/>
            <p:cNvSpPr txBox="1"/>
            <p:nvPr/>
          </p:nvSpPr>
          <p:spPr>
            <a:xfrm>
              <a:off x="1900047" y="3399949"/>
              <a:ext cx="1445677" cy="190690"/>
            </a:xfrm>
            <a:prstGeom prst="rect">
              <a:avLst/>
            </a:prstGeom>
            <a:noFill/>
            <a:ln>
              <a:noFill/>
            </a:ln>
          </p:spPr>
          <p:txBody>
            <a:bodyPr wrap="none" lIns="0" tIns="0" rIns="0" bIns="0" anchor="t" anchorCtr="0">
              <a:spAutoFit/>
            </a:bodyPr>
            <a:lstStyle/>
            <a:p>
              <a:pPr algn="l"/>
              <a:r>
                <a:rPr lang="zh-CN" sz="980" dirty="0">
                  <a:solidFill>
                    <a:schemeClr val="dk1"/>
                  </a:solidFill>
                  <a:latin typeface="+mn-lt"/>
                  <a:ea typeface="+mn-ea"/>
                  <a:cs typeface="+mn-cs"/>
                </a:rPr>
                <a:t>大气 CO₂ → 植物有机碳</a:t>
              </a:r>
            </a:p>
          </p:txBody>
        </p:sp>
        <p:sp>
          <p:nvSpPr>
            <p:cNvPr id="19" name="Line 19"/>
            <p:cNvSpPr/>
            <p:nvPr/>
          </p:nvSpPr>
          <p:spPr>
            <a:xfrm>
              <a:off x="3333750" y="2800350"/>
              <a:ext cx="9525" cy="1714500"/>
            </a:xfrm>
            <a:custGeom>
              <a:avLst/>
              <a:gdLst/>
              <a:ahLst/>
              <a:cxnLst/>
              <a:rect l="l" t="t" r="r" b="b"/>
              <a:pathLst>
                <a:path w="9525" h="1714500">
                  <a:moveTo>
                    <a:pt x="0" y="1714500"/>
                  </a:moveTo>
                  <a:lnTo>
                    <a:pt x="0" y="0"/>
                  </a:lnTo>
                </a:path>
              </a:pathLst>
            </a:custGeom>
            <a:noFill/>
            <a:ln w="47625">
              <a:solidFill>
                <a:srgbClr val="C2410C"/>
              </a:solidFill>
            </a:ln>
          </p:spPr>
        </p:sp>
        <p:sp>
          <p:nvSpPr>
            <p:cNvPr id="20" name="Polygon 20"/>
            <p:cNvSpPr/>
            <p:nvPr/>
          </p:nvSpPr>
          <p:spPr>
            <a:xfrm>
              <a:off x="3238500" y="2724150"/>
              <a:ext cx="190500" cy="190500"/>
            </a:xfrm>
            <a:custGeom>
              <a:avLst/>
              <a:gdLst/>
              <a:ahLst/>
              <a:cxnLst/>
              <a:rect l="l" t="t" r="r" b="b"/>
              <a:pathLst>
                <a:path w="190500" h="190500">
                  <a:moveTo>
                    <a:pt x="0" y="190500"/>
                  </a:moveTo>
                  <a:lnTo>
                    <a:pt x="95250" y="0"/>
                  </a:lnTo>
                  <a:lnTo>
                    <a:pt x="190500" y="190500"/>
                  </a:lnTo>
                  <a:close/>
                </a:path>
              </a:pathLst>
            </a:custGeom>
            <a:solidFill>
              <a:srgbClr val="C2410C"/>
            </a:solidFill>
            <a:ln>
              <a:noFill/>
            </a:ln>
          </p:spPr>
        </p:sp>
        <p:sp>
          <p:nvSpPr>
            <p:cNvPr id="21" name="TextBox 21"/>
            <p:cNvSpPr txBox="1"/>
            <p:nvPr/>
          </p:nvSpPr>
          <p:spPr>
            <a:xfrm>
              <a:off x="3518154" y="2975610"/>
              <a:ext cx="658368" cy="234696"/>
            </a:xfrm>
            <a:prstGeom prst="rect">
              <a:avLst/>
            </a:prstGeom>
            <a:noFill/>
            <a:ln>
              <a:noFill/>
            </a:ln>
          </p:spPr>
          <p:txBody>
            <a:bodyPr wrap="none" lIns="0" tIns="0" rIns="0" bIns="0" anchor="t" anchorCtr="0">
              <a:spAutoFit/>
            </a:bodyPr>
            <a:lstStyle/>
            <a:p>
              <a:pPr algn="l"/>
              <a:r>
                <a:rPr lang="zh-CN" sz="1200" b="1" dirty="0">
                  <a:solidFill>
                    <a:srgbClr val="C2410C"/>
                  </a:solidFill>
                  <a:latin typeface="+mn-lt"/>
                  <a:ea typeface="+mn-ea"/>
                  <a:cs typeface="+mn-cs"/>
                </a:rPr>
                <a:t>呼吸作用</a:t>
              </a:r>
            </a:p>
          </p:txBody>
        </p:sp>
        <p:sp>
          <p:nvSpPr>
            <p:cNvPr id="22" name="TextBox 22"/>
            <p:cNvSpPr txBox="1"/>
            <p:nvPr/>
          </p:nvSpPr>
          <p:spPr>
            <a:xfrm>
              <a:off x="3519297" y="3190399"/>
              <a:ext cx="745872" cy="190690"/>
            </a:xfrm>
            <a:prstGeom prst="rect">
              <a:avLst/>
            </a:prstGeom>
            <a:noFill/>
            <a:ln>
              <a:noFill/>
            </a:ln>
          </p:spPr>
          <p:txBody>
            <a:bodyPr wrap="none" lIns="0" tIns="0" rIns="0" bIns="0" anchor="t" anchorCtr="0">
              <a:spAutoFit/>
            </a:bodyPr>
            <a:lstStyle/>
            <a:p>
              <a:pPr algn="l"/>
              <a:r>
                <a:rPr lang="zh-CN" sz="980" dirty="0">
                  <a:solidFill>
                    <a:schemeClr val="accent5"/>
                  </a:solidFill>
                  <a:latin typeface="+mn-lt"/>
                  <a:ea typeface="+mn-ea"/>
                  <a:cs typeface="+mn-cs"/>
                </a:rPr>
                <a:t>Respiration</a:t>
              </a:r>
            </a:p>
          </p:txBody>
        </p:sp>
        <p:sp>
          <p:nvSpPr>
            <p:cNvPr id="23" name="TextBox 23"/>
            <p:cNvSpPr txBox="1"/>
            <p:nvPr/>
          </p:nvSpPr>
          <p:spPr>
            <a:xfrm>
              <a:off x="3519297" y="3399949"/>
              <a:ext cx="1166886" cy="190690"/>
            </a:xfrm>
            <a:prstGeom prst="rect">
              <a:avLst/>
            </a:prstGeom>
            <a:noFill/>
            <a:ln>
              <a:noFill/>
            </a:ln>
          </p:spPr>
          <p:txBody>
            <a:bodyPr wrap="none" lIns="0" tIns="0" rIns="0" bIns="0" anchor="t" anchorCtr="0">
              <a:spAutoFit/>
            </a:bodyPr>
            <a:lstStyle/>
            <a:p>
              <a:pPr algn="l"/>
              <a:r>
                <a:rPr lang="zh-CN" sz="980" dirty="0">
                  <a:solidFill>
                    <a:schemeClr val="dk1"/>
                  </a:solidFill>
                  <a:latin typeface="+mn-lt"/>
                  <a:ea typeface="+mn-ea"/>
                  <a:cs typeface="+mn-cs"/>
                </a:rPr>
                <a:t>有机碳 → 大气 CO₂</a:t>
              </a:r>
            </a:p>
          </p:txBody>
        </p:sp>
        <p:sp>
          <p:nvSpPr>
            <p:cNvPr id="24" name="Line 24"/>
            <p:cNvSpPr/>
            <p:nvPr/>
          </p:nvSpPr>
          <p:spPr>
            <a:xfrm>
              <a:off x="6838950" y="2800350"/>
              <a:ext cx="9525" cy="1714500"/>
            </a:xfrm>
            <a:custGeom>
              <a:avLst/>
              <a:gdLst/>
              <a:ahLst/>
              <a:cxnLst/>
              <a:rect l="l" t="t" r="r" b="b"/>
              <a:pathLst>
                <a:path w="9525" h="1714500">
                  <a:moveTo>
                    <a:pt x="0" y="1714500"/>
                  </a:moveTo>
                  <a:lnTo>
                    <a:pt x="0" y="0"/>
                  </a:lnTo>
                </a:path>
              </a:pathLst>
            </a:custGeom>
            <a:noFill/>
            <a:ln w="47625">
              <a:solidFill>
                <a:srgbClr val="C2410C"/>
              </a:solidFill>
            </a:ln>
          </p:spPr>
        </p:sp>
        <p:sp>
          <p:nvSpPr>
            <p:cNvPr id="25" name="Polygon 25"/>
            <p:cNvSpPr/>
            <p:nvPr/>
          </p:nvSpPr>
          <p:spPr>
            <a:xfrm>
              <a:off x="6743700" y="2724150"/>
              <a:ext cx="190500" cy="190500"/>
            </a:xfrm>
            <a:custGeom>
              <a:avLst/>
              <a:gdLst/>
              <a:ahLst/>
              <a:cxnLst/>
              <a:rect l="l" t="t" r="r" b="b"/>
              <a:pathLst>
                <a:path w="190500" h="190500">
                  <a:moveTo>
                    <a:pt x="0" y="190500"/>
                  </a:moveTo>
                  <a:lnTo>
                    <a:pt x="95250" y="0"/>
                  </a:lnTo>
                  <a:lnTo>
                    <a:pt x="190500" y="190500"/>
                  </a:lnTo>
                  <a:close/>
                </a:path>
              </a:pathLst>
            </a:custGeom>
            <a:solidFill>
              <a:srgbClr val="C2410C"/>
            </a:solidFill>
            <a:ln>
              <a:noFill/>
            </a:ln>
          </p:spPr>
        </p:sp>
        <p:sp>
          <p:nvSpPr>
            <p:cNvPr id="26" name="TextBox 26"/>
            <p:cNvSpPr txBox="1"/>
            <p:nvPr/>
          </p:nvSpPr>
          <p:spPr>
            <a:xfrm>
              <a:off x="7023354" y="2975610"/>
              <a:ext cx="819912" cy="234696"/>
            </a:xfrm>
            <a:prstGeom prst="rect">
              <a:avLst/>
            </a:prstGeom>
            <a:noFill/>
            <a:ln>
              <a:noFill/>
            </a:ln>
          </p:spPr>
          <p:txBody>
            <a:bodyPr wrap="none" lIns="0" tIns="0" rIns="0" bIns="0" anchor="t" anchorCtr="0">
              <a:spAutoFit/>
            </a:bodyPr>
            <a:lstStyle/>
            <a:p>
              <a:pPr algn="l"/>
              <a:r>
                <a:rPr lang="zh-CN" sz="1200" b="1" dirty="0">
                  <a:solidFill>
                    <a:srgbClr val="C2410C"/>
                  </a:solidFill>
                  <a:latin typeface="+mn-lt"/>
                  <a:ea typeface="+mn-ea"/>
                  <a:cs typeface="+mn-cs"/>
                </a:rPr>
                <a:t>微生物分解</a:t>
              </a:r>
            </a:p>
          </p:txBody>
        </p:sp>
        <p:sp>
          <p:nvSpPr>
            <p:cNvPr id="27" name="TextBox 27"/>
            <p:cNvSpPr txBox="1"/>
            <p:nvPr/>
          </p:nvSpPr>
          <p:spPr>
            <a:xfrm>
              <a:off x="7024497" y="3190399"/>
              <a:ext cx="917545" cy="190690"/>
            </a:xfrm>
            <a:prstGeom prst="rect">
              <a:avLst/>
            </a:prstGeom>
            <a:noFill/>
            <a:ln>
              <a:noFill/>
            </a:ln>
          </p:spPr>
          <p:txBody>
            <a:bodyPr wrap="none" lIns="0" tIns="0" rIns="0" bIns="0" anchor="t" anchorCtr="0">
              <a:spAutoFit/>
            </a:bodyPr>
            <a:lstStyle/>
            <a:p>
              <a:pPr algn="l"/>
              <a:r>
                <a:rPr lang="zh-CN" sz="980" dirty="0">
                  <a:solidFill>
                    <a:schemeClr val="accent5"/>
                  </a:solidFill>
                  <a:latin typeface="+mn-lt"/>
                  <a:ea typeface="+mn-ea"/>
                  <a:cs typeface="+mn-cs"/>
                </a:rPr>
                <a:t>Decomposition</a:t>
              </a:r>
            </a:p>
          </p:txBody>
        </p:sp>
        <p:sp>
          <p:nvSpPr>
            <p:cNvPr id="28" name="TextBox 28"/>
            <p:cNvSpPr txBox="1"/>
            <p:nvPr/>
          </p:nvSpPr>
          <p:spPr>
            <a:xfrm>
              <a:off x="7024497" y="3399949"/>
              <a:ext cx="1166886" cy="190690"/>
            </a:xfrm>
            <a:prstGeom prst="rect">
              <a:avLst/>
            </a:prstGeom>
            <a:noFill/>
            <a:ln>
              <a:noFill/>
            </a:ln>
          </p:spPr>
          <p:txBody>
            <a:bodyPr wrap="none" lIns="0" tIns="0" rIns="0" bIns="0" anchor="t" anchorCtr="0">
              <a:spAutoFit/>
            </a:bodyPr>
            <a:lstStyle/>
            <a:p>
              <a:pPr algn="l"/>
              <a:r>
                <a:rPr lang="zh-CN" sz="980" dirty="0">
                  <a:solidFill>
                    <a:schemeClr val="dk1"/>
                  </a:solidFill>
                  <a:latin typeface="+mn-lt"/>
                  <a:ea typeface="+mn-ea"/>
                  <a:cs typeface="+mn-cs"/>
                </a:rPr>
                <a:t>土壤碳 → 大气 CO₂</a:t>
              </a:r>
            </a:p>
          </p:txBody>
        </p:sp>
        <p:sp>
          <p:nvSpPr>
            <p:cNvPr id="29" name="Rectangle 29"/>
            <p:cNvSpPr/>
            <p:nvPr/>
          </p:nvSpPr>
          <p:spPr>
            <a:xfrm>
              <a:off x="609600" y="4591050"/>
              <a:ext cx="3943350" cy="1371600"/>
            </a:xfrm>
            <a:prstGeom prst="roundRect">
              <a:avLst>
                <a:gd name="adj" fmla="val 6944"/>
              </a:avLst>
            </a:prstGeom>
            <a:solidFill>
              <a:schemeClr val="lt1"/>
            </a:solidFill>
            <a:ln w="9525">
              <a:solidFill>
                <a:schemeClr val="accent6"/>
              </a:solidFill>
            </a:ln>
          </p:spPr>
        </p:sp>
        <p:sp>
          <p:nvSpPr>
            <p:cNvPr id="30" name="TextBox 30"/>
            <p:cNvSpPr txBox="1"/>
            <p:nvPr/>
          </p:nvSpPr>
          <p:spPr>
            <a:xfrm>
              <a:off x="832104" y="4766310"/>
              <a:ext cx="2701051" cy="234696"/>
            </a:xfrm>
            <a:prstGeom prst="rect">
              <a:avLst/>
            </a:prstGeom>
            <a:noFill/>
            <a:ln>
              <a:noFill/>
            </a:ln>
          </p:spPr>
          <p:txBody>
            <a:bodyPr wrap="none" lIns="0" tIns="0" rIns="0" bIns="0" anchor="t" anchorCtr="0">
              <a:spAutoFit/>
            </a:bodyPr>
            <a:lstStyle/>
            <a:p>
              <a:pPr algn="l"/>
              <a:r>
                <a:rPr lang="zh-CN" sz="1200" b="1" dirty="0">
                  <a:solidFill>
                    <a:schemeClr val="accent1"/>
                  </a:solidFill>
                  <a:latin typeface="+mn-lt"/>
                  <a:ea typeface="+mn-ea"/>
                  <a:cs typeface="+mn-cs"/>
                </a:rPr>
                <a:t>陆地植被 | Terrestrial vegetation</a:t>
              </a:r>
            </a:p>
          </p:txBody>
        </p:sp>
        <p:sp>
          <p:nvSpPr>
            <p:cNvPr id="31" name="Rectangle 31"/>
            <p:cNvSpPr/>
            <p:nvPr/>
          </p:nvSpPr>
          <p:spPr>
            <a:xfrm>
              <a:off x="838200" y="5048250"/>
              <a:ext cx="1143000" cy="247650"/>
            </a:xfrm>
            <a:prstGeom prst="roundRect">
              <a:avLst>
                <a:gd name="adj" fmla="val 50000"/>
              </a:avLst>
            </a:prstGeom>
            <a:solidFill>
              <a:srgbClr val="FDECDD"/>
            </a:solidFill>
            <a:ln>
              <a:noFill/>
            </a:ln>
          </p:spPr>
        </p:sp>
        <p:sp>
          <p:nvSpPr>
            <p:cNvPr id="32" name="TextBox 32"/>
            <p:cNvSpPr txBox="1"/>
            <p:nvPr/>
          </p:nvSpPr>
          <p:spPr>
            <a:xfrm>
              <a:off x="940096" y="5114449"/>
              <a:ext cx="939207" cy="190690"/>
            </a:xfrm>
            <a:prstGeom prst="rect">
              <a:avLst/>
            </a:prstGeom>
            <a:noFill/>
            <a:ln>
              <a:noFill/>
            </a:ln>
          </p:spPr>
          <p:txBody>
            <a:bodyPr wrap="none" lIns="0" tIns="0" rIns="0" bIns="0" anchor="t" anchorCtr="0">
              <a:spAutoFit/>
            </a:bodyPr>
            <a:lstStyle/>
            <a:p>
              <a:pPr algn="ctr"/>
              <a:r>
                <a:rPr lang="zh-CN" sz="980" dirty="0">
                  <a:solidFill>
                    <a:srgbClr val="7A4A33"/>
                  </a:solidFill>
                  <a:latin typeface="+mn-lt"/>
                  <a:ea typeface="+mn-ea"/>
                  <a:cs typeface="+mn-cs"/>
                </a:rPr>
                <a:t>储库 Reservoir</a:t>
              </a:r>
            </a:p>
          </p:txBody>
        </p:sp>
        <p:sp>
          <p:nvSpPr>
            <p:cNvPr id="33" name="TextBox 33"/>
            <p:cNvSpPr txBox="1"/>
            <p:nvPr/>
          </p:nvSpPr>
          <p:spPr>
            <a:xfrm>
              <a:off x="832485" y="5441156"/>
              <a:ext cx="2145030" cy="429578"/>
            </a:xfrm>
            <a:prstGeom prst="rect">
              <a:avLst/>
            </a:prstGeom>
            <a:noFill/>
            <a:ln>
              <a:noFill/>
            </a:ln>
          </p:spPr>
          <p:txBody>
            <a:bodyPr wrap="none" lIns="0" tIns="0" rIns="0" bIns="0" anchor="t" anchorCtr="0">
              <a:spAutoFit/>
            </a:bodyPr>
            <a:lstStyle/>
            <a:p>
              <a:pPr algn="l">
                <a:lnSpc>
                  <a:spcPts val="1650"/>
                </a:lnSpc>
              </a:pPr>
              <a:r>
                <a:rPr lang="zh-CN" sz="1120" dirty="0">
                  <a:solidFill>
                    <a:schemeClr val="dk1"/>
                  </a:solidFill>
                  <a:latin typeface="+mn-lt"/>
                  <a:ea typeface="+mn-ea"/>
                  <a:cs typeface="+mn-cs"/>
                </a:rPr>
                <a:t>植物有机碳：光合固定的碳先进入</a:t>
              </a:r>
              <a:br/>
              <a:r>
                <a:rPr lang="zh-CN" sz="1120" dirty="0">
                  <a:solidFill>
                    <a:schemeClr val="dk1"/>
                  </a:solidFill>
                  <a:latin typeface="+mn-lt"/>
                  <a:ea typeface="+mn-ea"/>
                  <a:cs typeface="+mn-cs"/>
                </a:rPr>
                <a:t>植被，再通过呼吸与枯落物离开。</a:t>
              </a:r>
            </a:p>
          </p:txBody>
        </p:sp>
        <p:sp>
          <p:nvSpPr>
            <p:cNvPr id="34" name="Rectangle 34"/>
            <p:cNvSpPr/>
            <p:nvPr/>
          </p:nvSpPr>
          <p:spPr>
            <a:xfrm>
              <a:off x="5391150" y="4591050"/>
              <a:ext cx="2914650" cy="1371600"/>
            </a:xfrm>
            <a:prstGeom prst="roundRect">
              <a:avLst>
                <a:gd name="adj" fmla="val 6944"/>
              </a:avLst>
            </a:prstGeom>
            <a:solidFill>
              <a:srgbClr val="FDECDD"/>
            </a:solidFill>
            <a:ln w="9525">
              <a:solidFill>
                <a:srgbClr val="F0CFC2"/>
              </a:solidFill>
            </a:ln>
          </p:spPr>
        </p:sp>
        <p:sp>
          <p:nvSpPr>
            <p:cNvPr id="35" name="TextBox 35"/>
            <p:cNvSpPr txBox="1"/>
            <p:nvPr/>
          </p:nvSpPr>
          <p:spPr>
            <a:xfrm>
              <a:off x="5613654" y="4766310"/>
              <a:ext cx="1882088" cy="234696"/>
            </a:xfrm>
            <a:prstGeom prst="rect">
              <a:avLst/>
            </a:prstGeom>
            <a:noFill/>
            <a:ln>
              <a:noFill/>
            </a:ln>
          </p:spPr>
          <p:txBody>
            <a:bodyPr wrap="none" lIns="0" tIns="0" rIns="0" bIns="0" anchor="t" anchorCtr="0">
              <a:spAutoFit/>
            </a:bodyPr>
            <a:lstStyle/>
            <a:p>
              <a:pPr algn="l"/>
              <a:r>
                <a:rPr lang="zh-CN" sz="1200" b="1" dirty="0">
                  <a:solidFill>
                    <a:srgbClr val="7A4A33"/>
                  </a:solidFill>
                  <a:latin typeface="+mn-lt"/>
                  <a:ea typeface="+mn-ea"/>
                  <a:cs typeface="+mn-cs"/>
                </a:rPr>
                <a:t>土壤碳储库 | Soil carbon</a:t>
              </a:r>
            </a:p>
          </p:txBody>
        </p:sp>
        <p:sp>
          <p:nvSpPr>
            <p:cNvPr id="36" name="Rectangle 36"/>
            <p:cNvSpPr/>
            <p:nvPr/>
          </p:nvSpPr>
          <p:spPr>
            <a:xfrm>
              <a:off x="5619750" y="5048250"/>
              <a:ext cx="2457450" cy="723900"/>
            </a:xfrm>
            <a:prstGeom prst="roundRect">
              <a:avLst>
                <a:gd name="adj" fmla="val 7895"/>
              </a:avLst>
            </a:prstGeom>
            <a:solidFill>
              <a:schemeClr val="lt1"/>
            </a:solidFill>
            <a:ln w="9525">
              <a:solidFill>
                <a:srgbClr val="F0CFC2"/>
              </a:solidFill>
            </a:ln>
          </p:spPr>
        </p:sp>
        <p:sp>
          <p:nvSpPr>
            <p:cNvPr id="37" name="Line 37"/>
            <p:cNvSpPr/>
            <p:nvPr/>
          </p:nvSpPr>
          <p:spPr>
            <a:xfrm>
              <a:off x="5695950" y="5286375"/>
              <a:ext cx="2305050" cy="9525"/>
            </a:xfrm>
            <a:custGeom>
              <a:avLst/>
              <a:gdLst/>
              <a:ahLst/>
              <a:cxnLst/>
              <a:rect l="l" t="t" r="r" b="b"/>
              <a:pathLst>
                <a:path w="2305050" h="9525">
                  <a:moveTo>
                    <a:pt x="0" y="0"/>
                  </a:moveTo>
                  <a:lnTo>
                    <a:pt x="2305050" y="0"/>
                  </a:lnTo>
                </a:path>
              </a:pathLst>
            </a:custGeom>
            <a:noFill/>
            <a:ln w="9525">
              <a:solidFill>
                <a:srgbClr val="F0CFC2"/>
              </a:solidFill>
            </a:ln>
          </p:spPr>
        </p:sp>
        <p:sp>
          <p:nvSpPr>
            <p:cNvPr id="38" name="Line 38"/>
            <p:cNvSpPr/>
            <p:nvPr/>
          </p:nvSpPr>
          <p:spPr>
            <a:xfrm>
              <a:off x="5695950" y="5514975"/>
              <a:ext cx="2305050" cy="9525"/>
            </a:xfrm>
            <a:custGeom>
              <a:avLst/>
              <a:gdLst/>
              <a:ahLst/>
              <a:cxnLst/>
              <a:rect l="l" t="t" r="r" b="b"/>
              <a:pathLst>
                <a:path w="2305050" h="9525">
                  <a:moveTo>
                    <a:pt x="0" y="0"/>
                  </a:moveTo>
                  <a:lnTo>
                    <a:pt x="2305050" y="0"/>
                  </a:lnTo>
                </a:path>
              </a:pathLst>
            </a:custGeom>
            <a:noFill/>
            <a:ln w="9525">
              <a:solidFill>
                <a:srgbClr val="F0CFC2"/>
              </a:solidFill>
            </a:ln>
          </p:spPr>
        </p:sp>
        <p:sp>
          <p:nvSpPr>
            <p:cNvPr id="39" name="Ellipse 39"/>
            <p:cNvSpPr/>
            <p:nvPr/>
          </p:nvSpPr>
          <p:spPr>
            <a:xfrm>
              <a:off x="5876925" y="5143500"/>
              <a:ext cx="57150" cy="57150"/>
            </a:xfrm>
            <a:prstGeom prst="ellipse">
              <a:avLst/>
            </a:prstGeom>
            <a:solidFill>
              <a:schemeClr val="accent3"/>
            </a:solidFill>
            <a:ln>
              <a:noFill/>
            </a:ln>
          </p:spPr>
        </p:sp>
        <p:sp>
          <p:nvSpPr>
            <p:cNvPr id="40" name="Ellipse 40"/>
            <p:cNvSpPr/>
            <p:nvPr/>
          </p:nvSpPr>
          <p:spPr>
            <a:xfrm>
              <a:off x="6334125" y="5143500"/>
              <a:ext cx="57150" cy="57150"/>
            </a:xfrm>
            <a:prstGeom prst="ellipse">
              <a:avLst/>
            </a:prstGeom>
            <a:solidFill>
              <a:schemeClr val="accent3"/>
            </a:solidFill>
            <a:ln>
              <a:noFill/>
            </a:ln>
          </p:spPr>
        </p:sp>
        <p:sp>
          <p:nvSpPr>
            <p:cNvPr id="41" name="Ellipse 41"/>
            <p:cNvSpPr/>
            <p:nvPr/>
          </p:nvSpPr>
          <p:spPr>
            <a:xfrm>
              <a:off x="6791325" y="5143500"/>
              <a:ext cx="57150" cy="57150"/>
            </a:xfrm>
            <a:prstGeom prst="ellipse">
              <a:avLst/>
            </a:prstGeom>
            <a:solidFill>
              <a:schemeClr val="accent3"/>
            </a:solidFill>
            <a:ln>
              <a:noFill/>
            </a:ln>
          </p:spPr>
        </p:sp>
        <p:sp>
          <p:nvSpPr>
            <p:cNvPr id="42" name="Ellipse 42"/>
            <p:cNvSpPr/>
            <p:nvPr/>
          </p:nvSpPr>
          <p:spPr>
            <a:xfrm>
              <a:off x="6105525" y="5372100"/>
              <a:ext cx="57150" cy="57150"/>
            </a:xfrm>
            <a:prstGeom prst="ellipse">
              <a:avLst/>
            </a:prstGeom>
            <a:solidFill>
              <a:schemeClr val="accent3"/>
            </a:solidFill>
            <a:ln>
              <a:noFill/>
            </a:ln>
          </p:spPr>
        </p:sp>
        <p:sp>
          <p:nvSpPr>
            <p:cNvPr id="43" name="Ellipse 43"/>
            <p:cNvSpPr/>
            <p:nvPr/>
          </p:nvSpPr>
          <p:spPr>
            <a:xfrm>
              <a:off x="7019925" y="5372100"/>
              <a:ext cx="57150" cy="57150"/>
            </a:xfrm>
            <a:prstGeom prst="ellipse">
              <a:avLst/>
            </a:prstGeom>
            <a:solidFill>
              <a:schemeClr val="accent3"/>
            </a:solidFill>
            <a:ln>
              <a:noFill/>
            </a:ln>
          </p:spPr>
        </p:sp>
        <p:sp>
          <p:nvSpPr>
            <p:cNvPr id="44" name="Ellipse 44"/>
            <p:cNvSpPr/>
            <p:nvPr/>
          </p:nvSpPr>
          <p:spPr>
            <a:xfrm>
              <a:off x="6562725" y="5600700"/>
              <a:ext cx="57150" cy="57150"/>
            </a:xfrm>
            <a:prstGeom prst="ellipse">
              <a:avLst/>
            </a:prstGeom>
            <a:solidFill>
              <a:schemeClr val="accent3"/>
            </a:solidFill>
            <a:ln>
              <a:noFill/>
            </a:ln>
          </p:spPr>
        </p:sp>
        <p:sp>
          <p:nvSpPr>
            <p:cNvPr id="45" name="Ellipse 45"/>
            <p:cNvSpPr/>
            <p:nvPr/>
          </p:nvSpPr>
          <p:spPr>
            <a:xfrm>
              <a:off x="7477125" y="5600700"/>
              <a:ext cx="57150" cy="57150"/>
            </a:xfrm>
            <a:prstGeom prst="ellipse">
              <a:avLst/>
            </a:prstGeom>
            <a:solidFill>
              <a:schemeClr val="accent3"/>
            </a:solidFill>
            <a:ln>
              <a:noFill/>
            </a:ln>
          </p:spPr>
        </p:sp>
        <p:sp>
          <p:nvSpPr>
            <p:cNvPr id="46" name="Ellipse 46"/>
            <p:cNvSpPr/>
            <p:nvPr/>
          </p:nvSpPr>
          <p:spPr>
            <a:xfrm>
              <a:off x="7705725" y="5372100"/>
              <a:ext cx="57150" cy="57150"/>
            </a:xfrm>
            <a:prstGeom prst="ellipse">
              <a:avLst/>
            </a:prstGeom>
            <a:solidFill>
              <a:schemeClr val="accent3"/>
            </a:solidFill>
            <a:ln>
              <a:noFill/>
            </a:ln>
          </p:spPr>
        </p:sp>
        <p:sp>
          <p:nvSpPr>
            <p:cNvPr id="47" name="TextBox 47"/>
            <p:cNvSpPr txBox="1"/>
            <p:nvPr/>
          </p:nvSpPr>
          <p:spPr>
            <a:xfrm>
              <a:off x="5614797" y="5819299"/>
              <a:ext cx="1724965" cy="190690"/>
            </a:xfrm>
            <a:prstGeom prst="rect">
              <a:avLst/>
            </a:prstGeom>
            <a:noFill/>
            <a:ln>
              <a:noFill/>
            </a:ln>
          </p:spPr>
          <p:txBody>
            <a:bodyPr wrap="none" lIns="0" tIns="0" rIns="0" bIns="0" anchor="t" anchorCtr="0">
              <a:spAutoFit/>
            </a:bodyPr>
            <a:lstStyle/>
            <a:p>
              <a:pPr algn="l"/>
              <a:r>
                <a:rPr lang="zh-CN" sz="980" dirty="0">
                  <a:solidFill>
                    <a:schemeClr val="accent5"/>
                  </a:solidFill>
                  <a:latin typeface="+mn-lt"/>
                  <a:ea typeface="+mn-ea"/>
                  <a:cs typeface="+mn-cs"/>
                </a:rPr>
                <a:t>枯落物与死亡有机质在此积累</a:t>
              </a:r>
            </a:p>
          </p:txBody>
        </p:sp>
        <p:sp>
          <p:nvSpPr>
            <p:cNvPr id="48" name="Line 48"/>
            <p:cNvSpPr/>
            <p:nvPr/>
          </p:nvSpPr>
          <p:spPr>
            <a:xfrm>
              <a:off x="4648200" y="5334000"/>
              <a:ext cx="590550" cy="9525"/>
            </a:xfrm>
            <a:custGeom>
              <a:avLst/>
              <a:gdLst/>
              <a:ahLst/>
              <a:cxnLst/>
              <a:rect l="l" t="t" r="r" b="b"/>
              <a:pathLst>
                <a:path w="590550" h="9525">
                  <a:moveTo>
                    <a:pt x="0" y="0"/>
                  </a:moveTo>
                  <a:lnTo>
                    <a:pt x="590550" y="0"/>
                  </a:lnTo>
                </a:path>
              </a:pathLst>
            </a:custGeom>
            <a:noFill/>
            <a:ln w="28575">
              <a:solidFill>
                <a:srgbClr val="7A4A33"/>
              </a:solidFill>
            </a:ln>
          </p:spPr>
        </p:sp>
        <p:sp>
          <p:nvSpPr>
            <p:cNvPr id="49" name="Polygon 49"/>
            <p:cNvSpPr/>
            <p:nvPr/>
          </p:nvSpPr>
          <p:spPr>
            <a:xfrm>
              <a:off x="5181600" y="5267325"/>
              <a:ext cx="171450" cy="133350"/>
            </a:xfrm>
            <a:custGeom>
              <a:avLst/>
              <a:gdLst/>
              <a:ahLst/>
              <a:cxnLst/>
              <a:rect l="l" t="t" r="r" b="b"/>
              <a:pathLst>
                <a:path w="171450" h="133350">
                  <a:moveTo>
                    <a:pt x="0" y="0"/>
                  </a:moveTo>
                  <a:lnTo>
                    <a:pt x="171450" y="66675"/>
                  </a:lnTo>
                  <a:lnTo>
                    <a:pt x="0" y="133350"/>
                  </a:lnTo>
                  <a:close/>
                </a:path>
              </a:pathLst>
            </a:custGeom>
            <a:solidFill>
              <a:srgbClr val="7A4A33"/>
            </a:solidFill>
            <a:ln>
              <a:noFill/>
            </a:ln>
          </p:spPr>
        </p:sp>
        <p:sp>
          <p:nvSpPr>
            <p:cNvPr id="50" name="TextBox 50"/>
            <p:cNvSpPr txBox="1"/>
            <p:nvPr/>
          </p:nvSpPr>
          <p:spPr>
            <a:xfrm>
              <a:off x="4504324" y="5038249"/>
              <a:ext cx="935453" cy="190690"/>
            </a:xfrm>
            <a:prstGeom prst="rect">
              <a:avLst/>
            </a:prstGeom>
            <a:noFill/>
            <a:ln>
              <a:noFill/>
            </a:ln>
          </p:spPr>
          <p:txBody>
            <a:bodyPr wrap="none" lIns="0" tIns="0" rIns="0" bIns="0" anchor="t" anchorCtr="0">
              <a:spAutoFit/>
            </a:bodyPr>
            <a:lstStyle/>
            <a:p>
              <a:pPr algn="ctr"/>
              <a:r>
                <a:rPr lang="zh-CN" sz="980" dirty="0">
                  <a:solidFill>
                    <a:srgbClr val="7A4A33"/>
                  </a:solidFill>
                  <a:latin typeface="+mn-lt"/>
                  <a:ea typeface="+mn-ea"/>
                  <a:cs typeface="+mn-cs"/>
                </a:rPr>
                <a:t>枯落物 | Litter</a:t>
              </a:r>
            </a:p>
          </p:txBody>
        </p:sp>
      </p:grpSp>
      <p:grpSp>
        <p:nvGrpSpPr>
          <p:cNvPr id="57" name="Group 57"/>
          <p:cNvGrpSpPr/>
          <p:nvPr/>
        </p:nvGrpSpPr>
        <p:grpSpPr>
          <a:xfrm>
            <a:off x="8763000" y="1428750"/>
            <a:ext cx="3048000" cy="1590389"/>
            <a:chOff x="8763000" y="1428750"/>
            <a:chExt cx="3048000" cy="1590389"/>
          </a:xfrm>
        </p:grpSpPr>
        <p:sp>
          <p:nvSpPr>
            <p:cNvPr id="52" name="Rectangle 52"/>
            <p:cNvSpPr/>
            <p:nvPr/>
          </p:nvSpPr>
          <p:spPr>
            <a:xfrm>
              <a:off x="8763000" y="1428750"/>
              <a:ext cx="3048000" cy="1562100"/>
            </a:xfrm>
            <a:prstGeom prst="roundRect">
              <a:avLst>
                <a:gd name="adj" fmla="val 7317"/>
              </a:avLst>
            </a:prstGeom>
            <a:solidFill>
              <a:srgbClr val="FDF4EF"/>
            </a:solidFill>
            <a:ln w="9525">
              <a:solidFill>
                <a:srgbClr val="F0CFC2"/>
              </a:solidFill>
            </a:ln>
          </p:spPr>
        </p:sp>
        <p:sp>
          <p:nvSpPr>
            <p:cNvPr id="53" name="TextBox 53"/>
            <p:cNvSpPr txBox="1"/>
            <p:nvPr/>
          </p:nvSpPr>
          <p:spPr>
            <a:xfrm>
              <a:off x="8985504" y="1604010"/>
              <a:ext cx="2263190" cy="234696"/>
            </a:xfrm>
            <a:prstGeom prst="rect">
              <a:avLst/>
            </a:prstGeom>
            <a:noFill/>
            <a:ln>
              <a:noFill/>
            </a:ln>
          </p:spPr>
          <p:txBody>
            <a:bodyPr wrap="none" lIns="0" tIns="0" rIns="0" bIns="0" anchor="t" anchorCtr="0">
              <a:spAutoFit/>
            </a:bodyPr>
            <a:lstStyle/>
            <a:p>
              <a:pPr algn="l"/>
              <a:r>
                <a:rPr lang="zh-CN" sz="1200" b="1" dirty="0">
                  <a:solidFill>
                    <a:srgbClr val="C2410C"/>
                  </a:solidFill>
                  <a:latin typeface="+mn-lt"/>
                  <a:ea typeface="+mn-ea"/>
                  <a:cs typeface="+mn-cs"/>
                </a:rPr>
                <a:t>为什么叫“快速” | Why “fast”</a:t>
              </a:r>
            </a:p>
          </p:txBody>
        </p:sp>
        <p:sp>
          <p:nvSpPr>
            <p:cNvPr id="54" name="TextBox 54"/>
            <p:cNvSpPr txBox="1"/>
            <p:nvPr/>
          </p:nvSpPr>
          <p:spPr>
            <a:xfrm>
              <a:off x="8985885" y="1916906"/>
              <a:ext cx="2002790" cy="429578"/>
            </a:xfrm>
            <a:prstGeom prst="rect">
              <a:avLst/>
            </a:prstGeom>
            <a:noFill/>
            <a:ln>
              <a:noFill/>
            </a:ln>
          </p:spPr>
          <p:txBody>
            <a:bodyPr wrap="none" lIns="0" tIns="0" rIns="0" bIns="0" anchor="t" anchorCtr="0">
              <a:spAutoFit/>
            </a:bodyPr>
            <a:lstStyle/>
            <a:p>
              <a:pPr algn="l">
                <a:lnSpc>
                  <a:spcPts val="1650"/>
                </a:lnSpc>
              </a:pPr>
              <a:r>
                <a:rPr lang="zh-CN" sz="1120" dirty="0">
                  <a:solidFill>
                    <a:schemeClr val="dk1"/>
                  </a:solidFill>
                  <a:latin typeface="+mn-lt"/>
                  <a:ea typeface="+mn-ea"/>
                  <a:cs typeface="+mn-cs"/>
                </a:rPr>
                <a:t>植被与土壤中的碳周转很快，</a:t>
              </a:r>
              <a:br/>
              <a:r>
                <a:rPr lang="zh-CN" sz="1120" dirty="0">
                  <a:solidFill>
                    <a:schemeClr val="dk1"/>
                  </a:solidFill>
                  <a:latin typeface="+mn-lt"/>
                  <a:ea typeface="+mn-ea"/>
                  <a:cs typeface="+mn-cs"/>
                </a:rPr>
                <a:t>不断被取用、又不断归还大气。</a:t>
              </a:r>
            </a:p>
          </p:txBody>
        </p:sp>
        <p:sp>
          <p:nvSpPr>
            <p:cNvPr id="55" name="Rectangle 55"/>
            <p:cNvSpPr/>
            <p:nvPr/>
          </p:nvSpPr>
          <p:spPr>
            <a:xfrm>
              <a:off x="8991600" y="2362200"/>
              <a:ext cx="2590800" cy="609600"/>
            </a:xfrm>
            <a:prstGeom prst="roundRect">
              <a:avLst>
                <a:gd name="adj" fmla="val 12500"/>
              </a:avLst>
            </a:prstGeom>
            <a:solidFill>
              <a:srgbClr val="FDECDD"/>
            </a:solidFill>
            <a:ln>
              <a:noFill/>
            </a:ln>
          </p:spPr>
        </p:sp>
        <p:sp>
          <p:nvSpPr>
            <p:cNvPr id="56" name="TextBox 56"/>
            <p:cNvSpPr txBox="1"/>
            <p:nvPr/>
          </p:nvSpPr>
          <p:spPr>
            <a:xfrm>
              <a:off x="9100947" y="2447449"/>
              <a:ext cx="2399538" cy="571690"/>
            </a:xfrm>
            <a:prstGeom prst="rect">
              <a:avLst/>
            </a:prstGeom>
            <a:noFill/>
            <a:ln>
              <a:noFill/>
            </a:ln>
          </p:spPr>
          <p:txBody>
            <a:bodyPr wrap="none" lIns="0" tIns="0" rIns="0" bIns="0" anchor="t" anchorCtr="0">
              <a:spAutoFit/>
            </a:bodyPr>
            <a:lstStyle/>
            <a:p>
              <a:pPr algn="l">
                <a:lnSpc>
                  <a:spcPts val="1500"/>
                </a:lnSpc>
              </a:pPr>
              <a:r>
                <a:rPr lang="zh-CN" sz="980" dirty="0">
                  <a:solidFill>
                    <a:srgbClr val="7A4A33"/>
                  </a:solidFill>
                  <a:latin typeface="+mn-lt"/>
                  <a:ea typeface="+mn-ea"/>
                  <a:cs typeface="+mn-cs"/>
                </a:rPr>
                <a:t>表层生物储库周转快于地质储库</a:t>
              </a:r>
              <a:br/>
              <a:r>
                <a:rPr lang="zh-CN" sz="980" dirty="0">
                  <a:solidFill>
                    <a:srgbClr val="7A4A33"/>
                  </a:solidFill>
                  <a:latin typeface="+mn-lt"/>
                  <a:ea typeface="+mn-ea"/>
                  <a:cs typeface="+mn-cs"/>
                </a:rPr>
                <a:t>Surface biological reservoirs turn over</a:t>
              </a:r>
              <a:br/>
              <a:r>
                <a:rPr lang="zh-CN" sz="980" dirty="0">
                  <a:solidFill>
                    <a:srgbClr val="7A4A33"/>
                  </a:solidFill>
                  <a:latin typeface="+mn-lt"/>
                  <a:ea typeface="+mn-ea"/>
                  <a:cs typeface="+mn-cs"/>
                </a:rPr>
                <a:t>faster than geological reservoirs</a:t>
              </a:r>
            </a:p>
          </p:txBody>
        </p:sp>
      </p:grpSp>
      <p:grpSp>
        <p:nvGrpSpPr>
          <p:cNvPr id="62" name="Group 62"/>
          <p:cNvGrpSpPr/>
          <p:nvPr/>
        </p:nvGrpSpPr>
        <p:grpSpPr>
          <a:xfrm>
            <a:off x="8763000" y="3143250"/>
            <a:ext cx="3048000" cy="1562100"/>
            <a:chOff x="8763000" y="3143250"/>
            <a:chExt cx="3048000" cy="1562100"/>
          </a:xfrm>
        </p:grpSpPr>
        <p:sp>
          <p:nvSpPr>
            <p:cNvPr id="58" name="Rectangle 58"/>
            <p:cNvSpPr/>
            <p:nvPr/>
          </p:nvSpPr>
          <p:spPr>
            <a:xfrm>
              <a:off x="8763000" y="3143250"/>
              <a:ext cx="3048000" cy="1562100"/>
            </a:xfrm>
            <a:prstGeom prst="roundRect">
              <a:avLst>
                <a:gd name="adj" fmla="val 7317"/>
              </a:avLst>
            </a:prstGeom>
            <a:solidFill>
              <a:schemeClr val="lt1"/>
            </a:solidFill>
            <a:ln w="9525">
              <a:solidFill>
                <a:schemeClr val="accent6"/>
              </a:solidFill>
            </a:ln>
          </p:spPr>
        </p:sp>
        <p:sp>
          <p:nvSpPr>
            <p:cNvPr id="59" name="TextBox 59"/>
            <p:cNvSpPr txBox="1"/>
            <p:nvPr/>
          </p:nvSpPr>
          <p:spPr>
            <a:xfrm>
              <a:off x="8985504" y="3318510"/>
              <a:ext cx="1143000" cy="234696"/>
            </a:xfrm>
            <a:prstGeom prst="rect">
              <a:avLst/>
            </a:prstGeom>
            <a:noFill/>
            <a:ln>
              <a:noFill/>
            </a:ln>
          </p:spPr>
          <p:txBody>
            <a:bodyPr wrap="none" lIns="0" tIns="0" rIns="0" bIns="0" anchor="t" anchorCtr="0">
              <a:spAutoFit/>
            </a:bodyPr>
            <a:lstStyle/>
            <a:p>
              <a:pPr algn="l"/>
              <a:r>
                <a:rPr lang="zh-CN" sz="1200" b="1" dirty="0">
                  <a:solidFill>
                    <a:schemeClr val="accent1"/>
                  </a:solidFill>
                  <a:latin typeface="+mn-lt"/>
                  <a:ea typeface="+mn-ea"/>
                  <a:cs typeface="+mn-cs"/>
                </a:rPr>
                <a:t>土壤是真实储库</a:t>
              </a:r>
            </a:p>
          </p:txBody>
        </p:sp>
        <p:sp>
          <p:nvSpPr>
            <p:cNvPr id="60" name="TextBox 60"/>
            <p:cNvSpPr txBox="1"/>
            <p:nvPr/>
          </p:nvSpPr>
          <p:spPr>
            <a:xfrm>
              <a:off x="8985885" y="3631406"/>
              <a:ext cx="2145030" cy="429578"/>
            </a:xfrm>
            <a:prstGeom prst="rect">
              <a:avLst/>
            </a:prstGeom>
            <a:noFill/>
            <a:ln>
              <a:noFill/>
            </a:ln>
          </p:spPr>
          <p:txBody>
            <a:bodyPr wrap="none" lIns="0" tIns="0" rIns="0" bIns="0" anchor="t" anchorCtr="0">
              <a:spAutoFit/>
            </a:bodyPr>
            <a:lstStyle/>
            <a:p>
              <a:pPr algn="l">
                <a:lnSpc>
                  <a:spcPts val="1650"/>
                </a:lnSpc>
              </a:pPr>
              <a:r>
                <a:rPr lang="zh-CN" sz="1120" dirty="0">
                  <a:solidFill>
                    <a:schemeClr val="dk1"/>
                  </a:solidFill>
                  <a:latin typeface="+mn-lt"/>
                  <a:ea typeface="+mn-ea"/>
                  <a:cs typeface="+mn-cs"/>
                </a:rPr>
                <a:t>枯落物与死亡有机质在其中积累，</a:t>
              </a:r>
              <a:br/>
              <a:r>
                <a:rPr lang="zh-CN" sz="1120" dirty="0">
                  <a:solidFill>
                    <a:schemeClr val="dk1"/>
                  </a:solidFill>
                  <a:latin typeface="+mn-lt"/>
                  <a:ea typeface="+mn-ea"/>
                  <a:cs typeface="+mn-cs"/>
                </a:rPr>
                <a:t>土壤因此成为一个独立的碳储库。</a:t>
              </a:r>
            </a:p>
          </p:txBody>
        </p:sp>
        <p:sp>
          <p:nvSpPr>
            <p:cNvPr id="61" name="TextBox 61"/>
            <p:cNvSpPr txBox="1"/>
            <p:nvPr/>
          </p:nvSpPr>
          <p:spPr>
            <a:xfrm>
              <a:off x="8986647" y="4180999"/>
              <a:ext cx="1333849" cy="190690"/>
            </a:xfrm>
            <a:prstGeom prst="rect">
              <a:avLst/>
            </a:prstGeom>
            <a:noFill/>
            <a:ln>
              <a:noFill/>
            </a:ln>
          </p:spPr>
          <p:txBody>
            <a:bodyPr wrap="none" lIns="0" tIns="0" rIns="0" bIns="0" anchor="t" anchorCtr="0">
              <a:spAutoFit/>
            </a:bodyPr>
            <a:lstStyle/>
            <a:p>
              <a:pPr algn="l"/>
              <a:r>
                <a:rPr lang="zh-CN" sz="980" dirty="0">
                  <a:solidFill>
                    <a:schemeClr val="accent5"/>
                  </a:solidFill>
                  <a:latin typeface="+mn-lt"/>
                  <a:ea typeface="+mn-ea"/>
                  <a:cs typeface="+mn-cs"/>
                </a:rPr>
                <a:t>Reservoir, not a gap</a:t>
              </a:r>
            </a:p>
          </p:txBody>
        </p:sp>
      </p:grpSp>
      <p:grpSp>
        <p:nvGrpSpPr>
          <p:cNvPr id="67" name="Group 67"/>
          <p:cNvGrpSpPr/>
          <p:nvPr/>
        </p:nvGrpSpPr>
        <p:grpSpPr>
          <a:xfrm>
            <a:off x="8763000" y="4857750"/>
            <a:ext cx="3048000" cy="1371600"/>
            <a:chOff x="8763000" y="4857750"/>
            <a:chExt cx="3048000" cy="1371600"/>
          </a:xfrm>
        </p:grpSpPr>
        <p:sp>
          <p:nvSpPr>
            <p:cNvPr id="63" name="Rectangle 63"/>
            <p:cNvSpPr/>
            <p:nvPr/>
          </p:nvSpPr>
          <p:spPr>
            <a:xfrm>
              <a:off x="8763000" y="4857750"/>
              <a:ext cx="3048000" cy="1371600"/>
            </a:xfrm>
            <a:prstGeom prst="roundRect">
              <a:avLst>
                <a:gd name="adj" fmla="val 8333"/>
              </a:avLst>
            </a:prstGeom>
            <a:solidFill>
              <a:schemeClr val="lt2"/>
            </a:solidFill>
            <a:ln w="9525">
              <a:solidFill>
                <a:schemeClr val="accent6"/>
              </a:solidFill>
            </a:ln>
          </p:spPr>
        </p:sp>
        <p:sp>
          <p:nvSpPr>
            <p:cNvPr id="64" name="TextBox 64"/>
            <p:cNvSpPr txBox="1"/>
            <p:nvPr/>
          </p:nvSpPr>
          <p:spPr>
            <a:xfrm>
              <a:off x="8985504" y="5033010"/>
              <a:ext cx="1143000" cy="234696"/>
            </a:xfrm>
            <a:prstGeom prst="rect">
              <a:avLst/>
            </a:prstGeom>
            <a:noFill/>
            <a:ln>
              <a:noFill/>
            </a:ln>
          </p:spPr>
          <p:txBody>
            <a:bodyPr wrap="none" lIns="0" tIns="0" rIns="0" bIns="0" anchor="t" anchorCtr="0">
              <a:spAutoFit/>
            </a:bodyPr>
            <a:lstStyle/>
            <a:p>
              <a:pPr algn="l"/>
              <a:r>
                <a:rPr lang="zh-CN" sz="1200" b="1" dirty="0">
                  <a:solidFill>
                    <a:schemeClr val="accent1"/>
                  </a:solidFill>
                  <a:latin typeface="+mn-lt"/>
                  <a:ea typeface="+mn-ea"/>
                  <a:cs typeface="+mn-cs"/>
                </a:rPr>
                <a:t>与水循环的交会</a:t>
              </a:r>
            </a:p>
          </p:txBody>
        </p:sp>
        <p:sp>
          <p:nvSpPr>
            <p:cNvPr id="65" name="TextBox 65"/>
            <p:cNvSpPr txBox="1"/>
            <p:nvPr/>
          </p:nvSpPr>
          <p:spPr>
            <a:xfrm>
              <a:off x="8985885" y="5345906"/>
              <a:ext cx="2145030" cy="639128"/>
            </a:xfrm>
            <a:prstGeom prst="rect">
              <a:avLst/>
            </a:prstGeom>
            <a:noFill/>
            <a:ln>
              <a:noFill/>
            </a:ln>
          </p:spPr>
          <p:txBody>
            <a:bodyPr wrap="none" lIns="0" tIns="0" rIns="0" bIns="0" anchor="t" anchorCtr="0">
              <a:spAutoFit/>
            </a:bodyPr>
            <a:lstStyle/>
            <a:p>
              <a:pPr algn="l">
                <a:lnSpc>
                  <a:spcPts val="1650"/>
                </a:lnSpc>
              </a:pPr>
              <a:r>
                <a:rPr lang="zh-CN" sz="1120" dirty="0">
                  <a:solidFill>
                    <a:schemeClr val="dk1"/>
                  </a:solidFill>
                  <a:latin typeface="+mn-lt"/>
                  <a:ea typeface="+mn-ea"/>
                  <a:cs typeface="+mn-cs"/>
                </a:rPr>
                <a:t>同一片叶子上，光合固碳与蒸腾</a:t>
              </a:r>
              <a:br/>
              <a:r>
                <a:rPr lang="zh-CN" sz="1120" dirty="0">
                  <a:solidFill>
                    <a:schemeClr val="dk1"/>
                  </a:solidFill>
                  <a:latin typeface="+mn-lt"/>
                  <a:ea typeface="+mn-ea"/>
                  <a:cs typeface="+mn-cs"/>
                </a:rPr>
                <a:t>失水同时发生；这是两个循环在</a:t>
              </a:r>
              <a:br/>
              <a:r>
                <a:rPr lang="zh-CN" sz="1120" dirty="0">
                  <a:solidFill>
                    <a:schemeClr val="dk1"/>
                  </a:solidFill>
                  <a:latin typeface="+mn-lt"/>
                  <a:ea typeface="+mn-ea"/>
                  <a:cs typeface="+mn-cs"/>
                </a:rPr>
                <a:t>植物上的接触点（本页不展开）。</a:t>
              </a:r>
            </a:p>
          </p:txBody>
        </p:sp>
        <p:sp>
          <p:nvSpPr>
            <p:cNvPr id="66" name="TextBox 66"/>
            <p:cNvSpPr txBox="1"/>
            <p:nvPr/>
          </p:nvSpPr>
          <p:spPr>
            <a:xfrm>
              <a:off x="8986647" y="5990749"/>
              <a:ext cx="2026020" cy="190690"/>
            </a:xfrm>
            <a:prstGeom prst="rect">
              <a:avLst/>
            </a:prstGeom>
            <a:noFill/>
            <a:ln>
              <a:noFill/>
            </a:ln>
          </p:spPr>
          <p:txBody>
            <a:bodyPr wrap="none" lIns="0" tIns="0" rIns="0" bIns="0" anchor="t" anchorCtr="0">
              <a:spAutoFit/>
            </a:bodyPr>
            <a:lstStyle/>
            <a:p>
              <a:pPr algn="l"/>
              <a:r>
                <a:rPr lang="zh-CN" sz="980" dirty="0">
                  <a:solidFill>
                    <a:schemeClr val="accent5"/>
                  </a:solidFill>
                  <a:latin typeface="+mn-lt"/>
                  <a:ea typeface="+mn-ea"/>
                  <a:cs typeface="+mn-cs"/>
                </a:rPr>
                <a:t>Photosynthesis · transpiration</a:t>
              </a:r>
            </a:p>
          </p:txBody>
        </p:sp>
      </p:grpSp>
      <p:sp>
        <p:nvSpPr>
          <p:cNvPr id="68" name="TextBox 68"/>
          <p:cNvSpPr txBox="1"/>
          <p:nvPr/>
        </p:nvSpPr>
        <p:spPr>
          <a:xfrm>
            <a:off x="376238" y="6532245"/>
            <a:ext cx="8884959" cy="176212"/>
          </a:xfrm>
          <a:prstGeom prst="rect">
            <a:avLst/>
          </a:prstGeom>
          <a:noFill/>
          <a:ln>
            <a:noFill/>
          </a:ln>
        </p:spPr>
        <p:txBody>
          <a:bodyPr wrap="none" lIns="0" tIns="0" rIns="0" bIns="0" anchor="t" anchorCtr="0">
            <a:spAutoFit/>
          </a:bodyPr>
          <a:lstStyle/>
          <a:p>
            <a:pPr algn="l"/>
            <a:r>
              <a:rPr lang="zh-CN" sz="900" dirty="0">
                <a:solidFill>
                  <a:schemeClr val="accent5"/>
                </a:solidFill>
                <a:latin typeface="+mn-lt"/>
                <a:ea typeface="+mn-ea"/>
                <a:cs typeface="+mn-cs"/>
              </a:rPr>
              <a:t>Source: UE 8e, Ch.12, Atmosphere–Biosphere Gas Exchange, PDF pp.1211–1212; 地球系统与演变, Ch.4 §4.2.2、§4.3.4–§4.3.5, PDF pp.61–62, 71–74.</a:t>
            </a:r>
          </a:p>
        </p:txBody>
      </p:sp>
      <p:sp>
        <p:nvSpPr>
          <p:cNvPr id="69" name="TextBox 69"/>
          <p:cNvSpPr txBox="1"/>
          <p:nvPr/>
        </p:nvSpPr>
        <p:spPr>
          <a:xfrm>
            <a:off x="11672964" y="6532245"/>
            <a:ext cx="142799" cy="176212"/>
          </a:xfrm>
          <a:prstGeom prst="rect">
            <a:avLst/>
          </a:prstGeom>
          <a:noFill/>
          <a:ln>
            <a:noFill/>
          </a:ln>
        </p:spPr>
        <p:txBody>
          <a:bodyPr wrap="none" lIns="0" tIns="0" rIns="0" bIns="0" anchor="t" anchorCtr="0">
            <a:spAutoFit/>
          </a:bodyPr>
          <a:lstStyle/>
          <a:p>
            <a:pPr algn="r"/>
            <a:r>
              <a:rPr lang="zh-CN" sz="900" dirty="0">
                <a:solidFill>
                  <a:schemeClr val="accent5"/>
                </a:solidFill>
                <a:latin typeface="+mn-lt"/>
                <a:ea typeface="+mn-ea"/>
                <a:cs typeface="+mn-cs"/>
              </a:rPr>
              <a:t>25</a:t>
            </a:r>
          </a:p>
        </p:txBody>
      </p:sp>
    </p:spTree>
    <p:extLst>
      <p:ext uri="{BB962C8B-B14F-4D97-AF65-F5344CB8AC3E}">
        <p14:creationId xmlns:p14="http://schemas.microsoft.com/office/powerpoint/2010/main" val="3611952536"/>
      </p:ext>
    </p:extLst>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5"/>
          <p:cNvGrpSpPr/>
          <p:nvPr/>
        </p:nvGrpSpPr>
        <p:grpSpPr>
          <a:xfrm>
            <a:off x="0" y="0"/>
            <a:ext cx="12192000" cy="685800"/>
            <a:chOff x="0" y="0"/>
            <a:chExt cx="12192000" cy="685800"/>
          </a:xfrm>
        </p:grpSpPr>
        <p:sp>
          <p:nvSpPr>
            <p:cNvPr id="2" name="Rectangle 2"/>
            <p:cNvSpPr/>
            <p:nvPr/>
          </p:nvSpPr>
          <p:spPr>
            <a:xfrm>
              <a:off x="0" y="0"/>
              <a:ext cx="12192000" cy="685800"/>
            </a:xfrm>
            <a:prstGeom prst="rect">
              <a:avLst/>
            </a:prstGeom>
            <a:solidFill>
              <a:schemeClr val="accent1"/>
            </a:solidFill>
            <a:ln>
              <a:noFill/>
            </a:ln>
          </p:spPr>
        </p:sp>
        <p:sp>
          <p:nvSpPr>
            <p:cNvPr id="3" name="TextBox 3"/>
            <p:cNvSpPr txBox="1"/>
            <p:nvPr/>
          </p:nvSpPr>
          <p:spPr>
            <a:xfrm>
              <a:off x="374142" y="282892"/>
              <a:ext cx="4330587" cy="264033"/>
            </a:xfrm>
            <a:prstGeom prst="rect">
              <a:avLst/>
            </a:prstGeom>
            <a:noFill/>
            <a:ln>
              <a:noFill/>
            </a:ln>
          </p:spPr>
          <p:txBody>
            <a:bodyPr wrap="none" lIns="0" tIns="0" rIns="0" bIns="0" anchor="t" anchorCtr="0">
              <a:spAutoFit/>
            </a:bodyPr>
            <a:lstStyle/>
            <a:p>
              <a:pPr algn="l"/>
              <a:r>
                <a:rPr lang="zh-CN" sz="1350" b="1" dirty="0">
                  <a:solidFill>
                    <a:srgbClr val="FFFFFF"/>
                  </a:solidFill>
                  <a:latin typeface="+mn-lt"/>
                  <a:ea typeface="+mn-ea"/>
                  <a:cs typeface="+mn-cs"/>
                </a:rPr>
                <a:t>2.6 海气之间的碳交换 | Air–Sea Carbon Exchange</a:t>
              </a:r>
            </a:p>
          </p:txBody>
        </p:sp>
        <p:sp>
          <p:nvSpPr>
            <p:cNvPr id="4" name="TextBox 4"/>
            <p:cNvSpPr txBox="1"/>
            <p:nvPr/>
          </p:nvSpPr>
          <p:spPr>
            <a:xfrm>
              <a:off x="10686898" y="299085"/>
              <a:ext cx="1130198" cy="234696"/>
            </a:xfrm>
            <a:prstGeom prst="rect">
              <a:avLst/>
            </a:prstGeom>
            <a:noFill/>
            <a:ln>
              <a:noFill/>
            </a:ln>
          </p:spPr>
          <p:txBody>
            <a:bodyPr wrap="none" lIns="0" tIns="0" rIns="0" bIns="0" anchor="t" anchorCtr="0">
              <a:spAutoFit/>
            </a:bodyPr>
            <a:lstStyle/>
            <a:p>
              <a:pPr algn="r"/>
              <a:r>
                <a:rPr lang="zh-CN" sz="1200" dirty="0">
                  <a:solidFill>
                    <a:srgbClr val="C7D7F2"/>
                  </a:solidFill>
                  <a:latin typeface="+mn-lt"/>
                  <a:ea typeface="+mn-ea"/>
                  <a:cs typeface="+mn-cs"/>
                </a:rPr>
                <a:t>CARBON CYCLE</a:t>
              </a:r>
            </a:p>
          </p:txBody>
        </p:sp>
      </p:grpSp>
      <p:grpSp>
        <p:nvGrpSpPr>
          <p:cNvPr id="8" name="Group 8"/>
          <p:cNvGrpSpPr/>
          <p:nvPr/>
        </p:nvGrpSpPr>
        <p:grpSpPr>
          <a:xfrm>
            <a:off x="381000" y="914400"/>
            <a:ext cx="6305280" cy="357093"/>
            <a:chOff x="381000" y="914400"/>
            <a:chExt cx="6305280" cy="357093"/>
          </a:xfrm>
        </p:grpSpPr>
        <p:sp>
          <p:nvSpPr>
            <p:cNvPr id="6" name="Rectangle 6"/>
            <p:cNvSpPr/>
            <p:nvPr/>
          </p:nvSpPr>
          <p:spPr>
            <a:xfrm>
              <a:off x="381000" y="914400"/>
              <a:ext cx="57150" cy="266700"/>
            </a:xfrm>
            <a:prstGeom prst="roundRect">
              <a:avLst>
                <a:gd name="adj" fmla="val 50000"/>
              </a:avLst>
            </a:prstGeom>
            <a:solidFill>
              <a:schemeClr val="accent3"/>
            </a:solidFill>
            <a:ln>
              <a:noFill/>
            </a:ln>
          </p:spPr>
        </p:sp>
        <p:sp>
          <p:nvSpPr>
            <p:cNvPr id="7" name="TextBox 7"/>
            <p:cNvSpPr txBox="1"/>
            <p:nvPr/>
          </p:nvSpPr>
          <p:spPr>
            <a:xfrm>
              <a:off x="544449" y="963454"/>
              <a:ext cx="6141831" cy="308039"/>
            </a:xfrm>
            <a:prstGeom prst="rect">
              <a:avLst/>
            </a:prstGeom>
            <a:noFill/>
            <a:ln>
              <a:noFill/>
            </a:ln>
          </p:spPr>
          <p:txBody>
            <a:bodyPr wrap="none" lIns="0" tIns="0" rIns="0" bIns="0" anchor="t" anchorCtr="0">
              <a:spAutoFit/>
            </a:bodyPr>
            <a:lstStyle/>
            <a:p>
              <a:pPr algn="l"/>
              <a:r>
                <a:rPr lang="zh-CN" sz="1580" b="1" dirty="0">
                  <a:solidFill>
                    <a:srgbClr val="C2410C"/>
                  </a:solidFill>
                  <a:latin typeface="+mn-lt"/>
                  <a:ea typeface="+mn-ea"/>
                  <a:cs typeface="+mn-cs"/>
                </a:rPr>
                <a:t>海洋既能吸收、也能释放 CO₂；它不是处处、时时的单向碳汇</a:t>
              </a:r>
            </a:p>
          </p:txBody>
        </p:sp>
      </p:grpSp>
      <p:grpSp>
        <p:nvGrpSpPr>
          <p:cNvPr id="11" name="Group 11"/>
          <p:cNvGrpSpPr/>
          <p:nvPr/>
        </p:nvGrpSpPr>
        <p:grpSpPr>
          <a:xfrm>
            <a:off x="381000" y="1428750"/>
            <a:ext cx="5715000" cy="4800600"/>
            <a:chOff x="381000" y="1428750"/>
            <a:chExt cx="5715000" cy="4800600"/>
          </a:xfrm>
        </p:grpSpPr>
        <p:sp>
          <p:nvSpPr>
            <p:cNvPr id="9" name="Rectangle 9"/>
            <p:cNvSpPr/>
            <p:nvPr/>
          </p:nvSpPr>
          <p:spPr>
            <a:xfrm>
              <a:off x="381000" y="1428750"/>
              <a:ext cx="5715000" cy="4800600"/>
            </a:xfrm>
            <a:prstGeom prst="roundRect">
              <a:avLst>
                <a:gd name="adj" fmla="val 2381"/>
              </a:avLst>
            </a:prstGeom>
            <a:solidFill>
              <a:schemeClr val="lt2"/>
            </a:solidFill>
            <a:ln w="9525">
              <a:solidFill>
                <a:schemeClr val="accent6"/>
              </a:solidFill>
            </a:ln>
          </p:spPr>
        </p:sp>
        <p:pic>
          <p:nvPicPr>
            <p:cNvPr id="10" name="Image 10"/>
            <p:cNvPicPr>
              <a:picLocks noChangeAspect="1"/>
            </p:cNvPicPr>
            <p:nvPr/>
          </p:nvPicPr>
          <p:blipFill>
            <a:blip r:embed="rId3"/>
            <a:stretch>
              <a:fillRect/>
            </a:stretch>
          </p:blipFill>
          <p:spPr>
            <a:xfrm>
              <a:off x="581025" y="1524000"/>
              <a:ext cx="5314950" cy="4610100"/>
            </a:xfrm>
            <a:prstGeom prst="rect">
              <a:avLst/>
            </a:prstGeom>
          </p:spPr>
        </p:pic>
      </p:grpSp>
      <p:grpSp>
        <p:nvGrpSpPr>
          <p:cNvPr id="23" name="Group 23"/>
          <p:cNvGrpSpPr/>
          <p:nvPr/>
        </p:nvGrpSpPr>
        <p:grpSpPr>
          <a:xfrm>
            <a:off x="6438900" y="1428750"/>
            <a:ext cx="5372100" cy="1866900"/>
            <a:chOff x="6438900" y="1428750"/>
            <a:chExt cx="5372100" cy="1866900"/>
          </a:xfrm>
        </p:grpSpPr>
        <p:sp>
          <p:nvSpPr>
            <p:cNvPr id="12" name="Rectangle 12"/>
            <p:cNvSpPr/>
            <p:nvPr/>
          </p:nvSpPr>
          <p:spPr>
            <a:xfrm>
              <a:off x="6438900" y="1428750"/>
              <a:ext cx="5372100" cy="1866900"/>
            </a:xfrm>
            <a:prstGeom prst="roundRect">
              <a:avLst>
                <a:gd name="adj" fmla="val 6122"/>
              </a:avLst>
            </a:prstGeom>
            <a:solidFill>
              <a:srgbClr val="FDF4EF"/>
            </a:solidFill>
            <a:ln w="9525">
              <a:solidFill>
                <a:srgbClr val="F0CFC2"/>
              </a:solidFill>
            </a:ln>
          </p:spPr>
        </p:sp>
        <p:sp>
          <p:nvSpPr>
            <p:cNvPr id="13" name="TextBox 13"/>
            <p:cNvSpPr txBox="1"/>
            <p:nvPr/>
          </p:nvSpPr>
          <p:spPr>
            <a:xfrm>
              <a:off x="6661404" y="1623060"/>
              <a:ext cx="2541599" cy="234696"/>
            </a:xfrm>
            <a:prstGeom prst="rect">
              <a:avLst/>
            </a:prstGeom>
            <a:noFill/>
            <a:ln>
              <a:noFill/>
            </a:ln>
          </p:spPr>
          <p:txBody>
            <a:bodyPr wrap="none" lIns="0" tIns="0" rIns="0" bIns="0" anchor="t" anchorCtr="0">
              <a:spAutoFit/>
            </a:bodyPr>
            <a:lstStyle/>
            <a:p>
              <a:pPr algn="l"/>
              <a:r>
                <a:rPr lang="zh-CN" sz="1200" b="1" dirty="0">
                  <a:solidFill>
                    <a:srgbClr val="C2410C"/>
                  </a:solidFill>
                  <a:latin typeface="+mn-lt"/>
                  <a:ea typeface="+mn-ea"/>
                  <a:cs typeface="+mn-cs"/>
                </a:rPr>
                <a:t>读数规则 | How to read this map</a:t>
              </a:r>
            </a:p>
          </p:txBody>
        </p:sp>
        <p:sp>
          <p:nvSpPr>
            <p:cNvPr id="14" name="Rectangle 14"/>
            <p:cNvSpPr/>
            <p:nvPr/>
          </p:nvSpPr>
          <p:spPr>
            <a:xfrm>
              <a:off x="6667500" y="1924050"/>
              <a:ext cx="495300" cy="323850"/>
            </a:xfrm>
            <a:prstGeom prst="roundRect">
              <a:avLst>
                <a:gd name="adj" fmla="val 23529"/>
              </a:avLst>
            </a:prstGeom>
            <a:solidFill>
              <a:srgbClr val="C2410C"/>
            </a:solidFill>
            <a:ln>
              <a:noFill/>
            </a:ln>
          </p:spPr>
        </p:sp>
        <p:sp>
          <p:nvSpPr>
            <p:cNvPr id="15" name="TextBox 15"/>
            <p:cNvSpPr txBox="1"/>
            <p:nvPr/>
          </p:nvSpPr>
          <p:spPr>
            <a:xfrm>
              <a:off x="6852713" y="1998821"/>
              <a:ext cx="124873" cy="278702"/>
            </a:xfrm>
            <a:prstGeom prst="rect">
              <a:avLst/>
            </a:prstGeom>
            <a:noFill/>
            <a:ln>
              <a:noFill/>
            </a:ln>
          </p:spPr>
          <p:txBody>
            <a:bodyPr wrap="none" lIns="0" tIns="0" rIns="0" bIns="0" anchor="t" anchorCtr="0">
              <a:spAutoFit/>
            </a:bodyPr>
            <a:lstStyle/>
            <a:p>
              <a:pPr algn="ctr"/>
              <a:r>
                <a:rPr lang="zh-CN" sz="1420" b="1" dirty="0">
                  <a:solidFill>
                    <a:srgbClr val="FFFFFF"/>
                  </a:solidFill>
                  <a:latin typeface="+mn-lt"/>
                  <a:ea typeface="+mn-ea"/>
                  <a:cs typeface="+mn-cs"/>
                </a:rPr>
                <a:t>+</a:t>
              </a:r>
            </a:p>
          </p:txBody>
        </p:sp>
        <p:sp>
          <p:nvSpPr>
            <p:cNvPr id="16" name="TextBox 16"/>
            <p:cNvSpPr txBox="1"/>
            <p:nvPr/>
          </p:nvSpPr>
          <p:spPr>
            <a:xfrm>
              <a:off x="7290054" y="1965960"/>
              <a:ext cx="1592336" cy="234696"/>
            </a:xfrm>
            <a:prstGeom prst="rect">
              <a:avLst/>
            </a:prstGeom>
            <a:noFill/>
            <a:ln>
              <a:noFill/>
            </a:ln>
          </p:spPr>
          <p:txBody>
            <a:bodyPr wrap="none" lIns="0" tIns="0" rIns="0" bIns="0" anchor="t" anchorCtr="0">
              <a:spAutoFit/>
            </a:bodyPr>
            <a:lstStyle/>
            <a:p>
              <a:pPr algn="l"/>
              <a:r>
                <a:rPr lang="zh-CN" sz="1200" b="1" dirty="0">
                  <a:solidFill>
                    <a:srgbClr val="C2410C"/>
                  </a:solidFill>
                  <a:latin typeface="+mn-lt"/>
                  <a:ea typeface="+mn-ea"/>
                  <a:cs typeface="+mn-cs"/>
                </a:rPr>
                <a:t>正值：海水放出 CO₂</a:t>
              </a:r>
            </a:p>
          </p:txBody>
        </p:sp>
        <p:sp>
          <p:nvSpPr>
            <p:cNvPr id="17" name="TextBox 17"/>
            <p:cNvSpPr txBox="1"/>
            <p:nvPr/>
          </p:nvSpPr>
          <p:spPr>
            <a:xfrm>
              <a:off x="7291197" y="2199799"/>
              <a:ext cx="2167731" cy="190690"/>
            </a:xfrm>
            <a:prstGeom prst="rect">
              <a:avLst/>
            </a:prstGeom>
            <a:noFill/>
            <a:ln>
              <a:noFill/>
            </a:ln>
          </p:spPr>
          <p:txBody>
            <a:bodyPr wrap="none" lIns="0" tIns="0" rIns="0" bIns="0" anchor="t" anchorCtr="0">
              <a:spAutoFit/>
            </a:bodyPr>
            <a:lstStyle/>
            <a:p>
              <a:pPr algn="l"/>
              <a:r>
                <a:rPr lang="zh-CN" sz="980" dirty="0">
                  <a:solidFill>
                    <a:schemeClr val="accent5"/>
                  </a:solidFill>
                  <a:latin typeface="+mn-lt"/>
                  <a:ea typeface="+mn-ea"/>
                  <a:cs typeface="+mn-cs"/>
                </a:rPr>
                <a:t>Positive = seawater releases CO₂</a:t>
              </a:r>
            </a:p>
          </p:txBody>
        </p:sp>
        <p:sp>
          <p:nvSpPr>
            <p:cNvPr id="18" name="Rectangle 18"/>
            <p:cNvSpPr/>
            <p:nvPr/>
          </p:nvSpPr>
          <p:spPr>
            <a:xfrm>
              <a:off x="6667500" y="2400300"/>
              <a:ext cx="495300" cy="323850"/>
            </a:xfrm>
            <a:prstGeom prst="roundRect">
              <a:avLst>
                <a:gd name="adj" fmla="val 23529"/>
              </a:avLst>
            </a:prstGeom>
            <a:solidFill>
              <a:schemeClr val="accent1"/>
            </a:solidFill>
            <a:ln>
              <a:noFill/>
            </a:ln>
          </p:spPr>
        </p:sp>
        <p:sp>
          <p:nvSpPr>
            <p:cNvPr id="19" name="TextBox 19"/>
            <p:cNvSpPr txBox="1"/>
            <p:nvPr/>
          </p:nvSpPr>
          <p:spPr>
            <a:xfrm>
              <a:off x="6852713" y="2475071"/>
              <a:ext cx="124873" cy="278702"/>
            </a:xfrm>
            <a:prstGeom prst="rect">
              <a:avLst/>
            </a:prstGeom>
            <a:noFill/>
            <a:ln>
              <a:noFill/>
            </a:ln>
          </p:spPr>
          <p:txBody>
            <a:bodyPr wrap="none" lIns="0" tIns="0" rIns="0" bIns="0" anchor="t" anchorCtr="0">
              <a:spAutoFit/>
            </a:bodyPr>
            <a:lstStyle/>
            <a:p>
              <a:pPr algn="ctr"/>
              <a:r>
                <a:rPr lang="zh-CN" sz="1420" b="1" dirty="0">
                  <a:solidFill>
                    <a:srgbClr val="FFFFFF"/>
                  </a:solidFill>
                  <a:latin typeface="+mn-lt"/>
                  <a:ea typeface="+mn-ea"/>
                  <a:cs typeface="+mn-cs"/>
                </a:rPr>
                <a:t>−</a:t>
              </a:r>
            </a:p>
          </p:txBody>
        </p:sp>
        <p:sp>
          <p:nvSpPr>
            <p:cNvPr id="20" name="TextBox 20"/>
            <p:cNvSpPr txBox="1"/>
            <p:nvPr/>
          </p:nvSpPr>
          <p:spPr>
            <a:xfrm>
              <a:off x="7290054" y="2442210"/>
              <a:ext cx="1592336" cy="234696"/>
            </a:xfrm>
            <a:prstGeom prst="rect">
              <a:avLst/>
            </a:prstGeom>
            <a:noFill/>
            <a:ln>
              <a:noFill/>
            </a:ln>
          </p:spPr>
          <p:txBody>
            <a:bodyPr wrap="none" lIns="0" tIns="0" rIns="0" bIns="0" anchor="t" anchorCtr="0">
              <a:spAutoFit/>
            </a:bodyPr>
            <a:lstStyle/>
            <a:p>
              <a:pPr algn="l"/>
              <a:r>
                <a:rPr lang="zh-CN" sz="1200" b="1" dirty="0">
                  <a:solidFill>
                    <a:schemeClr val="accent1"/>
                  </a:solidFill>
                  <a:latin typeface="+mn-lt"/>
                  <a:ea typeface="+mn-ea"/>
                  <a:cs typeface="+mn-cs"/>
                </a:rPr>
                <a:t>负值：海水吸收 CO₂</a:t>
              </a:r>
            </a:p>
          </p:txBody>
        </p:sp>
        <p:sp>
          <p:nvSpPr>
            <p:cNvPr id="21" name="TextBox 21"/>
            <p:cNvSpPr txBox="1"/>
            <p:nvPr/>
          </p:nvSpPr>
          <p:spPr>
            <a:xfrm>
              <a:off x="7291197" y="2676049"/>
              <a:ext cx="2161650" cy="190690"/>
            </a:xfrm>
            <a:prstGeom prst="rect">
              <a:avLst/>
            </a:prstGeom>
            <a:noFill/>
            <a:ln>
              <a:noFill/>
            </a:ln>
          </p:spPr>
          <p:txBody>
            <a:bodyPr wrap="none" lIns="0" tIns="0" rIns="0" bIns="0" anchor="t" anchorCtr="0">
              <a:spAutoFit/>
            </a:bodyPr>
            <a:lstStyle/>
            <a:p>
              <a:pPr algn="l"/>
              <a:r>
                <a:rPr lang="zh-CN" sz="980" dirty="0">
                  <a:solidFill>
                    <a:schemeClr val="accent5"/>
                  </a:solidFill>
                  <a:latin typeface="+mn-lt"/>
                  <a:ea typeface="+mn-ea"/>
                  <a:cs typeface="+mn-cs"/>
                </a:rPr>
                <a:t>Negative = seawater absorbs CO₂</a:t>
              </a:r>
            </a:p>
          </p:txBody>
        </p:sp>
        <p:sp>
          <p:nvSpPr>
            <p:cNvPr id="22" name="TextBox 22"/>
            <p:cNvSpPr txBox="1"/>
            <p:nvPr/>
          </p:nvSpPr>
          <p:spPr>
            <a:xfrm>
              <a:off x="6661785" y="3021806"/>
              <a:ext cx="3034457" cy="220028"/>
            </a:xfrm>
            <a:prstGeom prst="rect">
              <a:avLst/>
            </a:prstGeom>
            <a:noFill/>
            <a:ln>
              <a:noFill/>
            </a:ln>
          </p:spPr>
          <p:txBody>
            <a:bodyPr wrap="none" lIns="0" tIns="0" rIns="0" bIns="0" anchor="t" anchorCtr="0">
              <a:spAutoFit/>
            </a:bodyPr>
            <a:lstStyle/>
            <a:p>
              <a:pPr algn="l"/>
              <a:r>
                <a:rPr lang="zh-CN" sz="1120" dirty="0">
                  <a:solidFill>
                    <a:schemeClr val="dk1"/>
                  </a:solidFill>
                  <a:latin typeface="+mn-lt"/>
                  <a:ea typeface="+mn-ea"/>
                  <a:cs typeface="+mn-cs"/>
                </a:rPr>
                <a:t>单位 净通量 g/(m²·a)；色标约 −108 … +108</a:t>
              </a:r>
            </a:p>
          </p:txBody>
        </p:sp>
      </p:grpSp>
      <p:grpSp>
        <p:nvGrpSpPr>
          <p:cNvPr id="28" name="Group 28"/>
          <p:cNvGrpSpPr/>
          <p:nvPr/>
        </p:nvGrpSpPr>
        <p:grpSpPr>
          <a:xfrm>
            <a:off x="6438900" y="3448050"/>
            <a:ext cx="5372100" cy="1676400"/>
            <a:chOff x="6438900" y="3448050"/>
            <a:chExt cx="5372100" cy="1676400"/>
          </a:xfrm>
        </p:grpSpPr>
        <p:sp>
          <p:nvSpPr>
            <p:cNvPr id="24" name="Rectangle 24"/>
            <p:cNvSpPr/>
            <p:nvPr/>
          </p:nvSpPr>
          <p:spPr>
            <a:xfrm>
              <a:off x="6438900" y="3448050"/>
              <a:ext cx="5372100" cy="1676400"/>
            </a:xfrm>
            <a:prstGeom prst="roundRect">
              <a:avLst>
                <a:gd name="adj" fmla="val 6818"/>
              </a:avLst>
            </a:prstGeom>
            <a:solidFill>
              <a:schemeClr val="lt1"/>
            </a:solidFill>
            <a:ln w="9525">
              <a:solidFill>
                <a:schemeClr val="accent6"/>
              </a:solidFill>
            </a:ln>
          </p:spPr>
        </p:sp>
        <p:sp>
          <p:nvSpPr>
            <p:cNvPr id="25" name="TextBox 25"/>
            <p:cNvSpPr txBox="1"/>
            <p:nvPr/>
          </p:nvSpPr>
          <p:spPr>
            <a:xfrm>
              <a:off x="6661404" y="3642360"/>
              <a:ext cx="2663304" cy="234696"/>
            </a:xfrm>
            <a:prstGeom prst="rect">
              <a:avLst/>
            </a:prstGeom>
            <a:noFill/>
            <a:ln>
              <a:noFill/>
            </a:ln>
          </p:spPr>
          <p:txBody>
            <a:bodyPr wrap="none" lIns="0" tIns="0" rIns="0" bIns="0" anchor="t" anchorCtr="0">
              <a:spAutoFit/>
            </a:bodyPr>
            <a:lstStyle/>
            <a:p>
              <a:pPr algn="l"/>
              <a:r>
                <a:rPr lang="zh-CN" sz="1200" b="1" dirty="0">
                  <a:solidFill>
                    <a:schemeClr val="accent1"/>
                  </a:solidFill>
                  <a:latin typeface="+mn-lt"/>
                  <a:ea typeface="+mn-ea"/>
                  <a:cs typeface="+mn-cs"/>
                </a:rPr>
                <a:t>什么在控制交换 | What controls it</a:t>
              </a:r>
            </a:p>
          </p:txBody>
        </p:sp>
        <p:sp>
          <p:nvSpPr>
            <p:cNvPr id="26" name="TextBox 26"/>
            <p:cNvSpPr txBox="1"/>
            <p:nvPr/>
          </p:nvSpPr>
          <p:spPr>
            <a:xfrm>
              <a:off x="6661785" y="3955256"/>
              <a:ext cx="2287270" cy="639128"/>
            </a:xfrm>
            <a:prstGeom prst="rect">
              <a:avLst/>
            </a:prstGeom>
            <a:noFill/>
            <a:ln>
              <a:noFill/>
            </a:ln>
          </p:spPr>
          <p:txBody>
            <a:bodyPr wrap="none" lIns="0" tIns="0" rIns="0" bIns="0" anchor="t" anchorCtr="0">
              <a:spAutoFit/>
            </a:bodyPr>
            <a:lstStyle/>
            <a:p>
              <a:pPr algn="l">
                <a:lnSpc>
                  <a:spcPts val="1650"/>
                </a:lnSpc>
              </a:pPr>
              <a:r>
                <a:rPr lang="zh-CN" sz="1120" dirty="0">
                  <a:solidFill>
                    <a:schemeClr val="dk1"/>
                  </a:solidFill>
                  <a:latin typeface="+mn-lt"/>
                  <a:ea typeface="+mn-ea"/>
                  <a:cs typeface="+mn-cs"/>
                </a:rPr>
                <a:t>温度、海水组成，尤其风混合与浪</a:t>
              </a:r>
              <a:br/>
              <a:r>
                <a:rPr lang="zh-CN" sz="1120" dirty="0">
                  <a:solidFill>
                    <a:schemeClr val="dk1"/>
                  </a:solidFill>
                  <a:latin typeface="+mn-lt"/>
                  <a:ea typeface="+mn-ea"/>
                  <a:cs typeface="+mn-cs"/>
                </a:rPr>
                <a:t>花飞溅，决定溶解与释放的快慢；</a:t>
              </a:r>
              <a:br/>
              <a:r>
                <a:rPr lang="zh-CN" sz="1120" dirty="0">
                  <a:solidFill>
                    <a:schemeClr val="dk1"/>
                  </a:solidFill>
                  <a:latin typeface="+mn-lt"/>
                  <a:ea typeface="+mn-ea"/>
                  <a:cs typeface="+mn-cs"/>
                </a:rPr>
                <a:t>高纬冷海更易吸收，上升流区放出。</a:t>
              </a:r>
            </a:p>
          </p:txBody>
        </p:sp>
        <p:sp>
          <p:nvSpPr>
            <p:cNvPr id="27" name="TextBox 27"/>
            <p:cNvSpPr txBox="1"/>
            <p:nvPr/>
          </p:nvSpPr>
          <p:spPr>
            <a:xfrm>
              <a:off x="6662547" y="4714399"/>
              <a:ext cx="2620085" cy="190690"/>
            </a:xfrm>
            <a:prstGeom prst="rect">
              <a:avLst/>
            </a:prstGeom>
            <a:noFill/>
            <a:ln>
              <a:noFill/>
            </a:ln>
          </p:spPr>
          <p:txBody>
            <a:bodyPr wrap="none" lIns="0" tIns="0" rIns="0" bIns="0" anchor="t" anchorCtr="0">
              <a:spAutoFit/>
            </a:bodyPr>
            <a:lstStyle/>
            <a:p>
              <a:pPr algn="l"/>
              <a:r>
                <a:rPr lang="zh-CN" sz="980" dirty="0">
                  <a:solidFill>
                    <a:schemeClr val="accent5"/>
                  </a:solidFill>
                  <a:latin typeface="+mn-lt"/>
                  <a:ea typeface="+mn-ea"/>
                  <a:cs typeface="+mn-cs"/>
                </a:rPr>
                <a:t>Temperature · composition · wind mixing</a:t>
              </a:r>
            </a:p>
          </p:txBody>
        </p:sp>
      </p:grpSp>
      <p:grpSp>
        <p:nvGrpSpPr>
          <p:cNvPr id="32" name="Group 32"/>
          <p:cNvGrpSpPr/>
          <p:nvPr/>
        </p:nvGrpSpPr>
        <p:grpSpPr>
          <a:xfrm>
            <a:off x="6438900" y="5276850"/>
            <a:ext cx="5372100" cy="952500"/>
            <a:chOff x="6438900" y="5276850"/>
            <a:chExt cx="5372100" cy="952500"/>
          </a:xfrm>
        </p:grpSpPr>
        <p:sp>
          <p:nvSpPr>
            <p:cNvPr id="29" name="Rectangle 29"/>
            <p:cNvSpPr/>
            <p:nvPr/>
          </p:nvSpPr>
          <p:spPr>
            <a:xfrm>
              <a:off x="6438900" y="5276850"/>
              <a:ext cx="5372100" cy="952500"/>
            </a:xfrm>
            <a:prstGeom prst="roundRect">
              <a:avLst>
                <a:gd name="adj" fmla="val 12000"/>
              </a:avLst>
            </a:prstGeom>
            <a:solidFill>
              <a:srgbClr val="FDECDD"/>
            </a:solidFill>
            <a:ln>
              <a:noFill/>
            </a:ln>
          </p:spPr>
        </p:sp>
        <p:sp>
          <p:nvSpPr>
            <p:cNvPr id="30" name="TextBox 30"/>
            <p:cNvSpPr txBox="1"/>
            <p:nvPr/>
          </p:nvSpPr>
          <p:spPr>
            <a:xfrm>
              <a:off x="6661404" y="5452110"/>
              <a:ext cx="1304544" cy="234696"/>
            </a:xfrm>
            <a:prstGeom prst="rect">
              <a:avLst/>
            </a:prstGeom>
            <a:noFill/>
            <a:ln>
              <a:noFill/>
            </a:ln>
          </p:spPr>
          <p:txBody>
            <a:bodyPr wrap="none" lIns="0" tIns="0" rIns="0" bIns="0" anchor="t" anchorCtr="0">
              <a:spAutoFit/>
            </a:bodyPr>
            <a:lstStyle/>
            <a:p>
              <a:pPr algn="l"/>
              <a:r>
                <a:rPr lang="zh-CN" sz="1200" b="1" dirty="0">
                  <a:solidFill>
                    <a:srgbClr val="C2410C"/>
                  </a:solidFill>
                  <a:latin typeface="+mn-lt"/>
                  <a:ea typeface="+mn-ea"/>
                  <a:cs typeface="+mn-cs"/>
                </a:rPr>
                <a:t>海洋不是单向碳汇</a:t>
              </a:r>
            </a:p>
          </p:txBody>
        </p:sp>
        <p:sp>
          <p:nvSpPr>
            <p:cNvPr id="31" name="TextBox 31"/>
            <p:cNvSpPr txBox="1"/>
            <p:nvPr/>
          </p:nvSpPr>
          <p:spPr>
            <a:xfrm>
              <a:off x="6661785" y="5726906"/>
              <a:ext cx="3026918" cy="429578"/>
            </a:xfrm>
            <a:prstGeom prst="rect">
              <a:avLst/>
            </a:prstGeom>
            <a:noFill/>
            <a:ln>
              <a:noFill/>
            </a:ln>
          </p:spPr>
          <p:txBody>
            <a:bodyPr wrap="none" lIns="0" tIns="0" rIns="0" bIns="0" anchor="t" anchorCtr="0">
              <a:spAutoFit/>
            </a:bodyPr>
            <a:lstStyle/>
            <a:p>
              <a:pPr algn="l">
                <a:lnSpc>
                  <a:spcPts val="1650"/>
                </a:lnSpc>
              </a:pPr>
              <a:r>
                <a:rPr lang="zh-CN" sz="1120" dirty="0">
                  <a:solidFill>
                    <a:srgbClr val="7A4A33"/>
                  </a:solidFill>
                  <a:latin typeface="+mn-lt"/>
                  <a:ea typeface="+mn-ea"/>
                  <a:cs typeface="+mn-cs"/>
                </a:rPr>
                <a:t>同一片海洋在不同区域，分别表现为</a:t>
              </a:r>
              <a:br/>
              <a:r>
                <a:rPr lang="zh-CN" sz="1120" dirty="0">
                  <a:solidFill>
                    <a:srgbClr val="7A4A33"/>
                  </a:solidFill>
                  <a:latin typeface="+mn-lt"/>
                  <a:ea typeface="+mn-ea"/>
                  <a:cs typeface="+mn-cs"/>
                </a:rPr>
                <a:t>碳源或碳汇——“海洋是碳汇”要限定区域与时段。</a:t>
              </a:r>
            </a:p>
          </p:txBody>
        </p:sp>
      </p:grpSp>
      <p:sp>
        <p:nvSpPr>
          <p:cNvPr id="33" name="TextBox 33"/>
          <p:cNvSpPr txBox="1"/>
          <p:nvPr/>
        </p:nvSpPr>
        <p:spPr>
          <a:xfrm>
            <a:off x="376238" y="6532245"/>
            <a:ext cx="7236108" cy="176212"/>
          </a:xfrm>
          <a:prstGeom prst="rect">
            <a:avLst/>
          </a:prstGeom>
          <a:noFill/>
          <a:ln>
            <a:noFill/>
          </a:ln>
        </p:spPr>
        <p:txBody>
          <a:bodyPr wrap="none" lIns="0" tIns="0" rIns="0" bIns="0" anchor="t" anchorCtr="0">
            <a:spAutoFit/>
          </a:bodyPr>
          <a:lstStyle/>
          <a:p>
            <a:pPr algn="l"/>
            <a:r>
              <a:rPr lang="zh-CN" sz="900" dirty="0">
                <a:solidFill>
                  <a:schemeClr val="accent5"/>
                </a:solidFill>
                <a:latin typeface="+mn-lt"/>
                <a:ea typeface="+mn-ea"/>
                <a:cs typeface="+mn-cs"/>
              </a:rPr>
              <a:t>Source: 地球系统与演变, Fig. 4-8, p.153 (PDF p.68); UE 8e, Ch.12, Atmosphere–Ocean Gas Exchange, PDF pp.1210–1211.</a:t>
            </a:r>
          </a:p>
        </p:txBody>
      </p:sp>
      <p:sp>
        <p:nvSpPr>
          <p:cNvPr id="34" name="TextBox 34"/>
          <p:cNvSpPr txBox="1"/>
          <p:nvPr/>
        </p:nvSpPr>
        <p:spPr>
          <a:xfrm>
            <a:off x="11672964" y="6532245"/>
            <a:ext cx="142799" cy="176212"/>
          </a:xfrm>
          <a:prstGeom prst="rect">
            <a:avLst/>
          </a:prstGeom>
          <a:noFill/>
          <a:ln>
            <a:noFill/>
          </a:ln>
        </p:spPr>
        <p:txBody>
          <a:bodyPr wrap="none" lIns="0" tIns="0" rIns="0" bIns="0" anchor="t" anchorCtr="0">
            <a:spAutoFit/>
          </a:bodyPr>
          <a:lstStyle/>
          <a:p>
            <a:pPr algn="r"/>
            <a:r>
              <a:rPr lang="zh-CN" sz="900" dirty="0">
                <a:solidFill>
                  <a:schemeClr val="accent5"/>
                </a:solidFill>
                <a:latin typeface="+mn-lt"/>
                <a:ea typeface="+mn-ea"/>
                <a:cs typeface="+mn-cs"/>
              </a:rPr>
              <a:t>26</a:t>
            </a:r>
          </a:p>
        </p:txBody>
      </p:sp>
    </p:spTree>
    <p:extLst>
      <p:ext uri="{BB962C8B-B14F-4D97-AF65-F5344CB8AC3E}">
        <p14:creationId xmlns:p14="http://schemas.microsoft.com/office/powerpoint/2010/main" val="3957399545"/>
      </p:ext>
    </p:extLst>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5"/>
          <p:cNvGrpSpPr/>
          <p:nvPr/>
        </p:nvGrpSpPr>
        <p:grpSpPr>
          <a:xfrm>
            <a:off x="0" y="0"/>
            <a:ext cx="12192000" cy="685800"/>
            <a:chOff x="0" y="0"/>
            <a:chExt cx="12192000" cy="685800"/>
          </a:xfrm>
        </p:grpSpPr>
        <p:sp>
          <p:nvSpPr>
            <p:cNvPr id="2" name="Rectangle 2"/>
            <p:cNvSpPr/>
            <p:nvPr/>
          </p:nvSpPr>
          <p:spPr>
            <a:xfrm>
              <a:off x="0" y="0"/>
              <a:ext cx="12192000" cy="685800"/>
            </a:xfrm>
            <a:prstGeom prst="rect">
              <a:avLst/>
            </a:prstGeom>
            <a:solidFill>
              <a:schemeClr val="accent1"/>
            </a:solidFill>
            <a:ln>
              <a:noFill/>
            </a:ln>
          </p:spPr>
        </p:sp>
        <p:sp>
          <p:nvSpPr>
            <p:cNvPr id="3" name="TextBox 3"/>
            <p:cNvSpPr txBox="1"/>
            <p:nvPr/>
          </p:nvSpPr>
          <p:spPr>
            <a:xfrm>
              <a:off x="374142" y="282892"/>
              <a:ext cx="4473581" cy="264033"/>
            </a:xfrm>
            <a:prstGeom prst="rect">
              <a:avLst/>
            </a:prstGeom>
            <a:noFill/>
            <a:ln>
              <a:noFill/>
            </a:ln>
          </p:spPr>
          <p:txBody>
            <a:bodyPr wrap="none" lIns="0" tIns="0" rIns="0" bIns="0" anchor="t" anchorCtr="0">
              <a:spAutoFit/>
            </a:bodyPr>
            <a:lstStyle/>
            <a:p>
              <a:pPr algn="l"/>
              <a:r>
                <a:rPr lang="zh-CN" sz="1350" b="1" dirty="0">
                  <a:solidFill>
                    <a:srgbClr val="FFFFFF"/>
                  </a:solidFill>
                  <a:latin typeface="+mn-lt"/>
                  <a:ea typeface="+mn-ea"/>
                  <a:cs typeface="+mn-cs"/>
                </a:rPr>
                <a:t>2.7 海洋如何把碳送入深处？ | Ocean Carbon Pumps</a:t>
              </a:r>
            </a:p>
          </p:txBody>
        </p:sp>
        <p:sp>
          <p:nvSpPr>
            <p:cNvPr id="4" name="TextBox 4"/>
            <p:cNvSpPr txBox="1"/>
            <p:nvPr/>
          </p:nvSpPr>
          <p:spPr>
            <a:xfrm>
              <a:off x="10686898" y="299085"/>
              <a:ext cx="1130198" cy="234696"/>
            </a:xfrm>
            <a:prstGeom prst="rect">
              <a:avLst/>
            </a:prstGeom>
            <a:noFill/>
            <a:ln>
              <a:noFill/>
            </a:ln>
          </p:spPr>
          <p:txBody>
            <a:bodyPr wrap="none" lIns="0" tIns="0" rIns="0" bIns="0" anchor="t" anchorCtr="0">
              <a:spAutoFit/>
            </a:bodyPr>
            <a:lstStyle/>
            <a:p>
              <a:pPr algn="r"/>
              <a:r>
                <a:rPr lang="zh-CN" sz="1200" dirty="0">
                  <a:solidFill>
                    <a:srgbClr val="C7D7F2"/>
                  </a:solidFill>
                  <a:latin typeface="+mn-lt"/>
                  <a:ea typeface="+mn-ea"/>
                  <a:cs typeface="+mn-cs"/>
                </a:rPr>
                <a:t>CARBON CYCLE</a:t>
              </a:r>
            </a:p>
          </p:txBody>
        </p:sp>
      </p:grpSp>
      <p:grpSp>
        <p:nvGrpSpPr>
          <p:cNvPr id="8" name="Group 8"/>
          <p:cNvGrpSpPr/>
          <p:nvPr/>
        </p:nvGrpSpPr>
        <p:grpSpPr>
          <a:xfrm>
            <a:off x="381000" y="914400"/>
            <a:ext cx="4858842" cy="357093"/>
            <a:chOff x="381000" y="914400"/>
            <a:chExt cx="4858842" cy="357093"/>
          </a:xfrm>
        </p:grpSpPr>
        <p:sp>
          <p:nvSpPr>
            <p:cNvPr id="6" name="Rectangle 6"/>
            <p:cNvSpPr/>
            <p:nvPr/>
          </p:nvSpPr>
          <p:spPr>
            <a:xfrm>
              <a:off x="381000" y="914400"/>
              <a:ext cx="57150" cy="266700"/>
            </a:xfrm>
            <a:prstGeom prst="roundRect">
              <a:avLst>
                <a:gd name="adj" fmla="val 50000"/>
              </a:avLst>
            </a:prstGeom>
            <a:solidFill>
              <a:schemeClr val="accent3"/>
            </a:solidFill>
            <a:ln>
              <a:noFill/>
            </a:ln>
          </p:spPr>
        </p:sp>
        <p:sp>
          <p:nvSpPr>
            <p:cNvPr id="7" name="TextBox 7"/>
            <p:cNvSpPr txBox="1"/>
            <p:nvPr/>
          </p:nvSpPr>
          <p:spPr>
            <a:xfrm>
              <a:off x="544449" y="963454"/>
              <a:ext cx="4695393" cy="308039"/>
            </a:xfrm>
            <a:prstGeom prst="rect">
              <a:avLst/>
            </a:prstGeom>
            <a:noFill/>
            <a:ln>
              <a:noFill/>
            </a:ln>
          </p:spPr>
          <p:txBody>
            <a:bodyPr wrap="none" lIns="0" tIns="0" rIns="0" bIns="0" anchor="t" anchorCtr="0">
              <a:spAutoFit/>
            </a:bodyPr>
            <a:lstStyle/>
            <a:p>
              <a:pPr algn="l"/>
              <a:r>
                <a:rPr lang="zh-CN" sz="1580" b="1" dirty="0">
                  <a:solidFill>
                    <a:srgbClr val="C2410C"/>
                  </a:solidFill>
                  <a:latin typeface="+mn-lt"/>
                  <a:ea typeface="+mn-ea"/>
                  <a:cs typeface="+mn-cs"/>
                </a:rPr>
                <a:t>物理泵与生物泵用不同机制，把表层碳输送到深海</a:t>
              </a:r>
            </a:p>
          </p:txBody>
        </p:sp>
      </p:grpSp>
      <p:grpSp>
        <p:nvGrpSpPr>
          <p:cNvPr id="59" name="Group 59"/>
          <p:cNvGrpSpPr/>
          <p:nvPr/>
        </p:nvGrpSpPr>
        <p:grpSpPr>
          <a:xfrm>
            <a:off x="381000" y="1428750"/>
            <a:ext cx="11430000" cy="4800600"/>
            <a:chOff x="381000" y="1428750"/>
            <a:chExt cx="11430000" cy="4800600"/>
          </a:xfrm>
        </p:grpSpPr>
        <p:sp>
          <p:nvSpPr>
            <p:cNvPr id="9" name="Rectangle 9"/>
            <p:cNvSpPr/>
            <p:nvPr/>
          </p:nvSpPr>
          <p:spPr>
            <a:xfrm>
              <a:off x="381000" y="1428750"/>
              <a:ext cx="11430000" cy="4800600"/>
            </a:xfrm>
            <a:prstGeom prst="roundRect">
              <a:avLst>
                <a:gd name="adj" fmla="val 2381"/>
              </a:avLst>
            </a:prstGeom>
            <a:solidFill>
              <a:schemeClr val="lt2"/>
            </a:solidFill>
            <a:ln w="9525">
              <a:solidFill>
                <a:schemeClr val="accent6"/>
              </a:solidFill>
            </a:ln>
          </p:spPr>
        </p:sp>
        <p:sp>
          <p:nvSpPr>
            <p:cNvPr id="10" name="Rectangle 10"/>
            <p:cNvSpPr/>
            <p:nvPr/>
          </p:nvSpPr>
          <p:spPr>
            <a:xfrm>
              <a:off x="552450" y="1600200"/>
              <a:ext cx="11087100" cy="666750"/>
            </a:xfrm>
            <a:prstGeom prst="roundRect">
              <a:avLst>
                <a:gd name="adj" fmla="val 14286"/>
              </a:avLst>
            </a:prstGeom>
            <a:solidFill>
              <a:srgbClr val="FDF4EF"/>
            </a:solidFill>
            <a:ln w="9525">
              <a:solidFill>
                <a:srgbClr val="F0CFC2"/>
              </a:solidFill>
            </a:ln>
          </p:spPr>
        </p:sp>
        <p:sp>
          <p:nvSpPr>
            <p:cNvPr id="11" name="TextBox 11"/>
            <p:cNvSpPr txBox="1"/>
            <p:nvPr/>
          </p:nvSpPr>
          <p:spPr>
            <a:xfrm>
              <a:off x="776097" y="1742599"/>
              <a:ext cx="1320569" cy="190690"/>
            </a:xfrm>
            <a:prstGeom prst="rect">
              <a:avLst/>
            </a:prstGeom>
            <a:noFill/>
            <a:ln>
              <a:noFill/>
            </a:ln>
          </p:spPr>
          <p:txBody>
            <a:bodyPr wrap="none" lIns="0" tIns="0" rIns="0" bIns="0" anchor="t" anchorCtr="0">
              <a:spAutoFit/>
            </a:bodyPr>
            <a:lstStyle/>
            <a:p>
              <a:pPr algn="l"/>
              <a:r>
                <a:rPr lang="zh-CN" sz="980" b="1" dirty="0">
                  <a:solidFill>
                    <a:srgbClr val="C2410C"/>
                  </a:solidFill>
                  <a:latin typeface="+mn-lt"/>
                  <a:ea typeface="+mn-ea"/>
                  <a:cs typeface="+mn-cs"/>
                </a:rPr>
                <a:t>ATMOSPHERE · 大气</a:t>
              </a:r>
            </a:p>
          </p:txBody>
        </p:sp>
        <p:sp>
          <p:nvSpPr>
            <p:cNvPr id="12" name="TextBox 12"/>
            <p:cNvSpPr txBox="1"/>
            <p:nvPr/>
          </p:nvSpPr>
          <p:spPr>
            <a:xfrm>
              <a:off x="5892587" y="1874996"/>
              <a:ext cx="406826" cy="278702"/>
            </a:xfrm>
            <a:prstGeom prst="rect">
              <a:avLst/>
            </a:prstGeom>
            <a:noFill/>
            <a:ln>
              <a:noFill/>
            </a:ln>
          </p:spPr>
          <p:txBody>
            <a:bodyPr wrap="none" lIns="0" tIns="0" rIns="0" bIns="0" anchor="t" anchorCtr="0">
              <a:spAutoFit/>
            </a:bodyPr>
            <a:lstStyle/>
            <a:p>
              <a:pPr algn="ctr"/>
              <a:r>
                <a:rPr lang="zh-CN" sz="1420" b="1" dirty="0">
                  <a:solidFill>
                    <a:srgbClr val="C2410C"/>
                  </a:solidFill>
                  <a:latin typeface="+mn-lt"/>
                  <a:ea typeface="+mn-ea"/>
                  <a:cs typeface="+mn-cs"/>
                </a:rPr>
                <a:t>CO₂</a:t>
              </a:r>
            </a:p>
          </p:txBody>
        </p:sp>
        <p:sp>
          <p:nvSpPr>
            <p:cNvPr id="13" name="Line 13"/>
            <p:cNvSpPr/>
            <p:nvPr/>
          </p:nvSpPr>
          <p:spPr>
            <a:xfrm>
              <a:off x="6096000" y="2095500"/>
              <a:ext cx="9525" cy="381000"/>
            </a:xfrm>
            <a:custGeom>
              <a:avLst/>
              <a:gdLst/>
              <a:ahLst/>
              <a:cxnLst/>
              <a:rect l="l" t="t" r="r" b="b"/>
              <a:pathLst>
                <a:path w="9525" h="381000">
                  <a:moveTo>
                    <a:pt x="0" y="0"/>
                  </a:moveTo>
                  <a:lnTo>
                    <a:pt x="0" y="381000"/>
                  </a:lnTo>
                </a:path>
              </a:pathLst>
            </a:custGeom>
            <a:noFill/>
            <a:ln w="38100">
              <a:solidFill>
                <a:schemeClr val="accent3"/>
              </a:solidFill>
            </a:ln>
          </p:spPr>
        </p:sp>
        <p:sp>
          <p:nvSpPr>
            <p:cNvPr id="14" name="Polygon 14"/>
            <p:cNvSpPr/>
            <p:nvPr/>
          </p:nvSpPr>
          <p:spPr>
            <a:xfrm>
              <a:off x="6010275" y="2400300"/>
              <a:ext cx="171450" cy="123825"/>
            </a:xfrm>
            <a:custGeom>
              <a:avLst/>
              <a:gdLst/>
              <a:ahLst/>
              <a:cxnLst/>
              <a:rect l="l" t="t" r="r" b="b"/>
              <a:pathLst>
                <a:path w="171450" h="123825">
                  <a:moveTo>
                    <a:pt x="0" y="0"/>
                  </a:moveTo>
                  <a:lnTo>
                    <a:pt x="85725" y="123825"/>
                  </a:lnTo>
                  <a:lnTo>
                    <a:pt x="171450" y="0"/>
                  </a:lnTo>
                  <a:close/>
                </a:path>
              </a:pathLst>
            </a:custGeom>
            <a:solidFill>
              <a:schemeClr val="accent3"/>
            </a:solidFill>
            <a:ln>
              <a:noFill/>
            </a:ln>
          </p:spPr>
        </p:sp>
        <p:sp>
          <p:nvSpPr>
            <p:cNvPr id="15" name="Rectangle 15"/>
            <p:cNvSpPr/>
            <p:nvPr/>
          </p:nvSpPr>
          <p:spPr>
            <a:xfrm>
              <a:off x="552450" y="2381250"/>
              <a:ext cx="11087100" cy="1295400"/>
            </a:xfrm>
            <a:prstGeom prst="rect">
              <a:avLst/>
            </a:prstGeom>
            <a:solidFill>
              <a:srgbClr val="F0F5FC"/>
            </a:solidFill>
            <a:ln>
              <a:noFill/>
            </a:ln>
          </p:spPr>
        </p:sp>
        <p:sp>
          <p:nvSpPr>
            <p:cNvPr id="16" name="Freeform 16"/>
            <p:cNvSpPr/>
            <p:nvPr/>
          </p:nvSpPr>
          <p:spPr>
            <a:xfrm>
              <a:off x="552450" y="2286000"/>
              <a:ext cx="11087100" cy="190500"/>
            </a:xfrm>
            <a:custGeom>
              <a:avLst/>
              <a:gdLst/>
              <a:ahLst/>
              <a:cxnLst/>
              <a:rect l="l" t="t" r="r" b="b"/>
              <a:pathLst>
                <a:path w="11087100" h="190500">
                  <a:moveTo>
                    <a:pt x="0" y="95250"/>
                  </a:moveTo>
                  <a:cubicBezTo>
                    <a:pt x="447675" y="0"/>
                    <a:pt x="895350" y="190500"/>
                    <a:pt x="1343025" y="95250"/>
                  </a:cubicBezTo>
                  <a:cubicBezTo>
                    <a:pt x="1790700" y="0"/>
                    <a:pt x="2238375" y="190500"/>
                    <a:pt x="2686050" y="95250"/>
                  </a:cubicBezTo>
                  <a:cubicBezTo>
                    <a:pt x="3133725" y="0"/>
                    <a:pt x="3581400" y="190500"/>
                    <a:pt x="4029075" y="95250"/>
                  </a:cubicBezTo>
                  <a:cubicBezTo>
                    <a:pt x="4476750" y="0"/>
                    <a:pt x="4924425" y="190500"/>
                    <a:pt x="5372100" y="95250"/>
                  </a:cubicBezTo>
                  <a:cubicBezTo>
                    <a:pt x="5819775" y="0"/>
                    <a:pt x="6267450" y="190500"/>
                    <a:pt x="6715125" y="95250"/>
                  </a:cubicBezTo>
                  <a:cubicBezTo>
                    <a:pt x="7162800" y="0"/>
                    <a:pt x="7610475" y="190500"/>
                    <a:pt x="8058150" y="95250"/>
                  </a:cubicBezTo>
                  <a:cubicBezTo>
                    <a:pt x="8505825" y="0"/>
                    <a:pt x="8953500" y="190500"/>
                    <a:pt x="9401175" y="95250"/>
                  </a:cubicBezTo>
                  <a:cubicBezTo>
                    <a:pt x="9848850" y="0"/>
                    <a:pt x="10296525" y="190500"/>
                    <a:pt x="10744200" y="95250"/>
                  </a:cubicBezTo>
                  <a:cubicBezTo>
                    <a:pt x="10877550" y="66675"/>
                    <a:pt x="10982325" y="66675"/>
                    <a:pt x="11087100" y="95250"/>
                  </a:cubicBezTo>
                </a:path>
              </a:pathLst>
            </a:custGeom>
            <a:noFill/>
            <a:ln w="38100">
              <a:solidFill>
                <a:srgbClr val="3D7BD9"/>
              </a:solidFill>
            </a:ln>
          </p:spPr>
        </p:sp>
        <p:sp>
          <p:nvSpPr>
            <p:cNvPr id="17" name="TextBox 17"/>
            <p:cNvSpPr txBox="1"/>
            <p:nvPr/>
          </p:nvSpPr>
          <p:spPr>
            <a:xfrm>
              <a:off x="776097" y="2580799"/>
              <a:ext cx="1774998" cy="190690"/>
            </a:xfrm>
            <a:prstGeom prst="rect">
              <a:avLst/>
            </a:prstGeom>
            <a:noFill/>
            <a:ln>
              <a:noFill/>
            </a:ln>
          </p:spPr>
          <p:txBody>
            <a:bodyPr wrap="none" lIns="0" tIns="0" rIns="0" bIns="0" anchor="t" anchorCtr="0">
              <a:spAutoFit/>
            </a:bodyPr>
            <a:lstStyle/>
            <a:p>
              <a:pPr algn="l"/>
              <a:r>
                <a:rPr lang="zh-CN" sz="980" b="1" dirty="0">
                  <a:solidFill>
                    <a:schemeClr val="accent2"/>
                  </a:solidFill>
                  <a:latin typeface="+mn-lt"/>
                  <a:ea typeface="+mn-ea"/>
                  <a:cs typeface="+mn-cs"/>
                </a:rPr>
                <a:t>SURFACE OCEAN · 表层海洋</a:t>
              </a:r>
            </a:p>
          </p:txBody>
        </p:sp>
        <p:sp>
          <p:nvSpPr>
            <p:cNvPr id="18" name="TextBox 18"/>
            <p:cNvSpPr txBox="1"/>
            <p:nvPr/>
          </p:nvSpPr>
          <p:spPr>
            <a:xfrm>
              <a:off x="4658328" y="2850356"/>
              <a:ext cx="2875344" cy="220028"/>
            </a:xfrm>
            <a:prstGeom prst="rect">
              <a:avLst/>
            </a:prstGeom>
            <a:noFill/>
            <a:ln>
              <a:noFill/>
            </a:ln>
          </p:spPr>
          <p:txBody>
            <a:bodyPr wrap="none" lIns="0" tIns="0" rIns="0" bIns="0" anchor="t" anchorCtr="0">
              <a:spAutoFit/>
            </a:bodyPr>
            <a:lstStyle/>
            <a:p>
              <a:pPr algn="ctr"/>
              <a:r>
                <a:rPr lang="zh-CN" sz="1120" dirty="0">
                  <a:solidFill>
                    <a:schemeClr val="dk1"/>
                  </a:solidFill>
                  <a:latin typeface="+mn-lt"/>
                  <a:ea typeface="+mn-ea"/>
                  <a:cs typeface="+mn-cs"/>
                </a:rPr>
                <a:t>溶解无机碳 · Dissolved inorganic carbon</a:t>
              </a:r>
            </a:p>
          </p:txBody>
        </p:sp>
        <p:sp>
          <p:nvSpPr>
            <p:cNvPr id="19" name="Rectangle 19"/>
            <p:cNvSpPr/>
            <p:nvPr/>
          </p:nvSpPr>
          <p:spPr>
            <a:xfrm>
              <a:off x="552450" y="3676650"/>
              <a:ext cx="11087100" cy="1847850"/>
            </a:xfrm>
            <a:prstGeom prst="rect">
              <a:avLst/>
            </a:prstGeom>
            <a:solidFill>
              <a:srgbClr val="DCEAF8"/>
            </a:solidFill>
            <a:ln>
              <a:noFill/>
            </a:ln>
          </p:spPr>
        </p:sp>
        <p:sp>
          <p:nvSpPr>
            <p:cNvPr id="20" name="TextBox 20"/>
            <p:cNvSpPr txBox="1"/>
            <p:nvPr/>
          </p:nvSpPr>
          <p:spPr>
            <a:xfrm>
              <a:off x="776097" y="3876199"/>
              <a:ext cx="1254705" cy="190690"/>
            </a:xfrm>
            <a:prstGeom prst="rect">
              <a:avLst/>
            </a:prstGeom>
            <a:noFill/>
            <a:ln>
              <a:noFill/>
            </a:ln>
          </p:spPr>
          <p:txBody>
            <a:bodyPr wrap="none" lIns="0" tIns="0" rIns="0" bIns="0" anchor="t" anchorCtr="0">
              <a:spAutoFit/>
            </a:bodyPr>
            <a:lstStyle/>
            <a:p>
              <a:pPr algn="l"/>
              <a:r>
                <a:rPr lang="zh-CN" sz="980" b="1" dirty="0">
                  <a:solidFill>
                    <a:schemeClr val="accent2"/>
                  </a:solidFill>
                  <a:latin typeface="+mn-lt"/>
                  <a:ea typeface="+mn-ea"/>
                  <a:cs typeface="+mn-cs"/>
                </a:rPr>
                <a:t>DEEP OCEAN · 深海</a:t>
              </a:r>
            </a:p>
          </p:txBody>
        </p:sp>
        <p:sp>
          <p:nvSpPr>
            <p:cNvPr id="21" name="TextBox 21"/>
            <p:cNvSpPr txBox="1"/>
            <p:nvPr/>
          </p:nvSpPr>
          <p:spPr>
            <a:xfrm>
              <a:off x="4563985" y="5152549"/>
              <a:ext cx="3064030" cy="190690"/>
            </a:xfrm>
            <a:prstGeom prst="rect">
              <a:avLst/>
            </a:prstGeom>
            <a:noFill/>
            <a:ln>
              <a:noFill/>
            </a:ln>
          </p:spPr>
          <p:txBody>
            <a:bodyPr wrap="none" lIns="0" tIns="0" rIns="0" bIns="0" anchor="t" anchorCtr="0">
              <a:spAutoFit/>
            </a:bodyPr>
            <a:lstStyle/>
            <a:p>
              <a:pPr algn="ctr"/>
              <a:r>
                <a:rPr lang="zh-CN" sz="980" dirty="0">
                  <a:solidFill>
                    <a:schemeClr val="accent5"/>
                  </a:solidFill>
                  <a:latin typeface="+mn-lt"/>
                  <a:ea typeface="+mn-ea"/>
                  <a:cs typeface="+mn-cs"/>
                </a:rPr>
                <a:t>深层水无机碳浓度约比表层高 15%（教材支持事实）</a:t>
              </a:r>
            </a:p>
          </p:txBody>
        </p:sp>
        <p:sp>
          <p:nvSpPr>
            <p:cNvPr id="22" name="Rectangle 22"/>
            <p:cNvSpPr/>
            <p:nvPr/>
          </p:nvSpPr>
          <p:spPr>
            <a:xfrm>
              <a:off x="552450" y="5524500"/>
              <a:ext cx="11087100" cy="533400"/>
            </a:xfrm>
            <a:prstGeom prst="rect">
              <a:avLst/>
            </a:prstGeom>
            <a:solidFill>
              <a:srgbClr val="E8DED7"/>
            </a:solidFill>
            <a:ln>
              <a:noFill/>
            </a:ln>
          </p:spPr>
        </p:sp>
        <p:sp>
          <p:nvSpPr>
            <p:cNvPr id="23" name="TextBox 23"/>
            <p:cNvSpPr txBox="1"/>
            <p:nvPr/>
          </p:nvSpPr>
          <p:spPr>
            <a:xfrm>
              <a:off x="776097" y="5733574"/>
              <a:ext cx="1680209" cy="190690"/>
            </a:xfrm>
            <a:prstGeom prst="rect">
              <a:avLst/>
            </a:prstGeom>
            <a:noFill/>
            <a:ln>
              <a:noFill/>
            </a:ln>
          </p:spPr>
          <p:txBody>
            <a:bodyPr wrap="none" lIns="0" tIns="0" rIns="0" bIns="0" anchor="t" anchorCtr="0">
              <a:spAutoFit/>
            </a:bodyPr>
            <a:lstStyle/>
            <a:p>
              <a:pPr algn="l"/>
              <a:r>
                <a:rPr lang="zh-CN" sz="980" b="1" dirty="0">
                  <a:solidFill>
                    <a:srgbClr val="7A4A33"/>
                  </a:solidFill>
                  <a:latin typeface="+mn-lt"/>
                  <a:ea typeface="+mn-ea"/>
                  <a:cs typeface="+mn-cs"/>
                </a:rPr>
                <a:t>SEDIMENT · 沉积物 / 岩石</a:t>
              </a:r>
            </a:p>
          </p:txBody>
        </p:sp>
        <p:grpSp>
          <p:nvGrpSpPr>
            <p:cNvPr id="34" name="Group 34"/>
            <p:cNvGrpSpPr/>
            <p:nvPr/>
          </p:nvGrpSpPr>
          <p:grpSpPr>
            <a:xfrm>
              <a:off x="781050" y="2800350"/>
              <a:ext cx="2857500" cy="2295239"/>
              <a:chOff x="781050" y="2800350"/>
              <a:chExt cx="2857500" cy="2295239"/>
            </a:xfrm>
          </p:grpSpPr>
          <p:sp>
            <p:nvSpPr>
              <p:cNvPr id="24" name="Rectangle 24"/>
              <p:cNvSpPr/>
              <p:nvPr/>
            </p:nvSpPr>
            <p:spPr>
              <a:xfrm>
                <a:off x="781050" y="2800350"/>
                <a:ext cx="2857500" cy="666750"/>
              </a:xfrm>
              <a:prstGeom prst="roundRect">
                <a:avLst>
                  <a:gd name="adj" fmla="val 17143"/>
                </a:avLst>
              </a:prstGeom>
              <a:solidFill>
                <a:schemeClr val="lt1"/>
              </a:solidFill>
              <a:ln w="9525">
                <a:solidFill>
                  <a:srgbClr val="B8C7DC"/>
                </a:solidFill>
              </a:ln>
            </p:spPr>
          </p:sp>
          <p:sp>
            <p:nvSpPr>
              <p:cNvPr id="25" name="Ellipse 25"/>
              <p:cNvSpPr/>
              <p:nvPr/>
            </p:nvSpPr>
            <p:spPr>
              <a:xfrm>
                <a:off x="895350" y="2962275"/>
                <a:ext cx="342900" cy="342900"/>
              </a:xfrm>
              <a:prstGeom prst="ellipse">
                <a:avLst/>
              </a:prstGeom>
              <a:solidFill>
                <a:schemeClr val="accent2"/>
              </a:solidFill>
              <a:ln>
                <a:noFill/>
              </a:ln>
            </p:spPr>
          </p:sp>
          <p:sp>
            <p:nvSpPr>
              <p:cNvPr id="26" name="TextBox 26"/>
              <p:cNvSpPr txBox="1"/>
              <p:nvPr/>
            </p:nvSpPr>
            <p:spPr>
              <a:xfrm>
                <a:off x="1014058" y="3061335"/>
                <a:ext cx="105484" cy="234696"/>
              </a:xfrm>
              <a:prstGeom prst="rect">
                <a:avLst/>
              </a:prstGeom>
              <a:noFill/>
              <a:ln>
                <a:noFill/>
              </a:ln>
            </p:spPr>
            <p:txBody>
              <a:bodyPr wrap="none" lIns="0" tIns="0" rIns="0" bIns="0" anchor="t" anchorCtr="0">
                <a:spAutoFit/>
              </a:bodyPr>
              <a:lstStyle/>
              <a:p>
                <a:pPr algn="ctr"/>
                <a:r>
                  <a:rPr lang="zh-CN" sz="1200" b="1" dirty="0">
                    <a:solidFill>
                      <a:srgbClr val="FFFFFF"/>
                    </a:solidFill>
                    <a:latin typeface="+mn-lt"/>
                    <a:ea typeface="+mn-ea"/>
                    <a:cs typeface="+mn-cs"/>
                  </a:rPr>
                  <a:t>1</a:t>
                </a:r>
              </a:p>
            </p:txBody>
          </p:sp>
          <p:sp>
            <p:nvSpPr>
              <p:cNvPr id="27" name="TextBox 27"/>
              <p:cNvSpPr txBox="1"/>
              <p:nvPr/>
            </p:nvSpPr>
            <p:spPr>
              <a:xfrm>
                <a:off x="1346454" y="2937510"/>
                <a:ext cx="1777270" cy="234696"/>
              </a:xfrm>
              <a:prstGeom prst="rect">
                <a:avLst/>
              </a:prstGeom>
              <a:noFill/>
              <a:ln>
                <a:noFill/>
              </a:ln>
            </p:spPr>
            <p:txBody>
              <a:bodyPr wrap="none" lIns="0" tIns="0" rIns="0" bIns="0" anchor="t" anchorCtr="0">
                <a:spAutoFit/>
              </a:bodyPr>
              <a:lstStyle/>
              <a:p>
                <a:pPr algn="l"/>
                <a:r>
                  <a:rPr lang="zh-CN" sz="1200" b="1" dirty="0">
                    <a:solidFill>
                      <a:schemeClr val="accent1"/>
                    </a:solidFill>
                    <a:latin typeface="+mn-lt"/>
                    <a:ea typeface="+mn-ea"/>
                    <a:cs typeface="+mn-cs"/>
                  </a:rPr>
                  <a:t>物理泵 | Physical pump</a:t>
                </a:r>
              </a:p>
            </p:txBody>
          </p:sp>
          <p:sp>
            <p:nvSpPr>
              <p:cNvPr id="28" name="TextBox 28"/>
              <p:cNvSpPr txBox="1"/>
              <p:nvPr/>
            </p:nvSpPr>
            <p:spPr>
              <a:xfrm>
                <a:off x="1346835" y="3183731"/>
                <a:ext cx="1391016" cy="220028"/>
              </a:xfrm>
              <a:prstGeom prst="rect">
                <a:avLst/>
              </a:prstGeom>
              <a:noFill/>
              <a:ln>
                <a:noFill/>
              </a:ln>
            </p:spPr>
            <p:txBody>
              <a:bodyPr wrap="none" lIns="0" tIns="0" rIns="0" bIns="0" anchor="t" anchorCtr="0">
                <a:spAutoFit/>
              </a:bodyPr>
              <a:lstStyle/>
              <a:p>
                <a:pPr algn="l"/>
                <a:r>
                  <a:rPr lang="zh-CN" sz="1120" dirty="0">
                    <a:solidFill>
                      <a:schemeClr val="dk1"/>
                    </a:solidFill>
                    <a:latin typeface="+mn-lt"/>
                    <a:ea typeface="+mn-ea"/>
                    <a:cs typeface="+mn-cs"/>
                  </a:rPr>
                  <a:t>低温溶解 · 环流下沉</a:t>
                </a:r>
              </a:p>
            </p:txBody>
          </p:sp>
          <p:sp>
            <p:nvSpPr>
              <p:cNvPr id="29" name="Line 29"/>
              <p:cNvSpPr/>
              <p:nvPr/>
            </p:nvSpPr>
            <p:spPr>
              <a:xfrm>
                <a:off x="2209800" y="3467100"/>
                <a:ext cx="9525" cy="1219200"/>
              </a:xfrm>
              <a:custGeom>
                <a:avLst/>
                <a:gdLst/>
                <a:ahLst/>
                <a:cxnLst/>
                <a:rect l="l" t="t" r="r" b="b"/>
                <a:pathLst>
                  <a:path w="9525" h="1219200">
                    <a:moveTo>
                      <a:pt x="0" y="0"/>
                    </a:moveTo>
                    <a:lnTo>
                      <a:pt x="0" y="1219200"/>
                    </a:lnTo>
                  </a:path>
                </a:pathLst>
              </a:custGeom>
              <a:noFill/>
              <a:ln w="57150">
                <a:solidFill>
                  <a:schemeClr val="accent2"/>
                </a:solidFill>
              </a:ln>
            </p:spPr>
          </p:sp>
          <p:sp>
            <p:nvSpPr>
              <p:cNvPr id="30" name="Polygon 30"/>
              <p:cNvSpPr/>
              <p:nvPr/>
            </p:nvSpPr>
            <p:spPr>
              <a:xfrm>
                <a:off x="2095500" y="4572000"/>
                <a:ext cx="228600" cy="190500"/>
              </a:xfrm>
              <a:custGeom>
                <a:avLst/>
                <a:gdLst/>
                <a:ahLst/>
                <a:cxnLst/>
                <a:rect l="l" t="t" r="r" b="b"/>
                <a:pathLst>
                  <a:path w="228600" h="190500">
                    <a:moveTo>
                      <a:pt x="0" y="0"/>
                    </a:moveTo>
                    <a:lnTo>
                      <a:pt x="114300" y="190500"/>
                    </a:lnTo>
                    <a:lnTo>
                      <a:pt x="228600" y="0"/>
                    </a:lnTo>
                    <a:close/>
                  </a:path>
                </a:pathLst>
              </a:custGeom>
              <a:solidFill>
                <a:schemeClr val="accent2"/>
              </a:solidFill>
              <a:ln>
                <a:noFill/>
              </a:ln>
            </p:spPr>
          </p:sp>
          <p:sp>
            <p:nvSpPr>
              <p:cNvPr id="31" name="Freeform 31"/>
              <p:cNvSpPr/>
              <p:nvPr/>
            </p:nvSpPr>
            <p:spPr>
              <a:xfrm>
                <a:off x="2209800" y="4686300"/>
                <a:ext cx="1162050" cy="361950"/>
              </a:xfrm>
              <a:custGeom>
                <a:avLst/>
                <a:gdLst/>
                <a:ahLst/>
                <a:cxnLst/>
                <a:rect l="l" t="t" r="r" b="b"/>
                <a:pathLst>
                  <a:path w="1162050" h="361950">
                    <a:moveTo>
                      <a:pt x="0" y="76200"/>
                    </a:moveTo>
                    <a:cubicBezTo>
                      <a:pt x="361950" y="361950"/>
                      <a:pt x="838200" y="361950"/>
                      <a:pt x="1162050" y="0"/>
                    </a:cubicBezTo>
                  </a:path>
                </a:pathLst>
              </a:custGeom>
              <a:noFill/>
              <a:ln w="38100">
                <a:solidFill>
                  <a:srgbClr val="3D7BD9"/>
                </a:solidFill>
              </a:ln>
            </p:spPr>
          </p:sp>
          <p:sp>
            <p:nvSpPr>
              <p:cNvPr id="32" name="Polygon 32"/>
              <p:cNvSpPr/>
              <p:nvPr/>
            </p:nvSpPr>
            <p:spPr>
              <a:xfrm>
                <a:off x="3286125" y="4629150"/>
                <a:ext cx="133350" cy="142875"/>
              </a:xfrm>
              <a:custGeom>
                <a:avLst/>
                <a:gdLst/>
                <a:ahLst/>
                <a:cxnLst/>
                <a:rect l="l" t="t" r="r" b="b"/>
                <a:pathLst>
                  <a:path w="133350" h="142875">
                    <a:moveTo>
                      <a:pt x="0" y="66675"/>
                    </a:moveTo>
                    <a:lnTo>
                      <a:pt x="133350" y="0"/>
                    </a:lnTo>
                    <a:lnTo>
                      <a:pt x="85725" y="142875"/>
                    </a:lnTo>
                    <a:close/>
                  </a:path>
                </a:pathLst>
              </a:custGeom>
              <a:solidFill>
                <a:srgbClr val="3D7BD9"/>
              </a:solidFill>
              <a:ln>
                <a:noFill/>
              </a:ln>
            </p:spPr>
          </p:sp>
          <p:sp>
            <p:nvSpPr>
              <p:cNvPr id="33" name="TextBox 33"/>
              <p:cNvSpPr txBox="1"/>
              <p:nvPr/>
            </p:nvSpPr>
            <p:spPr>
              <a:xfrm>
                <a:off x="966597" y="4904899"/>
                <a:ext cx="1764543" cy="190690"/>
              </a:xfrm>
              <a:prstGeom prst="rect">
                <a:avLst/>
              </a:prstGeom>
              <a:noFill/>
              <a:ln>
                <a:noFill/>
              </a:ln>
            </p:spPr>
            <p:txBody>
              <a:bodyPr wrap="none" lIns="0" tIns="0" rIns="0" bIns="0" anchor="t" anchorCtr="0">
                <a:spAutoFit/>
              </a:bodyPr>
              <a:lstStyle/>
              <a:p>
                <a:pPr algn="l"/>
                <a:r>
                  <a:rPr lang="zh-CN" sz="980" dirty="0">
                    <a:solidFill>
                      <a:schemeClr val="accent5"/>
                    </a:solidFill>
                    <a:latin typeface="+mn-lt"/>
                    <a:ea typeface="+mn-ea"/>
                    <a:cs typeface="+mn-cs"/>
                  </a:rPr>
                  <a:t>冷却 → 溶解度上升 → 深水形成</a:t>
                </a:r>
              </a:p>
            </p:txBody>
          </p:sp>
        </p:grpSp>
        <p:grpSp>
          <p:nvGrpSpPr>
            <p:cNvPr id="46" name="Group 46"/>
            <p:cNvGrpSpPr/>
            <p:nvPr/>
          </p:nvGrpSpPr>
          <p:grpSpPr>
            <a:xfrm>
              <a:off x="4514850" y="2800350"/>
              <a:ext cx="2857500" cy="2295239"/>
              <a:chOff x="4514850" y="2800350"/>
              <a:chExt cx="2857500" cy="2295239"/>
            </a:xfrm>
          </p:grpSpPr>
          <p:sp>
            <p:nvSpPr>
              <p:cNvPr id="35" name="Rectangle 35"/>
              <p:cNvSpPr/>
              <p:nvPr/>
            </p:nvSpPr>
            <p:spPr>
              <a:xfrm>
                <a:off x="4514850" y="2800350"/>
                <a:ext cx="2857500" cy="666750"/>
              </a:xfrm>
              <a:prstGeom prst="roundRect">
                <a:avLst>
                  <a:gd name="adj" fmla="val 17143"/>
                </a:avLst>
              </a:prstGeom>
              <a:solidFill>
                <a:schemeClr val="lt1"/>
              </a:solidFill>
              <a:ln w="9525">
                <a:solidFill>
                  <a:srgbClr val="F0CFC2"/>
                </a:solidFill>
              </a:ln>
            </p:spPr>
          </p:sp>
          <p:sp>
            <p:nvSpPr>
              <p:cNvPr id="36" name="Ellipse 36"/>
              <p:cNvSpPr/>
              <p:nvPr/>
            </p:nvSpPr>
            <p:spPr>
              <a:xfrm>
                <a:off x="4629150" y="2962275"/>
                <a:ext cx="342900" cy="342900"/>
              </a:xfrm>
              <a:prstGeom prst="ellipse">
                <a:avLst/>
              </a:prstGeom>
              <a:solidFill>
                <a:schemeClr val="accent3"/>
              </a:solidFill>
              <a:ln>
                <a:noFill/>
              </a:ln>
            </p:spPr>
          </p:sp>
          <p:sp>
            <p:nvSpPr>
              <p:cNvPr id="37" name="TextBox 37"/>
              <p:cNvSpPr txBox="1"/>
              <p:nvPr/>
            </p:nvSpPr>
            <p:spPr>
              <a:xfrm>
                <a:off x="4747858" y="3061335"/>
                <a:ext cx="105484" cy="234696"/>
              </a:xfrm>
              <a:prstGeom prst="rect">
                <a:avLst/>
              </a:prstGeom>
              <a:noFill/>
              <a:ln>
                <a:noFill/>
              </a:ln>
            </p:spPr>
            <p:txBody>
              <a:bodyPr wrap="none" lIns="0" tIns="0" rIns="0" bIns="0" anchor="t" anchorCtr="0">
                <a:spAutoFit/>
              </a:bodyPr>
              <a:lstStyle/>
              <a:p>
                <a:pPr algn="ctr"/>
                <a:r>
                  <a:rPr lang="zh-CN" sz="1200" b="1" dirty="0">
                    <a:solidFill>
                      <a:srgbClr val="FFFFFF"/>
                    </a:solidFill>
                    <a:latin typeface="+mn-lt"/>
                    <a:ea typeface="+mn-ea"/>
                    <a:cs typeface="+mn-cs"/>
                  </a:rPr>
                  <a:t>2</a:t>
                </a:r>
              </a:p>
            </p:txBody>
          </p:sp>
          <p:sp>
            <p:nvSpPr>
              <p:cNvPr id="38" name="TextBox 38"/>
              <p:cNvSpPr txBox="1"/>
              <p:nvPr/>
            </p:nvSpPr>
            <p:spPr>
              <a:xfrm>
                <a:off x="5080254" y="2937510"/>
                <a:ext cx="1878270" cy="234696"/>
              </a:xfrm>
              <a:prstGeom prst="rect">
                <a:avLst/>
              </a:prstGeom>
              <a:noFill/>
              <a:ln>
                <a:noFill/>
              </a:ln>
            </p:spPr>
            <p:txBody>
              <a:bodyPr wrap="none" lIns="0" tIns="0" rIns="0" bIns="0" anchor="t" anchorCtr="0">
                <a:spAutoFit/>
              </a:bodyPr>
              <a:lstStyle/>
              <a:p>
                <a:pPr algn="l"/>
                <a:r>
                  <a:rPr lang="zh-CN" sz="1200" b="1" dirty="0">
                    <a:solidFill>
                      <a:srgbClr val="C2410C"/>
                    </a:solidFill>
                    <a:latin typeface="+mn-lt"/>
                    <a:ea typeface="+mn-ea"/>
                    <a:cs typeface="+mn-cs"/>
                  </a:rPr>
                  <a:t>生物泵 | Biological pump</a:t>
                </a:r>
              </a:p>
            </p:txBody>
          </p:sp>
          <p:sp>
            <p:nvSpPr>
              <p:cNvPr id="39" name="TextBox 39"/>
              <p:cNvSpPr txBox="1"/>
              <p:nvPr/>
            </p:nvSpPr>
            <p:spPr>
              <a:xfrm>
                <a:off x="5080635" y="3183731"/>
                <a:ext cx="2167504" cy="220028"/>
              </a:xfrm>
              <a:prstGeom prst="rect">
                <a:avLst/>
              </a:prstGeom>
              <a:noFill/>
              <a:ln>
                <a:noFill/>
              </a:ln>
            </p:spPr>
            <p:txBody>
              <a:bodyPr wrap="none" lIns="0" tIns="0" rIns="0" bIns="0" anchor="t" anchorCtr="0">
                <a:spAutoFit/>
              </a:bodyPr>
              <a:lstStyle/>
              <a:p>
                <a:pPr algn="l"/>
                <a:r>
                  <a:rPr lang="zh-CN" sz="1120" dirty="0">
                    <a:solidFill>
                      <a:schemeClr val="dk1"/>
                    </a:solidFill>
                    <a:latin typeface="+mn-lt"/>
                    <a:ea typeface="+mn-ea"/>
                    <a:cs typeface="+mn-cs"/>
                  </a:rPr>
                  <a:t>光合作用 · 颗粒下沉 · 深处分解</a:t>
                </a:r>
              </a:p>
            </p:txBody>
          </p:sp>
          <p:sp>
            <p:nvSpPr>
              <p:cNvPr id="40" name="Ellipse 40"/>
              <p:cNvSpPr/>
              <p:nvPr/>
            </p:nvSpPr>
            <p:spPr>
              <a:xfrm>
                <a:off x="5553075" y="3743325"/>
                <a:ext cx="133350" cy="133350"/>
              </a:xfrm>
              <a:prstGeom prst="ellipse">
                <a:avLst/>
              </a:prstGeom>
              <a:solidFill>
                <a:schemeClr val="accent3"/>
              </a:solidFill>
              <a:ln>
                <a:noFill/>
              </a:ln>
            </p:spPr>
          </p:sp>
          <p:sp>
            <p:nvSpPr>
              <p:cNvPr id="41" name="Ellipse 41"/>
              <p:cNvSpPr/>
              <p:nvPr/>
            </p:nvSpPr>
            <p:spPr>
              <a:xfrm>
                <a:off x="5915025" y="3952875"/>
                <a:ext cx="95250" cy="95250"/>
              </a:xfrm>
              <a:prstGeom prst="ellipse">
                <a:avLst/>
              </a:prstGeom>
              <a:solidFill>
                <a:schemeClr val="accent3"/>
              </a:solidFill>
              <a:ln>
                <a:noFill/>
              </a:ln>
            </p:spPr>
          </p:sp>
          <p:sp>
            <p:nvSpPr>
              <p:cNvPr id="42" name="Ellipse 42"/>
              <p:cNvSpPr/>
              <p:nvPr/>
            </p:nvSpPr>
            <p:spPr>
              <a:xfrm>
                <a:off x="6229350" y="3724275"/>
                <a:ext cx="114300" cy="114300"/>
              </a:xfrm>
              <a:prstGeom prst="ellipse">
                <a:avLst/>
              </a:prstGeom>
              <a:solidFill>
                <a:schemeClr val="accent3"/>
              </a:solidFill>
              <a:ln>
                <a:noFill/>
              </a:ln>
            </p:spPr>
          </p:sp>
          <p:sp>
            <p:nvSpPr>
              <p:cNvPr id="43" name="Line 43"/>
              <p:cNvSpPr/>
              <p:nvPr/>
            </p:nvSpPr>
            <p:spPr>
              <a:xfrm>
                <a:off x="5962650" y="3581400"/>
                <a:ext cx="9525" cy="1181100"/>
              </a:xfrm>
              <a:custGeom>
                <a:avLst/>
                <a:gdLst/>
                <a:ahLst/>
                <a:cxnLst/>
                <a:rect l="l" t="t" r="r" b="b"/>
                <a:pathLst>
                  <a:path w="9525" h="1181100">
                    <a:moveTo>
                      <a:pt x="0" y="0"/>
                    </a:moveTo>
                    <a:lnTo>
                      <a:pt x="0" y="1181100"/>
                    </a:lnTo>
                  </a:path>
                </a:pathLst>
              </a:custGeom>
              <a:noFill/>
              <a:ln w="47625">
                <a:solidFill>
                  <a:schemeClr val="accent3"/>
                </a:solidFill>
              </a:ln>
            </p:spPr>
          </p:sp>
          <p:sp>
            <p:nvSpPr>
              <p:cNvPr id="44" name="Polygon 44"/>
              <p:cNvSpPr/>
              <p:nvPr/>
            </p:nvSpPr>
            <p:spPr>
              <a:xfrm>
                <a:off x="5857875" y="4648200"/>
                <a:ext cx="209550" cy="180975"/>
              </a:xfrm>
              <a:custGeom>
                <a:avLst/>
                <a:gdLst/>
                <a:ahLst/>
                <a:cxnLst/>
                <a:rect l="l" t="t" r="r" b="b"/>
                <a:pathLst>
                  <a:path w="209550" h="180975">
                    <a:moveTo>
                      <a:pt x="0" y="0"/>
                    </a:moveTo>
                    <a:lnTo>
                      <a:pt x="104775" y="180975"/>
                    </a:lnTo>
                    <a:lnTo>
                      <a:pt x="209550" y="0"/>
                    </a:lnTo>
                    <a:close/>
                  </a:path>
                </a:pathLst>
              </a:custGeom>
              <a:solidFill>
                <a:schemeClr val="accent3"/>
              </a:solidFill>
              <a:ln>
                <a:noFill/>
              </a:ln>
            </p:spPr>
          </p:sp>
          <p:sp>
            <p:nvSpPr>
              <p:cNvPr id="45" name="TextBox 45"/>
              <p:cNvSpPr txBox="1"/>
              <p:nvPr/>
            </p:nvSpPr>
            <p:spPr>
              <a:xfrm>
                <a:off x="4700397" y="4904899"/>
                <a:ext cx="2142653" cy="190690"/>
              </a:xfrm>
              <a:prstGeom prst="rect">
                <a:avLst/>
              </a:prstGeom>
              <a:noFill/>
              <a:ln>
                <a:noFill/>
              </a:ln>
            </p:spPr>
            <p:txBody>
              <a:bodyPr wrap="none" lIns="0" tIns="0" rIns="0" bIns="0" anchor="t" anchorCtr="0">
                <a:spAutoFit/>
              </a:bodyPr>
              <a:lstStyle/>
              <a:p>
                <a:pPr algn="l"/>
                <a:r>
                  <a:rPr lang="zh-CN" sz="980" dirty="0">
                    <a:solidFill>
                      <a:schemeClr val="accent5"/>
                    </a:solidFill>
                    <a:latin typeface="+mn-lt"/>
                    <a:ea typeface="+mn-ea"/>
                    <a:cs typeface="+mn-cs"/>
                  </a:rPr>
                  <a:t>CO₂ → 有机碳 → 颗粒下沉 → 再矿化</a:t>
                </a:r>
              </a:p>
            </p:txBody>
          </p:sp>
        </p:grpSp>
        <p:grpSp>
          <p:nvGrpSpPr>
            <p:cNvPr id="58" name="Group 58"/>
            <p:cNvGrpSpPr/>
            <p:nvPr/>
          </p:nvGrpSpPr>
          <p:grpSpPr>
            <a:xfrm>
              <a:off x="8248650" y="2800350"/>
              <a:ext cx="3162300" cy="3105150"/>
              <a:chOff x="8248650" y="2800350"/>
              <a:chExt cx="3162300" cy="3105150"/>
            </a:xfrm>
          </p:grpSpPr>
          <p:sp>
            <p:nvSpPr>
              <p:cNvPr id="47" name="Rectangle 47"/>
              <p:cNvSpPr/>
              <p:nvPr/>
            </p:nvSpPr>
            <p:spPr>
              <a:xfrm>
                <a:off x="8248650" y="2800350"/>
                <a:ext cx="3162300" cy="666750"/>
              </a:xfrm>
              <a:prstGeom prst="roundRect">
                <a:avLst>
                  <a:gd name="adj" fmla="val 17143"/>
                </a:avLst>
              </a:prstGeom>
              <a:solidFill>
                <a:schemeClr val="lt1"/>
              </a:solidFill>
              <a:ln w="9525">
                <a:solidFill>
                  <a:srgbClr val="F0CFC2"/>
                </a:solidFill>
              </a:ln>
            </p:spPr>
          </p:sp>
          <p:sp>
            <p:nvSpPr>
              <p:cNvPr id="48" name="Ellipse 48"/>
              <p:cNvSpPr/>
              <p:nvPr/>
            </p:nvSpPr>
            <p:spPr>
              <a:xfrm>
                <a:off x="8362950" y="2962275"/>
                <a:ext cx="342900" cy="342900"/>
              </a:xfrm>
              <a:prstGeom prst="ellipse">
                <a:avLst/>
              </a:prstGeom>
              <a:solidFill>
                <a:srgbClr val="C2410C"/>
              </a:solidFill>
              <a:ln>
                <a:noFill/>
              </a:ln>
            </p:spPr>
          </p:sp>
          <p:sp>
            <p:nvSpPr>
              <p:cNvPr id="49" name="TextBox 49"/>
              <p:cNvSpPr txBox="1"/>
              <p:nvPr/>
            </p:nvSpPr>
            <p:spPr>
              <a:xfrm>
                <a:off x="8481658" y="3061335"/>
                <a:ext cx="105484" cy="234696"/>
              </a:xfrm>
              <a:prstGeom prst="rect">
                <a:avLst/>
              </a:prstGeom>
              <a:noFill/>
              <a:ln>
                <a:noFill/>
              </a:ln>
            </p:spPr>
            <p:txBody>
              <a:bodyPr wrap="none" lIns="0" tIns="0" rIns="0" bIns="0" anchor="t" anchorCtr="0">
                <a:spAutoFit/>
              </a:bodyPr>
              <a:lstStyle/>
              <a:p>
                <a:pPr algn="ctr"/>
                <a:r>
                  <a:rPr lang="zh-CN" sz="1200" b="1" dirty="0">
                    <a:solidFill>
                      <a:srgbClr val="FFFFFF"/>
                    </a:solidFill>
                    <a:latin typeface="+mn-lt"/>
                    <a:ea typeface="+mn-ea"/>
                    <a:cs typeface="+mn-cs"/>
                  </a:rPr>
                  <a:t>3</a:t>
                </a:r>
              </a:p>
            </p:txBody>
          </p:sp>
          <p:sp>
            <p:nvSpPr>
              <p:cNvPr id="50" name="TextBox 50"/>
              <p:cNvSpPr txBox="1"/>
              <p:nvPr/>
            </p:nvSpPr>
            <p:spPr>
              <a:xfrm>
                <a:off x="8814054" y="2937510"/>
                <a:ext cx="1823517" cy="234696"/>
              </a:xfrm>
              <a:prstGeom prst="rect">
                <a:avLst/>
              </a:prstGeom>
              <a:noFill/>
              <a:ln>
                <a:noFill/>
              </a:ln>
            </p:spPr>
            <p:txBody>
              <a:bodyPr wrap="none" lIns="0" tIns="0" rIns="0" bIns="0" anchor="t" anchorCtr="0">
                <a:spAutoFit/>
              </a:bodyPr>
              <a:lstStyle/>
              <a:p>
                <a:pPr algn="l"/>
                <a:r>
                  <a:rPr lang="zh-CN" sz="1200" b="1" dirty="0">
                    <a:solidFill>
                      <a:srgbClr val="C2410C"/>
                    </a:solidFill>
                    <a:latin typeface="+mn-lt"/>
                    <a:ea typeface="+mn-ea"/>
                    <a:cs typeface="+mn-cs"/>
                  </a:rPr>
                  <a:t>碳酸盐路径 | Carbonate</a:t>
                </a:r>
              </a:p>
            </p:txBody>
          </p:sp>
          <p:sp>
            <p:nvSpPr>
              <p:cNvPr id="51" name="TextBox 51"/>
              <p:cNvSpPr txBox="1"/>
              <p:nvPr/>
            </p:nvSpPr>
            <p:spPr>
              <a:xfrm>
                <a:off x="8814435" y="3183731"/>
                <a:ext cx="1262858" cy="220028"/>
              </a:xfrm>
              <a:prstGeom prst="rect">
                <a:avLst/>
              </a:prstGeom>
              <a:noFill/>
              <a:ln>
                <a:noFill/>
              </a:ln>
            </p:spPr>
            <p:txBody>
              <a:bodyPr wrap="none" lIns="0" tIns="0" rIns="0" bIns="0" anchor="t" anchorCtr="0">
                <a:spAutoFit/>
              </a:bodyPr>
              <a:lstStyle/>
              <a:p>
                <a:pPr algn="l"/>
                <a:r>
                  <a:rPr lang="zh-CN" sz="1120" dirty="0">
                    <a:solidFill>
                      <a:schemeClr val="dk1"/>
                    </a:solidFill>
                    <a:latin typeface="+mn-lt"/>
                    <a:ea typeface="+mn-ea"/>
                    <a:cs typeface="+mn-cs"/>
                  </a:rPr>
                  <a:t>成壳 · 沉降 · 沉积</a:t>
                </a:r>
              </a:p>
            </p:txBody>
          </p:sp>
          <p:sp>
            <p:nvSpPr>
              <p:cNvPr id="52" name="Freeform 52"/>
              <p:cNvSpPr/>
              <p:nvPr/>
            </p:nvSpPr>
            <p:spPr>
              <a:xfrm>
                <a:off x="9544050" y="3629025"/>
                <a:ext cx="342900" cy="314325"/>
              </a:xfrm>
              <a:custGeom>
                <a:avLst/>
                <a:gdLst/>
                <a:ahLst/>
                <a:cxnLst/>
                <a:rect l="l" t="t" r="r" b="b"/>
                <a:pathLst>
                  <a:path w="342900" h="314325">
                    <a:moveTo>
                      <a:pt x="0" y="104775"/>
                    </a:moveTo>
                    <a:lnTo>
                      <a:pt x="171450" y="0"/>
                    </a:lnTo>
                    <a:lnTo>
                      <a:pt x="342900" y="104775"/>
                    </a:lnTo>
                    <a:lnTo>
                      <a:pt x="276225" y="314325"/>
                    </a:lnTo>
                    <a:lnTo>
                      <a:pt x="66675" y="314325"/>
                    </a:lnTo>
                    <a:close/>
                  </a:path>
                </a:pathLst>
              </a:custGeom>
              <a:solidFill>
                <a:srgbClr val="FDECDD"/>
              </a:solidFill>
              <a:ln w="19050">
                <a:solidFill>
                  <a:srgbClr val="C2410C"/>
                </a:solidFill>
              </a:ln>
            </p:spPr>
          </p:sp>
          <p:sp>
            <p:nvSpPr>
              <p:cNvPr id="53" name="Freeform 53"/>
              <p:cNvSpPr/>
              <p:nvPr/>
            </p:nvSpPr>
            <p:spPr>
              <a:xfrm>
                <a:off x="10001250" y="3924300"/>
                <a:ext cx="266700" cy="257175"/>
              </a:xfrm>
              <a:custGeom>
                <a:avLst/>
                <a:gdLst/>
                <a:ahLst/>
                <a:cxnLst/>
                <a:rect l="l" t="t" r="r" b="b"/>
                <a:pathLst>
                  <a:path w="266700" h="257175">
                    <a:moveTo>
                      <a:pt x="0" y="85725"/>
                    </a:moveTo>
                    <a:lnTo>
                      <a:pt x="133350" y="0"/>
                    </a:lnTo>
                    <a:lnTo>
                      <a:pt x="266700" y="85725"/>
                    </a:lnTo>
                    <a:lnTo>
                      <a:pt x="209550" y="257175"/>
                    </a:lnTo>
                    <a:lnTo>
                      <a:pt x="57150" y="257175"/>
                    </a:lnTo>
                    <a:close/>
                  </a:path>
                </a:pathLst>
              </a:custGeom>
              <a:solidFill>
                <a:srgbClr val="FDECDD"/>
              </a:solidFill>
              <a:ln w="19050">
                <a:solidFill>
                  <a:srgbClr val="C2410C"/>
                </a:solidFill>
              </a:ln>
            </p:spPr>
          </p:sp>
          <p:sp>
            <p:nvSpPr>
              <p:cNvPr id="54" name="Line 54"/>
              <p:cNvSpPr/>
              <p:nvPr/>
            </p:nvSpPr>
            <p:spPr>
              <a:xfrm>
                <a:off x="9848850" y="3562350"/>
                <a:ext cx="9525" cy="1866900"/>
              </a:xfrm>
              <a:custGeom>
                <a:avLst/>
                <a:gdLst/>
                <a:ahLst/>
                <a:cxnLst/>
                <a:rect l="l" t="t" r="r" b="b"/>
                <a:pathLst>
                  <a:path w="9525" h="1866900">
                    <a:moveTo>
                      <a:pt x="0" y="0"/>
                    </a:moveTo>
                    <a:lnTo>
                      <a:pt x="0" y="1866900"/>
                    </a:lnTo>
                  </a:path>
                </a:pathLst>
              </a:custGeom>
              <a:noFill/>
              <a:ln w="47625">
                <a:solidFill>
                  <a:srgbClr val="C2410C"/>
                </a:solidFill>
              </a:ln>
            </p:spPr>
          </p:sp>
          <p:sp>
            <p:nvSpPr>
              <p:cNvPr id="55" name="Polygon 55"/>
              <p:cNvSpPr/>
              <p:nvPr/>
            </p:nvSpPr>
            <p:spPr>
              <a:xfrm>
                <a:off x="9744075" y="5314950"/>
                <a:ext cx="209550" cy="180975"/>
              </a:xfrm>
              <a:custGeom>
                <a:avLst/>
                <a:gdLst/>
                <a:ahLst/>
                <a:cxnLst/>
                <a:rect l="l" t="t" r="r" b="b"/>
                <a:pathLst>
                  <a:path w="209550" h="180975">
                    <a:moveTo>
                      <a:pt x="0" y="0"/>
                    </a:moveTo>
                    <a:lnTo>
                      <a:pt x="104775" y="180975"/>
                    </a:lnTo>
                    <a:lnTo>
                      <a:pt x="209550" y="0"/>
                    </a:lnTo>
                    <a:close/>
                  </a:path>
                </a:pathLst>
              </a:custGeom>
              <a:solidFill>
                <a:srgbClr val="C2410C"/>
              </a:solidFill>
              <a:ln>
                <a:noFill/>
              </a:ln>
            </p:spPr>
          </p:sp>
          <p:sp>
            <p:nvSpPr>
              <p:cNvPr id="56" name="Rectangle 56"/>
              <p:cNvSpPr/>
              <p:nvPr/>
            </p:nvSpPr>
            <p:spPr>
              <a:xfrm>
                <a:off x="9048750" y="5619750"/>
                <a:ext cx="1600200" cy="285750"/>
              </a:xfrm>
              <a:prstGeom prst="roundRect">
                <a:avLst>
                  <a:gd name="adj" fmla="val 26667"/>
                </a:avLst>
              </a:prstGeom>
              <a:solidFill>
                <a:srgbClr val="FDF4EF"/>
              </a:solidFill>
              <a:ln w="9525">
                <a:solidFill>
                  <a:srgbClr val="F0CFC2"/>
                </a:solidFill>
              </a:ln>
            </p:spPr>
          </p:sp>
          <p:sp>
            <p:nvSpPr>
              <p:cNvPr id="57" name="TextBox 57"/>
              <p:cNvSpPr txBox="1"/>
              <p:nvPr/>
            </p:nvSpPr>
            <p:spPr>
              <a:xfrm>
                <a:off x="9202575" y="5714524"/>
                <a:ext cx="1292551" cy="190690"/>
              </a:xfrm>
              <a:prstGeom prst="rect">
                <a:avLst/>
              </a:prstGeom>
              <a:noFill/>
              <a:ln>
                <a:noFill/>
              </a:ln>
            </p:spPr>
            <p:txBody>
              <a:bodyPr wrap="none" lIns="0" tIns="0" rIns="0" bIns="0" anchor="t" anchorCtr="0">
                <a:spAutoFit/>
              </a:bodyPr>
              <a:lstStyle/>
              <a:p>
                <a:pPr algn="ctr"/>
                <a:r>
                  <a:rPr lang="zh-CN" sz="980" b="1" dirty="0">
                    <a:solidFill>
                      <a:srgbClr val="7A4A33"/>
                    </a:solidFill>
                    <a:latin typeface="+mn-lt"/>
                    <a:ea typeface="+mn-ea"/>
                    <a:cs typeface="+mn-cs"/>
                  </a:rPr>
                  <a:t>CaCO₃ burial · 埋藏</a:t>
                </a:r>
              </a:p>
            </p:txBody>
          </p:sp>
        </p:grpSp>
      </p:grpSp>
      <p:sp>
        <p:nvSpPr>
          <p:cNvPr id="60" name="TextBox 60"/>
          <p:cNvSpPr txBox="1"/>
          <p:nvPr/>
        </p:nvSpPr>
        <p:spPr>
          <a:xfrm>
            <a:off x="376238" y="6532245"/>
            <a:ext cx="4504944" cy="176212"/>
          </a:xfrm>
          <a:prstGeom prst="rect">
            <a:avLst/>
          </a:prstGeom>
          <a:noFill/>
          <a:ln>
            <a:noFill/>
          </a:ln>
        </p:spPr>
        <p:txBody>
          <a:bodyPr wrap="none" lIns="0" tIns="0" rIns="0" bIns="0" anchor="t" anchorCtr="0">
            <a:spAutoFit/>
          </a:bodyPr>
          <a:lstStyle/>
          <a:p>
            <a:pPr algn="l"/>
            <a:r>
              <a:rPr lang="zh-CN" sz="900" dirty="0">
                <a:solidFill>
                  <a:schemeClr val="accent5"/>
                </a:solidFill>
                <a:latin typeface="+mn-lt"/>
                <a:ea typeface="+mn-ea"/>
                <a:cs typeface="+mn-cs"/>
              </a:rPr>
              <a:t>Source/redraw basis: CN Ch.4, Fig. 4-9 (C-04). Native qualitative redraw.</a:t>
            </a:r>
          </a:p>
        </p:txBody>
      </p:sp>
      <p:sp>
        <p:nvSpPr>
          <p:cNvPr id="61" name="TextBox 61"/>
          <p:cNvSpPr txBox="1"/>
          <p:nvPr/>
        </p:nvSpPr>
        <p:spPr>
          <a:xfrm>
            <a:off x="11672964" y="6532245"/>
            <a:ext cx="142799" cy="176212"/>
          </a:xfrm>
          <a:prstGeom prst="rect">
            <a:avLst/>
          </a:prstGeom>
          <a:noFill/>
          <a:ln>
            <a:noFill/>
          </a:ln>
        </p:spPr>
        <p:txBody>
          <a:bodyPr wrap="none" lIns="0" tIns="0" rIns="0" bIns="0" anchor="t" anchorCtr="0">
            <a:spAutoFit/>
          </a:bodyPr>
          <a:lstStyle/>
          <a:p>
            <a:pPr algn="r"/>
            <a:r>
              <a:rPr lang="zh-CN" sz="900" dirty="0">
                <a:solidFill>
                  <a:schemeClr val="accent5"/>
                </a:solidFill>
                <a:latin typeface="+mn-lt"/>
                <a:ea typeface="+mn-ea"/>
                <a:cs typeface="+mn-cs"/>
              </a:rPr>
              <a:t>27</a:t>
            </a:r>
          </a:p>
        </p:txBody>
      </p:sp>
    </p:spTree>
    <p:extLst>
      <p:ext uri="{BB962C8B-B14F-4D97-AF65-F5344CB8AC3E}">
        <p14:creationId xmlns:p14="http://schemas.microsoft.com/office/powerpoint/2010/main" val="274629690"/>
      </p:ext>
    </p:extLst>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5"/>
          <p:cNvGrpSpPr/>
          <p:nvPr/>
        </p:nvGrpSpPr>
        <p:grpSpPr>
          <a:xfrm>
            <a:off x="0" y="0"/>
            <a:ext cx="12192000" cy="685800"/>
            <a:chOff x="0" y="0"/>
            <a:chExt cx="12192000" cy="685800"/>
          </a:xfrm>
        </p:grpSpPr>
        <p:sp>
          <p:nvSpPr>
            <p:cNvPr id="2" name="Rectangle 2"/>
            <p:cNvSpPr/>
            <p:nvPr/>
          </p:nvSpPr>
          <p:spPr>
            <a:xfrm>
              <a:off x="0" y="0"/>
              <a:ext cx="12192000" cy="685800"/>
            </a:xfrm>
            <a:prstGeom prst="rect">
              <a:avLst/>
            </a:prstGeom>
            <a:solidFill>
              <a:schemeClr val="accent1"/>
            </a:solidFill>
            <a:ln>
              <a:noFill/>
            </a:ln>
          </p:spPr>
        </p:sp>
        <p:sp>
          <p:nvSpPr>
            <p:cNvPr id="3" name="TextBox 3"/>
            <p:cNvSpPr txBox="1"/>
            <p:nvPr/>
          </p:nvSpPr>
          <p:spPr>
            <a:xfrm>
              <a:off x="374142" y="282892"/>
              <a:ext cx="7180117" cy="264033"/>
            </a:xfrm>
            <a:prstGeom prst="rect">
              <a:avLst/>
            </a:prstGeom>
            <a:noFill/>
            <a:ln>
              <a:noFill/>
            </a:ln>
          </p:spPr>
          <p:txBody>
            <a:bodyPr wrap="none" lIns="0" tIns="0" rIns="0" bIns="0" anchor="t" anchorCtr="0">
              <a:spAutoFit/>
            </a:bodyPr>
            <a:lstStyle/>
            <a:p>
              <a:pPr algn="l"/>
              <a:r>
                <a:rPr lang="zh-CN" sz="1350" b="1" dirty="0">
                  <a:solidFill>
                    <a:srgbClr val="FFFFFF"/>
                  </a:solidFill>
                  <a:latin typeface="+mn-lt"/>
                  <a:ea typeface="+mn-ea"/>
                  <a:cs typeface="+mn-cs"/>
                </a:rPr>
                <a:t>2.8 碳酸盐：海洋、生命与岩石的连接 | Carbonates: Ocean–Life–Rock Connection</a:t>
              </a:r>
            </a:p>
          </p:txBody>
        </p:sp>
        <p:sp>
          <p:nvSpPr>
            <p:cNvPr id="4" name="TextBox 4"/>
            <p:cNvSpPr txBox="1"/>
            <p:nvPr/>
          </p:nvSpPr>
          <p:spPr>
            <a:xfrm>
              <a:off x="10686898" y="299085"/>
              <a:ext cx="1130198" cy="234696"/>
            </a:xfrm>
            <a:prstGeom prst="rect">
              <a:avLst/>
            </a:prstGeom>
            <a:noFill/>
            <a:ln>
              <a:noFill/>
            </a:ln>
          </p:spPr>
          <p:txBody>
            <a:bodyPr wrap="none" lIns="0" tIns="0" rIns="0" bIns="0" anchor="t" anchorCtr="0">
              <a:spAutoFit/>
            </a:bodyPr>
            <a:lstStyle/>
            <a:p>
              <a:pPr algn="r"/>
              <a:r>
                <a:rPr lang="zh-CN" sz="1200" dirty="0">
                  <a:solidFill>
                    <a:srgbClr val="C7D7F2"/>
                  </a:solidFill>
                  <a:latin typeface="+mn-lt"/>
                  <a:ea typeface="+mn-ea"/>
                  <a:cs typeface="+mn-cs"/>
                </a:rPr>
                <a:t>CARBON CYCLE</a:t>
              </a:r>
            </a:p>
          </p:txBody>
        </p:sp>
      </p:grpSp>
      <p:grpSp>
        <p:nvGrpSpPr>
          <p:cNvPr id="8" name="Group 8"/>
          <p:cNvGrpSpPr/>
          <p:nvPr/>
        </p:nvGrpSpPr>
        <p:grpSpPr>
          <a:xfrm>
            <a:off x="381000" y="914400"/>
            <a:ext cx="6985838" cy="357093"/>
            <a:chOff x="381000" y="914400"/>
            <a:chExt cx="6985838" cy="357093"/>
          </a:xfrm>
        </p:grpSpPr>
        <p:sp>
          <p:nvSpPr>
            <p:cNvPr id="6" name="Rectangle 6"/>
            <p:cNvSpPr/>
            <p:nvPr/>
          </p:nvSpPr>
          <p:spPr>
            <a:xfrm>
              <a:off x="381000" y="914400"/>
              <a:ext cx="57150" cy="266700"/>
            </a:xfrm>
            <a:prstGeom prst="roundRect">
              <a:avLst>
                <a:gd name="adj" fmla="val 50000"/>
              </a:avLst>
            </a:prstGeom>
            <a:solidFill>
              <a:schemeClr val="accent3"/>
            </a:solidFill>
            <a:ln>
              <a:noFill/>
            </a:ln>
          </p:spPr>
        </p:sp>
        <p:sp>
          <p:nvSpPr>
            <p:cNvPr id="7" name="TextBox 7"/>
            <p:cNvSpPr txBox="1"/>
            <p:nvPr/>
          </p:nvSpPr>
          <p:spPr>
            <a:xfrm>
              <a:off x="544449" y="963454"/>
              <a:ext cx="6822389" cy="308039"/>
            </a:xfrm>
            <a:prstGeom prst="rect">
              <a:avLst/>
            </a:prstGeom>
            <a:noFill/>
            <a:ln>
              <a:noFill/>
            </a:ln>
          </p:spPr>
          <p:txBody>
            <a:bodyPr wrap="none" lIns="0" tIns="0" rIns="0" bIns="0" anchor="t" anchorCtr="0">
              <a:spAutoFit/>
            </a:bodyPr>
            <a:lstStyle/>
            <a:p>
              <a:pPr algn="l"/>
              <a:r>
                <a:rPr lang="zh-CN" sz="1580" b="1" dirty="0">
                  <a:solidFill>
                    <a:srgbClr val="C2410C"/>
                  </a:solidFill>
                  <a:latin typeface="+mn-lt"/>
                  <a:ea typeface="+mn-ea"/>
                  <a:cs typeface="+mn-cs"/>
                </a:rPr>
                <a:t>溶解碳经生物、碳酸盐、沉积物到岩石，是一条连续路径，而非单向吸碳</a:t>
              </a:r>
            </a:p>
          </p:txBody>
        </p:sp>
      </p:grpSp>
      <p:grpSp>
        <p:nvGrpSpPr>
          <p:cNvPr id="47" name="Group 47"/>
          <p:cNvGrpSpPr/>
          <p:nvPr/>
        </p:nvGrpSpPr>
        <p:grpSpPr>
          <a:xfrm>
            <a:off x="381000" y="1428750"/>
            <a:ext cx="11430000" cy="3333750"/>
            <a:chOff x="381000" y="1428750"/>
            <a:chExt cx="11430000" cy="3333750"/>
          </a:xfrm>
        </p:grpSpPr>
        <p:sp>
          <p:nvSpPr>
            <p:cNvPr id="9" name="Rectangle 9"/>
            <p:cNvSpPr/>
            <p:nvPr/>
          </p:nvSpPr>
          <p:spPr>
            <a:xfrm>
              <a:off x="381000" y="1428750"/>
              <a:ext cx="11430000" cy="3333750"/>
            </a:xfrm>
            <a:prstGeom prst="roundRect">
              <a:avLst>
                <a:gd name="adj" fmla="val 3429"/>
              </a:avLst>
            </a:prstGeom>
            <a:solidFill>
              <a:schemeClr val="lt2"/>
            </a:solidFill>
            <a:ln w="9525">
              <a:solidFill>
                <a:schemeClr val="accent6"/>
              </a:solidFill>
            </a:ln>
          </p:spPr>
        </p:sp>
        <p:sp>
          <p:nvSpPr>
            <p:cNvPr id="10" name="TextBox 10"/>
            <p:cNvSpPr txBox="1"/>
            <p:nvPr/>
          </p:nvSpPr>
          <p:spPr>
            <a:xfrm>
              <a:off x="603504" y="1623060"/>
              <a:ext cx="2413933" cy="234696"/>
            </a:xfrm>
            <a:prstGeom prst="rect">
              <a:avLst/>
            </a:prstGeom>
            <a:noFill/>
            <a:ln>
              <a:noFill/>
            </a:ln>
          </p:spPr>
          <p:txBody>
            <a:bodyPr wrap="none" lIns="0" tIns="0" rIns="0" bIns="0" anchor="t" anchorCtr="0">
              <a:spAutoFit/>
            </a:bodyPr>
            <a:lstStyle/>
            <a:p>
              <a:pPr algn="l"/>
              <a:r>
                <a:rPr lang="zh-CN" sz="1200" b="1" dirty="0">
                  <a:solidFill>
                    <a:schemeClr val="accent1"/>
                  </a:solidFill>
                  <a:latin typeface="+mn-lt"/>
                  <a:ea typeface="+mn-ea"/>
                  <a:cs typeface="+mn-cs"/>
                </a:rPr>
                <a:t>五段路径 | The carbonate path</a:t>
              </a:r>
            </a:p>
          </p:txBody>
        </p:sp>
        <p:sp>
          <p:nvSpPr>
            <p:cNvPr id="11" name="Rectangle 11"/>
            <p:cNvSpPr/>
            <p:nvPr/>
          </p:nvSpPr>
          <p:spPr>
            <a:xfrm>
              <a:off x="609600" y="1905000"/>
              <a:ext cx="1905000" cy="1714500"/>
            </a:xfrm>
            <a:prstGeom prst="roundRect">
              <a:avLst>
                <a:gd name="adj" fmla="val 5556"/>
              </a:avLst>
            </a:prstGeom>
            <a:solidFill>
              <a:schemeClr val="lt1"/>
            </a:solidFill>
            <a:ln w="9525">
              <a:solidFill>
                <a:schemeClr val="accent6"/>
              </a:solidFill>
            </a:ln>
          </p:spPr>
        </p:sp>
        <p:sp>
          <p:nvSpPr>
            <p:cNvPr id="12" name="Ellipse 12"/>
            <p:cNvSpPr/>
            <p:nvPr/>
          </p:nvSpPr>
          <p:spPr>
            <a:xfrm>
              <a:off x="704850" y="2038350"/>
              <a:ext cx="342900" cy="342900"/>
            </a:xfrm>
            <a:prstGeom prst="ellipse">
              <a:avLst/>
            </a:prstGeom>
            <a:solidFill>
              <a:schemeClr val="accent3"/>
            </a:solidFill>
            <a:ln>
              <a:noFill/>
            </a:ln>
          </p:spPr>
        </p:sp>
        <p:sp>
          <p:nvSpPr>
            <p:cNvPr id="13" name="TextBox 13"/>
            <p:cNvSpPr txBox="1"/>
            <p:nvPr/>
          </p:nvSpPr>
          <p:spPr>
            <a:xfrm>
              <a:off x="823558" y="2137410"/>
              <a:ext cx="105484" cy="234696"/>
            </a:xfrm>
            <a:prstGeom prst="rect">
              <a:avLst/>
            </a:prstGeom>
            <a:noFill/>
            <a:ln>
              <a:noFill/>
            </a:ln>
          </p:spPr>
          <p:txBody>
            <a:bodyPr wrap="none" lIns="0" tIns="0" rIns="0" bIns="0" anchor="t" anchorCtr="0">
              <a:spAutoFit/>
            </a:bodyPr>
            <a:lstStyle/>
            <a:p>
              <a:pPr algn="ctr"/>
              <a:r>
                <a:rPr lang="zh-CN" sz="1200" b="1" dirty="0">
                  <a:solidFill>
                    <a:srgbClr val="FFFFFF"/>
                  </a:solidFill>
                  <a:latin typeface="+mn-lt"/>
                  <a:ea typeface="+mn-ea"/>
                  <a:cs typeface="+mn-cs"/>
                </a:rPr>
                <a:t>1</a:t>
              </a:r>
            </a:p>
          </p:txBody>
        </p:sp>
        <p:sp>
          <p:nvSpPr>
            <p:cNvPr id="14" name="TextBox 14"/>
            <p:cNvSpPr txBox="1"/>
            <p:nvPr/>
          </p:nvSpPr>
          <p:spPr>
            <a:xfrm>
              <a:off x="1136904" y="2137410"/>
              <a:ext cx="819912" cy="234696"/>
            </a:xfrm>
            <a:prstGeom prst="rect">
              <a:avLst/>
            </a:prstGeom>
            <a:noFill/>
            <a:ln>
              <a:noFill/>
            </a:ln>
          </p:spPr>
          <p:txBody>
            <a:bodyPr wrap="none" lIns="0" tIns="0" rIns="0" bIns="0" anchor="t" anchorCtr="0">
              <a:spAutoFit/>
            </a:bodyPr>
            <a:lstStyle/>
            <a:p>
              <a:pPr algn="l"/>
              <a:r>
                <a:rPr lang="zh-CN" sz="1200" b="1" dirty="0">
                  <a:solidFill>
                    <a:schemeClr val="dk1"/>
                  </a:solidFill>
                  <a:latin typeface="+mn-lt"/>
                  <a:ea typeface="+mn-ea"/>
                  <a:cs typeface="+mn-cs"/>
                </a:rPr>
                <a:t>海水溶解碳</a:t>
              </a:r>
            </a:p>
          </p:txBody>
        </p:sp>
        <p:sp>
          <p:nvSpPr>
            <p:cNvPr id="15" name="TextBox 15"/>
            <p:cNvSpPr txBox="1"/>
            <p:nvPr/>
          </p:nvSpPr>
          <p:spPr>
            <a:xfrm>
              <a:off x="757047" y="2599849"/>
              <a:ext cx="1005586" cy="609790"/>
            </a:xfrm>
            <a:prstGeom prst="rect">
              <a:avLst/>
            </a:prstGeom>
            <a:noFill/>
            <a:ln>
              <a:noFill/>
            </a:ln>
          </p:spPr>
          <p:txBody>
            <a:bodyPr wrap="none" lIns="0" tIns="0" rIns="0" bIns="0" anchor="t" anchorCtr="0">
              <a:spAutoFit/>
            </a:bodyPr>
            <a:lstStyle/>
            <a:p>
              <a:pPr algn="l">
                <a:lnSpc>
                  <a:spcPts val="1650"/>
                </a:lnSpc>
              </a:pPr>
              <a:r>
                <a:rPr lang="zh-CN" sz="980" dirty="0">
                  <a:solidFill>
                    <a:schemeClr val="accent5"/>
                  </a:solidFill>
                  <a:latin typeface="+mn-lt"/>
                  <a:ea typeface="+mn-ea"/>
                  <a:cs typeface="+mn-cs"/>
                </a:rPr>
                <a:t>溶解无机碳 DIC：</a:t>
              </a:r>
              <a:br/>
              <a:r>
                <a:rPr lang="zh-CN" sz="980" dirty="0">
                  <a:solidFill>
                    <a:schemeClr val="accent5"/>
                  </a:solidFill>
                  <a:latin typeface="+mn-lt"/>
                  <a:ea typeface="+mn-ea"/>
                  <a:cs typeface="+mn-cs"/>
                </a:rPr>
                <a:t>HCO₃⁻ 与 CO₃²⁻</a:t>
              </a:r>
              <a:br/>
              <a:r>
                <a:rPr lang="zh-CN" sz="980" dirty="0">
                  <a:solidFill>
                    <a:schemeClr val="accent5"/>
                  </a:solidFill>
                  <a:latin typeface="+mn-lt"/>
                  <a:ea typeface="+mn-ea"/>
                  <a:cs typeface="+mn-cs"/>
                </a:rPr>
                <a:t>溶于海水中的碳。</a:t>
              </a:r>
            </a:p>
          </p:txBody>
        </p:sp>
        <p:sp>
          <p:nvSpPr>
            <p:cNvPr id="16" name="Line 16"/>
            <p:cNvSpPr/>
            <p:nvPr/>
          </p:nvSpPr>
          <p:spPr>
            <a:xfrm>
              <a:off x="2590800" y="2762250"/>
              <a:ext cx="209550" cy="9525"/>
            </a:xfrm>
            <a:custGeom>
              <a:avLst/>
              <a:gdLst/>
              <a:ahLst/>
              <a:cxnLst/>
              <a:rect l="l" t="t" r="r" b="b"/>
              <a:pathLst>
                <a:path w="209550" h="9525">
                  <a:moveTo>
                    <a:pt x="0" y="0"/>
                  </a:moveTo>
                  <a:lnTo>
                    <a:pt x="209550" y="0"/>
                  </a:lnTo>
                </a:path>
              </a:pathLst>
            </a:custGeom>
            <a:noFill/>
            <a:ln w="38100">
              <a:solidFill>
                <a:schemeClr val="accent3"/>
              </a:solidFill>
            </a:ln>
          </p:spPr>
        </p:sp>
        <p:sp>
          <p:nvSpPr>
            <p:cNvPr id="17" name="Polygon 17"/>
            <p:cNvSpPr/>
            <p:nvPr/>
          </p:nvSpPr>
          <p:spPr>
            <a:xfrm>
              <a:off x="2743200" y="2695575"/>
              <a:ext cx="133350" cy="133350"/>
            </a:xfrm>
            <a:custGeom>
              <a:avLst/>
              <a:gdLst/>
              <a:ahLst/>
              <a:cxnLst/>
              <a:rect l="l" t="t" r="r" b="b"/>
              <a:pathLst>
                <a:path w="133350" h="133350">
                  <a:moveTo>
                    <a:pt x="0" y="0"/>
                  </a:moveTo>
                  <a:lnTo>
                    <a:pt x="133350" y="66675"/>
                  </a:lnTo>
                  <a:lnTo>
                    <a:pt x="0" y="133350"/>
                  </a:lnTo>
                  <a:close/>
                </a:path>
              </a:pathLst>
            </a:custGeom>
            <a:solidFill>
              <a:schemeClr val="accent3"/>
            </a:solidFill>
            <a:ln>
              <a:noFill/>
            </a:ln>
          </p:spPr>
        </p:sp>
        <p:sp>
          <p:nvSpPr>
            <p:cNvPr id="18" name="Rectangle 18"/>
            <p:cNvSpPr/>
            <p:nvPr/>
          </p:nvSpPr>
          <p:spPr>
            <a:xfrm>
              <a:off x="2876550" y="1905000"/>
              <a:ext cx="1905000" cy="1714500"/>
            </a:xfrm>
            <a:prstGeom prst="roundRect">
              <a:avLst>
                <a:gd name="adj" fmla="val 5556"/>
              </a:avLst>
            </a:prstGeom>
            <a:solidFill>
              <a:schemeClr val="lt1"/>
            </a:solidFill>
            <a:ln w="9525">
              <a:solidFill>
                <a:schemeClr val="accent6"/>
              </a:solidFill>
            </a:ln>
          </p:spPr>
        </p:sp>
        <p:sp>
          <p:nvSpPr>
            <p:cNvPr id="19" name="Ellipse 19"/>
            <p:cNvSpPr/>
            <p:nvPr/>
          </p:nvSpPr>
          <p:spPr>
            <a:xfrm>
              <a:off x="2971800" y="2038350"/>
              <a:ext cx="342900" cy="342900"/>
            </a:xfrm>
            <a:prstGeom prst="ellipse">
              <a:avLst/>
            </a:prstGeom>
            <a:solidFill>
              <a:schemeClr val="accent3"/>
            </a:solidFill>
            <a:ln>
              <a:noFill/>
            </a:ln>
          </p:spPr>
        </p:sp>
        <p:sp>
          <p:nvSpPr>
            <p:cNvPr id="20" name="TextBox 20"/>
            <p:cNvSpPr txBox="1"/>
            <p:nvPr/>
          </p:nvSpPr>
          <p:spPr>
            <a:xfrm>
              <a:off x="3090508" y="2137410"/>
              <a:ext cx="105484" cy="234696"/>
            </a:xfrm>
            <a:prstGeom prst="rect">
              <a:avLst/>
            </a:prstGeom>
            <a:noFill/>
            <a:ln>
              <a:noFill/>
            </a:ln>
          </p:spPr>
          <p:txBody>
            <a:bodyPr wrap="none" lIns="0" tIns="0" rIns="0" bIns="0" anchor="t" anchorCtr="0">
              <a:spAutoFit/>
            </a:bodyPr>
            <a:lstStyle/>
            <a:p>
              <a:pPr algn="ctr"/>
              <a:r>
                <a:rPr lang="zh-CN" sz="1200" b="1" dirty="0">
                  <a:solidFill>
                    <a:srgbClr val="FFFFFF"/>
                  </a:solidFill>
                  <a:latin typeface="+mn-lt"/>
                  <a:ea typeface="+mn-ea"/>
                  <a:cs typeface="+mn-cs"/>
                </a:rPr>
                <a:t>2</a:t>
              </a:r>
            </a:p>
          </p:txBody>
        </p:sp>
        <p:sp>
          <p:nvSpPr>
            <p:cNvPr id="21" name="TextBox 21"/>
            <p:cNvSpPr txBox="1"/>
            <p:nvPr/>
          </p:nvSpPr>
          <p:spPr>
            <a:xfrm>
              <a:off x="3403854" y="2137410"/>
              <a:ext cx="658368" cy="234696"/>
            </a:xfrm>
            <a:prstGeom prst="rect">
              <a:avLst/>
            </a:prstGeom>
            <a:noFill/>
            <a:ln>
              <a:noFill/>
            </a:ln>
          </p:spPr>
          <p:txBody>
            <a:bodyPr wrap="none" lIns="0" tIns="0" rIns="0" bIns="0" anchor="t" anchorCtr="0">
              <a:spAutoFit/>
            </a:bodyPr>
            <a:lstStyle/>
            <a:p>
              <a:pPr algn="l"/>
              <a:r>
                <a:rPr lang="zh-CN" sz="1200" b="1" dirty="0">
                  <a:solidFill>
                    <a:schemeClr val="dk1"/>
                  </a:solidFill>
                  <a:latin typeface="+mn-lt"/>
                  <a:ea typeface="+mn-ea"/>
                  <a:cs typeface="+mn-cs"/>
                </a:rPr>
                <a:t>生物成壳</a:t>
              </a:r>
            </a:p>
          </p:txBody>
        </p:sp>
        <p:sp>
          <p:nvSpPr>
            <p:cNvPr id="22" name="TextBox 22"/>
            <p:cNvSpPr txBox="1"/>
            <p:nvPr/>
          </p:nvSpPr>
          <p:spPr>
            <a:xfrm>
              <a:off x="3023997" y="2599849"/>
              <a:ext cx="881126" cy="609790"/>
            </a:xfrm>
            <a:prstGeom prst="rect">
              <a:avLst/>
            </a:prstGeom>
            <a:noFill/>
            <a:ln>
              <a:noFill/>
            </a:ln>
          </p:spPr>
          <p:txBody>
            <a:bodyPr wrap="none" lIns="0" tIns="0" rIns="0" bIns="0" anchor="t" anchorCtr="0">
              <a:spAutoFit/>
            </a:bodyPr>
            <a:lstStyle/>
            <a:p>
              <a:pPr algn="l">
                <a:lnSpc>
                  <a:spcPts val="1650"/>
                </a:lnSpc>
              </a:pPr>
              <a:r>
                <a:rPr lang="zh-CN" sz="980" dirty="0">
                  <a:solidFill>
                    <a:schemeClr val="accent5"/>
                  </a:solidFill>
                  <a:latin typeface="+mn-lt"/>
                  <a:ea typeface="+mn-ea"/>
                  <a:cs typeface="+mn-cs"/>
                </a:rPr>
                <a:t>生物利用溶解碳</a:t>
              </a:r>
              <a:br/>
              <a:r>
                <a:rPr lang="zh-CN" sz="980" dirty="0">
                  <a:solidFill>
                    <a:schemeClr val="accent5"/>
                  </a:solidFill>
                  <a:latin typeface="+mn-lt"/>
                  <a:ea typeface="+mn-ea"/>
                  <a:cs typeface="+mn-cs"/>
                </a:rPr>
                <a:t>建造钙质壳体与</a:t>
              </a:r>
              <a:br/>
              <a:r>
                <a:rPr lang="zh-CN" sz="980" dirty="0">
                  <a:solidFill>
                    <a:schemeClr val="accent5"/>
                  </a:solidFill>
                  <a:latin typeface="+mn-lt"/>
                  <a:ea typeface="+mn-ea"/>
                  <a:cs typeface="+mn-cs"/>
                </a:rPr>
                <a:t>骨骼。</a:t>
              </a:r>
            </a:p>
          </p:txBody>
        </p:sp>
        <p:sp>
          <p:nvSpPr>
            <p:cNvPr id="23" name="Line 23"/>
            <p:cNvSpPr/>
            <p:nvPr/>
          </p:nvSpPr>
          <p:spPr>
            <a:xfrm>
              <a:off x="4857750" y="2762250"/>
              <a:ext cx="209550" cy="9525"/>
            </a:xfrm>
            <a:custGeom>
              <a:avLst/>
              <a:gdLst/>
              <a:ahLst/>
              <a:cxnLst/>
              <a:rect l="l" t="t" r="r" b="b"/>
              <a:pathLst>
                <a:path w="209550" h="9525">
                  <a:moveTo>
                    <a:pt x="0" y="0"/>
                  </a:moveTo>
                  <a:lnTo>
                    <a:pt x="209550" y="0"/>
                  </a:lnTo>
                </a:path>
              </a:pathLst>
            </a:custGeom>
            <a:noFill/>
            <a:ln w="38100">
              <a:solidFill>
                <a:schemeClr val="accent3"/>
              </a:solidFill>
            </a:ln>
          </p:spPr>
        </p:sp>
        <p:sp>
          <p:nvSpPr>
            <p:cNvPr id="24" name="Polygon 24"/>
            <p:cNvSpPr/>
            <p:nvPr/>
          </p:nvSpPr>
          <p:spPr>
            <a:xfrm>
              <a:off x="5010150" y="2695575"/>
              <a:ext cx="133350" cy="133350"/>
            </a:xfrm>
            <a:custGeom>
              <a:avLst/>
              <a:gdLst/>
              <a:ahLst/>
              <a:cxnLst/>
              <a:rect l="l" t="t" r="r" b="b"/>
              <a:pathLst>
                <a:path w="133350" h="133350">
                  <a:moveTo>
                    <a:pt x="0" y="0"/>
                  </a:moveTo>
                  <a:lnTo>
                    <a:pt x="133350" y="66675"/>
                  </a:lnTo>
                  <a:lnTo>
                    <a:pt x="0" y="133350"/>
                  </a:lnTo>
                  <a:close/>
                </a:path>
              </a:pathLst>
            </a:custGeom>
            <a:solidFill>
              <a:schemeClr val="accent3"/>
            </a:solidFill>
            <a:ln>
              <a:noFill/>
            </a:ln>
          </p:spPr>
        </p:sp>
        <p:sp>
          <p:nvSpPr>
            <p:cNvPr id="25" name="Rectangle 25"/>
            <p:cNvSpPr/>
            <p:nvPr/>
          </p:nvSpPr>
          <p:spPr>
            <a:xfrm>
              <a:off x="5143500" y="1905000"/>
              <a:ext cx="1905000" cy="1714500"/>
            </a:xfrm>
            <a:prstGeom prst="roundRect">
              <a:avLst>
                <a:gd name="adj" fmla="val 5556"/>
              </a:avLst>
            </a:prstGeom>
            <a:solidFill>
              <a:schemeClr val="lt1"/>
            </a:solidFill>
            <a:ln w="9525">
              <a:solidFill>
                <a:schemeClr val="accent6"/>
              </a:solidFill>
            </a:ln>
          </p:spPr>
        </p:sp>
        <p:sp>
          <p:nvSpPr>
            <p:cNvPr id="26" name="Ellipse 26"/>
            <p:cNvSpPr/>
            <p:nvPr/>
          </p:nvSpPr>
          <p:spPr>
            <a:xfrm>
              <a:off x="5238750" y="2038350"/>
              <a:ext cx="342900" cy="342900"/>
            </a:xfrm>
            <a:prstGeom prst="ellipse">
              <a:avLst/>
            </a:prstGeom>
            <a:solidFill>
              <a:schemeClr val="accent3"/>
            </a:solidFill>
            <a:ln>
              <a:noFill/>
            </a:ln>
          </p:spPr>
        </p:sp>
        <p:sp>
          <p:nvSpPr>
            <p:cNvPr id="27" name="TextBox 27"/>
            <p:cNvSpPr txBox="1"/>
            <p:nvPr/>
          </p:nvSpPr>
          <p:spPr>
            <a:xfrm>
              <a:off x="5357458" y="2137410"/>
              <a:ext cx="105484" cy="234696"/>
            </a:xfrm>
            <a:prstGeom prst="rect">
              <a:avLst/>
            </a:prstGeom>
            <a:noFill/>
            <a:ln>
              <a:noFill/>
            </a:ln>
          </p:spPr>
          <p:txBody>
            <a:bodyPr wrap="none" lIns="0" tIns="0" rIns="0" bIns="0" anchor="t" anchorCtr="0">
              <a:spAutoFit/>
            </a:bodyPr>
            <a:lstStyle/>
            <a:p>
              <a:pPr algn="ctr"/>
              <a:r>
                <a:rPr lang="zh-CN" sz="1200" b="1" dirty="0">
                  <a:solidFill>
                    <a:srgbClr val="FFFFFF"/>
                  </a:solidFill>
                  <a:latin typeface="+mn-lt"/>
                  <a:ea typeface="+mn-ea"/>
                  <a:cs typeface="+mn-cs"/>
                </a:rPr>
                <a:t>3</a:t>
              </a:r>
            </a:p>
          </p:txBody>
        </p:sp>
        <p:sp>
          <p:nvSpPr>
            <p:cNvPr id="28" name="TextBox 28"/>
            <p:cNvSpPr txBox="1"/>
            <p:nvPr/>
          </p:nvSpPr>
          <p:spPr>
            <a:xfrm>
              <a:off x="5670804" y="2137410"/>
              <a:ext cx="819912" cy="234696"/>
            </a:xfrm>
            <a:prstGeom prst="rect">
              <a:avLst/>
            </a:prstGeom>
            <a:noFill/>
            <a:ln>
              <a:noFill/>
            </a:ln>
          </p:spPr>
          <p:txBody>
            <a:bodyPr wrap="none" lIns="0" tIns="0" rIns="0" bIns="0" anchor="t" anchorCtr="0">
              <a:spAutoFit/>
            </a:bodyPr>
            <a:lstStyle/>
            <a:p>
              <a:pPr algn="l"/>
              <a:r>
                <a:rPr lang="zh-CN" sz="1200" b="1" dirty="0">
                  <a:solidFill>
                    <a:schemeClr val="dk1"/>
                  </a:solidFill>
                  <a:latin typeface="+mn-lt"/>
                  <a:ea typeface="+mn-ea"/>
                  <a:cs typeface="+mn-cs"/>
                </a:rPr>
                <a:t>碳酸盐颗粒</a:t>
              </a:r>
            </a:p>
          </p:txBody>
        </p:sp>
        <p:sp>
          <p:nvSpPr>
            <p:cNvPr id="29" name="TextBox 29"/>
            <p:cNvSpPr txBox="1"/>
            <p:nvPr/>
          </p:nvSpPr>
          <p:spPr>
            <a:xfrm>
              <a:off x="5290947" y="2599849"/>
              <a:ext cx="912241" cy="609790"/>
            </a:xfrm>
            <a:prstGeom prst="rect">
              <a:avLst/>
            </a:prstGeom>
            <a:noFill/>
            <a:ln>
              <a:noFill/>
            </a:ln>
          </p:spPr>
          <p:txBody>
            <a:bodyPr wrap="none" lIns="0" tIns="0" rIns="0" bIns="0" anchor="t" anchorCtr="0">
              <a:spAutoFit/>
            </a:bodyPr>
            <a:lstStyle/>
            <a:p>
              <a:pPr algn="l">
                <a:lnSpc>
                  <a:spcPts val="1650"/>
                </a:lnSpc>
              </a:pPr>
              <a:r>
                <a:rPr lang="zh-CN" sz="980" dirty="0">
                  <a:solidFill>
                    <a:schemeClr val="accent5"/>
                  </a:solidFill>
                  <a:latin typeface="+mn-lt"/>
                  <a:ea typeface="+mn-ea"/>
                  <a:cs typeface="+mn-cs"/>
                </a:rPr>
                <a:t>壳体破碎后成为</a:t>
              </a:r>
              <a:br/>
              <a:r>
                <a:rPr lang="zh-CN" sz="980" dirty="0">
                  <a:solidFill>
                    <a:schemeClr val="accent5"/>
                  </a:solidFill>
                  <a:latin typeface="+mn-lt"/>
                  <a:ea typeface="+mn-ea"/>
                  <a:cs typeface="+mn-cs"/>
                </a:rPr>
                <a:t>CaCO₃ 颗粒，向</a:t>
              </a:r>
              <a:br/>
              <a:r>
                <a:rPr lang="zh-CN" sz="980" dirty="0">
                  <a:solidFill>
                    <a:schemeClr val="accent5"/>
                  </a:solidFill>
                  <a:latin typeface="+mn-lt"/>
                  <a:ea typeface="+mn-ea"/>
                  <a:cs typeface="+mn-cs"/>
                </a:rPr>
                <a:t>海底沉降。</a:t>
              </a:r>
            </a:p>
          </p:txBody>
        </p:sp>
        <p:sp>
          <p:nvSpPr>
            <p:cNvPr id="30" name="Line 30"/>
            <p:cNvSpPr/>
            <p:nvPr/>
          </p:nvSpPr>
          <p:spPr>
            <a:xfrm>
              <a:off x="7124700" y="2762250"/>
              <a:ext cx="209550" cy="9525"/>
            </a:xfrm>
            <a:custGeom>
              <a:avLst/>
              <a:gdLst/>
              <a:ahLst/>
              <a:cxnLst/>
              <a:rect l="l" t="t" r="r" b="b"/>
              <a:pathLst>
                <a:path w="209550" h="9525">
                  <a:moveTo>
                    <a:pt x="0" y="0"/>
                  </a:moveTo>
                  <a:lnTo>
                    <a:pt x="209550" y="0"/>
                  </a:lnTo>
                </a:path>
              </a:pathLst>
            </a:custGeom>
            <a:noFill/>
            <a:ln w="38100">
              <a:solidFill>
                <a:srgbClr val="C2410C"/>
              </a:solidFill>
            </a:ln>
          </p:spPr>
        </p:sp>
        <p:sp>
          <p:nvSpPr>
            <p:cNvPr id="31" name="Polygon 31"/>
            <p:cNvSpPr/>
            <p:nvPr/>
          </p:nvSpPr>
          <p:spPr>
            <a:xfrm>
              <a:off x="7277100" y="2695575"/>
              <a:ext cx="133350" cy="133350"/>
            </a:xfrm>
            <a:custGeom>
              <a:avLst/>
              <a:gdLst/>
              <a:ahLst/>
              <a:cxnLst/>
              <a:rect l="l" t="t" r="r" b="b"/>
              <a:pathLst>
                <a:path w="133350" h="133350">
                  <a:moveTo>
                    <a:pt x="0" y="0"/>
                  </a:moveTo>
                  <a:lnTo>
                    <a:pt x="133350" y="66675"/>
                  </a:lnTo>
                  <a:lnTo>
                    <a:pt x="0" y="133350"/>
                  </a:lnTo>
                  <a:close/>
                </a:path>
              </a:pathLst>
            </a:custGeom>
            <a:solidFill>
              <a:srgbClr val="C2410C"/>
            </a:solidFill>
            <a:ln>
              <a:noFill/>
            </a:ln>
          </p:spPr>
        </p:sp>
        <p:sp>
          <p:nvSpPr>
            <p:cNvPr id="32" name="Rectangle 32"/>
            <p:cNvSpPr/>
            <p:nvPr/>
          </p:nvSpPr>
          <p:spPr>
            <a:xfrm>
              <a:off x="7410450" y="1905000"/>
              <a:ext cx="1905000" cy="1714500"/>
            </a:xfrm>
            <a:prstGeom prst="roundRect">
              <a:avLst>
                <a:gd name="adj" fmla="val 5556"/>
              </a:avLst>
            </a:prstGeom>
            <a:solidFill>
              <a:schemeClr val="lt1"/>
            </a:solidFill>
            <a:ln w="9525">
              <a:solidFill>
                <a:schemeClr val="accent6"/>
              </a:solidFill>
            </a:ln>
          </p:spPr>
        </p:sp>
        <p:sp>
          <p:nvSpPr>
            <p:cNvPr id="33" name="Ellipse 33"/>
            <p:cNvSpPr/>
            <p:nvPr/>
          </p:nvSpPr>
          <p:spPr>
            <a:xfrm>
              <a:off x="7505700" y="2038350"/>
              <a:ext cx="342900" cy="342900"/>
            </a:xfrm>
            <a:prstGeom prst="ellipse">
              <a:avLst/>
            </a:prstGeom>
            <a:solidFill>
              <a:srgbClr val="C2410C"/>
            </a:solidFill>
            <a:ln>
              <a:noFill/>
            </a:ln>
          </p:spPr>
        </p:sp>
        <p:sp>
          <p:nvSpPr>
            <p:cNvPr id="34" name="TextBox 34"/>
            <p:cNvSpPr txBox="1"/>
            <p:nvPr/>
          </p:nvSpPr>
          <p:spPr>
            <a:xfrm>
              <a:off x="7624408" y="2137410"/>
              <a:ext cx="105484" cy="234696"/>
            </a:xfrm>
            <a:prstGeom prst="rect">
              <a:avLst/>
            </a:prstGeom>
            <a:noFill/>
            <a:ln>
              <a:noFill/>
            </a:ln>
          </p:spPr>
          <p:txBody>
            <a:bodyPr wrap="none" lIns="0" tIns="0" rIns="0" bIns="0" anchor="t" anchorCtr="0">
              <a:spAutoFit/>
            </a:bodyPr>
            <a:lstStyle/>
            <a:p>
              <a:pPr algn="ctr"/>
              <a:r>
                <a:rPr lang="zh-CN" sz="1200" b="1" dirty="0">
                  <a:solidFill>
                    <a:srgbClr val="FFFFFF"/>
                  </a:solidFill>
                  <a:latin typeface="+mn-lt"/>
                  <a:ea typeface="+mn-ea"/>
                  <a:cs typeface="+mn-cs"/>
                </a:rPr>
                <a:t>4</a:t>
              </a:r>
            </a:p>
          </p:txBody>
        </p:sp>
        <p:sp>
          <p:nvSpPr>
            <p:cNvPr id="35" name="TextBox 35"/>
            <p:cNvSpPr txBox="1"/>
            <p:nvPr/>
          </p:nvSpPr>
          <p:spPr>
            <a:xfrm>
              <a:off x="7937754" y="2137410"/>
              <a:ext cx="819912" cy="234696"/>
            </a:xfrm>
            <a:prstGeom prst="rect">
              <a:avLst/>
            </a:prstGeom>
            <a:noFill/>
            <a:ln>
              <a:noFill/>
            </a:ln>
          </p:spPr>
          <p:txBody>
            <a:bodyPr wrap="none" lIns="0" tIns="0" rIns="0" bIns="0" anchor="t" anchorCtr="0">
              <a:spAutoFit/>
            </a:bodyPr>
            <a:lstStyle/>
            <a:p>
              <a:pPr algn="l"/>
              <a:r>
                <a:rPr lang="zh-CN" sz="1200" b="1" dirty="0">
                  <a:solidFill>
                    <a:schemeClr val="dk1"/>
                  </a:solidFill>
                  <a:latin typeface="+mn-lt"/>
                  <a:ea typeface="+mn-ea"/>
                  <a:cs typeface="+mn-cs"/>
                </a:rPr>
                <a:t>沉积与埋藏</a:t>
              </a:r>
            </a:p>
          </p:txBody>
        </p:sp>
        <p:sp>
          <p:nvSpPr>
            <p:cNvPr id="36" name="TextBox 36"/>
            <p:cNvSpPr txBox="1"/>
            <p:nvPr/>
          </p:nvSpPr>
          <p:spPr>
            <a:xfrm>
              <a:off x="7557897" y="2599849"/>
              <a:ext cx="1005586" cy="609790"/>
            </a:xfrm>
            <a:prstGeom prst="rect">
              <a:avLst/>
            </a:prstGeom>
            <a:noFill/>
            <a:ln>
              <a:noFill/>
            </a:ln>
          </p:spPr>
          <p:txBody>
            <a:bodyPr wrap="none" lIns="0" tIns="0" rIns="0" bIns="0" anchor="t" anchorCtr="0">
              <a:spAutoFit/>
            </a:bodyPr>
            <a:lstStyle/>
            <a:p>
              <a:pPr algn="l">
                <a:lnSpc>
                  <a:spcPts val="1650"/>
                </a:lnSpc>
              </a:pPr>
              <a:r>
                <a:rPr lang="zh-CN" sz="980" dirty="0">
                  <a:solidFill>
                    <a:schemeClr val="accent5"/>
                  </a:solidFill>
                  <a:latin typeface="+mn-lt"/>
                  <a:ea typeface="+mn-ea"/>
                  <a:cs typeface="+mn-cs"/>
                </a:rPr>
                <a:t>颗粒在海底堆积，</a:t>
              </a:r>
              <a:br/>
              <a:r>
                <a:rPr lang="zh-CN" sz="980" dirty="0">
                  <a:solidFill>
                    <a:schemeClr val="accent5"/>
                  </a:solidFill>
                  <a:latin typeface="+mn-lt"/>
                  <a:ea typeface="+mn-ea"/>
                  <a:cs typeface="+mn-cs"/>
                </a:rPr>
                <a:t>被后续沉积物覆</a:t>
              </a:r>
              <a:br/>
              <a:r>
                <a:rPr lang="zh-CN" sz="980" dirty="0">
                  <a:solidFill>
                    <a:schemeClr val="accent5"/>
                  </a:solidFill>
                  <a:latin typeface="+mn-lt"/>
                  <a:ea typeface="+mn-ea"/>
                  <a:cs typeface="+mn-cs"/>
                </a:rPr>
                <a:t>盖并埋入地下。</a:t>
              </a:r>
            </a:p>
          </p:txBody>
        </p:sp>
        <p:sp>
          <p:nvSpPr>
            <p:cNvPr id="37" name="Line 37"/>
            <p:cNvSpPr/>
            <p:nvPr/>
          </p:nvSpPr>
          <p:spPr>
            <a:xfrm>
              <a:off x="9391650" y="2762250"/>
              <a:ext cx="209550" cy="9525"/>
            </a:xfrm>
            <a:custGeom>
              <a:avLst/>
              <a:gdLst/>
              <a:ahLst/>
              <a:cxnLst/>
              <a:rect l="l" t="t" r="r" b="b"/>
              <a:pathLst>
                <a:path w="209550" h="9525">
                  <a:moveTo>
                    <a:pt x="0" y="0"/>
                  </a:moveTo>
                  <a:lnTo>
                    <a:pt x="209550" y="0"/>
                  </a:lnTo>
                </a:path>
              </a:pathLst>
            </a:custGeom>
            <a:noFill/>
            <a:ln w="38100">
              <a:solidFill>
                <a:srgbClr val="C2410C"/>
              </a:solidFill>
            </a:ln>
          </p:spPr>
        </p:sp>
        <p:sp>
          <p:nvSpPr>
            <p:cNvPr id="38" name="Polygon 38"/>
            <p:cNvSpPr/>
            <p:nvPr/>
          </p:nvSpPr>
          <p:spPr>
            <a:xfrm>
              <a:off x="9544050" y="2695575"/>
              <a:ext cx="133350" cy="133350"/>
            </a:xfrm>
            <a:custGeom>
              <a:avLst/>
              <a:gdLst/>
              <a:ahLst/>
              <a:cxnLst/>
              <a:rect l="l" t="t" r="r" b="b"/>
              <a:pathLst>
                <a:path w="133350" h="133350">
                  <a:moveTo>
                    <a:pt x="0" y="0"/>
                  </a:moveTo>
                  <a:lnTo>
                    <a:pt x="133350" y="66675"/>
                  </a:lnTo>
                  <a:lnTo>
                    <a:pt x="0" y="133350"/>
                  </a:lnTo>
                  <a:close/>
                </a:path>
              </a:pathLst>
            </a:custGeom>
            <a:solidFill>
              <a:srgbClr val="C2410C"/>
            </a:solidFill>
            <a:ln>
              <a:noFill/>
            </a:ln>
          </p:spPr>
        </p:sp>
        <p:sp>
          <p:nvSpPr>
            <p:cNvPr id="39" name="Rectangle 39"/>
            <p:cNvSpPr/>
            <p:nvPr/>
          </p:nvSpPr>
          <p:spPr>
            <a:xfrm>
              <a:off x="9677400" y="1905000"/>
              <a:ext cx="1905000" cy="1714500"/>
            </a:xfrm>
            <a:prstGeom prst="roundRect">
              <a:avLst>
                <a:gd name="adj" fmla="val 5556"/>
              </a:avLst>
            </a:prstGeom>
            <a:solidFill>
              <a:srgbClr val="FDECDD"/>
            </a:solidFill>
            <a:ln w="9525">
              <a:solidFill>
                <a:srgbClr val="F0CFC2"/>
              </a:solidFill>
            </a:ln>
          </p:spPr>
        </p:sp>
        <p:sp>
          <p:nvSpPr>
            <p:cNvPr id="40" name="Ellipse 40"/>
            <p:cNvSpPr/>
            <p:nvPr/>
          </p:nvSpPr>
          <p:spPr>
            <a:xfrm>
              <a:off x="9772650" y="2038350"/>
              <a:ext cx="342900" cy="342900"/>
            </a:xfrm>
            <a:prstGeom prst="ellipse">
              <a:avLst/>
            </a:prstGeom>
            <a:solidFill>
              <a:srgbClr val="7A4A33"/>
            </a:solidFill>
            <a:ln>
              <a:noFill/>
            </a:ln>
          </p:spPr>
        </p:sp>
        <p:sp>
          <p:nvSpPr>
            <p:cNvPr id="41" name="TextBox 41"/>
            <p:cNvSpPr txBox="1"/>
            <p:nvPr/>
          </p:nvSpPr>
          <p:spPr>
            <a:xfrm>
              <a:off x="9891358" y="2137410"/>
              <a:ext cx="105484" cy="234696"/>
            </a:xfrm>
            <a:prstGeom prst="rect">
              <a:avLst/>
            </a:prstGeom>
            <a:noFill/>
            <a:ln>
              <a:noFill/>
            </a:ln>
          </p:spPr>
          <p:txBody>
            <a:bodyPr wrap="none" lIns="0" tIns="0" rIns="0" bIns="0" anchor="t" anchorCtr="0">
              <a:spAutoFit/>
            </a:bodyPr>
            <a:lstStyle/>
            <a:p>
              <a:pPr algn="ctr"/>
              <a:r>
                <a:rPr lang="zh-CN" sz="1200" b="1" dirty="0">
                  <a:solidFill>
                    <a:srgbClr val="FFFFFF"/>
                  </a:solidFill>
                  <a:latin typeface="+mn-lt"/>
                  <a:ea typeface="+mn-ea"/>
                  <a:cs typeface="+mn-cs"/>
                </a:rPr>
                <a:t>5</a:t>
              </a:r>
            </a:p>
          </p:txBody>
        </p:sp>
        <p:sp>
          <p:nvSpPr>
            <p:cNvPr id="42" name="TextBox 42"/>
            <p:cNvSpPr txBox="1"/>
            <p:nvPr/>
          </p:nvSpPr>
          <p:spPr>
            <a:xfrm>
              <a:off x="10204704" y="2137410"/>
              <a:ext cx="658368" cy="234696"/>
            </a:xfrm>
            <a:prstGeom prst="rect">
              <a:avLst/>
            </a:prstGeom>
            <a:noFill/>
            <a:ln>
              <a:noFill/>
            </a:ln>
          </p:spPr>
          <p:txBody>
            <a:bodyPr wrap="none" lIns="0" tIns="0" rIns="0" bIns="0" anchor="t" anchorCtr="0">
              <a:spAutoFit/>
            </a:bodyPr>
            <a:lstStyle/>
            <a:p>
              <a:pPr algn="l"/>
              <a:r>
                <a:rPr lang="zh-CN" sz="1200" b="1" dirty="0">
                  <a:solidFill>
                    <a:srgbClr val="7A4A33"/>
                  </a:solidFill>
                  <a:latin typeface="+mn-lt"/>
                  <a:ea typeface="+mn-ea"/>
                  <a:cs typeface="+mn-cs"/>
                </a:rPr>
                <a:t>碳酸盐岩</a:t>
              </a:r>
            </a:p>
          </p:txBody>
        </p:sp>
        <p:sp>
          <p:nvSpPr>
            <p:cNvPr id="43" name="TextBox 43"/>
            <p:cNvSpPr txBox="1"/>
            <p:nvPr/>
          </p:nvSpPr>
          <p:spPr>
            <a:xfrm>
              <a:off x="9824847" y="2599849"/>
              <a:ext cx="881126" cy="609790"/>
            </a:xfrm>
            <a:prstGeom prst="rect">
              <a:avLst/>
            </a:prstGeom>
            <a:noFill/>
            <a:ln>
              <a:noFill/>
            </a:ln>
          </p:spPr>
          <p:txBody>
            <a:bodyPr wrap="none" lIns="0" tIns="0" rIns="0" bIns="0" anchor="t" anchorCtr="0">
              <a:spAutoFit/>
            </a:bodyPr>
            <a:lstStyle/>
            <a:p>
              <a:pPr algn="l">
                <a:lnSpc>
                  <a:spcPts val="1650"/>
                </a:lnSpc>
              </a:pPr>
              <a:r>
                <a:rPr lang="zh-CN" sz="980" dirty="0">
                  <a:solidFill>
                    <a:schemeClr val="accent5"/>
                  </a:solidFill>
                  <a:latin typeface="+mn-lt"/>
                  <a:ea typeface="+mn-ea"/>
                  <a:cs typeface="+mn-cs"/>
                </a:rPr>
                <a:t>经压实与胶结成</a:t>
              </a:r>
              <a:br/>
              <a:r>
                <a:rPr lang="zh-CN" sz="980" dirty="0">
                  <a:solidFill>
                    <a:schemeClr val="accent5"/>
                  </a:solidFill>
                  <a:latin typeface="+mn-lt"/>
                  <a:ea typeface="+mn-ea"/>
                  <a:cs typeface="+mn-cs"/>
                </a:rPr>
                <a:t>为碳酸盐岩，碳</a:t>
              </a:r>
              <a:br/>
              <a:r>
                <a:rPr lang="zh-CN" sz="980" dirty="0">
                  <a:solidFill>
                    <a:schemeClr val="accent5"/>
                  </a:solidFill>
                  <a:latin typeface="+mn-lt"/>
                  <a:ea typeface="+mn-ea"/>
                  <a:cs typeface="+mn-cs"/>
                </a:rPr>
                <a:t>回到岩石圈。</a:t>
              </a:r>
            </a:p>
          </p:txBody>
        </p:sp>
        <p:sp>
          <p:nvSpPr>
            <p:cNvPr id="44" name="Rectangle 44"/>
            <p:cNvSpPr/>
            <p:nvPr/>
          </p:nvSpPr>
          <p:spPr>
            <a:xfrm>
              <a:off x="609600" y="3848100"/>
              <a:ext cx="10972800" cy="685800"/>
            </a:xfrm>
            <a:prstGeom prst="roundRect">
              <a:avLst>
                <a:gd name="adj" fmla="val 13889"/>
              </a:avLst>
            </a:prstGeom>
            <a:solidFill>
              <a:schemeClr val="lt1"/>
            </a:solidFill>
            <a:ln w="9525">
              <a:solidFill>
                <a:schemeClr val="accent6"/>
              </a:solidFill>
            </a:ln>
          </p:spPr>
        </p:sp>
        <p:sp>
          <p:nvSpPr>
            <p:cNvPr id="45" name="TextBox 45"/>
            <p:cNvSpPr txBox="1"/>
            <p:nvPr/>
          </p:nvSpPr>
          <p:spPr>
            <a:xfrm>
              <a:off x="833247" y="4009549"/>
              <a:ext cx="7958544" cy="190690"/>
            </a:xfrm>
            <a:prstGeom prst="rect">
              <a:avLst/>
            </a:prstGeom>
            <a:noFill/>
            <a:ln>
              <a:noFill/>
            </a:ln>
          </p:spPr>
          <p:txBody>
            <a:bodyPr wrap="none" lIns="0" tIns="0" rIns="0" bIns="0" anchor="t" anchorCtr="0">
              <a:spAutoFit/>
            </a:bodyPr>
            <a:lstStyle/>
            <a:p>
              <a:pPr algn="l"/>
              <a:r>
                <a:rPr lang="zh-CN" sz="980" dirty="0">
                  <a:solidFill>
                    <a:schemeClr val="accent5"/>
                  </a:solidFill>
                  <a:latin typeface="+mn-lt"/>
                  <a:ea typeface="+mn-ea"/>
                  <a:cs typeface="+mn-cs"/>
                </a:rPr>
                <a:t>图 4-9 已区分三条下沉路径：生物泵（有机碳）、物理泵（溶解碳随环流下沉）与碳酸盐路径（钙质颗粒）；本页只沿碳酸盐这一条走。</a:t>
              </a:r>
            </a:p>
          </p:txBody>
        </p:sp>
        <p:sp>
          <p:nvSpPr>
            <p:cNvPr id="46" name="TextBox 46"/>
            <p:cNvSpPr txBox="1"/>
            <p:nvPr/>
          </p:nvSpPr>
          <p:spPr>
            <a:xfrm>
              <a:off x="833247" y="4238149"/>
              <a:ext cx="2120748" cy="190690"/>
            </a:xfrm>
            <a:prstGeom prst="rect">
              <a:avLst/>
            </a:prstGeom>
            <a:noFill/>
            <a:ln>
              <a:noFill/>
            </a:ln>
          </p:spPr>
          <p:txBody>
            <a:bodyPr wrap="none" lIns="0" tIns="0" rIns="0" bIns="0" anchor="t" anchorCtr="0">
              <a:spAutoFit/>
            </a:bodyPr>
            <a:lstStyle/>
            <a:p>
              <a:pPr algn="l"/>
              <a:r>
                <a:rPr lang="zh-CN" sz="980" dirty="0">
                  <a:solidFill>
                    <a:schemeClr val="accent5"/>
                  </a:solidFill>
                  <a:latin typeface="+mn-lt"/>
                  <a:ea typeface="+mn-ea"/>
                  <a:cs typeface="+mn-cs"/>
                </a:rPr>
                <a:t>本页不进入碳酸盐平衡的定量计算。</a:t>
              </a:r>
            </a:p>
          </p:txBody>
        </p:sp>
      </p:grpSp>
      <p:grpSp>
        <p:nvGrpSpPr>
          <p:cNvPr id="52" name="Group 52"/>
          <p:cNvGrpSpPr/>
          <p:nvPr/>
        </p:nvGrpSpPr>
        <p:grpSpPr>
          <a:xfrm>
            <a:off x="381000" y="4914900"/>
            <a:ext cx="7086600" cy="1314450"/>
            <a:chOff x="381000" y="4914900"/>
            <a:chExt cx="7086600" cy="1314450"/>
          </a:xfrm>
        </p:grpSpPr>
        <p:sp>
          <p:nvSpPr>
            <p:cNvPr id="48" name="Rectangle 48"/>
            <p:cNvSpPr/>
            <p:nvPr/>
          </p:nvSpPr>
          <p:spPr>
            <a:xfrm>
              <a:off x="381000" y="4914900"/>
              <a:ext cx="7086600" cy="1314450"/>
            </a:xfrm>
            <a:prstGeom prst="roundRect">
              <a:avLst>
                <a:gd name="adj" fmla="val 8696"/>
              </a:avLst>
            </a:prstGeom>
            <a:solidFill>
              <a:srgbClr val="FDF4EF"/>
            </a:solidFill>
            <a:ln w="9525">
              <a:solidFill>
                <a:srgbClr val="F0CFC2"/>
              </a:solidFill>
            </a:ln>
          </p:spPr>
        </p:sp>
        <p:sp>
          <p:nvSpPr>
            <p:cNvPr id="49" name="TextBox 49"/>
            <p:cNvSpPr txBox="1"/>
            <p:nvPr/>
          </p:nvSpPr>
          <p:spPr>
            <a:xfrm>
              <a:off x="603504" y="5090160"/>
              <a:ext cx="2431361" cy="234696"/>
            </a:xfrm>
            <a:prstGeom prst="rect">
              <a:avLst/>
            </a:prstGeom>
            <a:noFill/>
            <a:ln>
              <a:noFill/>
            </a:ln>
          </p:spPr>
          <p:txBody>
            <a:bodyPr wrap="none" lIns="0" tIns="0" rIns="0" bIns="0" anchor="t" anchorCtr="0">
              <a:spAutoFit/>
            </a:bodyPr>
            <a:lstStyle/>
            <a:p>
              <a:pPr algn="l"/>
              <a:r>
                <a:rPr lang="zh-CN" sz="1200" b="1" dirty="0">
                  <a:solidFill>
                    <a:srgbClr val="C2410C"/>
                  </a:solidFill>
                  <a:latin typeface="+mn-lt"/>
                  <a:ea typeface="+mn-ea"/>
                  <a:cs typeface="+mn-cs"/>
                </a:rPr>
                <a:t>可选反应式 | Optional reaction</a:t>
              </a:r>
            </a:p>
          </p:txBody>
        </p:sp>
        <p:sp>
          <p:nvSpPr>
            <p:cNvPr id="50" name="TextBox 50"/>
            <p:cNvSpPr txBox="1"/>
            <p:nvPr/>
          </p:nvSpPr>
          <p:spPr>
            <a:xfrm>
              <a:off x="602361" y="5389721"/>
              <a:ext cx="3695287" cy="278702"/>
            </a:xfrm>
            <a:prstGeom prst="rect">
              <a:avLst/>
            </a:prstGeom>
            <a:noFill/>
            <a:ln>
              <a:noFill/>
            </a:ln>
          </p:spPr>
          <p:txBody>
            <a:bodyPr wrap="none" lIns="0" tIns="0" rIns="0" bIns="0" anchor="t" anchorCtr="0">
              <a:spAutoFit/>
            </a:bodyPr>
            <a:lstStyle/>
            <a:p>
              <a:pPr algn="l"/>
              <a:r>
                <a:rPr lang="zh-CN" sz="1420" b="1" dirty="0">
                  <a:solidFill>
                    <a:srgbClr val="C2410C"/>
                  </a:solidFill>
                  <a:latin typeface="+mn-lt"/>
                  <a:ea typeface="+mn-ea"/>
                  <a:cs typeface="+mn-cs"/>
                </a:rPr>
                <a:t>Ca²⁺ + 2HCO₃⁻ → CaCO₃ + H₂O + CO₂↑</a:t>
              </a:r>
            </a:p>
          </p:txBody>
        </p:sp>
        <p:sp>
          <p:nvSpPr>
            <p:cNvPr id="51" name="TextBox 51"/>
            <p:cNvSpPr txBox="1"/>
            <p:nvPr/>
          </p:nvSpPr>
          <p:spPr>
            <a:xfrm>
              <a:off x="604647" y="5724049"/>
              <a:ext cx="4770252" cy="190690"/>
            </a:xfrm>
            <a:prstGeom prst="rect">
              <a:avLst/>
            </a:prstGeom>
            <a:noFill/>
            <a:ln>
              <a:noFill/>
            </a:ln>
          </p:spPr>
          <p:txBody>
            <a:bodyPr wrap="none" lIns="0" tIns="0" rIns="0" bIns="0" anchor="t" anchorCtr="0">
              <a:spAutoFit/>
            </a:bodyPr>
            <a:lstStyle/>
            <a:p>
              <a:pPr algn="l"/>
              <a:r>
                <a:rPr lang="zh-CN" sz="980" dirty="0">
                  <a:solidFill>
                    <a:srgbClr val="7A4A33"/>
                  </a:solidFill>
                  <a:latin typeface="+mn-lt"/>
                  <a:ea typeface="+mn-ea"/>
                  <a:cs typeface="+mn-cs"/>
                </a:rPr>
                <a:t>教材用该式说明碳酸盐泵可能释放 CO₂；本页只作定性方向，不做平衡计算。</a:t>
              </a:r>
            </a:p>
          </p:txBody>
        </p:sp>
      </p:grpSp>
      <p:grpSp>
        <p:nvGrpSpPr>
          <p:cNvPr id="56" name="Group 56"/>
          <p:cNvGrpSpPr/>
          <p:nvPr/>
        </p:nvGrpSpPr>
        <p:grpSpPr>
          <a:xfrm>
            <a:off x="7658100" y="4914900"/>
            <a:ext cx="4152900" cy="1314450"/>
            <a:chOff x="7658100" y="4914900"/>
            <a:chExt cx="4152900" cy="1314450"/>
          </a:xfrm>
        </p:grpSpPr>
        <p:sp>
          <p:nvSpPr>
            <p:cNvPr id="53" name="Rectangle 53"/>
            <p:cNvSpPr/>
            <p:nvPr/>
          </p:nvSpPr>
          <p:spPr>
            <a:xfrm>
              <a:off x="7658100" y="4914900"/>
              <a:ext cx="4152900" cy="1314450"/>
            </a:xfrm>
            <a:prstGeom prst="roundRect">
              <a:avLst>
                <a:gd name="adj" fmla="val 8696"/>
              </a:avLst>
            </a:prstGeom>
            <a:solidFill>
              <a:schemeClr val="lt1"/>
            </a:solidFill>
            <a:ln w="9525">
              <a:solidFill>
                <a:schemeClr val="accent6"/>
              </a:solidFill>
            </a:ln>
          </p:spPr>
        </p:sp>
        <p:sp>
          <p:nvSpPr>
            <p:cNvPr id="54" name="TextBox 54"/>
            <p:cNvSpPr txBox="1"/>
            <p:nvPr/>
          </p:nvSpPr>
          <p:spPr>
            <a:xfrm>
              <a:off x="7880604" y="5090160"/>
              <a:ext cx="2688445" cy="234696"/>
            </a:xfrm>
            <a:prstGeom prst="rect">
              <a:avLst/>
            </a:prstGeom>
            <a:noFill/>
            <a:ln>
              <a:noFill/>
            </a:ln>
          </p:spPr>
          <p:txBody>
            <a:bodyPr wrap="none" lIns="0" tIns="0" rIns="0" bIns="0" anchor="t" anchorCtr="0">
              <a:spAutoFit/>
            </a:bodyPr>
            <a:lstStyle/>
            <a:p>
              <a:pPr algn="l"/>
              <a:r>
                <a:rPr lang="zh-CN" sz="1200" b="1" dirty="0">
                  <a:solidFill>
                    <a:schemeClr val="accent1"/>
                  </a:solidFill>
                  <a:latin typeface="+mn-lt"/>
                  <a:ea typeface="+mn-ea"/>
                  <a:cs typeface="+mn-cs"/>
                </a:rPr>
                <a:t>不是单向吸碳 | Not a one-way sink</a:t>
              </a:r>
            </a:p>
          </p:txBody>
        </p:sp>
        <p:sp>
          <p:nvSpPr>
            <p:cNvPr id="55" name="TextBox 55"/>
            <p:cNvSpPr txBox="1"/>
            <p:nvPr/>
          </p:nvSpPr>
          <p:spPr>
            <a:xfrm>
              <a:off x="7880985" y="5384006"/>
              <a:ext cx="2002790" cy="639128"/>
            </a:xfrm>
            <a:prstGeom prst="rect">
              <a:avLst/>
            </a:prstGeom>
            <a:noFill/>
            <a:ln>
              <a:noFill/>
            </a:ln>
          </p:spPr>
          <p:txBody>
            <a:bodyPr wrap="none" lIns="0" tIns="0" rIns="0" bIns="0" anchor="t" anchorCtr="0">
              <a:spAutoFit/>
            </a:bodyPr>
            <a:lstStyle/>
            <a:p>
              <a:pPr algn="l">
                <a:lnSpc>
                  <a:spcPts val="1650"/>
                </a:lnSpc>
              </a:pPr>
              <a:r>
                <a:rPr lang="zh-CN" sz="1120" dirty="0">
                  <a:solidFill>
                    <a:schemeClr val="dk1"/>
                  </a:solidFill>
                  <a:latin typeface="+mn-lt"/>
                  <a:ea typeface="+mn-ea"/>
                  <a:cs typeface="+mn-cs"/>
                </a:rPr>
                <a:t>形成碳酸盐会放出 CO₂，因此</a:t>
              </a:r>
              <a:br/>
              <a:r>
                <a:rPr lang="zh-CN" sz="1120" dirty="0">
                  <a:solidFill>
                    <a:schemeClr val="dk1"/>
                  </a:solidFill>
                  <a:latin typeface="+mn-lt"/>
                  <a:ea typeface="+mn-ea"/>
                  <a:cs typeface="+mn-cs"/>
                </a:rPr>
                <a:t>碳酸盐路径必须与埋藏一起看，</a:t>
              </a:r>
              <a:br/>
              <a:r>
                <a:rPr lang="zh-CN" sz="1120" dirty="0">
                  <a:solidFill>
                    <a:schemeClr val="dk1"/>
                  </a:solidFill>
                  <a:latin typeface="+mn-lt"/>
                  <a:ea typeface="+mn-ea"/>
                  <a:cs typeface="+mn-cs"/>
                </a:rPr>
                <a:t>才谈得上是不是净的大气碳汇。</a:t>
              </a:r>
            </a:p>
          </p:txBody>
        </p:sp>
      </p:grpSp>
      <p:sp>
        <p:nvSpPr>
          <p:cNvPr id="57" name="TextBox 57"/>
          <p:cNvSpPr txBox="1"/>
          <p:nvPr/>
        </p:nvSpPr>
        <p:spPr>
          <a:xfrm>
            <a:off x="376238" y="6532245"/>
            <a:ext cx="8309351" cy="176212"/>
          </a:xfrm>
          <a:prstGeom prst="rect">
            <a:avLst/>
          </a:prstGeom>
          <a:noFill/>
          <a:ln>
            <a:noFill/>
          </a:ln>
        </p:spPr>
        <p:txBody>
          <a:bodyPr wrap="none" lIns="0" tIns="0" rIns="0" bIns="0" anchor="t" anchorCtr="0">
            <a:spAutoFit/>
          </a:bodyPr>
          <a:lstStyle/>
          <a:p>
            <a:pPr algn="l"/>
            <a:r>
              <a:rPr lang="zh-CN" sz="900" dirty="0">
                <a:solidFill>
                  <a:schemeClr val="accent5"/>
                </a:solidFill>
                <a:latin typeface="+mn-lt"/>
                <a:ea typeface="+mn-ea"/>
                <a:cs typeface="+mn-cs"/>
              </a:rPr>
              <a:t>Source: 地球系统与演变 Ch.4 §4.3.2–4.3.3, 图 4-9/4-10, PDF pp.68–71; UE 8e, Ch.12, PDF pp.1206–1208, 1212–1213 (C-04 redraw basis).</a:t>
            </a:r>
          </a:p>
        </p:txBody>
      </p:sp>
      <p:sp>
        <p:nvSpPr>
          <p:cNvPr id="58" name="TextBox 58"/>
          <p:cNvSpPr txBox="1"/>
          <p:nvPr/>
        </p:nvSpPr>
        <p:spPr>
          <a:xfrm>
            <a:off x="11672964" y="6532245"/>
            <a:ext cx="142799" cy="176212"/>
          </a:xfrm>
          <a:prstGeom prst="rect">
            <a:avLst/>
          </a:prstGeom>
          <a:noFill/>
          <a:ln>
            <a:noFill/>
          </a:ln>
        </p:spPr>
        <p:txBody>
          <a:bodyPr wrap="none" lIns="0" tIns="0" rIns="0" bIns="0" anchor="t" anchorCtr="0">
            <a:spAutoFit/>
          </a:bodyPr>
          <a:lstStyle/>
          <a:p>
            <a:pPr algn="r"/>
            <a:r>
              <a:rPr lang="zh-CN" sz="900" dirty="0">
                <a:solidFill>
                  <a:schemeClr val="accent5"/>
                </a:solidFill>
                <a:latin typeface="+mn-lt"/>
                <a:ea typeface="+mn-ea"/>
                <a:cs typeface="+mn-cs"/>
              </a:rPr>
              <a:t>28</a:t>
            </a:r>
          </a:p>
        </p:txBody>
      </p:sp>
    </p:spTree>
    <p:extLst>
      <p:ext uri="{BB962C8B-B14F-4D97-AF65-F5344CB8AC3E}">
        <p14:creationId xmlns:p14="http://schemas.microsoft.com/office/powerpoint/2010/main" val="2070921670"/>
      </p:ext>
    </p:extLst>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5"/>
          <p:cNvGrpSpPr/>
          <p:nvPr/>
        </p:nvGrpSpPr>
        <p:grpSpPr>
          <a:xfrm>
            <a:off x="0" y="0"/>
            <a:ext cx="12192000" cy="685800"/>
            <a:chOff x="0" y="0"/>
            <a:chExt cx="12192000" cy="685800"/>
          </a:xfrm>
        </p:grpSpPr>
        <p:sp>
          <p:nvSpPr>
            <p:cNvPr id="2" name="Rectangle 2"/>
            <p:cNvSpPr/>
            <p:nvPr/>
          </p:nvSpPr>
          <p:spPr>
            <a:xfrm>
              <a:off x="0" y="0"/>
              <a:ext cx="12192000" cy="685800"/>
            </a:xfrm>
            <a:prstGeom prst="rect">
              <a:avLst/>
            </a:prstGeom>
            <a:solidFill>
              <a:schemeClr val="accent1"/>
            </a:solidFill>
            <a:ln>
              <a:noFill/>
            </a:ln>
          </p:spPr>
        </p:sp>
        <p:sp>
          <p:nvSpPr>
            <p:cNvPr id="3" name="TextBox 3"/>
            <p:cNvSpPr txBox="1"/>
            <p:nvPr/>
          </p:nvSpPr>
          <p:spPr>
            <a:xfrm>
              <a:off x="374142" y="282892"/>
              <a:ext cx="6672832" cy="264033"/>
            </a:xfrm>
            <a:prstGeom prst="rect">
              <a:avLst/>
            </a:prstGeom>
            <a:noFill/>
            <a:ln>
              <a:noFill/>
            </a:ln>
          </p:spPr>
          <p:txBody>
            <a:bodyPr wrap="none" lIns="0" tIns="0" rIns="0" bIns="0" anchor="t" anchorCtr="0">
              <a:spAutoFit/>
            </a:bodyPr>
            <a:lstStyle/>
            <a:p>
              <a:pPr algn="l"/>
              <a:r>
                <a:rPr lang="zh-CN" sz="1350" b="1" dirty="0">
                  <a:solidFill>
                    <a:srgbClr val="FFFFFF"/>
                  </a:solidFill>
                  <a:latin typeface="+mn-lt"/>
                  <a:ea typeface="+mn-ea"/>
                  <a:cs typeface="+mn-cs"/>
                </a:rPr>
                <a:t>2.9 风化：水循环开始影响碳循环 | Weathering: Where Water Meets Carbon</a:t>
              </a:r>
            </a:p>
          </p:txBody>
        </p:sp>
        <p:sp>
          <p:nvSpPr>
            <p:cNvPr id="4" name="TextBox 4"/>
            <p:cNvSpPr txBox="1"/>
            <p:nvPr/>
          </p:nvSpPr>
          <p:spPr>
            <a:xfrm>
              <a:off x="10686898" y="299085"/>
              <a:ext cx="1130198" cy="234696"/>
            </a:xfrm>
            <a:prstGeom prst="rect">
              <a:avLst/>
            </a:prstGeom>
            <a:noFill/>
            <a:ln>
              <a:noFill/>
            </a:ln>
          </p:spPr>
          <p:txBody>
            <a:bodyPr wrap="none" lIns="0" tIns="0" rIns="0" bIns="0" anchor="t" anchorCtr="0">
              <a:spAutoFit/>
            </a:bodyPr>
            <a:lstStyle/>
            <a:p>
              <a:pPr algn="r"/>
              <a:r>
                <a:rPr lang="zh-CN" sz="1200" dirty="0">
                  <a:solidFill>
                    <a:srgbClr val="C7D7F2"/>
                  </a:solidFill>
                  <a:latin typeface="+mn-lt"/>
                  <a:ea typeface="+mn-ea"/>
                  <a:cs typeface="+mn-cs"/>
                </a:rPr>
                <a:t>CARBON CYCLE</a:t>
              </a:r>
            </a:p>
          </p:txBody>
        </p:sp>
      </p:grpSp>
      <p:grpSp>
        <p:nvGrpSpPr>
          <p:cNvPr id="8" name="Group 8"/>
          <p:cNvGrpSpPr/>
          <p:nvPr/>
        </p:nvGrpSpPr>
        <p:grpSpPr>
          <a:xfrm>
            <a:off x="381000" y="914400"/>
            <a:ext cx="6825551" cy="357093"/>
            <a:chOff x="381000" y="914400"/>
            <a:chExt cx="6825551" cy="357093"/>
          </a:xfrm>
        </p:grpSpPr>
        <p:sp>
          <p:nvSpPr>
            <p:cNvPr id="6" name="Rectangle 6"/>
            <p:cNvSpPr/>
            <p:nvPr/>
          </p:nvSpPr>
          <p:spPr>
            <a:xfrm>
              <a:off x="381000" y="914400"/>
              <a:ext cx="57150" cy="266700"/>
            </a:xfrm>
            <a:prstGeom prst="roundRect">
              <a:avLst>
                <a:gd name="adj" fmla="val 50000"/>
              </a:avLst>
            </a:prstGeom>
            <a:solidFill>
              <a:schemeClr val="accent3"/>
            </a:solidFill>
            <a:ln>
              <a:noFill/>
            </a:ln>
          </p:spPr>
        </p:sp>
        <p:sp>
          <p:nvSpPr>
            <p:cNvPr id="7" name="TextBox 7"/>
            <p:cNvSpPr txBox="1"/>
            <p:nvPr/>
          </p:nvSpPr>
          <p:spPr>
            <a:xfrm>
              <a:off x="544449" y="963454"/>
              <a:ext cx="6662102" cy="308039"/>
            </a:xfrm>
            <a:prstGeom prst="rect">
              <a:avLst/>
            </a:prstGeom>
            <a:noFill/>
            <a:ln>
              <a:noFill/>
            </a:ln>
          </p:spPr>
          <p:txBody>
            <a:bodyPr wrap="none" lIns="0" tIns="0" rIns="0" bIns="0" anchor="t" anchorCtr="0">
              <a:spAutoFit/>
            </a:bodyPr>
            <a:lstStyle/>
            <a:p>
              <a:pPr algn="l"/>
              <a:r>
                <a:rPr lang="zh-CN" sz="1580" b="1" dirty="0">
                  <a:solidFill>
                    <a:srgbClr val="C2410C"/>
                  </a:solidFill>
                  <a:latin typeface="+mn-lt"/>
                  <a:ea typeface="+mn-ea"/>
                  <a:cs typeface="+mn-cs"/>
                </a:rPr>
                <a:t>水与 CO₂ 共同驱动风化；只有硅酸盐风化把大气碳长期转入岩石圈</a:t>
              </a:r>
            </a:p>
          </p:txBody>
        </p:sp>
      </p:grpSp>
      <p:grpSp>
        <p:nvGrpSpPr>
          <p:cNvPr id="35" name="Group 35"/>
          <p:cNvGrpSpPr/>
          <p:nvPr/>
        </p:nvGrpSpPr>
        <p:grpSpPr>
          <a:xfrm>
            <a:off x="381000" y="1428750"/>
            <a:ext cx="11430000" cy="2000250"/>
            <a:chOff x="381000" y="1428750"/>
            <a:chExt cx="11430000" cy="2000250"/>
          </a:xfrm>
        </p:grpSpPr>
        <p:sp>
          <p:nvSpPr>
            <p:cNvPr id="9" name="Rectangle 9"/>
            <p:cNvSpPr/>
            <p:nvPr/>
          </p:nvSpPr>
          <p:spPr>
            <a:xfrm>
              <a:off x="381000" y="1428750"/>
              <a:ext cx="11430000" cy="2000250"/>
            </a:xfrm>
            <a:prstGeom prst="roundRect">
              <a:avLst>
                <a:gd name="adj" fmla="val 5714"/>
              </a:avLst>
            </a:prstGeom>
            <a:solidFill>
              <a:schemeClr val="lt2"/>
            </a:solidFill>
            <a:ln w="9525">
              <a:solidFill>
                <a:schemeClr val="accent6"/>
              </a:solidFill>
            </a:ln>
          </p:spPr>
        </p:sp>
        <p:sp>
          <p:nvSpPr>
            <p:cNvPr id="10" name="TextBox 10"/>
            <p:cNvSpPr txBox="1"/>
            <p:nvPr/>
          </p:nvSpPr>
          <p:spPr>
            <a:xfrm>
              <a:off x="603504" y="1604010"/>
              <a:ext cx="1650153" cy="234696"/>
            </a:xfrm>
            <a:prstGeom prst="rect">
              <a:avLst/>
            </a:prstGeom>
            <a:noFill/>
            <a:ln>
              <a:noFill/>
            </a:ln>
          </p:spPr>
          <p:txBody>
            <a:bodyPr wrap="none" lIns="0" tIns="0" rIns="0" bIns="0" anchor="t" anchorCtr="0">
              <a:spAutoFit/>
            </a:bodyPr>
            <a:lstStyle/>
            <a:p>
              <a:pPr algn="l"/>
              <a:r>
                <a:rPr lang="zh-CN" sz="1200" b="1" dirty="0">
                  <a:solidFill>
                    <a:schemeClr val="accent1"/>
                  </a:solidFill>
                  <a:latin typeface="+mn-lt"/>
                  <a:ea typeface="+mn-ea"/>
                  <a:cs typeface="+mn-cs"/>
                </a:rPr>
                <a:t>因果链 | Causal chain</a:t>
              </a:r>
            </a:p>
          </p:txBody>
        </p:sp>
        <p:sp>
          <p:nvSpPr>
            <p:cNvPr id="11" name="Rectangle 11"/>
            <p:cNvSpPr/>
            <p:nvPr/>
          </p:nvSpPr>
          <p:spPr>
            <a:xfrm>
              <a:off x="609600" y="1885950"/>
              <a:ext cx="1809750" cy="857250"/>
            </a:xfrm>
            <a:prstGeom prst="roundRect">
              <a:avLst>
                <a:gd name="adj" fmla="val 11111"/>
              </a:avLst>
            </a:prstGeom>
            <a:solidFill>
              <a:srgbClr val="F0F5FC"/>
            </a:solidFill>
            <a:ln w="9525">
              <a:solidFill>
                <a:schemeClr val="accent6"/>
              </a:solidFill>
            </a:ln>
          </p:spPr>
        </p:sp>
        <p:sp>
          <p:nvSpPr>
            <p:cNvPr id="12" name="TextBox 12"/>
            <p:cNvSpPr txBox="1"/>
            <p:nvPr/>
          </p:nvSpPr>
          <p:spPr>
            <a:xfrm>
              <a:off x="755904" y="2137410"/>
              <a:ext cx="738896" cy="234696"/>
            </a:xfrm>
            <a:prstGeom prst="rect">
              <a:avLst/>
            </a:prstGeom>
            <a:noFill/>
            <a:ln>
              <a:noFill/>
            </a:ln>
          </p:spPr>
          <p:txBody>
            <a:bodyPr wrap="none" lIns="0" tIns="0" rIns="0" bIns="0" anchor="t" anchorCtr="0">
              <a:spAutoFit/>
            </a:bodyPr>
            <a:lstStyle/>
            <a:p>
              <a:pPr algn="l"/>
              <a:r>
                <a:rPr lang="zh-CN" sz="1200" b="1" dirty="0">
                  <a:solidFill>
                    <a:schemeClr val="accent2"/>
                  </a:solidFill>
                  <a:latin typeface="+mn-lt"/>
                  <a:ea typeface="+mn-ea"/>
                  <a:cs typeface="+mn-cs"/>
                </a:rPr>
                <a:t>大气 CO₂</a:t>
              </a:r>
            </a:p>
          </p:txBody>
        </p:sp>
        <p:sp>
          <p:nvSpPr>
            <p:cNvPr id="13" name="TextBox 13"/>
            <p:cNvSpPr txBox="1"/>
            <p:nvPr/>
          </p:nvSpPr>
          <p:spPr>
            <a:xfrm>
              <a:off x="757047" y="2428399"/>
              <a:ext cx="1078603" cy="190690"/>
            </a:xfrm>
            <a:prstGeom prst="rect">
              <a:avLst/>
            </a:prstGeom>
            <a:noFill/>
            <a:ln>
              <a:noFill/>
            </a:ln>
          </p:spPr>
          <p:txBody>
            <a:bodyPr wrap="none" lIns="0" tIns="0" rIns="0" bIns="0" anchor="t" anchorCtr="0">
              <a:spAutoFit/>
            </a:bodyPr>
            <a:lstStyle/>
            <a:p>
              <a:pPr algn="l"/>
              <a:r>
                <a:rPr lang="zh-CN" sz="980" dirty="0">
                  <a:solidFill>
                    <a:schemeClr val="accent5"/>
                  </a:solidFill>
                  <a:latin typeface="+mn-lt"/>
                  <a:ea typeface="+mn-ea"/>
                  <a:cs typeface="+mn-cs"/>
                </a:rPr>
                <a:t>+ 降水 Rainwater</a:t>
              </a:r>
            </a:p>
          </p:txBody>
        </p:sp>
        <p:sp>
          <p:nvSpPr>
            <p:cNvPr id="14" name="Line 14"/>
            <p:cNvSpPr/>
            <p:nvPr/>
          </p:nvSpPr>
          <p:spPr>
            <a:xfrm>
              <a:off x="2438400" y="2314575"/>
              <a:ext cx="209550" cy="9525"/>
            </a:xfrm>
            <a:custGeom>
              <a:avLst/>
              <a:gdLst/>
              <a:ahLst/>
              <a:cxnLst/>
              <a:rect l="l" t="t" r="r" b="b"/>
              <a:pathLst>
                <a:path w="209550" h="9525">
                  <a:moveTo>
                    <a:pt x="0" y="0"/>
                  </a:moveTo>
                  <a:lnTo>
                    <a:pt x="209550" y="0"/>
                  </a:lnTo>
                </a:path>
              </a:pathLst>
            </a:custGeom>
            <a:noFill/>
            <a:ln w="38100">
              <a:solidFill>
                <a:srgbClr val="3D7BD9"/>
              </a:solidFill>
            </a:ln>
          </p:spPr>
        </p:sp>
        <p:sp>
          <p:nvSpPr>
            <p:cNvPr id="15" name="Polygon 15"/>
            <p:cNvSpPr/>
            <p:nvPr/>
          </p:nvSpPr>
          <p:spPr>
            <a:xfrm>
              <a:off x="2590800" y="2247900"/>
              <a:ext cx="133350" cy="133350"/>
            </a:xfrm>
            <a:custGeom>
              <a:avLst/>
              <a:gdLst/>
              <a:ahLst/>
              <a:cxnLst/>
              <a:rect l="l" t="t" r="r" b="b"/>
              <a:pathLst>
                <a:path w="133350" h="133350">
                  <a:moveTo>
                    <a:pt x="0" y="0"/>
                  </a:moveTo>
                  <a:lnTo>
                    <a:pt x="133350" y="66675"/>
                  </a:lnTo>
                  <a:lnTo>
                    <a:pt x="0" y="133350"/>
                  </a:lnTo>
                  <a:close/>
                </a:path>
              </a:pathLst>
            </a:custGeom>
            <a:solidFill>
              <a:srgbClr val="3D7BD9"/>
            </a:solidFill>
            <a:ln>
              <a:noFill/>
            </a:ln>
          </p:spPr>
        </p:sp>
        <p:sp>
          <p:nvSpPr>
            <p:cNvPr id="16" name="Rectangle 16"/>
            <p:cNvSpPr/>
            <p:nvPr/>
          </p:nvSpPr>
          <p:spPr>
            <a:xfrm>
              <a:off x="2819400" y="1885950"/>
              <a:ext cx="1809750" cy="857250"/>
            </a:xfrm>
            <a:prstGeom prst="roundRect">
              <a:avLst>
                <a:gd name="adj" fmla="val 11111"/>
              </a:avLst>
            </a:prstGeom>
            <a:solidFill>
              <a:srgbClr val="F0F5FC"/>
            </a:solidFill>
            <a:ln w="9525">
              <a:solidFill>
                <a:schemeClr val="accent6"/>
              </a:solidFill>
            </a:ln>
          </p:spPr>
        </p:sp>
        <p:sp>
          <p:nvSpPr>
            <p:cNvPr id="17" name="TextBox 17"/>
            <p:cNvSpPr txBox="1"/>
            <p:nvPr/>
          </p:nvSpPr>
          <p:spPr>
            <a:xfrm>
              <a:off x="2965704" y="2137410"/>
              <a:ext cx="496824" cy="234696"/>
            </a:xfrm>
            <a:prstGeom prst="rect">
              <a:avLst/>
            </a:prstGeom>
            <a:noFill/>
            <a:ln>
              <a:noFill/>
            </a:ln>
          </p:spPr>
          <p:txBody>
            <a:bodyPr wrap="none" lIns="0" tIns="0" rIns="0" bIns="0" anchor="t" anchorCtr="0">
              <a:spAutoFit/>
            </a:bodyPr>
            <a:lstStyle/>
            <a:p>
              <a:pPr algn="l"/>
              <a:r>
                <a:rPr lang="zh-CN" sz="1200" b="1" dirty="0">
                  <a:solidFill>
                    <a:schemeClr val="accent2"/>
                  </a:solidFill>
                  <a:latin typeface="+mn-lt"/>
                  <a:ea typeface="+mn-ea"/>
                  <a:cs typeface="+mn-cs"/>
                </a:rPr>
                <a:t>弱碳酸</a:t>
              </a:r>
            </a:p>
          </p:txBody>
        </p:sp>
        <p:sp>
          <p:nvSpPr>
            <p:cNvPr id="18" name="TextBox 18"/>
            <p:cNvSpPr txBox="1"/>
            <p:nvPr/>
          </p:nvSpPr>
          <p:spPr>
            <a:xfrm>
              <a:off x="2966847" y="2428399"/>
              <a:ext cx="1416055" cy="190690"/>
            </a:xfrm>
            <a:prstGeom prst="rect">
              <a:avLst/>
            </a:prstGeom>
            <a:noFill/>
            <a:ln>
              <a:noFill/>
            </a:ln>
          </p:spPr>
          <p:txBody>
            <a:bodyPr wrap="none" lIns="0" tIns="0" rIns="0" bIns="0" anchor="t" anchorCtr="0">
              <a:spAutoFit/>
            </a:bodyPr>
            <a:lstStyle/>
            <a:p>
              <a:pPr algn="l"/>
              <a:r>
                <a:rPr lang="zh-CN" sz="980" dirty="0">
                  <a:solidFill>
                    <a:schemeClr val="accent5"/>
                  </a:solidFill>
                  <a:latin typeface="+mn-lt"/>
                  <a:ea typeface="+mn-ea"/>
                  <a:cs typeface="+mn-cs"/>
                </a:rPr>
                <a:t>H₂CO₃ · Carbonic acid</a:t>
              </a:r>
            </a:p>
          </p:txBody>
        </p:sp>
        <p:sp>
          <p:nvSpPr>
            <p:cNvPr id="19" name="Line 19"/>
            <p:cNvSpPr/>
            <p:nvPr/>
          </p:nvSpPr>
          <p:spPr>
            <a:xfrm>
              <a:off x="4648200" y="2314575"/>
              <a:ext cx="209550" cy="9525"/>
            </a:xfrm>
            <a:custGeom>
              <a:avLst/>
              <a:gdLst/>
              <a:ahLst/>
              <a:cxnLst/>
              <a:rect l="l" t="t" r="r" b="b"/>
              <a:pathLst>
                <a:path w="209550" h="9525">
                  <a:moveTo>
                    <a:pt x="0" y="0"/>
                  </a:moveTo>
                  <a:lnTo>
                    <a:pt x="209550" y="0"/>
                  </a:lnTo>
                </a:path>
              </a:pathLst>
            </a:custGeom>
            <a:noFill/>
            <a:ln w="38100">
              <a:solidFill>
                <a:srgbClr val="7A4A33"/>
              </a:solidFill>
            </a:ln>
          </p:spPr>
        </p:sp>
        <p:sp>
          <p:nvSpPr>
            <p:cNvPr id="20" name="Polygon 20"/>
            <p:cNvSpPr/>
            <p:nvPr/>
          </p:nvSpPr>
          <p:spPr>
            <a:xfrm>
              <a:off x="4800600" y="2247900"/>
              <a:ext cx="133350" cy="133350"/>
            </a:xfrm>
            <a:custGeom>
              <a:avLst/>
              <a:gdLst/>
              <a:ahLst/>
              <a:cxnLst/>
              <a:rect l="l" t="t" r="r" b="b"/>
              <a:pathLst>
                <a:path w="133350" h="133350">
                  <a:moveTo>
                    <a:pt x="0" y="0"/>
                  </a:moveTo>
                  <a:lnTo>
                    <a:pt x="133350" y="66675"/>
                  </a:lnTo>
                  <a:lnTo>
                    <a:pt x="0" y="133350"/>
                  </a:lnTo>
                  <a:close/>
                </a:path>
              </a:pathLst>
            </a:custGeom>
            <a:solidFill>
              <a:srgbClr val="7A4A33"/>
            </a:solidFill>
            <a:ln>
              <a:noFill/>
            </a:ln>
          </p:spPr>
        </p:sp>
        <p:sp>
          <p:nvSpPr>
            <p:cNvPr id="21" name="Rectangle 21"/>
            <p:cNvSpPr/>
            <p:nvPr/>
          </p:nvSpPr>
          <p:spPr>
            <a:xfrm>
              <a:off x="5029200" y="1885950"/>
              <a:ext cx="1809750" cy="857250"/>
            </a:xfrm>
            <a:prstGeom prst="roundRect">
              <a:avLst>
                <a:gd name="adj" fmla="val 11111"/>
              </a:avLst>
            </a:prstGeom>
            <a:solidFill>
              <a:srgbClr val="FDF4EF"/>
            </a:solidFill>
            <a:ln w="9525">
              <a:solidFill>
                <a:srgbClr val="F0CFC2"/>
              </a:solidFill>
            </a:ln>
          </p:spPr>
        </p:sp>
        <p:sp>
          <p:nvSpPr>
            <p:cNvPr id="22" name="TextBox 22"/>
            <p:cNvSpPr txBox="1"/>
            <p:nvPr/>
          </p:nvSpPr>
          <p:spPr>
            <a:xfrm>
              <a:off x="5175504" y="2137410"/>
              <a:ext cx="658368" cy="234696"/>
            </a:xfrm>
            <a:prstGeom prst="rect">
              <a:avLst/>
            </a:prstGeom>
            <a:noFill/>
            <a:ln>
              <a:noFill/>
            </a:ln>
          </p:spPr>
          <p:txBody>
            <a:bodyPr wrap="none" lIns="0" tIns="0" rIns="0" bIns="0" anchor="t" anchorCtr="0">
              <a:spAutoFit/>
            </a:bodyPr>
            <a:lstStyle/>
            <a:p>
              <a:pPr algn="l"/>
              <a:r>
                <a:rPr lang="zh-CN" sz="1200" b="1" dirty="0">
                  <a:solidFill>
                    <a:srgbClr val="C2410C"/>
                  </a:solidFill>
                  <a:latin typeface="+mn-lt"/>
                  <a:ea typeface="+mn-ea"/>
                  <a:cs typeface="+mn-cs"/>
                </a:rPr>
                <a:t>岩石风化</a:t>
              </a:r>
            </a:p>
          </p:txBody>
        </p:sp>
        <p:sp>
          <p:nvSpPr>
            <p:cNvPr id="23" name="TextBox 23"/>
            <p:cNvSpPr txBox="1"/>
            <p:nvPr/>
          </p:nvSpPr>
          <p:spPr>
            <a:xfrm>
              <a:off x="5176647" y="2428399"/>
              <a:ext cx="1313479" cy="190690"/>
            </a:xfrm>
            <a:prstGeom prst="rect">
              <a:avLst/>
            </a:prstGeom>
            <a:noFill/>
            <a:ln>
              <a:noFill/>
            </a:ln>
          </p:spPr>
          <p:txBody>
            <a:bodyPr wrap="none" lIns="0" tIns="0" rIns="0" bIns="0" anchor="t" anchorCtr="0">
              <a:spAutoFit/>
            </a:bodyPr>
            <a:lstStyle/>
            <a:p>
              <a:pPr algn="l"/>
              <a:r>
                <a:rPr lang="zh-CN" sz="980" dirty="0">
                  <a:solidFill>
                    <a:schemeClr val="accent5"/>
                  </a:solidFill>
                  <a:latin typeface="+mn-lt"/>
                  <a:ea typeface="+mn-ea"/>
                  <a:cs typeface="+mn-cs"/>
                </a:rPr>
                <a:t>Chemical weathering</a:t>
              </a:r>
            </a:p>
          </p:txBody>
        </p:sp>
        <p:sp>
          <p:nvSpPr>
            <p:cNvPr id="24" name="Line 24"/>
            <p:cNvSpPr/>
            <p:nvPr/>
          </p:nvSpPr>
          <p:spPr>
            <a:xfrm>
              <a:off x="6858000" y="2314575"/>
              <a:ext cx="209550" cy="9525"/>
            </a:xfrm>
            <a:custGeom>
              <a:avLst/>
              <a:gdLst/>
              <a:ahLst/>
              <a:cxnLst/>
              <a:rect l="l" t="t" r="r" b="b"/>
              <a:pathLst>
                <a:path w="209550" h="9525">
                  <a:moveTo>
                    <a:pt x="0" y="0"/>
                  </a:moveTo>
                  <a:lnTo>
                    <a:pt x="209550" y="0"/>
                  </a:lnTo>
                </a:path>
              </a:pathLst>
            </a:custGeom>
            <a:noFill/>
            <a:ln w="38100">
              <a:solidFill>
                <a:srgbClr val="7A4A33"/>
              </a:solidFill>
            </a:ln>
          </p:spPr>
        </p:sp>
        <p:sp>
          <p:nvSpPr>
            <p:cNvPr id="25" name="Polygon 25"/>
            <p:cNvSpPr/>
            <p:nvPr/>
          </p:nvSpPr>
          <p:spPr>
            <a:xfrm>
              <a:off x="7010400" y="2247900"/>
              <a:ext cx="133350" cy="133350"/>
            </a:xfrm>
            <a:custGeom>
              <a:avLst/>
              <a:gdLst/>
              <a:ahLst/>
              <a:cxnLst/>
              <a:rect l="l" t="t" r="r" b="b"/>
              <a:pathLst>
                <a:path w="133350" h="133350">
                  <a:moveTo>
                    <a:pt x="0" y="0"/>
                  </a:moveTo>
                  <a:lnTo>
                    <a:pt x="133350" y="66675"/>
                  </a:lnTo>
                  <a:lnTo>
                    <a:pt x="0" y="133350"/>
                  </a:lnTo>
                  <a:close/>
                </a:path>
              </a:pathLst>
            </a:custGeom>
            <a:solidFill>
              <a:srgbClr val="7A4A33"/>
            </a:solidFill>
            <a:ln>
              <a:noFill/>
            </a:ln>
          </p:spPr>
        </p:sp>
        <p:sp>
          <p:nvSpPr>
            <p:cNvPr id="26" name="Rectangle 26"/>
            <p:cNvSpPr/>
            <p:nvPr/>
          </p:nvSpPr>
          <p:spPr>
            <a:xfrm>
              <a:off x="7239000" y="1885950"/>
              <a:ext cx="1809750" cy="857250"/>
            </a:xfrm>
            <a:prstGeom prst="roundRect">
              <a:avLst>
                <a:gd name="adj" fmla="val 11111"/>
              </a:avLst>
            </a:prstGeom>
            <a:solidFill>
              <a:srgbClr val="FDF4EF"/>
            </a:solidFill>
            <a:ln w="9525">
              <a:solidFill>
                <a:srgbClr val="F0CFC2"/>
              </a:solidFill>
            </a:ln>
          </p:spPr>
        </p:sp>
        <p:sp>
          <p:nvSpPr>
            <p:cNvPr id="27" name="TextBox 27"/>
            <p:cNvSpPr txBox="1"/>
            <p:nvPr/>
          </p:nvSpPr>
          <p:spPr>
            <a:xfrm>
              <a:off x="7385304" y="2137410"/>
              <a:ext cx="658368" cy="234696"/>
            </a:xfrm>
            <a:prstGeom prst="rect">
              <a:avLst/>
            </a:prstGeom>
            <a:noFill/>
            <a:ln>
              <a:noFill/>
            </a:ln>
          </p:spPr>
          <p:txBody>
            <a:bodyPr wrap="none" lIns="0" tIns="0" rIns="0" bIns="0" anchor="t" anchorCtr="0">
              <a:spAutoFit/>
            </a:bodyPr>
            <a:lstStyle/>
            <a:p>
              <a:pPr algn="l"/>
              <a:r>
                <a:rPr lang="zh-CN" sz="1200" b="1" dirty="0">
                  <a:solidFill>
                    <a:srgbClr val="C2410C"/>
                  </a:solidFill>
                  <a:latin typeface="+mn-lt"/>
                  <a:ea typeface="+mn-ea"/>
                  <a:cs typeface="+mn-cs"/>
                </a:rPr>
                <a:t>溶解产物</a:t>
              </a:r>
            </a:p>
          </p:txBody>
        </p:sp>
        <p:sp>
          <p:nvSpPr>
            <p:cNvPr id="28" name="TextBox 28"/>
            <p:cNvSpPr txBox="1"/>
            <p:nvPr/>
          </p:nvSpPr>
          <p:spPr>
            <a:xfrm>
              <a:off x="7386447" y="2428399"/>
              <a:ext cx="1221063" cy="190690"/>
            </a:xfrm>
            <a:prstGeom prst="rect">
              <a:avLst/>
            </a:prstGeom>
            <a:noFill/>
            <a:ln>
              <a:noFill/>
            </a:ln>
          </p:spPr>
          <p:txBody>
            <a:bodyPr wrap="none" lIns="0" tIns="0" rIns="0" bIns="0" anchor="t" anchorCtr="0">
              <a:spAutoFit/>
            </a:bodyPr>
            <a:lstStyle/>
            <a:p>
              <a:pPr algn="l"/>
              <a:r>
                <a:rPr lang="zh-CN" sz="980" dirty="0">
                  <a:solidFill>
                    <a:schemeClr val="accent5"/>
                  </a:solidFill>
                  <a:latin typeface="+mn-lt"/>
                  <a:ea typeface="+mn-ea"/>
                  <a:cs typeface="+mn-cs"/>
                </a:rPr>
                <a:t>Dissolved products</a:t>
              </a:r>
            </a:p>
          </p:txBody>
        </p:sp>
        <p:sp>
          <p:nvSpPr>
            <p:cNvPr id="29" name="Line 29"/>
            <p:cNvSpPr/>
            <p:nvPr/>
          </p:nvSpPr>
          <p:spPr>
            <a:xfrm>
              <a:off x="9067800" y="2314575"/>
              <a:ext cx="209550" cy="9525"/>
            </a:xfrm>
            <a:custGeom>
              <a:avLst/>
              <a:gdLst/>
              <a:ahLst/>
              <a:cxnLst/>
              <a:rect l="l" t="t" r="r" b="b"/>
              <a:pathLst>
                <a:path w="209550" h="9525">
                  <a:moveTo>
                    <a:pt x="0" y="0"/>
                  </a:moveTo>
                  <a:lnTo>
                    <a:pt x="209550" y="0"/>
                  </a:lnTo>
                </a:path>
              </a:pathLst>
            </a:custGeom>
            <a:noFill/>
            <a:ln w="38100">
              <a:solidFill>
                <a:srgbClr val="7A4A33"/>
              </a:solidFill>
            </a:ln>
          </p:spPr>
        </p:sp>
        <p:sp>
          <p:nvSpPr>
            <p:cNvPr id="30" name="Polygon 30"/>
            <p:cNvSpPr/>
            <p:nvPr/>
          </p:nvSpPr>
          <p:spPr>
            <a:xfrm>
              <a:off x="9220200" y="2247900"/>
              <a:ext cx="133350" cy="133350"/>
            </a:xfrm>
            <a:custGeom>
              <a:avLst/>
              <a:gdLst/>
              <a:ahLst/>
              <a:cxnLst/>
              <a:rect l="l" t="t" r="r" b="b"/>
              <a:pathLst>
                <a:path w="133350" h="133350">
                  <a:moveTo>
                    <a:pt x="0" y="0"/>
                  </a:moveTo>
                  <a:lnTo>
                    <a:pt x="133350" y="66675"/>
                  </a:lnTo>
                  <a:lnTo>
                    <a:pt x="0" y="133350"/>
                  </a:lnTo>
                  <a:close/>
                </a:path>
              </a:pathLst>
            </a:custGeom>
            <a:solidFill>
              <a:srgbClr val="7A4A33"/>
            </a:solidFill>
            <a:ln>
              <a:noFill/>
            </a:ln>
          </p:spPr>
        </p:sp>
        <p:sp>
          <p:nvSpPr>
            <p:cNvPr id="31" name="Rectangle 31"/>
            <p:cNvSpPr/>
            <p:nvPr/>
          </p:nvSpPr>
          <p:spPr>
            <a:xfrm>
              <a:off x="9448800" y="1885950"/>
              <a:ext cx="1809750" cy="857250"/>
            </a:xfrm>
            <a:prstGeom prst="roundRect">
              <a:avLst>
                <a:gd name="adj" fmla="val 11111"/>
              </a:avLst>
            </a:prstGeom>
            <a:solidFill>
              <a:srgbClr val="FDF4EF"/>
            </a:solidFill>
            <a:ln w="9525">
              <a:solidFill>
                <a:srgbClr val="F0CFC2"/>
              </a:solidFill>
            </a:ln>
          </p:spPr>
        </p:sp>
        <p:sp>
          <p:nvSpPr>
            <p:cNvPr id="32" name="TextBox 32"/>
            <p:cNvSpPr txBox="1"/>
            <p:nvPr/>
          </p:nvSpPr>
          <p:spPr>
            <a:xfrm>
              <a:off x="9595104" y="2137410"/>
              <a:ext cx="658368" cy="234696"/>
            </a:xfrm>
            <a:prstGeom prst="rect">
              <a:avLst/>
            </a:prstGeom>
            <a:noFill/>
            <a:ln>
              <a:noFill/>
            </a:ln>
          </p:spPr>
          <p:txBody>
            <a:bodyPr wrap="none" lIns="0" tIns="0" rIns="0" bIns="0" anchor="t" anchorCtr="0">
              <a:spAutoFit/>
            </a:bodyPr>
            <a:lstStyle/>
            <a:p>
              <a:pPr algn="l"/>
              <a:r>
                <a:rPr lang="zh-CN" sz="1200" b="1" dirty="0">
                  <a:solidFill>
                    <a:srgbClr val="C2410C"/>
                  </a:solidFill>
                  <a:latin typeface="+mn-lt"/>
                  <a:ea typeface="+mn-ea"/>
                  <a:cs typeface="+mn-cs"/>
                </a:rPr>
                <a:t>河流输送</a:t>
              </a:r>
            </a:p>
          </p:txBody>
        </p:sp>
        <p:sp>
          <p:nvSpPr>
            <p:cNvPr id="33" name="TextBox 33"/>
            <p:cNvSpPr txBox="1"/>
            <p:nvPr/>
          </p:nvSpPr>
          <p:spPr>
            <a:xfrm>
              <a:off x="9596247" y="2428399"/>
              <a:ext cx="1045538" cy="190690"/>
            </a:xfrm>
            <a:prstGeom prst="rect">
              <a:avLst/>
            </a:prstGeom>
            <a:noFill/>
            <a:ln>
              <a:noFill/>
            </a:ln>
          </p:spPr>
          <p:txBody>
            <a:bodyPr wrap="none" lIns="0" tIns="0" rIns="0" bIns="0" anchor="t" anchorCtr="0">
              <a:spAutoFit/>
            </a:bodyPr>
            <a:lstStyle/>
            <a:p>
              <a:pPr algn="l"/>
              <a:r>
                <a:rPr lang="zh-CN" sz="980" dirty="0">
                  <a:solidFill>
                    <a:schemeClr val="accent5"/>
                  </a:solidFill>
                  <a:latin typeface="+mn-lt"/>
                  <a:ea typeface="+mn-ea"/>
                  <a:cs typeface="+mn-cs"/>
                </a:rPr>
                <a:t>→ 海洋与沉积储存</a:t>
              </a:r>
            </a:p>
          </p:txBody>
        </p:sp>
        <p:sp>
          <p:nvSpPr>
            <p:cNvPr id="34" name="TextBox 34"/>
            <p:cNvSpPr txBox="1"/>
            <p:nvPr/>
          </p:nvSpPr>
          <p:spPr>
            <a:xfrm>
              <a:off x="604647" y="2961799"/>
              <a:ext cx="5049042" cy="190690"/>
            </a:xfrm>
            <a:prstGeom prst="rect">
              <a:avLst/>
            </a:prstGeom>
            <a:noFill/>
            <a:ln>
              <a:noFill/>
            </a:ln>
          </p:spPr>
          <p:txBody>
            <a:bodyPr wrap="none" lIns="0" tIns="0" rIns="0" bIns="0" anchor="t" anchorCtr="0">
              <a:spAutoFit/>
            </a:bodyPr>
            <a:lstStyle/>
            <a:p>
              <a:pPr algn="l"/>
              <a:r>
                <a:rPr lang="zh-CN" sz="980" dirty="0">
                  <a:solidFill>
                    <a:schemeClr val="accent5"/>
                  </a:solidFill>
                  <a:latin typeface="+mn-lt"/>
                  <a:ea typeface="+mn-ea"/>
                  <a:cs typeface="+mn-cs"/>
                </a:rPr>
                <a:t>水的参与从降水开始：CO₂ 溶于雨水形成弱碳酸，这是水循环接入碳循环的入口。</a:t>
              </a:r>
            </a:p>
          </p:txBody>
        </p:sp>
      </p:grpSp>
      <p:grpSp>
        <p:nvGrpSpPr>
          <p:cNvPr id="43" name="Group 43"/>
          <p:cNvGrpSpPr/>
          <p:nvPr/>
        </p:nvGrpSpPr>
        <p:grpSpPr>
          <a:xfrm>
            <a:off x="381000" y="3581400"/>
            <a:ext cx="5562600" cy="2647950"/>
            <a:chOff x="381000" y="3581400"/>
            <a:chExt cx="5562600" cy="2647950"/>
          </a:xfrm>
        </p:grpSpPr>
        <p:sp>
          <p:nvSpPr>
            <p:cNvPr id="36" name="Rectangle 36"/>
            <p:cNvSpPr/>
            <p:nvPr/>
          </p:nvSpPr>
          <p:spPr>
            <a:xfrm>
              <a:off x="381000" y="3581400"/>
              <a:ext cx="5562600" cy="2647950"/>
            </a:xfrm>
            <a:prstGeom prst="roundRect">
              <a:avLst>
                <a:gd name="adj" fmla="val 4317"/>
              </a:avLst>
            </a:prstGeom>
            <a:solidFill>
              <a:srgbClr val="FDF4EF"/>
            </a:solidFill>
            <a:ln w="9525">
              <a:solidFill>
                <a:srgbClr val="F0CFC2"/>
              </a:solidFill>
            </a:ln>
          </p:spPr>
        </p:sp>
        <p:sp>
          <p:nvSpPr>
            <p:cNvPr id="37" name="TextBox 37"/>
            <p:cNvSpPr txBox="1"/>
            <p:nvPr/>
          </p:nvSpPr>
          <p:spPr>
            <a:xfrm>
              <a:off x="603504" y="3851910"/>
              <a:ext cx="2575044" cy="234696"/>
            </a:xfrm>
            <a:prstGeom prst="rect">
              <a:avLst/>
            </a:prstGeom>
            <a:noFill/>
            <a:ln>
              <a:noFill/>
            </a:ln>
          </p:spPr>
          <p:txBody>
            <a:bodyPr wrap="none" lIns="0" tIns="0" rIns="0" bIns="0" anchor="t" anchorCtr="0">
              <a:spAutoFit/>
            </a:bodyPr>
            <a:lstStyle/>
            <a:p>
              <a:pPr algn="l"/>
              <a:r>
                <a:rPr lang="zh-CN" sz="1200" b="1" dirty="0">
                  <a:solidFill>
                    <a:srgbClr val="C2410C"/>
                  </a:solidFill>
                  <a:latin typeface="+mn-lt"/>
                  <a:ea typeface="+mn-ea"/>
                  <a:cs typeface="+mn-cs"/>
                </a:rPr>
                <a:t>硅酸盐风化 | Silicate weathering</a:t>
              </a:r>
            </a:p>
          </p:txBody>
        </p:sp>
        <p:sp>
          <p:nvSpPr>
            <p:cNvPr id="38" name="Rectangle 38"/>
            <p:cNvSpPr/>
            <p:nvPr/>
          </p:nvSpPr>
          <p:spPr>
            <a:xfrm>
              <a:off x="609600" y="4133850"/>
              <a:ext cx="1619250" cy="247650"/>
            </a:xfrm>
            <a:prstGeom prst="roundRect">
              <a:avLst>
                <a:gd name="adj" fmla="val 50000"/>
              </a:avLst>
            </a:prstGeom>
            <a:solidFill>
              <a:schemeClr val="accent3"/>
            </a:solidFill>
            <a:ln>
              <a:noFill/>
            </a:ln>
          </p:spPr>
        </p:sp>
        <p:sp>
          <p:nvSpPr>
            <p:cNvPr id="39" name="TextBox 39"/>
            <p:cNvSpPr txBox="1"/>
            <p:nvPr/>
          </p:nvSpPr>
          <p:spPr>
            <a:xfrm>
              <a:off x="868995" y="4200049"/>
              <a:ext cx="1100460" cy="190690"/>
            </a:xfrm>
            <a:prstGeom prst="rect">
              <a:avLst/>
            </a:prstGeom>
            <a:noFill/>
            <a:ln>
              <a:noFill/>
            </a:ln>
          </p:spPr>
          <p:txBody>
            <a:bodyPr wrap="none" lIns="0" tIns="0" rIns="0" bIns="0" anchor="t" anchorCtr="0">
              <a:spAutoFit/>
            </a:bodyPr>
            <a:lstStyle/>
            <a:p>
              <a:pPr algn="ctr"/>
              <a:r>
                <a:rPr lang="zh-CN" sz="980" dirty="0">
                  <a:solidFill>
                    <a:srgbClr val="FFFFFF"/>
                  </a:solidFill>
                  <a:latin typeface="+mn-lt"/>
                  <a:ea typeface="+mn-ea"/>
                  <a:cs typeface="+mn-cs"/>
                </a:rPr>
                <a:t>长期净汇 Net sink</a:t>
              </a:r>
            </a:p>
          </p:txBody>
        </p:sp>
        <p:sp>
          <p:nvSpPr>
            <p:cNvPr id="40" name="TextBox 40"/>
            <p:cNvSpPr txBox="1"/>
            <p:nvPr/>
          </p:nvSpPr>
          <p:spPr>
            <a:xfrm>
              <a:off x="603885" y="4564856"/>
              <a:ext cx="2166366" cy="1058228"/>
            </a:xfrm>
            <a:prstGeom prst="rect">
              <a:avLst/>
            </a:prstGeom>
            <a:noFill/>
            <a:ln>
              <a:noFill/>
            </a:ln>
          </p:spPr>
          <p:txBody>
            <a:bodyPr wrap="none" lIns="0" tIns="0" rIns="0" bIns="0" anchor="t" anchorCtr="0">
              <a:spAutoFit/>
            </a:bodyPr>
            <a:lstStyle/>
            <a:p>
              <a:pPr algn="l">
                <a:lnSpc>
                  <a:spcPts val="1650"/>
                </a:lnSpc>
              </a:pPr>
              <a:r>
                <a:rPr lang="zh-CN" sz="1120" dirty="0">
                  <a:solidFill>
                    <a:schemeClr val="dk1"/>
                  </a:solidFill>
                  <a:latin typeface="+mn-lt"/>
                  <a:ea typeface="+mn-ea"/>
                  <a:cs typeface="+mn-cs"/>
                </a:rPr>
                <a:t>CO₂ 溶于水后与硅酸盐矿物反应，</a:t>
              </a:r>
              <a:br/>
              <a:r>
                <a:rPr lang="zh-CN" sz="1120" dirty="0">
                  <a:solidFill>
                    <a:schemeClr val="dk1"/>
                  </a:solidFill>
                  <a:latin typeface="+mn-lt"/>
                  <a:ea typeface="+mn-ea"/>
                  <a:cs typeface="+mn-cs"/>
                </a:rPr>
                <a:t>把大气中的碳转入岩石圈的碳酸</a:t>
              </a:r>
              <a:br/>
              <a:r>
                <a:rPr lang="zh-CN" sz="1120" dirty="0">
                  <a:solidFill>
                    <a:schemeClr val="dk1"/>
                  </a:solidFill>
                  <a:latin typeface="+mn-lt"/>
                  <a:ea typeface="+mn-ea"/>
                  <a:cs typeface="+mn-cs"/>
                </a:rPr>
                <a:t>盐，并在很长的时间尺度上把它</a:t>
              </a:r>
              <a:br/>
              <a:r>
                <a:rPr lang="zh-CN" sz="1120" dirty="0">
                  <a:solidFill>
                    <a:schemeClr val="dk1"/>
                  </a:solidFill>
                  <a:latin typeface="+mn-lt"/>
                  <a:ea typeface="+mn-ea"/>
                  <a:cs typeface="+mn-cs"/>
                </a:rPr>
                <a:t>留在这里，因此这是一个净的</a:t>
              </a:r>
              <a:br/>
              <a:r>
                <a:rPr lang="zh-CN" sz="1120" dirty="0">
                  <a:solidFill>
                    <a:schemeClr val="dk1"/>
                  </a:solidFill>
                  <a:latin typeface="+mn-lt"/>
                  <a:ea typeface="+mn-ea"/>
                  <a:cs typeface="+mn-cs"/>
                </a:rPr>
                <a:t>大气碳去向。</a:t>
              </a:r>
            </a:p>
          </p:txBody>
        </p:sp>
        <p:sp>
          <p:nvSpPr>
            <p:cNvPr id="41" name="Rectangle 41"/>
            <p:cNvSpPr/>
            <p:nvPr/>
          </p:nvSpPr>
          <p:spPr>
            <a:xfrm>
              <a:off x="609600" y="5676900"/>
              <a:ext cx="5105400" cy="400050"/>
            </a:xfrm>
            <a:prstGeom prst="roundRect">
              <a:avLst>
                <a:gd name="adj" fmla="val 19048"/>
              </a:avLst>
            </a:prstGeom>
            <a:solidFill>
              <a:schemeClr val="lt1"/>
            </a:solidFill>
            <a:ln w="9525">
              <a:solidFill>
                <a:srgbClr val="F0CFC2"/>
              </a:solidFill>
            </a:ln>
          </p:spPr>
        </p:sp>
        <p:sp>
          <p:nvSpPr>
            <p:cNvPr id="42" name="TextBox 42"/>
            <p:cNvSpPr txBox="1"/>
            <p:nvPr/>
          </p:nvSpPr>
          <p:spPr>
            <a:xfrm>
              <a:off x="756285" y="5812631"/>
              <a:ext cx="3044127" cy="220028"/>
            </a:xfrm>
            <a:prstGeom prst="rect">
              <a:avLst/>
            </a:prstGeom>
            <a:noFill/>
            <a:ln>
              <a:noFill/>
            </a:ln>
          </p:spPr>
          <p:txBody>
            <a:bodyPr wrap="none" lIns="0" tIns="0" rIns="0" bIns="0" anchor="t" anchorCtr="0">
              <a:spAutoFit/>
            </a:bodyPr>
            <a:lstStyle/>
            <a:p>
              <a:pPr algn="l"/>
              <a:r>
                <a:rPr lang="zh-CN" sz="1120" b="1" dirty="0">
                  <a:solidFill>
                    <a:srgbClr val="C2410C"/>
                  </a:solidFill>
                  <a:latin typeface="+mn-lt"/>
                  <a:ea typeface="+mn-ea"/>
                  <a:cs typeface="+mn-cs"/>
                </a:rPr>
                <a:t>特征简式：CaSiO₃ + CO₂ → CaCO₃ + SiO₂</a:t>
              </a:r>
            </a:p>
          </p:txBody>
        </p:sp>
      </p:grpSp>
      <p:grpSp>
        <p:nvGrpSpPr>
          <p:cNvPr id="51" name="Group 51"/>
          <p:cNvGrpSpPr/>
          <p:nvPr/>
        </p:nvGrpSpPr>
        <p:grpSpPr>
          <a:xfrm>
            <a:off x="6248400" y="3581400"/>
            <a:ext cx="5562600" cy="2647950"/>
            <a:chOff x="6248400" y="3581400"/>
            <a:chExt cx="5562600" cy="2647950"/>
          </a:xfrm>
        </p:grpSpPr>
        <p:sp>
          <p:nvSpPr>
            <p:cNvPr id="44" name="Rectangle 44"/>
            <p:cNvSpPr/>
            <p:nvPr/>
          </p:nvSpPr>
          <p:spPr>
            <a:xfrm>
              <a:off x="6248400" y="3581400"/>
              <a:ext cx="5562600" cy="2647950"/>
            </a:xfrm>
            <a:prstGeom prst="roundRect">
              <a:avLst>
                <a:gd name="adj" fmla="val 4317"/>
              </a:avLst>
            </a:prstGeom>
            <a:solidFill>
              <a:schemeClr val="lt2"/>
            </a:solidFill>
            <a:ln w="9525">
              <a:solidFill>
                <a:schemeClr val="accent6"/>
              </a:solidFill>
            </a:ln>
          </p:spPr>
        </p:sp>
        <p:sp>
          <p:nvSpPr>
            <p:cNvPr id="45" name="TextBox 45"/>
            <p:cNvSpPr txBox="1"/>
            <p:nvPr/>
          </p:nvSpPr>
          <p:spPr>
            <a:xfrm>
              <a:off x="6470904" y="3851910"/>
              <a:ext cx="2795786" cy="234696"/>
            </a:xfrm>
            <a:prstGeom prst="rect">
              <a:avLst/>
            </a:prstGeom>
            <a:noFill/>
            <a:ln>
              <a:noFill/>
            </a:ln>
          </p:spPr>
          <p:txBody>
            <a:bodyPr wrap="none" lIns="0" tIns="0" rIns="0" bIns="0" anchor="t" anchorCtr="0">
              <a:spAutoFit/>
            </a:bodyPr>
            <a:lstStyle/>
            <a:p>
              <a:pPr algn="l"/>
              <a:r>
                <a:rPr lang="zh-CN" sz="1200" b="1" dirty="0">
                  <a:solidFill>
                    <a:schemeClr val="accent1"/>
                  </a:solidFill>
                  <a:latin typeface="+mn-lt"/>
                  <a:ea typeface="+mn-ea"/>
                  <a:cs typeface="+mn-cs"/>
                </a:rPr>
                <a:t>碳酸盐风化 | Carbonate weathering</a:t>
              </a:r>
            </a:p>
          </p:txBody>
        </p:sp>
        <p:sp>
          <p:nvSpPr>
            <p:cNvPr id="46" name="Rectangle 46"/>
            <p:cNvSpPr/>
            <p:nvPr/>
          </p:nvSpPr>
          <p:spPr>
            <a:xfrm>
              <a:off x="6477000" y="4133850"/>
              <a:ext cx="1809750" cy="247650"/>
            </a:xfrm>
            <a:prstGeom prst="roundRect">
              <a:avLst>
                <a:gd name="adj" fmla="val 50000"/>
              </a:avLst>
            </a:prstGeom>
            <a:solidFill>
              <a:schemeClr val="accent6"/>
            </a:solidFill>
            <a:ln>
              <a:noFill/>
            </a:ln>
          </p:spPr>
        </p:sp>
        <p:sp>
          <p:nvSpPr>
            <p:cNvPr id="47" name="TextBox 47"/>
            <p:cNvSpPr txBox="1"/>
            <p:nvPr/>
          </p:nvSpPr>
          <p:spPr>
            <a:xfrm>
              <a:off x="6587016" y="4200049"/>
              <a:ext cx="1589718" cy="190690"/>
            </a:xfrm>
            <a:prstGeom prst="rect">
              <a:avLst/>
            </a:prstGeom>
            <a:noFill/>
            <a:ln>
              <a:noFill/>
            </a:ln>
          </p:spPr>
          <p:txBody>
            <a:bodyPr wrap="none" lIns="0" tIns="0" rIns="0" bIns="0" anchor="t" anchorCtr="0">
              <a:spAutoFit/>
            </a:bodyPr>
            <a:lstStyle/>
            <a:p>
              <a:pPr algn="ctr"/>
              <a:r>
                <a:rPr lang="zh-CN" sz="980" dirty="0">
                  <a:solidFill>
                    <a:schemeClr val="dk1"/>
                  </a:solidFill>
                  <a:latin typeface="+mn-lt"/>
                  <a:ea typeface="+mn-ea"/>
                  <a:cs typeface="+mn-cs"/>
                </a:rPr>
                <a:t>循环 Recycling · 无净变化</a:t>
              </a:r>
            </a:p>
          </p:txBody>
        </p:sp>
        <p:sp>
          <p:nvSpPr>
            <p:cNvPr id="48" name="TextBox 48"/>
            <p:cNvSpPr txBox="1"/>
            <p:nvPr/>
          </p:nvSpPr>
          <p:spPr>
            <a:xfrm>
              <a:off x="6471285" y="4564856"/>
              <a:ext cx="2002790" cy="1058228"/>
            </a:xfrm>
            <a:prstGeom prst="rect">
              <a:avLst/>
            </a:prstGeom>
            <a:noFill/>
            <a:ln>
              <a:noFill/>
            </a:ln>
          </p:spPr>
          <p:txBody>
            <a:bodyPr wrap="none" lIns="0" tIns="0" rIns="0" bIns="0" anchor="t" anchorCtr="0">
              <a:spAutoFit/>
            </a:bodyPr>
            <a:lstStyle/>
            <a:p>
              <a:pPr algn="l">
                <a:lnSpc>
                  <a:spcPts val="1650"/>
                </a:lnSpc>
              </a:pPr>
              <a:r>
                <a:rPr lang="zh-CN" sz="1120" dirty="0">
                  <a:solidFill>
                    <a:schemeClr val="dk1"/>
                  </a:solidFill>
                  <a:latin typeface="+mn-lt"/>
                  <a:ea typeface="+mn-ea"/>
                  <a:cs typeface="+mn-cs"/>
                </a:rPr>
                <a:t>碳酸盐岩先被溶解，溶解出来的</a:t>
              </a:r>
              <a:br/>
              <a:r>
                <a:rPr lang="zh-CN" sz="1120" dirty="0">
                  <a:solidFill>
                    <a:schemeClr val="dk1"/>
                  </a:solidFill>
                  <a:latin typeface="+mn-lt"/>
                  <a:ea typeface="+mn-ea"/>
                  <a:cs typeface="+mn-cs"/>
                </a:rPr>
                <a:t>碳随河流进入海洋，随后又在海</a:t>
              </a:r>
              <a:br/>
              <a:r>
                <a:rPr lang="zh-CN" sz="1120" dirty="0">
                  <a:solidFill>
                    <a:schemeClr val="dk1"/>
                  </a:solidFill>
                  <a:latin typeface="+mn-lt"/>
                  <a:ea typeface="+mn-ea"/>
                  <a:cs typeface="+mn-cs"/>
                </a:rPr>
                <a:t>洋里重新形成碳酸盐沉积下来。</a:t>
              </a:r>
              <a:br/>
              <a:r>
                <a:rPr lang="zh-CN" sz="1120" dirty="0">
                  <a:solidFill>
                    <a:schemeClr val="dk1"/>
                  </a:solidFill>
                  <a:latin typeface="+mn-lt"/>
                  <a:ea typeface="+mn-ea"/>
                  <a:cs typeface="+mn-cs"/>
                </a:rPr>
                <a:t>溶解与重新沉淀相抵，所以这一</a:t>
              </a:r>
              <a:br/>
              <a:r>
                <a:rPr lang="zh-CN" sz="1120" dirty="0">
                  <a:solidFill>
                    <a:schemeClr val="dk1"/>
                  </a:solidFill>
                  <a:latin typeface="+mn-lt"/>
                  <a:ea typeface="+mn-ea"/>
                  <a:cs typeface="+mn-cs"/>
                </a:rPr>
                <a:t>支不带来净的大气碳变化。</a:t>
              </a:r>
            </a:p>
          </p:txBody>
        </p:sp>
        <p:sp>
          <p:nvSpPr>
            <p:cNvPr id="49" name="Rectangle 49"/>
            <p:cNvSpPr/>
            <p:nvPr/>
          </p:nvSpPr>
          <p:spPr>
            <a:xfrm>
              <a:off x="6477000" y="5676900"/>
              <a:ext cx="5105400" cy="400050"/>
            </a:xfrm>
            <a:prstGeom prst="roundRect">
              <a:avLst>
                <a:gd name="adj" fmla="val 19048"/>
              </a:avLst>
            </a:prstGeom>
            <a:solidFill>
              <a:schemeClr val="lt1"/>
            </a:solidFill>
            <a:ln w="9525">
              <a:solidFill>
                <a:schemeClr val="accent6"/>
              </a:solidFill>
            </a:ln>
          </p:spPr>
        </p:sp>
        <p:sp>
          <p:nvSpPr>
            <p:cNvPr id="50" name="TextBox 50"/>
            <p:cNvSpPr txBox="1"/>
            <p:nvPr/>
          </p:nvSpPr>
          <p:spPr>
            <a:xfrm>
              <a:off x="6623685" y="5812631"/>
              <a:ext cx="3663581" cy="220028"/>
            </a:xfrm>
            <a:prstGeom prst="rect">
              <a:avLst/>
            </a:prstGeom>
            <a:noFill/>
            <a:ln>
              <a:noFill/>
            </a:ln>
          </p:spPr>
          <p:txBody>
            <a:bodyPr wrap="none" lIns="0" tIns="0" rIns="0" bIns="0" anchor="t" anchorCtr="0">
              <a:spAutoFit/>
            </a:bodyPr>
            <a:lstStyle/>
            <a:p>
              <a:pPr algn="l"/>
              <a:r>
                <a:rPr lang="zh-CN" sz="1120" b="1" dirty="0">
                  <a:solidFill>
                    <a:schemeClr val="accent1"/>
                  </a:solidFill>
                  <a:latin typeface="+mn-lt"/>
                  <a:ea typeface="+mn-ea"/>
                  <a:cs typeface="+mn-cs"/>
                </a:rPr>
                <a:t>溶解与再沉淀相抵 | Dissolution ≈ re-precipitation</a:t>
              </a:r>
            </a:p>
          </p:txBody>
        </p:sp>
      </p:grpSp>
      <p:sp>
        <p:nvSpPr>
          <p:cNvPr id="52" name="TextBox 52"/>
          <p:cNvSpPr txBox="1"/>
          <p:nvPr/>
        </p:nvSpPr>
        <p:spPr>
          <a:xfrm>
            <a:off x="376238" y="6532245"/>
            <a:ext cx="7709002" cy="176212"/>
          </a:xfrm>
          <a:prstGeom prst="rect">
            <a:avLst/>
          </a:prstGeom>
          <a:noFill/>
          <a:ln>
            <a:noFill/>
          </a:ln>
        </p:spPr>
        <p:txBody>
          <a:bodyPr wrap="none" lIns="0" tIns="0" rIns="0" bIns="0" anchor="t" anchorCtr="0">
            <a:spAutoFit/>
          </a:bodyPr>
          <a:lstStyle/>
          <a:p>
            <a:pPr algn="l"/>
            <a:r>
              <a:rPr lang="zh-CN" sz="900" dirty="0">
                <a:solidFill>
                  <a:schemeClr val="accent5"/>
                </a:solidFill>
                <a:latin typeface="+mn-lt"/>
                <a:ea typeface="+mn-ea"/>
                <a:cs typeface="+mn-cs"/>
              </a:rPr>
              <a:t>Source: UE 8e, Ch.12, PDF pp.1212–1213; 地球系统与演变 Ch.4 §4.5.1, 图 4-16, PDF p.80; HB Ch.9 pp.246–249; EP pp.765, 878.</a:t>
            </a:r>
          </a:p>
        </p:txBody>
      </p:sp>
      <p:sp>
        <p:nvSpPr>
          <p:cNvPr id="53" name="TextBox 53"/>
          <p:cNvSpPr txBox="1"/>
          <p:nvPr/>
        </p:nvSpPr>
        <p:spPr>
          <a:xfrm>
            <a:off x="11672964" y="6532245"/>
            <a:ext cx="142799" cy="176212"/>
          </a:xfrm>
          <a:prstGeom prst="rect">
            <a:avLst/>
          </a:prstGeom>
          <a:noFill/>
          <a:ln>
            <a:noFill/>
          </a:ln>
        </p:spPr>
        <p:txBody>
          <a:bodyPr wrap="none" lIns="0" tIns="0" rIns="0" bIns="0" anchor="t" anchorCtr="0">
            <a:spAutoFit/>
          </a:bodyPr>
          <a:lstStyle/>
          <a:p>
            <a:pPr algn="r"/>
            <a:r>
              <a:rPr lang="zh-CN" sz="900" dirty="0">
                <a:solidFill>
                  <a:schemeClr val="accent5"/>
                </a:solidFill>
                <a:latin typeface="+mn-lt"/>
                <a:ea typeface="+mn-ea"/>
                <a:cs typeface="+mn-cs"/>
              </a:rPr>
              <a:t>29</a:t>
            </a:r>
          </a:p>
        </p:txBody>
      </p:sp>
    </p:spTree>
    <p:extLst>
      <p:ext uri="{BB962C8B-B14F-4D97-AF65-F5344CB8AC3E}">
        <p14:creationId xmlns:p14="http://schemas.microsoft.com/office/powerpoint/2010/main" val="1188423586"/>
      </p:ext>
    </p:extLst>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5"/>
          <p:cNvGrpSpPr/>
          <p:nvPr/>
        </p:nvGrpSpPr>
        <p:grpSpPr>
          <a:xfrm>
            <a:off x="0" y="0"/>
            <a:ext cx="12192000" cy="685800"/>
            <a:chOff x="0" y="0"/>
            <a:chExt cx="12192000" cy="685800"/>
          </a:xfrm>
        </p:grpSpPr>
        <p:sp>
          <p:nvSpPr>
            <p:cNvPr id="2" name="Rectangle 2"/>
            <p:cNvSpPr/>
            <p:nvPr/>
          </p:nvSpPr>
          <p:spPr>
            <a:xfrm>
              <a:off x="0" y="0"/>
              <a:ext cx="12192000" cy="685800"/>
            </a:xfrm>
            <a:prstGeom prst="rect">
              <a:avLst/>
            </a:prstGeom>
            <a:solidFill>
              <a:schemeClr val="accent1"/>
            </a:solidFill>
            <a:ln>
              <a:noFill/>
            </a:ln>
          </p:spPr>
        </p:sp>
        <p:sp>
          <p:nvSpPr>
            <p:cNvPr id="3" name="TextBox 3"/>
            <p:cNvSpPr txBox="1"/>
            <p:nvPr/>
          </p:nvSpPr>
          <p:spPr>
            <a:xfrm>
              <a:off x="374142" y="282892"/>
              <a:ext cx="4020633" cy="264033"/>
            </a:xfrm>
            <a:prstGeom prst="rect">
              <a:avLst/>
            </a:prstGeom>
            <a:noFill/>
            <a:ln>
              <a:noFill/>
            </a:ln>
          </p:spPr>
          <p:txBody>
            <a:bodyPr wrap="none" lIns="0" tIns="0" rIns="0" bIns="0" anchor="t" anchorCtr="0">
              <a:spAutoFit/>
            </a:bodyPr>
            <a:lstStyle/>
            <a:p>
              <a:pPr algn="l"/>
              <a:r>
                <a:rPr lang="zh-CN" sz="1350" b="1" dirty="0">
                  <a:solidFill>
                    <a:srgbClr val="FFFFFF"/>
                  </a:solidFill>
                  <a:latin typeface="+mn-lt"/>
                  <a:ea typeface="+mn-ea"/>
                  <a:cs typeface="+mn-cs"/>
                </a:rPr>
                <a:t>2.10 慢碳循环 | Slow Geological Carbon Cycle</a:t>
              </a:r>
            </a:p>
          </p:txBody>
        </p:sp>
        <p:sp>
          <p:nvSpPr>
            <p:cNvPr id="4" name="TextBox 4"/>
            <p:cNvSpPr txBox="1"/>
            <p:nvPr/>
          </p:nvSpPr>
          <p:spPr>
            <a:xfrm>
              <a:off x="10686898" y="299085"/>
              <a:ext cx="1130198" cy="234696"/>
            </a:xfrm>
            <a:prstGeom prst="rect">
              <a:avLst/>
            </a:prstGeom>
            <a:noFill/>
            <a:ln>
              <a:noFill/>
            </a:ln>
          </p:spPr>
          <p:txBody>
            <a:bodyPr wrap="none" lIns="0" tIns="0" rIns="0" bIns="0" anchor="t" anchorCtr="0">
              <a:spAutoFit/>
            </a:bodyPr>
            <a:lstStyle/>
            <a:p>
              <a:pPr algn="r"/>
              <a:r>
                <a:rPr lang="zh-CN" sz="1200" dirty="0">
                  <a:solidFill>
                    <a:srgbClr val="C7D7F2"/>
                  </a:solidFill>
                  <a:latin typeface="+mn-lt"/>
                  <a:ea typeface="+mn-ea"/>
                  <a:cs typeface="+mn-cs"/>
                </a:rPr>
                <a:t>CARBON CYCLE</a:t>
              </a:r>
            </a:p>
          </p:txBody>
        </p:sp>
      </p:grpSp>
      <p:grpSp>
        <p:nvGrpSpPr>
          <p:cNvPr id="8" name="Group 8"/>
          <p:cNvGrpSpPr/>
          <p:nvPr/>
        </p:nvGrpSpPr>
        <p:grpSpPr>
          <a:xfrm>
            <a:off x="381000" y="914400"/>
            <a:ext cx="7411237" cy="357093"/>
            <a:chOff x="381000" y="914400"/>
            <a:chExt cx="7411237" cy="357093"/>
          </a:xfrm>
        </p:grpSpPr>
        <p:sp>
          <p:nvSpPr>
            <p:cNvPr id="6" name="Rectangle 6"/>
            <p:cNvSpPr/>
            <p:nvPr/>
          </p:nvSpPr>
          <p:spPr>
            <a:xfrm>
              <a:off x="381000" y="914400"/>
              <a:ext cx="57150" cy="266700"/>
            </a:xfrm>
            <a:prstGeom prst="roundRect">
              <a:avLst>
                <a:gd name="adj" fmla="val 50000"/>
              </a:avLst>
            </a:prstGeom>
            <a:solidFill>
              <a:schemeClr val="accent3"/>
            </a:solidFill>
            <a:ln>
              <a:noFill/>
            </a:ln>
          </p:spPr>
        </p:sp>
        <p:sp>
          <p:nvSpPr>
            <p:cNvPr id="7" name="TextBox 7"/>
            <p:cNvSpPr txBox="1"/>
            <p:nvPr/>
          </p:nvSpPr>
          <p:spPr>
            <a:xfrm>
              <a:off x="544449" y="963454"/>
              <a:ext cx="7247788" cy="308039"/>
            </a:xfrm>
            <a:prstGeom prst="rect">
              <a:avLst/>
            </a:prstGeom>
            <a:noFill/>
            <a:ln>
              <a:noFill/>
            </a:ln>
          </p:spPr>
          <p:txBody>
            <a:bodyPr wrap="none" lIns="0" tIns="0" rIns="0" bIns="0" anchor="t" anchorCtr="0">
              <a:spAutoFit/>
            </a:bodyPr>
            <a:lstStyle/>
            <a:p>
              <a:pPr algn="l"/>
              <a:r>
                <a:rPr lang="zh-CN" sz="1580" b="1" dirty="0">
                  <a:solidFill>
                    <a:srgbClr val="C2410C"/>
                  </a:solidFill>
                  <a:latin typeface="+mn-lt"/>
                  <a:ea typeface="+mn-ea"/>
                  <a:cs typeface="+mn-cs"/>
                </a:rPr>
                <a:t>风化与河流输送、沉积埋藏、俯冲变质、火山脱气，首尾相接构成慢地质路径</a:t>
              </a:r>
            </a:p>
          </p:txBody>
        </p:sp>
      </p:grpSp>
      <p:grpSp>
        <p:nvGrpSpPr>
          <p:cNvPr id="64" name="Group 64"/>
          <p:cNvGrpSpPr/>
          <p:nvPr/>
        </p:nvGrpSpPr>
        <p:grpSpPr>
          <a:xfrm>
            <a:off x="381000" y="1428750"/>
            <a:ext cx="11430000" cy="4800600"/>
            <a:chOff x="381000" y="1428750"/>
            <a:chExt cx="11430000" cy="4800600"/>
          </a:xfrm>
        </p:grpSpPr>
        <p:sp>
          <p:nvSpPr>
            <p:cNvPr id="9" name="Rectangle 9"/>
            <p:cNvSpPr/>
            <p:nvPr/>
          </p:nvSpPr>
          <p:spPr>
            <a:xfrm>
              <a:off x="381000" y="1428750"/>
              <a:ext cx="11430000" cy="4800600"/>
            </a:xfrm>
            <a:prstGeom prst="roundRect">
              <a:avLst>
                <a:gd name="adj" fmla="val 2381"/>
              </a:avLst>
            </a:prstGeom>
            <a:solidFill>
              <a:schemeClr val="lt2"/>
            </a:solidFill>
            <a:ln w="9525">
              <a:solidFill>
                <a:schemeClr val="accent6"/>
              </a:solidFill>
            </a:ln>
          </p:spPr>
        </p:sp>
        <p:sp>
          <p:nvSpPr>
            <p:cNvPr id="10" name="Rectangle 10"/>
            <p:cNvSpPr/>
            <p:nvPr/>
          </p:nvSpPr>
          <p:spPr>
            <a:xfrm>
              <a:off x="609600" y="1847850"/>
              <a:ext cx="10972800" cy="609600"/>
            </a:xfrm>
            <a:prstGeom prst="roundRect">
              <a:avLst>
                <a:gd name="adj" fmla="val 15625"/>
              </a:avLst>
            </a:prstGeom>
            <a:solidFill>
              <a:srgbClr val="FDF4EF"/>
            </a:solidFill>
            <a:ln w="9525">
              <a:solidFill>
                <a:srgbClr val="F0CFC2"/>
              </a:solidFill>
            </a:ln>
          </p:spPr>
        </p:sp>
        <p:sp>
          <p:nvSpPr>
            <p:cNvPr id="11" name="TextBox 11"/>
            <p:cNvSpPr txBox="1"/>
            <p:nvPr/>
          </p:nvSpPr>
          <p:spPr>
            <a:xfrm>
              <a:off x="833247" y="1990249"/>
              <a:ext cx="1320569" cy="190690"/>
            </a:xfrm>
            <a:prstGeom prst="rect">
              <a:avLst/>
            </a:prstGeom>
            <a:noFill/>
            <a:ln>
              <a:noFill/>
            </a:ln>
          </p:spPr>
          <p:txBody>
            <a:bodyPr wrap="none" lIns="0" tIns="0" rIns="0" bIns="0" anchor="t" anchorCtr="0">
              <a:spAutoFit/>
            </a:bodyPr>
            <a:lstStyle/>
            <a:p>
              <a:pPr algn="l"/>
              <a:r>
                <a:rPr lang="zh-CN" sz="980" b="1" dirty="0">
                  <a:solidFill>
                    <a:srgbClr val="C2410C"/>
                  </a:solidFill>
                  <a:latin typeface="+mn-lt"/>
                  <a:ea typeface="+mn-ea"/>
                  <a:cs typeface="+mn-cs"/>
                </a:rPr>
                <a:t>ATMOSPHERE · 大气</a:t>
              </a:r>
            </a:p>
          </p:txBody>
        </p:sp>
        <p:sp>
          <p:nvSpPr>
            <p:cNvPr id="12" name="TextBox 12"/>
            <p:cNvSpPr txBox="1"/>
            <p:nvPr/>
          </p:nvSpPr>
          <p:spPr>
            <a:xfrm>
              <a:off x="4957511" y="2118360"/>
              <a:ext cx="2276978" cy="234696"/>
            </a:xfrm>
            <a:prstGeom prst="rect">
              <a:avLst/>
            </a:prstGeom>
            <a:noFill/>
            <a:ln>
              <a:noFill/>
            </a:ln>
          </p:spPr>
          <p:txBody>
            <a:bodyPr wrap="none" lIns="0" tIns="0" rIns="0" bIns="0" anchor="t" anchorCtr="0">
              <a:spAutoFit/>
            </a:bodyPr>
            <a:lstStyle/>
            <a:p>
              <a:pPr algn="ctr"/>
              <a:r>
                <a:rPr lang="zh-CN" sz="1200" b="1" dirty="0">
                  <a:solidFill>
                    <a:srgbClr val="C2410C"/>
                  </a:solidFill>
                  <a:latin typeface="+mn-lt"/>
                  <a:ea typeface="+mn-ea"/>
                  <a:cs typeface="+mn-cs"/>
                </a:rPr>
                <a:t>大气 CO₂ | Atmospheric CO₂</a:t>
              </a:r>
            </a:p>
          </p:txBody>
        </p:sp>
        <p:sp>
          <p:nvSpPr>
            <p:cNvPr id="13" name="TextBox 13"/>
            <p:cNvSpPr txBox="1"/>
            <p:nvPr/>
          </p:nvSpPr>
          <p:spPr>
            <a:xfrm>
              <a:off x="603504" y="1565910"/>
              <a:ext cx="3762609" cy="234696"/>
            </a:xfrm>
            <a:prstGeom prst="rect">
              <a:avLst/>
            </a:prstGeom>
            <a:noFill/>
            <a:ln>
              <a:noFill/>
            </a:ln>
          </p:spPr>
          <p:txBody>
            <a:bodyPr wrap="none" lIns="0" tIns="0" rIns="0" bIns="0" anchor="t" anchorCtr="0">
              <a:spAutoFit/>
            </a:bodyPr>
            <a:lstStyle/>
            <a:p>
              <a:pPr algn="l"/>
              <a:r>
                <a:rPr lang="zh-CN" sz="1200" b="1" dirty="0">
                  <a:solidFill>
                    <a:schemeClr val="accent1"/>
                  </a:solidFill>
                  <a:latin typeface="+mn-lt"/>
                  <a:ea typeface="+mn-ea"/>
                  <a:cs typeface="+mn-cs"/>
                </a:rPr>
                <a:t>四段方向序列 | Four-stage directional pathway</a:t>
              </a:r>
            </a:p>
          </p:txBody>
        </p:sp>
        <p:sp>
          <p:nvSpPr>
            <p:cNvPr id="14" name="Line 14"/>
            <p:cNvSpPr/>
            <p:nvPr/>
          </p:nvSpPr>
          <p:spPr>
            <a:xfrm>
              <a:off x="1809750" y="2495550"/>
              <a:ext cx="9525" cy="361950"/>
            </a:xfrm>
            <a:custGeom>
              <a:avLst/>
              <a:gdLst/>
              <a:ahLst/>
              <a:cxnLst/>
              <a:rect l="l" t="t" r="r" b="b"/>
              <a:pathLst>
                <a:path w="9525" h="361950">
                  <a:moveTo>
                    <a:pt x="0" y="0"/>
                  </a:moveTo>
                  <a:lnTo>
                    <a:pt x="0" y="361950"/>
                  </a:lnTo>
                </a:path>
              </a:pathLst>
            </a:custGeom>
            <a:noFill/>
            <a:ln w="47625">
              <a:solidFill>
                <a:schemeClr val="accent3"/>
              </a:solidFill>
            </a:ln>
          </p:spPr>
        </p:sp>
        <p:sp>
          <p:nvSpPr>
            <p:cNvPr id="15" name="Polygon 15"/>
            <p:cNvSpPr/>
            <p:nvPr/>
          </p:nvSpPr>
          <p:spPr>
            <a:xfrm>
              <a:off x="1714500" y="2743200"/>
              <a:ext cx="190500" cy="209550"/>
            </a:xfrm>
            <a:custGeom>
              <a:avLst/>
              <a:gdLst/>
              <a:ahLst/>
              <a:cxnLst/>
              <a:rect l="l" t="t" r="r" b="b"/>
              <a:pathLst>
                <a:path w="190500" h="209550">
                  <a:moveTo>
                    <a:pt x="0" y="0"/>
                  </a:moveTo>
                  <a:lnTo>
                    <a:pt x="95250" y="209550"/>
                  </a:lnTo>
                  <a:lnTo>
                    <a:pt x="190500" y="0"/>
                  </a:lnTo>
                  <a:close/>
                </a:path>
              </a:pathLst>
            </a:custGeom>
            <a:solidFill>
              <a:schemeClr val="accent3"/>
            </a:solidFill>
            <a:ln>
              <a:noFill/>
            </a:ln>
          </p:spPr>
        </p:sp>
        <p:sp>
          <p:nvSpPr>
            <p:cNvPr id="16" name="TextBox 16"/>
            <p:cNvSpPr txBox="1"/>
            <p:nvPr/>
          </p:nvSpPr>
          <p:spPr>
            <a:xfrm>
              <a:off x="1976247" y="2637949"/>
              <a:ext cx="867186" cy="190690"/>
            </a:xfrm>
            <a:prstGeom prst="rect">
              <a:avLst/>
            </a:prstGeom>
            <a:noFill/>
            <a:ln>
              <a:noFill/>
            </a:ln>
          </p:spPr>
          <p:txBody>
            <a:bodyPr wrap="none" lIns="0" tIns="0" rIns="0" bIns="0" anchor="t" anchorCtr="0">
              <a:spAutoFit/>
            </a:bodyPr>
            <a:lstStyle/>
            <a:p>
              <a:pPr algn="l"/>
              <a:r>
                <a:rPr lang="zh-CN" sz="980" dirty="0">
                  <a:solidFill>
                    <a:srgbClr val="7A4A33"/>
                  </a:solidFill>
                  <a:latin typeface="+mn-lt"/>
                  <a:ea typeface="+mn-ea"/>
                  <a:cs typeface="+mn-cs"/>
                </a:rPr>
                <a:t>CO₂ 进入风化</a:t>
              </a:r>
            </a:p>
          </p:txBody>
        </p:sp>
        <p:sp>
          <p:nvSpPr>
            <p:cNvPr id="17" name="Line 17"/>
            <p:cNvSpPr/>
            <p:nvPr/>
          </p:nvSpPr>
          <p:spPr>
            <a:xfrm>
              <a:off x="10382250" y="2552700"/>
              <a:ext cx="9525" cy="381000"/>
            </a:xfrm>
            <a:custGeom>
              <a:avLst/>
              <a:gdLst/>
              <a:ahLst/>
              <a:cxnLst/>
              <a:rect l="l" t="t" r="r" b="b"/>
              <a:pathLst>
                <a:path w="9525" h="381000">
                  <a:moveTo>
                    <a:pt x="0" y="381000"/>
                  </a:moveTo>
                  <a:lnTo>
                    <a:pt x="0" y="0"/>
                  </a:lnTo>
                </a:path>
              </a:pathLst>
            </a:custGeom>
            <a:noFill/>
            <a:ln w="47625">
              <a:solidFill>
                <a:srgbClr val="C2410C"/>
              </a:solidFill>
            </a:ln>
          </p:spPr>
        </p:sp>
        <p:sp>
          <p:nvSpPr>
            <p:cNvPr id="18" name="Polygon 18"/>
            <p:cNvSpPr/>
            <p:nvPr/>
          </p:nvSpPr>
          <p:spPr>
            <a:xfrm>
              <a:off x="10287000" y="2457450"/>
              <a:ext cx="190500" cy="209550"/>
            </a:xfrm>
            <a:custGeom>
              <a:avLst/>
              <a:gdLst/>
              <a:ahLst/>
              <a:cxnLst/>
              <a:rect l="l" t="t" r="r" b="b"/>
              <a:pathLst>
                <a:path w="190500" h="209550">
                  <a:moveTo>
                    <a:pt x="0" y="209550"/>
                  </a:moveTo>
                  <a:lnTo>
                    <a:pt x="95250" y="0"/>
                  </a:lnTo>
                  <a:lnTo>
                    <a:pt x="190500" y="209550"/>
                  </a:lnTo>
                  <a:close/>
                </a:path>
              </a:pathLst>
            </a:custGeom>
            <a:solidFill>
              <a:srgbClr val="C2410C"/>
            </a:solidFill>
            <a:ln>
              <a:noFill/>
            </a:ln>
          </p:spPr>
        </p:sp>
        <p:sp>
          <p:nvSpPr>
            <p:cNvPr id="19" name="TextBox 19"/>
            <p:cNvSpPr txBox="1"/>
            <p:nvPr/>
          </p:nvSpPr>
          <p:spPr>
            <a:xfrm>
              <a:off x="10529697" y="2656999"/>
              <a:ext cx="537616" cy="190690"/>
            </a:xfrm>
            <a:prstGeom prst="rect">
              <a:avLst/>
            </a:prstGeom>
            <a:noFill/>
            <a:ln>
              <a:noFill/>
            </a:ln>
          </p:spPr>
          <p:txBody>
            <a:bodyPr wrap="none" lIns="0" tIns="0" rIns="0" bIns="0" anchor="t" anchorCtr="0">
              <a:spAutoFit/>
            </a:bodyPr>
            <a:lstStyle/>
            <a:p>
              <a:pPr algn="l"/>
              <a:r>
                <a:rPr lang="zh-CN" sz="980" dirty="0">
                  <a:solidFill>
                    <a:srgbClr val="7A4A33"/>
                  </a:solidFill>
                  <a:latin typeface="+mn-lt"/>
                  <a:ea typeface="+mn-ea"/>
                  <a:cs typeface="+mn-cs"/>
                </a:rPr>
                <a:t>返回大气</a:t>
              </a:r>
            </a:p>
          </p:txBody>
        </p:sp>
        <p:sp>
          <p:nvSpPr>
            <p:cNvPr id="20" name="Rectangle 20"/>
            <p:cNvSpPr/>
            <p:nvPr/>
          </p:nvSpPr>
          <p:spPr>
            <a:xfrm>
              <a:off x="609600" y="2990850"/>
              <a:ext cx="2400300" cy="1485900"/>
            </a:xfrm>
            <a:prstGeom prst="roundRect">
              <a:avLst>
                <a:gd name="adj" fmla="val 6410"/>
              </a:avLst>
            </a:prstGeom>
            <a:solidFill>
              <a:schemeClr val="lt1"/>
            </a:solidFill>
            <a:ln w="9525">
              <a:solidFill>
                <a:schemeClr val="accent6"/>
              </a:solidFill>
            </a:ln>
          </p:spPr>
        </p:sp>
        <p:sp>
          <p:nvSpPr>
            <p:cNvPr id="21" name="Ellipse 21"/>
            <p:cNvSpPr/>
            <p:nvPr/>
          </p:nvSpPr>
          <p:spPr>
            <a:xfrm>
              <a:off x="781050" y="3181350"/>
              <a:ext cx="342900" cy="342900"/>
            </a:xfrm>
            <a:prstGeom prst="ellipse">
              <a:avLst/>
            </a:prstGeom>
            <a:solidFill>
              <a:schemeClr val="accent3"/>
            </a:solidFill>
            <a:ln>
              <a:noFill/>
            </a:ln>
          </p:spPr>
        </p:sp>
        <p:sp>
          <p:nvSpPr>
            <p:cNvPr id="22" name="TextBox 22"/>
            <p:cNvSpPr txBox="1"/>
            <p:nvPr/>
          </p:nvSpPr>
          <p:spPr>
            <a:xfrm>
              <a:off x="899758" y="3280410"/>
              <a:ext cx="105484" cy="234696"/>
            </a:xfrm>
            <a:prstGeom prst="rect">
              <a:avLst/>
            </a:prstGeom>
            <a:noFill/>
            <a:ln>
              <a:noFill/>
            </a:ln>
          </p:spPr>
          <p:txBody>
            <a:bodyPr wrap="none" lIns="0" tIns="0" rIns="0" bIns="0" anchor="t" anchorCtr="0">
              <a:spAutoFit/>
            </a:bodyPr>
            <a:lstStyle/>
            <a:p>
              <a:pPr algn="ctr"/>
              <a:r>
                <a:rPr lang="zh-CN" sz="1200" b="1" dirty="0">
                  <a:solidFill>
                    <a:srgbClr val="FFFFFF"/>
                  </a:solidFill>
                  <a:latin typeface="+mn-lt"/>
                  <a:ea typeface="+mn-ea"/>
                  <a:cs typeface="+mn-cs"/>
                </a:rPr>
                <a:t>1</a:t>
              </a:r>
            </a:p>
          </p:txBody>
        </p:sp>
        <p:sp>
          <p:nvSpPr>
            <p:cNvPr id="23" name="TextBox 23"/>
            <p:cNvSpPr txBox="1"/>
            <p:nvPr/>
          </p:nvSpPr>
          <p:spPr>
            <a:xfrm>
              <a:off x="1232154" y="3280410"/>
              <a:ext cx="1143000" cy="234696"/>
            </a:xfrm>
            <a:prstGeom prst="rect">
              <a:avLst/>
            </a:prstGeom>
            <a:noFill/>
            <a:ln>
              <a:noFill/>
            </a:ln>
          </p:spPr>
          <p:txBody>
            <a:bodyPr wrap="none" lIns="0" tIns="0" rIns="0" bIns="0" anchor="t" anchorCtr="0">
              <a:spAutoFit/>
            </a:bodyPr>
            <a:lstStyle/>
            <a:p>
              <a:pPr algn="l"/>
              <a:r>
                <a:rPr lang="zh-CN" sz="1200" b="1" dirty="0">
                  <a:solidFill>
                    <a:schemeClr val="dk1"/>
                  </a:solidFill>
                  <a:latin typeface="+mn-lt"/>
                  <a:ea typeface="+mn-ea"/>
                  <a:cs typeface="+mn-cs"/>
                </a:rPr>
                <a:t>风化与河流输送</a:t>
              </a:r>
            </a:p>
          </p:txBody>
        </p:sp>
        <p:sp>
          <p:nvSpPr>
            <p:cNvPr id="24" name="Line 24"/>
            <p:cNvSpPr/>
            <p:nvPr/>
          </p:nvSpPr>
          <p:spPr>
            <a:xfrm>
              <a:off x="838200" y="3524250"/>
              <a:ext cx="1943100" cy="9525"/>
            </a:xfrm>
            <a:custGeom>
              <a:avLst/>
              <a:gdLst/>
              <a:ahLst/>
              <a:cxnLst/>
              <a:rect l="l" t="t" r="r" b="b"/>
              <a:pathLst>
                <a:path w="1943100" h="9525">
                  <a:moveTo>
                    <a:pt x="0" y="0"/>
                  </a:moveTo>
                  <a:lnTo>
                    <a:pt x="1943100" y="0"/>
                  </a:lnTo>
                </a:path>
              </a:pathLst>
            </a:custGeom>
            <a:noFill/>
            <a:ln w="9525">
              <a:solidFill>
                <a:schemeClr val="accent6"/>
              </a:solidFill>
            </a:ln>
          </p:spPr>
        </p:sp>
        <p:sp>
          <p:nvSpPr>
            <p:cNvPr id="25" name="TextBox 25"/>
            <p:cNvSpPr txBox="1"/>
            <p:nvPr/>
          </p:nvSpPr>
          <p:spPr>
            <a:xfrm>
              <a:off x="833247" y="3647599"/>
              <a:ext cx="1907532" cy="190690"/>
            </a:xfrm>
            <a:prstGeom prst="rect">
              <a:avLst/>
            </a:prstGeom>
            <a:noFill/>
            <a:ln>
              <a:noFill/>
            </a:ln>
          </p:spPr>
          <p:txBody>
            <a:bodyPr wrap="none" lIns="0" tIns="0" rIns="0" bIns="0" anchor="t" anchorCtr="0">
              <a:spAutoFit/>
            </a:bodyPr>
            <a:lstStyle/>
            <a:p>
              <a:pPr algn="l"/>
              <a:r>
                <a:rPr lang="zh-CN" sz="980" dirty="0">
                  <a:solidFill>
                    <a:srgbClr val="7A4A33"/>
                  </a:solidFill>
                  <a:latin typeface="+mn-lt"/>
                  <a:ea typeface="+mn-ea"/>
                  <a:cs typeface="+mn-cs"/>
                </a:rPr>
                <a:t>Weathering &amp; river transport</a:t>
              </a:r>
            </a:p>
          </p:txBody>
        </p:sp>
        <p:sp>
          <p:nvSpPr>
            <p:cNvPr id="26" name="TextBox 26"/>
            <p:cNvSpPr txBox="1"/>
            <p:nvPr/>
          </p:nvSpPr>
          <p:spPr>
            <a:xfrm>
              <a:off x="833247" y="3914299"/>
              <a:ext cx="1559433" cy="400241"/>
            </a:xfrm>
            <a:prstGeom prst="rect">
              <a:avLst/>
            </a:prstGeom>
            <a:noFill/>
            <a:ln>
              <a:noFill/>
            </a:ln>
          </p:spPr>
          <p:txBody>
            <a:bodyPr wrap="none" lIns="0" tIns="0" rIns="0" bIns="0" anchor="t" anchorCtr="0">
              <a:spAutoFit/>
            </a:bodyPr>
            <a:lstStyle/>
            <a:p>
              <a:pPr algn="l">
                <a:lnSpc>
                  <a:spcPts val="1650"/>
                </a:lnSpc>
              </a:pPr>
              <a:r>
                <a:rPr lang="zh-CN" sz="980" dirty="0">
                  <a:solidFill>
                    <a:schemeClr val="dk1"/>
                  </a:solidFill>
                  <a:latin typeface="+mn-lt"/>
                  <a:ea typeface="+mn-ea"/>
                  <a:cs typeface="+mn-cs"/>
                </a:rPr>
                <a:t>降水溶入 CO₂ 后侵蚀岩石，</a:t>
              </a:r>
              <a:br/>
              <a:r>
                <a:rPr lang="zh-CN" sz="980" dirty="0">
                  <a:solidFill>
                    <a:schemeClr val="dk1"/>
                  </a:solidFill>
                  <a:latin typeface="+mn-lt"/>
                  <a:ea typeface="+mn-ea"/>
                  <a:cs typeface="+mn-cs"/>
                </a:rPr>
                <a:t>产物由河流带走。</a:t>
              </a:r>
            </a:p>
          </p:txBody>
        </p:sp>
        <p:sp>
          <p:nvSpPr>
            <p:cNvPr id="27" name="Line 27"/>
            <p:cNvSpPr/>
            <p:nvPr/>
          </p:nvSpPr>
          <p:spPr>
            <a:xfrm>
              <a:off x="3067050" y="3733800"/>
              <a:ext cx="209550" cy="9525"/>
            </a:xfrm>
            <a:custGeom>
              <a:avLst/>
              <a:gdLst/>
              <a:ahLst/>
              <a:cxnLst/>
              <a:rect l="l" t="t" r="r" b="b"/>
              <a:pathLst>
                <a:path w="209550" h="9525">
                  <a:moveTo>
                    <a:pt x="0" y="0"/>
                  </a:moveTo>
                  <a:lnTo>
                    <a:pt x="209550" y="0"/>
                  </a:lnTo>
                </a:path>
              </a:pathLst>
            </a:custGeom>
            <a:noFill/>
            <a:ln w="38100">
              <a:solidFill>
                <a:srgbClr val="7A4A33"/>
              </a:solidFill>
            </a:ln>
          </p:spPr>
        </p:sp>
        <p:sp>
          <p:nvSpPr>
            <p:cNvPr id="28" name="Polygon 28"/>
            <p:cNvSpPr/>
            <p:nvPr/>
          </p:nvSpPr>
          <p:spPr>
            <a:xfrm>
              <a:off x="3219450" y="3667125"/>
              <a:ext cx="133350" cy="133350"/>
            </a:xfrm>
            <a:custGeom>
              <a:avLst/>
              <a:gdLst/>
              <a:ahLst/>
              <a:cxnLst/>
              <a:rect l="l" t="t" r="r" b="b"/>
              <a:pathLst>
                <a:path w="133350" h="133350">
                  <a:moveTo>
                    <a:pt x="0" y="0"/>
                  </a:moveTo>
                  <a:lnTo>
                    <a:pt x="133350" y="66675"/>
                  </a:lnTo>
                  <a:lnTo>
                    <a:pt x="0" y="133350"/>
                  </a:lnTo>
                  <a:close/>
                </a:path>
              </a:pathLst>
            </a:custGeom>
            <a:solidFill>
              <a:srgbClr val="7A4A33"/>
            </a:solidFill>
            <a:ln>
              <a:noFill/>
            </a:ln>
          </p:spPr>
        </p:sp>
        <p:sp>
          <p:nvSpPr>
            <p:cNvPr id="29" name="Rectangle 29"/>
            <p:cNvSpPr/>
            <p:nvPr/>
          </p:nvSpPr>
          <p:spPr>
            <a:xfrm>
              <a:off x="3467100" y="2990850"/>
              <a:ext cx="2400300" cy="1485900"/>
            </a:xfrm>
            <a:prstGeom prst="roundRect">
              <a:avLst>
                <a:gd name="adj" fmla="val 6410"/>
              </a:avLst>
            </a:prstGeom>
            <a:solidFill>
              <a:schemeClr val="lt1"/>
            </a:solidFill>
            <a:ln w="9525">
              <a:solidFill>
                <a:schemeClr val="accent6"/>
              </a:solidFill>
            </a:ln>
          </p:spPr>
        </p:sp>
        <p:sp>
          <p:nvSpPr>
            <p:cNvPr id="30" name="Ellipse 30"/>
            <p:cNvSpPr/>
            <p:nvPr/>
          </p:nvSpPr>
          <p:spPr>
            <a:xfrm>
              <a:off x="3638550" y="3181350"/>
              <a:ext cx="342900" cy="342900"/>
            </a:xfrm>
            <a:prstGeom prst="ellipse">
              <a:avLst/>
            </a:prstGeom>
            <a:solidFill>
              <a:schemeClr val="accent3"/>
            </a:solidFill>
            <a:ln>
              <a:noFill/>
            </a:ln>
          </p:spPr>
        </p:sp>
        <p:sp>
          <p:nvSpPr>
            <p:cNvPr id="31" name="TextBox 31"/>
            <p:cNvSpPr txBox="1"/>
            <p:nvPr/>
          </p:nvSpPr>
          <p:spPr>
            <a:xfrm>
              <a:off x="3757258" y="3280410"/>
              <a:ext cx="105484" cy="234696"/>
            </a:xfrm>
            <a:prstGeom prst="rect">
              <a:avLst/>
            </a:prstGeom>
            <a:noFill/>
            <a:ln>
              <a:noFill/>
            </a:ln>
          </p:spPr>
          <p:txBody>
            <a:bodyPr wrap="none" lIns="0" tIns="0" rIns="0" bIns="0" anchor="t" anchorCtr="0">
              <a:spAutoFit/>
            </a:bodyPr>
            <a:lstStyle/>
            <a:p>
              <a:pPr algn="ctr"/>
              <a:r>
                <a:rPr lang="zh-CN" sz="1200" b="1" dirty="0">
                  <a:solidFill>
                    <a:srgbClr val="FFFFFF"/>
                  </a:solidFill>
                  <a:latin typeface="+mn-lt"/>
                  <a:ea typeface="+mn-ea"/>
                  <a:cs typeface="+mn-cs"/>
                </a:rPr>
                <a:t>2</a:t>
              </a:r>
            </a:p>
          </p:txBody>
        </p:sp>
        <p:sp>
          <p:nvSpPr>
            <p:cNvPr id="32" name="TextBox 32"/>
            <p:cNvSpPr txBox="1"/>
            <p:nvPr/>
          </p:nvSpPr>
          <p:spPr>
            <a:xfrm>
              <a:off x="4089654" y="3280410"/>
              <a:ext cx="819912" cy="234696"/>
            </a:xfrm>
            <a:prstGeom prst="rect">
              <a:avLst/>
            </a:prstGeom>
            <a:noFill/>
            <a:ln>
              <a:noFill/>
            </a:ln>
          </p:spPr>
          <p:txBody>
            <a:bodyPr wrap="none" lIns="0" tIns="0" rIns="0" bIns="0" anchor="t" anchorCtr="0">
              <a:spAutoFit/>
            </a:bodyPr>
            <a:lstStyle/>
            <a:p>
              <a:pPr algn="l"/>
              <a:r>
                <a:rPr lang="zh-CN" sz="1200" b="1" dirty="0">
                  <a:solidFill>
                    <a:schemeClr val="dk1"/>
                  </a:solidFill>
                  <a:latin typeface="+mn-lt"/>
                  <a:ea typeface="+mn-ea"/>
                  <a:cs typeface="+mn-cs"/>
                </a:rPr>
                <a:t>沉积与埋藏</a:t>
              </a:r>
            </a:p>
          </p:txBody>
        </p:sp>
        <p:sp>
          <p:nvSpPr>
            <p:cNvPr id="33" name="Line 33"/>
            <p:cNvSpPr/>
            <p:nvPr/>
          </p:nvSpPr>
          <p:spPr>
            <a:xfrm>
              <a:off x="3695700" y="3524250"/>
              <a:ext cx="1943100" cy="9525"/>
            </a:xfrm>
            <a:custGeom>
              <a:avLst/>
              <a:gdLst/>
              <a:ahLst/>
              <a:cxnLst/>
              <a:rect l="l" t="t" r="r" b="b"/>
              <a:pathLst>
                <a:path w="1943100" h="9525">
                  <a:moveTo>
                    <a:pt x="0" y="0"/>
                  </a:moveTo>
                  <a:lnTo>
                    <a:pt x="1943100" y="0"/>
                  </a:lnTo>
                </a:path>
              </a:pathLst>
            </a:custGeom>
            <a:noFill/>
            <a:ln w="9525">
              <a:solidFill>
                <a:schemeClr val="accent6"/>
              </a:solidFill>
            </a:ln>
          </p:spPr>
        </p:sp>
        <p:sp>
          <p:nvSpPr>
            <p:cNvPr id="34" name="TextBox 34"/>
            <p:cNvSpPr txBox="1"/>
            <p:nvPr/>
          </p:nvSpPr>
          <p:spPr>
            <a:xfrm>
              <a:off x="3690747" y="3647599"/>
              <a:ext cx="1438969" cy="190690"/>
            </a:xfrm>
            <a:prstGeom prst="rect">
              <a:avLst/>
            </a:prstGeom>
            <a:noFill/>
            <a:ln>
              <a:noFill/>
            </a:ln>
          </p:spPr>
          <p:txBody>
            <a:bodyPr wrap="none" lIns="0" tIns="0" rIns="0" bIns="0" anchor="t" anchorCtr="0">
              <a:spAutoFit/>
            </a:bodyPr>
            <a:lstStyle/>
            <a:p>
              <a:pPr algn="l"/>
              <a:r>
                <a:rPr lang="zh-CN" sz="980" dirty="0">
                  <a:solidFill>
                    <a:srgbClr val="7A4A33"/>
                  </a:solidFill>
                  <a:latin typeface="+mn-lt"/>
                  <a:ea typeface="+mn-ea"/>
                  <a:cs typeface="+mn-cs"/>
                </a:rPr>
                <a:t>Sedimentation &amp; burial</a:t>
              </a:r>
            </a:p>
          </p:txBody>
        </p:sp>
        <p:sp>
          <p:nvSpPr>
            <p:cNvPr id="35" name="TextBox 35"/>
            <p:cNvSpPr txBox="1"/>
            <p:nvPr/>
          </p:nvSpPr>
          <p:spPr>
            <a:xfrm>
              <a:off x="3690747" y="3914299"/>
              <a:ext cx="1254506" cy="400241"/>
            </a:xfrm>
            <a:prstGeom prst="rect">
              <a:avLst/>
            </a:prstGeom>
            <a:noFill/>
            <a:ln>
              <a:noFill/>
            </a:ln>
          </p:spPr>
          <p:txBody>
            <a:bodyPr wrap="none" lIns="0" tIns="0" rIns="0" bIns="0" anchor="t" anchorCtr="0">
              <a:spAutoFit/>
            </a:bodyPr>
            <a:lstStyle/>
            <a:p>
              <a:pPr algn="l">
                <a:lnSpc>
                  <a:spcPts val="1650"/>
                </a:lnSpc>
              </a:pPr>
              <a:r>
                <a:rPr lang="zh-CN" sz="980" dirty="0">
                  <a:solidFill>
                    <a:schemeClr val="dk1"/>
                  </a:solidFill>
                  <a:latin typeface="+mn-lt"/>
                  <a:ea typeface="+mn-ea"/>
                  <a:cs typeface="+mn-cs"/>
                </a:rPr>
                <a:t>碳酸盐与有机碳沉积，</a:t>
              </a:r>
              <a:br/>
              <a:r>
                <a:rPr lang="zh-CN" sz="980" dirty="0">
                  <a:solidFill>
                    <a:schemeClr val="dk1"/>
                  </a:solidFill>
                  <a:latin typeface="+mn-lt"/>
                  <a:ea typeface="+mn-ea"/>
                  <a:cs typeface="+mn-cs"/>
                </a:rPr>
                <a:t>随后被埋入地下。</a:t>
              </a:r>
            </a:p>
          </p:txBody>
        </p:sp>
        <p:sp>
          <p:nvSpPr>
            <p:cNvPr id="36" name="Line 36"/>
            <p:cNvSpPr/>
            <p:nvPr/>
          </p:nvSpPr>
          <p:spPr>
            <a:xfrm>
              <a:off x="5924550" y="3733800"/>
              <a:ext cx="209550" cy="9525"/>
            </a:xfrm>
            <a:custGeom>
              <a:avLst/>
              <a:gdLst/>
              <a:ahLst/>
              <a:cxnLst/>
              <a:rect l="l" t="t" r="r" b="b"/>
              <a:pathLst>
                <a:path w="209550" h="9525">
                  <a:moveTo>
                    <a:pt x="0" y="0"/>
                  </a:moveTo>
                  <a:lnTo>
                    <a:pt x="209550" y="0"/>
                  </a:lnTo>
                </a:path>
              </a:pathLst>
            </a:custGeom>
            <a:noFill/>
            <a:ln w="38100">
              <a:solidFill>
                <a:srgbClr val="7A4A33"/>
              </a:solidFill>
            </a:ln>
          </p:spPr>
        </p:sp>
        <p:sp>
          <p:nvSpPr>
            <p:cNvPr id="37" name="Polygon 37"/>
            <p:cNvSpPr/>
            <p:nvPr/>
          </p:nvSpPr>
          <p:spPr>
            <a:xfrm>
              <a:off x="6076950" y="3667125"/>
              <a:ext cx="133350" cy="133350"/>
            </a:xfrm>
            <a:custGeom>
              <a:avLst/>
              <a:gdLst/>
              <a:ahLst/>
              <a:cxnLst/>
              <a:rect l="l" t="t" r="r" b="b"/>
              <a:pathLst>
                <a:path w="133350" h="133350">
                  <a:moveTo>
                    <a:pt x="0" y="0"/>
                  </a:moveTo>
                  <a:lnTo>
                    <a:pt x="133350" y="66675"/>
                  </a:lnTo>
                  <a:lnTo>
                    <a:pt x="0" y="133350"/>
                  </a:lnTo>
                  <a:close/>
                </a:path>
              </a:pathLst>
            </a:custGeom>
            <a:solidFill>
              <a:srgbClr val="7A4A33"/>
            </a:solidFill>
            <a:ln>
              <a:noFill/>
            </a:ln>
          </p:spPr>
        </p:sp>
        <p:sp>
          <p:nvSpPr>
            <p:cNvPr id="38" name="Rectangle 38"/>
            <p:cNvSpPr/>
            <p:nvPr/>
          </p:nvSpPr>
          <p:spPr>
            <a:xfrm>
              <a:off x="6324600" y="2990850"/>
              <a:ext cx="2400300" cy="1485900"/>
            </a:xfrm>
            <a:prstGeom prst="roundRect">
              <a:avLst>
                <a:gd name="adj" fmla="val 6410"/>
              </a:avLst>
            </a:prstGeom>
            <a:solidFill>
              <a:schemeClr val="lt1"/>
            </a:solidFill>
            <a:ln w="9525">
              <a:solidFill>
                <a:schemeClr val="accent6"/>
              </a:solidFill>
            </a:ln>
          </p:spPr>
        </p:sp>
        <p:sp>
          <p:nvSpPr>
            <p:cNvPr id="39" name="Ellipse 39"/>
            <p:cNvSpPr/>
            <p:nvPr/>
          </p:nvSpPr>
          <p:spPr>
            <a:xfrm>
              <a:off x="6496050" y="3181350"/>
              <a:ext cx="342900" cy="342900"/>
            </a:xfrm>
            <a:prstGeom prst="ellipse">
              <a:avLst/>
            </a:prstGeom>
            <a:solidFill>
              <a:srgbClr val="C2410C"/>
            </a:solidFill>
            <a:ln>
              <a:noFill/>
            </a:ln>
          </p:spPr>
        </p:sp>
        <p:sp>
          <p:nvSpPr>
            <p:cNvPr id="40" name="TextBox 40"/>
            <p:cNvSpPr txBox="1"/>
            <p:nvPr/>
          </p:nvSpPr>
          <p:spPr>
            <a:xfrm>
              <a:off x="6614758" y="3280410"/>
              <a:ext cx="105484" cy="234696"/>
            </a:xfrm>
            <a:prstGeom prst="rect">
              <a:avLst/>
            </a:prstGeom>
            <a:noFill/>
            <a:ln>
              <a:noFill/>
            </a:ln>
          </p:spPr>
          <p:txBody>
            <a:bodyPr wrap="none" lIns="0" tIns="0" rIns="0" bIns="0" anchor="t" anchorCtr="0">
              <a:spAutoFit/>
            </a:bodyPr>
            <a:lstStyle/>
            <a:p>
              <a:pPr algn="ctr"/>
              <a:r>
                <a:rPr lang="zh-CN" sz="1200" b="1" dirty="0">
                  <a:solidFill>
                    <a:srgbClr val="FFFFFF"/>
                  </a:solidFill>
                  <a:latin typeface="+mn-lt"/>
                  <a:ea typeface="+mn-ea"/>
                  <a:cs typeface="+mn-cs"/>
                </a:rPr>
                <a:t>3</a:t>
              </a:r>
            </a:p>
          </p:txBody>
        </p:sp>
        <p:sp>
          <p:nvSpPr>
            <p:cNvPr id="41" name="TextBox 41"/>
            <p:cNvSpPr txBox="1"/>
            <p:nvPr/>
          </p:nvSpPr>
          <p:spPr>
            <a:xfrm>
              <a:off x="6947154" y="3280410"/>
              <a:ext cx="819912" cy="234696"/>
            </a:xfrm>
            <a:prstGeom prst="rect">
              <a:avLst/>
            </a:prstGeom>
            <a:noFill/>
            <a:ln>
              <a:noFill/>
            </a:ln>
          </p:spPr>
          <p:txBody>
            <a:bodyPr wrap="none" lIns="0" tIns="0" rIns="0" bIns="0" anchor="t" anchorCtr="0">
              <a:spAutoFit/>
            </a:bodyPr>
            <a:lstStyle/>
            <a:p>
              <a:pPr algn="l"/>
              <a:r>
                <a:rPr lang="zh-CN" sz="1200" b="1" dirty="0">
                  <a:solidFill>
                    <a:schemeClr val="dk1"/>
                  </a:solidFill>
                  <a:latin typeface="+mn-lt"/>
                  <a:ea typeface="+mn-ea"/>
                  <a:cs typeface="+mn-cs"/>
                </a:rPr>
                <a:t>俯冲与变质</a:t>
              </a:r>
            </a:p>
          </p:txBody>
        </p:sp>
        <p:sp>
          <p:nvSpPr>
            <p:cNvPr id="42" name="Line 42"/>
            <p:cNvSpPr/>
            <p:nvPr/>
          </p:nvSpPr>
          <p:spPr>
            <a:xfrm>
              <a:off x="6553200" y="3524250"/>
              <a:ext cx="1943100" cy="9525"/>
            </a:xfrm>
            <a:custGeom>
              <a:avLst/>
              <a:gdLst/>
              <a:ahLst/>
              <a:cxnLst/>
              <a:rect l="l" t="t" r="r" b="b"/>
              <a:pathLst>
                <a:path w="1943100" h="9525">
                  <a:moveTo>
                    <a:pt x="0" y="0"/>
                  </a:moveTo>
                  <a:lnTo>
                    <a:pt x="1943100" y="0"/>
                  </a:lnTo>
                </a:path>
              </a:pathLst>
            </a:custGeom>
            <a:noFill/>
            <a:ln w="9525">
              <a:solidFill>
                <a:schemeClr val="accent6"/>
              </a:solidFill>
            </a:ln>
          </p:spPr>
        </p:sp>
        <p:sp>
          <p:nvSpPr>
            <p:cNvPr id="43" name="TextBox 43"/>
            <p:cNvSpPr txBox="1"/>
            <p:nvPr/>
          </p:nvSpPr>
          <p:spPr>
            <a:xfrm>
              <a:off x="6548247" y="3647599"/>
              <a:ext cx="1775671" cy="190690"/>
            </a:xfrm>
            <a:prstGeom prst="rect">
              <a:avLst/>
            </a:prstGeom>
            <a:noFill/>
            <a:ln>
              <a:noFill/>
            </a:ln>
          </p:spPr>
          <p:txBody>
            <a:bodyPr wrap="none" lIns="0" tIns="0" rIns="0" bIns="0" anchor="t" anchorCtr="0">
              <a:spAutoFit/>
            </a:bodyPr>
            <a:lstStyle/>
            <a:p>
              <a:pPr algn="l"/>
              <a:r>
                <a:rPr lang="zh-CN" sz="980" dirty="0">
                  <a:solidFill>
                    <a:srgbClr val="7A4A33"/>
                  </a:solidFill>
                  <a:latin typeface="+mn-lt"/>
                  <a:ea typeface="+mn-ea"/>
                  <a:cs typeface="+mn-cs"/>
                </a:rPr>
                <a:t>Subduction &amp; metamorphism</a:t>
              </a:r>
            </a:p>
          </p:txBody>
        </p:sp>
        <p:sp>
          <p:nvSpPr>
            <p:cNvPr id="44" name="TextBox 44"/>
            <p:cNvSpPr txBox="1"/>
            <p:nvPr/>
          </p:nvSpPr>
          <p:spPr>
            <a:xfrm>
              <a:off x="6548247" y="3914299"/>
              <a:ext cx="1378966" cy="400241"/>
            </a:xfrm>
            <a:prstGeom prst="rect">
              <a:avLst/>
            </a:prstGeom>
            <a:noFill/>
            <a:ln>
              <a:noFill/>
            </a:ln>
          </p:spPr>
          <p:txBody>
            <a:bodyPr wrap="none" lIns="0" tIns="0" rIns="0" bIns="0" anchor="t" anchorCtr="0">
              <a:spAutoFit/>
            </a:bodyPr>
            <a:lstStyle/>
            <a:p>
              <a:pPr algn="l">
                <a:lnSpc>
                  <a:spcPts val="1650"/>
                </a:lnSpc>
              </a:pPr>
              <a:r>
                <a:rPr lang="zh-CN" sz="980" dirty="0">
                  <a:solidFill>
                    <a:schemeClr val="dk1"/>
                  </a:solidFill>
                  <a:latin typeface="+mn-lt"/>
                  <a:ea typeface="+mn-ea"/>
                  <a:cs typeface="+mn-cs"/>
                </a:rPr>
                <a:t>板块俯冲把碳带入深部，</a:t>
              </a:r>
              <a:br/>
              <a:r>
                <a:rPr lang="zh-CN" sz="980" dirty="0">
                  <a:solidFill>
                    <a:schemeClr val="dk1"/>
                  </a:solidFill>
                  <a:latin typeface="+mn-lt"/>
                  <a:ea typeface="+mn-ea"/>
                  <a:cs typeface="+mn-cs"/>
                </a:rPr>
                <a:t>经变质作用长期储存。</a:t>
              </a:r>
            </a:p>
          </p:txBody>
        </p:sp>
        <p:sp>
          <p:nvSpPr>
            <p:cNvPr id="45" name="Line 45"/>
            <p:cNvSpPr/>
            <p:nvPr/>
          </p:nvSpPr>
          <p:spPr>
            <a:xfrm>
              <a:off x="8782050" y="3733800"/>
              <a:ext cx="209550" cy="9525"/>
            </a:xfrm>
            <a:custGeom>
              <a:avLst/>
              <a:gdLst/>
              <a:ahLst/>
              <a:cxnLst/>
              <a:rect l="l" t="t" r="r" b="b"/>
              <a:pathLst>
                <a:path w="209550" h="9525">
                  <a:moveTo>
                    <a:pt x="0" y="0"/>
                  </a:moveTo>
                  <a:lnTo>
                    <a:pt x="209550" y="0"/>
                  </a:lnTo>
                </a:path>
              </a:pathLst>
            </a:custGeom>
            <a:noFill/>
            <a:ln w="38100">
              <a:solidFill>
                <a:srgbClr val="7A4A33"/>
              </a:solidFill>
            </a:ln>
          </p:spPr>
        </p:sp>
        <p:sp>
          <p:nvSpPr>
            <p:cNvPr id="46" name="Polygon 46"/>
            <p:cNvSpPr/>
            <p:nvPr/>
          </p:nvSpPr>
          <p:spPr>
            <a:xfrm>
              <a:off x="8934450" y="3667125"/>
              <a:ext cx="133350" cy="133350"/>
            </a:xfrm>
            <a:custGeom>
              <a:avLst/>
              <a:gdLst/>
              <a:ahLst/>
              <a:cxnLst/>
              <a:rect l="l" t="t" r="r" b="b"/>
              <a:pathLst>
                <a:path w="133350" h="133350">
                  <a:moveTo>
                    <a:pt x="0" y="0"/>
                  </a:moveTo>
                  <a:lnTo>
                    <a:pt x="133350" y="66675"/>
                  </a:lnTo>
                  <a:lnTo>
                    <a:pt x="0" y="133350"/>
                  </a:lnTo>
                  <a:close/>
                </a:path>
              </a:pathLst>
            </a:custGeom>
            <a:solidFill>
              <a:srgbClr val="7A4A33"/>
            </a:solidFill>
            <a:ln>
              <a:noFill/>
            </a:ln>
          </p:spPr>
        </p:sp>
        <p:sp>
          <p:nvSpPr>
            <p:cNvPr id="47" name="Rectangle 47"/>
            <p:cNvSpPr/>
            <p:nvPr/>
          </p:nvSpPr>
          <p:spPr>
            <a:xfrm>
              <a:off x="9182100" y="2990850"/>
              <a:ext cx="2400300" cy="1485900"/>
            </a:xfrm>
            <a:prstGeom prst="roundRect">
              <a:avLst>
                <a:gd name="adj" fmla="val 6410"/>
              </a:avLst>
            </a:prstGeom>
            <a:solidFill>
              <a:srgbClr val="FDECDD"/>
            </a:solidFill>
            <a:ln w="9525">
              <a:solidFill>
                <a:srgbClr val="F0CFC2"/>
              </a:solidFill>
            </a:ln>
          </p:spPr>
        </p:sp>
        <p:sp>
          <p:nvSpPr>
            <p:cNvPr id="48" name="Ellipse 48"/>
            <p:cNvSpPr/>
            <p:nvPr/>
          </p:nvSpPr>
          <p:spPr>
            <a:xfrm>
              <a:off x="9353550" y="3181350"/>
              <a:ext cx="342900" cy="342900"/>
            </a:xfrm>
            <a:prstGeom prst="ellipse">
              <a:avLst/>
            </a:prstGeom>
            <a:solidFill>
              <a:srgbClr val="7A4A33"/>
            </a:solidFill>
            <a:ln>
              <a:noFill/>
            </a:ln>
          </p:spPr>
        </p:sp>
        <p:sp>
          <p:nvSpPr>
            <p:cNvPr id="49" name="TextBox 49"/>
            <p:cNvSpPr txBox="1"/>
            <p:nvPr/>
          </p:nvSpPr>
          <p:spPr>
            <a:xfrm>
              <a:off x="9472258" y="3280410"/>
              <a:ext cx="105484" cy="234696"/>
            </a:xfrm>
            <a:prstGeom prst="rect">
              <a:avLst/>
            </a:prstGeom>
            <a:noFill/>
            <a:ln>
              <a:noFill/>
            </a:ln>
          </p:spPr>
          <p:txBody>
            <a:bodyPr wrap="none" lIns="0" tIns="0" rIns="0" bIns="0" anchor="t" anchorCtr="0">
              <a:spAutoFit/>
            </a:bodyPr>
            <a:lstStyle/>
            <a:p>
              <a:pPr algn="ctr"/>
              <a:r>
                <a:rPr lang="zh-CN" sz="1200" b="1" dirty="0">
                  <a:solidFill>
                    <a:srgbClr val="FFFFFF"/>
                  </a:solidFill>
                  <a:latin typeface="+mn-lt"/>
                  <a:ea typeface="+mn-ea"/>
                  <a:cs typeface="+mn-cs"/>
                </a:rPr>
                <a:t>4</a:t>
              </a:r>
            </a:p>
          </p:txBody>
        </p:sp>
        <p:sp>
          <p:nvSpPr>
            <p:cNvPr id="50" name="TextBox 50"/>
            <p:cNvSpPr txBox="1"/>
            <p:nvPr/>
          </p:nvSpPr>
          <p:spPr>
            <a:xfrm>
              <a:off x="9804654" y="3280410"/>
              <a:ext cx="658368" cy="234696"/>
            </a:xfrm>
            <a:prstGeom prst="rect">
              <a:avLst/>
            </a:prstGeom>
            <a:noFill/>
            <a:ln>
              <a:noFill/>
            </a:ln>
          </p:spPr>
          <p:txBody>
            <a:bodyPr wrap="none" lIns="0" tIns="0" rIns="0" bIns="0" anchor="t" anchorCtr="0">
              <a:spAutoFit/>
            </a:bodyPr>
            <a:lstStyle/>
            <a:p>
              <a:pPr algn="l"/>
              <a:r>
                <a:rPr lang="zh-CN" sz="1200" b="1" dirty="0">
                  <a:solidFill>
                    <a:srgbClr val="7A4A33"/>
                  </a:solidFill>
                  <a:latin typeface="+mn-lt"/>
                  <a:ea typeface="+mn-ea"/>
                  <a:cs typeface="+mn-cs"/>
                </a:rPr>
                <a:t>火山脱气</a:t>
              </a:r>
            </a:p>
          </p:txBody>
        </p:sp>
        <p:sp>
          <p:nvSpPr>
            <p:cNvPr id="51" name="Line 51"/>
            <p:cNvSpPr/>
            <p:nvPr/>
          </p:nvSpPr>
          <p:spPr>
            <a:xfrm>
              <a:off x="9410700" y="3524250"/>
              <a:ext cx="1943100" cy="9525"/>
            </a:xfrm>
            <a:custGeom>
              <a:avLst/>
              <a:gdLst/>
              <a:ahLst/>
              <a:cxnLst/>
              <a:rect l="l" t="t" r="r" b="b"/>
              <a:pathLst>
                <a:path w="1943100" h="9525">
                  <a:moveTo>
                    <a:pt x="0" y="0"/>
                  </a:moveTo>
                  <a:lnTo>
                    <a:pt x="1943100" y="0"/>
                  </a:lnTo>
                </a:path>
              </a:pathLst>
            </a:custGeom>
            <a:noFill/>
            <a:ln w="9525">
              <a:solidFill>
                <a:srgbClr val="F0CFC2"/>
              </a:solidFill>
            </a:ln>
          </p:spPr>
        </p:sp>
        <p:sp>
          <p:nvSpPr>
            <p:cNvPr id="52" name="TextBox 52"/>
            <p:cNvSpPr txBox="1"/>
            <p:nvPr/>
          </p:nvSpPr>
          <p:spPr>
            <a:xfrm>
              <a:off x="9405747" y="3647599"/>
              <a:ext cx="1187971" cy="190690"/>
            </a:xfrm>
            <a:prstGeom prst="rect">
              <a:avLst/>
            </a:prstGeom>
            <a:noFill/>
            <a:ln>
              <a:noFill/>
            </a:ln>
          </p:spPr>
          <p:txBody>
            <a:bodyPr wrap="none" lIns="0" tIns="0" rIns="0" bIns="0" anchor="t" anchorCtr="0">
              <a:spAutoFit/>
            </a:bodyPr>
            <a:lstStyle/>
            <a:p>
              <a:pPr algn="l"/>
              <a:r>
                <a:rPr lang="zh-CN" sz="980" dirty="0">
                  <a:solidFill>
                    <a:srgbClr val="7A4A33"/>
                  </a:solidFill>
                  <a:latin typeface="+mn-lt"/>
                  <a:ea typeface="+mn-ea"/>
                  <a:cs typeface="+mn-cs"/>
                </a:rPr>
                <a:t>Volcanic degassing</a:t>
              </a:r>
            </a:p>
          </p:txBody>
        </p:sp>
        <p:sp>
          <p:nvSpPr>
            <p:cNvPr id="53" name="TextBox 53"/>
            <p:cNvSpPr txBox="1"/>
            <p:nvPr/>
          </p:nvSpPr>
          <p:spPr>
            <a:xfrm>
              <a:off x="9405747" y="3914299"/>
              <a:ext cx="1254506" cy="400241"/>
            </a:xfrm>
            <a:prstGeom prst="rect">
              <a:avLst/>
            </a:prstGeom>
            <a:noFill/>
            <a:ln>
              <a:noFill/>
            </a:ln>
          </p:spPr>
          <p:txBody>
            <a:bodyPr wrap="none" lIns="0" tIns="0" rIns="0" bIns="0" anchor="t" anchorCtr="0">
              <a:spAutoFit/>
            </a:bodyPr>
            <a:lstStyle/>
            <a:p>
              <a:pPr algn="l">
                <a:lnSpc>
                  <a:spcPts val="1650"/>
                </a:lnSpc>
              </a:pPr>
              <a:r>
                <a:rPr lang="zh-CN" sz="980" dirty="0">
                  <a:solidFill>
                    <a:schemeClr val="dk1"/>
                  </a:solidFill>
                  <a:latin typeface="+mn-lt"/>
                  <a:ea typeface="+mn-ea"/>
                  <a:cs typeface="+mn-cs"/>
                </a:rPr>
                <a:t>火山把碳送回大气，</a:t>
              </a:r>
              <a:br/>
              <a:r>
                <a:rPr lang="zh-CN" sz="980" dirty="0">
                  <a:solidFill>
                    <a:schemeClr val="dk1"/>
                  </a:solidFill>
                  <a:latin typeface="+mn-lt"/>
                  <a:ea typeface="+mn-ea"/>
                  <a:cs typeface="+mn-cs"/>
                </a:rPr>
                <a:t>完成一个慢循环回合。</a:t>
              </a:r>
            </a:p>
          </p:txBody>
        </p:sp>
        <p:sp>
          <p:nvSpPr>
            <p:cNvPr id="54" name="Line 54"/>
            <p:cNvSpPr/>
            <p:nvPr/>
          </p:nvSpPr>
          <p:spPr>
            <a:xfrm>
              <a:off x="4667250" y="4495800"/>
              <a:ext cx="9525" cy="76200"/>
            </a:xfrm>
            <a:custGeom>
              <a:avLst/>
              <a:gdLst/>
              <a:ahLst/>
              <a:cxnLst/>
              <a:rect l="l" t="t" r="r" b="b"/>
              <a:pathLst>
                <a:path w="9525" h="76200">
                  <a:moveTo>
                    <a:pt x="0" y="0"/>
                  </a:moveTo>
                  <a:lnTo>
                    <a:pt x="0" y="76200"/>
                  </a:lnTo>
                </a:path>
              </a:pathLst>
            </a:custGeom>
            <a:noFill/>
            <a:ln w="28575">
              <a:solidFill>
                <a:srgbClr val="7A4A33"/>
              </a:solidFill>
            </a:ln>
          </p:spPr>
        </p:sp>
        <p:sp>
          <p:nvSpPr>
            <p:cNvPr id="55" name="Polygon 55"/>
            <p:cNvSpPr/>
            <p:nvPr/>
          </p:nvSpPr>
          <p:spPr>
            <a:xfrm>
              <a:off x="4591050" y="4552950"/>
              <a:ext cx="152400" cy="171450"/>
            </a:xfrm>
            <a:custGeom>
              <a:avLst/>
              <a:gdLst/>
              <a:ahLst/>
              <a:cxnLst/>
              <a:rect l="l" t="t" r="r" b="b"/>
              <a:pathLst>
                <a:path w="152400" h="171450">
                  <a:moveTo>
                    <a:pt x="0" y="0"/>
                  </a:moveTo>
                  <a:lnTo>
                    <a:pt x="76200" y="171450"/>
                  </a:lnTo>
                  <a:lnTo>
                    <a:pt x="152400" y="0"/>
                  </a:lnTo>
                  <a:close/>
                </a:path>
              </a:pathLst>
            </a:custGeom>
            <a:solidFill>
              <a:srgbClr val="7A4A33"/>
            </a:solidFill>
            <a:ln>
              <a:noFill/>
            </a:ln>
          </p:spPr>
        </p:sp>
        <p:sp>
          <p:nvSpPr>
            <p:cNvPr id="56" name="Line 56"/>
            <p:cNvSpPr/>
            <p:nvPr/>
          </p:nvSpPr>
          <p:spPr>
            <a:xfrm>
              <a:off x="7524750" y="4495800"/>
              <a:ext cx="9525" cy="76200"/>
            </a:xfrm>
            <a:custGeom>
              <a:avLst/>
              <a:gdLst/>
              <a:ahLst/>
              <a:cxnLst/>
              <a:rect l="l" t="t" r="r" b="b"/>
              <a:pathLst>
                <a:path w="9525" h="76200">
                  <a:moveTo>
                    <a:pt x="0" y="0"/>
                  </a:moveTo>
                  <a:lnTo>
                    <a:pt x="0" y="76200"/>
                  </a:lnTo>
                </a:path>
              </a:pathLst>
            </a:custGeom>
            <a:noFill/>
            <a:ln w="28575">
              <a:solidFill>
                <a:srgbClr val="7A4A33"/>
              </a:solidFill>
            </a:ln>
          </p:spPr>
        </p:sp>
        <p:sp>
          <p:nvSpPr>
            <p:cNvPr id="57" name="Polygon 57"/>
            <p:cNvSpPr/>
            <p:nvPr/>
          </p:nvSpPr>
          <p:spPr>
            <a:xfrm>
              <a:off x="7448550" y="4552950"/>
              <a:ext cx="152400" cy="171450"/>
            </a:xfrm>
            <a:custGeom>
              <a:avLst/>
              <a:gdLst/>
              <a:ahLst/>
              <a:cxnLst/>
              <a:rect l="l" t="t" r="r" b="b"/>
              <a:pathLst>
                <a:path w="152400" h="171450">
                  <a:moveTo>
                    <a:pt x="0" y="0"/>
                  </a:moveTo>
                  <a:lnTo>
                    <a:pt x="76200" y="171450"/>
                  </a:lnTo>
                  <a:lnTo>
                    <a:pt x="152400" y="0"/>
                  </a:lnTo>
                  <a:close/>
                </a:path>
              </a:pathLst>
            </a:custGeom>
            <a:solidFill>
              <a:srgbClr val="7A4A33"/>
            </a:solidFill>
            <a:ln>
              <a:noFill/>
            </a:ln>
          </p:spPr>
        </p:sp>
        <p:sp>
          <p:nvSpPr>
            <p:cNvPr id="58" name="Rectangle 58"/>
            <p:cNvSpPr/>
            <p:nvPr/>
          </p:nvSpPr>
          <p:spPr>
            <a:xfrm>
              <a:off x="609600" y="4743450"/>
              <a:ext cx="10972800" cy="571500"/>
            </a:xfrm>
            <a:prstGeom prst="roundRect">
              <a:avLst>
                <a:gd name="adj" fmla="val 16667"/>
              </a:avLst>
            </a:prstGeom>
            <a:solidFill>
              <a:srgbClr val="FDECDD"/>
            </a:solidFill>
            <a:ln w="9525">
              <a:solidFill>
                <a:srgbClr val="F0CFC2"/>
              </a:solidFill>
            </a:ln>
          </p:spPr>
        </p:sp>
        <p:sp>
          <p:nvSpPr>
            <p:cNvPr id="59" name="TextBox 59"/>
            <p:cNvSpPr txBox="1"/>
            <p:nvPr/>
          </p:nvSpPr>
          <p:spPr>
            <a:xfrm>
              <a:off x="833247" y="4847749"/>
              <a:ext cx="1694497" cy="190690"/>
            </a:xfrm>
            <a:prstGeom prst="rect">
              <a:avLst/>
            </a:prstGeom>
            <a:noFill/>
            <a:ln>
              <a:noFill/>
            </a:ln>
          </p:spPr>
          <p:txBody>
            <a:bodyPr wrap="none" lIns="0" tIns="0" rIns="0" bIns="0" anchor="t" anchorCtr="0">
              <a:spAutoFit/>
            </a:bodyPr>
            <a:lstStyle/>
            <a:p>
              <a:pPr algn="l"/>
              <a:r>
                <a:rPr lang="zh-CN" sz="980" b="1" dirty="0">
                  <a:solidFill>
                    <a:srgbClr val="7A4A33"/>
                  </a:solidFill>
                  <a:latin typeface="+mn-lt"/>
                  <a:ea typeface="+mn-ea"/>
                  <a:cs typeface="+mn-cs"/>
                </a:rPr>
                <a:t>DEEP STORAGE · 深部储存</a:t>
              </a:r>
            </a:p>
          </p:txBody>
        </p:sp>
        <p:sp>
          <p:nvSpPr>
            <p:cNvPr id="60" name="TextBox 60"/>
            <p:cNvSpPr txBox="1"/>
            <p:nvPr/>
          </p:nvSpPr>
          <p:spPr>
            <a:xfrm>
              <a:off x="832485" y="5060156"/>
              <a:ext cx="3826022" cy="220028"/>
            </a:xfrm>
            <a:prstGeom prst="rect">
              <a:avLst/>
            </a:prstGeom>
            <a:noFill/>
            <a:ln>
              <a:noFill/>
            </a:ln>
          </p:spPr>
          <p:txBody>
            <a:bodyPr wrap="none" lIns="0" tIns="0" rIns="0" bIns="0" anchor="t" anchorCtr="0">
              <a:spAutoFit/>
            </a:bodyPr>
            <a:lstStyle/>
            <a:p>
              <a:pPr algn="l"/>
              <a:r>
                <a:rPr lang="zh-CN" sz="1120" dirty="0">
                  <a:solidFill>
                    <a:schemeClr val="dk1"/>
                  </a:solidFill>
                  <a:latin typeface="+mn-lt"/>
                  <a:ea typeface="+mn-ea"/>
                  <a:cs typeface="+mn-cs"/>
                </a:rPr>
                <a:t>沉积物 · 沉积岩 · 地幔：碳在这里停留的时间远长于表层</a:t>
              </a:r>
            </a:p>
          </p:txBody>
        </p:sp>
        <p:sp>
          <p:nvSpPr>
            <p:cNvPr id="61" name="Rectangle 61"/>
            <p:cNvSpPr/>
            <p:nvPr/>
          </p:nvSpPr>
          <p:spPr>
            <a:xfrm>
              <a:off x="609600" y="5448300"/>
              <a:ext cx="10972800" cy="742950"/>
            </a:xfrm>
            <a:prstGeom prst="roundRect">
              <a:avLst>
                <a:gd name="adj" fmla="val 12821"/>
              </a:avLst>
            </a:prstGeom>
            <a:solidFill>
              <a:schemeClr val="lt1"/>
            </a:solidFill>
            <a:ln w="9525">
              <a:solidFill>
                <a:schemeClr val="accent6"/>
              </a:solidFill>
            </a:ln>
          </p:spPr>
        </p:sp>
        <p:sp>
          <p:nvSpPr>
            <p:cNvPr id="62" name="TextBox 62"/>
            <p:cNvSpPr txBox="1"/>
            <p:nvPr/>
          </p:nvSpPr>
          <p:spPr>
            <a:xfrm>
              <a:off x="832104" y="5566410"/>
              <a:ext cx="1762275" cy="234696"/>
            </a:xfrm>
            <a:prstGeom prst="rect">
              <a:avLst/>
            </a:prstGeom>
            <a:noFill/>
            <a:ln>
              <a:noFill/>
            </a:ln>
          </p:spPr>
          <p:txBody>
            <a:bodyPr wrap="none" lIns="0" tIns="0" rIns="0" bIns="0" anchor="t" anchorCtr="0">
              <a:spAutoFit/>
            </a:bodyPr>
            <a:lstStyle/>
            <a:p>
              <a:pPr algn="l"/>
              <a:r>
                <a:rPr lang="zh-CN" sz="1200" b="1" dirty="0">
                  <a:solidFill>
                    <a:schemeClr val="accent1"/>
                  </a:solidFill>
                  <a:latin typeface="+mn-lt"/>
                  <a:ea typeface="+mn-ea"/>
                  <a:cs typeface="+mn-cs"/>
                </a:rPr>
                <a:t>图件说明 | Figure note</a:t>
              </a:r>
            </a:p>
          </p:txBody>
        </p:sp>
        <p:sp>
          <p:nvSpPr>
            <p:cNvPr id="63" name="TextBox 63"/>
            <p:cNvSpPr txBox="1"/>
            <p:nvPr/>
          </p:nvSpPr>
          <p:spPr>
            <a:xfrm>
              <a:off x="832485" y="5784056"/>
              <a:ext cx="3823462" cy="429578"/>
            </a:xfrm>
            <a:prstGeom prst="rect">
              <a:avLst/>
            </a:prstGeom>
            <a:noFill/>
            <a:ln>
              <a:noFill/>
            </a:ln>
          </p:spPr>
          <p:txBody>
            <a:bodyPr wrap="none" lIns="0" tIns="0" rIns="0" bIns="0" anchor="t" anchorCtr="0">
              <a:spAutoFit/>
            </a:bodyPr>
            <a:lstStyle/>
            <a:p>
              <a:pPr algn="l">
                <a:lnSpc>
                  <a:spcPts val="1650"/>
                </a:lnSpc>
              </a:pPr>
              <a:r>
                <a:rPr lang="zh-CN" sz="1120" dirty="0">
                  <a:solidFill>
                    <a:schemeClr val="dk1"/>
                  </a:solidFill>
                  <a:latin typeface="+mn-lt"/>
                  <a:ea typeface="+mn-ea"/>
                  <a:cs typeface="+mn-cs"/>
                </a:rPr>
                <a:t>本页为教材图 4-16 的忠实双语原生简化，保留路径与方向；</a:t>
              </a:r>
              <a:br/>
              <a:r>
                <a:rPr lang="zh-CN" sz="1120" dirty="0">
                  <a:solidFill>
                    <a:schemeClr val="dk1"/>
                  </a:solidFill>
                  <a:latin typeface="+mn-lt"/>
                  <a:ea typeface="+mn-ea"/>
                  <a:cs typeface="+mn-cs"/>
                </a:rPr>
                <a:t>不放置密集栅格，也不与图 4-17 的数值合成新预算。</a:t>
              </a:r>
            </a:p>
          </p:txBody>
        </p:sp>
      </p:grpSp>
      <p:sp>
        <p:nvSpPr>
          <p:cNvPr id="65" name="TextBox 65"/>
          <p:cNvSpPr txBox="1"/>
          <p:nvPr/>
        </p:nvSpPr>
        <p:spPr>
          <a:xfrm>
            <a:off x="376238" y="6532245"/>
            <a:ext cx="8513875" cy="176212"/>
          </a:xfrm>
          <a:prstGeom prst="rect">
            <a:avLst/>
          </a:prstGeom>
          <a:noFill/>
          <a:ln>
            <a:noFill/>
          </a:ln>
        </p:spPr>
        <p:txBody>
          <a:bodyPr wrap="none" lIns="0" tIns="0" rIns="0" bIns="0" anchor="t" anchorCtr="0">
            <a:spAutoFit/>
          </a:bodyPr>
          <a:lstStyle/>
          <a:p>
            <a:pPr algn="l"/>
            <a:r>
              <a:rPr lang="zh-CN" sz="900" dirty="0">
                <a:solidFill>
                  <a:schemeClr val="accent5"/>
                </a:solidFill>
                <a:latin typeface="+mn-lt"/>
                <a:ea typeface="+mn-ea"/>
                <a:cs typeface="+mn-cs"/>
              </a:rPr>
              <a:t>Source: 地球系统与演变 Ch.4 §4.5.1–4.5.2, 图 4-16/4-17, PDF pp.79–81; UE 8e Ch.12, PDF pp.1209, 1212–1213; EP Ch.23 Fig.23.6; HB Ch.9.</a:t>
            </a:r>
          </a:p>
        </p:txBody>
      </p:sp>
      <p:sp>
        <p:nvSpPr>
          <p:cNvPr id="66" name="TextBox 66"/>
          <p:cNvSpPr txBox="1"/>
          <p:nvPr/>
        </p:nvSpPr>
        <p:spPr>
          <a:xfrm>
            <a:off x="11672964" y="6532245"/>
            <a:ext cx="142799" cy="176212"/>
          </a:xfrm>
          <a:prstGeom prst="rect">
            <a:avLst/>
          </a:prstGeom>
          <a:noFill/>
          <a:ln>
            <a:noFill/>
          </a:ln>
        </p:spPr>
        <p:txBody>
          <a:bodyPr wrap="none" lIns="0" tIns="0" rIns="0" bIns="0" anchor="t" anchorCtr="0">
            <a:spAutoFit/>
          </a:bodyPr>
          <a:lstStyle/>
          <a:p>
            <a:pPr algn="r"/>
            <a:r>
              <a:rPr lang="zh-CN" sz="900" dirty="0">
                <a:solidFill>
                  <a:schemeClr val="accent5"/>
                </a:solidFill>
                <a:latin typeface="+mn-lt"/>
                <a:ea typeface="+mn-ea"/>
                <a:cs typeface="+mn-cs"/>
              </a:rPr>
              <a:t>30</a:t>
            </a:r>
          </a:p>
        </p:txBody>
      </p:sp>
    </p:spTree>
    <p:extLst>
      <p:ext uri="{BB962C8B-B14F-4D97-AF65-F5344CB8AC3E}">
        <p14:creationId xmlns:p14="http://schemas.microsoft.com/office/powerpoint/2010/main" val="3279093362"/>
      </p:ext>
    </p:extLst>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5"/>
          <p:cNvGrpSpPr/>
          <p:nvPr/>
        </p:nvGrpSpPr>
        <p:grpSpPr>
          <a:xfrm>
            <a:off x="0" y="0"/>
            <a:ext cx="12192000" cy="685800"/>
            <a:chOff x="0" y="0"/>
            <a:chExt cx="12192000" cy="685800"/>
          </a:xfrm>
        </p:grpSpPr>
        <p:sp>
          <p:nvSpPr>
            <p:cNvPr id="2" name="Rectangle 2"/>
            <p:cNvSpPr/>
            <p:nvPr/>
          </p:nvSpPr>
          <p:spPr>
            <a:xfrm>
              <a:off x="0" y="0"/>
              <a:ext cx="12192000" cy="685800"/>
            </a:xfrm>
            <a:prstGeom prst="rect">
              <a:avLst/>
            </a:prstGeom>
            <a:solidFill>
              <a:schemeClr val="accent1"/>
            </a:solidFill>
            <a:ln>
              <a:noFill/>
            </a:ln>
          </p:spPr>
        </p:sp>
        <p:sp>
          <p:nvSpPr>
            <p:cNvPr id="3" name="TextBox 3"/>
            <p:cNvSpPr txBox="1"/>
            <p:nvPr/>
          </p:nvSpPr>
          <p:spPr>
            <a:xfrm>
              <a:off x="374142" y="282892"/>
              <a:ext cx="4619944" cy="264033"/>
            </a:xfrm>
            <a:prstGeom prst="rect">
              <a:avLst/>
            </a:prstGeom>
            <a:noFill/>
            <a:ln>
              <a:noFill/>
            </a:ln>
          </p:spPr>
          <p:txBody>
            <a:bodyPr wrap="none" lIns="0" tIns="0" rIns="0" bIns="0" anchor="t" anchorCtr="0">
              <a:spAutoFit/>
            </a:bodyPr>
            <a:lstStyle/>
            <a:p>
              <a:pPr algn="l"/>
              <a:r>
                <a:rPr lang="zh-CN" sz="1350" b="1" dirty="0">
                  <a:solidFill>
                    <a:srgbClr val="FFFFFF"/>
                  </a:solidFill>
                  <a:latin typeface="+mn-lt"/>
                  <a:ea typeface="+mn-ea"/>
                  <a:cs typeface="+mn-cs"/>
                </a:rPr>
                <a:t>2.11 碳循环的多个时钟 | Multiple Carbon Timescales</a:t>
              </a:r>
            </a:p>
          </p:txBody>
        </p:sp>
        <p:sp>
          <p:nvSpPr>
            <p:cNvPr id="4" name="TextBox 4"/>
            <p:cNvSpPr txBox="1"/>
            <p:nvPr/>
          </p:nvSpPr>
          <p:spPr>
            <a:xfrm>
              <a:off x="10686898" y="299085"/>
              <a:ext cx="1130198" cy="234696"/>
            </a:xfrm>
            <a:prstGeom prst="rect">
              <a:avLst/>
            </a:prstGeom>
            <a:noFill/>
            <a:ln>
              <a:noFill/>
            </a:ln>
          </p:spPr>
          <p:txBody>
            <a:bodyPr wrap="none" lIns="0" tIns="0" rIns="0" bIns="0" anchor="t" anchorCtr="0">
              <a:spAutoFit/>
            </a:bodyPr>
            <a:lstStyle/>
            <a:p>
              <a:pPr algn="r"/>
              <a:r>
                <a:rPr lang="zh-CN" sz="1200" dirty="0">
                  <a:solidFill>
                    <a:srgbClr val="C7D7F2"/>
                  </a:solidFill>
                  <a:latin typeface="+mn-lt"/>
                  <a:ea typeface="+mn-ea"/>
                  <a:cs typeface="+mn-cs"/>
                </a:rPr>
                <a:t>CARBON CYCLE</a:t>
              </a:r>
            </a:p>
          </p:txBody>
        </p:sp>
      </p:grpSp>
      <p:grpSp>
        <p:nvGrpSpPr>
          <p:cNvPr id="8" name="Group 8"/>
          <p:cNvGrpSpPr/>
          <p:nvPr/>
        </p:nvGrpSpPr>
        <p:grpSpPr>
          <a:xfrm>
            <a:off x="381000" y="914400"/>
            <a:ext cx="6135040" cy="357093"/>
            <a:chOff x="381000" y="914400"/>
            <a:chExt cx="6135040" cy="357093"/>
          </a:xfrm>
        </p:grpSpPr>
        <p:sp>
          <p:nvSpPr>
            <p:cNvPr id="6" name="Rectangle 6"/>
            <p:cNvSpPr/>
            <p:nvPr/>
          </p:nvSpPr>
          <p:spPr>
            <a:xfrm>
              <a:off x="381000" y="914400"/>
              <a:ext cx="57150" cy="266700"/>
            </a:xfrm>
            <a:prstGeom prst="roundRect">
              <a:avLst>
                <a:gd name="adj" fmla="val 50000"/>
              </a:avLst>
            </a:prstGeom>
            <a:solidFill>
              <a:schemeClr val="accent3"/>
            </a:solidFill>
            <a:ln>
              <a:noFill/>
            </a:ln>
          </p:spPr>
        </p:sp>
        <p:sp>
          <p:nvSpPr>
            <p:cNvPr id="7" name="TextBox 7"/>
            <p:cNvSpPr txBox="1"/>
            <p:nvPr/>
          </p:nvSpPr>
          <p:spPr>
            <a:xfrm>
              <a:off x="544449" y="963454"/>
              <a:ext cx="5971591" cy="308039"/>
            </a:xfrm>
            <a:prstGeom prst="rect">
              <a:avLst/>
            </a:prstGeom>
            <a:noFill/>
            <a:ln>
              <a:noFill/>
            </a:ln>
          </p:spPr>
          <p:txBody>
            <a:bodyPr wrap="none" lIns="0" tIns="0" rIns="0" bIns="0" anchor="t" anchorCtr="0">
              <a:spAutoFit/>
            </a:bodyPr>
            <a:lstStyle/>
            <a:p>
              <a:pPr algn="l"/>
              <a:r>
                <a:rPr lang="zh-CN" sz="1580" b="1" dirty="0">
                  <a:solidFill>
                    <a:srgbClr val="C2410C"/>
                  </a:solidFill>
                  <a:latin typeface="+mn-lt"/>
                  <a:ea typeface="+mn-ea"/>
                  <a:cs typeface="+mn-cs"/>
                </a:rPr>
                <a:t>生物、海洋、沉积与地质，四条路径以四个不同档位的时钟运行</a:t>
              </a:r>
            </a:p>
          </p:txBody>
        </p:sp>
      </p:grpSp>
      <p:grpSp>
        <p:nvGrpSpPr>
          <p:cNvPr id="16" name="Group 16"/>
          <p:cNvGrpSpPr/>
          <p:nvPr/>
        </p:nvGrpSpPr>
        <p:grpSpPr>
          <a:xfrm>
            <a:off x="381000" y="1428750"/>
            <a:ext cx="11430000" cy="609600"/>
            <a:chOff x="381000" y="1428750"/>
            <a:chExt cx="11430000" cy="609600"/>
          </a:xfrm>
        </p:grpSpPr>
        <p:sp>
          <p:nvSpPr>
            <p:cNvPr id="9" name="Rectangle 9"/>
            <p:cNvSpPr/>
            <p:nvPr/>
          </p:nvSpPr>
          <p:spPr>
            <a:xfrm>
              <a:off x="381000" y="1428750"/>
              <a:ext cx="11430000" cy="609600"/>
            </a:xfrm>
            <a:prstGeom prst="roundRect">
              <a:avLst>
                <a:gd name="adj" fmla="val 15625"/>
              </a:avLst>
            </a:prstGeom>
            <a:solidFill>
              <a:schemeClr val="lt2"/>
            </a:solidFill>
            <a:ln w="9525">
              <a:solidFill>
                <a:schemeClr val="accent6"/>
              </a:solidFill>
            </a:ln>
          </p:spPr>
        </p:sp>
        <p:sp>
          <p:nvSpPr>
            <p:cNvPr id="10" name="Rectangle 10"/>
            <p:cNvSpPr/>
            <p:nvPr/>
          </p:nvSpPr>
          <p:spPr>
            <a:xfrm>
              <a:off x="609600" y="1581150"/>
              <a:ext cx="3505200" cy="304800"/>
            </a:xfrm>
            <a:prstGeom prst="roundRect">
              <a:avLst>
                <a:gd name="adj" fmla="val 25000"/>
              </a:avLst>
            </a:prstGeom>
            <a:solidFill>
              <a:schemeClr val="lt1"/>
            </a:solidFill>
            <a:ln w="9525">
              <a:solidFill>
                <a:schemeClr val="accent6"/>
              </a:solidFill>
            </a:ln>
          </p:spPr>
        </p:sp>
        <p:sp>
          <p:nvSpPr>
            <p:cNvPr id="11" name="TextBox 11"/>
            <p:cNvSpPr txBox="1"/>
            <p:nvPr/>
          </p:nvSpPr>
          <p:spPr>
            <a:xfrm>
              <a:off x="1550746" y="1685449"/>
              <a:ext cx="1622908" cy="190690"/>
            </a:xfrm>
            <a:prstGeom prst="rect">
              <a:avLst/>
            </a:prstGeom>
            <a:noFill/>
            <a:ln>
              <a:noFill/>
            </a:ln>
          </p:spPr>
          <p:txBody>
            <a:bodyPr wrap="none" lIns="0" tIns="0" rIns="0" bIns="0" anchor="t" anchorCtr="0">
              <a:spAutoFit/>
            </a:bodyPr>
            <a:lstStyle/>
            <a:p>
              <a:pPr algn="ctr"/>
              <a:r>
                <a:rPr lang="zh-CN" sz="980" dirty="0">
                  <a:solidFill>
                    <a:schemeClr val="dk1"/>
                  </a:solidFill>
                  <a:latin typeface="+mn-lt"/>
                  <a:ea typeface="+mn-ea"/>
                  <a:cs typeface="+mn-cs"/>
                </a:rPr>
                <a:t>储库 Reservoir = 存了多少</a:t>
              </a:r>
            </a:p>
          </p:txBody>
        </p:sp>
        <p:sp>
          <p:nvSpPr>
            <p:cNvPr id="12" name="Rectangle 12"/>
            <p:cNvSpPr/>
            <p:nvPr/>
          </p:nvSpPr>
          <p:spPr>
            <a:xfrm>
              <a:off x="4343400" y="1581150"/>
              <a:ext cx="3505200" cy="304800"/>
            </a:xfrm>
            <a:prstGeom prst="roundRect">
              <a:avLst>
                <a:gd name="adj" fmla="val 25000"/>
              </a:avLst>
            </a:prstGeom>
            <a:solidFill>
              <a:schemeClr val="lt1"/>
            </a:solidFill>
            <a:ln w="9525">
              <a:solidFill>
                <a:schemeClr val="accent6"/>
              </a:solidFill>
            </a:ln>
          </p:spPr>
        </p:sp>
        <p:sp>
          <p:nvSpPr>
            <p:cNvPr id="13" name="TextBox 13"/>
            <p:cNvSpPr txBox="1"/>
            <p:nvPr/>
          </p:nvSpPr>
          <p:spPr>
            <a:xfrm>
              <a:off x="5328418" y="1685449"/>
              <a:ext cx="1535163" cy="190690"/>
            </a:xfrm>
            <a:prstGeom prst="rect">
              <a:avLst/>
            </a:prstGeom>
            <a:noFill/>
            <a:ln>
              <a:noFill/>
            </a:ln>
          </p:spPr>
          <p:txBody>
            <a:bodyPr wrap="none" lIns="0" tIns="0" rIns="0" bIns="0" anchor="t" anchorCtr="0">
              <a:spAutoFit/>
            </a:bodyPr>
            <a:lstStyle/>
            <a:p>
              <a:pPr algn="ctr"/>
              <a:r>
                <a:rPr lang="zh-CN" sz="980" dirty="0">
                  <a:solidFill>
                    <a:schemeClr val="dk1"/>
                  </a:solidFill>
                  <a:latin typeface="+mn-lt"/>
                  <a:ea typeface="+mn-ea"/>
                  <a:cs typeface="+mn-cs"/>
                </a:rPr>
                <a:t>通量 Flux = 每年转移多少</a:t>
              </a:r>
            </a:p>
          </p:txBody>
        </p:sp>
        <p:sp>
          <p:nvSpPr>
            <p:cNvPr id="14" name="Rectangle 14"/>
            <p:cNvSpPr/>
            <p:nvPr/>
          </p:nvSpPr>
          <p:spPr>
            <a:xfrm>
              <a:off x="8077200" y="1581150"/>
              <a:ext cx="3505200" cy="304800"/>
            </a:xfrm>
            <a:prstGeom prst="roundRect">
              <a:avLst>
                <a:gd name="adj" fmla="val 25000"/>
              </a:avLst>
            </a:prstGeom>
            <a:solidFill>
              <a:schemeClr val="lt1"/>
            </a:solidFill>
            <a:ln w="9525">
              <a:solidFill>
                <a:schemeClr val="accent6"/>
              </a:solidFill>
            </a:ln>
          </p:spPr>
        </p:sp>
        <p:sp>
          <p:nvSpPr>
            <p:cNvPr id="15" name="TextBox 15"/>
            <p:cNvSpPr txBox="1"/>
            <p:nvPr/>
          </p:nvSpPr>
          <p:spPr>
            <a:xfrm>
              <a:off x="8587236" y="1685449"/>
              <a:ext cx="2485128" cy="190690"/>
            </a:xfrm>
            <a:prstGeom prst="rect">
              <a:avLst/>
            </a:prstGeom>
            <a:noFill/>
            <a:ln>
              <a:noFill/>
            </a:ln>
          </p:spPr>
          <p:txBody>
            <a:bodyPr wrap="none" lIns="0" tIns="0" rIns="0" bIns="0" anchor="t" anchorCtr="0">
              <a:spAutoFit/>
            </a:bodyPr>
            <a:lstStyle/>
            <a:p>
              <a:pPr algn="ctr"/>
              <a:r>
                <a:rPr lang="zh-CN" sz="980" dirty="0">
                  <a:solidFill>
                    <a:schemeClr val="dk1"/>
                  </a:solidFill>
                  <a:latin typeface="+mn-lt"/>
                  <a:ea typeface="+mn-ea"/>
                  <a:cs typeface="+mn-cs"/>
                </a:rPr>
                <a:t>停留时间 Residence Time = 平均停留多久</a:t>
              </a:r>
            </a:p>
          </p:txBody>
        </p:sp>
      </p:grpSp>
      <p:grpSp>
        <p:nvGrpSpPr>
          <p:cNvPr id="51" name="Group 51"/>
          <p:cNvGrpSpPr/>
          <p:nvPr/>
        </p:nvGrpSpPr>
        <p:grpSpPr>
          <a:xfrm>
            <a:off x="381000" y="2190750"/>
            <a:ext cx="11430000" cy="2384107"/>
            <a:chOff x="381000" y="2190750"/>
            <a:chExt cx="11430000" cy="2384107"/>
          </a:xfrm>
        </p:grpSpPr>
        <p:sp>
          <p:nvSpPr>
            <p:cNvPr id="17" name="Rectangle 17"/>
            <p:cNvSpPr/>
            <p:nvPr/>
          </p:nvSpPr>
          <p:spPr>
            <a:xfrm>
              <a:off x="381000" y="2190750"/>
              <a:ext cx="11430000" cy="2381250"/>
            </a:xfrm>
            <a:prstGeom prst="roundRect">
              <a:avLst>
                <a:gd name="adj" fmla="val 4800"/>
              </a:avLst>
            </a:prstGeom>
            <a:solidFill>
              <a:srgbClr val="FDF4EF"/>
            </a:solidFill>
            <a:ln w="9525">
              <a:solidFill>
                <a:srgbClr val="F0CFC2"/>
              </a:solidFill>
            </a:ln>
          </p:spPr>
        </p:sp>
        <p:sp>
          <p:nvSpPr>
            <p:cNvPr id="18" name="TextBox 18"/>
            <p:cNvSpPr txBox="1"/>
            <p:nvPr/>
          </p:nvSpPr>
          <p:spPr>
            <a:xfrm>
              <a:off x="603504" y="2366010"/>
              <a:ext cx="3345134" cy="234696"/>
            </a:xfrm>
            <a:prstGeom prst="rect">
              <a:avLst/>
            </a:prstGeom>
            <a:noFill/>
            <a:ln>
              <a:noFill/>
            </a:ln>
          </p:spPr>
          <p:txBody>
            <a:bodyPr wrap="none" lIns="0" tIns="0" rIns="0" bIns="0" anchor="t" anchorCtr="0">
              <a:spAutoFit/>
            </a:bodyPr>
            <a:lstStyle/>
            <a:p>
              <a:pPr algn="l"/>
              <a:r>
                <a:rPr lang="zh-CN" sz="1200" b="1" dirty="0">
                  <a:solidFill>
                    <a:srgbClr val="C2410C"/>
                  </a:solidFill>
                  <a:latin typeface="+mn-lt"/>
                  <a:ea typeface="+mn-ea"/>
                  <a:cs typeface="+mn-cs"/>
                </a:rPr>
                <a:t>图 4-15 锚点 | Four clocks (CN Fig. 4-15)</a:t>
              </a:r>
            </a:p>
          </p:txBody>
        </p:sp>
        <p:sp>
          <p:nvSpPr>
            <p:cNvPr id="19" name="Line 19"/>
            <p:cNvSpPr/>
            <p:nvPr/>
          </p:nvSpPr>
          <p:spPr>
            <a:xfrm>
              <a:off x="3200400" y="2743200"/>
              <a:ext cx="9525" cy="1562100"/>
            </a:xfrm>
            <a:custGeom>
              <a:avLst/>
              <a:gdLst/>
              <a:ahLst/>
              <a:cxnLst/>
              <a:rect l="l" t="t" r="r" b="b"/>
              <a:pathLst>
                <a:path w="9525" h="1562100">
                  <a:moveTo>
                    <a:pt x="0" y="0"/>
                  </a:moveTo>
                  <a:lnTo>
                    <a:pt x="0" y="1562100"/>
                  </a:lnTo>
                </a:path>
              </a:pathLst>
            </a:custGeom>
            <a:noFill/>
            <a:ln w="9525">
              <a:solidFill>
                <a:srgbClr val="F0CFC2"/>
              </a:solidFill>
            </a:ln>
          </p:spPr>
        </p:sp>
        <p:sp>
          <p:nvSpPr>
            <p:cNvPr id="20" name="Line 20"/>
            <p:cNvSpPr/>
            <p:nvPr/>
          </p:nvSpPr>
          <p:spPr>
            <a:xfrm>
              <a:off x="4200525" y="2743200"/>
              <a:ext cx="9525" cy="1562100"/>
            </a:xfrm>
            <a:custGeom>
              <a:avLst/>
              <a:gdLst/>
              <a:ahLst/>
              <a:cxnLst/>
              <a:rect l="l" t="t" r="r" b="b"/>
              <a:pathLst>
                <a:path w="9525" h="1562100">
                  <a:moveTo>
                    <a:pt x="0" y="0"/>
                  </a:moveTo>
                  <a:lnTo>
                    <a:pt x="0" y="1562100"/>
                  </a:lnTo>
                </a:path>
              </a:pathLst>
            </a:custGeom>
            <a:noFill/>
            <a:ln w="9525">
              <a:solidFill>
                <a:srgbClr val="F0CFC2"/>
              </a:solidFill>
            </a:ln>
          </p:spPr>
        </p:sp>
        <p:sp>
          <p:nvSpPr>
            <p:cNvPr id="21" name="Line 21"/>
            <p:cNvSpPr/>
            <p:nvPr/>
          </p:nvSpPr>
          <p:spPr>
            <a:xfrm>
              <a:off x="5210175" y="2743200"/>
              <a:ext cx="9525" cy="1562100"/>
            </a:xfrm>
            <a:custGeom>
              <a:avLst/>
              <a:gdLst/>
              <a:ahLst/>
              <a:cxnLst/>
              <a:rect l="l" t="t" r="r" b="b"/>
              <a:pathLst>
                <a:path w="9525" h="1562100">
                  <a:moveTo>
                    <a:pt x="0" y="0"/>
                  </a:moveTo>
                  <a:lnTo>
                    <a:pt x="0" y="1562100"/>
                  </a:lnTo>
                </a:path>
              </a:pathLst>
            </a:custGeom>
            <a:noFill/>
            <a:ln w="9525">
              <a:solidFill>
                <a:srgbClr val="F0CFC2"/>
              </a:solidFill>
            </a:ln>
          </p:spPr>
        </p:sp>
        <p:sp>
          <p:nvSpPr>
            <p:cNvPr id="22" name="Line 22"/>
            <p:cNvSpPr/>
            <p:nvPr/>
          </p:nvSpPr>
          <p:spPr>
            <a:xfrm>
              <a:off x="6210300" y="2743200"/>
              <a:ext cx="9525" cy="1562100"/>
            </a:xfrm>
            <a:custGeom>
              <a:avLst/>
              <a:gdLst/>
              <a:ahLst/>
              <a:cxnLst/>
              <a:rect l="l" t="t" r="r" b="b"/>
              <a:pathLst>
                <a:path w="9525" h="1562100">
                  <a:moveTo>
                    <a:pt x="0" y="0"/>
                  </a:moveTo>
                  <a:lnTo>
                    <a:pt x="0" y="1562100"/>
                  </a:lnTo>
                </a:path>
              </a:pathLst>
            </a:custGeom>
            <a:noFill/>
            <a:ln w="9525">
              <a:solidFill>
                <a:srgbClr val="F0CFC2"/>
              </a:solidFill>
            </a:ln>
          </p:spPr>
        </p:sp>
        <p:sp>
          <p:nvSpPr>
            <p:cNvPr id="23" name="Line 23"/>
            <p:cNvSpPr/>
            <p:nvPr/>
          </p:nvSpPr>
          <p:spPr>
            <a:xfrm>
              <a:off x="7219950" y="2743200"/>
              <a:ext cx="9525" cy="1562100"/>
            </a:xfrm>
            <a:custGeom>
              <a:avLst/>
              <a:gdLst/>
              <a:ahLst/>
              <a:cxnLst/>
              <a:rect l="l" t="t" r="r" b="b"/>
              <a:pathLst>
                <a:path w="9525" h="1562100">
                  <a:moveTo>
                    <a:pt x="0" y="0"/>
                  </a:moveTo>
                  <a:lnTo>
                    <a:pt x="0" y="1562100"/>
                  </a:lnTo>
                </a:path>
              </a:pathLst>
            </a:custGeom>
            <a:noFill/>
            <a:ln w="9525">
              <a:solidFill>
                <a:srgbClr val="F0CFC2"/>
              </a:solidFill>
            </a:ln>
          </p:spPr>
        </p:sp>
        <p:sp>
          <p:nvSpPr>
            <p:cNvPr id="24" name="Line 24"/>
            <p:cNvSpPr/>
            <p:nvPr/>
          </p:nvSpPr>
          <p:spPr>
            <a:xfrm>
              <a:off x="8220075" y="2743200"/>
              <a:ext cx="9525" cy="1562100"/>
            </a:xfrm>
            <a:custGeom>
              <a:avLst/>
              <a:gdLst/>
              <a:ahLst/>
              <a:cxnLst/>
              <a:rect l="l" t="t" r="r" b="b"/>
              <a:pathLst>
                <a:path w="9525" h="1562100">
                  <a:moveTo>
                    <a:pt x="0" y="0"/>
                  </a:moveTo>
                  <a:lnTo>
                    <a:pt x="0" y="1562100"/>
                  </a:lnTo>
                </a:path>
              </a:pathLst>
            </a:custGeom>
            <a:noFill/>
            <a:ln w="9525">
              <a:solidFill>
                <a:srgbClr val="F0CFC2"/>
              </a:solidFill>
            </a:ln>
          </p:spPr>
        </p:sp>
        <p:sp>
          <p:nvSpPr>
            <p:cNvPr id="25" name="Line 25"/>
            <p:cNvSpPr/>
            <p:nvPr/>
          </p:nvSpPr>
          <p:spPr>
            <a:xfrm>
              <a:off x="9229725" y="2743200"/>
              <a:ext cx="9525" cy="1562100"/>
            </a:xfrm>
            <a:custGeom>
              <a:avLst/>
              <a:gdLst/>
              <a:ahLst/>
              <a:cxnLst/>
              <a:rect l="l" t="t" r="r" b="b"/>
              <a:pathLst>
                <a:path w="9525" h="1562100">
                  <a:moveTo>
                    <a:pt x="0" y="0"/>
                  </a:moveTo>
                  <a:lnTo>
                    <a:pt x="0" y="1562100"/>
                  </a:lnTo>
                </a:path>
              </a:pathLst>
            </a:custGeom>
            <a:noFill/>
            <a:ln w="9525">
              <a:solidFill>
                <a:srgbClr val="F0CFC2"/>
              </a:solidFill>
            </a:ln>
          </p:spPr>
        </p:sp>
        <p:sp>
          <p:nvSpPr>
            <p:cNvPr id="26" name="Line 26"/>
            <p:cNvSpPr/>
            <p:nvPr/>
          </p:nvSpPr>
          <p:spPr>
            <a:xfrm>
              <a:off x="10229850" y="2743200"/>
              <a:ext cx="9525" cy="1562100"/>
            </a:xfrm>
            <a:custGeom>
              <a:avLst/>
              <a:gdLst/>
              <a:ahLst/>
              <a:cxnLst/>
              <a:rect l="l" t="t" r="r" b="b"/>
              <a:pathLst>
                <a:path w="9525" h="1562100">
                  <a:moveTo>
                    <a:pt x="0" y="0"/>
                  </a:moveTo>
                  <a:lnTo>
                    <a:pt x="0" y="1562100"/>
                  </a:lnTo>
                </a:path>
              </a:pathLst>
            </a:custGeom>
            <a:noFill/>
            <a:ln w="9525">
              <a:solidFill>
                <a:srgbClr val="F0CFC2"/>
              </a:solidFill>
            </a:ln>
          </p:spPr>
        </p:sp>
        <p:sp>
          <p:nvSpPr>
            <p:cNvPr id="27" name="Line 27"/>
            <p:cNvSpPr/>
            <p:nvPr/>
          </p:nvSpPr>
          <p:spPr>
            <a:xfrm>
              <a:off x="11239500" y="2743200"/>
              <a:ext cx="9525" cy="1562100"/>
            </a:xfrm>
            <a:custGeom>
              <a:avLst/>
              <a:gdLst/>
              <a:ahLst/>
              <a:cxnLst/>
              <a:rect l="l" t="t" r="r" b="b"/>
              <a:pathLst>
                <a:path w="9525" h="1562100">
                  <a:moveTo>
                    <a:pt x="0" y="0"/>
                  </a:moveTo>
                  <a:lnTo>
                    <a:pt x="0" y="1562100"/>
                  </a:lnTo>
                </a:path>
              </a:pathLst>
            </a:custGeom>
            <a:noFill/>
            <a:ln w="9525">
              <a:solidFill>
                <a:srgbClr val="F0CFC2"/>
              </a:solidFill>
            </a:ln>
          </p:spPr>
        </p:sp>
        <p:sp>
          <p:nvSpPr>
            <p:cNvPr id="28" name="TextBox 28"/>
            <p:cNvSpPr txBox="1"/>
            <p:nvPr/>
          </p:nvSpPr>
          <p:spPr>
            <a:xfrm>
              <a:off x="603885" y="2831306"/>
              <a:ext cx="1383477" cy="220028"/>
            </a:xfrm>
            <a:prstGeom prst="rect">
              <a:avLst/>
            </a:prstGeom>
            <a:noFill/>
            <a:ln>
              <a:noFill/>
            </a:ln>
          </p:spPr>
          <p:txBody>
            <a:bodyPr wrap="none" lIns="0" tIns="0" rIns="0" bIns="0" anchor="t" anchorCtr="0">
              <a:spAutoFit/>
            </a:bodyPr>
            <a:lstStyle/>
            <a:p>
              <a:pPr algn="l"/>
              <a:r>
                <a:rPr lang="zh-CN" sz="1120" dirty="0">
                  <a:solidFill>
                    <a:schemeClr val="dk1"/>
                  </a:solidFill>
                  <a:latin typeface="+mn-lt"/>
                  <a:ea typeface="+mn-ea"/>
                  <a:cs typeface="+mn-cs"/>
                </a:rPr>
                <a:t>大气—生物圈—表层海</a:t>
              </a:r>
            </a:p>
          </p:txBody>
        </p:sp>
        <p:sp>
          <p:nvSpPr>
            <p:cNvPr id="29" name="Rectangle 29"/>
            <p:cNvSpPr/>
            <p:nvPr/>
          </p:nvSpPr>
          <p:spPr>
            <a:xfrm>
              <a:off x="3200400" y="2838450"/>
              <a:ext cx="1000125" cy="190500"/>
            </a:xfrm>
            <a:prstGeom prst="roundRect">
              <a:avLst>
                <a:gd name="adj" fmla="val 20000"/>
              </a:avLst>
            </a:prstGeom>
            <a:solidFill>
              <a:schemeClr val="accent3"/>
            </a:solidFill>
            <a:ln>
              <a:noFill/>
            </a:ln>
          </p:spPr>
        </p:sp>
        <p:sp>
          <p:nvSpPr>
            <p:cNvPr id="30" name="TextBox 30"/>
            <p:cNvSpPr txBox="1"/>
            <p:nvPr/>
          </p:nvSpPr>
          <p:spPr>
            <a:xfrm>
              <a:off x="4290822" y="2885599"/>
              <a:ext cx="860839" cy="190690"/>
            </a:xfrm>
            <a:prstGeom prst="rect">
              <a:avLst/>
            </a:prstGeom>
            <a:noFill/>
            <a:ln>
              <a:noFill/>
            </a:ln>
          </p:spPr>
          <p:txBody>
            <a:bodyPr wrap="none" lIns="0" tIns="0" rIns="0" bIns="0" anchor="t" anchorCtr="0">
              <a:spAutoFit/>
            </a:bodyPr>
            <a:lstStyle/>
            <a:p>
              <a:pPr algn="l"/>
              <a:r>
                <a:rPr lang="zh-CN" sz="980" dirty="0">
                  <a:solidFill>
                    <a:srgbClr val="7A4A33"/>
                  </a:solidFill>
                  <a:latin typeface="+mn-lt"/>
                  <a:ea typeface="+mn-ea"/>
                  <a:cs typeface="+mn-cs"/>
                </a:rPr>
                <a:t>约 10¹–10² 年</a:t>
              </a:r>
            </a:p>
          </p:txBody>
        </p:sp>
        <p:sp>
          <p:nvSpPr>
            <p:cNvPr id="31" name="TextBox 31"/>
            <p:cNvSpPr txBox="1"/>
            <p:nvPr/>
          </p:nvSpPr>
          <p:spPr>
            <a:xfrm>
              <a:off x="603885" y="3212306"/>
              <a:ext cx="463753" cy="220028"/>
            </a:xfrm>
            <a:prstGeom prst="rect">
              <a:avLst/>
            </a:prstGeom>
            <a:noFill/>
            <a:ln>
              <a:noFill/>
            </a:ln>
          </p:spPr>
          <p:txBody>
            <a:bodyPr wrap="none" lIns="0" tIns="0" rIns="0" bIns="0" anchor="t" anchorCtr="0">
              <a:spAutoFit/>
            </a:bodyPr>
            <a:lstStyle/>
            <a:p>
              <a:pPr algn="l"/>
              <a:r>
                <a:rPr lang="zh-CN" sz="1120" dirty="0">
                  <a:solidFill>
                    <a:schemeClr val="dk1"/>
                  </a:solidFill>
                  <a:latin typeface="+mn-lt"/>
                  <a:ea typeface="+mn-ea"/>
                  <a:cs typeface="+mn-cs"/>
                </a:rPr>
                <a:t>深层海</a:t>
              </a:r>
            </a:p>
          </p:txBody>
        </p:sp>
        <p:sp>
          <p:nvSpPr>
            <p:cNvPr id="32" name="Rectangle 32"/>
            <p:cNvSpPr/>
            <p:nvPr/>
          </p:nvSpPr>
          <p:spPr>
            <a:xfrm>
              <a:off x="4200525" y="3219450"/>
              <a:ext cx="1009650" cy="190500"/>
            </a:xfrm>
            <a:prstGeom prst="roundRect">
              <a:avLst>
                <a:gd name="adj" fmla="val 20000"/>
              </a:avLst>
            </a:prstGeom>
            <a:solidFill>
              <a:schemeClr val="accent3"/>
            </a:solidFill>
            <a:ln>
              <a:noFill/>
            </a:ln>
          </p:spPr>
        </p:sp>
        <p:sp>
          <p:nvSpPr>
            <p:cNvPr id="33" name="TextBox 33"/>
            <p:cNvSpPr txBox="1"/>
            <p:nvPr/>
          </p:nvSpPr>
          <p:spPr>
            <a:xfrm>
              <a:off x="5300472" y="3266599"/>
              <a:ext cx="860839" cy="190690"/>
            </a:xfrm>
            <a:prstGeom prst="rect">
              <a:avLst/>
            </a:prstGeom>
            <a:noFill/>
            <a:ln>
              <a:noFill/>
            </a:ln>
          </p:spPr>
          <p:txBody>
            <a:bodyPr wrap="none" lIns="0" tIns="0" rIns="0" bIns="0" anchor="t" anchorCtr="0">
              <a:spAutoFit/>
            </a:bodyPr>
            <a:lstStyle/>
            <a:p>
              <a:pPr algn="l"/>
              <a:r>
                <a:rPr lang="zh-CN" sz="980" dirty="0">
                  <a:solidFill>
                    <a:srgbClr val="7A4A33"/>
                  </a:solidFill>
                  <a:latin typeface="+mn-lt"/>
                  <a:ea typeface="+mn-ea"/>
                  <a:cs typeface="+mn-cs"/>
                </a:rPr>
                <a:t>约 10²–10³ 年</a:t>
              </a:r>
            </a:p>
          </p:txBody>
        </p:sp>
        <p:sp>
          <p:nvSpPr>
            <p:cNvPr id="34" name="TextBox 34"/>
            <p:cNvSpPr txBox="1"/>
            <p:nvPr/>
          </p:nvSpPr>
          <p:spPr>
            <a:xfrm>
              <a:off x="603885" y="3593306"/>
              <a:ext cx="463753" cy="220028"/>
            </a:xfrm>
            <a:prstGeom prst="rect">
              <a:avLst/>
            </a:prstGeom>
            <a:noFill/>
            <a:ln>
              <a:noFill/>
            </a:ln>
          </p:spPr>
          <p:txBody>
            <a:bodyPr wrap="none" lIns="0" tIns="0" rIns="0" bIns="0" anchor="t" anchorCtr="0">
              <a:spAutoFit/>
            </a:bodyPr>
            <a:lstStyle/>
            <a:p>
              <a:pPr algn="l"/>
              <a:r>
                <a:rPr lang="zh-CN" sz="1120" dirty="0">
                  <a:solidFill>
                    <a:schemeClr val="dk1"/>
                  </a:solidFill>
                  <a:latin typeface="+mn-lt"/>
                  <a:ea typeface="+mn-ea"/>
                  <a:cs typeface="+mn-cs"/>
                </a:rPr>
                <a:t>沉积物</a:t>
              </a:r>
            </a:p>
          </p:txBody>
        </p:sp>
        <p:sp>
          <p:nvSpPr>
            <p:cNvPr id="35" name="Rectangle 35"/>
            <p:cNvSpPr/>
            <p:nvPr/>
          </p:nvSpPr>
          <p:spPr>
            <a:xfrm>
              <a:off x="5210175" y="3600450"/>
              <a:ext cx="2009775" cy="190500"/>
            </a:xfrm>
            <a:prstGeom prst="roundRect">
              <a:avLst>
                <a:gd name="adj" fmla="val 20000"/>
              </a:avLst>
            </a:prstGeom>
            <a:solidFill>
              <a:srgbClr val="C2410C"/>
            </a:solidFill>
            <a:ln>
              <a:noFill/>
            </a:ln>
          </p:spPr>
        </p:sp>
        <p:sp>
          <p:nvSpPr>
            <p:cNvPr id="36" name="TextBox 36"/>
            <p:cNvSpPr txBox="1"/>
            <p:nvPr/>
          </p:nvSpPr>
          <p:spPr>
            <a:xfrm>
              <a:off x="7310247" y="3647599"/>
              <a:ext cx="860839" cy="190690"/>
            </a:xfrm>
            <a:prstGeom prst="rect">
              <a:avLst/>
            </a:prstGeom>
            <a:noFill/>
            <a:ln>
              <a:noFill/>
            </a:ln>
          </p:spPr>
          <p:txBody>
            <a:bodyPr wrap="none" lIns="0" tIns="0" rIns="0" bIns="0" anchor="t" anchorCtr="0">
              <a:spAutoFit/>
            </a:bodyPr>
            <a:lstStyle/>
            <a:p>
              <a:pPr algn="l"/>
              <a:r>
                <a:rPr lang="zh-CN" sz="980" dirty="0">
                  <a:solidFill>
                    <a:srgbClr val="7A4A33"/>
                  </a:solidFill>
                  <a:latin typeface="+mn-lt"/>
                  <a:ea typeface="+mn-ea"/>
                  <a:cs typeface="+mn-cs"/>
                </a:rPr>
                <a:t>约 10³–10⁵ 年</a:t>
              </a:r>
            </a:p>
          </p:txBody>
        </p:sp>
        <p:sp>
          <p:nvSpPr>
            <p:cNvPr id="37" name="TextBox 37"/>
            <p:cNvSpPr txBox="1"/>
            <p:nvPr/>
          </p:nvSpPr>
          <p:spPr>
            <a:xfrm>
              <a:off x="603885" y="3974306"/>
              <a:ext cx="614528" cy="220028"/>
            </a:xfrm>
            <a:prstGeom prst="rect">
              <a:avLst/>
            </a:prstGeom>
            <a:noFill/>
            <a:ln>
              <a:noFill/>
            </a:ln>
          </p:spPr>
          <p:txBody>
            <a:bodyPr wrap="none" lIns="0" tIns="0" rIns="0" bIns="0" anchor="t" anchorCtr="0">
              <a:spAutoFit/>
            </a:bodyPr>
            <a:lstStyle/>
            <a:p>
              <a:pPr algn="l"/>
              <a:r>
                <a:rPr lang="zh-CN" sz="1120" dirty="0">
                  <a:solidFill>
                    <a:schemeClr val="dk1"/>
                  </a:solidFill>
                  <a:latin typeface="+mn-lt"/>
                  <a:ea typeface="+mn-ea"/>
                  <a:cs typeface="+mn-cs"/>
                </a:rPr>
                <a:t>地质储库</a:t>
              </a:r>
            </a:p>
          </p:txBody>
        </p:sp>
        <p:sp>
          <p:nvSpPr>
            <p:cNvPr id="38" name="Rectangle 38"/>
            <p:cNvSpPr/>
            <p:nvPr/>
          </p:nvSpPr>
          <p:spPr>
            <a:xfrm>
              <a:off x="7219950" y="3981450"/>
              <a:ext cx="4019550" cy="190500"/>
            </a:xfrm>
            <a:prstGeom prst="roundRect">
              <a:avLst>
                <a:gd name="adj" fmla="val 20000"/>
              </a:avLst>
            </a:prstGeom>
            <a:solidFill>
              <a:srgbClr val="7A4A33"/>
            </a:solidFill>
            <a:ln>
              <a:noFill/>
            </a:ln>
          </p:spPr>
        </p:sp>
        <p:sp>
          <p:nvSpPr>
            <p:cNvPr id="39" name="TextBox 39"/>
            <p:cNvSpPr txBox="1"/>
            <p:nvPr/>
          </p:nvSpPr>
          <p:spPr>
            <a:xfrm>
              <a:off x="10431835" y="4028599"/>
              <a:ext cx="717368" cy="190690"/>
            </a:xfrm>
            <a:prstGeom prst="rect">
              <a:avLst/>
            </a:prstGeom>
            <a:noFill/>
            <a:ln>
              <a:noFill/>
            </a:ln>
          </p:spPr>
          <p:txBody>
            <a:bodyPr wrap="none" lIns="0" tIns="0" rIns="0" bIns="0" anchor="t" anchorCtr="0">
              <a:spAutoFit/>
            </a:bodyPr>
            <a:lstStyle/>
            <a:p>
              <a:pPr algn="r"/>
              <a:r>
                <a:rPr lang="zh-CN" sz="980" b="1" dirty="0">
                  <a:solidFill>
                    <a:srgbClr val="FFFFFF"/>
                  </a:solidFill>
                  <a:latin typeface="+mn-lt"/>
                  <a:ea typeface="+mn-ea"/>
                  <a:cs typeface="+mn-cs"/>
                </a:rPr>
                <a:t>大于 10⁵ 年</a:t>
              </a:r>
            </a:p>
          </p:txBody>
        </p:sp>
        <p:sp>
          <p:nvSpPr>
            <p:cNvPr id="40" name="Line 40"/>
            <p:cNvSpPr/>
            <p:nvPr/>
          </p:nvSpPr>
          <p:spPr>
            <a:xfrm>
              <a:off x="3200400" y="4305300"/>
              <a:ext cx="8039100" cy="9525"/>
            </a:xfrm>
            <a:custGeom>
              <a:avLst/>
              <a:gdLst/>
              <a:ahLst/>
              <a:cxnLst/>
              <a:rect l="l" t="t" r="r" b="b"/>
              <a:pathLst>
                <a:path w="8039100" h="9525">
                  <a:moveTo>
                    <a:pt x="0" y="0"/>
                  </a:moveTo>
                  <a:lnTo>
                    <a:pt x="8039100" y="0"/>
                  </a:lnTo>
                </a:path>
              </a:pathLst>
            </a:custGeom>
            <a:noFill/>
            <a:ln w="19050">
              <a:solidFill>
                <a:schemeClr val="accent6"/>
              </a:solidFill>
            </a:ln>
          </p:spPr>
        </p:sp>
        <p:sp>
          <p:nvSpPr>
            <p:cNvPr id="41" name="TextBox 41"/>
            <p:cNvSpPr txBox="1"/>
            <p:nvPr/>
          </p:nvSpPr>
          <p:spPr>
            <a:xfrm>
              <a:off x="604647" y="4238149"/>
              <a:ext cx="1289604" cy="190690"/>
            </a:xfrm>
            <a:prstGeom prst="rect">
              <a:avLst/>
            </a:prstGeom>
            <a:noFill/>
            <a:ln>
              <a:noFill/>
            </a:ln>
          </p:spPr>
          <p:txBody>
            <a:bodyPr wrap="none" lIns="0" tIns="0" rIns="0" bIns="0" anchor="t" anchorCtr="0">
              <a:spAutoFit/>
            </a:bodyPr>
            <a:lstStyle/>
            <a:p>
              <a:pPr algn="l"/>
              <a:r>
                <a:rPr lang="zh-CN" sz="980" dirty="0">
                  <a:solidFill>
                    <a:schemeClr val="accent5"/>
                  </a:solidFill>
                  <a:latin typeface="+mn-lt"/>
                  <a:ea typeface="+mn-ea"/>
                  <a:cs typeface="+mn-cs"/>
                </a:rPr>
                <a:t>对数轴（每格 10 倍）</a:t>
              </a:r>
            </a:p>
          </p:txBody>
        </p:sp>
        <p:sp>
          <p:nvSpPr>
            <p:cNvPr id="42" name="TextBox 42"/>
            <p:cNvSpPr txBox="1"/>
            <p:nvPr/>
          </p:nvSpPr>
          <p:spPr>
            <a:xfrm>
              <a:off x="3095682" y="4398645"/>
              <a:ext cx="209436" cy="176212"/>
            </a:xfrm>
            <a:prstGeom prst="rect">
              <a:avLst/>
            </a:prstGeom>
            <a:noFill/>
            <a:ln>
              <a:noFill/>
            </a:ln>
          </p:spPr>
          <p:txBody>
            <a:bodyPr wrap="none" lIns="0" tIns="0" rIns="0" bIns="0" anchor="t" anchorCtr="0">
              <a:spAutoFit/>
            </a:bodyPr>
            <a:lstStyle/>
            <a:p>
              <a:pPr algn="ctr"/>
              <a:r>
                <a:rPr lang="zh-CN" sz="900" dirty="0">
                  <a:solidFill>
                    <a:schemeClr val="accent5"/>
                  </a:solidFill>
                  <a:latin typeface="+mn-lt"/>
                  <a:ea typeface="+mn-ea"/>
                  <a:cs typeface="+mn-cs"/>
                </a:rPr>
                <a:t>10¹</a:t>
              </a:r>
            </a:p>
          </p:txBody>
        </p:sp>
        <p:sp>
          <p:nvSpPr>
            <p:cNvPr id="43" name="TextBox 43"/>
            <p:cNvSpPr txBox="1"/>
            <p:nvPr/>
          </p:nvSpPr>
          <p:spPr>
            <a:xfrm>
              <a:off x="4095807" y="4398645"/>
              <a:ext cx="209436" cy="176212"/>
            </a:xfrm>
            <a:prstGeom prst="rect">
              <a:avLst/>
            </a:prstGeom>
            <a:noFill/>
            <a:ln>
              <a:noFill/>
            </a:ln>
          </p:spPr>
          <p:txBody>
            <a:bodyPr wrap="none" lIns="0" tIns="0" rIns="0" bIns="0" anchor="t" anchorCtr="0">
              <a:spAutoFit/>
            </a:bodyPr>
            <a:lstStyle/>
            <a:p>
              <a:pPr algn="ctr"/>
              <a:r>
                <a:rPr lang="zh-CN" sz="900" dirty="0">
                  <a:solidFill>
                    <a:schemeClr val="accent5"/>
                  </a:solidFill>
                  <a:latin typeface="+mn-lt"/>
                  <a:ea typeface="+mn-ea"/>
                  <a:cs typeface="+mn-cs"/>
                </a:rPr>
                <a:t>10²</a:t>
              </a:r>
            </a:p>
          </p:txBody>
        </p:sp>
        <p:sp>
          <p:nvSpPr>
            <p:cNvPr id="44" name="TextBox 44"/>
            <p:cNvSpPr txBox="1"/>
            <p:nvPr/>
          </p:nvSpPr>
          <p:spPr>
            <a:xfrm>
              <a:off x="5105457" y="4398645"/>
              <a:ext cx="209436" cy="176212"/>
            </a:xfrm>
            <a:prstGeom prst="rect">
              <a:avLst/>
            </a:prstGeom>
            <a:noFill/>
            <a:ln>
              <a:noFill/>
            </a:ln>
          </p:spPr>
          <p:txBody>
            <a:bodyPr wrap="none" lIns="0" tIns="0" rIns="0" bIns="0" anchor="t" anchorCtr="0">
              <a:spAutoFit/>
            </a:bodyPr>
            <a:lstStyle/>
            <a:p>
              <a:pPr algn="ctr"/>
              <a:r>
                <a:rPr lang="zh-CN" sz="900" dirty="0">
                  <a:solidFill>
                    <a:schemeClr val="accent5"/>
                  </a:solidFill>
                  <a:latin typeface="+mn-lt"/>
                  <a:ea typeface="+mn-ea"/>
                  <a:cs typeface="+mn-cs"/>
                </a:rPr>
                <a:t>10³</a:t>
              </a:r>
            </a:p>
          </p:txBody>
        </p:sp>
        <p:sp>
          <p:nvSpPr>
            <p:cNvPr id="45" name="TextBox 45"/>
            <p:cNvSpPr txBox="1"/>
            <p:nvPr/>
          </p:nvSpPr>
          <p:spPr>
            <a:xfrm>
              <a:off x="6105582" y="4398645"/>
              <a:ext cx="209436" cy="176212"/>
            </a:xfrm>
            <a:prstGeom prst="rect">
              <a:avLst/>
            </a:prstGeom>
            <a:noFill/>
            <a:ln>
              <a:noFill/>
            </a:ln>
          </p:spPr>
          <p:txBody>
            <a:bodyPr wrap="none" lIns="0" tIns="0" rIns="0" bIns="0" anchor="t" anchorCtr="0">
              <a:spAutoFit/>
            </a:bodyPr>
            <a:lstStyle/>
            <a:p>
              <a:pPr algn="ctr"/>
              <a:r>
                <a:rPr lang="zh-CN" sz="900" dirty="0">
                  <a:solidFill>
                    <a:schemeClr val="accent5"/>
                  </a:solidFill>
                  <a:latin typeface="+mn-lt"/>
                  <a:ea typeface="+mn-ea"/>
                  <a:cs typeface="+mn-cs"/>
                </a:rPr>
                <a:t>10⁴</a:t>
              </a:r>
            </a:p>
          </p:txBody>
        </p:sp>
        <p:sp>
          <p:nvSpPr>
            <p:cNvPr id="46" name="TextBox 46"/>
            <p:cNvSpPr txBox="1"/>
            <p:nvPr/>
          </p:nvSpPr>
          <p:spPr>
            <a:xfrm>
              <a:off x="7115232" y="4398645"/>
              <a:ext cx="209436" cy="176212"/>
            </a:xfrm>
            <a:prstGeom prst="rect">
              <a:avLst/>
            </a:prstGeom>
            <a:noFill/>
            <a:ln>
              <a:noFill/>
            </a:ln>
          </p:spPr>
          <p:txBody>
            <a:bodyPr wrap="none" lIns="0" tIns="0" rIns="0" bIns="0" anchor="t" anchorCtr="0">
              <a:spAutoFit/>
            </a:bodyPr>
            <a:lstStyle/>
            <a:p>
              <a:pPr algn="ctr"/>
              <a:r>
                <a:rPr lang="zh-CN" sz="900" dirty="0">
                  <a:solidFill>
                    <a:schemeClr val="accent5"/>
                  </a:solidFill>
                  <a:latin typeface="+mn-lt"/>
                  <a:ea typeface="+mn-ea"/>
                  <a:cs typeface="+mn-cs"/>
                </a:rPr>
                <a:t>10⁵</a:t>
              </a:r>
            </a:p>
          </p:txBody>
        </p:sp>
        <p:sp>
          <p:nvSpPr>
            <p:cNvPr id="47" name="TextBox 47"/>
            <p:cNvSpPr txBox="1"/>
            <p:nvPr/>
          </p:nvSpPr>
          <p:spPr>
            <a:xfrm>
              <a:off x="8115357" y="4398645"/>
              <a:ext cx="209436" cy="176212"/>
            </a:xfrm>
            <a:prstGeom prst="rect">
              <a:avLst/>
            </a:prstGeom>
            <a:noFill/>
            <a:ln>
              <a:noFill/>
            </a:ln>
          </p:spPr>
          <p:txBody>
            <a:bodyPr wrap="none" lIns="0" tIns="0" rIns="0" bIns="0" anchor="t" anchorCtr="0">
              <a:spAutoFit/>
            </a:bodyPr>
            <a:lstStyle/>
            <a:p>
              <a:pPr algn="ctr"/>
              <a:r>
                <a:rPr lang="zh-CN" sz="900" dirty="0">
                  <a:solidFill>
                    <a:schemeClr val="accent5"/>
                  </a:solidFill>
                  <a:latin typeface="+mn-lt"/>
                  <a:ea typeface="+mn-ea"/>
                  <a:cs typeface="+mn-cs"/>
                </a:rPr>
                <a:t>10⁶</a:t>
              </a:r>
            </a:p>
          </p:txBody>
        </p:sp>
        <p:sp>
          <p:nvSpPr>
            <p:cNvPr id="48" name="TextBox 48"/>
            <p:cNvSpPr txBox="1"/>
            <p:nvPr/>
          </p:nvSpPr>
          <p:spPr>
            <a:xfrm>
              <a:off x="9125007" y="4398645"/>
              <a:ext cx="209436" cy="176212"/>
            </a:xfrm>
            <a:prstGeom prst="rect">
              <a:avLst/>
            </a:prstGeom>
            <a:noFill/>
            <a:ln>
              <a:noFill/>
            </a:ln>
          </p:spPr>
          <p:txBody>
            <a:bodyPr wrap="none" lIns="0" tIns="0" rIns="0" bIns="0" anchor="t" anchorCtr="0">
              <a:spAutoFit/>
            </a:bodyPr>
            <a:lstStyle/>
            <a:p>
              <a:pPr algn="ctr"/>
              <a:r>
                <a:rPr lang="zh-CN" sz="900" dirty="0">
                  <a:solidFill>
                    <a:schemeClr val="accent5"/>
                  </a:solidFill>
                  <a:latin typeface="+mn-lt"/>
                  <a:ea typeface="+mn-ea"/>
                  <a:cs typeface="+mn-cs"/>
                </a:rPr>
                <a:t>10⁷</a:t>
              </a:r>
            </a:p>
          </p:txBody>
        </p:sp>
        <p:sp>
          <p:nvSpPr>
            <p:cNvPr id="49" name="TextBox 49"/>
            <p:cNvSpPr txBox="1"/>
            <p:nvPr/>
          </p:nvSpPr>
          <p:spPr>
            <a:xfrm>
              <a:off x="10125132" y="4398645"/>
              <a:ext cx="209436" cy="176212"/>
            </a:xfrm>
            <a:prstGeom prst="rect">
              <a:avLst/>
            </a:prstGeom>
            <a:noFill/>
            <a:ln>
              <a:noFill/>
            </a:ln>
          </p:spPr>
          <p:txBody>
            <a:bodyPr wrap="none" lIns="0" tIns="0" rIns="0" bIns="0" anchor="t" anchorCtr="0">
              <a:spAutoFit/>
            </a:bodyPr>
            <a:lstStyle/>
            <a:p>
              <a:pPr algn="ctr"/>
              <a:r>
                <a:rPr lang="zh-CN" sz="900" dirty="0">
                  <a:solidFill>
                    <a:schemeClr val="accent5"/>
                  </a:solidFill>
                  <a:latin typeface="+mn-lt"/>
                  <a:ea typeface="+mn-ea"/>
                  <a:cs typeface="+mn-cs"/>
                </a:rPr>
                <a:t>10⁸</a:t>
              </a:r>
            </a:p>
          </p:txBody>
        </p:sp>
        <p:sp>
          <p:nvSpPr>
            <p:cNvPr id="50" name="TextBox 50"/>
            <p:cNvSpPr txBox="1"/>
            <p:nvPr/>
          </p:nvSpPr>
          <p:spPr>
            <a:xfrm>
              <a:off x="11134782" y="4398645"/>
              <a:ext cx="209436" cy="176212"/>
            </a:xfrm>
            <a:prstGeom prst="rect">
              <a:avLst/>
            </a:prstGeom>
            <a:noFill/>
            <a:ln>
              <a:noFill/>
            </a:ln>
          </p:spPr>
          <p:txBody>
            <a:bodyPr wrap="none" lIns="0" tIns="0" rIns="0" bIns="0" anchor="t" anchorCtr="0">
              <a:spAutoFit/>
            </a:bodyPr>
            <a:lstStyle/>
            <a:p>
              <a:pPr algn="ctr"/>
              <a:r>
                <a:rPr lang="zh-CN" sz="900" dirty="0">
                  <a:solidFill>
                    <a:schemeClr val="accent5"/>
                  </a:solidFill>
                  <a:latin typeface="+mn-lt"/>
                  <a:ea typeface="+mn-ea"/>
                  <a:cs typeface="+mn-cs"/>
                </a:rPr>
                <a:t>10⁹</a:t>
              </a:r>
            </a:p>
          </p:txBody>
        </p:sp>
      </p:grpSp>
      <p:grpSp>
        <p:nvGrpSpPr>
          <p:cNvPr id="67" name="Group 67"/>
          <p:cNvGrpSpPr/>
          <p:nvPr/>
        </p:nvGrpSpPr>
        <p:grpSpPr>
          <a:xfrm>
            <a:off x="381000" y="4724400"/>
            <a:ext cx="11430000" cy="1504950"/>
            <a:chOff x="381000" y="4724400"/>
            <a:chExt cx="11430000" cy="1504950"/>
          </a:xfrm>
        </p:grpSpPr>
        <p:sp>
          <p:nvSpPr>
            <p:cNvPr id="52" name="Rectangle 52"/>
            <p:cNvSpPr/>
            <p:nvPr/>
          </p:nvSpPr>
          <p:spPr>
            <a:xfrm>
              <a:off x="381000" y="4724400"/>
              <a:ext cx="11430000" cy="1504950"/>
            </a:xfrm>
            <a:prstGeom prst="roundRect">
              <a:avLst>
                <a:gd name="adj" fmla="val 7595"/>
              </a:avLst>
            </a:prstGeom>
            <a:solidFill>
              <a:schemeClr val="lt2"/>
            </a:solidFill>
            <a:ln w="9525">
              <a:solidFill>
                <a:schemeClr val="accent6"/>
              </a:solidFill>
            </a:ln>
          </p:spPr>
        </p:sp>
        <p:sp>
          <p:nvSpPr>
            <p:cNvPr id="53" name="TextBox 53"/>
            <p:cNvSpPr txBox="1"/>
            <p:nvPr/>
          </p:nvSpPr>
          <p:spPr>
            <a:xfrm>
              <a:off x="603504" y="4899660"/>
              <a:ext cx="6917191" cy="234696"/>
            </a:xfrm>
            <a:prstGeom prst="rect">
              <a:avLst/>
            </a:prstGeom>
            <a:noFill/>
            <a:ln>
              <a:noFill/>
            </a:ln>
          </p:spPr>
          <p:txBody>
            <a:bodyPr wrap="none" lIns="0" tIns="0" rIns="0" bIns="0" anchor="t" anchorCtr="0">
              <a:spAutoFit/>
            </a:bodyPr>
            <a:lstStyle/>
            <a:p>
              <a:pPr algn="l"/>
              <a:r>
                <a:rPr lang="zh-CN" sz="1200" b="1" dirty="0">
                  <a:solidFill>
                    <a:schemeClr val="accent1"/>
                  </a:solidFill>
                  <a:latin typeface="+mn-lt"/>
                  <a:ea typeface="+mn-ea"/>
                  <a:cs typeface="+mn-cs"/>
                </a:rPr>
                <a:t>独立来源面板：图 4-16 的更宽区间 | Separate source panel (CN Fig. 4-16), not merged</a:t>
              </a:r>
            </a:p>
          </p:txBody>
        </p:sp>
        <p:sp>
          <p:nvSpPr>
            <p:cNvPr id="54" name="Rectangle 54"/>
            <p:cNvSpPr/>
            <p:nvPr/>
          </p:nvSpPr>
          <p:spPr>
            <a:xfrm>
              <a:off x="609600" y="5181600"/>
              <a:ext cx="2628900" cy="685800"/>
            </a:xfrm>
            <a:prstGeom prst="roundRect">
              <a:avLst>
                <a:gd name="adj" fmla="val 13889"/>
              </a:avLst>
            </a:prstGeom>
            <a:solidFill>
              <a:schemeClr val="lt1"/>
            </a:solidFill>
            <a:ln w="9525">
              <a:solidFill>
                <a:schemeClr val="accent6"/>
              </a:solidFill>
            </a:ln>
          </p:spPr>
        </p:sp>
        <p:sp>
          <p:nvSpPr>
            <p:cNvPr id="55" name="TextBox 55"/>
            <p:cNvSpPr txBox="1"/>
            <p:nvPr/>
          </p:nvSpPr>
          <p:spPr>
            <a:xfrm>
              <a:off x="794004" y="5337810"/>
              <a:ext cx="496824" cy="234696"/>
            </a:xfrm>
            <a:prstGeom prst="rect">
              <a:avLst/>
            </a:prstGeom>
            <a:noFill/>
            <a:ln>
              <a:noFill/>
            </a:ln>
          </p:spPr>
          <p:txBody>
            <a:bodyPr wrap="none" lIns="0" tIns="0" rIns="0" bIns="0" anchor="t" anchorCtr="0">
              <a:spAutoFit/>
            </a:bodyPr>
            <a:lstStyle/>
            <a:p>
              <a:pPr algn="l"/>
              <a:r>
                <a:rPr lang="zh-CN" sz="1200" b="1" dirty="0">
                  <a:solidFill>
                    <a:schemeClr val="accent1"/>
                  </a:solidFill>
                  <a:latin typeface="+mn-lt"/>
                  <a:ea typeface="+mn-ea"/>
                  <a:cs typeface="+mn-cs"/>
                </a:rPr>
                <a:t>表层库</a:t>
              </a:r>
            </a:p>
          </p:txBody>
        </p:sp>
        <p:sp>
          <p:nvSpPr>
            <p:cNvPr id="56" name="TextBox 56"/>
            <p:cNvSpPr txBox="1"/>
            <p:nvPr/>
          </p:nvSpPr>
          <p:spPr>
            <a:xfrm>
              <a:off x="794385" y="5593556"/>
              <a:ext cx="645059" cy="220028"/>
            </a:xfrm>
            <a:prstGeom prst="rect">
              <a:avLst/>
            </a:prstGeom>
            <a:noFill/>
            <a:ln>
              <a:noFill/>
            </a:ln>
          </p:spPr>
          <p:txBody>
            <a:bodyPr wrap="none" lIns="0" tIns="0" rIns="0" bIns="0" anchor="t" anchorCtr="0">
              <a:spAutoFit/>
            </a:bodyPr>
            <a:lstStyle/>
            <a:p>
              <a:pPr algn="l"/>
              <a:r>
                <a:rPr lang="zh-CN" sz="1120" b="1" dirty="0">
                  <a:solidFill>
                    <a:srgbClr val="C2410C"/>
                  </a:solidFill>
                  <a:latin typeface="+mn-lt"/>
                  <a:ea typeface="+mn-ea"/>
                  <a:cs typeface="+mn-cs"/>
                </a:rPr>
                <a:t>0–10³ 年</a:t>
              </a:r>
            </a:p>
          </p:txBody>
        </p:sp>
        <p:sp>
          <p:nvSpPr>
            <p:cNvPr id="57" name="Rectangle 57"/>
            <p:cNvSpPr/>
            <p:nvPr/>
          </p:nvSpPr>
          <p:spPr>
            <a:xfrm>
              <a:off x="3390900" y="5181600"/>
              <a:ext cx="2628900" cy="685800"/>
            </a:xfrm>
            <a:prstGeom prst="roundRect">
              <a:avLst>
                <a:gd name="adj" fmla="val 13889"/>
              </a:avLst>
            </a:prstGeom>
            <a:solidFill>
              <a:schemeClr val="lt1"/>
            </a:solidFill>
            <a:ln w="9525">
              <a:solidFill>
                <a:schemeClr val="accent6"/>
              </a:solidFill>
            </a:ln>
          </p:spPr>
        </p:sp>
        <p:sp>
          <p:nvSpPr>
            <p:cNvPr id="58" name="TextBox 58"/>
            <p:cNvSpPr txBox="1"/>
            <p:nvPr/>
          </p:nvSpPr>
          <p:spPr>
            <a:xfrm>
              <a:off x="3575304" y="5337810"/>
              <a:ext cx="658368" cy="234696"/>
            </a:xfrm>
            <a:prstGeom prst="rect">
              <a:avLst/>
            </a:prstGeom>
            <a:noFill/>
            <a:ln>
              <a:noFill/>
            </a:ln>
          </p:spPr>
          <p:txBody>
            <a:bodyPr wrap="none" lIns="0" tIns="0" rIns="0" bIns="0" anchor="t" anchorCtr="0">
              <a:spAutoFit/>
            </a:bodyPr>
            <a:lstStyle/>
            <a:p>
              <a:pPr algn="l"/>
              <a:r>
                <a:rPr lang="zh-CN" sz="1200" b="1" dirty="0">
                  <a:solidFill>
                    <a:schemeClr val="accent1"/>
                  </a:solidFill>
                  <a:latin typeface="+mn-lt"/>
                  <a:ea typeface="+mn-ea"/>
                  <a:cs typeface="+mn-cs"/>
                </a:rPr>
                <a:t>沉积物库</a:t>
              </a:r>
            </a:p>
          </p:txBody>
        </p:sp>
        <p:sp>
          <p:nvSpPr>
            <p:cNvPr id="59" name="TextBox 59"/>
            <p:cNvSpPr txBox="1"/>
            <p:nvPr/>
          </p:nvSpPr>
          <p:spPr>
            <a:xfrm>
              <a:off x="3575685" y="5593556"/>
              <a:ext cx="819204" cy="220028"/>
            </a:xfrm>
            <a:prstGeom prst="rect">
              <a:avLst/>
            </a:prstGeom>
            <a:noFill/>
            <a:ln>
              <a:noFill/>
            </a:ln>
          </p:spPr>
          <p:txBody>
            <a:bodyPr wrap="none" lIns="0" tIns="0" rIns="0" bIns="0" anchor="t" anchorCtr="0">
              <a:spAutoFit/>
            </a:bodyPr>
            <a:lstStyle/>
            <a:p>
              <a:pPr algn="l"/>
              <a:r>
                <a:rPr lang="zh-CN" sz="1120" b="1" dirty="0">
                  <a:solidFill>
                    <a:srgbClr val="C2410C"/>
                  </a:solidFill>
                  <a:latin typeface="+mn-lt"/>
                  <a:ea typeface="+mn-ea"/>
                  <a:cs typeface="+mn-cs"/>
                </a:rPr>
                <a:t>10³–10⁸ 年</a:t>
              </a:r>
            </a:p>
          </p:txBody>
        </p:sp>
        <p:sp>
          <p:nvSpPr>
            <p:cNvPr id="60" name="Rectangle 60"/>
            <p:cNvSpPr/>
            <p:nvPr/>
          </p:nvSpPr>
          <p:spPr>
            <a:xfrm>
              <a:off x="6172200" y="5181600"/>
              <a:ext cx="2628900" cy="685800"/>
            </a:xfrm>
            <a:prstGeom prst="roundRect">
              <a:avLst>
                <a:gd name="adj" fmla="val 13889"/>
              </a:avLst>
            </a:prstGeom>
            <a:solidFill>
              <a:schemeClr val="lt1"/>
            </a:solidFill>
            <a:ln w="9525">
              <a:solidFill>
                <a:schemeClr val="accent6"/>
              </a:solidFill>
            </a:ln>
          </p:spPr>
        </p:sp>
        <p:sp>
          <p:nvSpPr>
            <p:cNvPr id="61" name="TextBox 61"/>
            <p:cNvSpPr txBox="1"/>
            <p:nvPr/>
          </p:nvSpPr>
          <p:spPr>
            <a:xfrm>
              <a:off x="6356604" y="5337810"/>
              <a:ext cx="496824" cy="234696"/>
            </a:xfrm>
            <a:prstGeom prst="rect">
              <a:avLst/>
            </a:prstGeom>
            <a:noFill/>
            <a:ln>
              <a:noFill/>
            </a:ln>
          </p:spPr>
          <p:txBody>
            <a:bodyPr wrap="none" lIns="0" tIns="0" rIns="0" bIns="0" anchor="t" anchorCtr="0">
              <a:spAutoFit/>
            </a:bodyPr>
            <a:lstStyle/>
            <a:p>
              <a:pPr algn="l"/>
              <a:r>
                <a:rPr lang="zh-CN" sz="1200" b="1" dirty="0">
                  <a:solidFill>
                    <a:schemeClr val="accent1"/>
                  </a:solidFill>
                  <a:latin typeface="+mn-lt"/>
                  <a:ea typeface="+mn-ea"/>
                  <a:cs typeface="+mn-cs"/>
                </a:rPr>
                <a:t>变质库</a:t>
              </a:r>
            </a:p>
          </p:txBody>
        </p:sp>
        <p:sp>
          <p:nvSpPr>
            <p:cNvPr id="62" name="TextBox 62"/>
            <p:cNvSpPr txBox="1"/>
            <p:nvPr/>
          </p:nvSpPr>
          <p:spPr>
            <a:xfrm>
              <a:off x="6356985" y="5593556"/>
              <a:ext cx="819204" cy="220028"/>
            </a:xfrm>
            <a:prstGeom prst="rect">
              <a:avLst/>
            </a:prstGeom>
            <a:noFill/>
            <a:ln>
              <a:noFill/>
            </a:ln>
          </p:spPr>
          <p:txBody>
            <a:bodyPr wrap="none" lIns="0" tIns="0" rIns="0" bIns="0" anchor="t" anchorCtr="0">
              <a:spAutoFit/>
            </a:bodyPr>
            <a:lstStyle/>
            <a:p>
              <a:pPr algn="l"/>
              <a:r>
                <a:rPr lang="zh-CN" sz="1120" b="1" dirty="0">
                  <a:solidFill>
                    <a:srgbClr val="C2410C"/>
                  </a:solidFill>
                  <a:latin typeface="+mn-lt"/>
                  <a:ea typeface="+mn-ea"/>
                  <a:cs typeface="+mn-cs"/>
                </a:rPr>
                <a:t>10⁶–10⁹ 年</a:t>
              </a:r>
            </a:p>
          </p:txBody>
        </p:sp>
        <p:sp>
          <p:nvSpPr>
            <p:cNvPr id="63" name="Rectangle 63"/>
            <p:cNvSpPr/>
            <p:nvPr/>
          </p:nvSpPr>
          <p:spPr>
            <a:xfrm>
              <a:off x="8953500" y="5181600"/>
              <a:ext cx="2628900" cy="685800"/>
            </a:xfrm>
            <a:prstGeom prst="roundRect">
              <a:avLst>
                <a:gd name="adj" fmla="val 13889"/>
              </a:avLst>
            </a:prstGeom>
            <a:solidFill>
              <a:schemeClr val="lt1"/>
            </a:solidFill>
            <a:ln w="9525">
              <a:solidFill>
                <a:schemeClr val="accent6"/>
              </a:solidFill>
            </a:ln>
          </p:spPr>
        </p:sp>
        <p:sp>
          <p:nvSpPr>
            <p:cNvPr id="64" name="TextBox 64"/>
            <p:cNvSpPr txBox="1"/>
            <p:nvPr/>
          </p:nvSpPr>
          <p:spPr>
            <a:xfrm>
              <a:off x="9137904" y="5337810"/>
              <a:ext cx="496824" cy="234696"/>
            </a:xfrm>
            <a:prstGeom prst="rect">
              <a:avLst/>
            </a:prstGeom>
            <a:noFill/>
            <a:ln>
              <a:noFill/>
            </a:ln>
          </p:spPr>
          <p:txBody>
            <a:bodyPr wrap="none" lIns="0" tIns="0" rIns="0" bIns="0" anchor="t" anchorCtr="0">
              <a:spAutoFit/>
            </a:bodyPr>
            <a:lstStyle/>
            <a:p>
              <a:pPr algn="l"/>
              <a:r>
                <a:rPr lang="zh-CN" sz="1200" b="1" dirty="0">
                  <a:solidFill>
                    <a:schemeClr val="accent1"/>
                  </a:solidFill>
                  <a:latin typeface="+mn-lt"/>
                  <a:ea typeface="+mn-ea"/>
                  <a:cs typeface="+mn-cs"/>
                </a:rPr>
                <a:t>地幔库</a:t>
              </a:r>
            </a:p>
          </p:txBody>
        </p:sp>
        <p:sp>
          <p:nvSpPr>
            <p:cNvPr id="65" name="TextBox 65"/>
            <p:cNvSpPr txBox="1"/>
            <p:nvPr/>
          </p:nvSpPr>
          <p:spPr>
            <a:xfrm>
              <a:off x="9138285" y="5593556"/>
              <a:ext cx="819204" cy="220028"/>
            </a:xfrm>
            <a:prstGeom prst="rect">
              <a:avLst/>
            </a:prstGeom>
            <a:noFill/>
            <a:ln>
              <a:noFill/>
            </a:ln>
          </p:spPr>
          <p:txBody>
            <a:bodyPr wrap="none" lIns="0" tIns="0" rIns="0" bIns="0" anchor="t" anchorCtr="0">
              <a:spAutoFit/>
            </a:bodyPr>
            <a:lstStyle/>
            <a:p>
              <a:pPr algn="l"/>
              <a:r>
                <a:rPr lang="zh-CN" sz="1120" b="1" dirty="0">
                  <a:solidFill>
                    <a:srgbClr val="C2410C"/>
                  </a:solidFill>
                  <a:latin typeface="+mn-lt"/>
                  <a:ea typeface="+mn-ea"/>
                  <a:cs typeface="+mn-cs"/>
                </a:rPr>
                <a:t>10⁷–10⁹ 年</a:t>
              </a:r>
            </a:p>
          </p:txBody>
        </p:sp>
        <p:sp>
          <p:nvSpPr>
            <p:cNvPr id="66" name="TextBox 66"/>
            <p:cNvSpPr txBox="1"/>
            <p:nvPr/>
          </p:nvSpPr>
          <p:spPr>
            <a:xfrm>
              <a:off x="604647" y="5990749"/>
              <a:ext cx="4099662" cy="190690"/>
            </a:xfrm>
            <a:prstGeom prst="rect">
              <a:avLst/>
            </a:prstGeom>
            <a:noFill/>
            <a:ln>
              <a:noFill/>
            </a:ln>
          </p:spPr>
          <p:txBody>
            <a:bodyPr wrap="none" lIns="0" tIns="0" rIns="0" bIns="0" anchor="t" anchorCtr="0">
              <a:spAutoFit/>
            </a:bodyPr>
            <a:lstStyle/>
            <a:p>
              <a:pPr algn="l"/>
              <a:r>
                <a:rPr lang="zh-CN" sz="980" dirty="0">
                  <a:solidFill>
                    <a:schemeClr val="accent5"/>
                  </a:solidFill>
                  <a:latin typeface="+mn-lt"/>
                  <a:ea typeface="+mn-ea"/>
                  <a:cs typeface="+mn-cs"/>
                </a:rPr>
                <a:t>两个面板各自保留原图区间与单位，不合并、不插值，也不跨图换算。</a:t>
              </a:r>
            </a:p>
          </p:txBody>
        </p:sp>
      </p:grpSp>
      <p:sp>
        <p:nvSpPr>
          <p:cNvPr id="68" name="TextBox 68"/>
          <p:cNvSpPr txBox="1"/>
          <p:nvPr/>
        </p:nvSpPr>
        <p:spPr>
          <a:xfrm>
            <a:off x="376238" y="6532245"/>
            <a:ext cx="8369313" cy="176212"/>
          </a:xfrm>
          <a:prstGeom prst="rect">
            <a:avLst/>
          </a:prstGeom>
          <a:noFill/>
          <a:ln>
            <a:noFill/>
          </a:ln>
        </p:spPr>
        <p:txBody>
          <a:bodyPr wrap="none" lIns="0" tIns="0" rIns="0" bIns="0" anchor="t" anchorCtr="0">
            <a:spAutoFit/>
          </a:bodyPr>
          <a:lstStyle/>
          <a:p>
            <a:pPr algn="l"/>
            <a:r>
              <a:rPr lang="zh-CN" sz="900" dirty="0">
                <a:solidFill>
                  <a:schemeClr val="accent5"/>
                </a:solidFill>
                <a:latin typeface="+mn-lt"/>
                <a:ea typeface="+mn-ea"/>
                <a:cs typeface="+mn-cs"/>
              </a:rPr>
              <a:t>Source: 地球系统与演变 Ch.4 §4.4.3–4.5.1, 图 4-15 与图 4-16, PDF pp.78–80; UE 8e Ch.12, PDF pp.1205–1206, 1209–1213; EP Ch.23 p.881.</a:t>
            </a:r>
          </a:p>
        </p:txBody>
      </p:sp>
      <p:sp>
        <p:nvSpPr>
          <p:cNvPr id="69" name="TextBox 69"/>
          <p:cNvSpPr txBox="1"/>
          <p:nvPr/>
        </p:nvSpPr>
        <p:spPr>
          <a:xfrm>
            <a:off x="11672964" y="6532245"/>
            <a:ext cx="142799" cy="176212"/>
          </a:xfrm>
          <a:prstGeom prst="rect">
            <a:avLst/>
          </a:prstGeom>
          <a:noFill/>
          <a:ln>
            <a:noFill/>
          </a:ln>
        </p:spPr>
        <p:txBody>
          <a:bodyPr wrap="none" lIns="0" tIns="0" rIns="0" bIns="0" anchor="t" anchorCtr="0">
            <a:spAutoFit/>
          </a:bodyPr>
          <a:lstStyle/>
          <a:p>
            <a:pPr algn="r"/>
            <a:r>
              <a:rPr lang="zh-CN" sz="900" dirty="0">
                <a:solidFill>
                  <a:schemeClr val="accent5"/>
                </a:solidFill>
                <a:latin typeface="+mn-lt"/>
                <a:ea typeface="+mn-ea"/>
                <a:cs typeface="+mn-cs"/>
              </a:rPr>
              <a:t>31</a:t>
            </a:r>
          </a:p>
        </p:txBody>
      </p:sp>
    </p:spTree>
    <p:extLst>
      <p:ext uri="{BB962C8B-B14F-4D97-AF65-F5344CB8AC3E}">
        <p14:creationId xmlns:p14="http://schemas.microsoft.com/office/powerpoint/2010/main" val="2087151053"/>
      </p:ext>
    </p:extLst>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5"/>
          <p:cNvGrpSpPr/>
          <p:nvPr/>
        </p:nvGrpSpPr>
        <p:grpSpPr>
          <a:xfrm>
            <a:off x="0" y="0"/>
            <a:ext cx="12192000" cy="685800"/>
            <a:chOff x="0" y="0"/>
            <a:chExt cx="12192000" cy="685800"/>
          </a:xfrm>
        </p:grpSpPr>
        <p:sp>
          <p:nvSpPr>
            <p:cNvPr id="2" name="Rectangle 2"/>
            <p:cNvSpPr/>
            <p:nvPr/>
          </p:nvSpPr>
          <p:spPr>
            <a:xfrm>
              <a:off x="0" y="0"/>
              <a:ext cx="12192000" cy="685800"/>
            </a:xfrm>
            <a:prstGeom prst="rect">
              <a:avLst/>
            </a:prstGeom>
            <a:solidFill>
              <a:schemeClr val="accent1"/>
            </a:solidFill>
            <a:ln>
              <a:noFill/>
            </a:ln>
          </p:spPr>
        </p:sp>
        <p:sp>
          <p:nvSpPr>
            <p:cNvPr id="3" name="TextBox 3"/>
            <p:cNvSpPr txBox="1"/>
            <p:nvPr/>
          </p:nvSpPr>
          <p:spPr>
            <a:xfrm>
              <a:off x="374142" y="282892"/>
              <a:ext cx="2895280" cy="264033"/>
            </a:xfrm>
            <a:prstGeom prst="rect">
              <a:avLst/>
            </a:prstGeom>
            <a:noFill/>
            <a:ln>
              <a:noFill/>
            </a:ln>
          </p:spPr>
          <p:txBody>
            <a:bodyPr wrap="none" lIns="0" tIns="0" rIns="0" bIns="0" anchor="t" anchorCtr="0">
              <a:spAutoFit/>
            </a:bodyPr>
            <a:lstStyle/>
            <a:p>
              <a:pPr algn="l"/>
              <a:r>
                <a:rPr lang="zh-CN" sz="1350" b="1" dirty="0">
                  <a:solidFill>
                    <a:srgbClr val="FFFFFF"/>
                  </a:solidFill>
                  <a:latin typeface="+mn-lt"/>
                  <a:ea typeface="+mn-ea"/>
                  <a:cs typeface="+mn-cs"/>
                </a:rPr>
                <a:t>2.12 课堂读图 | Concept Check 2</a:t>
              </a:r>
            </a:p>
          </p:txBody>
        </p:sp>
        <p:sp>
          <p:nvSpPr>
            <p:cNvPr id="4" name="TextBox 4"/>
            <p:cNvSpPr txBox="1"/>
            <p:nvPr/>
          </p:nvSpPr>
          <p:spPr>
            <a:xfrm>
              <a:off x="10686898" y="299085"/>
              <a:ext cx="1130198" cy="234696"/>
            </a:xfrm>
            <a:prstGeom prst="rect">
              <a:avLst/>
            </a:prstGeom>
            <a:noFill/>
            <a:ln>
              <a:noFill/>
            </a:ln>
          </p:spPr>
          <p:txBody>
            <a:bodyPr wrap="none" lIns="0" tIns="0" rIns="0" bIns="0" anchor="t" anchorCtr="0">
              <a:spAutoFit/>
            </a:bodyPr>
            <a:lstStyle/>
            <a:p>
              <a:pPr algn="r"/>
              <a:r>
                <a:rPr lang="zh-CN" sz="1200" dirty="0">
                  <a:solidFill>
                    <a:srgbClr val="C7D7F2"/>
                  </a:solidFill>
                  <a:latin typeface="+mn-lt"/>
                  <a:ea typeface="+mn-ea"/>
                  <a:cs typeface="+mn-cs"/>
                </a:rPr>
                <a:t>CARBON CYCLE</a:t>
              </a:r>
            </a:p>
          </p:txBody>
        </p:sp>
      </p:grpSp>
      <p:grpSp>
        <p:nvGrpSpPr>
          <p:cNvPr id="8" name="Group 8"/>
          <p:cNvGrpSpPr/>
          <p:nvPr/>
        </p:nvGrpSpPr>
        <p:grpSpPr>
          <a:xfrm>
            <a:off x="381000" y="914400"/>
            <a:ext cx="6670511" cy="357093"/>
            <a:chOff x="381000" y="914400"/>
            <a:chExt cx="6670511" cy="357093"/>
          </a:xfrm>
        </p:grpSpPr>
        <p:sp>
          <p:nvSpPr>
            <p:cNvPr id="6" name="Rectangle 6"/>
            <p:cNvSpPr/>
            <p:nvPr/>
          </p:nvSpPr>
          <p:spPr>
            <a:xfrm>
              <a:off x="381000" y="914400"/>
              <a:ext cx="57150" cy="266700"/>
            </a:xfrm>
            <a:prstGeom prst="roundRect">
              <a:avLst>
                <a:gd name="adj" fmla="val 50000"/>
              </a:avLst>
            </a:prstGeom>
            <a:solidFill>
              <a:schemeClr val="accent3"/>
            </a:solidFill>
            <a:ln>
              <a:noFill/>
            </a:ln>
          </p:spPr>
        </p:sp>
        <p:sp>
          <p:nvSpPr>
            <p:cNvPr id="7" name="TextBox 7"/>
            <p:cNvSpPr txBox="1"/>
            <p:nvPr/>
          </p:nvSpPr>
          <p:spPr>
            <a:xfrm>
              <a:off x="544449" y="963454"/>
              <a:ext cx="6507062" cy="308039"/>
            </a:xfrm>
            <a:prstGeom prst="rect">
              <a:avLst/>
            </a:prstGeom>
            <a:noFill/>
            <a:ln>
              <a:noFill/>
            </a:ln>
          </p:spPr>
          <p:txBody>
            <a:bodyPr wrap="none" lIns="0" tIns="0" rIns="0" bIns="0" anchor="t" anchorCtr="0">
              <a:spAutoFit/>
            </a:bodyPr>
            <a:lstStyle/>
            <a:p>
              <a:pPr algn="l"/>
              <a:r>
                <a:rPr lang="zh-CN" sz="1580" b="1" dirty="0">
                  <a:solidFill>
                    <a:srgbClr val="C2410C"/>
                  </a:solidFill>
                  <a:latin typeface="+mn-lt"/>
                  <a:ea typeface="+mn-ea"/>
                  <a:cs typeface="+mn-cs"/>
                </a:rPr>
                <a:t>任选图 12.19 上的一条通路，按储库、通量、快慢与领域把它说清楚</a:t>
              </a:r>
            </a:p>
          </p:txBody>
        </p:sp>
      </p:grpSp>
      <p:grpSp>
        <p:nvGrpSpPr>
          <p:cNvPr id="11" name="Group 11"/>
          <p:cNvGrpSpPr/>
          <p:nvPr/>
        </p:nvGrpSpPr>
        <p:grpSpPr>
          <a:xfrm>
            <a:off x="381000" y="1428750"/>
            <a:ext cx="6096000" cy="4800600"/>
            <a:chOff x="381000" y="1428750"/>
            <a:chExt cx="6096000" cy="4800600"/>
          </a:xfrm>
        </p:grpSpPr>
        <p:sp>
          <p:nvSpPr>
            <p:cNvPr id="9" name="Rectangle 9"/>
            <p:cNvSpPr/>
            <p:nvPr/>
          </p:nvSpPr>
          <p:spPr>
            <a:xfrm>
              <a:off x="381000" y="1428750"/>
              <a:ext cx="6096000" cy="4800600"/>
            </a:xfrm>
            <a:prstGeom prst="roundRect">
              <a:avLst>
                <a:gd name="adj" fmla="val 2381"/>
              </a:avLst>
            </a:prstGeom>
            <a:solidFill>
              <a:schemeClr val="lt2"/>
            </a:solidFill>
            <a:ln w="9525">
              <a:solidFill>
                <a:schemeClr val="accent6"/>
              </a:solidFill>
            </a:ln>
          </p:spPr>
        </p:sp>
        <p:pic>
          <p:nvPicPr>
            <p:cNvPr id="10" name="Image 10"/>
            <p:cNvPicPr>
              <a:picLocks noChangeAspect="1"/>
            </p:cNvPicPr>
            <p:nvPr/>
          </p:nvPicPr>
          <p:blipFill>
            <a:blip r:embed="rId3"/>
            <a:stretch>
              <a:fillRect/>
            </a:stretch>
          </p:blipFill>
          <p:spPr>
            <a:xfrm>
              <a:off x="676275" y="1543050"/>
              <a:ext cx="5495925" cy="4572000"/>
            </a:xfrm>
            <a:prstGeom prst="rect">
              <a:avLst/>
            </a:prstGeom>
          </p:spPr>
        </p:pic>
      </p:grpSp>
      <p:grpSp>
        <p:nvGrpSpPr>
          <p:cNvPr id="31" name="Group 31"/>
          <p:cNvGrpSpPr/>
          <p:nvPr/>
        </p:nvGrpSpPr>
        <p:grpSpPr>
          <a:xfrm>
            <a:off x="6629400" y="1428750"/>
            <a:ext cx="5181600" cy="3028950"/>
            <a:chOff x="6629400" y="1428750"/>
            <a:chExt cx="5181600" cy="3028950"/>
          </a:xfrm>
        </p:grpSpPr>
        <p:sp>
          <p:nvSpPr>
            <p:cNvPr id="12" name="Rectangle 12"/>
            <p:cNvSpPr/>
            <p:nvPr/>
          </p:nvSpPr>
          <p:spPr>
            <a:xfrm>
              <a:off x="6629400" y="1428750"/>
              <a:ext cx="5181600" cy="3028950"/>
            </a:xfrm>
            <a:prstGeom prst="roundRect">
              <a:avLst>
                <a:gd name="adj" fmla="val 3774"/>
              </a:avLst>
            </a:prstGeom>
            <a:solidFill>
              <a:srgbClr val="FDF4EF"/>
            </a:solidFill>
            <a:ln w="9525">
              <a:solidFill>
                <a:srgbClr val="F0CFC2"/>
              </a:solidFill>
            </a:ln>
          </p:spPr>
        </p:sp>
        <p:sp>
          <p:nvSpPr>
            <p:cNvPr id="13" name="TextBox 13"/>
            <p:cNvSpPr txBox="1"/>
            <p:nvPr/>
          </p:nvSpPr>
          <p:spPr>
            <a:xfrm>
              <a:off x="6851904" y="1604010"/>
              <a:ext cx="1417838" cy="234696"/>
            </a:xfrm>
            <a:prstGeom prst="rect">
              <a:avLst/>
            </a:prstGeom>
            <a:noFill/>
            <a:ln>
              <a:noFill/>
            </a:ln>
          </p:spPr>
          <p:txBody>
            <a:bodyPr wrap="none" lIns="0" tIns="0" rIns="0" bIns="0" anchor="t" anchorCtr="0">
              <a:spAutoFit/>
            </a:bodyPr>
            <a:lstStyle/>
            <a:p>
              <a:pPr algn="l"/>
              <a:r>
                <a:rPr lang="zh-CN" sz="1200" b="1" dirty="0">
                  <a:solidFill>
                    <a:srgbClr val="C2410C"/>
                  </a:solidFill>
                  <a:latin typeface="+mn-lt"/>
                  <a:ea typeface="+mn-ea"/>
                  <a:cs typeface="+mn-cs"/>
                </a:rPr>
                <a:t>任务提示 | Prompt</a:t>
              </a:r>
            </a:p>
          </p:txBody>
        </p:sp>
        <p:sp>
          <p:nvSpPr>
            <p:cNvPr id="14" name="TextBox 14"/>
            <p:cNvSpPr txBox="1"/>
            <p:nvPr/>
          </p:nvSpPr>
          <p:spPr>
            <a:xfrm>
              <a:off x="6852285" y="1897856"/>
              <a:ext cx="2476591" cy="220028"/>
            </a:xfrm>
            <a:prstGeom prst="rect">
              <a:avLst/>
            </a:prstGeom>
            <a:noFill/>
            <a:ln>
              <a:noFill/>
            </a:ln>
          </p:spPr>
          <p:txBody>
            <a:bodyPr wrap="none" lIns="0" tIns="0" rIns="0" bIns="0" anchor="t" anchorCtr="0">
              <a:spAutoFit/>
            </a:bodyPr>
            <a:lstStyle/>
            <a:p>
              <a:pPr algn="l"/>
              <a:r>
                <a:rPr lang="zh-CN" sz="1120" dirty="0">
                  <a:solidFill>
                    <a:schemeClr val="dk1"/>
                  </a:solidFill>
                  <a:latin typeface="+mn-lt"/>
                  <a:ea typeface="+mn-ea"/>
                  <a:cs typeface="+mn-cs"/>
                </a:rPr>
                <a:t>在图 12.19 上任选一条通路，说出：</a:t>
              </a:r>
            </a:p>
          </p:txBody>
        </p:sp>
        <p:sp>
          <p:nvSpPr>
            <p:cNvPr id="15" name="Ellipse 15"/>
            <p:cNvSpPr/>
            <p:nvPr/>
          </p:nvSpPr>
          <p:spPr>
            <a:xfrm>
              <a:off x="6905625" y="2257425"/>
              <a:ext cx="285750" cy="285750"/>
            </a:xfrm>
            <a:prstGeom prst="ellipse">
              <a:avLst/>
            </a:prstGeom>
            <a:solidFill>
              <a:schemeClr val="accent3"/>
            </a:solidFill>
            <a:ln>
              <a:noFill/>
            </a:ln>
          </p:spPr>
        </p:sp>
        <p:sp>
          <p:nvSpPr>
            <p:cNvPr id="16" name="TextBox 16"/>
            <p:cNvSpPr txBox="1"/>
            <p:nvPr/>
          </p:nvSpPr>
          <p:spPr>
            <a:xfrm>
              <a:off x="7005453" y="2342674"/>
              <a:ext cx="86094" cy="190690"/>
            </a:xfrm>
            <a:prstGeom prst="rect">
              <a:avLst/>
            </a:prstGeom>
            <a:noFill/>
            <a:ln>
              <a:noFill/>
            </a:ln>
          </p:spPr>
          <p:txBody>
            <a:bodyPr wrap="none" lIns="0" tIns="0" rIns="0" bIns="0" anchor="t" anchorCtr="0">
              <a:spAutoFit/>
            </a:bodyPr>
            <a:lstStyle/>
            <a:p>
              <a:pPr algn="ctr"/>
              <a:r>
                <a:rPr lang="zh-CN" sz="980" b="1" dirty="0">
                  <a:solidFill>
                    <a:srgbClr val="FFFFFF"/>
                  </a:solidFill>
                  <a:latin typeface="+mn-lt"/>
                  <a:ea typeface="+mn-ea"/>
                  <a:cs typeface="+mn-cs"/>
                </a:rPr>
                <a:t>1</a:t>
              </a:r>
            </a:p>
          </p:txBody>
        </p:sp>
        <p:sp>
          <p:nvSpPr>
            <p:cNvPr id="17" name="TextBox 17"/>
            <p:cNvSpPr txBox="1"/>
            <p:nvPr/>
          </p:nvSpPr>
          <p:spPr>
            <a:xfrm>
              <a:off x="7309485" y="2240756"/>
              <a:ext cx="1368400" cy="220028"/>
            </a:xfrm>
            <a:prstGeom prst="rect">
              <a:avLst/>
            </a:prstGeom>
            <a:noFill/>
            <a:ln>
              <a:noFill/>
            </a:ln>
          </p:spPr>
          <p:txBody>
            <a:bodyPr wrap="none" lIns="0" tIns="0" rIns="0" bIns="0" anchor="t" anchorCtr="0">
              <a:spAutoFit/>
            </a:bodyPr>
            <a:lstStyle/>
            <a:p>
              <a:pPr algn="l"/>
              <a:r>
                <a:rPr lang="zh-CN" sz="1120" dirty="0">
                  <a:solidFill>
                    <a:schemeClr val="dk1"/>
                  </a:solidFill>
                  <a:latin typeface="+mn-lt"/>
                  <a:ea typeface="+mn-ea"/>
                  <a:cs typeface="+mn-cs"/>
                </a:rPr>
                <a:t>起点储库与终点储库</a:t>
              </a:r>
            </a:p>
          </p:txBody>
        </p:sp>
        <p:sp>
          <p:nvSpPr>
            <p:cNvPr id="18" name="TextBox 18"/>
            <p:cNvSpPr txBox="1"/>
            <p:nvPr/>
          </p:nvSpPr>
          <p:spPr>
            <a:xfrm>
              <a:off x="7310247" y="2447449"/>
              <a:ext cx="1623761" cy="190690"/>
            </a:xfrm>
            <a:prstGeom prst="rect">
              <a:avLst/>
            </a:prstGeom>
            <a:noFill/>
            <a:ln>
              <a:noFill/>
            </a:ln>
          </p:spPr>
          <p:txBody>
            <a:bodyPr wrap="none" lIns="0" tIns="0" rIns="0" bIns="0" anchor="t" anchorCtr="0">
              <a:spAutoFit/>
            </a:bodyPr>
            <a:lstStyle/>
            <a:p>
              <a:pPr algn="l"/>
              <a:r>
                <a:rPr lang="zh-CN" sz="980" dirty="0">
                  <a:solidFill>
                    <a:schemeClr val="accent5"/>
                  </a:solidFill>
                  <a:latin typeface="+mn-lt"/>
                  <a:ea typeface="+mn-ea"/>
                  <a:cs typeface="+mn-cs"/>
                </a:rPr>
                <a:t>Start and end reservoirs</a:t>
              </a:r>
            </a:p>
          </p:txBody>
        </p:sp>
        <p:sp>
          <p:nvSpPr>
            <p:cNvPr id="19" name="Ellipse 19"/>
            <p:cNvSpPr/>
            <p:nvPr/>
          </p:nvSpPr>
          <p:spPr>
            <a:xfrm>
              <a:off x="6905625" y="2752725"/>
              <a:ext cx="285750" cy="285750"/>
            </a:xfrm>
            <a:prstGeom prst="ellipse">
              <a:avLst/>
            </a:prstGeom>
            <a:solidFill>
              <a:schemeClr val="accent3"/>
            </a:solidFill>
            <a:ln>
              <a:noFill/>
            </a:ln>
          </p:spPr>
        </p:sp>
        <p:sp>
          <p:nvSpPr>
            <p:cNvPr id="20" name="TextBox 20"/>
            <p:cNvSpPr txBox="1"/>
            <p:nvPr/>
          </p:nvSpPr>
          <p:spPr>
            <a:xfrm>
              <a:off x="7005453" y="2837974"/>
              <a:ext cx="86094" cy="190690"/>
            </a:xfrm>
            <a:prstGeom prst="rect">
              <a:avLst/>
            </a:prstGeom>
            <a:noFill/>
            <a:ln>
              <a:noFill/>
            </a:ln>
          </p:spPr>
          <p:txBody>
            <a:bodyPr wrap="none" lIns="0" tIns="0" rIns="0" bIns="0" anchor="t" anchorCtr="0">
              <a:spAutoFit/>
            </a:bodyPr>
            <a:lstStyle/>
            <a:p>
              <a:pPr algn="ctr"/>
              <a:r>
                <a:rPr lang="zh-CN" sz="980" b="1" dirty="0">
                  <a:solidFill>
                    <a:srgbClr val="FFFFFF"/>
                  </a:solidFill>
                  <a:latin typeface="+mn-lt"/>
                  <a:ea typeface="+mn-ea"/>
                  <a:cs typeface="+mn-cs"/>
                </a:rPr>
                <a:t>2</a:t>
              </a:r>
            </a:p>
          </p:txBody>
        </p:sp>
        <p:sp>
          <p:nvSpPr>
            <p:cNvPr id="21" name="TextBox 21"/>
            <p:cNvSpPr txBox="1"/>
            <p:nvPr/>
          </p:nvSpPr>
          <p:spPr>
            <a:xfrm>
              <a:off x="7309485" y="2736056"/>
              <a:ext cx="1217625" cy="220028"/>
            </a:xfrm>
            <a:prstGeom prst="rect">
              <a:avLst/>
            </a:prstGeom>
            <a:noFill/>
            <a:ln>
              <a:noFill/>
            </a:ln>
          </p:spPr>
          <p:txBody>
            <a:bodyPr wrap="none" lIns="0" tIns="0" rIns="0" bIns="0" anchor="t" anchorCtr="0">
              <a:spAutoFit/>
            </a:bodyPr>
            <a:lstStyle/>
            <a:p>
              <a:pPr algn="l"/>
              <a:r>
                <a:rPr lang="zh-CN" sz="1120" dirty="0">
                  <a:solidFill>
                    <a:schemeClr val="dk1"/>
                  </a:solidFill>
                  <a:latin typeface="+mn-lt"/>
                  <a:ea typeface="+mn-ea"/>
                  <a:cs typeface="+mn-cs"/>
                </a:rPr>
                <a:t>中间的过程或通量</a:t>
              </a:r>
            </a:p>
          </p:txBody>
        </p:sp>
        <p:sp>
          <p:nvSpPr>
            <p:cNvPr id="22" name="TextBox 22"/>
            <p:cNvSpPr txBox="1"/>
            <p:nvPr/>
          </p:nvSpPr>
          <p:spPr>
            <a:xfrm>
              <a:off x="7310247" y="2942749"/>
              <a:ext cx="1261032" cy="190690"/>
            </a:xfrm>
            <a:prstGeom prst="rect">
              <a:avLst/>
            </a:prstGeom>
            <a:noFill/>
            <a:ln>
              <a:noFill/>
            </a:ln>
          </p:spPr>
          <p:txBody>
            <a:bodyPr wrap="none" lIns="0" tIns="0" rIns="0" bIns="0" anchor="t" anchorCtr="0">
              <a:spAutoFit/>
            </a:bodyPr>
            <a:lstStyle/>
            <a:p>
              <a:pPr algn="l"/>
              <a:r>
                <a:rPr lang="zh-CN" sz="980" dirty="0">
                  <a:solidFill>
                    <a:schemeClr val="accent5"/>
                  </a:solidFill>
                  <a:latin typeface="+mn-lt"/>
                  <a:ea typeface="+mn-ea"/>
                  <a:cs typeface="+mn-cs"/>
                </a:rPr>
                <a:t>The process or flux</a:t>
              </a:r>
            </a:p>
          </p:txBody>
        </p:sp>
        <p:sp>
          <p:nvSpPr>
            <p:cNvPr id="23" name="Ellipse 23"/>
            <p:cNvSpPr/>
            <p:nvPr/>
          </p:nvSpPr>
          <p:spPr>
            <a:xfrm>
              <a:off x="6905625" y="3248025"/>
              <a:ext cx="285750" cy="285750"/>
            </a:xfrm>
            <a:prstGeom prst="ellipse">
              <a:avLst/>
            </a:prstGeom>
            <a:solidFill>
              <a:schemeClr val="accent3"/>
            </a:solidFill>
            <a:ln>
              <a:noFill/>
            </a:ln>
          </p:spPr>
        </p:sp>
        <p:sp>
          <p:nvSpPr>
            <p:cNvPr id="24" name="TextBox 24"/>
            <p:cNvSpPr txBox="1"/>
            <p:nvPr/>
          </p:nvSpPr>
          <p:spPr>
            <a:xfrm>
              <a:off x="7005453" y="3333274"/>
              <a:ext cx="86094" cy="190690"/>
            </a:xfrm>
            <a:prstGeom prst="rect">
              <a:avLst/>
            </a:prstGeom>
            <a:noFill/>
            <a:ln>
              <a:noFill/>
            </a:ln>
          </p:spPr>
          <p:txBody>
            <a:bodyPr wrap="none" lIns="0" tIns="0" rIns="0" bIns="0" anchor="t" anchorCtr="0">
              <a:spAutoFit/>
            </a:bodyPr>
            <a:lstStyle/>
            <a:p>
              <a:pPr algn="ctr"/>
              <a:r>
                <a:rPr lang="zh-CN" sz="980" b="1" dirty="0">
                  <a:solidFill>
                    <a:srgbClr val="FFFFFF"/>
                  </a:solidFill>
                  <a:latin typeface="+mn-lt"/>
                  <a:ea typeface="+mn-ea"/>
                  <a:cs typeface="+mn-cs"/>
                </a:rPr>
                <a:t>3</a:t>
              </a:r>
            </a:p>
          </p:txBody>
        </p:sp>
        <p:sp>
          <p:nvSpPr>
            <p:cNvPr id="25" name="TextBox 25"/>
            <p:cNvSpPr txBox="1"/>
            <p:nvPr/>
          </p:nvSpPr>
          <p:spPr>
            <a:xfrm>
              <a:off x="7309485" y="3231356"/>
              <a:ext cx="1368400" cy="220028"/>
            </a:xfrm>
            <a:prstGeom prst="rect">
              <a:avLst/>
            </a:prstGeom>
            <a:noFill/>
            <a:ln>
              <a:noFill/>
            </a:ln>
          </p:spPr>
          <p:txBody>
            <a:bodyPr wrap="none" lIns="0" tIns="0" rIns="0" bIns="0" anchor="t" anchorCtr="0">
              <a:spAutoFit/>
            </a:bodyPr>
            <a:lstStyle/>
            <a:p>
              <a:pPr algn="l"/>
              <a:r>
                <a:rPr lang="zh-CN" sz="1120" dirty="0">
                  <a:solidFill>
                    <a:schemeClr val="dk1"/>
                  </a:solidFill>
                  <a:latin typeface="+mn-lt"/>
                  <a:ea typeface="+mn-ea"/>
                  <a:cs typeface="+mn-cs"/>
                </a:rPr>
                <a:t>这条通路是快还是慢</a:t>
              </a:r>
            </a:p>
          </p:txBody>
        </p:sp>
        <p:sp>
          <p:nvSpPr>
            <p:cNvPr id="26" name="TextBox 26"/>
            <p:cNvSpPr txBox="1"/>
            <p:nvPr/>
          </p:nvSpPr>
          <p:spPr>
            <a:xfrm>
              <a:off x="7310247" y="3438049"/>
              <a:ext cx="812586" cy="190690"/>
            </a:xfrm>
            <a:prstGeom prst="rect">
              <a:avLst/>
            </a:prstGeom>
            <a:noFill/>
            <a:ln>
              <a:noFill/>
            </a:ln>
          </p:spPr>
          <p:txBody>
            <a:bodyPr wrap="none" lIns="0" tIns="0" rIns="0" bIns="0" anchor="t" anchorCtr="0">
              <a:spAutoFit/>
            </a:bodyPr>
            <a:lstStyle/>
            <a:p>
              <a:pPr algn="l"/>
              <a:r>
                <a:rPr lang="zh-CN" sz="980" dirty="0">
                  <a:solidFill>
                    <a:schemeClr val="accent5"/>
                  </a:solidFill>
                  <a:latin typeface="+mn-lt"/>
                  <a:ea typeface="+mn-ea"/>
                  <a:cs typeface="+mn-cs"/>
                </a:rPr>
                <a:t>Fast or slow</a:t>
              </a:r>
            </a:p>
          </p:txBody>
        </p:sp>
        <p:sp>
          <p:nvSpPr>
            <p:cNvPr id="27" name="Ellipse 27"/>
            <p:cNvSpPr/>
            <p:nvPr/>
          </p:nvSpPr>
          <p:spPr>
            <a:xfrm>
              <a:off x="6905625" y="3743325"/>
              <a:ext cx="285750" cy="285750"/>
            </a:xfrm>
            <a:prstGeom prst="ellipse">
              <a:avLst/>
            </a:prstGeom>
            <a:solidFill>
              <a:schemeClr val="accent3"/>
            </a:solidFill>
            <a:ln>
              <a:noFill/>
            </a:ln>
          </p:spPr>
        </p:sp>
        <p:sp>
          <p:nvSpPr>
            <p:cNvPr id="28" name="TextBox 28"/>
            <p:cNvSpPr txBox="1"/>
            <p:nvPr/>
          </p:nvSpPr>
          <p:spPr>
            <a:xfrm>
              <a:off x="7005453" y="3828574"/>
              <a:ext cx="86094" cy="190690"/>
            </a:xfrm>
            <a:prstGeom prst="rect">
              <a:avLst/>
            </a:prstGeom>
            <a:noFill/>
            <a:ln>
              <a:noFill/>
            </a:ln>
          </p:spPr>
          <p:txBody>
            <a:bodyPr wrap="none" lIns="0" tIns="0" rIns="0" bIns="0" anchor="t" anchorCtr="0">
              <a:spAutoFit/>
            </a:bodyPr>
            <a:lstStyle/>
            <a:p>
              <a:pPr algn="ctr"/>
              <a:r>
                <a:rPr lang="zh-CN" sz="980" b="1" dirty="0">
                  <a:solidFill>
                    <a:srgbClr val="FFFFFF"/>
                  </a:solidFill>
                  <a:latin typeface="+mn-lt"/>
                  <a:ea typeface="+mn-ea"/>
                  <a:cs typeface="+mn-cs"/>
                </a:rPr>
                <a:t>4</a:t>
              </a:r>
            </a:p>
          </p:txBody>
        </p:sp>
        <p:sp>
          <p:nvSpPr>
            <p:cNvPr id="29" name="TextBox 29"/>
            <p:cNvSpPr txBox="1"/>
            <p:nvPr/>
          </p:nvSpPr>
          <p:spPr>
            <a:xfrm>
              <a:off x="7309485" y="3726656"/>
              <a:ext cx="1971497" cy="220028"/>
            </a:xfrm>
            <a:prstGeom prst="rect">
              <a:avLst/>
            </a:prstGeom>
            <a:noFill/>
            <a:ln>
              <a:noFill/>
            </a:ln>
          </p:spPr>
          <p:txBody>
            <a:bodyPr wrap="none" lIns="0" tIns="0" rIns="0" bIns="0" anchor="t" anchorCtr="0">
              <a:spAutoFit/>
            </a:bodyPr>
            <a:lstStyle/>
            <a:p>
              <a:pPr algn="l"/>
              <a:r>
                <a:rPr lang="zh-CN" sz="1120" dirty="0">
                  <a:solidFill>
                    <a:schemeClr val="dk1"/>
                  </a:solidFill>
                  <a:latin typeface="+mn-lt"/>
                  <a:ea typeface="+mn-ea"/>
                  <a:cs typeface="+mn-cs"/>
                </a:rPr>
                <a:t>属于生物、海洋还是地质路径</a:t>
              </a:r>
            </a:p>
          </p:txBody>
        </p:sp>
        <p:sp>
          <p:nvSpPr>
            <p:cNvPr id="30" name="TextBox 30"/>
            <p:cNvSpPr txBox="1"/>
            <p:nvPr/>
          </p:nvSpPr>
          <p:spPr>
            <a:xfrm>
              <a:off x="7310247" y="3933349"/>
              <a:ext cx="2118258" cy="190690"/>
            </a:xfrm>
            <a:prstGeom prst="rect">
              <a:avLst/>
            </a:prstGeom>
            <a:noFill/>
            <a:ln>
              <a:noFill/>
            </a:ln>
          </p:spPr>
          <p:txBody>
            <a:bodyPr wrap="none" lIns="0" tIns="0" rIns="0" bIns="0" anchor="t" anchorCtr="0">
              <a:spAutoFit/>
            </a:bodyPr>
            <a:lstStyle/>
            <a:p>
              <a:pPr algn="l"/>
              <a:r>
                <a:rPr lang="zh-CN" sz="980" dirty="0">
                  <a:solidFill>
                    <a:schemeClr val="accent5"/>
                  </a:solidFill>
                  <a:latin typeface="+mn-lt"/>
                  <a:ea typeface="+mn-ea"/>
                  <a:cs typeface="+mn-cs"/>
                </a:rPr>
                <a:t>Biological, oceanic, or geological</a:t>
              </a:r>
            </a:p>
          </p:txBody>
        </p:sp>
      </p:grpSp>
      <p:grpSp>
        <p:nvGrpSpPr>
          <p:cNvPr id="36" name="Group 36"/>
          <p:cNvGrpSpPr/>
          <p:nvPr/>
        </p:nvGrpSpPr>
        <p:grpSpPr>
          <a:xfrm>
            <a:off x="6629400" y="4610100"/>
            <a:ext cx="5181600" cy="1619250"/>
            <a:chOff x="6629400" y="4610100"/>
            <a:chExt cx="5181600" cy="1619250"/>
          </a:xfrm>
        </p:grpSpPr>
        <p:sp>
          <p:nvSpPr>
            <p:cNvPr id="32" name="Rectangle 32"/>
            <p:cNvSpPr/>
            <p:nvPr/>
          </p:nvSpPr>
          <p:spPr>
            <a:xfrm>
              <a:off x="6629400" y="4610100"/>
              <a:ext cx="5181600" cy="1619250"/>
            </a:xfrm>
            <a:prstGeom prst="roundRect">
              <a:avLst>
                <a:gd name="adj" fmla="val 7059"/>
              </a:avLst>
            </a:prstGeom>
            <a:solidFill>
              <a:schemeClr val="lt1"/>
            </a:solidFill>
            <a:ln w="9525">
              <a:solidFill>
                <a:schemeClr val="accent6"/>
              </a:solidFill>
            </a:ln>
          </p:spPr>
        </p:sp>
        <p:sp>
          <p:nvSpPr>
            <p:cNvPr id="33" name="TextBox 33"/>
            <p:cNvSpPr txBox="1"/>
            <p:nvPr/>
          </p:nvSpPr>
          <p:spPr>
            <a:xfrm>
              <a:off x="6851904" y="4785360"/>
              <a:ext cx="1719630" cy="234696"/>
            </a:xfrm>
            <a:prstGeom prst="rect">
              <a:avLst/>
            </a:prstGeom>
            <a:noFill/>
            <a:ln>
              <a:noFill/>
            </a:ln>
          </p:spPr>
          <p:txBody>
            <a:bodyPr wrap="none" lIns="0" tIns="0" rIns="0" bIns="0" anchor="t" anchorCtr="0">
              <a:spAutoFit/>
            </a:bodyPr>
            <a:lstStyle/>
            <a:p>
              <a:pPr algn="l"/>
              <a:r>
                <a:rPr lang="zh-CN" sz="1200" b="1" dirty="0">
                  <a:solidFill>
                    <a:schemeClr val="accent1"/>
                  </a:solidFill>
                  <a:latin typeface="+mn-lt"/>
                  <a:ea typeface="+mn-ea"/>
                  <a:cs typeface="+mn-cs"/>
                </a:rPr>
                <a:t>读图提示 | Reading aid</a:t>
              </a:r>
            </a:p>
          </p:txBody>
        </p:sp>
        <p:sp>
          <p:nvSpPr>
            <p:cNvPr id="34" name="TextBox 34"/>
            <p:cNvSpPr txBox="1"/>
            <p:nvPr/>
          </p:nvSpPr>
          <p:spPr>
            <a:xfrm>
              <a:off x="6852285" y="5098256"/>
              <a:ext cx="2571750" cy="639128"/>
            </a:xfrm>
            <a:prstGeom prst="rect">
              <a:avLst/>
            </a:prstGeom>
            <a:noFill/>
            <a:ln>
              <a:noFill/>
            </a:ln>
          </p:spPr>
          <p:txBody>
            <a:bodyPr wrap="none" lIns="0" tIns="0" rIns="0" bIns="0" anchor="t" anchorCtr="0">
              <a:spAutoFit/>
            </a:bodyPr>
            <a:lstStyle/>
            <a:p>
              <a:pPr algn="l">
                <a:lnSpc>
                  <a:spcPts val="1650"/>
                </a:lnSpc>
              </a:pPr>
              <a:r>
                <a:rPr lang="zh-CN" sz="1120" dirty="0">
                  <a:solidFill>
                    <a:schemeClr val="dk1"/>
                  </a:solidFill>
                  <a:latin typeface="+mn-lt"/>
                  <a:ea typeface="+mn-ea"/>
                  <a:cs typeface="+mn-cs"/>
                </a:rPr>
                <a:t>先找方框（储库），再读箭头（通量）：</a:t>
              </a:r>
              <a:br/>
              <a:r>
                <a:rPr lang="zh-CN" sz="1120" dirty="0">
                  <a:solidFill>
                    <a:schemeClr val="dk1"/>
                  </a:solidFill>
                  <a:latin typeface="+mn-lt"/>
                  <a:ea typeface="+mn-ea"/>
                  <a:cs typeface="+mn-cs"/>
                </a:rPr>
                <a:t>大气、陆地、海洋与地质四区在图</a:t>
              </a:r>
              <a:br/>
              <a:r>
                <a:rPr lang="zh-CN" sz="1120" dirty="0">
                  <a:solidFill>
                    <a:schemeClr val="dk1"/>
                  </a:solidFill>
                  <a:latin typeface="+mn-lt"/>
                  <a:ea typeface="+mn-ea"/>
                  <a:cs typeface="+mn-cs"/>
                </a:rPr>
                <a:t>上有明确分区，箭头还给方向。</a:t>
              </a:r>
            </a:p>
          </p:txBody>
        </p:sp>
        <p:sp>
          <p:nvSpPr>
            <p:cNvPr id="35" name="TextBox 35"/>
            <p:cNvSpPr txBox="1"/>
            <p:nvPr/>
          </p:nvSpPr>
          <p:spPr>
            <a:xfrm>
              <a:off x="6853047" y="5838349"/>
              <a:ext cx="1593037" cy="190690"/>
            </a:xfrm>
            <a:prstGeom prst="rect">
              <a:avLst/>
            </a:prstGeom>
            <a:noFill/>
            <a:ln>
              <a:noFill/>
            </a:ln>
          </p:spPr>
          <p:txBody>
            <a:bodyPr wrap="none" lIns="0" tIns="0" rIns="0" bIns="0" anchor="t" anchorCtr="0">
              <a:spAutoFit/>
            </a:bodyPr>
            <a:lstStyle/>
            <a:p>
              <a:pPr algn="l"/>
              <a:r>
                <a:rPr lang="zh-CN" sz="980" dirty="0">
                  <a:solidFill>
                    <a:schemeClr val="accent5"/>
                  </a:solidFill>
                  <a:latin typeface="+mn-lt"/>
                  <a:ea typeface="+mn-ea"/>
                  <a:cs typeface="+mn-cs"/>
                </a:rPr>
                <a:t>不要求背下图上全部数字。</a:t>
              </a:r>
            </a:p>
          </p:txBody>
        </p:sp>
      </p:grpSp>
      <p:sp>
        <p:nvSpPr>
          <p:cNvPr id="37" name="TextBox 37"/>
          <p:cNvSpPr txBox="1"/>
          <p:nvPr/>
        </p:nvSpPr>
        <p:spPr>
          <a:xfrm>
            <a:off x="376238" y="6532245"/>
            <a:ext cx="5795748" cy="176212"/>
          </a:xfrm>
          <a:prstGeom prst="rect">
            <a:avLst/>
          </a:prstGeom>
          <a:noFill/>
          <a:ln>
            <a:noFill/>
          </a:ln>
        </p:spPr>
        <p:txBody>
          <a:bodyPr wrap="none" lIns="0" tIns="0" rIns="0" bIns="0" anchor="t" anchorCtr="0">
            <a:spAutoFit/>
          </a:bodyPr>
          <a:lstStyle/>
          <a:p>
            <a:pPr algn="l"/>
            <a:r>
              <a:rPr lang="zh-CN" sz="900" dirty="0">
                <a:solidFill>
                  <a:schemeClr val="accent5"/>
                </a:solidFill>
                <a:latin typeface="+mn-lt"/>
                <a:ea typeface="+mn-ea"/>
                <a:cs typeface="+mn-cs"/>
              </a:rPr>
              <a:t>Source: UE 8e, Fig. 12.19, PDF pp.1209–1213; 地球系统与演变 Ch.4, 图 4-9/4-16, PDF pp.68–80.</a:t>
            </a:r>
          </a:p>
        </p:txBody>
      </p:sp>
      <p:sp>
        <p:nvSpPr>
          <p:cNvPr id="38" name="TextBox 38"/>
          <p:cNvSpPr txBox="1"/>
          <p:nvPr/>
        </p:nvSpPr>
        <p:spPr>
          <a:xfrm>
            <a:off x="11672964" y="6532245"/>
            <a:ext cx="142799" cy="176212"/>
          </a:xfrm>
          <a:prstGeom prst="rect">
            <a:avLst/>
          </a:prstGeom>
          <a:noFill/>
          <a:ln>
            <a:noFill/>
          </a:ln>
        </p:spPr>
        <p:txBody>
          <a:bodyPr wrap="none" lIns="0" tIns="0" rIns="0" bIns="0" anchor="t" anchorCtr="0">
            <a:spAutoFit/>
          </a:bodyPr>
          <a:lstStyle/>
          <a:p>
            <a:pPr algn="r"/>
            <a:r>
              <a:rPr lang="zh-CN" sz="900" dirty="0">
                <a:solidFill>
                  <a:schemeClr val="accent5"/>
                </a:solidFill>
                <a:latin typeface="+mn-lt"/>
                <a:ea typeface="+mn-ea"/>
                <a:cs typeface="+mn-cs"/>
              </a:rPr>
              <a:t>32</a:t>
            </a:r>
          </a:p>
        </p:txBody>
      </p:sp>
    </p:spTree>
    <p:extLst>
      <p:ext uri="{BB962C8B-B14F-4D97-AF65-F5344CB8AC3E}">
        <p14:creationId xmlns:p14="http://schemas.microsoft.com/office/powerpoint/2010/main" val="656639"/>
      </p:ext>
    </p:extLst>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5"/>
          <p:cNvGrpSpPr/>
          <p:nvPr/>
        </p:nvGrpSpPr>
        <p:grpSpPr>
          <a:xfrm>
            <a:off x="0" y="0"/>
            <a:ext cx="12192000" cy="685800"/>
            <a:chOff x="0" y="0"/>
            <a:chExt cx="12192000" cy="685800"/>
          </a:xfrm>
        </p:grpSpPr>
        <p:sp>
          <p:nvSpPr>
            <p:cNvPr id="2" name="Rectangle 2"/>
            <p:cNvSpPr/>
            <p:nvPr/>
          </p:nvSpPr>
          <p:spPr>
            <a:xfrm>
              <a:off x="0" y="0"/>
              <a:ext cx="12192000" cy="685800"/>
            </a:xfrm>
            <a:prstGeom prst="rect">
              <a:avLst/>
            </a:prstGeom>
            <a:solidFill>
              <a:schemeClr val="accent1"/>
            </a:solidFill>
            <a:ln>
              <a:noFill/>
            </a:ln>
          </p:spPr>
        </p:sp>
        <p:sp>
          <p:nvSpPr>
            <p:cNvPr id="3" name="TextBox 3"/>
            <p:cNvSpPr txBox="1"/>
            <p:nvPr/>
          </p:nvSpPr>
          <p:spPr>
            <a:xfrm>
              <a:off x="374142" y="282892"/>
              <a:ext cx="4238521" cy="264033"/>
            </a:xfrm>
            <a:prstGeom prst="rect">
              <a:avLst/>
            </a:prstGeom>
            <a:noFill/>
            <a:ln>
              <a:noFill/>
            </a:ln>
          </p:spPr>
          <p:txBody>
            <a:bodyPr wrap="none" lIns="0" tIns="0" rIns="0" bIns="0" anchor="t" anchorCtr="0">
              <a:spAutoFit/>
            </a:bodyPr>
            <a:lstStyle/>
            <a:p>
              <a:pPr algn="l"/>
              <a:r>
                <a:rPr lang="zh-CN" sz="1350" b="1" dirty="0">
                  <a:solidFill>
                    <a:srgbClr val="FFFFFF"/>
                  </a:solidFill>
                  <a:latin typeface="+mn-lt"/>
                  <a:ea typeface="+mn-ea"/>
                  <a:cs typeface="+mn-cs"/>
                </a:rPr>
                <a:t>2.13 第二部分总结 | Carbon Links Life to Rocks</a:t>
              </a:r>
            </a:p>
          </p:txBody>
        </p:sp>
        <p:sp>
          <p:nvSpPr>
            <p:cNvPr id="4" name="TextBox 4"/>
            <p:cNvSpPr txBox="1"/>
            <p:nvPr/>
          </p:nvSpPr>
          <p:spPr>
            <a:xfrm>
              <a:off x="10686898" y="299085"/>
              <a:ext cx="1130198" cy="234696"/>
            </a:xfrm>
            <a:prstGeom prst="rect">
              <a:avLst/>
            </a:prstGeom>
            <a:noFill/>
            <a:ln>
              <a:noFill/>
            </a:ln>
          </p:spPr>
          <p:txBody>
            <a:bodyPr wrap="none" lIns="0" tIns="0" rIns="0" bIns="0" anchor="t" anchorCtr="0">
              <a:spAutoFit/>
            </a:bodyPr>
            <a:lstStyle/>
            <a:p>
              <a:pPr algn="r"/>
              <a:r>
                <a:rPr lang="zh-CN" sz="1200" dirty="0">
                  <a:solidFill>
                    <a:srgbClr val="C7D7F2"/>
                  </a:solidFill>
                  <a:latin typeface="+mn-lt"/>
                  <a:ea typeface="+mn-ea"/>
                  <a:cs typeface="+mn-cs"/>
                </a:rPr>
                <a:t>CARBON CYCLE</a:t>
              </a:r>
            </a:p>
          </p:txBody>
        </p:sp>
      </p:grpSp>
      <p:grpSp>
        <p:nvGrpSpPr>
          <p:cNvPr id="8" name="Group 8"/>
          <p:cNvGrpSpPr/>
          <p:nvPr/>
        </p:nvGrpSpPr>
        <p:grpSpPr>
          <a:xfrm>
            <a:off x="381000" y="914400"/>
            <a:ext cx="5709641" cy="357093"/>
            <a:chOff x="381000" y="914400"/>
            <a:chExt cx="5709641" cy="357093"/>
          </a:xfrm>
        </p:grpSpPr>
        <p:sp>
          <p:nvSpPr>
            <p:cNvPr id="6" name="Rectangle 6"/>
            <p:cNvSpPr/>
            <p:nvPr/>
          </p:nvSpPr>
          <p:spPr>
            <a:xfrm>
              <a:off x="381000" y="914400"/>
              <a:ext cx="57150" cy="266700"/>
            </a:xfrm>
            <a:prstGeom prst="roundRect">
              <a:avLst>
                <a:gd name="adj" fmla="val 50000"/>
              </a:avLst>
            </a:prstGeom>
            <a:solidFill>
              <a:schemeClr val="accent3"/>
            </a:solidFill>
            <a:ln>
              <a:noFill/>
            </a:ln>
          </p:spPr>
        </p:sp>
        <p:sp>
          <p:nvSpPr>
            <p:cNvPr id="7" name="TextBox 7"/>
            <p:cNvSpPr txBox="1"/>
            <p:nvPr/>
          </p:nvSpPr>
          <p:spPr>
            <a:xfrm>
              <a:off x="544449" y="963454"/>
              <a:ext cx="5546192" cy="308039"/>
            </a:xfrm>
            <a:prstGeom prst="rect">
              <a:avLst/>
            </a:prstGeom>
            <a:noFill/>
            <a:ln>
              <a:noFill/>
            </a:ln>
          </p:spPr>
          <p:txBody>
            <a:bodyPr wrap="none" lIns="0" tIns="0" rIns="0" bIns="0" anchor="t" anchorCtr="0">
              <a:spAutoFit/>
            </a:bodyPr>
            <a:lstStyle/>
            <a:p>
              <a:pPr algn="l"/>
              <a:r>
                <a:rPr lang="zh-CN" sz="1580" b="1" dirty="0">
                  <a:solidFill>
                    <a:srgbClr val="C2410C"/>
                  </a:solidFill>
                  <a:latin typeface="+mn-lt"/>
                  <a:ea typeface="+mn-ea"/>
                  <a:cs typeface="+mn-cs"/>
                </a:rPr>
                <a:t>碳循环从快速的生物与海气交换，延伸到缓慢的岩石圈交换</a:t>
              </a:r>
            </a:p>
          </p:txBody>
        </p:sp>
      </p:grpSp>
      <p:grpSp>
        <p:nvGrpSpPr>
          <p:cNvPr id="15" name="Group 15"/>
          <p:cNvGrpSpPr/>
          <p:nvPr/>
        </p:nvGrpSpPr>
        <p:grpSpPr>
          <a:xfrm>
            <a:off x="381000" y="1428750"/>
            <a:ext cx="5562600" cy="2247900"/>
            <a:chOff x="381000" y="1428750"/>
            <a:chExt cx="5562600" cy="2247900"/>
          </a:xfrm>
        </p:grpSpPr>
        <p:sp>
          <p:nvSpPr>
            <p:cNvPr id="9" name="Rectangle 9"/>
            <p:cNvSpPr/>
            <p:nvPr/>
          </p:nvSpPr>
          <p:spPr>
            <a:xfrm>
              <a:off x="381000" y="1428750"/>
              <a:ext cx="5562600" cy="2247900"/>
            </a:xfrm>
            <a:prstGeom prst="roundRect">
              <a:avLst>
                <a:gd name="adj" fmla="val 5085"/>
              </a:avLst>
            </a:prstGeom>
            <a:solidFill>
              <a:srgbClr val="FDF4EF"/>
            </a:solidFill>
            <a:ln w="9525">
              <a:solidFill>
                <a:srgbClr val="F0CFC2"/>
              </a:solidFill>
            </a:ln>
          </p:spPr>
        </p:sp>
        <p:sp>
          <p:nvSpPr>
            <p:cNvPr id="10" name="Ellipse 10"/>
            <p:cNvSpPr/>
            <p:nvPr/>
          </p:nvSpPr>
          <p:spPr>
            <a:xfrm>
              <a:off x="533400" y="1619250"/>
              <a:ext cx="381000" cy="381000"/>
            </a:xfrm>
            <a:prstGeom prst="ellipse">
              <a:avLst/>
            </a:prstGeom>
            <a:solidFill>
              <a:schemeClr val="accent3"/>
            </a:solidFill>
            <a:ln>
              <a:noFill/>
            </a:ln>
          </p:spPr>
        </p:sp>
        <p:sp>
          <p:nvSpPr>
            <p:cNvPr id="11" name="TextBox 11"/>
            <p:cNvSpPr txBox="1"/>
            <p:nvPr/>
          </p:nvSpPr>
          <p:spPr>
            <a:xfrm>
              <a:off x="671158" y="1737360"/>
              <a:ext cx="105484" cy="234696"/>
            </a:xfrm>
            <a:prstGeom prst="rect">
              <a:avLst/>
            </a:prstGeom>
            <a:noFill/>
            <a:ln>
              <a:noFill/>
            </a:ln>
          </p:spPr>
          <p:txBody>
            <a:bodyPr wrap="none" lIns="0" tIns="0" rIns="0" bIns="0" anchor="t" anchorCtr="0">
              <a:spAutoFit/>
            </a:bodyPr>
            <a:lstStyle/>
            <a:p>
              <a:pPr algn="ctr"/>
              <a:r>
                <a:rPr lang="zh-CN" sz="1200" b="1" dirty="0">
                  <a:solidFill>
                    <a:srgbClr val="FFFFFF"/>
                  </a:solidFill>
                  <a:latin typeface="+mn-lt"/>
                  <a:ea typeface="+mn-ea"/>
                  <a:cs typeface="+mn-cs"/>
                </a:rPr>
                <a:t>1</a:t>
              </a:r>
            </a:p>
          </p:txBody>
        </p:sp>
        <p:sp>
          <p:nvSpPr>
            <p:cNvPr id="12" name="TextBox 12"/>
            <p:cNvSpPr txBox="1"/>
            <p:nvPr/>
          </p:nvSpPr>
          <p:spPr>
            <a:xfrm>
              <a:off x="1060704" y="1737360"/>
              <a:ext cx="2753707" cy="234696"/>
            </a:xfrm>
            <a:prstGeom prst="rect">
              <a:avLst/>
            </a:prstGeom>
            <a:noFill/>
            <a:ln>
              <a:noFill/>
            </a:ln>
          </p:spPr>
          <p:txBody>
            <a:bodyPr wrap="none" lIns="0" tIns="0" rIns="0" bIns="0" anchor="t" anchorCtr="0">
              <a:spAutoFit/>
            </a:bodyPr>
            <a:lstStyle/>
            <a:p>
              <a:pPr algn="l"/>
              <a:r>
                <a:rPr lang="zh-CN" sz="1200" b="1" dirty="0">
                  <a:solidFill>
                    <a:srgbClr val="C2410C"/>
                  </a:solidFill>
                  <a:latin typeface="+mn-lt"/>
                  <a:ea typeface="+mn-ea"/>
                  <a:cs typeface="+mn-cs"/>
                </a:rPr>
                <a:t>碳存在哪里 | Where carbon resides</a:t>
              </a:r>
            </a:p>
          </p:txBody>
        </p:sp>
        <p:sp>
          <p:nvSpPr>
            <p:cNvPr id="13" name="TextBox 13"/>
            <p:cNvSpPr txBox="1"/>
            <p:nvPr/>
          </p:nvSpPr>
          <p:spPr>
            <a:xfrm>
              <a:off x="603885" y="2221706"/>
              <a:ext cx="2145030" cy="429578"/>
            </a:xfrm>
            <a:prstGeom prst="rect">
              <a:avLst/>
            </a:prstGeom>
            <a:noFill/>
            <a:ln>
              <a:noFill/>
            </a:ln>
          </p:spPr>
          <p:txBody>
            <a:bodyPr wrap="none" lIns="0" tIns="0" rIns="0" bIns="0" anchor="t" anchorCtr="0">
              <a:spAutoFit/>
            </a:bodyPr>
            <a:lstStyle/>
            <a:p>
              <a:pPr algn="l">
                <a:lnSpc>
                  <a:spcPts val="1650"/>
                </a:lnSpc>
              </a:pPr>
              <a:r>
                <a:rPr lang="zh-CN" sz="1120" dirty="0">
                  <a:solidFill>
                    <a:schemeClr val="dk1"/>
                  </a:solidFill>
                  <a:latin typeface="+mn-lt"/>
                  <a:ea typeface="+mn-ea"/>
                  <a:cs typeface="+mn-cs"/>
                </a:rPr>
                <a:t>大气、生命与土壤、海洋、沉积物</a:t>
              </a:r>
              <a:br/>
              <a:r>
                <a:rPr lang="zh-CN" sz="1120" dirty="0">
                  <a:solidFill>
                    <a:schemeClr val="dk1"/>
                  </a:solidFill>
                  <a:latin typeface="+mn-lt"/>
                  <a:ea typeface="+mn-ea"/>
                  <a:cs typeface="+mn-cs"/>
                </a:rPr>
                <a:t>与岩石，共同构成碳的储库体系。</a:t>
              </a:r>
            </a:p>
          </p:txBody>
        </p:sp>
        <p:sp>
          <p:nvSpPr>
            <p:cNvPr id="14" name="TextBox 14"/>
            <p:cNvSpPr txBox="1"/>
            <p:nvPr/>
          </p:nvSpPr>
          <p:spPr>
            <a:xfrm>
              <a:off x="604647" y="2999899"/>
              <a:ext cx="3346040" cy="190690"/>
            </a:xfrm>
            <a:prstGeom prst="rect">
              <a:avLst/>
            </a:prstGeom>
            <a:noFill/>
            <a:ln>
              <a:noFill/>
            </a:ln>
          </p:spPr>
          <p:txBody>
            <a:bodyPr wrap="none" lIns="0" tIns="0" rIns="0" bIns="0" anchor="t" anchorCtr="0">
              <a:spAutoFit/>
            </a:bodyPr>
            <a:lstStyle/>
            <a:p>
              <a:pPr algn="l"/>
              <a:r>
                <a:rPr lang="zh-CN" sz="980" dirty="0">
                  <a:solidFill>
                    <a:schemeClr val="accent5"/>
                  </a:solidFill>
                  <a:latin typeface="+mn-lt"/>
                  <a:ea typeface="+mn-ea"/>
                  <a:cs typeface="+mn-cs"/>
                </a:rPr>
                <a:t>Atmosphere · life and soil · ocean · sediment · rock</a:t>
              </a:r>
            </a:p>
          </p:txBody>
        </p:sp>
      </p:grpSp>
      <p:grpSp>
        <p:nvGrpSpPr>
          <p:cNvPr id="22" name="Group 22"/>
          <p:cNvGrpSpPr/>
          <p:nvPr/>
        </p:nvGrpSpPr>
        <p:grpSpPr>
          <a:xfrm>
            <a:off x="6248400" y="1428750"/>
            <a:ext cx="5562600" cy="2247900"/>
            <a:chOff x="6248400" y="1428750"/>
            <a:chExt cx="5562600" cy="2247900"/>
          </a:xfrm>
        </p:grpSpPr>
        <p:sp>
          <p:nvSpPr>
            <p:cNvPr id="16" name="Rectangle 16"/>
            <p:cNvSpPr/>
            <p:nvPr/>
          </p:nvSpPr>
          <p:spPr>
            <a:xfrm>
              <a:off x="6248400" y="1428750"/>
              <a:ext cx="5562600" cy="2247900"/>
            </a:xfrm>
            <a:prstGeom prst="roundRect">
              <a:avLst>
                <a:gd name="adj" fmla="val 5085"/>
              </a:avLst>
            </a:prstGeom>
            <a:solidFill>
              <a:srgbClr val="FDF4EF"/>
            </a:solidFill>
            <a:ln w="9525">
              <a:solidFill>
                <a:srgbClr val="F0CFC2"/>
              </a:solidFill>
            </a:ln>
          </p:spPr>
        </p:sp>
        <p:sp>
          <p:nvSpPr>
            <p:cNvPr id="17" name="Ellipse 17"/>
            <p:cNvSpPr/>
            <p:nvPr/>
          </p:nvSpPr>
          <p:spPr>
            <a:xfrm>
              <a:off x="6400800" y="1619250"/>
              <a:ext cx="381000" cy="381000"/>
            </a:xfrm>
            <a:prstGeom prst="ellipse">
              <a:avLst/>
            </a:prstGeom>
            <a:solidFill>
              <a:schemeClr val="accent3"/>
            </a:solidFill>
            <a:ln>
              <a:noFill/>
            </a:ln>
          </p:spPr>
        </p:sp>
        <p:sp>
          <p:nvSpPr>
            <p:cNvPr id="18" name="TextBox 18"/>
            <p:cNvSpPr txBox="1"/>
            <p:nvPr/>
          </p:nvSpPr>
          <p:spPr>
            <a:xfrm>
              <a:off x="6538558" y="1737360"/>
              <a:ext cx="105484" cy="234696"/>
            </a:xfrm>
            <a:prstGeom prst="rect">
              <a:avLst/>
            </a:prstGeom>
            <a:noFill/>
            <a:ln>
              <a:noFill/>
            </a:ln>
          </p:spPr>
          <p:txBody>
            <a:bodyPr wrap="none" lIns="0" tIns="0" rIns="0" bIns="0" anchor="t" anchorCtr="0">
              <a:spAutoFit/>
            </a:bodyPr>
            <a:lstStyle/>
            <a:p>
              <a:pPr algn="ctr"/>
              <a:r>
                <a:rPr lang="zh-CN" sz="1200" b="1" dirty="0">
                  <a:solidFill>
                    <a:srgbClr val="FFFFFF"/>
                  </a:solidFill>
                  <a:latin typeface="+mn-lt"/>
                  <a:ea typeface="+mn-ea"/>
                  <a:cs typeface="+mn-cs"/>
                </a:rPr>
                <a:t>2</a:t>
              </a:r>
            </a:p>
          </p:txBody>
        </p:sp>
        <p:sp>
          <p:nvSpPr>
            <p:cNvPr id="19" name="TextBox 19"/>
            <p:cNvSpPr txBox="1"/>
            <p:nvPr/>
          </p:nvSpPr>
          <p:spPr>
            <a:xfrm>
              <a:off x="6928104" y="1737360"/>
              <a:ext cx="2210774" cy="234696"/>
            </a:xfrm>
            <a:prstGeom prst="rect">
              <a:avLst/>
            </a:prstGeom>
            <a:noFill/>
            <a:ln>
              <a:noFill/>
            </a:ln>
          </p:spPr>
          <p:txBody>
            <a:bodyPr wrap="none" lIns="0" tIns="0" rIns="0" bIns="0" anchor="t" anchorCtr="0">
              <a:spAutoFit/>
            </a:bodyPr>
            <a:lstStyle/>
            <a:p>
              <a:pPr algn="l"/>
              <a:r>
                <a:rPr lang="zh-CN" sz="1200" b="1" dirty="0">
                  <a:solidFill>
                    <a:srgbClr val="C2410C"/>
                  </a:solidFill>
                  <a:latin typeface="+mn-lt"/>
                  <a:ea typeface="+mn-ea"/>
                  <a:cs typeface="+mn-cs"/>
                </a:rPr>
                <a:t>快速通路 | Faster pathways</a:t>
              </a:r>
            </a:p>
          </p:txBody>
        </p:sp>
        <p:sp>
          <p:nvSpPr>
            <p:cNvPr id="20" name="TextBox 20"/>
            <p:cNvSpPr txBox="1"/>
            <p:nvPr/>
          </p:nvSpPr>
          <p:spPr>
            <a:xfrm>
              <a:off x="6471285" y="2221706"/>
              <a:ext cx="2145030" cy="429578"/>
            </a:xfrm>
            <a:prstGeom prst="rect">
              <a:avLst/>
            </a:prstGeom>
            <a:noFill/>
            <a:ln>
              <a:noFill/>
            </a:ln>
          </p:spPr>
          <p:txBody>
            <a:bodyPr wrap="none" lIns="0" tIns="0" rIns="0" bIns="0" anchor="t" anchorCtr="0">
              <a:spAutoFit/>
            </a:bodyPr>
            <a:lstStyle/>
            <a:p>
              <a:pPr algn="l">
                <a:lnSpc>
                  <a:spcPts val="1650"/>
                </a:lnSpc>
              </a:pPr>
              <a:r>
                <a:rPr lang="zh-CN" sz="1120" dirty="0">
                  <a:solidFill>
                    <a:schemeClr val="dk1"/>
                  </a:solidFill>
                  <a:latin typeface="+mn-lt"/>
                  <a:ea typeface="+mn-ea"/>
                  <a:cs typeface="+mn-cs"/>
                </a:rPr>
                <a:t>光合作用、呼吸作用与海气交换，</a:t>
              </a:r>
              <a:br/>
              <a:r>
                <a:rPr lang="zh-CN" sz="1120" dirty="0">
                  <a:solidFill>
                    <a:schemeClr val="dk1"/>
                  </a:solidFill>
                  <a:latin typeface="+mn-lt"/>
                  <a:ea typeface="+mn-ea"/>
                  <a:cs typeface="+mn-cs"/>
                </a:rPr>
                <a:t>把碳在大气与表层之间快速搬运。</a:t>
              </a:r>
            </a:p>
          </p:txBody>
        </p:sp>
        <p:sp>
          <p:nvSpPr>
            <p:cNvPr id="21" name="TextBox 21"/>
            <p:cNvSpPr txBox="1"/>
            <p:nvPr/>
          </p:nvSpPr>
          <p:spPr>
            <a:xfrm>
              <a:off x="6472047" y="2999899"/>
              <a:ext cx="3127916" cy="190690"/>
            </a:xfrm>
            <a:prstGeom prst="rect">
              <a:avLst/>
            </a:prstGeom>
            <a:noFill/>
            <a:ln>
              <a:noFill/>
            </a:ln>
          </p:spPr>
          <p:txBody>
            <a:bodyPr wrap="none" lIns="0" tIns="0" rIns="0" bIns="0" anchor="t" anchorCtr="0">
              <a:spAutoFit/>
            </a:bodyPr>
            <a:lstStyle/>
            <a:p>
              <a:pPr algn="l"/>
              <a:r>
                <a:rPr lang="zh-CN" sz="980" dirty="0">
                  <a:solidFill>
                    <a:schemeClr val="accent5"/>
                  </a:solidFill>
                  <a:latin typeface="+mn-lt"/>
                  <a:ea typeface="+mn-ea"/>
                  <a:cs typeface="+mn-cs"/>
                </a:rPr>
                <a:t>Photosynthesis · respiration · air–sea exchange</a:t>
              </a:r>
            </a:p>
          </p:txBody>
        </p:sp>
      </p:grpSp>
      <p:grpSp>
        <p:nvGrpSpPr>
          <p:cNvPr id="29" name="Group 29"/>
          <p:cNvGrpSpPr/>
          <p:nvPr/>
        </p:nvGrpSpPr>
        <p:grpSpPr>
          <a:xfrm>
            <a:off x="381000" y="3981450"/>
            <a:ext cx="5562600" cy="2247900"/>
            <a:chOff x="381000" y="3981450"/>
            <a:chExt cx="5562600" cy="2247900"/>
          </a:xfrm>
        </p:grpSpPr>
        <p:sp>
          <p:nvSpPr>
            <p:cNvPr id="23" name="Rectangle 23"/>
            <p:cNvSpPr/>
            <p:nvPr/>
          </p:nvSpPr>
          <p:spPr>
            <a:xfrm>
              <a:off x="381000" y="3981450"/>
              <a:ext cx="5562600" cy="2247900"/>
            </a:xfrm>
            <a:prstGeom prst="roundRect">
              <a:avLst>
                <a:gd name="adj" fmla="val 5085"/>
              </a:avLst>
            </a:prstGeom>
            <a:solidFill>
              <a:schemeClr val="lt2"/>
            </a:solidFill>
            <a:ln w="9525">
              <a:solidFill>
                <a:schemeClr val="accent6"/>
              </a:solidFill>
            </a:ln>
          </p:spPr>
        </p:sp>
        <p:sp>
          <p:nvSpPr>
            <p:cNvPr id="24" name="Ellipse 24"/>
            <p:cNvSpPr/>
            <p:nvPr/>
          </p:nvSpPr>
          <p:spPr>
            <a:xfrm>
              <a:off x="533400" y="4171950"/>
              <a:ext cx="381000" cy="381000"/>
            </a:xfrm>
            <a:prstGeom prst="ellipse">
              <a:avLst/>
            </a:prstGeom>
            <a:solidFill>
              <a:srgbClr val="C2410C"/>
            </a:solidFill>
            <a:ln>
              <a:noFill/>
            </a:ln>
          </p:spPr>
        </p:sp>
        <p:sp>
          <p:nvSpPr>
            <p:cNvPr id="25" name="TextBox 25"/>
            <p:cNvSpPr txBox="1"/>
            <p:nvPr/>
          </p:nvSpPr>
          <p:spPr>
            <a:xfrm>
              <a:off x="671158" y="4290060"/>
              <a:ext cx="105484" cy="234696"/>
            </a:xfrm>
            <a:prstGeom prst="rect">
              <a:avLst/>
            </a:prstGeom>
            <a:noFill/>
            <a:ln>
              <a:noFill/>
            </a:ln>
          </p:spPr>
          <p:txBody>
            <a:bodyPr wrap="none" lIns="0" tIns="0" rIns="0" bIns="0" anchor="t" anchorCtr="0">
              <a:spAutoFit/>
            </a:bodyPr>
            <a:lstStyle/>
            <a:p>
              <a:pPr algn="ctr"/>
              <a:r>
                <a:rPr lang="zh-CN" sz="1200" b="1" dirty="0">
                  <a:solidFill>
                    <a:srgbClr val="FFFFFF"/>
                  </a:solidFill>
                  <a:latin typeface="+mn-lt"/>
                  <a:ea typeface="+mn-ea"/>
                  <a:cs typeface="+mn-cs"/>
                </a:rPr>
                <a:t>3</a:t>
              </a:r>
            </a:p>
          </p:txBody>
        </p:sp>
        <p:sp>
          <p:nvSpPr>
            <p:cNvPr id="26" name="TextBox 26"/>
            <p:cNvSpPr txBox="1"/>
            <p:nvPr/>
          </p:nvSpPr>
          <p:spPr>
            <a:xfrm>
              <a:off x="1060704" y="4290060"/>
              <a:ext cx="2254451" cy="234696"/>
            </a:xfrm>
            <a:prstGeom prst="rect">
              <a:avLst/>
            </a:prstGeom>
            <a:noFill/>
            <a:ln>
              <a:noFill/>
            </a:ln>
          </p:spPr>
          <p:txBody>
            <a:bodyPr wrap="none" lIns="0" tIns="0" rIns="0" bIns="0" anchor="t" anchorCtr="0">
              <a:spAutoFit/>
            </a:bodyPr>
            <a:lstStyle/>
            <a:p>
              <a:pPr algn="l"/>
              <a:r>
                <a:rPr lang="zh-CN" sz="1200" b="1" dirty="0">
                  <a:solidFill>
                    <a:schemeClr val="accent1"/>
                  </a:solidFill>
                  <a:latin typeface="+mn-lt"/>
                  <a:ea typeface="+mn-ea"/>
                  <a:cs typeface="+mn-cs"/>
                </a:rPr>
                <a:t>与岩石相连 | Linked to rocks</a:t>
              </a:r>
            </a:p>
          </p:txBody>
        </p:sp>
        <p:sp>
          <p:nvSpPr>
            <p:cNvPr id="27" name="TextBox 27"/>
            <p:cNvSpPr txBox="1"/>
            <p:nvPr/>
          </p:nvSpPr>
          <p:spPr>
            <a:xfrm>
              <a:off x="603885" y="4774406"/>
              <a:ext cx="2145030" cy="429578"/>
            </a:xfrm>
            <a:prstGeom prst="rect">
              <a:avLst/>
            </a:prstGeom>
            <a:noFill/>
            <a:ln>
              <a:noFill/>
            </a:ln>
          </p:spPr>
          <p:txBody>
            <a:bodyPr wrap="none" lIns="0" tIns="0" rIns="0" bIns="0" anchor="t" anchorCtr="0">
              <a:spAutoFit/>
            </a:bodyPr>
            <a:lstStyle/>
            <a:p>
              <a:pPr algn="l">
                <a:lnSpc>
                  <a:spcPts val="1650"/>
                </a:lnSpc>
              </a:pPr>
              <a:r>
                <a:rPr lang="zh-CN" sz="1120" dirty="0">
                  <a:solidFill>
                    <a:schemeClr val="dk1"/>
                  </a:solidFill>
                  <a:latin typeface="+mn-lt"/>
                  <a:ea typeface="+mn-ea"/>
                  <a:cs typeface="+mn-cs"/>
                </a:rPr>
                <a:t>碳酸盐形成、埋藏、俯冲与脱气，</a:t>
              </a:r>
              <a:br/>
              <a:r>
                <a:rPr lang="zh-CN" sz="1120" dirty="0">
                  <a:solidFill>
                    <a:schemeClr val="dk1"/>
                  </a:solidFill>
                  <a:latin typeface="+mn-lt"/>
                  <a:ea typeface="+mn-ea"/>
                  <a:cs typeface="+mn-cs"/>
                </a:rPr>
                <a:t>把表层碳一路接到岩石圈。</a:t>
              </a:r>
            </a:p>
          </p:txBody>
        </p:sp>
        <p:sp>
          <p:nvSpPr>
            <p:cNvPr id="28" name="TextBox 28"/>
            <p:cNvSpPr txBox="1"/>
            <p:nvPr/>
          </p:nvSpPr>
          <p:spPr>
            <a:xfrm>
              <a:off x="604647" y="5552599"/>
              <a:ext cx="3490774" cy="190690"/>
            </a:xfrm>
            <a:prstGeom prst="rect">
              <a:avLst/>
            </a:prstGeom>
            <a:noFill/>
            <a:ln>
              <a:noFill/>
            </a:ln>
          </p:spPr>
          <p:txBody>
            <a:bodyPr wrap="none" lIns="0" tIns="0" rIns="0" bIns="0" anchor="t" anchorCtr="0">
              <a:spAutoFit/>
            </a:bodyPr>
            <a:lstStyle/>
            <a:p>
              <a:pPr algn="l"/>
              <a:r>
                <a:rPr lang="zh-CN" sz="980" dirty="0">
                  <a:solidFill>
                    <a:schemeClr val="accent5"/>
                  </a:solidFill>
                  <a:latin typeface="+mn-lt"/>
                  <a:ea typeface="+mn-ea"/>
                  <a:cs typeface="+mn-cs"/>
                </a:rPr>
                <a:t>Carbonate formation · burial · subduction · degassing</a:t>
              </a:r>
            </a:p>
          </p:txBody>
        </p:sp>
      </p:grpSp>
      <p:grpSp>
        <p:nvGrpSpPr>
          <p:cNvPr id="36" name="Group 36"/>
          <p:cNvGrpSpPr/>
          <p:nvPr/>
        </p:nvGrpSpPr>
        <p:grpSpPr>
          <a:xfrm>
            <a:off x="6248400" y="3981450"/>
            <a:ext cx="5562600" cy="2247900"/>
            <a:chOff x="6248400" y="3981450"/>
            <a:chExt cx="5562600" cy="2247900"/>
          </a:xfrm>
        </p:grpSpPr>
        <p:sp>
          <p:nvSpPr>
            <p:cNvPr id="30" name="Rectangle 30"/>
            <p:cNvSpPr/>
            <p:nvPr/>
          </p:nvSpPr>
          <p:spPr>
            <a:xfrm>
              <a:off x="6248400" y="3981450"/>
              <a:ext cx="5562600" cy="2247900"/>
            </a:xfrm>
            <a:prstGeom prst="roundRect">
              <a:avLst>
                <a:gd name="adj" fmla="val 5085"/>
              </a:avLst>
            </a:prstGeom>
            <a:solidFill>
              <a:schemeClr val="lt2"/>
            </a:solidFill>
            <a:ln w="9525">
              <a:solidFill>
                <a:schemeClr val="accent6"/>
              </a:solidFill>
            </a:ln>
          </p:spPr>
        </p:sp>
        <p:sp>
          <p:nvSpPr>
            <p:cNvPr id="31" name="Ellipse 31"/>
            <p:cNvSpPr/>
            <p:nvPr/>
          </p:nvSpPr>
          <p:spPr>
            <a:xfrm>
              <a:off x="6400800" y="4171950"/>
              <a:ext cx="381000" cy="381000"/>
            </a:xfrm>
            <a:prstGeom prst="ellipse">
              <a:avLst/>
            </a:prstGeom>
            <a:solidFill>
              <a:srgbClr val="C2410C"/>
            </a:solidFill>
            <a:ln>
              <a:noFill/>
            </a:ln>
          </p:spPr>
        </p:sp>
        <p:sp>
          <p:nvSpPr>
            <p:cNvPr id="32" name="TextBox 32"/>
            <p:cNvSpPr txBox="1"/>
            <p:nvPr/>
          </p:nvSpPr>
          <p:spPr>
            <a:xfrm>
              <a:off x="6538558" y="4290060"/>
              <a:ext cx="105484" cy="234696"/>
            </a:xfrm>
            <a:prstGeom prst="rect">
              <a:avLst/>
            </a:prstGeom>
            <a:noFill/>
            <a:ln>
              <a:noFill/>
            </a:ln>
          </p:spPr>
          <p:txBody>
            <a:bodyPr wrap="none" lIns="0" tIns="0" rIns="0" bIns="0" anchor="t" anchorCtr="0">
              <a:spAutoFit/>
            </a:bodyPr>
            <a:lstStyle/>
            <a:p>
              <a:pPr algn="ctr"/>
              <a:r>
                <a:rPr lang="zh-CN" sz="1200" b="1" dirty="0">
                  <a:solidFill>
                    <a:srgbClr val="FFFFFF"/>
                  </a:solidFill>
                  <a:latin typeface="+mn-lt"/>
                  <a:ea typeface="+mn-ea"/>
                  <a:cs typeface="+mn-cs"/>
                </a:rPr>
                <a:t>4</a:t>
              </a:r>
            </a:p>
          </p:txBody>
        </p:sp>
        <p:sp>
          <p:nvSpPr>
            <p:cNvPr id="33" name="TextBox 33"/>
            <p:cNvSpPr txBox="1"/>
            <p:nvPr/>
          </p:nvSpPr>
          <p:spPr>
            <a:xfrm>
              <a:off x="6928104" y="4290060"/>
              <a:ext cx="2346798" cy="234696"/>
            </a:xfrm>
            <a:prstGeom prst="rect">
              <a:avLst/>
            </a:prstGeom>
            <a:noFill/>
            <a:ln>
              <a:noFill/>
            </a:ln>
          </p:spPr>
          <p:txBody>
            <a:bodyPr wrap="none" lIns="0" tIns="0" rIns="0" bIns="0" anchor="t" anchorCtr="0">
              <a:spAutoFit/>
            </a:bodyPr>
            <a:lstStyle/>
            <a:p>
              <a:pPr algn="l"/>
              <a:r>
                <a:rPr lang="zh-CN" sz="1200" b="1" dirty="0">
                  <a:solidFill>
                    <a:schemeClr val="accent1"/>
                  </a:solidFill>
                  <a:latin typeface="+mn-lt"/>
                  <a:ea typeface="+mn-ea"/>
                  <a:cs typeface="+mn-cs"/>
                </a:rPr>
                <a:t>不同的时钟 | Different clocks</a:t>
              </a:r>
            </a:p>
          </p:txBody>
        </p:sp>
        <p:sp>
          <p:nvSpPr>
            <p:cNvPr id="34" name="TextBox 34"/>
            <p:cNvSpPr txBox="1"/>
            <p:nvPr/>
          </p:nvSpPr>
          <p:spPr>
            <a:xfrm>
              <a:off x="6471285" y="4774406"/>
              <a:ext cx="2145030" cy="429578"/>
            </a:xfrm>
            <a:prstGeom prst="rect">
              <a:avLst/>
            </a:prstGeom>
            <a:noFill/>
            <a:ln>
              <a:noFill/>
            </a:ln>
          </p:spPr>
          <p:txBody>
            <a:bodyPr wrap="none" lIns="0" tIns="0" rIns="0" bIns="0" anchor="t" anchorCtr="0">
              <a:spAutoFit/>
            </a:bodyPr>
            <a:lstStyle/>
            <a:p>
              <a:pPr algn="l">
                <a:lnSpc>
                  <a:spcPts val="1650"/>
                </a:lnSpc>
              </a:pPr>
              <a:r>
                <a:rPr lang="zh-CN" sz="1120" dirty="0">
                  <a:solidFill>
                    <a:schemeClr val="dk1"/>
                  </a:solidFill>
                  <a:latin typeface="+mn-lt"/>
                  <a:ea typeface="+mn-ea"/>
                  <a:cs typeface="+mn-cs"/>
                </a:rPr>
                <a:t>每条路径的速度不同，这决定每个</a:t>
              </a:r>
              <a:br/>
              <a:r>
                <a:rPr lang="zh-CN" sz="1120" dirty="0">
                  <a:solidFill>
                    <a:schemeClr val="dk1"/>
                  </a:solidFill>
                  <a:latin typeface="+mn-lt"/>
                  <a:ea typeface="+mn-ea"/>
                  <a:cs typeface="+mn-cs"/>
                </a:rPr>
                <a:t>储库受到扰动后多快做出响应。</a:t>
              </a:r>
            </a:p>
          </p:txBody>
        </p:sp>
        <p:sp>
          <p:nvSpPr>
            <p:cNvPr id="35" name="TextBox 35"/>
            <p:cNvSpPr txBox="1"/>
            <p:nvPr/>
          </p:nvSpPr>
          <p:spPr>
            <a:xfrm>
              <a:off x="6472047" y="5552599"/>
              <a:ext cx="2560613" cy="190690"/>
            </a:xfrm>
            <a:prstGeom prst="rect">
              <a:avLst/>
            </a:prstGeom>
            <a:noFill/>
            <a:ln>
              <a:noFill/>
            </a:ln>
          </p:spPr>
          <p:txBody>
            <a:bodyPr wrap="none" lIns="0" tIns="0" rIns="0" bIns="0" anchor="t" anchorCtr="0">
              <a:spAutoFit/>
            </a:bodyPr>
            <a:lstStyle/>
            <a:p>
              <a:pPr algn="l"/>
              <a:r>
                <a:rPr lang="zh-CN" sz="980" dirty="0">
                  <a:solidFill>
                    <a:schemeClr val="accent5"/>
                  </a:solidFill>
                  <a:latin typeface="+mn-lt"/>
                  <a:ea typeface="+mn-ea"/>
                  <a:cs typeface="+mn-cs"/>
                </a:rPr>
                <a:t>Response speed depends on the pathway</a:t>
              </a:r>
            </a:p>
          </p:txBody>
        </p:sp>
      </p:grpSp>
      <p:sp>
        <p:nvSpPr>
          <p:cNvPr id="37" name="TextBox 37"/>
          <p:cNvSpPr txBox="1"/>
          <p:nvPr/>
        </p:nvSpPr>
        <p:spPr>
          <a:xfrm>
            <a:off x="376238" y="6532245"/>
            <a:ext cx="6062167" cy="176212"/>
          </a:xfrm>
          <a:prstGeom prst="rect">
            <a:avLst/>
          </a:prstGeom>
          <a:noFill/>
          <a:ln>
            <a:noFill/>
          </a:ln>
        </p:spPr>
        <p:txBody>
          <a:bodyPr wrap="none" lIns="0" tIns="0" rIns="0" bIns="0" anchor="t" anchorCtr="0">
            <a:spAutoFit/>
          </a:bodyPr>
          <a:lstStyle/>
          <a:p>
            <a:pPr algn="l"/>
            <a:r>
              <a:rPr lang="zh-CN" sz="900" dirty="0">
                <a:solidFill>
                  <a:schemeClr val="accent5"/>
                </a:solidFill>
                <a:latin typeface="+mn-lt"/>
                <a:ea typeface="+mn-ea"/>
                <a:cs typeface="+mn-cs"/>
              </a:rPr>
              <a:t>Source: UE 8e, Ch.12; 地球系统与演变 Ch.4; EP Ch.23. Part II synthesis of the accepted Slides 21–32.</a:t>
            </a:r>
          </a:p>
        </p:txBody>
      </p:sp>
      <p:sp>
        <p:nvSpPr>
          <p:cNvPr id="38" name="TextBox 38"/>
          <p:cNvSpPr txBox="1"/>
          <p:nvPr/>
        </p:nvSpPr>
        <p:spPr>
          <a:xfrm>
            <a:off x="11672964" y="6532245"/>
            <a:ext cx="142799" cy="176212"/>
          </a:xfrm>
          <a:prstGeom prst="rect">
            <a:avLst/>
          </a:prstGeom>
          <a:noFill/>
          <a:ln>
            <a:noFill/>
          </a:ln>
        </p:spPr>
        <p:txBody>
          <a:bodyPr wrap="none" lIns="0" tIns="0" rIns="0" bIns="0" anchor="t" anchorCtr="0">
            <a:spAutoFit/>
          </a:bodyPr>
          <a:lstStyle/>
          <a:p>
            <a:pPr algn="r"/>
            <a:r>
              <a:rPr lang="zh-CN" sz="900" dirty="0">
                <a:solidFill>
                  <a:schemeClr val="accent5"/>
                </a:solidFill>
                <a:latin typeface="+mn-lt"/>
                <a:ea typeface="+mn-ea"/>
                <a:cs typeface="+mn-cs"/>
              </a:rPr>
              <a:t>33</a:t>
            </a:r>
          </a:p>
        </p:txBody>
      </p:sp>
    </p:spTree>
    <p:extLst>
      <p:ext uri="{BB962C8B-B14F-4D97-AF65-F5344CB8AC3E}">
        <p14:creationId xmlns:p14="http://schemas.microsoft.com/office/powerpoint/2010/main" val="3913766709"/>
      </p:ext>
    </p:extLst>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5"/>
          <p:cNvGrpSpPr/>
          <p:nvPr/>
        </p:nvGrpSpPr>
        <p:grpSpPr>
          <a:xfrm>
            <a:off x="0" y="0"/>
            <a:ext cx="12192000" cy="685800"/>
            <a:chOff x="0" y="0"/>
            <a:chExt cx="12192000" cy="685800"/>
          </a:xfrm>
        </p:grpSpPr>
        <p:sp>
          <p:nvSpPr>
            <p:cNvPr id="2" name="Rectangle 2"/>
            <p:cNvSpPr/>
            <p:nvPr/>
          </p:nvSpPr>
          <p:spPr>
            <a:xfrm>
              <a:off x="0" y="0"/>
              <a:ext cx="12192000" cy="685800"/>
            </a:xfrm>
            <a:prstGeom prst="rect">
              <a:avLst/>
            </a:prstGeom>
            <a:solidFill>
              <a:schemeClr val="accent1"/>
            </a:solidFill>
            <a:ln>
              <a:noFill/>
            </a:ln>
          </p:spPr>
        </p:sp>
        <p:sp>
          <p:nvSpPr>
            <p:cNvPr id="3" name="TextBox 3"/>
            <p:cNvSpPr txBox="1"/>
            <p:nvPr/>
          </p:nvSpPr>
          <p:spPr>
            <a:xfrm>
              <a:off x="374142" y="282892"/>
              <a:ext cx="5843400" cy="264033"/>
            </a:xfrm>
            <a:prstGeom prst="rect">
              <a:avLst/>
            </a:prstGeom>
            <a:noFill/>
            <a:ln>
              <a:noFill/>
            </a:ln>
          </p:spPr>
          <p:txBody>
            <a:bodyPr wrap="none" lIns="0" tIns="0" rIns="0" bIns="0" anchor="t" anchorCtr="0">
              <a:spAutoFit/>
            </a:bodyPr>
            <a:lstStyle/>
            <a:p>
              <a:pPr algn="l"/>
              <a:r>
                <a:rPr lang="zh-CN" sz="1350" b="1" dirty="0">
                  <a:solidFill>
                    <a:srgbClr val="FFFFFF"/>
                  </a:solidFill>
                  <a:latin typeface="+mn-lt"/>
                  <a:ea typeface="+mn-ea"/>
                  <a:cs typeface="+mn-cs"/>
                </a:rPr>
                <a:t>把两个循环放到同一张图上 | Coupling the Water and Carbon Cycles</a:t>
              </a:r>
            </a:p>
          </p:txBody>
        </p:sp>
        <p:sp>
          <p:nvSpPr>
            <p:cNvPr id="4" name="TextBox 4"/>
            <p:cNvSpPr txBox="1"/>
            <p:nvPr/>
          </p:nvSpPr>
          <p:spPr>
            <a:xfrm>
              <a:off x="10490606" y="299085"/>
              <a:ext cx="1326490" cy="234696"/>
            </a:xfrm>
            <a:prstGeom prst="rect">
              <a:avLst/>
            </a:prstGeom>
            <a:noFill/>
            <a:ln>
              <a:noFill/>
            </a:ln>
          </p:spPr>
          <p:txBody>
            <a:bodyPr wrap="none" lIns="0" tIns="0" rIns="0" bIns="0" anchor="t" anchorCtr="0">
              <a:spAutoFit/>
            </a:bodyPr>
            <a:lstStyle/>
            <a:p>
              <a:pPr algn="r"/>
              <a:r>
                <a:rPr lang="zh-CN" sz="1200" dirty="0">
                  <a:solidFill>
                    <a:srgbClr val="C7D7F2"/>
                  </a:solidFill>
                  <a:latin typeface="+mn-lt"/>
                  <a:ea typeface="+mn-ea"/>
                  <a:cs typeface="+mn-cs"/>
                </a:rPr>
                <a:t>COUPLING BRIDGE</a:t>
              </a:r>
            </a:p>
          </p:txBody>
        </p:sp>
      </p:grpSp>
      <p:grpSp>
        <p:nvGrpSpPr>
          <p:cNvPr id="8" name="Group 8"/>
          <p:cNvGrpSpPr/>
          <p:nvPr/>
        </p:nvGrpSpPr>
        <p:grpSpPr>
          <a:xfrm>
            <a:off x="381000" y="914400"/>
            <a:ext cx="6347739" cy="357093"/>
            <a:chOff x="381000" y="914400"/>
            <a:chExt cx="6347739" cy="357093"/>
          </a:xfrm>
        </p:grpSpPr>
        <p:sp>
          <p:nvSpPr>
            <p:cNvPr id="6" name="Rectangle 6"/>
            <p:cNvSpPr/>
            <p:nvPr/>
          </p:nvSpPr>
          <p:spPr>
            <a:xfrm>
              <a:off x="381000" y="914400"/>
              <a:ext cx="57150" cy="266700"/>
            </a:xfrm>
            <a:prstGeom prst="roundRect">
              <a:avLst>
                <a:gd name="adj" fmla="val 50000"/>
              </a:avLst>
            </a:prstGeom>
            <a:solidFill>
              <a:schemeClr val="accent2"/>
            </a:solidFill>
            <a:ln>
              <a:noFill/>
            </a:ln>
          </p:spPr>
        </p:sp>
        <p:sp>
          <p:nvSpPr>
            <p:cNvPr id="7" name="TextBox 7"/>
            <p:cNvSpPr txBox="1"/>
            <p:nvPr/>
          </p:nvSpPr>
          <p:spPr>
            <a:xfrm>
              <a:off x="544449" y="963454"/>
              <a:ext cx="6184290" cy="308039"/>
            </a:xfrm>
            <a:prstGeom prst="rect">
              <a:avLst/>
            </a:prstGeom>
            <a:noFill/>
            <a:ln>
              <a:noFill/>
            </a:ln>
          </p:spPr>
          <p:txBody>
            <a:bodyPr wrap="none" lIns="0" tIns="0" rIns="0" bIns="0" anchor="t" anchorCtr="0">
              <a:spAutoFit/>
            </a:bodyPr>
            <a:lstStyle/>
            <a:p>
              <a:pPr algn="l"/>
              <a:r>
                <a:rPr lang="zh-CN" sz="1580" b="1" dirty="0">
                  <a:solidFill>
                    <a:schemeClr val="accent1"/>
                  </a:solidFill>
                  <a:latin typeface="+mn-lt"/>
                  <a:ea typeface="+mn-ea"/>
                  <a:cs typeface="+mn-cs"/>
                </a:rPr>
                <a:t>水是耦合两个循环的介质：风化、生物交换、海洋转移与岩石储存</a:t>
              </a:r>
            </a:p>
          </p:txBody>
        </p:sp>
      </p:grpSp>
      <p:grpSp>
        <p:nvGrpSpPr>
          <p:cNvPr id="15" name="Group 15"/>
          <p:cNvGrpSpPr/>
          <p:nvPr/>
        </p:nvGrpSpPr>
        <p:grpSpPr>
          <a:xfrm>
            <a:off x="381000" y="1447800"/>
            <a:ext cx="11430000" cy="609600"/>
            <a:chOff x="381000" y="1447800"/>
            <a:chExt cx="11430000" cy="609600"/>
          </a:xfrm>
        </p:grpSpPr>
        <p:sp>
          <p:nvSpPr>
            <p:cNvPr id="9" name="Rectangle 9"/>
            <p:cNvSpPr/>
            <p:nvPr/>
          </p:nvSpPr>
          <p:spPr>
            <a:xfrm>
              <a:off x="381000" y="1447800"/>
              <a:ext cx="11430000" cy="609600"/>
            </a:xfrm>
            <a:prstGeom prst="roundRect">
              <a:avLst>
                <a:gd name="adj" fmla="val 18750"/>
              </a:avLst>
            </a:prstGeom>
            <a:solidFill>
              <a:schemeClr val="lt2"/>
            </a:solidFill>
            <a:ln w="9525">
              <a:solidFill>
                <a:schemeClr val="accent6"/>
              </a:solidFill>
            </a:ln>
          </p:spPr>
        </p:sp>
        <p:sp>
          <p:nvSpPr>
            <p:cNvPr id="10" name="TextBox 10"/>
            <p:cNvSpPr txBox="1"/>
            <p:nvPr/>
          </p:nvSpPr>
          <p:spPr>
            <a:xfrm>
              <a:off x="603504" y="1680210"/>
              <a:ext cx="1625404" cy="234696"/>
            </a:xfrm>
            <a:prstGeom prst="rect">
              <a:avLst/>
            </a:prstGeom>
            <a:noFill/>
            <a:ln>
              <a:noFill/>
            </a:ln>
          </p:spPr>
          <p:txBody>
            <a:bodyPr wrap="none" lIns="0" tIns="0" rIns="0" bIns="0" anchor="t" anchorCtr="0">
              <a:spAutoFit/>
            </a:bodyPr>
            <a:lstStyle/>
            <a:p>
              <a:pPr algn="l"/>
              <a:r>
                <a:rPr lang="zh-CN" sz="1200" b="1" dirty="0">
                  <a:solidFill>
                    <a:schemeClr val="accent1"/>
                  </a:solidFill>
                  <a:latin typeface="+mn-lt"/>
                  <a:ea typeface="+mn-ea"/>
                  <a:cs typeface="+mn-cs"/>
                </a:rPr>
                <a:t>大气圈 | Atmosphere</a:t>
              </a:r>
            </a:p>
          </p:txBody>
        </p:sp>
        <p:sp>
          <p:nvSpPr>
            <p:cNvPr id="11" name="Line 11"/>
            <p:cNvSpPr/>
            <p:nvPr/>
          </p:nvSpPr>
          <p:spPr>
            <a:xfrm>
              <a:off x="8572500" y="1676400"/>
              <a:ext cx="381000" cy="9525"/>
            </a:xfrm>
            <a:custGeom>
              <a:avLst/>
              <a:gdLst/>
              <a:ahLst/>
              <a:cxnLst/>
              <a:rect l="l" t="t" r="r" b="b"/>
              <a:pathLst>
                <a:path w="381000" h="9525">
                  <a:moveTo>
                    <a:pt x="0" y="0"/>
                  </a:moveTo>
                  <a:lnTo>
                    <a:pt x="381000" y="0"/>
                  </a:lnTo>
                </a:path>
              </a:pathLst>
            </a:custGeom>
            <a:noFill/>
            <a:ln w="28575">
              <a:solidFill>
                <a:schemeClr val="accent3"/>
              </a:solidFill>
            </a:ln>
          </p:spPr>
        </p:sp>
        <p:sp>
          <p:nvSpPr>
            <p:cNvPr id="12" name="TextBox 12"/>
            <p:cNvSpPr txBox="1"/>
            <p:nvPr/>
          </p:nvSpPr>
          <p:spPr>
            <a:xfrm>
              <a:off x="9024938" y="1626870"/>
              <a:ext cx="1087843" cy="176212"/>
            </a:xfrm>
            <a:prstGeom prst="rect">
              <a:avLst/>
            </a:prstGeom>
            <a:noFill/>
            <a:ln>
              <a:noFill/>
            </a:ln>
          </p:spPr>
          <p:txBody>
            <a:bodyPr wrap="none" lIns="0" tIns="0" rIns="0" bIns="0" anchor="t" anchorCtr="0">
              <a:spAutoFit/>
            </a:bodyPr>
            <a:lstStyle/>
            <a:p>
              <a:pPr algn="l"/>
              <a:r>
                <a:rPr lang="zh-CN" sz="900" dirty="0">
                  <a:solidFill>
                    <a:srgbClr val="7A4A33"/>
                  </a:solidFill>
                  <a:latin typeface="+mn-lt"/>
                  <a:ea typeface="+mn-ea"/>
                  <a:cs typeface="+mn-cs"/>
                </a:rPr>
                <a:t>碳通量 Carbon flux</a:t>
              </a:r>
            </a:p>
          </p:txBody>
        </p:sp>
        <p:sp>
          <p:nvSpPr>
            <p:cNvPr id="13" name="Line 13"/>
            <p:cNvSpPr/>
            <p:nvPr/>
          </p:nvSpPr>
          <p:spPr>
            <a:xfrm>
              <a:off x="8572500" y="1885950"/>
              <a:ext cx="381000" cy="9525"/>
            </a:xfrm>
            <a:custGeom>
              <a:avLst/>
              <a:gdLst/>
              <a:ahLst/>
              <a:cxnLst/>
              <a:rect l="l" t="t" r="r" b="b"/>
              <a:pathLst>
                <a:path w="381000" h="9525">
                  <a:moveTo>
                    <a:pt x="0" y="0"/>
                  </a:moveTo>
                  <a:lnTo>
                    <a:pt x="381000" y="0"/>
                  </a:lnTo>
                </a:path>
              </a:pathLst>
            </a:custGeom>
            <a:noFill/>
            <a:ln w="28575">
              <a:solidFill>
                <a:schemeClr val="accent2"/>
              </a:solidFill>
              <a:prstDash val="lgDash"/>
            </a:ln>
          </p:spPr>
        </p:sp>
        <p:sp>
          <p:nvSpPr>
            <p:cNvPr id="14" name="TextBox 14"/>
            <p:cNvSpPr txBox="1"/>
            <p:nvPr/>
          </p:nvSpPr>
          <p:spPr>
            <a:xfrm>
              <a:off x="9024938" y="1836420"/>
              <a:ext cx="1045845" cy="176212"/>
            </a:xfrm>
            <a:prstGeom prst="rect">
              <a:avLst/>
            </a:prstGeom>
            <a:noFill/>
            <a:ln>
              <a:noFill/>
            </a:ln>
          </p:spPr>
          <p:txBody>
            <a:bodyPr wrap="none" lIns="0" tIns="0" rIns="0" bIns="0" anchor="t" anchorCtr="0">
              <a:spAutoFit/>
            </a:bodyPr>
            <a:lstStyle/>
            <a:p>
              <a:pPr algn="l"/>
              <a:r>
                <a:rPr lang="zh-CN" sz="900" dirty="0">
                  <a:solidFill>
                    <a:schemeClr val="accent5"/>
                  </a:solidFill>
                  <a:latin typeface="+mn-lt"/>
                  <a:ea typeface="+mn-ea"/>
                  <a:cs typeface="+mn-cs"/>
                </a:rPr>
                <a:t>水通量 Water flux</a:t>
              </a:r>
            </a:p>
          </p:txBody>
        </p:sp>
      </p:grpSp>
      <p:grpSp>
        <p:nvGrpSpPr>
          <p:cNvPr id="20" name="Group 20"/>
          <p:cNvGrpSpPr/>
          <p:nvPr/>
        </p:nvGrpSpPr>
        <p:grpSpPr>
          <a:xfrm>
            <a:off x="381000" y="2857500"/>
            <a:ext cx="4476750" cy="1333500"/>
            <a:chOff x="381000" y="2857500"/>
            <a:chExt cx="4476750" cy="1333500"/>
          </a:xfrm>
        </p:grpSpPr>
        <p:sp>
          <p:nvSpPr>
            <p:cNvPr id="16" name="Rectangle 16"/>
            <p:cNvSpPr/>
            <p:nvPr/>
          </p:nvSpPr>
          <p:spPr>
            <a:xfrm>
              <a:off x="381000" y="2857500"/>
              <a:ext cx="4476750" cy="1333500"/>
            </a:xfrm>
            <a:prstGeom prst="roundRect">
              <a:avLst>
                <a:gd name="adj" fmla="val 8571"/>
              </a:avLst>
            </a:prstGeom>
            <a:solidFill>
              <a:schemeClr val="lt2"/>
            </a:solidFill>
            <a:ln w="9525">
              <a:solidFill>
                <a:schemeClr val="accent6"/>
              </a:solidFill>
            </a:ln>
          </p:spPr>
        </p:sp>
        <p:sp>
          <p:nvSpPr>
            <p:cNvPr id="17" name="TextBox 17"/>
            <p:cNvSpPr txBox="1"/>
            <p:nvPr/>
          </p:nvSpPr>
          <p:spPr>
            <a:xfrm>
              <a:off x="603504" y="3070860"/>
              <a:ext cx="999372" cy="234696"/>
            </a:xfrm>
            <a:prstGeom prst="rect">
              <a:avLst/>
            </a:prstGeom>
            <a:noFill/>
            <a:ln>
              <a:noFill/>
            </a:ln>
          </p:spPr>
          <p:txBody>
            <a:bodyPr wrap="none" lIns="0" tIns="0" rIns="0" bIns="0" anchor="t" anchorCtr="0">
              <a:spAutoFit/>
            </a:bodyPr>
            <a:lstStyle/>
            <a:p>
              <a:pPr algn="l"/>
              <a:r>
                <a:rPr lang="zh-CN" sz="1200" b="1" dirty="0">
                  <a:solidFill>
                    <a:schemeClr val="accent1"/>
                  </a:solidFill>
                  <a:latin typeface="+mn-lt"/>
                  <a:ea typeface="+mn-ea"/>
                  <a:cs typeface="+mn-cs"/>
                </a:rPr>
                <a:t>海洋 | Ocean</a:t>
              </a:r>
            </a:p>
          </p:txBody>
        </p:sp>
        <p:sp>
          <p:nvSpPr>
            <p:cNvPr id="18" name="TextBox 18"/>
            <p:cNvSpPr txBox="1"/>
            <p:nvPr/>
          </p:nvSpPr>
          <p:spPr>
            <a:xfrm>
              <a:off x="604647" y="3361849"/>
              <a:ext cx="2121743" cy="190690"/>
            </a:xfrm>
            <a:prstGeom prst="rect">
              <a:avLst/>
            </a:prstGeom>
            <a:noFill/>
            <a:ln>
              <a:noFill/>
            </a:ln>
          </p:spPr>
          <p:txBody>
            <a:bodyPr wrap="none" lIns="0" tIns="0" rIns="0" bIns="0" anchor="t" anchorCtr="0">
              <a:spAutoFit/>
            </a:bodyPr>
            <a:lstStyle/>
            <a:p>
              <a:pPr algn="l"/>
              <a:r>
                <a:rPr lang="zh-CN" sz="980" dirty="0">
                  <a:solidFill>
                    <a:schemeClr val="accent5"/>
                  </a:solidFill>
                  <a:latin typeface="+mn-lt"/>
                  <a:ea typeface="+mn-ea"/>
                  <a:cs typeface="+mn-cs"/>
                </a:rPr>
                <a:t>海气 CO₂ 交换 · 接收溶解/碳酸盐</a:t>
              </a:r>
            </a:p>
          </p:txBody>
        </p:sp>
        <p:sp>
          <p:nvSpPr>
            <p:cNvPr id="19" name="TextBox 19"/>
            <p:cNvSpPr txBox="1"/>
            <p:nvPr/>
          </p:nvSpPr>
          <p:spPr>
            <a:xfrm>
              <a:off x="604647" y="3609499"/>
              <a:ext cx="1876682" cy="190690"/>
            </a:xfrm>
            <a:prstGeom prst="rect">
              <a:avLst/>
            </a:prstGeom>
            <a:noFill/>
            <a:ln>
              <a:noFill/>
            </a:ln>
          </p:spPr>
          <p:txBody>
            <a:bodyPr wrap="none" lIns="0" tIns="0" rIns="0" bIns="0" anchor="t" anchorCtr="0">
              <a:spAutoFit/>
            </a:bodyPr>
            <a:lstStyle/>
            <a:p>
              <a:pPr algn="l"/>
              <a:r>
                <a:rPr lang="zh-CN" sz="980" dirty="0">
                  <a:solidFill>
                    <a:schemeClr val="accent5"/>
                  </a:solidFill>
                  <a:latin typeface="+mn-lt"/>
                  <a:ea typeface="+mn-ea"/>
                  <a:cs typeface="+mn-cs"/>
                </a:rPr>
                <a:t>埋藏 / 俯冲把碳送入沉积与岩石</a:t>
              </a:r>
            </a:p>
          </p:txBody>
        </p:sp>
      </p:grpSp>
      <p:grpSp>
        <p:nvGrpSpPr>
          <p:cNvPr id="25" name="Group 25"/>
          <p:cNvGrpSpPr/>
          <p:nvPr/>
        </p:nvGrpSpPr>
        <p:grpSpPr>
          <a:xfrm>
            <a:off x="8286750" y="2857500"/>
            <a:ext cx="3524250" cy="1333500"/>
            <a:chOff x="8286750" y="2857500"/>
            <a:chExt cx="3524250" cy="1333500"/>
          </a:xfrm>
        </p:grpSpPr>
        <p:sp>
          <p:nvSpPr>
            <p:cNvPr id="21" name="Rectangle 21"/>
            <p:cNvSpPr/>
            <p:nvPr/>
          </p:nvSpPr>
          <p:spPr>
            <a:xfrm>
              <a:off x="8286750" y="2857500"/>
              <a:ext cx="3524250" cy="1333500"/>
            </a:xfrm>
            <a:prstGeom prst="roundRect">
              <a:avLst>
                <a:gd name="adj" fmla="val 8571"/>
              </a:avLst>
            </a:prstGeom>
            <a:solidFill>
              <a:schemeClr val="lt2"/>
            </a:solidFill>
            <a:ln w="9525">
              <a:solidFill>
                <a:schemeClr val="accent6"/>
              </a:solidFill>
            </a:ln>
          </p:spPr>
        </p:sp>
        <p:sp>
          <p:nvSpPr>
            <p:cNvPr id="22" name="TextBox 22"/>
            <p:cNvSpPr txBox="1"/>
            <p:nvPr/>
          </p:nvSpPr>
          <p:spPr>
            <a:xfrm>
              <a:off x="8509254" y="3070860"/>
              <a:ext cx="830113" cy="234696"/>
            </a:xfrm>
            <a:prstGeom prst="rect">
              <a:avLst/>
            </a:prstGeom>
            <a:noFill/>
            <a:ln>
              <a:noFill/>
            </a:ln>
          </p:spPr>
          <p:txBody>
            <a:bodyPr wrap="none" lIns="0" tIns="0" rIns="0" bIns="0" anchor="t" anchorCtr="0">
              <a:spAutoFit/>
            </a:bodyPr>
            <a:lstStyle/>
            <a:p>
              <a:pPr algn="l"/>
              <a:r>
                <a:rPr lang="zh-CN" sz="1200" b="1" dirty="0">
                  <a:solidFill>
                    <a:schemeClr val="accent1"/>
                  </a:solidFill>
                  <a:latin typeface="+mn-lt"/>
                  <a:ea typeface="+mn-ea"/>
                  <a:cs typeface="+mn-cs"/>
                </a:rPr>
                <a:t>生命 | Life</a:t>
              </a:r>
            </a:p>
          </p:txBody>
        </p:sp>
        <p:sp>
          <p:nvSpPr>
            <p:cNvPr id="23" name="TextBox 23"/>
            <p:cNvSpPr txBox="1"/>
            <p:nvPr/>
          </p:nvSpPr>
          <p:spPr>
            <a:xfrm>
              <a:off x="8510397" y="3361849"/>
              <a:ext cx="1632615" cy="190690"/>
            </a:xfrm>
            <a:prstGeom prst="rect">
              <a:avLst/>
            </a:prstGeom>
            <a:noFill/>
            <a:ln>
              <a:noFill/>
            </a:ln>
          </p:spPr>
          <p:txBody>
            <a:bodyPr wrap="none" lIns="0" tIns="0" rIns="0" bIns="0" anchor="t" anchorCtr="0">
              <a:spAutoFit/>
            </a:bodyPr>
            <a:lstStyle/>
            <a:p>
              <a:pPr algn="l"/>
              <a:r>
                <a:rPr lang="zh-CN" sz="980" dirty="0">
                  <a:solidFill>
                    <a:schemeClr val="accent5"/>
                  </a:solidFill>
                  <a:latin typeface="+mn-lt"/>
                  <a:ea typeface="+mn-ea"/>
                  <a:cs typeface="+mn-cs"/>
                </a:rPr>
                <a:t>光合 / 呼吸 · 蒸腾返回水汽</a:t>
              </a:r>
            </a:p>
          </p:txBody>
        </p:sp>
        <p:sp>
          <p:nvSpPr>
            <p:cNvPr id="24" name="TextBox 24"/>
            <p:cNvSpPr txBox="1"/>
            <p:nvPr/>
          </p:nvSpPr>
          <p:spPr>
            <a:xfrm>
              <a:off x="8510397" y="3609499"/>
              <a:ext cx="1197254" cy="190690"/>
            </a:xfrm>
            <a:prstGeom prst="rect">
              <a:avLst/>
            </a:prstGeom>
            <a:noFill/>
            <a:ln>
              <a:noFill/>
            </a:ln>
          </p:spPr>
          <p:txBody>
            <a:bodyPr wrap="none" lIns="0" tIns="0" rIns="0" bIns="0" anchor="t" anchorCtr="0">
              <a:spAutoFit/>
            </a:bodyPr>
            <a:lstStyle/>
            <a:p>
              <a:pPr algn="l"/>
              <a:r>
                <a:rPr lang="zh-CN" sz="980" dirty="0">
                  <a:solidFill>
                    <a:schemeClr val="accent5"/>
                  </a:solidFill>
                  <a:latin typeface="+mn-lt"/>
                  <a:ea typeface="+mn-ea"/>
                  <a:cs typeface="+mn-cs"/>
                </a:rPr>
                <a:t>生物泵把碳送入深处</a:t>
              </a:r>
            </a:p>
          </p:txBody>
        </p:sp>
      </p:grpSp>
      <p:grpSp>
        <p:nvGrpSpPr>
          <p:cNvPr id="29" name="Group 29"/>
          <p:cNvGrpSpPr/>
          <p:nvPr/>
        </p:nvGrpSpPr>
        <p:grpSpPr>
          <a:xfrm>
            <a:off x="5334000" y="2857500"/>
            <a:ext cx="1524000" cy="762000"/>
            <a:chOff x="5334000" y="2857500"/>
            <a:chExt cx="1524000" cy="762000"/>
          </a:xfrm>
        </p:grpSpPr>
        <p:sp>
          <p:nvSpPr>
            <p:cNvPr id="26" name="Rectangle 26"/>
            <p:cNvSpPr/>
            <p:nvPr/>
          </p:nvSpPr>
          <p:spPr>
            <a:xfrm>
              <a:off x="5334000" y="2857500"/>
              <a:ext cx="1524000" cy="762000"/>
            </a:xfrm>
            <a:prstGeom prst="roundRect">
              <a:avLst>
                <a:gd name="adj" fmla="val 15000"/>
              </a:avLst>
            </a:prstGeom>
            <a:solidFill>
              <a:srgbClr val="FDF4EF"/>
            </a:solidFill>
            <a:ln w="9525">
              <a:solidFill>
                <a:srgbClr val="F0CFC2"/>
              </a:solidFill>
            </a:ln>
          </p:spPr>
        </p:sp>
        <p:sp>
          <p:nvSpPr>
            <p:cNvPr id="27" name="TextBox 27"/>
            <p:cNvSpPr txBox="1"/>
            <p:nvPr/>
          </p:nvSpPr>
          <p:spPr>
            <a:xfrm>
              <a:off x="5928360" y="3032760"/>
              <a:ext cx="335280" cy="234696"/>
            </a:xfrm>
            <a:prstGeom prst="rect">
              <a:avLst/>
            </a:prstGeom>
            <a:noFill/>
            <a:ln>
              <a:noFill/>
            </a:ln>
          </p:spPr>
          <p:txBody>
            <a:bodyPr wrap="none" lIns="0" tIns="0" rIns="0" bIns="0" anchor="t" anchorCtr="0">
              <a:spAutoFit/>
            </a:bodyPr>
            <a:lstStyle/>
            <a:p>
              <a:pPr algn="ctr"/>
              <a:r>
                <a:rPr lang="zh-CN" sz="1200" b="1" dirty="0">
                  <a:solidFill>
                    <a:srgbClr val="C2410C"/>
                  </a:solidFill>
                  <a:latin typeface="+mn-lt"/>
                  <a:ea typeface="+mn-ea"/>
                  <a:cs typeface="+mn-cs"/>
                </a:rPr>
                <a:t>风化</a:t>
              </a:r>
            </a:p>
          </p:txBody>
        </p:sp>
        <p:sp>
          <p:nvSpPr>
            <p:cNvPr id="28" name="TextBox 28"/>
            <p:cNvSpPr txBox="1"/>
            <p:nvPr/>
          </p:nvSpPr>
          <p:spPr>
            <a:xfrm>
              <a:off x="5687987" y="3293745"/>
              <a:ext cx="816026" cy="176212"/>
            </a:xfrm>
            <a:prstGeom prst="rect">
              <a:avLst/>
            </a:prstGeom>
            <a:noFill/>
            <a:ln>
              <a:noFill/>
            </a:ln>
          </p:spPr>
          <p:txBody>
            <a:bodyPr wrap="none" lIns="0" tIns="0" rIns="0" bIns="0" anchor="t" anchorCtr="0">
              <a:spAutoFit/>
            </a:bodyPr>
            <a:lstStyle/>
            <a:p>
              <a:pPr algn="ctr"/>
              <a:r>
                <a:rPr lang="zh-CN" sz="900" dirty="0">
                  <a:solidFill>
                    <a:srgbClr val="7A4A33"/>
                  </a:solidFill>
                  <a:latin typeface="+mn-lt"/>
                  <a:ea typeface="+mn-ea"/>
                  <a:cs typeface="+mn-cs"/>
                </a:rPr>
                <a:t>水 + CO₂ 驱动</a:t>
              </a:r>
            </a:p>
          </p:txBody>
        </p:sp>
      </p:grpSp>
      <p:grpSp>
        <p:nvGrpSpPr>
          <p:cNvPr id="33" name="Group 33"/>
          <p:cNvGrpSpPr/>
          <p:nvPr/>
        </p:nvGrpSpPr>
        <p:grpSpPr>
          <a:xfrm>
            <a:off x="381000" y="4762500"/>
            <a:ext cx="11430000" cy="952500"/>
            <a:chOff x="381000" y="4762500"/>
            <a:chExt cx="11430000" cy="952500"/>
          </a:xfrm>
        </p:grpSpPr>
        <p:sp>
          <p:nvSpPr>
            <p:cNvPr id="30" name="Rectangle 30"/>
            <p:cNvSpPr/>
            <p:nvPr/>
          </p:nvSpPr>
          <p:spPr>
            <a:xfrm>
              <a:off x="381000" y="4762500"/>
              <a:ext cx="11430000" cy="952500"/>
            </a:xfrm>
            <a:prstGeom prst="roundRect">
              <a:avLst>
                <a:gd name="adj" fmla="val 12000"/>
              </a:avLst>
            </a:prstGeom>
            <a:solidFill>
              <a:schemeClr val="lt2"/>
            </a:solidFill>
            <a:ln w="9525">
              <a:solidFill>
                <a:schemeClr val="accent6"/>
              </a:solidFill>
            </a:ln>
          </p:spPr>
        </p:sp>
        <p:sp>
          <p:nvSpPr>
            <p:cNvPr id="31" name="TextBox 31"/>
            <p:cNvSpPr txBox="1"/>
            <p:nvPr/>
          </p:nvSpPr>
          <p:spPr>
            <a:xfrm>
              <a:off x="603504" y="4975860"/>
              <a:ext cx="2289345" cy="234696"/>
            </a:xfrm>
            <a:prstGeom prst="rect">
              <a:avLst/>
            </a:prstGeom>
            <a:noFill/>
            <a:ln>
              <a:noFill/>
            </a:ln>
          </p:spPr>
          <p:txBody>
            <a:bodyPr wrap="none" lIns="0" tIns="0" rIns="0" bIns="0" anchor="t" anchorCtr="0">
              <a:spAutoFit/>
            </a:bodyPr>
            <a:lstStyle/>
            <a:p>
              <a:pPr algn="l"/>
              <a:r>
                <a:rPr lang="zh-CN" sz="1200" b="1" dirty="0">
                  <a:solidFill>
                    <a:schemeClr val="accent1"/>
                  </a:solidFill>
                  <a:latin typeface="+mn-lt"/>
                  <a:ea typeface="+mn-ea"/>
                  <a:cs typeface="+mn-cs"/>
                </a:rPr>
                <a:t>岩石与沉积 | Rock &amp; sediment</a:t>
              </a:r>
            </a:p>
          </p:txBody>
        </p:sp>
        <p:sp>
          <p:nvSpPr>
            <p:cNvPr id="32" name="TextBox 32"/>
            <p:cNvSpPr txBox="1"/>
            <p:nvPr/>
          </p:nvSpPr>
          <p:spPr>
            <a:xfrm>
              <a:off x="604647" y="5266849"/>
              <a:ext cx="2556109" cy="190690"/>
            </a:xfrm>
            <a:prstGeom prst="rect">
              <a:avLst/>
            </a:prstGeom>
            <a:noFill/>
            <a:ln>
              <a:noFill/>
            </a:ln>
          </p:spPr>
          <p:txBody>
            <a:bodyPr wrap="none" lIns="0" tIns="0" rIns="0" bIns="0" anchor="t" anchorCtr="0">
              <a:spAutoFit/>
            </a:bodyPr>
            <a:lstStyle/>
            <a:p>
              <a:pPr algn="l"/>
              <a:r>
                <a:rPr lang="zh-CN" sz="980" dirty="0">
                  <a:solidFill>
                    <a:schemeClr val="accent5"/>
                  </a:solidFill>
                  <a:latin typeface="+mn-lt"/>
                  <a:ea typeface="+mn-ea"/>
                  <a:cs typeface="+mn-cs"/>
                </a:rPr>
                <a:t>碳酸盐与有机碳埋藏 · 俯冲 · 火山脱气返回</a:t>
              </a:r>
            </a:p>
          </p:txBody>
        </p:sp>
      </p:grpSp>
      <p:grpSp>
        <p:nvGrpSpPr>
          <p:cNvPr id="36" name="Group 36"/>
          <p:cNvGrpSpPr/>
          <p:nvPr/>
        </p:nvGrpSpPr>
        <p:grpSpPr>
          <a:xfrm>
            <a:off x="1143000" y="2114550"/>
            <a:ext cx="865823" cy="723900"/>
            <a:chOff x="1143000" y="2114550"/>
            <a:chExt cx="865823" cy="723900"/>
          </a:xfrm>
        </p:grpSpPr>
        <p:sp>
          <p:nvSpPr>
            <p:cNvPr id="34" name="Line 34"/>
            <p:cNvSpPr/>
            <p:nvPr/>
          </p:nvSpPr>
          <p:spPr>
            <a:xfrm flipV="1">
              <a:off x="1143000" y="2114550"/>
              <a:ext cx="1" cy="723900"/>
            </a:xfrm>
            <a:prstGeom prst="line">
              <a:avLst/>
            </a:prstGeom>
            <a:noFill/>
            <a:ln w="28575">
              <a:solidFill>
                <a:schemeClr val="accent2"/>
              </a:solidFill>
              <a:prstDash val="lgDash"/>
              <a:headEnd type="triangle" w="med" len="lg"/>
              <a:tailEnd type="triangle" w="med" len="lg"/>
            </a:ln>
          </p:spPr>
        </p:sp>
        <p:sp>
          <p:nvSpPr>
            <p:cNvPr id="35" name="TextBox 35"/>
            <p:cNvSpPr txBox="1"/>
            <p:nvPr/>
          </p:nvSpPr>
          <p:spPr>
            <a:xfrm>
              <a:off x="1233488" y="2398395"/>
              <a:ext cx="775335" cy="176212"/>
            </a:xfrm>
            <a:prstGeom prst="rect">
              <a:avLst/>
            </a:prstGeom>
            <a:noFill/>
            <a:ln>
              <a:noFill/>
            </a:ln>
          </p:spPr>
          <p:txBody>
            <a:bodyPr wrap="none" lIns="0" tIns="0" rIns="0" bIns="0" anchor="t" anchorCtr="0">
              <a:spAutoFit/>
            </a:bodyPr>
            <a:lstStyle/>
            <a:p>
              <a:pPr algn="l"/>
              <a:r>
                <a:rPr lang="zh-CN" sz="900" dirty="0">
                  <a:solidFill>
                    <a:schemeClr val="accent5"/>
                  </a:solidFill>
                  <a:latin typeface="+mn-lt"/>
                  <a:ea typeface="+mn-ea"/>
                  <a:cs typeface="+mn-cs"/>
                </a:rPr>
                <a:t>水交换 Water</a:t>
              </a:r>
            </a:p>
          </p:txBody>
        </p:sp>
      </p:grpSp>
      <p:grpSp>
        <p:nvGrpSpPr>
          <p:cNvPr id="40" name="Group 40"/>
          <p:cNvGrpSpPr/>
          <p:nvPr/>
        </p:nvGrpSpPr>
        <p:grpSpPr>
          <a:xfrm>
            <a:off x="2381250" y="2114550"/>
            <a:ext cx="3073947" cy="723900"/>
            <a:chOff x="2381250" y="2114550"/>
            <a:chExt cx="3073947" cy="723900"/>
          </a:xfrm>
        </p:grpSpPr>
        <p:sp>
          <p:nvSpPr>
            <p:cNvPr id="37" name="Line 37"/>
            <p:cNvSpPr/>
            <p:nvPr/>
          </p:nvSpPr>
          <p:spPr>
            <a:xfrm>
              <a:off x="2381250" y="2114550"/>
              <a:ext cx="1" cy="723900"/>
            </a:xfrm>
            <a:prstGeom prst="line">
              <a:avLst/>
            </a:prstGeom>
            <a:noFill/>
            <a:ln w="28575">
              <a:solidFill>
                <a:schemeClr val="accent3"/>
              </a:solidFill>
              <a:tailEnd type="triangle" w="med" len="lg"/>
            </a:ln>
          </p:spPr>
        </p:sp>
        <p:sp>
          <p:nvSpPr>
            <p:cNvPr id="38" name="Line 38"/>
            <p:cNvSpPr/>
            <p:nvPr/>
          </p:nvSpPr>
          <p:spPr>
            <a:xfrm flipV="1">
              <a:off x="3143250" y="2114550"/>
              <a:ext cx="1" cy="723900"/>
            </a:xfrm>
            <a:prstGeom prst="line">
              <a:avLst/>
            </a:prstGeom>
            <a:noFill/>
            <a:ln w="28575">
              <a:solidFill>
                <a:schemeClr val="accent3"/>
              </a:solidFill>
              <a:tailEnd type="triangle" w="med" len="lg"/>
            </a:ln>
          </p:spPr>
        </p:sp>
        <p:sp>
          <p:nvSpPr>
            <p:cNvPr id="39" name="TextBox 39"/>
            <p:cNvSpPr txBox="1"/>
            <p:nvPr/>
          </p:nvSpPr>
          <p:spPr>
            <a:xfrm>
              <a:off x="3328988" y="2398395"/>
              <a:ext cx="2126209" cy="176212"/>
            </a:xfrm>
            <a:prstGeom prst="rect">
              <a:avLst/>
            </a:prstGeom>
            <a:noFill/>
            <a:ln>
              <a:noFill/>
            </a:ln>
          </p:spPr>
          <p:txBody>
            <a:bodyPr wrap="none" lIns="0" tIns="0" rIns="0" bIns="0" anchor="t" anchorCtr="0">
              <a:spAutoFit/>
            </a:bodyPr>
            <a:lstStyle/>
            <a:p>
              <a:pPr algn="l"/>
              <a:r>
                <a:rPr lang="zh-CN" sz="900" dirty="0">
                  <a:solidFill>
                    <a:srgbClr val="7A4A33"/>
                  </a:solidFill>
                  <a:latin typeface="+mn-lt"/>
                  <a:ea typeface="+mn-ea"/>
                  <a:cs typeface="+mn-cs"/>
                </a:rPr>
                <a:t>海气 CO₂ 交换 Air–sea CO₂ exchange</a:t>
              </a:r>
            </a:p>
          </p:txBody>
        </p:sp>
      </p:grpSp>
      <p:grpSp>
        <p:nvGrpSpPr>
          <p:cNvPr id="42" name="Group 42"/>
          <p:cNvGrpSpPr/>
          <p:nvPr/>
        </p:nvGrpSpPr>
        <p:grpSpPr>
          <a:xfrm>
            <a:off x="6096000" y="2114550"/>
            <a:ext cx="1" cy="723900"/>
            <a:chOff x="6096000" y="2114550"/>
            <a:chExt cx="1" cy="723900"/>
          </a:xfrm>
        </p:grpSpPr>
        <p:sp>
          <p:nvSpPr>
            <p:cNvPr id="41" name="Line 41"/>
            <p:cNvSpPr/>
            <p:nvPr/>
          </p:nvSpPr>
          <p:spPr>
            <a:xfrm>
              <a:off x="6096000" y="2114550"/>
              <a:ext cx="1" cy="723900"/>
            </a:xfrm>
            <a:prstGeom prst="line">
              <a:avLst/>
            </a:prstGeom>
            <a:noFill/>
            <a:ln w="28575">
              <a:solidFill>
                <a:schemeClr val="accent3"/>
              </a:solidFill>
              <a:tailEnd type="triangle" w="med" len="lg"/>
            </a:ln>
          </p:spPr>
        </p:sp>
      </p:grpSp>
      <p:grpSp>
        <p:nvGrpSpPr>
          <p:cNvPr id="46" name="Group 46"/>
          <p:cNvGrpSpPr/>
          <p:nvPr/>
        </p:nvGrpSpPr>
        <p:grpSpPr>
          <a:xfrm>
            <a:off x="9334500" y="2114550"/>
            <a:ext cx="1771727" cy="723900"/>
            <a:chOff x="9334500" y="2114550"/>
            <a:chExt cx="1771727" cy="723900"/>
          </a:xfrm>
        </p:grpSpPr>
        <p:sp>
          <p:nvSpPr>
            <p:cNvPr id="43" name="Line 43"/>
            <p:cNvSpPr/>
            <p:nvPr/>
          </p:nvSpPr>
          <p:spPr>
            <a:xfrm>
              <a:off x="9334500" y="2114550"/>
              <a:ext cx="1" cy="723900"/>
            </a:xfrm>
            <a:prstGeom prst="line">
              <a:avLst/>
            </a:prstGeom>
            <a:noFill/>
            <a:ln w="28575">
              <a:solidFill>
                <a:schemeClr val="accent3"/>
              </a:solidFill>
              <a:tailEnd type="triangle" w="med" len="lg"/>
            </a:ln>
          </p:spPr>
        </p:sp>
        <p:sp>
          <p:nvSpPr>
            <p:cNvPr id="44" name="Line 44"/>
            <p:cNvSpPr/>
            <p:nvPr/>
          </p:nvSpPr>
          <p:spPr>
            <a:xfrm flipV="1">
              <a:off x="10287000" y="2114550"/>
              <a:ext cx="1" cy="723900"/>
            </a:xfrm>
            <a:prstGeom prst="line">
              <a:avLst/>
            </a:prstGeom>
            <a:noFill/>
            <a:ln w="28575">
              <a:solidFill>
                <a:schemeClr val="accent3"/>
              </a:solidFill>
              <a:tailEnd type="triangle" w="med" len="lg"/>
            </a:ln>
          </p:spPr>
        </p:sp>
        <p:sp>
          <p:nvSpPr>
            <p:cNvPr id="45" name="TextBox 45"/>
            <p:cNvSpPr txBox="1"/>
            <p:nvPr/>
          </p:nvSpPr>
          <p:spPr>
            <a:xfrm>
              <a:off x="10472738" y="2398395"/>
              <a:ext cx="633489" cy="176212"/>
            </a:xfrm>
            <a:prstGeom prst="rect">
              <a:avLst/>
            </a:prstGeom>
            <a:noFill/>
            <a:ln>
              <a:noFill/>
            </a:ln>
          </p:spPr>
          <p:txBody>
            <a:bodyPr wrap="none" lIns="0" tIns="0" rIns="0" bIns="0" anchor="t" anchorCtr="0">
              <a:spAutoFit/>
            </a:bodyPr>
            <a:lstStyle/>
            <a:p>
              <a:pPr algn="l"/>
              <a:r>
                <a:rPr lang="zh-CN" sz="900" dirty="0">
                  <a:solidFill>
                    <a:srgbClr val="7A4A33"/>
                  </a:solidFill>
                  <a:latin typeface="+mn-lt"/>
                  <a:ea typeface="+mn-ea"/>
                  <a:cs typeface="+mn-cs"/>
                </a:rPr>
                <a:t>光合 / 呼吸</a:t>
              </a:r>
            </a:p>
          </p:txBody>
        </p:sp>
      </p:grpSp>
      <p:grpSp>
        <p:nvGrpSpPr>
          <p:cNvPr id="49" name="Group 49"/>
          <p:cNvGrpSpPr/>
          <p:nvPr/>
        </p:nvGrpSpPr>
        <p:grpSpPr>
          <a:xfrm>
            <a:off x="11430000" y="2114550"/>
            <a:ext cx="347663" cy="723900"/>
            <a:chOff x="11430000" y="2114550"/>
            <a:chExt cx="347663" cy="723900"/>
          </a:xfrm>
        </p:grpSpPr>
        <p:sp>
          <p:nvSpPr>
            <p:cNvPr id="47" name="Line 47"/>
            <p:cNvSpPr/>
            <p:nvPr/>
          </p:nvSpPr>
          <p:spPr>
            <a:xfrm flipV="1">
              <a:off x="11430000" y="2114550"/>
              <a:ext cx="1" cy="723900"/>
            </a:xfrm>
            <a:prstGeom prst="line">
              <a:avLst/>
            </a:prstGeom>
            <a:noFill/>
            <a:ln w="28575">
              <a:solidFill>
                <a:schemeClr val="accent2"/>
              </a:solidFill>
              <a:prstDash val="lgDash"/>
              <a:headEnd type="triangle" w="med" len="lg"/>
              <a:tailEnd type="triangle" w="med" len="lg"/>
            </a:ln>
          </p:spPr>
        </p:sp>
        <p:sp>
          <p:nvSpPr>
            <p:cNvPr id="48" name="TextBox 48"/>
            <p:cNvSpPr txBox="1"/>
            <p:nvPr/>
          </p:nvSpPr>
          <p:spPr>
            <a:xfrm>
              <a:off x="11525822" y="2398395"/>
              <a:ext cx="251841" cy="176212"/>
            </a:xfrm>
            <a:prstGeom prst="rect">
              <a:avLst/>
            </a:prstGeom>
            <a:noFill/>
            <a:ln>
              <a:noFill/>
            </a:ln>
          </p:spPr>
          <p:txBody>
            <a:bodyPr wrap="none" lIns="0" tIns="0" rIns="0" bIns="0" anchor="t" anchorCtr="0">
              <a:spAutoFit/>
            </a:bodyPr>
            <a:lstStyle/>
            <a:p>
              <a:pPr algn="r"/>
              <a:r>
                <a:rPr lang="zh-CN" sz="900" dirty="0">
                  <a:solidFill>
                    <a:schemeClr val="accent5"/>
                  </a:solidFill>
                  <a:latin typeface="+mn-lt"/>
                  <a:ea typeface="+mn-ea"/>
                  <a:cs typeface="+mn-cs"/>
                </a:rPr>
                <a:t>蒸腾</a:t>
              </a:r>
            </a:p>
          </p:txBody>
        </p:sp>
      </p:grpSp>
      <p:grpSp>
        <p:nvGrpSpPr>
          <p:cNvPr id="51" name="Group 51"/>
          <p:cNvGrpSpPr/>
          <p:nvPr/>
        </p:nvGrpSpPr>
        <p:grpSpPr>
          <a:xfrm>
            <a:off x="4876800" y="3095625"/>
            <a:ext cx="438150" cy="1"/>
            <a:chOff x="4876800" y="3095625"/>
            <a:chExt cx="438150" cy="1"/>
          </a:xfrm>
        </p:grpSpPr>
        <p:sp>
          <p:nvSpPr>
            <p:cNvPr id="50" name="Line 50"/>
            <p:cNvSpPr/>
            <p:nvPr/>
          </p:nvSpPr>
          <p:spPr>
            <a:xfrm>
              <a:off x="4876800" y="3095625"/>
              <a:ext cx="438150" cy="1"/>
            </a:xfrm>
            <a:prstGeom prst="line">
              <a:avLst/>
            </a:prstGeom>
            <a:noFill/>
            <a:ln w="28575">
              <a:solidFill>
                <a:schemeClr val="accent2"/>
              </a:solidFill>
              <a:prstDash val="lgDash"/>
              <a:tailEnd type="triangle" w="med" len="lg"/>
            </a:ln>
          </p:spPr>
        </p:sp>
      </p:grpSp>
      <p:grpSp>
        <p:nvGrpSpPr>
          <p:cNvPr id="53" name="Group 53"/>
          <p:cNvGrpSpPr/>
          <p:nvPr/>
        </p:nvGrpSpPr>
        <p:grpSpPr>
          <a:xfrm>
            <a:off x="4876800" y="3381375"/>
            <a:ext cx="438150" cy="1"/>
            <a:chOff x="4876800" y="3381375"/>
            <a:chExt cx="438150" cy="1"/>
          </a:xfrm>
        </p:grpSpPr>
        <p:sp>
          <p:nvSpPr>
            <p:cNvPr id="52" name="Line 52"/>
            <p:cNvSpPr/>
            <p:nvPr/>
          </p:nvSpPr>
          <p:spPr>
            <a:xfrm flipH="1">
              <a:off x="4876800" y="3381375"/>
              <a:ext cx="438150" cy="1"/>
            </a:xfrm>
            <a:prstGeom prst="line">
              <a:avLst/>
            </a:prstGeom>
            <a:noFill/>
            <a:ln w="28575">
              <a:solidFill>
                <a:schemeClr val="accent3"/>
              </a:solidFill>
              <a:tailEnd type="triangle" w="med" len="lg"/>
            </a:ln>
          </p:spPr>
        </p:sp>
      </p:grpSp>
      <p:grpSp>
        <p:nvGrpSpPr>
          <p:cNvPr id="55" name="Group 55"/>
          <p:cNvGrpSpPr/>
          <p:nvPr/>
        </p:nvGrpSpPr>
        <p:grpSpPr>
          <a:xfrm>
            <a:off x="2381250" y="4210050"/>
            <a:ext cx="1" cy="533400"/>
            <a:chOff x="2381250" y="4210050"/>
            <a:chExt cx="1" cy="533400"/>
          </a:xfrm>
        </p:grpSpPr>
        <p:sp>
          <p:nvSpPr>
            <p:cNvPr id="54" name="Line 54"/>
            <p:cNvSpPr/>
            <p:nvPr/>
          </p:nvSpPr>
          <p:spPr>
            <a:xfrm>
              <a:off x="2381250" y="4210050"/>
              <a:ext cx="1" cy="533400"/>
            </a:xfrm>
            <a:prstGeom prst="line">
              <a:avLst/>
            </a:prstGeom>
            <a:noFill/>
            <a:ln w="28575">
              <a:solidFill>
                <a:schemeClr val="accent3"/>
              </a:solidFill>
              <a:tailEnd type="triangle" w="med" len="lg"/>
            </a:ln>
          </p:spPr>
        </p:sp>
      </p:grpSp>
      <p:grpSp>
        <p:nvGrpSpPr>
          <p:cNvPr id="57" name="Group 57"/>
          <p:cNvGrpSpPr/>
          <p:nvPr/>
        </p:nvGrpSpPr>
        <p:grpSpPr>
          <a:xfrm>
            <a:off x="7620000" y="2114550"/>
            <a:ext cx="1" cy="2628900"/>
            <a:chOff x="7620000" y="2114550"/>
            <a:chExt cx="1" cy="2628900"/>
          </a:xfrm>
        </p:grpSpPr>
        <p:sp>
          <p:nvSpPr>
            <p:cNvPr id="56" name="Line 56"/>
            <p:cNvSpPr/>
            <p:nvPr/>
          </p:nvSpPr>
          <p:spPr>
            <a:xfrm flipV="1">
              <a:off x="7620000" y="2114550"/>
              <a:ext cx="1" cy="2628900"/>
            </a:xfrm>
            <a:prstGeom prst="line">
              <a:avLst/>
            </a:prstGeom>
            <a:noFill/>
            <a:ln w="28575">
              <a:solidFill>
                <a:schemeClr val="accent3"/>
              </a:solidFill>
              <a:tailEnd type="triangle" w="med" len="lg"/>
            </a:ln>
          </p:spPr>
        </p:sp>
      </p:grpSp>
      <p:grpSp>
        <p:nvGrpSpPr>
          <p:cNvPr id="60" name="Group 60"/>
          <p:cNvGrpSpPr/>
          <p:nvPr/>
        </p:nvGrpSpPr>
        <p:grpSpPr>
          <a:xfrm>
            <a:off x="381000" y="5829300"/>
            <a:ext cx="11430000" cy="400050"/>
            <a:chOff x="381000" y="5829300"/>
            <a:chExt cx="11430000" cy="400050"/>
          </a:xfrm>
        </p:grpSpPr>
        <p:sp>
          <p:nvSpPr>
            <p:cNvPr id="58" name="Rectangle 58"/>
            <p:cNvSpPr/>
            <p:nvPr/>
          </p:nvSpPr>
          <p:spPr>
            <a:xfrm>
              <a:off x="381000" y="5829300"/>
              <a:ext cx="11430000" cy="400050"/>
            </a:xfrm>
            <a:prstGeom prst="roundRect">
              <a:avLst>
                <a:gd name="adj" fmla="val 28571"/>
              </a:avLst>
            </a:prstGeom>
            <a:solidFill>
              <a:srgbClr val="FDECDD"/>
            </a:solidFill>
            <a:ln>
              <a:noFill/>
            </a:ln>
          </p:spPr>
        </p:sp>
        <p:sp>
          <p:nvSpPr>
            <p:cNvPr id="59" name="TextBox 59"/>
            <p:cNvSpPr txBox="1"/>
            <p:nvPr/>
          </p:nvSpPr>
          <p:spPr>
            <a:xfrm>
              <a:off x="680847" y="5971699"/>
              <a:ext cx="7324119" cy="190690"/>
            </a:xfrm>
            <a:prstGeom prst="rect">
              <a:avLst/>
            </a:prstGeom>
            <a:noFill/>
            <a:ln>
              <a:noFill/>
            </a:ln>
          </p:spPr>
          <p:txBody>
            <a:bodyPr wrap="none" lIns="0" tIns="0" rIns="0" bIns="0" anchor="t" anchorCtr="0">
              <a:spAutoFit/>
            </a:bodyPr>
            <a:lstStyle/>
            <a:p>
              <a:pPr algn="l"/>
              <a:r>
                <a:rPr lang="zh-CN" sz="980" dirty="0">
                  <a:solidFill>
                    <a:srgbClr val="7A4A33"/>
                  </a:solidFill>
                  <a:latin typeface="+mn-lt"/>
                  <a:ea typeface="+mn-ea"/>
                  <a:cs typeface="+mn-cs"/>
                </a:rPr>
                <a:t>注记：硅酸盐风化贡献缓慢的负气候倾向；碳酸盐岩回收不是同等净大气 CO₂ 汇。 Volcanic degassing 沿右廊道返回大气。</a:t>
              </a:r>
            </a:p>
          </p:txBody>
        </p:sp>
      </p:grpSp>
      <p:sp>
        <p:nvSpPr>
          <p:cNvPr id="61" name="TextBox 61"/>
          <p:cNvSpPr txBox="1"/>
          <p:nvPr/>
        </p:nvSpPr>
        <p:spPr>
          <a:xfrm>
            <a:off x="376238" y="6532245"/>
            <a:ext cx="3880062" cy="176212"/>
          </a:xfrm>
          <a:prstGeom prst="rect">
            <a:avLst/>
          </a:prstGeom>
          <a:noFill/>
          <a:ln>
            <a:noFill/>
          </a:ln>
        </p:spPr>
        <p:txBody>
          <a:bodyPr wrap="none" lIns="0" tIns="0" rIns="0" bIns="0" anchor="t" anchorCtr="0">
            <a:spAutoFit/>
          </a:bodyPr>
          <a:lstStyle/>
          <a:p>
            <a:pPr algn="l"/>
            <a:r>
              <a:rPr lang="zh-CN" sz="900" dirty="0">
                <a:solidFill>
                  <a:schemeClr val="accent5"/>
                </a:solidFill>
                <a:latin typeface="+mn-lt"/>
                <a:ea typeface="+mn-ea"/>
                <a:cs typeface="+mn-cs"/>
              </a:rPr>
              <a:t>Redrawn from approved sources: W-02, C-01, C-04, C-05, F-01.</a:t>
            </a:r>
          </a:p>
        </p:txBody>
      </p:sp>
      <p:sp>
        <p:nvSpPr>
          <p:cNvPr id="62" name="TextBox 62"/>
          <p:cNvSpPr txBox="1"/>
          <p:nvPr/>
        </p:nvSpPr>
        <p:spPr>
          <a:xfrm>
            <a:off x="11672964" y="6532245"/>
            <a:ext cx="142799" cy="176212"/>
          </a:xfrm>
          <a:prstGeom prst="rect">
            <a:avLst/>
          </a:prstGeom>
          <a:noFill/>
          <a:ln>
            <a:noFill/>
          </a:ln>
        </p:spPr>
        <p:txBody>
          <a:bodyPr wrap="none" lIns="0" tIns="0" rIns="0" bIns="0" anchor="t" anchorCtr="0">
            <a:spAutoFit/>
          </a:bodyPr>
          <a:lstStyle/>
          <a:p>
            <a:pPr algn="r"/>
            <a:r>
              <a:rPr lang="zh-CN" sz="900" dirty="0">
                <a:solidFill>
                  <a:schemeClr val="accent5"/>
                </a:solidFill>
                <a:latin typeface="+mn-lt"/>
                <a:ea typeface="+mn-ea"/>
                <a:cs typeface="+mn-cs"/>
              </a:rPr>
              <a:t>34</a:t>
            </a:r>
          </a:p>
        </p:txBody>
      </p:sp>
    </p:spTree>
    <p:extLst>
      <p:ext uri="{BB962C8B-B14F-4D97-AF65-F5344CB8AC3E}">
        <p14:creationId xmlns:p14="http://schemas.microsoft.com/office/powerpoint/2010/main" val="3666911994"/>
      </p:ext>
    </p:extLst>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5"/>
          <p:cNvGrpSpPr/>
          <p:nvPr/>
        </p:nvGrpSpPr>
        <p:grpSpPr>
          <a:xfrm>
            <a:off x="0" y="0"/>
            <a:ext cx="12192000" cy="685800"/>
            <a:chOff x="0" y="0"/>
            <a:chExt cx="12192000" cy="685800"/>
          </a:xfrm>
        </p:grpSpPr>
        <p:sp>
          <p:nvSpPr>
            <p:cNvPr id="2" name="Rectangle 2"/>
            <p:cNvSpPr/>
            <p:nvPr/>
          </p:nvSpPr>
          <p:spPr>
            <a:xfrm>
              <a:off x="0" y="0"/>
              <a:ext cx="12192000" cy="685800"/>
            </a:xfrm>
            <a:prstGeom prst="rect">
              <a:avLst/>
            </a:prstGeom>
            <a:solidFill>
              <a:schemeClr val="accent1"/>
            </a:solidFill>
            <a:ln>
              <a:noFill/>
            </a:ln>
          </p:spPr>
        </p:sp>
        <p:sp>
          <p:nvSpPr>
            <p:cNvPr id="3" name="TextBox 3"/>
            <p:cNvSpPr txBox="1"/>
            <p:nvPr/>
          </p:nvSpPr>
          <p:spPr>
            <a:xfrm>
              <a:off x="374142" y="282892"/>
              <a:ext cx="3367427" cy="264033"/>
            </a:xfrm>
            <a:prstGeom prst="rect">
              <a:avLst/>
            </a:prstGeom>
            <a:noFill/>
            <a:ln>
              <a:noFill/>
            </a:ln>
          </p:spPr>
          <p:txBody>
            <a:bodyPr wrap="none" lIns="0" tIns="0" rIns="0" bIns="0" anchor="t" anchorCtr="0">
              <a:spAutoFit/>
            </a:bodyPr>
            <a:lstStyle/>
            <a:p>
              <a:pPr algn="l"/>
              <a:r>
                <a:rPr lang="zh-CN" sz="1350" b="1" dirty="0">
                  <a:solidFill>
                    <a:srgbClr val="FFFFFF"/>
                  </a:solidFill>
                  <a:latin typeface="+mn-lt"/>
                  <a:ea typeface="+mn-ea"/>
                  <a:cs typeface="+mn-cs"/>
                </a:rPr>
                <a:t>3.1 什么是反馈？ | What Is Feedback?</a:t>
              </a:r>
            </a:p>
          </p:txBody>
        </p:sp>
        <p:sp>
          <p:nvSpPr>
            <p:cNvPr id="4" name="TextBox 4"/>
            <p:cNvSpPr txBox="1"/>
            <p:nvPr/>
          </p:nvSpPr>
          <p:spPr>
            <a:xfrm>
              <a:off x="10959998" y="299085"/>
              <a:ext cx="857098" cy="234696"/>
            </a:xfrm>
            <a:prstGeom prst="rect">
              <a:avLst/>
            </a:prstGeom>
            <a:noFill/>
            <a:ln>
              <a:noFill/>
            </a:ln>
          </p:spPr>
          <p:txBody>
            <a:bodyPr wrap="none" lIns="0" tIns="0" rIns="0" bIns="0" anchor="t" anchorCtr="0">
              <a:spAutoFit/>
            </a:bodyPr>
            <a:lstStyle/>
            <a:p>
              <a:pPr algn="r"/>
              <a:r>
                <a:rPr lang="zh-CN" sz="1200" dirty="0">
                  <a:solidFill>
                    <a:srgbClr val="C7D7F2"/>
                  </a:solidFill>
                  <a:latin typeface="+mn-lt"/>
                  <a:ea typeface="+mn-ea"/>
                  <a:cs typeface="+mn-cs"/>
                </a:rPr>
                <a:t>FEEDBACKS</a:t>
              </a:r>
            </a:p>
          </p:txBody>
        </p:sp>
      </p:grpSp>
      <p:grpSp>
        <p:nvGrpSpPr>
          <p:cNvPr id="8" name="Group 8"/>
          <p:cNvGrpSpPr/>
          <p:nvPr/>
        </p:nvGrpSpPr>
        <p:grpSpPr>
          <a:xfrm>
            <a:off x="381000" y="914400"/>
            <a:ext cx="5344861" cy="357093"/>
            <a:chOff x="381000" y="914400"/>
            <a:chExt cx="5344861" cy="357093"/>
          </a:xfrm>
        </p:grpSpPr>
        <p:sp>
          <p:nvSpPr>
            <p:cNvPr id="6" name="Rectangle 6"/>
            <p:cNvSpPr/>
            <p:nvPr/>
          </p:nvSpPr>
          <p:spPr>
            <a:xfrm>
              <a:off x="381000" y="914400"/>
              <a:ext cx="57150" cy="266700"/>
            </a:xfrm>
            <a:prstGeom prst="roundRect">
              <a:avLst>
                <a:gd name="adj" fmla="val 50000"/>
              </a:avLst>
            </a:prstGeom>
            <a:solidFill>
              <a:schemeClr val="accent3"/>
            </a:solidFill>
            <a:ln>
              <a:noFill/>
            </a:ln>
          </p:spPr>
        </p:sp>
        <p:sp>
          <p:nvSpPr>
            <p:cNvPr id="7" name="TextBox 7"/>
            <p:cNvSpPr txBox="1"/>
            <p:nvPr/>
          </p:nvSpPr>
          <p:spPr>
            <a:xfrm>
              <a:off x="544449" y="963454"/>
              <a:ext cx="5181412" cy="308039"/>
            </a:xfrm>
            <a:prstGeom prst="rect">
              <a:avLst/>
            </a:prstGeom>
            <a:noFill/>
            <a:ln>
              <a:noFill/>
            </a:ln>
          </p:spPr>
          <p:txBody>
            <a:bodyPr wrap="none" lIns="0" tIns="0" rIns="0" bIns="0" anchor="t" anchorCtr="0">
              <a:spAutoFit/>
            </a:bodyPr>
            <a:lstStyle/>
            <a:p>
              <a:pPr algn="l"/>
              <a:r>
                <a:rPr lang="zh-CN" sz="1580" b="1" dirty="0">
                  <a:solidFill>
                    <a:schemeClr val="dk1"/>
                  </a:solidFill>
                  <a:latin typeface="+mn-lt"/>
                  <a:ea typeface="+mn-ea"/>
                  <a:cs typeface="+mn-cs"/>
                </a:rPr>
                <a:t>positive / negative 描述作用方向，不是“好”或“坏”</a:t>
              </a:r>
            </a:p>
          </p:txBody>
        </p:sp>
      </p:grpSp>
      <p:grpSp>
        <p:nvGrpSpPr>
          <p:cNvPr id="17" name="Group 17"/>
          <p:cNvGrpSpPr/>
          <p:nvPr/>
        </p:nvGrpSpPr>
        <p:grpSpPr>
          <a:xfrm>
            <a:off x="3219450" y="1447800"/>
            <a:ext cx="5753100" cy="1181100"/>
            <a:chOff x="3219450" y="1447800"/>
            <a:chExt cx="5753100" cy="1181100"/>
          </a:xfrm>
        </p:grpSpPr>
        <p:sp>
          <p:nvSpPr>
            <p:cNvPr id="9" name="Rectangle 9"/>
            <p:cNvSpPr/>
            <p:nvPr/>
          </p:nvSpPr>
          <p:spPr>
            <a:xfrm>
              <a:off x="4552950" y="1447800"/>
              <a:ext cx="3086100" cy="723900"/>
            </a:xfrm>
            <a:prstGeom prst="roundRect">
              <a:avLst>
                <a:gd name="adj" fmla="val 15789"/>
              </a:avLst>
            </a:prstGeom>
            <a:solidFill>
              <a:schemeClr val="lt2"/>
            </a:solidFill>
            <a:ln w="19050">
              <a:solidFill>
                <a:schemeClr val="accent6"/>
              </a:solidFill>
            </a:ln>
          </p:spPr>
        </p:sp>
        <p:sp>
          <p:nvSpPr>
            <p:cNvPr id="10" name="TextBox 10"/>
            <p:cNvSpPr txBox="1"/>
            <p:nvPr/>
          </p:nvSpPr>
          <p:spPr>
            <a:xfrm>
              <a:off x="5139337" y="1613535"/>
              <a:ext cx="1913326" cy="234696"/>
            </a:xfrm>
            <a:prstGeom prst="rect">
              <a:avLst/>
            </a:prstGeom>
            <a:noFill/>
            <a:ln>
              <a:noFill/>
            </a:ln>
          </p:spPr>
          <p:txBody>
            <a:bodyPr wrap="none" lIns="0" tIns="0" rIns="0" bIns="0" anchor="t" anchorCtr="0">
              <a:spAutoFit/>
            </a:bodyPr>
            <a:lstStyle/>
            <a:p>
              <a:pPr algn="ctr"/>
              <a:r>
                <a:rPr lang="zh-CN" sz="1200" b="1" dirty="0">
                  <a:solidFill>
                    <a:schemeClr val="accent1"/>
                  </a:solidFill>
                  <a:latin typeface="+mn-lt"/>
                  <a:ea typeface="+mn-ea"/>
                  <a:cs typeface="+mn-cs"/>
                </a:rPr>
                <a:t>初始变化 | Initial change</a:t>
              </a:r>
            </a:p>
          </p:txBody>
        </p:sp>
        <p:sp>
          <p:nvSpPr>
            <p:cNvPr id="11" name="TextBox 11"/>
            <p:cNvSpPr txBox="1"/>
            <p:nvPr/>
          </p:nvSpPr>
          <p:spPr>
            <a:xfrm>
              <a:off x="4884090" y="1878806"/>
              <a:ext cx="2423820" cy="220028"/>
            </a:xfrm>
            <a:prstGeom prst="rect">
              <a:avLst/>
            </a:prstGeom>
            <a:noFill/>
            <a:ln>
              <a:noFill/>
            </a:ln>
          </p:spPr>
          <p:txBody>
            <a:bodyPr wrap="none" lIns="0" tIns="0" rIns="0" bIns="0" anchor="t" anchorCtr="0">
              <a:spAutoFit/>
            </a:bodyPr>
            <a:lstStyle/>
            <a:p>
              <a:pPr algn="ctr"/>
              <a:r>
                <a:rPr lang="zh-CN" sz="1120" dirty="0">
                  <a:solidFill>
                    <a:schemeClr val="accent5"/>
                  </a:solidFill>
                  <a:latin typeface="+mn-lt"/>
                  <a:ea typeface="+mn-ea"/>
                  <a:cs typeface="+mn-cs"/>
                </a:rPr>
                <a:t>先明确变化的方向，再判断回路效果</a:t>
              </a:r>
            </a:p>
          </p:txBody>
        </p:sp>
        <p:grpSp>
          <p:nvGrpSpPr>
            <p:cNvPr id="16" name="Group 16"/>
            <p:cNvGrpSpPr/>
            <p:nvPr/>
          </p:nvGrpSpPr>
          <p:grpSpPr>
            <a:xfrm>
              <a:off x="3219450" y="2171700"/>
              <a:ext cx="5753100" cy="457200"/>
              <a:chOff x="3219450" y="2171700"/>
              <a:chExt cx="5753100" cy="457200"/>
            </a:xfrm>
          </p:grpSpPr>
          <p:sp>
            <p:nvSpPr>
              <p:cNvPr id="12" name="Line 12"/>
              <p:cNvSpPr/>
              <p:nvPr/>
            </p:nvSpPr>
            <p:spPr>
              <a:xfrm>
                <a:off x="3314700" y="2171700"/>
                <a:ext cx="1905000" cy="400050"/>
              </a:xfrm>
              <a:custGeom>
                <a:avLst/>
                <a:gdLst/>
                <a:ahLst/>
                <a:cxnLst/>
                <a:rect l="l" t="t" r="r" b="b"/>
                <a:pathLst>
                  <a:path w="1905000" h="400050">
                    <a:moveTo>
                      <a:pt x="1905000" y="0"/>
                    </a:moveTo>
                    <a:lnTo>
                      <a:pt x="0" y="400050"/>
                    </a:lnTo>
                  </a:path>
                </a:pathLst>
              </a:custGeom>
              <a:noFill/>
              <a:ln w="28575">
                <a:solidFill>
                  <a:schemeClr val="accent3"/>
                </a:solidFill>
              </a:ln>
            </p:spPr>
          </p:sp>
          <p:sp>
            <p:nvSpPr>
              <p:cNvPr id="13" name="Polygon 13"/>
              <p:cNvSpPr/>
              <p:nvPr/>
            </p:nvSpPr>
            <p:spPr>
              <a:xfrm>
                <a:off x="3219450" y="2476500"/>
                <a:ext cx="180975" cy="152400"/>
              </a:xfrm>
              <a:custGeom>
                <a:avLst/>
                <a:gdLst/>
                <a:ahLst/>
                <a:cxnLst/>
                <a:rect l="l" t="t" r="r" b="b"/>
                <a:pathLst>
                  <a:path w="180975" h="152400">
                    <a:moveTo>
                      <a:pt x="142875" y="0"/>
                    </a:moveTo>
                    <a:lnTo>
                      <a:pt x="0" y="114300"/>
                    </a:lnTo>
                    <a:lnTo>
                      <a:pt x="180975" y="152400"/>
                    </a:lnTo>
                    <a:close/>
                  </a:path>
                </a:pathLst>
              </a:custGeom>
              <a:solidFill>
                <a:schemeClr val="accent3"/>
              </a:solidFill>
              <a:ln>
                <a:noFill/>
              </a:ln>
            </p:spPr>
          </p:sp>
          <p:sp>
            <p:nvSpPr>
              <p:cNvPr id="14" name="Line 14"/>
              <p:cNvSpPr/>
              <p:nvPr/>
            </p:nvSpPr>
            <p:spPr>
              <a:xfrm>
                <a:off x="6972300" y="2171700"/>
                <a:ext cx="1905000" cy="400050"/>
              </a:xfrm>
              <a:custGeom>
                <a:avLst/>
                <a:gdLst/>
                <a:ahLst/>
                <a:cxnLst/>
                <a:rect l="l" t="t" r="r" b="b"/>
                <a:pathLst>
                  <a:path w="1905000" h="400050">
                    <a:moveTo>
                      <a:pt x="0" y="0"/>
                    </a:moveTo>
                    <a:lnTo>
                      <a:pt x="1905000" y="400050"/>
                    </a:lnTo>
                  </a:path>
                </a:pathLst>
              </a:custGeom>
              <a:noFill/>
              <a:ln w="28575">
                <a:solidFill>
                  <a:schemeClr val="accent2"/>
                </a:solidFill>
              </a:ln>
            </p:spPr>
          </p:sp>
          <p:sp>
            <p:nvSpPr>
              <p:cNvPr id="15" name="Polygon 15"/>
              <p:cNvSpPr/>
              <p:nvPr/>
            </p:nvSpPr>
            <p:spPr>
              <a:xfrm>
                <a:off x="8791575" y="2476500"/>
                <a:ext cx="180975" cy="152400"/>
              </a:xfrm>
              <a:custGeom>
                <a:avLst/>
                <a:gdLst/>
                <a:ahLst/>
                <a:cxnLst/>
                <a:rect l="l" t="t" r="r" b="b"/>
                <a:pathLst>
                  <a:path w="180975" h="152400">
                    <a:moveTo>
                      <a:pt x="0" y="0"/>
                    </a:moveTo>
                    <a:lnTo>
                      <a:pt x="180975" y="114300"/>
                    </a:lnTo>
                    <a:lnTo>
                      <a:pt x="38100" y="152400"/>
                    </a:lnTo>
                    <a:close/>
                  </a:path>
                </a:pathLst>
              </a:custGeom>
              <a:solidFill>
                <a:schemeClr val="accent2"/>
              </a:solidFill>
              <a:ln>
                <a:noFill/>
              </a:ln>
            </p:spPr>
          </p:sp>
        </p:grpSp>
      </p:grpSp>
      <p:grpSp>
        <p:nvGrpSpPr>
          <p:cNvPr id="35" name="Group 35"/>
          <p:cNvGrpSpPr/>
          <p:nvPr/>
        </p:nvGrpSpPr>
        <p:grpSpPr>
          <a:xfrm>
            <a:off x="381000" y="2400300"/>
            <a:ext cx="5410200" cy="3352800"/>
            <a:chOff x="381000" y="2400300"/>
            <a:chExt cx="5410200" cy="3352800"/>
          </a:xfrm>
        </p:grpSpPr>
        <p:sp>
          <p:nvSpPr>
            <p:cNvPr id="18" name="Rectangle 18"/>
            <p:cNvSpPr/>
            <p:nvPr/>
          </p:nvSpPr>
          <p:spPr>
            <a:xfrm>
              <a:off x="381000" y="2400300"/>
              <a:ext cx="5410200" cy="3352800"/>
            </a:xfrm>
            <a:prstGeom prst="roundRect">
              <a:avLst>
                <a:gd name="adj" fmla="val 3409"/>
              </a:avLst>
            </a:prstGeom>
            <a:solidFill>
              <a:srgbClr val="FDF4EF"/>
            </a:solidFill>
            <a:ln w="19050">
              <a:solidFill>
                <a:srgbClr val="F0CFC2"/>
              </a:solidFill>
            </a:ln>
          </p:spPr>
        </p:sp>
        <p:sp>
          <p:nvSpPr>
            <p:cNvPr id="19" name="Ellipse 19"/>
            <p:cNvSpPr/>
            <p:nvPr/>
          </p:nvSpPr>
          <p:spPr>
            <a:xfrm>
              <a:off x="590550" y="2609850"/>
              <a:ext cx="457200" cy="457200"/>
            </a:xfrm>
            <a:prstGeom prst="ellipse">
              <a:avLst/>
            </a:prstGeom>
            <a:solidFill>
              <a:schemeClr val="accent3"/>
            </a:solidFill>
            <a:ln>
              <a:noFill/>
            </a:ln>
          </p:spPr>
        </p:sp>
        <p:sp>
          <p:nvSpPr>
            <p:cNvPr id="20" name="TextBox 20"/>
            <p:cNvSpPr txBox="1"/>
            <p:nvPr/>
          </p:nvSpPr>
          <p:spPr>
            <a:xfrm>
              <a:off x="726852" y="2697480"/>
              <a:ext cx="184596" cy="410718"/>
            </a:xfrm>
            <a:prstGeom prst="rect">
              <a:avLst/>
            </a:prstGeom>
            <a:noFill/>
            <a:ln>
              <a:noFill/>
            </a:ln>
          </p:spPr>
          <p:txBody>
            <a:bodyPr wrap="none" lIns="0" tIns="0" rIns="0" bIns="0" anchor="t" anchorCtr="0">
              <a:spAutoFit/>
            </a:bodyPr>
            <a:lstStyle/>
            <a:p>
              <a:pPr algn="ctr"/>
              <a:r>
                <a:rPr lang="zh-CN" sz="2100" b="1" dirty="0">
                  <a:solidFill>
                    <a:srgbClr val="FFFFFF"/>
                  </a:solidFill>
                  <a:latin typeface="+mn-lt"/>
                  <a:ea typeface="+mn-ea"/>
                  <a:cs typeface="+mn-cs"/>
                </a:rPr>
                <a:t>+</a:t>
              </a:r>
            </a:p>
          </p:txBody>
        </p:sp>
        <p:sp>
          <p:nvSpPr>
            <p:cNvPr id="21" name="TextBox 21"/>
            <p:cNvSpPr txBox="1"/>
            <p:nvPr/>
          </p:nvSpPr>
          <p:spPr>
            <a:xfrm>
              <a:off x="1173861" y="2627471"/>
              <a:ext cx="2503559" cy="278702"/>
            </a:xfrm>
            <a:prstGeom prst="rect">
              <a:avLst/>
            </a:prstGeom>
            <a:noFill/>
            <a:ln>
              <a:noFill/>
            </a:ln>
          </p:spPr>
          <p:txBody>
            <a:bodyPr wrap="none" lIns="0" tIns="0" rIns="0" bIns="0" anchor="t" anchorCtr="0">
              <a:spAutoFit/>
            </a:bodyPr>
            <a:lstStyle/>
            <a:p>
              <a:pPr algn="l"/>
              <a:r>
                <a:rPr lang="zh-CN" sz="1420" b="1" dirty="0">
                  <a:solidFill>
                    <a:srgbClr val="C2410C"/>
                  </a:solidFill>
                  <a:latin typeface="+mn-lt"/>
                  <a:ea typeface="+mn-ea"/>
                  <a:cs typeface="+mn-cs"/>
                </a:rPr>
                <a:t>正反馈 | Positive feedback</a:t>
              </a:r>
            </a:p>
          </p:txBody>
        </p:sp>
        <p:sp>
          <p:nvSpPr>
            <p:cNvPr id="22" name="TextBox 22"/>
            <p:cNvSpPr txBox="1"/>
            <p:nvPr/>
          </p:nvSpPr>
          <p:spPr>
            <a:xfrm>
              <a:off x="1175385" y="2926556"/>
              <a:ext cx="1669948" cy="220028"/>
            </a:xfrm>
            <a:prstGeom prst="rect">
              <a:avLst/>
            </a:prstGeom>
            <a:noFill/>
            <a:ln>
              <a:noFill/>
            </a:ln>
          </p:spPr>
          <p:txBody>
            <a:bodyPr wrap="none" lIns="0" tIns="0" rIns="0" bIns="0" anchor="t" anchorCtr="0">
              <a:spAutoFit/>
            </a:bodyPr>
            <a:lstStyle/>
            <a:p>
              <a:pPr algn="l"/>
              <a:r>
                <a:rPr lang="zh-CN" sz="1120" dirty="0">
                  <a:solidFill>
                    <a:srgbClr val="7A4A33"/>
                  </a:solidFill>
                  <a:latin typeface="+mn-lt"/>
                  <a:ea typeface="+mn-ea"/>
                  <a:cs typeface="+mn-cs"/>
                </a:rPr>
                <a:t>诱发变化与初始变化同向</a:t>
              </a:r>
            </a:p>
          </p:txBody>
        </p:sp>
        <p:sp>
          <p:nvSpPr>
            <p:cNvPr id="23" name="Rectangle 23"/>
            <p:cNvSpPr/>
            <p:nvPr/>
          </p:nvSpPr>
          <p:spPr>
            <a:xfrm>
              <a:off x="819150" y="3467100"/>
              <a:ext cx="1809750" cy="723900"/>
            </a:xfrm>
            <a:prstGeom prst="roundRect">
              <a:avLst>
                <a:gd name="adj" fmla="val 15789"/>
              </a:avLst>
            </a:prstGeom>
            <a:solidFill>
              <a:schemeClr val="lt1"/>
            </a:solidFill>
            <a:ln w="9525">
              <a:solidFill>
                <a:srgbClr val="F0CFC2"/>
              </a:solidFill>
            </a:ln>
          </p:spPr>
        </p:sp>
        <p:sp>
          <p:nvSpPr>
            <p:cNvPr id="24" name="TextBox 24"/>
            <p:cNvSpPr txBox="1"/>
            <p:nvPr/>
          </p:nvSpPr>
          <p:spPr>
            <a:xfrm>
              <a:off x="1394841" y="3632835"/>
              <a:ext cx="658368" cy="234696"/>
            </a:xfrm>
            <a:prstGeom prst="rect">
              <a:avLst/>
            </a:prstGeom>
            <a:noFill/>
            <a:ln>
              <a:noFill/>
            </a:ln>
          </p:spPr>
          <p:txBody>
            <a:bodyPr wrap="none" lIns="0" tIns="0" rIns="0" bIns="0" anchor="t" anchorCtr="0">
              <a:spAutoFit/>
            </a:bodyPr>
            <a:lstStyle/>
            <a:p>
              <a:pPr algn="ctr"/>
              <a:r>
                <a:rPr lang="zh-CN" sz="1200" b="1" dirty="0">
                  <a:solidFill>
                    <a:srgbClr val="C2410C"/>
                  </a:solidFill>
                  <a:latin typeface="+mn-lt"/>
                  <a:ea typeface="+mn-ea"/>
                  <a:cs typeface="+mn-cs"/>
                </a:rPr>
                <a:t>诱发变化</a:t>
              </a:r>
            </a:p>
          </p:txBody>
        </p:sp>
        <p:sp>
          <p:nvSpPr>
            <p:cNvPr id="25" name="TextBox 25"/>
            <p:cNvSpPr txBox="1"/>
            <p:nvPr/>
          </p:nvSpPr>
          <p:spPr>
            <a:xfrm>
              <a:off x="1242065" y="3904774"/>
              <a:ext cx="963921" cy="190690"/>
            </a:xfrm>
            <a:prstGeom prst="rect">
              <a:avLst/>
            </a:prstGeom>
            <a:noFill/>
            <a:ln>
              <a:noFill/>
            </a:ln>
          </p:spPr>
          <p:txBody>
            <a:bodyPr wrap="none" lIns="0" tIns="0" rIns="0" bIns="0" anchor="t" anchorCtr="0">
              <a:spAutoFit/>
            </a:bodyPr>
            <a:lstStyle/>
            <a:p>
              <a:pPr algn="ctr"/>
              <a:r>
                <a:rPr lang="zh-CN" sz="980" dirty="0">
                  <a:solidFill>
                    <a:schemeClr val="accent5"/>
                  </a:solidFill>
                  <a:latin typeface="+mn-lt"/>
                  <a:ea typeface="+mn-ea"/>
                  <a:cs typeface="+mn-cs"/>
                </a:rPr>
                <a:t>Induced change</a:t>
              </a:r>
            </a:p>
          </p:txBody>
        </p:sp>
        <p:sp>
          <p:nvSpPr>
            <p:cNvPr id="26" name="Rectangle 26"/>
            <p:cNvSpPr/>
            <p:nvPr/>
          </p:nvSpPr>
          <p:spPr>
            <a:xfrm>
              <a:off x="3543300" y="3467100"/>
              <a:ext cx="1809750" cy="723900"/>
            </a:xfrm>
            <a:prstGeom prst="roundRect">
              <a:avLst>
                <a:gd name="adj" fmla="val 15789"/>
              </a:avLst>
            </a:prstGeom>
            <a:solidFill>
              <a:schemeClr val="accent3"/>
            </a:solidFill>
            <a:ln>
              <a:noFill/>
            </a:ln>
          </p:spPr>
        </p:sp>
        <p:sp>
          <p:nvSpPr>
            <p:cNvPr id="27" name="TextBox 27"/>
            <p:cNvSpPr txBox="1"/>
            <p:nvPr/>
          </p:nvSpPr>
          <p:spPr>
            <a:xfrm>
              <a:off x="4021459" y="3632835"/>
              <a:ext cx="853432" cy="234696"/>
            </a:xfrm>
            <a:prstGeom prst="rect">
              <a:avLst/>
            </a:prstGeom>
            <a:noFill/>
            <a:ln>
              <a:noFill/>
            </a:ln>
          </p:spPr>
          <p:txBody>
            <a:bodyPr wrap="none" lIns="0" tIns="0" rIns="0" bIns="0" anchor="t" anchorCtr="0">
              <a:spAutoFit/>
            </a:bodyPr>
            <a:lstStyle/>
            <a:p>
              <a:pPr algn="ctr"/>
              <a:r>
                <a:rPr lang="zh-CN" sz="1200" b="1" dirty="0">
                  <a:solidFill>
                    <a:srgbClr val="FFFFFF"/>
                  </a:solidFill>
                  <a:latin typeface="+mn-lt"/>
                  <a:ea typeface="+mn-ea"/>
                  <a:cs typeface="+mn-cs"/>
                </a:rPr>
                <a:t>放大 / 加强</a:t>
              </a:r>
            </a:p>
          </p:txBody>
        </p:sp>
        <p:sp>
          <p:nvSpPr>
            <p:cNvPr id="28" name="TextBox 28"/>
            <p:cNvSpPr txBox="1"/>
            <p:nvPr/>
          </p:nvSpPr>
          <p:spPr>
            <a:xfrm>
              <a:off x="3728691" y="3904774"/>
              <a:ext cx="1438969" cy="190690"/>
            </a:xfrm>
            <a:prstGeom prst="rect">
              <a:avLst/>
            </a:prstGeom>
            <a:noFill/>
            <a:ln>
              <a:noFill/>
            </a:ln>
          </p:spPr>
          <p:txBody>
            <a:bodyPr wrap="none" lIns="0" tIns="0" rIns="0" bIns="0" anchor="t" anchorCtr="0">
              <a:spAutoFit/>
            </a:bodyPr>
            <a:lstStyle/>
            <a:p>
              <a:pPr algn="ctr"/>
              <a:r>
                <a:rPr lang="zh-CN" sz="980" dirty="0">
                  <a:solidFill>
                    <a:srgbClr val="FFFFFF"/>
                  </a:solidFill>
                  <a:latin typeface="+mn-lt"/>
                  <a:ea typeface="+mn-ea"/>
                  <a:cs typeface="+mn-cs"/>
                </a:rPr>
                <a:t>Amplifies / reinforces</a:t>
              </a:r>
            </a:p>
          </p:txBody>
        </p:sp>
        <p:sp>
          <p:nvSpPr>
            <p:cNvPr id="29" name="Line 29"/>
            <p:cNvSpPr/>
            <p:nvPr/>
          </p:nvSpPr>
          <p:spPr>
            <a:xfrm>
              <a:off x="2628900" y="3829050"/>
              <a:ext cx="819150" cy="9525"/>
            </a:xfrm>
            <a:custGeom>
              <a:avLst/>
              <a:gdLst/>
              <a:ahLst/>
              <a:cxnLst/>
              <a:rect l="l" t="t" r="r" b="b"/>
              <a:pathLst>
                <a:path w="819150" h="9525">
                  <a:moveTo>
                    <a:pt x="0" y="0"/>
                  </a:moveTo>
                  <a:lnTo>
                    <a:pt x="819150" y="0"/>
                  </a:lnTo>
                </a:path>
              </a:pathLst>
            </a:custGeom>
            <a:noFill/>
            <a:ln w="47625">
              <a:solidFill>
                <a:schemeClr val="accent3"/>
              </a:solidFill>
            </a:ln>
          </p:spPr>
        </p:sp>
        <p:sp>
          <p:nvSpPr>
            <p:cNvPr id="30" name="Polygon 30"/>
            <p:cNvSpPr/>
            <p:nvPr/>
          </p:nvSpPr>
          <p:spPr>
            <a:xfrm>
              <a:off x="3333750" y="3724275"/>
              <a:ext cx="180975" cy="209550"/>
            </a:xfrm>
            <a:custGeom>
              <a:avLst/>
              <a:gdLst/>
              <a:ahLst/>
              <a:cxnLst/>
              <a:rect l="l" t="t" r="r" b="b"/>
              <a:pathLst>
                <a:path w="180975" h="209550">
                  <a:moveTo>
                    <a:pt x="0" y="0"/>
                  </a:moveTo>
                  <a:lnTo>
                    <a:pt x="180975" y="104775"/>
                  </a:lnTo>
                  <a:lnTo>
                    <a:pt x="0" y="209550"/>
                  </a:lnTo>
                  <a:close/>
                </a:path>
              </a:pathLst>
            </a:custGeom>
            <a:solidFill>
              <a:schemeClr val="accent3"/>
            </a:solidFill>
            <a:ln>
              <a:noFill/>
            </a:ln>
          </p:spPr>
        </p:sp>
        <p:sp>
          <p:nvSpPr>
            <p:cNvPr id="31" name="Freeform 31"/>
            <p:cNvSpPr/>
            <p:nvPr/>
          </p:nvSpPr>
          <p:spPr>
            <a:xfrm>
              <a:off x="1724025" y="4191000"/>
              <a:ext cx="2724150" cy="781050"/>
            </a:xfrm>
            <a:custGeom>
              <a:avLst/>
              <a:gdLst/>
              <a:ahLst/>
              <a:cxnLst/>
              <a:rect l="l" t="t" r="r" b="b"/>
              <a:pathLst>
                <a:path w="2724150" h="781050">
                  <a:moveTo>
                    <a:pt x="2724150" y="0"/>
                  </a:moveTo>
                  <a:cubicBezTo>
                    <a:pt x="2724150" y="781050"/>
                    <a:pt x="0" y="781050"/>
                    <a:pt x="0" y="95250"/>
                  </a:cubicBezTo>
                </a:path>
              </a:pathLst>
            </a:custGeom>
            <a:noFill/>
            <a:ln w="38100">
              <a:solidFill>
                <a:schemeClr val="accent3"/>
              </a:solidFill>
            </a:ln>
          </p:spPr>
        </p:sp>
        <p:sp>
          <p:nvSpPr>
            <p:cNvPr id="32" name="Polygon 32"/>
            <p:cNvSpPr/>
            <p:nvPr/>
          </p:nvSpPr>
          <p:spPr>
            <a:xfrm>
              <a:off x="1619250" y="4219575"/>
              <a:ext cx="209550" cy="180975"/>
            </a:xfrm>
            <a:custGeom>
              <a:avLst/>
              <a:gdLst/>
              <a:ahLst/>
              <a:cxnLst/>
              <a:rect l="l" t="t" r="r" b="b"/>
              <a:pathLst>
                <a:path w="209550" h="180975">
                  <a:moveTo>
                    <a:pt x="0" y="180975"/>
                  </a:moveTo>
                  <a:lnTo>
                    <a:pt x="104775" y="0"/>
                  </a:lnTo>
                  <a:lnTo>
                    <a:pt x="209550" y="180975"/>
                  </a:lnTo>
                  <a:close/>
                </a:path>
              </a:pathLst>
            </a:custGeom>
            <a:solidFill>
              <a:schemeClr val="accent3"/>
            </a:solidFill>
            <a:ln>
              <a:noFill/>
            </a:ln>
          </p:spPr>
        </p:sp>
        <p:sp>
          <p:nvSpPr>
            <p:cNvPr id="33" name="Rectangle 33"/>
            <p:cNvSpPr/>
            <p:nvPr/>
          </p:nvSpPr>
          <p:spPr>
            <a:xfrm>
              <a:off x="1200150" y="4991100"/>
              <a:ext cx="3771900" cy="476250"/>
            </a:xfrm>
            <a:prstGeom prst="roundRect">
              <a:avLst>
                <a:gd name="adj" fmla="val 20000"/>
              </a:avLst>
            </a:prstGeom>
            <a:solidFill>
              <a:srgbClr val="FDECDD"/>
            </a:solidFill>
            <a:ln>
              <a:noFill/>
            </a:ln>
          </p:spPr>
        </p:sp>
        <p:sp>
          <p:nvSpPr>
            <p:cNvPr id="34" name="TextBox 34"/>
            <p:cNvSpPr txBox="1"/>
            <p:nvPr/>
          </p:nvSpPr>
          <p:spPr>
            <a:xfrm>
              <a:off x="2029968" y="5166360"/>
              <a:ext cx="2112264" cy="234696"/>
            </a:xfrm>
            <a:prstGeom prst="rect">
              <a:avLst/>
            </a:prstGeom>
            <a:noFill/>
            <a:ln>
              <a:noFill/>
            </a:ln>
          </p:spPr>
          <p:txBody>
            <a:bodyPr wrap="none" lIns="0" tIns="0" rIns="0" bIns="0" anchor="t" anchorCtr="0">
              <a:spAutoFit/>
            </a:bodyPr>
            <a:lstStyle/>
            <a:p>
              <a:pPr algn="ctr"/>
              <a:r>
                <a:rPr lang="zh-CN" sz="1200" b="1" dirty="0">
                  <a:solidFill>
                    <a:srgbClr val="C2410C"/>
                  </a:solidFill>
                  <a:latin typeface="+mn-lt"/>
                  <a:ea typeface="+mn-ea"/>
                  <a:cs typeface="+mn-cs"/>
                </a:rPr>
                <a:t>最终作用：沿原方向继续推进</a:t>
              </a:r>
            </a:p>
          </p:txBody>
        </p:sp>
      </p:grpSp>
      <p:grpSp>
        <p:nvGrpSpPr>
          <p:cNvPr id="53" name="Group 53"/>
          <p:cNvGrpSpPr/>
          <p:nvPr/>
        </p:nvGrpSpPr>
        <p:grpSpPr>
          <a:xfrm>
            <a:off x="6400800" y="2400300"/>
            <a:ext cx="5410200" cy="3352800"/>
            <a:chOff x="6400800" y="2400300"/>
            <a:chExt cx="5410200" cy="3352800"/>
          </a:xfrm>
        </p:grpSpPr>
        <p:sp>
          <p:nvSpPr>
            <p:cNvPr id="36" name="Rectangle 36"/>
            <p:cNvSpPr/>
            <p:nvPr/>
          </p:nvSpPr>
          <p:spPr>
            <a:xfrm>
              <a:off x="6400800" y="2400300"/>
              <a:ext cx="5410200" cy="3352800"/>
            </a:xfrm>
            <a:prstGeom prst="roundRect">
              <a:avLst>
                <a:gd name="adj" fmla="val 3409"/>
              </a:avLst>
            </a:prstGeom>
            <a:solidFill>
              <a:srgbClr val="F0F5FC"/>
            </a:solidFill>
            <a:ln w="19050">
              <a:solidFill>
                <a:srgbClr val="B8C7DC"/>
              </a:solidFill>
            </a:ln>
          </p:spPr>
        </p:sp>
        <p:sp>
          <p:nvSpPr>
            <p:cNvPr id="37" name="Ellipse 37"/>
            <p:cNvSpPr/>
            <p:nvPr/>
          </p:nvSpPr>
          <p:spPr>
            <a:xfrm>
              <a:off x="6610350" y="2609850"/>
              <a:ext cx="457200" cy="457200"/>
            </a:xfrm>
            <a:prstGeom prst="ellipse">
              <a:avLst/>
            </a:prstGeom>
            <a:solidFill>
              <a:schemeClr val="accent2"/>
            </a:solidFill>
            <a:ln>
              <a:noFill/>
            </a:ln>
          </p:spPr>
        </p:sp>
        <p:sp>
          <p:nvSpPr>
            <p:cNvPr id="38" name="TextBox 38"/>
            <p:cNvSpPr txBox="1"/>
            <p:nvPr/>
          </p:nvSpPr>
          <p:spPr>
            <a:xfrm>
              <a:off x="6746652" y="2678430"/>
              <a:ext cx="184596" cy="410718"/>
            </a:xfrm>
            <a:prstGeom prst="rect">
              <a:avLst/>
            </a:prstGeom>
            <a:noFill/>
            <a:ln>
              <a:noFill/>
            </a:ln>
          </p:spPr>
          <p:txBody>
            <a:bodyPr wrap="none" lIns="0" tIns="0" rIns="0" bIns="0" anchor="t" anchorCtr="0">
              <a:spAutoFit/>
            </a:bodyPr>
            <a:lstStyle/>
            <a:p>
              <a:pPr algn="ctr"/>
              <a:r>
                <a:rPr lang="zh-CN" sz="2100" b="1" dirty="0">
                  <a:solidFill>
                    <a:srgbClr val="FFFFFF"/>
                  </a:solidFill>
                  <a:latin typeface="+mn-lt"/>
                  <a:ea typeface="+mn-ea"/>
                  <a:cs typeface="+mn-cs"/>
                </a:rPr>
                <a:t>−</a:t>
              </a:r>
            </a:p>
          </p:txBody>
        </p:sp>
        <p:sp>
          <p:nvSpPr>
            <p:cNvPr id="39" name="TextBox 39"/>
            <p:cNvSpPr txBox="1"/>
            <p:nvPr/>
          </p:nvSpPr>
          <p:spPr>
            <a:xfrm>
              <a:off x="7193661" y="2627471"/>
              <a:ext cx="2553916" cy="278702"/>
            </a:xfrm>
            <a:prstGeom prst="rect">
              <a:avLst/>
            </a:prstGeom>
            <a:noFill/>
            <a:ln>
              <a:noFill/>
            </a:ln>
          </p:spPr>
          <p:txBody>
            <a:bodyPr wrap="none" lIns="0" tIns="0" rIns="0" bIns="0" anchor="t" anchorCtr="0">
              <a:spAutoFit/>
            </a:bodyPr>
            <a:lstStyle/>
            <a:p>
              <a:pPr algn="l"/>
              <a:r>
                <a:rPr lang="zh-CN" sz="1420" b="1" dirty="0">
                  <a:solidFill>
                    <a:schemeClr val="accent1"/>
                  </a:solidFill>
                  <a:latin typeface="+mn-lt"/>
                  <a:ea typeface="+mn-ea"/>
                  <a:cs typeface="+mn-cs"/>
                </a:rPr>
                <a:t>负反馈 | Negative feedback</a:t>
              </a:r>
            </a:p>
          </p:txBody>
        </p:sp>
        <p:sp>
          <p:nvSpPr>
            <p:cNvPr id="40" name="TextBox 40"/>
            <p:cNvSpPr txBox="1"/>
            <p:nvPr/>
          </p:nvSpPr>
          <p:spPr>
            <a:xfrm>
              <a:off x="7195185" y="2926556"/>
              <a:ext cx="1519174" cy="220028"/>
            </a:xfrm>
            <a:prstGeom prst="rect">
              <a:avLst/>
            </a:prstGeom>
            <a:noFill/>
            <a:ln>
              <a:noFill/>
            </a:ln>
          </p:spPr>
          <p:txBody>
            <a:bodyPr wrap="none" lIns="0" tIns="0" rIns="0" bIns="0" anchor="t" anchorCtr="0">
              <a:spAutoFit/>
            </a:bodyPr>
            <a:lstStyle/>
            <a:p>
              <a:pPr algn="l"/>
              <a:r>
                <a:rPr lang="zh-CN" sz="1120" dirty="0">
                  <a:solidFill>
                    <a:schemeClr val="accent5"/>
                  </a:solidFill>
                  <a:latin typeface="+mn-lt"/>
                  <a:ea typeface="+mn-ea"/>
                  <a:cs typeface="+mn-cs"/>
                </a:rPr>
                <a:t>诱发作用反对初始变化</a:t>
              </a:r>
            </a:p>
          </p:txBody>
        </p:sp>
        <p:sp>
          <p:nvSpPr>
            <p:cNvPr id="41" name="Rectangle 41"/>
            <p:cNvSpPr/>
            <p:nvPr/>
          </p:nvSpPr>
          <p:spPr>
            <a:xfrm>
              <a:off x="6838950" y="3467100"/>
              <a:ext cx="1809750" cy="723900"/>
            </a:xfrm>
            <a:prstGeom prst="roundRect">
              <a:avLst>
                <a:gd name="adj" fmla="val 15789"/>
              </a:avLst>
            </a:prstGeom>
            <a:solidFill>
              <a:schemeClr val="lt1"/>
            </a:solidFill>
            <a:ln w="9525">
              <a:solidFill>
                <a:srgbClr val="B8C7DC"/>
              </a:solidFill>
            </a:ln>
          </p:spPr>
        </p:sp>
        <p:sp>
          <p:nvSpPr>
            <p:cNvPr id="42" name="TextBox 42"/>
            <p:cNvSpPr txBox="1"/>
            <p:nvPr/>
          </p:nvSpPr>
          <p:spPr>
            <a:xfrm>
              <a:off x="7414641" y="3632835"/>
              <a:ext cx="658368" cy="234696"/>
            </a:xfrm>
            <a:prstGeom prst="rect">
              <a:avLst/>
            </a:prstGeom>
            <a:noFill/>
            <a:ln>
              <a:noFill/>
            </a:ln>
          </p:spPr>
          <p:txBody>
            <a:bodyPr wrap="none" lIns="0" tIns="0" rIns="0" bIns="0" anchor="t" anchorCtr="0">
              <a:spAutoFit/>
            </a:bodyPr>
            <a:lstStyle/>
            <a:p>
              <a:pPr algn="ctr"/>
              <a:r>
                <a:rPr lang="zh-CN" sz="1200" b="1" dirty="0">
                  <a:solidFill>
                    <a:schemeClr val="accent1"/>
                  </a:solidFill>
                  <a:latin typeface="+mn-lt"/>
                  <a:ea typeface="+mn-ea"/>
                  <a:cs typeface="+mn-cs"/>
                </a:rPr>
                <a:t>诱发变化</a:t>
              </a:r>
            </a:p>
          </p:txBody>
        </p:sp>
        <p:sp>
          <p:nvSpPr>
            <p:cNvPr id="43" name="TextBox 43"/>
            <p:cNvSpPr txBox="1"/>
            <p:nvPr/>
          </p:nvSpPr>
          <p:spPr>
            <a:xfrm>
              <a:off x="7261865" y="3904774"/>
              <a:ext cx="963921" cy="190690"/>
            </a:xfrm>
            <a:prstGeom prst="rect">
              <a:avLst/>
            </a:prstGeom>
            <a:noFill/>
            <a:ln>
              <a:noFill/>
            </a:ln>
          </p:spPr>
          <p:txBody>
            <a:bodyPr wrap="none" lIns="0" tIns="0" rIns="0" bIns="0" anchor="t" anchorCtr="0">
              <a:spAutoFit/>
            </a:bodyPr>
            <a:lstStyle/>
            <a:p>
              <a:pPr algn="ctr"/>
              <a:r>
                <a:rPr lang="zh-CN" sz="980" dirty="0">
                  <a:solidFill>
                    <a:schemeClr val="accent5"/>
                  </a:solidFill>
                  <a:latin typeface="+mn-lt"/>
                  <a:ea typeface="+mn-ea"/>
                  <a:cs typeface="+mn-cs"/>
                </a:rPr>
                <a:t>Induced change</a:t>
              </a:r>
            </a:p>
          </p:txBody>
        </p:sp>
        <p:sp>
          <p:nvSpPr>
            <p:cNvPr id="44" name="Rectangle 44"/>
            <p:cNvSpPr/>
            <p:nvPr/>
          </p:nvSpPr>
          <p:spPr>
            <a:xfrm>
              <a:off x="9563100" y="3467100"/>
              <a:ext cx="1809750" cy="723900"/>
            </a:xfrm>
            <a:prstGeom prst="roundRect">
              <a:avLst>
                <a:gd name="adj" fmla="val 15789"/>
              </a:avLst>
            </a:prstGeom>
            <a:solidFill>
              <a:schemeClr val="accent2"/>
            </a:solidFill>
            <a:ln>
              <a:noFill/>
            </a:ln>
          </p:spPr>
        </p:sp>
        <p:sp>
          <p:nvSpPr>
            <p:cNvPr id="45" name="TextBox 45"/>
            <p:cNvSpPr txBox="1"/>
            <p:nvPr/>
          </p:nvSpPr>
          <p:spPr>
            <a:xfrm>
              <a:off x="10041259" y="3632835"/>
              <a:ext cx="853432" cy="234696"/>
            </a:xfrm>
            <a:prstGeom prst="rect">
              <a:avLst/>
            </a:prstGeom>
            <a:noFill/>
            <a:ln>
              <a:noFill/>
            </a:ln>
          </p:spPr>
          <p:txBody>
            <a:bodyPr wrap="none" lIns="0" tIns="0" rIns="0" bIns="0" anchor="t" anchorCtr="0">
              <a:spAutoFit/>
            </a:bodyPr>
            <a:lstStyle/>
            <a:p>
              <a:pPr algn="ctr"/>
              <a:r>
                <a:rPr lang="zh-CN" sz="1200" b="1" dirty="0">
                  <a:solidFill>
                    <a:srgbClr val="FFFFFF"/>
                  </a:solidFill>
                  <a:latin typeface="+mn-lt"/>
                  <a:ea typeface="+mn-ea"/>
                  <a:cs typeface="+mn-cs"/>
                </a:rPr>
                <a:t>抑制 / 稳定</a:t>
              </a:r>
            </a:p>
          </p:txBody>
        </p:sp>
        <p:sp>
          <p:nvSpPr>
            <p:cNvPr id="46" name="TextBox 46"/>
            <p:cNvSpPr txBox="1"/>
            <p:nvPr/>
          </p:nvSpPr>
          <p:spPr>
            <a:xfrm>
              <a:off x="9804497" y="3904774"/>
              <a:ext cx="1326956" cy="190690"/>
            </a:xfrm>
            <a:prstGeom prst="rect">
              <a:avLst/>
            </a:prstGeom>
            <a:noFill/>
            <a:ln>
              <a:noFill/>
            </a:ln>
          </p:spPr>
          <p:txBody>
            <a:bodyPr wrap="none" lIns="0" tIns="0" rIns="0" bIns="0" anchor="t" anchorCtr="0">
              <a:spAutoFit/>
            </a:bodyPr>
            <a:lstStyle/>
            <a:p>
              <a:pPr algn="ctr"/>
              <a:r>
                <a:rPr lang="zh-CN" sz="980" dirty="0">
                  <a:solidFill>
                    <a:srgbClr val="FFFFFF"/>
                  </a:solidFill>
                  <a:latin typeface="+mn-lt"/>
                  <a:ea typeface="+mn-ea"/>
                  <a:cs typeface="+mn-cs"/>
                </a:rPr>
                <a:t>Opposes / stabilizes</a:t>
              </a:r>
            </a:p>
          </p:txBody>
        </p:sp>
        <p:sp>
          <p:nvSpPr>
            <p:cNvPr id="47" name="Line 47"/>
            <p:cNvSpPr/>
            <p:nvPr/>
          </p:nvSpPr>
          <p:spPr>
            <a:xfrm>
              <a:off x="8648700" y="3829050"/>
              <a:ext cx="819150" cy="9525"/>
            </a:xfrm>
            <a:custGeom>
              <a:avLst/>
              <a:gdLst/>
              <a:ahLst/>
              <a:cxnLst/>
              <a:rect l="l" t="t" r="r" b="b"/>
              <a:pathLst>
                <a:path w="819150" h="9525">
                  <a:moveTo>
                    <a:pt x="0" y="0"/>
                  </a:moveTo>
                  <a:lnTo>
                    <a:pt x="819150" y="0"/>
                  </a:lnTo>
                </a:path>
              </a:pathLst>
            </a:custGeom>
            <a:noFill/>
            <a:ln w="47625">
              <a:solidFill>
                <a:schemeClr val="accent2"/>
              </a:solidFill>
            </a:ln>
          </p:spPr>
        </p:sp>
        <p:sp>
          <p:nvSpPr>
            <p:cNvPr id="48" name="Polygon 48"/>
            <p:cNvSpPr/>
            <p:nvPr/>
          </p:nvSpPr>
          <p:spPr>
            <a:xfrm>
              <a:off x="9353550" y="3724275"/>
              <a:ext cx="180975" cy="209550"/>
            </a:xfrm>
            <a:custGeom>
              <a:avLst/>
              <a:gdLst/>
              <a:ahLst/>
              <a:cxnLst/>
              <a:rect l="l" t="t" r="r" b="b"/>
              <a:pathLst>
                <a:path w="180975" h="209550">
                  <a:moveTo>
                    <a:pt x="0" y="0"/>
                  </a:moveTo>
                  <a:lnTo>
                    <a:pt x="180975" y="104775"/>
                  </a:lnTo>
                  <a:lnTo>
                    <a:pt x="0" y="209550"/>
                  </a:lnTo>
                  <a:close/>
                </a:path>
              </a:pathLst>
            </a:custGeom>
            <a:solidFill>
              <a:schemeClr val="accent2"/>
            </a:solidFill>
            <a:ln>
              <a:noFill/>
            </a:ln>
          </p:spPr>
        </p:sp>
        <p:sp>
          <p:nvSpPr>
            <p:cNvPr id="49" name="Freeform 49"/>
            <p:cNvSpPr/>
            <p:nvPr/>
          </p:nvSpPr>
          <p:spPr>
            <a:xfrm>
              <a:off x="7743825" y="4191000"/>
              <a:ext cx="2724150" cy="781050"/>
            </a:xfrm>
            <a:custGeom>
              <a:avLst/>
              <a:gdLst/>
              <a:ahLst/>
              <a:cxnLst/>
              <a:rect l="l" t="t" r="r" b="b"/>
              <a:pathLst>
                <a:path w="2724150" h="781050">
                  <a:moveTo>
                    <a:pt x="2724150" y="0"/>
                  </a:moveTo>
                  <a:cubicBezTo>
                    <a:pt x="2724150" y="781050"/>
                    <a:pt x="0" y="781050"/>
                    <a:pt x="0" y="95250"/>
                  </a:cubicBezTo>
                </a:path>
              </a:pathLst>
            </a:custGeom>
            <a:noFill/>
            <a:ln w="38100">
              <a:solidFill>
                <a:schemeClr val="accent2"/>
              </a:solidFill>
            </a:ln>
          </p:spPr>
        </p:sp>
        <p:sp>
          <p:nvSpPr>
            <p:cNvPr id="50" name="Polygon 50"/>
            <p:cNvSpPr/>
            <p:nvPr/>
          </p:nvSpPr>
          <p:spPr>
            <a:xfrm>
              <a:off x="7639050" y="4219575"/>
              <a:ext cx="209550" cy="180975"/>
            </a:xfrm>
            <a:custGeom>
              <a:avLst/>
              <a:gdLst/>
              <a:ahLst/>
              <a:cxnLst/>
              <a:rect l="l" t="t" r="r" b="b"/>
              <a:pathLst>
                <a:path w="209550" h="180975">
                  <a:moveTo>
                    <a:pt x="0" y="180975"/>
                  </a:moveTo>
                  <a:lnTo>
                    <a:pt x="104775" y="0"/>
                  </a:lnTo>
                  <a:lnTo>
                    <a:pt x="209550" y="180975"/>
                  </a:lnTo>
                  <a:close/>
                </a:path>
              </a:pathLst>
            </a:custGeom>
            <a:solidFill>
              <a:schemeClr val="accent2"/>
            </a:solidFill>
            <a:ln>
              <a:noFill/>
            </a:ln>
          </p:spPr>
        </p:sp>
        <p:sp>
          <p:nvSpPr>
            <p:cNvPr id="51" name="Rectangle 51"/>
            <p:cNvSpPr/>
            <p:nvPr/>
          </p:nvSpPr>
          <p:spPr>
            <a:xfrm>
              <a:off x="7219950" y="4991100"/>
              <a:ext cx="3771900" cy="476250"/>
            </a:xfrm>
            <a:prstGeom prst="roundRect">
              <a:avLst>
                <a:gd name="adj" fmla="val 20000"/>
              </a:avLst>
            </a:prstGeom>
            <a:solidFill>
              <a:srgbClr val="DCEAF8"/>
            </a:solidFill>
            <a:ln>
              <a:noFill/>
            </a:ln>
          </p:spPr>
        </p:sp>
        <p:sp>
          <p:nvSpPr>
            <p:cNvPr id="52" name="TextBox 52"/>
            <p:cNvSpPr txBox="1"/>
            <p:nvPr/>
          </p:nvSpPr>
          <p:spPr>
            <a:xfrm>
              <a:off x="7888224" y="5166360"/>
              <a:ext cx="2435352" cy="234696"/>
            </a:xfrm>
            <a:prstGeom prst="rect">
              <a:avLst/>
            </a:prstGeom>
            <a:noFill/>
            <a:ln>
              <a:noFill/>
            </a:ln>
          </p:spPr>
          <p:txBody>
            <a:bodyPr wrap="none" lIns="0" tIns="0" rIns="0" bIns="0" anchor="t" anchorCtr="0">
              <a:spAutoFit/>
            </a:bodyPr>
            <a:lstStyle/>
            <a:p>
              <a:pPr algn="ctr"/>
              <a:r>
                <a:rPr lang="zh-CN" sz="1200" b="1" dirty="0">
                  <a:solidFill>
                    <a:schemeClr val="accent1"/>
                  </a:solidFill>
                  <a:latin typeface="+mn-lt"/>
                  <a:ea typeface="+mn-ea"/>
                  <a:cs typeface="+mn-cs"/>
                </a:rPr>
                <a:t>最终作用：把系统拉回原状态附近</a:t>
              </a:r>
            </a:p>
          </p:txBody>
        </p:sp>
      </p:grpSp>
      <p:grpSp>
        <p:nvGrpSpPr>
          <p:cNvPr id="62" name="Group 62"/>
          <p:cNvGrpSpPr/>
          <p:nvPr/>
        </p:nvGrpSpPr>
        <p:grpSpPr>
          <a:xfrm>
            <a:off x="1365885" y="6069806"/>
            <a:ext cx="7450771" cy="220028"/>
            <a:chOff x="1365885" y="6069806"/>
            <a:chExt cx="7450771" cy="220028"/>
          </a:xfrm>
        </p:grpSpPr>
        <p:sp>
          <p:nvSpPr>
            <p:cNvPr id="54" name="TextBox 54"/>
            <p:cNvSpPr txBox="1"/>
            <p:nvPr/>
          </p:nvSpPr>
          <p:spPr>
            <a:xfrm>
              <a:off x="1365885" y="6069806"/>
              <a:ext cx="614528" cy="220028"/>
            </a:xfrm>
            <a:prstGeom prst="rect">
              <a:avLst/>
            </a:prstGeom>
            <a:noFill/>
            <a:ln>
              <a:noFill/>
            </a:ln>
          </p:spPr>
          <p:txBody>
            <a:bodyPr wrap="none" lIns="0" tIns="0" rIns="0" bIns="0" anchor="t" anchorCtr="0">
              <a:spAutoFit/>
            </a:bodyPr>
            <a:lstStyle/>
            <a:p>
              <a:pPr algn="l"/>
              <a:r>
                <a:rPr lang="zh-CN" sz="1120" b="1" dirty="0">
                  <a:solidFill>
                    <a:schemeClr val="dk1"/>
                  </a:solidFill>
                  <a:latin typeface="+mn-lt"/>
                  <a:ea typeface="+mn-ea"/>
                  <a:cs typeface="+mn-cs"/>
                </a:rPr>
                <a:t>判断步骤</a:t>
              </a:r>
            </a:p>
          </p:txBody>
        </p:sp>
        <p:sp>
          <p:nvSpPr>
            <p:cNvPr id="55" name="TextBox 55"/>
            <p:cNvSpPr txBox="1"/>
            <p:nvPr/>
          </p:nvSpPr>
          <p:spPr>
            <a:xfrm>
              <a:off x="2261235" y="6069806"/>
              <a:ext cx="765302" cy="220028"/>
            </a:xfrm>
            <a:prstGeom prst="rect">
              <a:avLst/>
            </a:prstGeom>
            <a:noFill/>
            <a:ln>
              <a:noFill/>
            </a:ln>
          </p:spPr>
          <p:txBody>
            <a:bodyPr wrap="none" lIns="0" tIns="0" rIns="0" bIns="0" anchor="t" anchorCtr="0">
              <a:spAutoFit/>
            </a:bodyPr>
            <a:lstStyle/>
            <a:p>
              <a:pPr algn="l"/>
              <a:r>
                <a:rPr lang="zh-CN" sz="1120" dirty="0">
                  <a:solidFill>
                    <a:schemeClr val="accent5"/>
                  </a:solidFill>
                  <a:latin typeface="+mn-lt"/>
                  <a:ea typeface="+mn-ea"/>
                  <a:cs typeface="+mn-cs"/>
                </a:rPr>
                <a:t>找初始变化</a:t>
              </a:r>
            </a:p>
          </p:txBody>
        </p:sp>
        <p:sp>
          <p:nvSpPr>
            <p:cNvPr id="56" name="TextBox 56"/>
            <p:cNvSpPr txBox="1"/>
            <p:nvPr/>
          </p:nvSpPr>
          <p:spPr>
            <a:xfrm>
              <a:off x="3328035" y="6069806"/>
              <a:ext cx="94356" cy="220028"/>
            </a:xfrm>
            <a:prstGeom prst="rect">
              <a:avLst/>
            </a:prstGeom>
            <a:noFill/>
            <a:ln>
              <a:noFill/>
            </a:ln>
          </p:spPr>
          <p:txBody>
            <a:bodyPr wrap="none" lIns="0" tIns="0" rIns="0" bIns="0" anchor="t" anchorCtr="0">
              <a:spAutoFit/>
            </a:bodyPr>
            <a:lstStyle/>
            <a:p>
              <a:pPr algn="l"/>
              <a:r>
                <a:rPr lang="zh-CN" sz="1120" dirty="0">
                  <a:solidFill>
                    <a:schemeClr val="accent3"/>
                  </a:solidFill>
                  <a:latin typeface="+mn-lt"/>
                  <a:ea typeface="+mn-ea"/>
                  <a:cs typeface="+mn-cs"/>
                </a:rPr>
                <a:t>→</a:t>
              </a:r>
            </a:p>
          </p:txBody>
        </p:sp>
        <p:sp>
          <p:nvSpPr>
            <p:cNvPr id="57" name="TextBox 57"/>
            <p:cNvSpPr txBox="1"/>
            <p:nvPr/>
          </p:nvSpPr>
          <p:spPr>
            <a:xfrm>
              <a:off x="3651885" y="6069806"/>
              <a:ext cx="916076" cy="220028"/>
            </a:xfrm>
            <a:prstGeom prst="rect">
              <a:avLst/>
            </a:prstGeom>
            <a:noFill/>
            <a:ln>
              <a:noFill/>
            </a:ln>
          </p:spPr>
          <p:txBody>
            <a:bodyPr wrap="none" lIns="0" tIns="0" rIns="0" bIns="0" anchor="t" anchorCtr="0">
              <a:spAutoFit/>
            </a:bodyPr>
            <a:lstStyle/>
            <a:p>
              <a:pPr algn="l"/>
              <a:r>
                <a:rPr lang="zh-CN" sz="1120" dirty="0">
                  <a:solidFill>
                    <a:schemeClr val="accent5"/>
                  </a:solidFill>
                  <a:latin typeface="+mn-lt"/>
                  <a:ea typeface="+mn-ea"/>
                  <a:cs typeface="+mn-cs"/>
                </a:rPr>
                <a:t>跟踪诱发变化</a:t>
              </a:r>
            </a:p>
          </p:txBody>
        </p:sp>
        <p:sp>
          <p:nvSpPr>
            <p:cNvPr id="58" name="TextBox 58"/>
            <p:cNvSpPr txBox="1"/>
            <p:nvPr/>
          </p:nvSpPr>
          <p:spPr>
            <a:xfrm>
              <a:off x="5004435" y="6069806"/>
              <a:ext cx="94356" cy="220028"/>
            </a:xfrm>
            <a:prstGeom prst="rect">
              <a:avLst/>
            </a:prstGeom>
            <a:noFill/>
            <a:ln>
              <a:noFill/>
            </a:ln>
          </p:spPr>
          <p:txBody>
            <a:bodyPr wrap="none" lIns="0" tIns="0" rIns="0" bIns="0" anchor="t" anchorCtr="0">
              <a:spAutoFit/>
            </a:bodyPr>
            <a:lstStyle/>
            <a:p>
              <a:pPr algn="l"/>
              <a:r>
                <a:rPr lang="zh-CN" sz="1120" dirty="0">
                  <a:solidFill>
                    <a:schemeClr val="accent3"/>
                  </a:solidFill>
                  <a:latin typeface="+mn-lt"/>
                  <a:ea typeface="+mn-ea"/>
                  <a:cs typeface="+mn-cs"/>
                </a:rPr>
                <a:t>→</a:t>
              </a:r>
            </a:p>
          </p:txBody>
        </p:sp>
        <p:sp>
          <p:nvSpPr>
            <p:cNvPr id="59" name="TextBox 59"/>
            <p:cNvSpPr txBox="1"/>
            <p:nvPr/>
          </p:nvSpPr>
          <p:spPr>
            <a:xfrm>
              <a:off x="5328285" y="6069806"/>
              <a:ext cx="1217625" cy="220028"/>
            </a:xfrm>
            <a:prstGeom prst="rect">
              <a:avLst/>
            </a:prstGeom>
            <a:noFill/>
            <a:ln>
              <a:noFill/>
            </a:ln>
          </p:spPr>
          <p:txBody>
            <a:bodyPr wrap="none" lIns="0" tIns="0" rIns="0" bIns="0" anchor="t" anchorCtr="0">
              <a:spAutoFit/>
            </a:bodyPr>
            <a:lstStyle/>
            <a:p>
              <a:pPr algn="l"/>
              <a:r>
                <a:rPr lang="zh-CN" sz="1120" dirty="0">
                  <a:solidFill>
                    <a:schemeClr val="accent5"/>
                  </a:solidFill>
                  <a:latin typeface="+mn-lt"/>
                  <a:ea typeface="+mn-ea"/>
                  <a:cs typeface="+mn-cs"/>
                </a:rPr>
                <a:t>比较最终作用方向</a:t>
              </a:r>
            </a:p>
          </p:txBody>
        </p:sp>
        <p:sp>
          <p:nvSpPr>
            <p:cNvPr id="60" name="TextBox 60"/>
            <p:cNvSpPr txBox="1"/>
            <p:nvPr/>
          </p:nvSpPr>
          <p:spPr>
            <a:xfrm>
              <a:off x="7061835" y="6069806"/>
              <a:ext cx="94356" cy="220028"/>
            </a:xfrm>
            <a:prstGeom prst="rect">
              <a:avLst/>
            </a:prstGeom>
            <a:noFill/>
            <a:ln>
              <a:noFill/>
            </a:ln>
          </p:spPr>
          <p:txBody>
            <a:bodyPr wrap="none" lIns="0" tIns="0" rIns="0" bIns="0" anchor="t" anchorCtr="0">
              <a:spAutoFit/>
            </a:bodyPr>
            <a:lstStyle/>
            <a:p>
              <a:pPr algn="l"/>
              <a:r>
                <a:rPr lang="zh-CN" sz="1120" dirty="0">
                  <a:solidFill>
                    <a:schemeClr val="accent3"/>
                  </a:solidFill>
                  <a:latin typeface="+mn-lt"/>
                  <a:ea typeface="+mn-ea"/>
                  <a:cs typeface="+mn-cs"/>
                </a:rPr>
                <a:t>→</a:t>
              </a:r>
            </a:p>
          </p:txBody>
        </p:sp>
        <p:sp>
          <p:nvSpPr>
            <p:cNvPr id="61" name="TextBox 61"/>
            <p:cNvSpPr txBox="1"/>
            <p:nvPr/>
          </p:nvSpPr>
          <p:spPr>
            <a:xfrm>
              <a:off x="7385685" y="6069806"/>
              <a:ext cx="1430971" cy="220028"/>
            </a:xfrm>
            <a:prstGeom prst="rect">
              <a:avLst/>
            </a:prstGeom>
            <a:noFill/>
            <a:ln>
              <a:noFill/>
            </a:ln>
          </p:spPr>
          <p:txBody>
            <a:bodyPr wrap="none" lIns="0" tIns="0" rIns="0" bIns="0" anchor="t" anchorCtr="0">
              <a:spAutoFit/>
            </a:bodyPr>
            <a:lstStyle/>
            <a:p>
              <a:pPr algn="l"/>
              <a:r>
                <a:rPr lang="zh-CN" sz="1120" b="1" dirty="0">
                  <a:solidFill>
                    <a:schemeClr val="accent1"/>
                  </a:solidFill>
                  <a:latin typeface="+mn-lt"/>
                  <a:ea typeface="+mn-ea"/>
                  <a:cs typeface="+mn-cs"/>
                </a:rPr>
                <a:t>同向 = 正；反向 = 负</a:t>
              </a:r>
            </a:p>
          </p:txBody>
        </p:sp>
      </p:grpSp>
      <p:sp>
        <p:nvSpPr>
          <p:cNvPr id="63" name="TextBox 63"/>
          <p:cNvSpPr txBox="1"/>
          <p:nvPr/>
        </p:nvSpPr>
        <p:spPr>
          <a:xfrm>
            <a:off x="376238" y="6532245"/>
            <a:ext cx="4437553" cy="176212"/>
          </a:xfrm>
          <a:prstGeom prst="rect">
            <a:avLst/>
          </a:prstGeom>
          <a:noFill/>
          <a:ln>
            <a:noFill/>
          </a:ln>
        </p:spPr>
        <p:txBody>
          <a:bodyPr wrap="none" lIns="0" tIns="0" rIns="0" bIns="0" anchor="t" anchorCtr="0">
            <a:spAutoFit/>
          </a:bodyPr>
          <a:lstStyle/>
          <a:p>
            <a:pPr algn="l"/>
            <a:r>
              <a:rPr lang="zh-CN" sz="900" dirty="0">
                <a:solidFill>
                  <a:schemeClr val="accent5"/>
                </a:solidFill>
                <a:latin typeface="+mn-lt"/>
                <a:ea typeface="+mn-ea"/>
                <a:cs typeface="+mn-cs"/>
              </a:rPr>
              <a:t>Source/redraw basis: UE 8e, Ch.12, PDF pp.1177–1178; EP Ch.23 (M-11).</a:t>
            </a:r>
          </a:p>
        </p:txBody>
      </p:sp>
      <p:sp>
        <p:nvSpPr>
          <p:cNvPr id="64" name="TextBox 64"/>
          <p:cNvSpPr txBox="1"/>
          <p:nvPr/>
        </p:nvSpPr>
        <p:spPr>
          <a:xfrm>
            <a:off x="11672964" y="6532245"/>
            <a:ext cx="142799" cy="176212"/>
          </a:xfrm>
          <a:prstGeom prst="rect">
            <a:avLst/>
          </a:prstGeom>
          <a:noFill/>
          <a:ln>
            <a:noFill/>
          </a:ln>
        </p:spPr>
        <p:txBody>
          <a:bodyPr wrap="none" lIns="0" tIns="0" rIns="0" bIns="0" anchor="t" anchorCtr="0">
            <a:spAutoFit/>
          </a:bodyPr>
          <a:lstStyle/>
          <a:p>
            <a:pPr algn="r"/>
            <a:r>
              <a:rPr lang="zh-CN" sz="900" dirty="0">
                <a:solidFill>
                  <a:schemeClr val="accent5"/>
                </a:solidFill>
                <a:latin typeface="+mn-lt"/>
                <a:ea typeface="+mn-ea"/>
                <a:cs typeface="+mn-cs"/>
              </a:rPr>
              <a:t>35</a:t>
            </a:r>
          </a:p>
        </p:txBody>
      </p:sp>
    </p:spTree>
    <p:extLst>
      <p:ext uri="{BB962C8B-B14F-4D97-AF65-F5344CB8AC3E}">
        <p14:creationId xmlns:p14="http://schemas.microsoft.com/office/powerpoint/2010/main" val="341022652"/>
      </p:ext>
    </p:extLst>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5"/>
          <p:cNvGrpSpPr/>
          <p:nvPr/>
        </p:nvGrpSpPr>
        <p:grpSpPr>
          <a:xfrm>
            <a:off x="0" y="0"/>
            <a:ext cx="12192000" cy="685800"/>
            <a:chOff x="0" y="0"/>
            <a:chExt cx="12192000" cy="685800"/>
          </a:xfrm>
        </p:grpSpPr>
        <p:sp>
          <p:nvSpPr>
            <p:cNvPr id="2" name="Rectangle 2"/>
            <p:cNvSpPr/>
            <p:nvPr/>
          </p:nvSpPr>
          <p:spPr>
            <a:xfrm>
              <a:off x="0" y="0"/>
              <a:ext cx="12192000" cy="685800"/>
            </a:xfrm>
            <a:prstGeom prst="rect">
              <a:avLst/>
            </a:prstGeom>
            <a:solidFill>
              <a:srgbClr val="0E3F8C"/>
            </a:solidFill>
            <a:ln>
              <a:noFill/>
            </a:ln>
          </p:spPr>
        </p:sp>
        <p:sp>
          <p:nvSpPr>
            <p:cNvPr id="3" name="TextBox 3"/>
            <p:cNvSpPr txBox="1"/>
            <p:nvPr/>
          </p:nvSpPr>
          <p:spPr>
            <a:xfrm>
              <a:off x="374142" y="282892"/>
              <a:ext cx="3405734" cy="264033"/>
            </a:xfrm>
            <a:prstGeom prst="rect">
              <a:avLst/>
            </a:prstGeom>
            <a:noFill/>
            <a:ln>
              <a:noFill/>
            </a:ln>
          </p:spPr>
          <p:txBody>
            <a:bodyPr wrap="none" lIns="0" tIns="0" rIns="0" bIns="0" anchor="t" anchorCtr="0">
              <a:spAutoFit/>
            </a:bodyPr>
            <a:lstStyle/>
            <a:p>
              <a:pPr algn="l"/>
              <a:r>
                <a:rPr lang="zh-CN" sz="1350" b="1" dirty="0">
                  <a:solidFill>
                    <a:srgbClr val="FFFFFF"/>
                  </a:solidFill>
                  <a:latin typeface="Arial"/>
                  <a:ea typeface="Microsoft YaHei"/>
                  <a:cs typeface="Arial"/>
                </a:rPr>
                <a:t>3.2 水汽反馈 | Water-Vapor Feedback</a:t>
              </a:r>
            </a:p>
          </p:txBody>
        </p:sp>
        <p:sp>
          <p:nvSpPr>
            <p:cNvPr id="4" name="TextBox 4"/>
            <p:cNvSpPr txBox="1"/>
            <p:nvPr/>
          </p:nvSpPr>
          <p:spPr>
            <a:xfrm>
              <a:off x="10302850" y="299085"/>
              <a:ext cx="1514246" cy="234696"/>
            </a:xfrm>
            <a:prstGeom prst="rect">
              <a:avLst/>
            </a:prstGeom>
            <a:noFill/>
            <a:ln>
              <a:noFill/>
            </a:ln>
          </p:spPr>
          <p:txBody>
            <a:bodyPr wrap="none" lIns="0" tIns="0" rIns="0" bIns="0" anchor="t" anchorCtr="0">
              <a:spAutoFit/>
            </a:bodyPr>
            <a:lstStyle/>
            <a:p>
              <a:pPr algn="r"/>
              <a:r>
                <a:rPr lang="en-US" sz="1200" dirty="0">
                  <a:solidFill>
                    <a:srgbClr val="C7D7F2"/>
                  </a:solidFill>
                  <a:latin typeface="Arial"/>
                  <a:ea typeface="Arial"/>
                  <a:cs typeface="Arial"/>
                </a:rPr>
                <a:t>POSITIVE FEEDBACK</a:t>
              </a:r>
            </a:p>
          </p:txBody>
        </p:sp>
      </p:grpSp>
      <p:grpSp>
        <p:nvGrpSpPr>
          <p:cNvPr id="8" name="Group 8"/>
          <p:cNvGrpSpPr/>
          <p:nvPr/>
        </p:nvGrpSpPr>
        <p:grpSpPr>
          <a:xfrm>
            <a:off x="381000" y="914400"/>
            <a:ext cx="6773139" cy="357093"/>
            <a:chOff x="381000" y="914400"/>
            <a:chExt cx="6773139" cy="357093"/>
          </a:xfrm>
        </p:grpSpPr>
        <p:sp>
          <p:nvSpPr>
            <p:cNvPr id="6" name="Rectangle 6"/>
            <p:cNvSpPr/>
            <p:nvPr/>
          </p:nvSpPr>
          <p:spPr>
            <a:xfrm>
              <a:off x="381000" y="914400"/>
              <a:ext cx="57150" cy="266700"/>
            </a:xfrm>
            <a:prstGeom prst="roundRect">
              <a:avLst>
                <a:gd name="adj" fmla="val 50000"/>
              </a:avLst>
            </a:prstGeom>
            <a:solidFill>
              <a:srgbClr val="1E4FA8"/>
            </a:solidFill>
            <a:ln>
              <a:noFill/>
            </a:ln>
          </p:spPr>
        </p:sp>
        <p:sp>
          <p:nvSpPr>
            <p:cNvPr id="7" name="TextBox 7"/>
            <p:cNvSpPr txBox="1"/>
            <p:nvPr/>
          </p:nvSpPr>
          <p:spPr>
            <a:xfrm>
              <a:off x="544449" y="963454"/>
              <a:ext cx="6609690" cy="308039"/>
            </a:xfrm>
            <a:prstGeom prst="rect">
              <a:avLst/>
            </a:prstGeom>
            <a:noFill/>
            <a:ln>
              <a:noFill/>
            </a:ln>
          </p:spPr>
          <p:txBody>
            <a:bodyPr wrap="none" lIns="0" tIns="0" rIns="0" bIns="0" anchor="t" anchorCtr="0">
              <a:spAutoFit/>
            </a:bodyPr>
            <a:lstStyle/>
            <a:p>
              <a:pPr algn="l"/>
              <a:r>
                <a:rPr lang="zh-CN" sz="1580" b="1" dirty="0">
                  <a:solidFill>
                    <a:srgbClr val="0E3F8C"/>
                  </a:solidFill>
                  <a:latin typeface="Arial"/>
                  <a:ea typeface="Microsoft YaHei"/>
                  <a:cs typeface="Arial"/>
                </a:rPr>
                <a:t>增温先增加蒸发与水汽，水汽再加强温室效应：一条自我加强的正反馈</a:t>
              </a:r>
            </a:p>
          </p:txBody>
        </p:sp>
      </p:grpSp>
      <p:grpSp>
        <p:nvGrpSpPr>
          <p:cNvPr id="68" name="Group 68"/>
          <p:cNvGrpSpPr/>
          <p:nvPr/>
        </p:nvGrpSpPr>
        <p:grpSpPr>
          <a:xfrm>
            <a:off x="381000" y="1428750"/>
            <a:ext cx="11430000" cy="3524250"/>
            <a:chOff x="381000" y="1428750"/>
            <a:chExt cx="11430000" cy="3524250"/>
          </a:xfrm>
        </p:grpSpPr>
        <p:sp>
          <p:nvSpPr>
            <p:cNvPr id="9" name="Rectangle 9"/>
            <p:cNvSpPr/>
            <p:nvPr/>
          </p:nvSpPr>
          <p:spPr>
            <a:xfrm>
              <a:off x="381000" y="1428750"/>
              <a:ext cx="11430000" cy="3524250"/>
            </a:xfrm>
            <a:prstGeom prst="roundRect">
              <a:avLst>
                <a:gd name="adj" fmla="val 3243"/>
              </a:avLst>
            </a:prstGeom>
            <a:solidFill>
              <a:srgbClr val="F7F9FC"/>
            </a:solidFill>
            <a:ln w="9525">
              <a:solidFill>
                <a:srgbClr val="D6DCE5"/>
              </a:solidFill>
            </a:ln>
          </p:spPr>
        </p:sp>
        <p:sp>
          <p:nvSpPr>
            <p:cNvPr id="10" name="Rectangle 10"/>
            <p:cNvSpPr/>
            <p:nvPr/>
          </p:nvSpPr>
          <p:spPr>
            <a:xfrm>
              <a:off x="666750" y="1619250"/>
              <a:ext cx="1943100" cy="247650"/>
            </a:xfrm>
            <a:prstGeom prst="roundRect">
              <a:avLst>
                <a:gd name="adj" fmla="val 30769"/>
              </a:avLst>
            </a:prstGeom>
            <a:solidFill>
              <a:srgbClr val="E8EFF8"/>
            </a:solidFill>
            <a:ln>
              <a:noFill/>
            </a:ln>
          </p:spPr>
        </p:sp>
        <p:sp>
          <p:nvSpPr>
            <p:cNvPr id="11" name="TextBox 11"/>
            <p:cNvSpPr txBox="1"/>
            <p:nvPr/>
          </p:nvSpPr>
          <p:spPr>
            <a:xfrm>
              <a:off x="958943" y="1693545"/>
              <a:ext cx="1358713" cy="176212"/>
            </a:xfrm>
            <a:prstGeom prst="rect">
              <a:avLst/>
            </a:prstGeom>
            <a:noFill/>
            <a:ln>
              <a:noFill/>
            </a:ln>
          </p:spPr>
          <p:txBody>
            <a:bodyPr wrap="none" lIns="0" tIns="0" rIns="0" bIns="0" anchor="t" anchorCtr="0">
              <a:spAutoFit/>
            </a:bodyPr>
            <a:lstStyle/>
            <a:p>
              <a:pPr algn="ctr"/>
              <a:r>
                <a:rPr lang="zh-CN" sz="900" b="1" dirty="0">
                  <a:solidFill>
                    <a:srgbClr val="1E4FA8"/>
                  </a:solidFill>
                  <a:latin typeface="Arial"/>
                  <a:ea typeface="Microsoft YaHei"/>
                  <a:cs typeface="Arial"/>
                </a:rPr>
                <a:t>初始变化 Initial change</a:t>
              </a:r>
            </a:p>
          </p:txBody>
        </p:sp>
        <p:sp>
          <p:nvSpPr>
            <p:cNvPr id="12" name="Rectangle 12"/>
            <p:cNvSpPr/>
            <p:nvPr/>
          </p:nvSpPr>
          <p:spPr>
            <a:xfrm>
              <a:off x="2895600" y="1619250"/>
              <a:ext cx="8629650" cy="247650"/>
            </a:xfrm>
            <a:prstGeom prst="roundRect">
              <a:avLst>
                <a:gd name="adj" fmla="val 30769"/>
              </a:avLst>
            </a:prstGeom>
            <a:solidFill>
              <a:srgbClr val="F0F5FC"/>
            </a:solidFill>
            <a:ln>
              <a:noFill/>
            </a:ln>
          </p:spPr>
        </p:sp>
        <p:sp>
          <p:nvSpPr>
            <p:cNvPr id="13" name="TextBox 13"/>
            <p:cNvSpPr txBox="1"/>
            <p:nvPr/>
          </p:nvSpPr>
          <p:spPr>
            <a:xfrm>
              <a:off x="3043238" y="1693545"/>
              <a:ext cx="2132938" cy="176212"/>
            </a:xfrm>
            <a:prstGeom prst="rect">
              <a:avLst/>
            </a:prstGeom>
            <a:noFill/>
            <a:ln>
              <a:noFill/>
            </a:ln>
          </p:spPr>
          <p:txBody>
            <a:bodyPr wrap="none" lIns="0" tIns="0" rIns="0" bIns="0" anchor="t" anchorCtr="0">
              <a:spAutoFit/>
            </a:bodyPr>
            <a:lstStyle/>
            <a:p>
              <a:pPr algn="l"/>
              <a:r>
                <a:rPr lang="zh-CN" sz="900" dirty="0">
                  <a:solidFill>
                    <a:srgbClr val="4A5568"/>
                  </a:solidFill>
                  <a:latin typeface="Arial"/>
                  <a:ea typeface="Microsoft YaHei"/>
                  <a:cs typeface="Arial"/>
                </a:rPr>
                <a:t>诱发变化 Induced change（步骤 2–5）</a:t>
              </a:r>
            </a:p>
          </p:txBody>
        </p:sp>
        <p:grpSp>
          <p:nvGrpSpPr>
            <p:cNvPr id="20" name="Group 20"/>
            <p:cNvGrpSpPr/>
            <p:nvPr/>
          </p:nvGrpSpPr>
          <p:grpSpPr>
            <a:xfrm>
              <a:off x="666750" y="2000250"/>
              <a:ext cx="1943100" cy="1143000"/>
              <a:chOff x="666750" y="2000250"/>
              <a:chExt cx="1943100" cy="1143000"/>
            </a:xfrm>
          </p:grpSpPr>
          <p:sp>
            <p:nvSpPr>
              <p:cNvPr id="14" name="Rectangle 14"/>
              <p:cNvSpPr/>
              <p:nvPr/>
            </p:nvSpPr>
            <p:spPr>
              <a:xfrm>
                <a:off x="666750" y="2000250"/>
                <a:ext cx="1943100" cy="1143000"/>
              </a:xfrm>
              <a:prstGeom prst="roundRect">
                <a:avLst>
                  <a:gd name="adj" fmla="val 8333"/>
                </a:avLst>
              </a:prstGeom>
              <a:solidFill>
                <a:srgbClr val="F0F5FC"/>
              </a:solidFill>
              <a:ln w="19050">
                <a:solidFill>
                  <a:srgbClr val="1E4FA8"/>
                </a:solidFill>
              </a:ln>
            </p:spPr>
          </p:sp>
          <p:sp>
            <p:nvSpPr>
              <p:cNvPr id="15" name="Ellipse 15"/>
              <p:cNvSpPr/>
              <p:nvPr/>
            </p:nvSpPr>
            <p:spPr>
              <a:xfrm>
                <a:off x="790575" y="2143125"/>
                <a:ext cx="247650" cy="247650"/>
              </a:xfrm>
              <a:prstGeom prst="ellipse">
                <a:avLst/>
              </a:prstGeom>
              <a:solidFill>
                <a:srgbClr val="1E4FA8"/>
              </a:solidFill>
              <a:ln>
                <a:noFill/>
              </a:ln>
            </p:spPr>
          </p:sp>
          <p:sp>
            <p:nvSpPr>
              <p:cNvPr id="16" name="TextBox 16"/>
              <p:cNvSpPr txBox="1"/>
              <p:nvPr/>
            </p:nvSpPr>
            <p:spPr>
              <a:xfrm>
                <a:off x="871353" y="2209324"/>
                <a:ext cx="86094" cy="190690"/>
              </a:xfrm>
              <a:prstGeom prst="rect">
                <a:avLst/>
              </a:prstGeom>
              <a:noFill/>
              <a:ln>
                <a:noFill/>
              </a:ln>
            </p:spPr>
            <p:txBody>
              <a:bodyPr wrap="none" lIns="0" tIns="0" rIns="0" bIns="0" anchor="t" anchorCtr="0">
                <a:spAutoFit/>
              </a:bodyPr>
              <a:lstStyle/>
              <a:p>
                <a:pPr algn="ctr"/>
                <a:r>
                  <a:rPr lang="en-US" sz="980" b="1" dirty="0">
                    <a:solidFill>
                      <a:srgbClr val="FFFFFF"/>
                    </a:solidFill>
                    <a:latin typeface="Arial"/>
                    <a:ea typeface="Arial"/>
                    <a:cs typeface="Arial"/>
                  </a:rPr>
                  <a:t>1</a:t>
                </a:r>
              </a:p>
            </p:txBody>
          </p:sp>
          <p:sp>
            <p:nvSpPr>
              <p:cNvPr id="17" name="TextBox 17"/>
              <p:cNvSpPr txBox="1"/>
              <p:nvPr/>
            </p:nvSpPr>
            <p:spPr>
              <a:xfrm>
                <a:off x="1118235" y="2193131"/>
                <a:ext cx="614528" cy="220028"/>
              </a:xfrm>
              <a:prstGeom prst="rect">
                <a:avLst/>
              </a:prstGeom>
              <a:noFill/>
              <a:ln>
                <a:noFill/>
              </a:ln>
            </p:spPr>
            <p:txBody>
              <a:bodyPr wrap="none" lIns="0" tIns="0" rIns="0" bIns="0" anchor="t" anchorCtr="0">
                <a:spAutoFit/>
              </a:bodyPr>
              <a:lstStyle/>
              <a:p>
                <a:pPr algn="l"/>
                <a:r>
                  <a:rPr lang="zh-CN" sz="1120" b="1" dirty="0">
                    <a:solidFill>
                      <a:srgbClr val="0E3F8C"/>
                    </a:solidFill>
                    <a:latin typeface="Arial"/>
                    <a:ea typeface="Microsoft YaHei"/>
                    <a:cs typeface="Arial"/>
                  </a:rPr>
                  <a:t>初始增温</a:t>
                </a:r>
              </a:p>
            </p:txBody>
          </p:sp>
          <p:sp>
            <p:nvSpPr>
              <p:cNvPr id="18" name="TextBox 18"/>
              <p:cNvSpPr txBox="1"/>
              <p:nvPr/>
            </p:nvSpPr>
            <p:spPr>
              <a:xfrm>
                <a:off x="814388" y="2493645"/>
                <a:ext cx="879307" cy="176212"/>
              </a:xfrm>
              <a:prstGeom prst="rect">
                <a:avLst/>
              </a:prstGeom>
              <a:noFill/>
              <a:ln>
                <a:noFill/>
              </a:ln>
            </p:spPr>
            <p:txBody>
              <a:bodyPr wrap="none" lIns="0" tIns="0" rIns="0" bIns="0" anchor="t" anchorCtr="0">
                <a:spAutoFit/>
              </a:bodyPr>
              <a:lstStyle/>
              <a:p>
                <a:pPr algn="l"/>
                <a:r>
                  <a:rPr lang="en-US" sz="900" dirty="0">
                    <a:solidFill>
                      <a:srgbClr val="4A5568"/>
                    </a:solidFill>
                    <a:latin typeface="Arial"/>
                    <a:ea typeface="Arial"/>
                    <a:cs typeface="Arial"/>
                  </a:rPr>
                  <a:t>Initial warming</a:t>
                </a:r>
              </a:p>
            </p:txBody>
          </p:sp>
          <p:sp>
            <p:nvSpPr>
              <p:cNvPr id="19" name="TextBox 19"/>
              <p:cNvSpPr txBox="1"/>
              <p:nvPr/>
            </p:nvSpPr>
            <p:spPr>
              <a:xfrm>
                <a:off x="814388" y="2722245"/>
                <a:ext cx="494157" cy="176212"/>
              </a:xfrm>
              <a:prstGeom prst="rect">
                <a:avLst/>
              </a:prstGeom>
              <a:noFill/>
              <a:ln>
                <a:noFill/>
              </a:ln>
            </p:spPr>
            <p:txBody>
              <a:bodyPr wrap="none" lIns="0" tIns="0" rIns="0" bIns="0" anchor="t" anchorCtr="0">
                <a:spAutoFit/>
              </a:bodyPr>
              <a:lstStyle/>
              <a:p>
                <a:pPr algn="l"/>
                <a:r>
                  <a:rPr lang="zh-CN" sz="900" dirty="0">
                    <a:solidFill>
                      <a:srgbClr val="4A5568"/>
                    </a:solidFill>
                    <a:latin typeface="Arial"/>
                    <a:ea typeface="Microsoft YaHei"/>
                    <a:cs typeface="Arial"/>
                  </a:rPr>
                  <a:t>温度上升</a:t>
                </a:r>
              </a:p>
            </p:txBody>
          </p:sp>
        </p:grpSp>
        <p:sp>
          <p:nvSpPr>
            <p:cNvPr id="21" name="Line 21"/>
            <p:cNvSpPr/>
            <p:nvPr/>
          </p:nvSpPr>
          <p:spPr>
            <a:xfrm>
              <a:off x="2638425" y="2571750"/>
              <a:ext cx="133350" cy="9525"/>
            </a:xfrm>
            <a:custGeom>
              <a:avLst/>
              <a:gdLst/>
              <a:ahLst/>
              <a:cxnLst/>
              <a:rect l="l" t="t" r="r" b="b"/>
              <a:pathLst>
                <a:path w="133350" h="9525">
                  <a:moveTo>
                    <a:pt x="0" y="0"/>
                  </a:moveTo>
                  <a:lnTo>
                    <a:pt x="133350" y="0"/>
                  </a:lnTo>
                </a:path>
              </a:pathLst>
            </a:custGeom>
            <a:noFill/>
            <a:ln w="28575">
              <a:solidFill>
                <a:srgbClr val="1E4FA8"/>
              </a:solidFill>
            </a:ln>
          </p:spPr>
        </p:sp>
        <p:sp>
          <p:nvSpPr>
            <p:cNvPr id="22" name="Polygon 22"/>
            <p:cNvSpPr/>
            <p:nvPr/>
          </p:nvSpPr>
          <p:spPr>
            <a:xfrm>
              <a:off x="2771775" y="2514600"/>
              <a:ext cx="95250" cy="114300"/>
            </a:xfrm>
            <a:custGeom>
              <a:avLst/>
              <a:gdLst/>
              <a:ahLst/>
              <a:cxnLst/>
              <a:rect l="l" t="t" r="r" b="b"/>
              <a:pathLst>
                <a:path w="95250" h="114300">
                  <a:moveTo>
                    <a:pt x="95250" y="57150"/>
                  </a:moveTo>
                  <a:lnTo>
                    <a:pt x="0" y="0"/>
                  </a:lnTo>
                  <a:lnTo>
                    <a:pt x="0" y="114300"/>
                  </a:lnTo>
                  <a:close/>
                </a:path>
              </a:pathLst>
            </a:custGeom>
            <a:solidFill>
              <a:srgbClr val="1E4FA8"/>
            </a:solidFill>
            <a:ln>
              <a:noFill/>
            </a:ln>
          </p:spPr>
        </p:sp>
        <p:grpSp>
          <p:nvGrpSpPr>
            <p:cNvPr id="29" name="Group 29"/>
            <p:cNvGrpSpPr/>
            <p:nvPr/>
          </p:nvGrpSpPr>
          <p:grpSpPr>
            <a:xfrm>
              <a:off x="2895600" y="2000250"/>
              <a:ext cx="1943100" cy="1143000"/>
              <a:chOff x="2895600" y="2000250"/>
              <a:chExt cx="1943100" cy="1143000"/>
            </a:xfrm>
          </p:grpSpPr>
          <p:sp>
            <p:nvSpPr>
              <p:cNvPr id="23" name="Rectangle 23"/>
              <p:cNvSpPr/>
              <p:nvPr/>
            </p:nvSpPr>
            <p:spPr>
              <a:xfrm>
                <a:off x="2895600" y="2000250"/>
                <a:ext cx="1943100" cy="1143000"/>
              </a:xfrm>
              <a:prstGeom prst="roundRect">
                <a:avLst>
                  <a:gd name="adj" fmla="val 8333"/>
                </a:avLst>
              </a:prstGeom>
              <a:solidFill>
                <a:srgbClr val="FFFFFF"/>
              </a:solidFill>
              <a:ln w="9525">
                <a:solidFill>
                  <a:srgbClr val="D6DCE5"/>
                </a:solidFill>
              </a:ln>
            </p:spPr>
          </p:sp>
          <p:sp>
            <p:nvSpPr>
              <p:cNvPr id="24" name="Ellipse 24"/>
              <p:cNvSpPr/>
              <p:nvPr/>
            </p:nvSpPr>
            <p:spPr>
              <a:xfrm>
                <a:off x="3019425" y="2143125"/>
                <a:ext cx="247650" cy="247650"/>
              </a:xfrm>
              <a:prstGeom prst="ellipse">
                <a:avLst/>
              </a:prstGeom>
              <a:solidFill>
                <a:srgbClr val="1E4FA8"/>
              </a:solidFill>
              <a:ln>
                <a:noFill/>
              </a:ln>
            </p:spPr>
          </p:sp>
          <p:sp>
            <p:nvSpPr>
              <p:cNvPr id="25" name="TextBox 25"/>
              <p:cNvSpPr txBox="1"/>
              <p:nvPr/>
            </p:nvSpPr>
            <p:spPr>
              <a:xfrm>
                <a:off x="3100203" y="2209324"/>
                <a:ext cx="86094" cy="190690"/>
              </a:xfrm>
              <a:prstGeom prst="rect">
                <a:avLst/>
              </a:prstGeom>
              <a:noFill/>
              <a:ln>
                <a:noFill/>
              </a:ln>
            </p:spPr>
            <p:txBody>
              <a:bodyPr wrap="none" lIns="0" tIns="0" rIns="0" bIns="0" anchor="t" anchorCtr="0">
                <a:spAutoFit/>
              </a:bodyPr>
              <a:lstStyle/>
              <a:p>
                <a:pPr algn="ctr"/>
                <a:r>
                  <a:rPr lang="en-US" sz="980" b="1" dirty="0">
                    <a:solidFill>
                      <a:srgbClr val="FFFFFF"/>
                    </a:solidFill>
                    <a:latin typeface="Arial"/>
                    <a:ea typeface="Arial"/>
                    <a:cs typeface="Arial"/>
                  </a:rPr>
                  <a:t>2</a:t>
                </a:r>
              </a:p>
            </p:txBody>
          </p:sp>
          <p:sp>
            <p:nvSpPr>
              <p:cNvPr id="26" name="TextBox 26"/>
              <p:cNvSpPr txBox="1"/>
              <p:nvPr/>
            </p:nvSpPr>
            <p:spPr>
              <a:xfrm>
                <a:off x="3347085" y="2193131"/>
                <a:ext cx="614528" cy="220028"/>
              </a:xfrm>
              <a:prstGeom prst="rect">
                <a:avLst/>
              </a:prstGeom>
              <a:noFill/>
              <a:ln>
                <a:noFill/>
              </a:ln>
            </p:spPr>
            <p:txBody>
              <a:bodyPr wrap="none" lIns="0" tIns="0" rIns="0" bIns="0" anchor="t" anchorCtr="0">
                <a:spAutoFit/>
              </a:bodyPr>
              <a:lstStyle/>
              <a:p>
                <a:pPr algn="l"/>
                <a:r>
                  <a:rPr lang="zh-CN" sz="1120" b="1" dirty="0">
                    <a:solidFill>
                      <a:srgbClr val="0E3F8C"/>
                    </a:solidFill>
                    <a:latin typeface="Arial"/>
                    <a:ea typeface="Microsoft YaHei"/>
                    <a:cs typeface="Arial"/>
                  </a:rPr>
                  <a:t>蒸发增加</a:t>
                </a:r>
              </a:p>
            </p:txBody>
          </p:sp>
          <p:sp>
            <p:nvSpPr>
              <p:cNvPr id="27" name="TextBox 27"/>
              <p:cNvSpPr txBox="1"/>
              <p:nvPr/>
            </p:nvSpPr>
            <p:spPr>
              <a:xfrm>
                <a:off x="3043238" y="2493645"/>
                <a:ext cx="1321735" cy="176212"/>
              </a:xfrm>
              <a:prstGeom prst="rect">
                <a:avLst/>
              </a:prstGeom>
              <a:noFill/>
              <a:ln>
                <a:noFill/>
              </a:ln>
            </p:spPr>
            <p:txBody>
              <a:bodyPr wrap="none" lIns="0" tIns="0" rIns="0" bIns="0" anchor="t" anchorCtr="0">
                <a:spAutoFit/>
              </a:bodyPr>
              <a:lstStyle/>
              <a:p>
                <a:pPr algn="l"/>
                <a:r>
                  <a:rPr lang="en-US" sz="900" dirty="0">
                    <a:solidFill>
                      <a:srgbClr val="4A5568"/>
                    </a:solidFill>
                    <a:latin typeface="Arial"/>
                    <a:ea typeface="Arial"/>
                    <a:cs typeface="Arial"/>
                  </a:rPr>
                  <a:t>Evaporation increases</a:t>
                </a:r>
              </a:p>
            </p:txBody>
          </p:sp>
          <p:sp>
            <p:nvSpPr>
              <p:cNvPr id="28" name="TextBox 28"/>
              <p:cNvSpPr txBox="1"/>
              <p:nvPr/>
            </p:nvSpPr>
            <p:spPr>
              <a:xfrm>
                <a:off x="3043238" y="2722245"/>
                <a:ext cx="736473" cy="176212"/>
              </a:xfrm>
              <a:prstGeom prst="rect">
                <a:avLst/>
              </a:prstGeom>
              <a:noFill/>
              <a:ln>
                <a:noFill/>
              </a:ln>
            </p:spPr>
            <p:txBody>
              <a:bodyPr wrap="none" lIns="0" tIns="0" rIns="0" bIns="0" anchor="t" anchorCtr="0">
                <a:spAutoFit/>
              </a:bodyPr>
              <a:lstStyle/>
              <a:p>
                <a:pPr algn="l"/>
                <a:r>
                  <a:rPr lang="zh-CN" sz="900" dirty="0">
                    <a:solidFill>
                      <a:srgbClr val="4A5568"/>
                    </a:solidFill>
                    <a:latin typeface="Arial"/>
                    <a:ea typeface="Microsoft YaHei"/>
                    <a:cs typeface="Arial"/>
                  </a:rPr>
                  <a:t>海洋蒸发增强</a:t>
                </a:r>
              </a:p>
            </p:txBody>
          </p:sp>
        </p:grpSp>
        <p:sp>
          <p:nvSpPr>
            <p:cNvPr id="30" name="Line 30"/>
            <p:cNvSpPr/>
            <p:nvPr/>
          </p:nvSpPr>
          <p:spPr>
            <a:xfrm>
              <a:off x="4867275" y="2571750"/>
              <a:ext cx="133350" cy="9525"/>
            </a:xfrm>
            <a:custGeom>
              <a:avLst/>
              <a:gdLst/>
              <a:ahLst/>
              <a:cxnLst/>
              <a:rect l="l" t="t" r="r" b="b"/>
              <a:pathLst>
                <a:path w="133350" h="9525">
                  <a:moveTo>
                    <a:pt x="0" y="0"/>
                  </a:moveTo>
                  <a:lnTo>
                    <a:pt x="133350" y="0"/>
                  </a:lnTo>
                </a:path>
              </a:pathLst>
            </a:custGeom>
            <a:noFill/>
            <a:ln w="28575">
              <a:solidFill>
                <a:srgbClr val="1E4FA8"/>
              </a:solidFill>
            </a:ln>
          </p:spPr>
        </p:sp>
        <p:sp>
          <p:nvSpPr>
            <p:cNvPr id="31" name="Polygon 31"/>
            <p:cNvSpPr/>
            <p:nvPr/>
          </p:nvSpPr>
          <p:spPr>
            <a:xfrm>
              <a:off x="5000625" y="2514600"/>
              <a:ext cx="95250" cy="114300"/>
            </a:xfrm>
            <a:custGeom>
              <a:avLst/>
              <a:gdLst/>
              <a:ahLst/>
              <a:cxnLst/>
              <a:rect l="l" t="t" r="r" b="b"/>
              <a:pathLst>
                <a:path w="95250" h="114300">
                  <a:moveTo>
                    <a:pt x="95250" y="57150"/>
                  </a:moveTo>
                  <a:lnTo>
                    <a:pt x="0" y="0"/>
                  </a:lnTo>
                  <a:lnTo>
                    <a:pt x="0" y="114300"/>
                  </a:lnTo>
                  <a:close/>
                </a:path>
              </a:pathLst>
            </a:custGeom>
            <a:solidFill>
              <a:srgbClr val="1E4FA8"/>
            </a:solidFill>
            <a:ln>
              <a:noFill/>
            </a:ln>
          </p:spPr>
        </p:sp>
        <p:grpSp>
          <p:nvGrpSpPr>
            <p:cNvPr id="38" name="Group 38"/>
            <p:cNvGrpSpPr/>
            <p:nvPr/>
          </p:nvGrpSpPr>
          <p:grpSpPr>
            <a:xfrm>
              <a:off x="5124450" y="2000250"/>
              <a:ext cx="1943100" cy="1143000"/>
              <a:chOff x="5124450" y="2000250"/>
              <a:chExt cx="1943100" cy="1143000"/>
            </a:xfrm>
          </p:grpSpPr>
          <p:sp>
            <p:nvSpPr>
              <p:cNvPr id="32" name="Rectangle 32"/>
              <p:cNvSpPr/>
              <p:nvPr/>
            </p:nvSpPr>
            <p:spPr>
              <a:xfrm>
                <a:off x="5124450" y="2000250"/>
                <a:ext cx="1943100" cy="1143000"/>
              </a:xfrm>
              <a:prstGeom prst="roundRect">
                <a:avLst>
                  <a:gd name="adj" fmla="val 8333"/>
                </a:avLst>
              </a:prstGeom>
              <a:solidFill>
                <a:srgbClr val="FFFFFF"/>
              </a:solidFill>
              <a:ln w="9525">
                <a:solidFill>
                  <a:srgbClr val="D6DCE5"/>
                </a:solidFill>
              </a:ln>
            </p:spPr>
          </p:sp>
          <p:sp>
            <p:nvSpPr>
              <p:cNvPr id="33" name="Ellipse 33"/>
              <p:cNvSpPr/>
              <p:nvPr/>
            </p:nvSpPr>
            <p:spPr>
              <a:xfrm>
                <a:off x="5248275" y="2143125"/>
                <a:ext cx="247650" cy="247650"/>
              </a:xfrm>
              <a:prstGeom prst="ellipse">
                <a:avLst/>
              </a:prstGeom>
              <a:solidFill>
                <a:srgbClr val="1E4FA8"/>
              </a:solidFill>
              <a:ln>
                <a:noFill/>
              </a:ln>
            </p:spPr>
          </p:sp>
          <p:sp>
            <p:nvSpPr>
              <p:cNvPr id="34" name="TextBox 34"/>
              <p:cNvSpPr txBox="1"/>
              <p:nvPr/>
            </p:nvSpPr>
            <p:spPr>
              <a:xfrm>
                <a:off x="5329053" y="2209324"/>
                <a:ext cx="86094" cy="190690"/>
              </a:xfrm>
              <a:prstGeom prst="rect">
                <a:avLst/>
              </a:prstGeom>
              <a:noFill/>
              <a:ln>
                <a:noFill/>
              </a:ln>
            </p:spPr>
            <p:txBody>
              <a:bodyPr wrap="none" lIns="0" tIns="0" rIns="0" bIns="0" anchor="t" anchorCtr="0">
                <a:spAutoFit/>
              </a:bodyPr>
              <a:lstStyle/>
              <a:p>
                <a:pPr algn="ctr"/>
                <a:r>
                  <a:rPr lang="en-US" sz="980" b="1" dirty="0">
                    <a:solidFill>
                      <a:srgbClr val="FFFFFF"/>
                    </a:solidFill>
                    <a:latin typeface="Arial"/>
                    <a:ea typeface="Arial"/>
                    <a:cs typeface="Arial"/>
                  </a:rPr>
                  <a:t>3</a:t>
                </a:r>
              </a:p>
            </p:txBody>
          </p:sp>
          <p:sp>
            <p:nvSpPr>
              <p:cNvPr id="35" name="TextBox 35"/>
              <p:cNvSpPr txBox="1"/>
              <p:nvPr/>
            </p:nvSpPr>
            <p:spPr>
              <a:xfrm>
                <a:off x="5575935" y="2193131"/>
                <a:ext cx="614528" cy="220028"/>
              </a:xfrm>
              <a:prstGeom prst="rect">
                <a:avLst/>
              </a:prstGeom>
              <a:noFill/>
              <a:ln>
                <a:noFill/>
              </a:ln>
            </p:spPr>
            <p:txBody>
              <a:bodyPr wrap="none" lIns="0" tIns="0" rIns="0" bIns="0" anchor="t" anchorCtr="0">
                <a:spAutoFit/>
              </a:bodyPr>
              <a:lstStyle/>
              <a:p>
                <a:pPr algn="l"/>
                <a:r>
                  <a:rPr lang="zh-CN" sz="1120" b="1" dirty="0">
                    <a:solidFill>
                      <a:srgbClr val="0E3F8C"/>
                    </a:solidFill>
                    <a:latin typeface="Arial"/>
                    <a:ea typeface="Microsoft YaHei"/>
                    <a:cs typeface="Arial"/>
                  </a:rPr>
                  <a:t>水汽增加</a:t>
                </a:r>
              </a:p>
            </p:txBody>
          </p:sp>
          <p:sp>
            <p:nvSpPr>
              <p:cNvPr id="36" name="TextBox 36"/>
              <p:cNvSpPr txBox="1"/>
              <p:nvPr/>
            </p:nvSpPr>
            <p:spPr>
              <a:xfrm>
                <a:off x="5272088" y="2493645"/>
                <a:ext cx="1346233" cy="176212"/>
              </a:xfrm>
              <a:prstGeom prst="rect">
                <a:avLst/>
              </a:prstGeom>
              <a:noFill/>
              <a:ln>
                <a:noFill/>
              </a:ln>
            </p:spPr>
            <p:txBody>
              <a:bodyPr wrap="none" lIns="0" tIns="0" rIns="0" bIns="0" anchor="t" anchorCtr="0">
                <a:spAutoFit/>
              </a:bodyPr>
              <a:lstStyle/>
              <a:p>
                <a:pPr algn="l"/>
                <a:r>
                  <a:rPr lang="en-US" sz="900" dirty="0">
                    <a:solidFill>
                      <a:srgbClr val="4A5568"/>
                    </a:solidFill>
                    <a:latin typeface="Arial"/>
                    <a:ea typeface="Arial"/>
                    <a:cs typeface="Arial"/>
                  </a:rPr>
                  <a:t>Water vapor increases</a:t>
                </a:r>
              </a:p>
            </p:txBody>
          </p:sp>
          <p:sp>
            <p:nvSpPr>
              <p:cNvPr id="37" name="TextBox 37"/>
              <p:cNvSpPr txBox="1"/>
              <p:nvPr/>
            </p:nvSpPr>
            <p:spPr>
              <a:xfrm>
                <a:off x="5272088" y="2722245"/>
                <a:ext cx="736473" cy="176212"/>
              </a:xfrm>
              <a:prstGeom prst="rect">
                <a:avLst/>
              </a:prstGeom>
              <a:noFill/>
              <a:ln>
                <a:noFill/>
              </a:ln>
            </p:spPr>
            <p:txBody>
              <a:bodyPr wrap="none" lIns="0" tIns="0" rIns="0" bIns="0" anchor="t" anchorCtr="0">
                <a:spAutoFit/>
              </a:bodyPr>
              <a:lstStyle/>
              <a:p>
                <a:pPr algn="l"/>
                <a:r>
                  <a:rPr lang="zh-CN" sz="900" dirty="0">
                    <a:solidFill>
                      <a:srgbClr val="4A5568"/>
                    </a:solidFill>
                    <a:latin typeface="Arial"/>
                    <a:ea typeface="Microsoft YaHei"/>
                    <a:cs typeface="Arial"/>
                  </a:rPr>
                  <a:t>大气水汽增多</a:t>
                </a:r>
              </a:p>
            </p:txBody>
          </p:sp>
        </p:grpSp>
        <p:sp>
          <p:nvSpPr>
            <p:cNvPr id="39" name="Line 39"/>
            <p:cNvSpPr/>
            <p:nvPr/>
          </p:nvSpPr>
          <p:spPr>
            <a:xfrm>
              <a:off x="7096125" y="2571750"/>
              <a:ext cx="133350" cy="9525"/>
            </a:xfrm>
            <a:custGeom>
              <a:avLst/>
              <a:gdLst/>
              <a:ahLst/>
              <a:cxnLst/>
              <a:rect l="l" t="t" r="r" b="b"/>
              <a:pathLst>
                <a:path w="133350" h="9525">
                  <a:moveTo>
                    <a:pt x="0" y="0"/>
                  </a:moveTo>
                  <a:lnTo>
                    <a:pt x="133350" y="0"/>
                  </a:lnTo>
                </a:path>
              </a:pathLst>
            </a:custGeom>
            <a:noFill/>
            <a:ln w="28575">
              <a:solidFill>
                <a:srgbClr val="1E4FA8"/>
              </a:solidFill>
            </a:ln>
          </p:spPr>
        </p:sp>
        <p:sp>
          <p:nvSpPr>
            <p:cNvPr id="40" name="Polygon 40"/>
            <p:cNvSpPr/>
            <p:nvPr/>
          </p:nvSpPr>
          <p:spPr>
            <a:xfrm>
              <a:off x="7229475" y="2514600"/>
              <a:ext cx="95250" cy="114300"/>
            </a:xfrm>
            <a:custGeom>
              <a:avLst/>
              <a:gdLst/>
              <a:ahLst/>
              <a:cxnLst/>
              <a:rect l="l" t="t" r="r" b="b"/>
              <a:pathLst>
                <a:path w="95250" h="114300">
                  <a:moveTo>
                    <a:pt x="95250" y="57150"/>
                  </a:moveTo>
                  <a:lnTo>
                    <a:pt x="0" y="0"/>
                  </a:lnTo>
                  <a:lnTo>
                    <a:pt x="0" y="114300"/>
                  </a:lnTo>
                  <a:close/>
                </a:path>
              </a:pathLst>
            </a:custGeom>
            <a:solidFill>
              <a:srgbClr val="1E4FA8"/>
            </a:solidFill>
            <a:ln>
              <a:noFill/>
            </a:ln>
          </p:spPr>
        </p:sp>
        <p:grpSp>
          <p:nvGrpSpPr>
            <p:cNvPr id="47" name="Group 47"/>
            <p:cNvGrpSpPr/>
            <p:nvPr/>
          </p:nvGrpSpPr>
          <p:grpSpPr>
            <a:xfrm>
              <a:off x="7353300" y="2000250"/>
              <a:ext cx="1943100" cy="1143000"/>
              <a:chOff x="7353300" y="2000250"/>
              <a:chExt cx="1943100" cy="1143000"/>
            </a:xfrm>
          </p:grpSpPr>
          <p:sp>
            <p:nvSpPr>
              <p:cNvPr id="41" name="Rectangle 41"/>
              <p:cNvSpPr/>
              <p:nvPr/>
            </p:nvSpPr>
            <p:spPr>
              <a:xfrm>
                <a:off x="7353300" y="2000250"/>
                <a:ext cx="1943100" cy="1143000"/>
              </a:xfrm>
              <a:prstGeom prst="roundRect">
                <a:avLst>
                  <a:gd name="adj" fmla="val 8333"/>
                </a:avLst>
              </a:prstGeom>
              <a:solidFill>
                <a:srgbClr val="FFFFFF"/>
              </a:solidFill>
              <a:ln w="9525">
                <a:solidFill>
                  <a:srgbClr val="D6DCE5"/>
                </a:solidFill>
              </a:ln>
            </p:spPr>
          </p:sp>
          <p:sp>
            <p:nvSpPr>
              <p:cNvPr id="42" name="Ellipse 42"/>
              <p:cNvSpPr/>
              <p:nvPr/>
            </p:nvSpPr>
            <p:spPr>
              <a:xfrm>
                <a:off x="7477125" y="2143125"/>
                <a:ext cx="247650" cy="247650"/>
              </a:xfrm>
              <a:prstGeom prst="ellipse">
                <a:avLst/>
              </a:prstGeom>
              <a:solidFill>
                <a:srgbClr val="1E4FA8"/>
              </a:solidFill>
              <a:ln>
                <a:noFill/>
              </a:ln>
            </p:spPr>
          </p:sp>
          <p:sp>
            <p:nvSpPr>
              <p:cNvPr id="43" name="TextBox 43"/>
              <p:cNvSpPr txBox="1"/>
              <p:nvPr/>
            </p:nvSpPr>
            <p:spPr>
              <a:xfrm>
                <a:off x="7557903" y="2209324"/>
                <a:ext cx="86094" cy="190690"/>
              </a:xfrm>
              <a:prstGeom prst="rect">
                <a:avLst/>
              </a:prstGeom>
              <a:noFill/>
              <a:ln>
                <a:noFill/>
              </a:ln>
            </p:spPr>
            <p:txBody>
              <a:bodyPr wrap="none" lIns="0" tIns="0" rIns="0" bIns="0" anchor="t" anchorCtr="0">
                <a:spAutoFit/>
              </a:bodyPr>
              <a:lstStyle/>
              <a:p>
                <a:pPr algn="ctr"/>
                <a:r>
                  <a:rPr lang="en-US" sz="980" b="1" dirty="0">
                    <a:solidFill>
                      <a:srgbClr val="FFFFFF"/>
                    </a:solidFill>
                    <a:latin typeface="Arial"/>
                    <a:ea typeface="Arial"/>
                    <a:cs typeface="Arial"/>
                  </a:rPr>
                  <a:t>4</a:t>
                </a:r>
              </a:p>
            </p:txBody>
          </p:sp>
          <p:sp>
            <p:nvSpPr>
              <p:cNvPr id="44" name="TextBox 44"/>
              <p:cNvSpPr txBox="1"/>
              <p:nvPr/>
            </p:nvSpPr>
            <p:spPr>
              <a:xfrm>
                <a:off x="7804785" y="2193131"/>
                <a:ext cx="916076" cy="220028"/>
              </a:xfrm>
              <a:prstGeom prst="rect">
                <a:avLst/>
              </a:prstGeom>
              <a:noFill/>
              <a:ln>
                <a:noFill/>
              </a:ln>
            </p:spPr>
            <p:txBody>
              <a:bodyPr wrap="none" lIns="0" tIns="0" rIns="0" bIns="0" anchor="t" anchorCtr="0">
                <a:spAutoFit/>
              </a:bodyPr>
              <a:lstStyle/>
              <a:p>
                <a:pPr algn="l"/>
                <a:r>
                  <a:rPr lang="zh-CN" sz="1120" b="1" dirty="0">
                    <a:solidFill>
                      <a:srgbClr val="0E3F8C"/>
                    </a:solidFill>
                    <a:latin typeface="Arial"/>
                    <a:ea typeface="Microsoft YaHei"/>
                    <a:cs typeface="Arial"/>
                  </a:rPr>
                  <a:t>温室效应加强</a:t>
                </a:r>
              </a:p>
            </p:txBody>
          </p:sp>
          <p:sp>
            <p:nvSpPr>
              <p:cNvPr id="45" name="TextBox 45"/>
              <p:cNvSpPr txBox="1"/>
              <p:nvPr/>
            </p:nvSpPr>
            <p:spPr>
              <a:xfrm>
                <a:off x="7500938" y="2493645"/>
                <a:ext cx="1685449" cy="176212"/>
              </a:xfrm>
              <a:prstGeom prst="rect">
                <a:avLst/>
              </a:prstGeom>
              <a:noFill/>
              <a:ln>
                <a:noFill/>
              </a:ln>
            </p:spPr>
            <p:txBody>
              <a:bodyPr wrap="none" lIns="0" tIns="0" rIns="0" bIns="0" anchor="t" anchorCtr="0">
                <a:spAutoFit/>
              </a:bodyPr>
              <a:lstStyle/>
              <a:p>
                <a:pPr algn="l"/>
                <a:r>
                  <a:rPr lang="en-US" sz="900" dirty="0">
                    <a:solidFill>
                      <a:srgbClr val="4A5568"/>
                    </a:solidFill>
                    <a:latin typeface="Arial"/>
                    <a:ea typeface="Arial"/>
                    <a:cs typeface="Arial"/>
                  </a:rPr>
                  <a:t>Greenhouse effect stronger</a:t>
                </a:r>
              </a:p>
            </p:txBody>
          </p:sp>
          <p:sp>
            <p:nvSpPr>
              <p:cNvPr id="46" name="TextBox 46"/>
              <p:cNvSpPr txBox="1"/>
              <p:nvPr/>
            </p:nvSpPr>
            <p:spPr>
              <a:xfrm>
                <a:off x="7500938" y="2722245"/>
                <a:ext cx="978789" cy="176212"/>
              </a:xfrm>
              <a:prstGeom prst="rect">
                <a:avLst/>
              </a:prstGeom>
              <a:noFill/>
              <a:ln>
                <a:noFill/>
              </a:ln>
            </p:spPr>
            <p:txBody>
              <a:bodyPr wrap="none" lIns="0" tIns="0" rIns="0" bIns="0" anchor="t" anchorCtr="0">
                <a:spAutoFit/>
              </a:bodyPr>
              <a:lstStyle/>
              <a:p>
                <a:pPr algn="l"/>
                <a:r>
                  <a:rPr lang="zh-CN" sz="900" dirty="0">
                    <a:solidFill>
                      <a:srgbClr val="4A5568"/>
                    </a:solidFill>
                    <a:latin typeface="Arial"/>
                    <a:ea typeface="Microsoft YaHei"/>
                    <a:cs typeface="Arial"/>
                  </a:rPr>
                  <a:t>水汽吸收并再辐射</a:t>
                </a:r>
              </a:p>
            </p:txBody>
          </p:sp>
        </p:grpSp>
        <p:sp>
          <p:nvSpPr>
            <p:cNvPr id="48" name="Line 48"/>
            <p:cNvSpPr/>
            <p:nvPr/>
          </p:nvSpPr>
          <p:spPr>
            <a:xfrm>
              <a:off x="9324975" y="2571750"/>
              <a:ext cx="133350" cy="9525"/>
            </a:xfrm>
            <a:custGeom>
              <a:avLst/>
              <a:gdLst/>
              <a:ahLst/>
              <a:cxnLst/>
              <a:rect l="l" t="t" r="r" b="b"/>
              <a:pathLst>
                <a:path w="133350" h="9525">
                  <a:moveTo>
                    <a:pt x="0" y="0"/>
                  </a:moveTo>
                  <a:lnTo>
                    <a:pt x="133350" y="0"/>
                  </a:lnTo>
                </a:path>
              </a:pathLst>
            </a:custGeom>
            <a:noFill/>
            <a:ln w="28575">
              <a:solidFill>
                <a:srgbClr val="1E4FA8"/>
              </a:solidFill>
            </a:ln>
          </p:spPr>
        </p:sp>
        <p:sp>
          <p:nvSpPr>
            <p:cNvPr id="49" name="Polygon 49"/>
            <p:cNvSpPr/>
            <p:nvPr/>
          </p:nvSpPr>
          <p:spPr>
            <a:xfrm>
              <a:off x="9458325" y="2514600"/>
              <a:ext cx="95250" cy="114300"/>
            </a:xfrm>
            <a:custGeom>
              <a:avLst/>
              <a:gdLst/>
              <a:ahLst/>
              <a:cxnLst/>
              <a:rect l="l" t="t" r="r" b="b"/>
              <a:pathLst>
                <a:path w="95250" h="114300">
                  <a:moveTo>
                    <a:pt x="95250" y="57150"/>
                  </a:moveTo>
                  <a:lnTo>
                    <a:pt x="0" y="0"/>
                  </a:lnTo>
                  <a:lnTo>
                    <a:pt x="0" y="114300"/>
                  </a:lnTo>
                  <a:close/>
                </a:path>
              </a:pathLst>
            </a:custGeom>
            <a:solidFill>
              <a:srgbClr val="1E4FA8"/>
            </a:solidFill>
            <a:ln>
              <a:noFill/>
            </a:ln>
          </p:spPr>
        </p:sp>
        <p:grpSp>
          <p:nvGrpSpPr>
            <p:cNvPr id="56" name="Group 56"/>
            <p:cNvGrpSpPr/>
            <p:nvPr/>
          </p:nvGrpSpPr>
          <p:grpSpPr>
            <a:xfrm>
              <a:off x="9582150" y="2000250"/>
              <a:ext cx="1943100" cy="1143000"/>
              <a:chOff x="9582150" y="2000250"/>
              <a:chExt cx="1943100" cy="1143000"/>
            </a:xfrm>
          </p:grpSpPr>
          <p:sp>
            <p:nvSpPr>
              <p:cNvPr id="50" name="Rectangle 50"/>
              <p:cNvSpPr/>
              <p:nvPr/>
            </p:nvSpPr>
            <p:spPr>
              <a:xfrm>
                <a:off x="9582150" y="2000250"/>
                <a:ext cx="1943100" cy="1143000"/>
              </a:xfrm>
              <a:prstGeom prst="roundRect">
                <a:avLst>
                  <a:gd name="adj" fmla="val 8333"/>
                </a:avLst>
              </a:prstGeom>
              <a:solidFill>
                <a:srgbClr val="FFFFFF"/>
              </a:solidFill>
              <a:ln w="9525">
                <a:solidFill>
                  <a:srgbClr val="D6DCE5"/>
                </a:solidFill>
              </a:ln>
            </p:spPr>
          </p:sp>
          <p:sp>
            <p:nvSpPr>
              <p:cNvPr id="51" name="Ellipse 51"/>
              <p:cNvSpPr/>
              <p:nvPr/>
            </p:nvSpPr>
            <p:spPr>
              <a:xfrm>
                <a:off x="9705975" y="2143125"/>
                <a:ext cx="247650" cy="247650"/>
              </a:xfrm>
              <a:prstGeom prst="ellipse">
                <a:avLst/>
              </a:prstGeom>
              <a:solidFill>
                <a:srgbClr val="1E4FA8"/>
              </a:solidFill>
              <a:ln>
                <a:noFill/>
              </a:ln>
            </p:spPr>
          </p:sp>
          <p:sp>
            <p:nvSpPr>
              <p:cNvPr id="52" name="TextBox 52"/>
              <p:cNvSpPr txBox="1"/>
              <p:nvPr/>
            </p:nvSpPr>
            <p:spPr>
              <a:xfrm>
                <a:off x="9786753" y="2209324"/>
                <a:ext cx="86094" cy="190690"/>
              </a:xfrm>
              <a:prstGeom prst="rect">
                <a:avLst/>
              </a:prstGeom>
              <a:noFill/>
              <a:ln>
                <a:noFill/>
              </a:ln>
            </p:spPr>
            <p:txBody>
              <a:bodyPr wrap="none" lIns="0" tIns="0" rIns="0" bIns="0" anchor="t" anchorCtr="0">
                <a:spAutoFit/>
              </a:bodyPr>
              <a:lstStyle/>
              <a:p>
                <a:pPr algn="ctr"/>
                <a:r>
                  <a:rPr lang="en-US" sz="980" b="1" dirty="0">
                    <a:solidFill>
                      <a:srgbClr val="FFFFFF"/>
                    </a:solidFill>
                    <a:latin typeface="Arial"/>
                    <a:ea typeface="Arial"/>
                    <a:cs typeface="Arial"/>
                  </a:rPr>
                  <a:t>5</a:t>
                </a:r>
              </a:p>
            </p:txBody>
          </p:sp>
          <p:sp>
            <p:nvSpPr>
              <p:cNvPr id="53" name="TextBox 53"/>
              <p:cNvSpPr txBox="1"/>
              <p:nvPr/>
            </p:nvSpPr>
            <p:spPr>
              <a:xfrm>
                <a:off x="10033635" y="2193131"/>
                <a:ext cx="765302" cy="220028"/>
              </a:xfrm>
              <a:prstGeom prst="rect">
                <a:avLst/>
              </a:prstGeom>
              <a:noFill/>
              <a:ln>
                <a:noFill/>
              </a:ln>
            </p:spPr>
            <p:txBody>
              <a:bodyPr wrap="none" lIns="0" tIns="0" rIns="0" bIns="0" anchor="t" anchorCtr="0">
                <a:spAutoFit/>
              </a:bodyPr>
              <a:lstStyle/>
              <a:p>
                <a:pPr algn="l"/>
                <a:r>
                  <a:rPr lang="zh-CN" sz="1120" b="1" dirty="0">
                    <a:solidFill>
                      <a:srgbClr val="0E3F8C"/>
                    </a:solidFill>
                    <a:latin typeface="Arial"/>
                    <a:ea typeface="Microsoft YaHei"/>
                    <a:cs typeface="Arial"/>
                  </a:rPr>
                  <a:t>进一步增温</a:t>
                </a:r>
              </a:p>
            </p:txBody>
          </p:sp>
          <p:sp>
            <p:nvSpPr>
              <p:cNvPr id="54" name="TextBox 54"/>
              <p:cNvSpPr txBox="1"/>
              <p:nvPr/>
            </p:nvSpPr>
            <p:spPr>
              <a:xfrm>
                <a:off x="9729788" y="2493645"/>
                <a:ext cx="1000955" cy="176212"/>
              </a:xfrm>
              <a:prstGeom prst="rect">
                <a:avLst/>
              </a:prstGeom>
              <a:noFill/>
              <a:ln>
                <a:noFill/>
              </a:ln>
            </p:spPr>
            <p:txBody>
              <a:bodyPr wrap="none" lIns="0" tIns="0" rIns="0" bIns="0" anchor="t" anchorCtr="0">
                <a:spAutoFit/>
              </a:bodyPr>
              <a:lstStyle/>
              <a:p>
                <a:pPr algn="l"/>
                <a:r>
                  <a:rPr lang="en-US" sz="900" dirty="0">
                    <a:solidFill>
                      <a:srgbClr val="4A5568"/>
                    </a:solidFill>
                    <a:latin typeface="Arial"/>
                    <a:ea typeface="Arial"/>
                    <a:cs typeface="Arial"/>
                  </a:rPr>
                  <a:t>Further warming</a:t>
                </a:r>
              </a:p>
            </p:txBody>
          </p:sp>
          <p:sp>
            <p:nvSpPr>
              <p:cNvPr id="55" name="TextBox 55"/>
              <p:cNvSpPr txBox="1"/>
              <p:nvPr/>
            </p:nvSpPr>
            <p:spPr>
              <a:xfrm>
                <a:off x="9729788" y="2722245"/>
                <a:ext cx="736473" cy="176212"/>
              </a:xfrm>
              <a:prstGeom prst="rect">
                <a:avLst/>
              </a:prstGeom>
              <a:noFill/>
              <a:ln>
                <a:noFill/>
              </a:ln>
            </p:spPr>
            <p:txBody>
              <a:bodyPr wrap="none" lIns="0" tIns="0" rIns="0" bIns="0" anchor="t" anchorCtr="0">
                <a:spAutoFit/>
              </a:bodyPr>
              <a:lstStyle/>
              <a:p>
                <a:pPr algn="l"/>
                <a:r>
                  <a:rPr lang="zh-CN" sz="900" dirty="0">
                    <a:solidFill>
                      <a:srgbClr val="4A5568"/>
                    </a:solidFill>
                    <a:latin typeface="Arial"/>
                    <a:ea typeface="Microsoft YaHei"/>
                    <a:cs typeface="Arial"/>
                  </a:rPr>
                  <a:t>温度继续上升</a:t>
                </a:r>
              </a:p>
            </p:txBody>
          </p:sp>
        </p:grpSp>
        <p:sp>
          <p:nvSpPr>
            <p:cNvPr id="57" name="Freeform 57"/>
            <p:cNvSpPr/>
            <p:nvPr/>
          </p:nvSpPr>
          <p:spPr>
            <a:xfrm>
              <a:off x="1638300" y="3143250"/>
              <a:ext cx="8915400" cy="438150"/>
            </a:xfrm>
            <a:custGeom>
              <a:avLst/>
              <a:gdLst/>
              <a:ahLst/>
              <a:cxnLst/>
              <a:rect l="l" t="t" r="r" b="b"/>
              <a:pathLst>
                <a:path w="8915400" h="438150">
                  <a:moveTo>
                    <a:pt x="8915400" y="0"/>
                  </a:moveTo>
                  <a:lnTo>
                    <a:pt x="8915400" y="361950"/>
                  </a:lnTo>
                  <a:cubicBezTo>
                    <a:pt x="8915400" y="412750"/>
                    <a:pt x="8890000" y="438150"/>
                    <a:pt x="8839200" y="438150"/>
                  </a:cubicBezTo>
                  <a:lnTo>
                    <a:pt x="76200" y="438150"/>
                  </a:lnTo>
                  <a:cubicBezTo>
                    <a:pt x="25400" y="438150"/>
                    <a:pt x="0" y="412750"/>
                    <a:pt x="0" y="361950"/>
                  </a:cubicBezTo>
                  <a:lnTo>
                    <a:pt x="0" y="57150"/>
                  </a:lnTo>
                </a:path>
              </a:pathLst>
            </a:custGeom>
            <a:noFill/>
            <a:ln w="28575">
              <a:solidFill>
                <a:srgbClr val="1E4FA8"/>
              </a:solidFill>
            </a:ln>
          </p:spPr>
        </p:sp>
        <p:sp>
          <p:nvSpPr>
            <p:cNvPr id="58" name="Polygon 58"/>
            <p:cNvSpPr/>
            <p:nvPr/>
          </p:nvSpPr>
          <p:spPr>
            <a:xfrm>
              <a:off x="1571625" y="3143250"/>
              <a:ext cx="133350" cy="95250"/>
            </a:xfrm>
            <a:custGeom>
              <a:avLst/>
              <a:gdLst/>
              <a:ahLst/>
              <a:cxnLst/>
              <a:rect l="l" t="t" r="r" b="b"/>
              <a:pathLst>
                <a:path w="133350" h="95250">
                  <a:moveTo>
                    <a:pt x="66675" y="0"/>
                  </a:moveTo>
                  <a:lnTo>
                    <a:pt x="0" y="95250"/>
                  </a:lnTo>
                  <a:lnTo>
                    <a:pt x="133350" y="95250"/>
                  </a:lnTo>
                  <a:close/>
                </a:path>
              </a:pathLst>
            </a:custGeom>
            <a:solidFill>
              <a:srgbClr val="1E4FA8"/>
            </a:solidFill>
            <a:ln>
              <a:noFill/>
            </a:ln>
          </p:spPr>
        </p:sp>
        <p:sp>
          <p:nvSpPr>
            <p:cNvPr id="59" name="TextBox 59"/>
            <p:cNvSpPr txBox="1"/>
            <p:nvPr/>
          </p:nvSpPr>
          <p:spPr>
            <a:xfrm>
              <a:off x="3379633" y="3723799"/>
              <a:ext cx="5432734" cy="190690"/>
            </a:xfrm>
            <a:prstGeom prst="rect">
              <a:avLst/>
            </a:prstGeom>
            <a:noFill/>
            <a:ln>
              <a:noFill/>
            </a:ln>
          </p:spPr>
          <p:txBody>
            <a:bodyPr wrap="none" lIns="0" tIns="0" rIns="0" bIns="0" anchor="t" anchorCtr="0">
              <a:spAutoFit/>
            </a:bodyPr>
            <a:lstStyle/>
            <a:p>
              <a:pPr algn="ctr"/>
              <a:r>
                <a:rPr lang="zh-CN" sz="980" b="1" dirty="0">
                  <a:solidFill>
                    <a:srgbClr val="1E4FA8"/>
                  </a:solidFill>
                  <a:latin typeface="Arial"/>
                  <a:ea typeface="Microsoft YaHei"/>
                  <a:cs typeface="Arial"/>
                </a:rPr>
                <a:t>诱发变化与初始变化同向 → 沿原方向放大 Induced change reinforces the initial change</a:t>
              </a:r>
            </a:p>
          </p:txBody>
        </p:sp>
        <p:sp>
          <p:nvSpPr>
            <p:cNvPr id="60" name="Rectangle 60"/>
            <p:cNvSpPr/>
            <p:nvPr/>
          </p:nvSpPr>
          <p:spPr>
            <a:xfrm>
              <a:off x="609600" y="4095750"/>
              <a:ext cx="4953000" cy="666750"/>
            </a:xfrm>
            <a:prstGeom prst="roundRect">
              <a:avLst>
                <a:gd name="adj" fmla="val 17143"/>
              </a:avLst>
            </a:prstGeom>
            <a:solidFill>
              <a:srgbClr val="1E4FA8"/>
            </a:solidFill>
            <a:ln>
              <a:noFill/>
            </a:ln>
          </p:spPr>
        </p:sp>
        <p:sp>
          <p:nvSpPr>
            <p:cNvPr id="61" name="Ellipse 61"/>
            <p:cNvSpPr/>
            <p:nvPr/>
          </p:nvSpPr>
          <p:spPr>
            <a:xfrm>
              <a:off x="800100" y="4276725"/>
              <a:ext cx="304800" cy="304800"/>
            </a:xfrm>
            <a:prstGeom prst="ellipse">
              <a:avLst/>
            </a:prstGeom>
            <a:solidFill>
              <a:srgbClr val="FFFFFF"/>
            </a:solidFill>
            <a:ln>
              <a:noFill/>
            </a:ln>
          </p:spPr>
        </p:sp>
        <p:sp>
          <p:nvSpPr>
            <p:cNvPr id="62" name="TextBox 62"/>
            <p:cNvSpPr txBox="1"/>
            <p:nvPr/>
          </p:nvSpPr>
          <p:spPr>
            <a:xfrm>
              <a:off x="886573" y="4333875"/>
              <a:ext cx="131855" cy="293370"/>
            </a:xfrm>
            <a:prstGeom prst="rect">
              <a:avLst/>
            </a:prstGeom>
            <a:noFill/>
            <a:ln>
              <a:noFill/>
            </a:ln>
          </p:spPr>
          <p:txBody>
            <a:bodyPr wrap="none" lIns="0" tIns="0" rIns="0" bIns="0" anchor="t" anchorCtr="0">
              <a:spAutoFit/>
            </a:bodyPr>
            <a:lstStyle/>
            <a:p>
              <a:pPr algn="ctr"/>
              <a:r>
                <a:rPr lang="en-US" sz="1500" b="1" dirty="0">
                  <a:solidFill>
                    <a:srgbClr val="1E4FA8"/>
                  </a:solidFill>
                  <a:latin typeface="Arial"/>
                  <a:ea typeface="Arial"/>
                  <a:cs typeface="Arial"/>
                </a:rPr>
                <a:t>+</a:t>
              </a:r>
            </a:p>
          </p:txBody>
        </p:sp>
        <p:sp>
          <p:nvSpPr>
            <p:cNvPr id="63" name="TextBox 63"/>
            <p:cNvSpPr txBox="1"/>
            <p:nvPr/>
          </p:nvSpPr>
          <p:spPr>
            <a:xfrm>
              <a:off x="1213104" y="4232910"/>
              <a:ext cx="2020563" cy="234696"/>
            </a:xfrm>
            <a:prstGeom prst="rect">
              <a:avLst/>
            </a:prstGeom>
            <a:noFill/>
            <a:ln>
              <a:noFill/>
            </a:ln>
          </p:spPr>
          <p:txBody>
            <a:bodyPr wrap="none" lIns="0" tIns="0" rIns="0" bIns="0" anchor="t" anchorCtr="0">
              <a:spAutoFit/>
            </a:bodyPr>
            <a:lstStyle/>
            <a:p>
              <a:pPr algn="l"/>
              <a:r>
                <a:rPr lang="zh-CN" sz="1200" b="1" dirty="0">
                  <a:solidFill>
                    <a:srgbClr val="FFFFFF"/>
                  </a:solidFill>
                  <a:latin typeface="Arial"/>
                  <a:ea typeface="Microsoft YaHei"/>
                  <a:cs typeface="Arial"/>
                </a:rPr>
                <a:t>Positive Feedback 正反馈</a:t>
              </a:r>
            </a:p>
          </p:txBody>
        </p:sp>
        <p:sp>
          <p:nvSpPr>
            <p:cNvPr id="64" name="TextBox 64"/>
            <p:cNvSpPr txBox="1"/>
            <p:nvPr/>
          </p:nvSpPr>
          <p:spPr>
            <a:xfrm>
              <a:off x="1214438" y="4493895"/>
              <a:ext cx="3226479" cy="176212"/>
            </a:xfrm>
            <a:prstGeom prst="rect">
              <a:avLst/>
            </a:prstGeom>
            <a:noFill/>
            <a:ln>
              <a:noFill/>
            </a:ln>
          </p:spPr>
          <p:txBody>
            <a:bodyPr wrap="none" lIns="0" tIns="0" rIns="0" bIns="0" anchor="t" anchorCtr="0">
              <a:spAutoFit/>
            </a:bodyPr>
            <a:lstStyle/>
            <a:p>
              <a:pPr algn="l"/>
              <a:r>
                <a:rPr lang="zh-CN" sz="900" dirty="0">
                  <a:solidFill>
                    <a:srgbClr val="D6E4F7"/>
                  </a:solidFill>
                  <a:latin typeface="Arial"/>
                  <a:ea typeface="Microsoft YaHei"/>
                  <a:cs typeface="Arial"/>
                </a:rPr>
                <a:t>诱发变化加强初始增温 Induced change amplifies warming</a:t>
              </a:r>
            </a:p>
          </p:txBody>
        </p:sp>
        <p:sp>
          <p:nvSpPr>
            <p:cNvPr id="65" name="Rectangle 65"/>
            <p:cNvSpPr/>
            <p:nvPr/>
          </p:nvSpPr>
          <p:spPr>
            <a:xfrm>
              <a:off x="5753100" y="4095750"/>
              <a:ext cx="5829300" cy="666750"/>
            </a:xfrm>
            <a:prstGeom prst="roundRect">
              <a:avLst>
                <a:gd name="adj" fmla="val 17143"/>
              </a:avLst>
            </a:prstGeom>
            <a:solidFill>
              <a:srgbClr val="F0F5FC"/>
            </a:solidFill>
            <a:ln w="9525">
              <a:solidFill>
                <a:srgbClr val="D6DCE5"/>
              </a:solidFill>
            </a:ln>
          </p:spPr>
        </p:sp>
        <p:sp>
          <p:nvSpPr>
            <p:cNvPr id="66" name="TextBox 66"/>
            <p:cNvSpPr txBox="1"/>
            <p:nvPr/>
          </p:nvSpPr>
          <p:spPr>
            <a:xfrm>
              <a:off x="5900547" y="4257199"/>
              <a:ext cx="2648458" cy="190690"/>
            </a:xfrm>
            <a:prstGeom prst="rect">
              <a:avLst/>
            </a:prstGeom>
            <a:noFill/>
            <a:ln>
              <a:noFill/>
            </a:ln>
          </p:spPr>
          <p:txBody>
            <a:bodyPr wrap="none" lIns="0" tIns="0" rIns="0" bIns="0" anchor="t" anchorCtr="0">
              <a:spAutoFit/>
            </a:bodyPr>
            <a:lstStyle/>
            <a:p>
              <a:pPr algn="l"/>
              <a:r>
                <a:rPr lang="zh-CN" sz="980" dirty="0">
                  <a:solidFill>
                    <a:srgbClr val="1A2230"/>
                  </a:solidFill>
                  <a:latin typeface="Arial"/>
                  <a:ea typeface="Microsoft YaHei"/>
                  <a:cs typeface="Arial"/>
                </a:rPr>
                <a:t>水汽是对初始增温的反馈，不是独立初始强迫</a:t>
              </a:r>
            </a:p>
          </p:txBody>
        </p:sp>
        <p:sp>
          <p:nvSpPr>
            <p:cNvPr id="67" name="TextBox 67"/>
            <p:cNvSpPr txBox="1"/>
            <p:nvPr/>
          </p:nvSpPr>
          <p:spPr>
            <a:xfrm>
              <a:off x="5900738" y="4493895"/>
              <a:ext cx="4344943" cy="176212"/>
            </a:xfrm>
            <a:prstGeom prst="rect">
              <a:avLst/>
            </a:prstGeom>
            <a:noFill/>
            <a:ln>
              <a:noFill/>
            </a:ln>
          </p:spPr>
          <p:txBody>
            <a:bodyPr wrap="none" lIns="0" tIns="0" rIns="0" bIns="0" anchor="t" anchorCtr="0">
              <a:spAutoFit/>
            </a:bodyPr>
            <a:lstStyle/>
            <a:p>
              <a:pPr algn="l"/>
              <a:r>
                <a:rPr lang="en-US" sz="900" dirty="0">
                  <a:solidFill>
                    <a:srgbClr val="4A5568"/>
                  </a:solidFill>
                  <a:latin typeface="Arial"/>
                  <a:ea typeface="Arial"/>
                  <a:cs typeface="Arial"/>
                </a:rPr>
                <a:t>Water vapor responds to initial warming; it is not an independent forcing</a:t>
              </a:r>
            </a:p>
          </p:txBody>
        </p:sp>
      </p:grpSp>
      <p:grpSp>
        <p:nvGrpSpPr>
          <p:cNvPr id="71" name="Group 71"/>
          <p:cNvGrpSpPr/>
          <p:nvPr/>
        </p:nvGrpSpPr>
        <p:grpSpPr>
          <a:xfrm>
            <a:off x="376047" y="5228749"/>
            <a:ext cx="7604000" cy="571690"/>
            <a:chOff x="376047" y="5228749"/>
            <a:chExt cx="7604000" cy="571690"/>
          </a:xfrm>
        </p:grpSpPr>
        <p:sp>
          <p:nvSpPr>
            <p:cNvPr id="69" name="TextBox 69"/>
            <p:cNvSpPr txBox="1"/>
            <p:nvPr/>
          </p:nvSpPr>
          <p:spPr>
            <a:xfrm>
              <a:off x="376047" y="5228749"/>
              <a:ext cx="6866401" cy="190690"/>
            </a:xfrm>
            <a:prstGeom prst="rect">
              <a:avLst/>
            </a:prstGeom>
            <a:noFill/>
            <a:ln>
              <a:noFill/>
            </a:ln>
          </p:spPr>
          <p:txBody>
            <a:bodyPr wrap="none" lIns="0" tIns="0" rIns="0" bIns="0" anchor="t" anchorCtr="0">
              <a:spAutoFit/>
            </a:bodyPr>
            <a:lstStyle/>
            <a:p>
              <a:pPr algn="l"/>
              <a:r>
                <a:rPr lang="zh-CN" sz="980" dirty="0">
                  <a:solidFill>
                    <a:srgbClr val="1A2230"/>
                  </a:solidFill>
                  <a:latin typeface="Arial"/>
                  <a:ea typeface="Microsoft YaHei"/>
                  <a:cs typeface="Arial"/>
                </a:rPr>
                <a:t>闭环判断：初始增温诱发的变化继续加强增温，因此是正反馈。 The loop amplifies the initial warming → positive.</a:t>
              </a:r>
            </a:p>
          </p:txBody>
        </p:sp>
        <p:sp>
          <p:nvSpPr>
            <p:cNvPr id="70" name="TextBox 70"/>
            <p:cNvSpPr txBox="1"/>
            <p:nvPr/>
          </p:nvSpPr>
          <p:spPr>
            <a:xfrm>
              <a:off x="376047" y="5609749"/>
              <a:ext cx="7604000" cy="190690"/>
            </a:xfrm>
            <a:prstGeom prst="rect">
              <a:avLst/>
            </a:prstGeom>
            <a:noFill/>
            <a:ln>
              <a:noFill/>
            </a:ln>
          </p:spPr>
          <p:txBody>
            <a:bodyPr wrap="none" lIns="0" tIns="0" rIns="0" bIns="0" anchor="t" anchorCtr="0">
              <a:spAutoFit/>
            </a:bodyPr>
            <a:lstStyle/>
            <a:p>
              <a:pPr algn="l"/>
              <a:r>
                <a:rPr lang="zh-CN" sz="980" dirty="0">
                  <a:solidFill>
                    <a:srgbClr val="4A5568"/>
                  </a:solidFill>
                  <a:latin typeface="Arial"/>
                  <a:ea typeface="Microsoft YaHei"/>
                  <a:cs typeface="Arial"/>
                </a:rPr>
                <a:t>判断步骤：找初始变化 → 跟踪诱发变化 → 比较最终作用方向 Steps: initial change → induced change → compare final direction</a:t>
              </a:r>
            </a:p>
          </p:txBody>
        </p:sp>
      </p:grpSp>
      <p:sp>
        <p:nvSpPr>
          <p:cNvPr id="72" name="TextBox 72"/>
          <p:cNvSpPr txBox="1"/>
          <p:nvPr/>
        </p:nvSpPr>
        <p:spPr>
          <a:xfrm>
            <a:off x="376238" y="6532245"/>
            <a:ext cx="8013174" cy="176212"/>
          </a:xfrm>
          <a:prstGeom prst="rect">
            <a:avLst/>
          </a:prstGeom>
          <a:noFill/>
          <a:ln>
            <a:noFill/>
          </a:ln>
        </p:spPr>
        <p:txBody>
          <a:bodyPr wrap="none" lIns="0" tIns="0" rIns="0" bIns="0" anchor="t" anchorCtr="0">
            <a:spAutoFit/>
          </a:bodyPr>
          <a:lstStyle/>
          <a:p>
            <a:pPr algn="l"/>
            <a:r>
              <a:rPr lang="en-US" sz="900" dirty="0">
                <a:solidFill>
                  <a:srgbClr val="4A5568"/>
                </a:solidFill>
                <a:latin typeface="Arial"/>
                <a:ea typeface="Arial"/>
                <a:cs typeface="Arial"/>
              </a:rPr>
              <a:t>Source: UE 8e, Ch.12, PDF p.1177; EP 5e, Ch.23, pp.883–884 (M-12). CN Ch.3 PDF pp.10, 27–28 supports phase-change context only.</a:t>
            </a:r>
          </a:p>
        </p:txBody>
      </p:sp>
      <p:sp>
        <p:nvSpPr>
          <p:cNvPr id="73" name="TextBox 73"/>
          <p:cNvSpPr txBox="1"/>
          <p:nvPr/>
        </p:nvSpPr>
        <p:spPr>
          <a:xfrm>
            <a:off x="11672964" y="6532245"/>
            <a:ext cx="142799" cy="176212"/>
          </a:xfrm>
          <a:prstGeom prst="rect">
            <a:avLst/>
          </a:prstGeom>
          <a:noFill/>
          <a:ln>
            <a:noFill/>
          </a:ln>
        </p:spPr>
        <p:txBody>
          <a:bodyPr wrap="none" lIns="0" tIns="0" rIns="0" bIns="0" anchor="t" anchorCtr="0">
            <a:spAutoFit/>
          </a:bodyPr>
          <a:lstStyle/>
          <a:p>
            <a:pPr algn="r"/>
            <a:r>
              <a:rPr lang="en-US" sz="900" dirty="0">
                <a:solidFill>
                  <a:srgbClr val="4A5568"/>
                </a:solidFill>
                <a:latin typeface="Arial"/>
                <a:ea typeface="Arial"/>
                <a:cs typeface="Arial"/>
              </a:rPr>
              <a:t>36</a:t>
            </a:r>
          </a:p>
        </p:txBody>
      </p:sp>
    </p:spTree>
    <p:extLst>
      <p:ext uri="{BB962C8B-B14F-4D97-AF65-F5344CB8AC3E}">
        <p14:creationId xmlns:p14="http://schemas.microsoft.com/office/powerpoint/2010/main" val="538217080"/>
      </p:ext>
    </p:extLst>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5"/>
          <p:cNvGrpSpPr/>
          <p:nvPr/>
        </p:nvGrpSpPr>
        <p:grpSpPr>
          <a:xfrm>
            <a:off x="0" y="0"/>
            <a:ext cx="12192000" cy="685800"/>
            <a:chOff x="0" y="0"/>
            <a:chExt cx="12192000" cy="685800"/>
          </a:xfrm>
        </p:grpSpPr>
        <p:sp>
          <p:nvSpPr>
            <p:cNvPr id="2" name="Rectangle 2"/>
            <p:cNvSpPr/>
            <p:nvPr/>
          </p:nvSpPr>
          <p:spPr>
            <a:xfrm>
              <a:off x="0" y="0"/>
              <a:ext cx="12192000" cy="685800"/>
            </a:xfrm>
            <a:prstGeom prst="rect">
              <a:avLst/>
            </a:prstGeom>
            <a:solidFill>
              <a:srgbClr val="0E3F8C"/>
            </a:solidFill>
            <a:ln>
              <a:noFill/>
            </a:ln>
          </p:spPr>
        </p:sp>
        <p:sp>
          <p:nvSpPr>
            <p:cNvPr id="3" name="TextBox 3"/>
            <p:cNvSpPr txBox="1"/>
            <p:nvPr/>
          </p:nvSpPr>
          <p:spPr>
            <a:xfrm>
              <a:off x="374142" y="282892"/>
              <a:ext cx="3639793" cy="264033"/>
            </a:xfrm>
            <a:prstGeom prst="rect">
              <a:avLst/>
            </a:prstGeom>
            <a:noFill/>
            <a:ln>
              <a:noFill/>
            </a:ln>
          </p:spPr>
          <p:txBody>
            <a:bodyPr wrap="none" lIns="0" tIns="0" rIns="0" bIns="0" anchor="t" anchorCtr="0">
              <a:spAutoFit/>
            </a:bodyPr>
            <a:lstStyle/>
            <a:p>
              <a:pPr algn="l"/>
              <a:r>
                <a:rPr lang="zh-CN" sz="1350" b="1" dirty="0">
                  <a:solidFill>
                    <a:srgbClr val="FFFFFF"/>
                  </a:solidFill>
                  <a:latin typeface="Arial"/>
                  <a:ea typeface="Microsoft YaHei"/>
                  <a:cs typeface="Arial"/>
                </a:rPr>
                <a:t>3.3 冰–反照率反馈 | Ice–Albedo Feedback</a:t>
              </a:r>
            </a:p>
          </p:txBody>
        </p:sp>
        <p:sp>
          <p:nvSpPr>
            <p:cNvPr id="4" name="TextBox 4"/>
            <p:cNvSpPr txBox="1"/>
            <p:nvPr/>
          </p:nvSpPr>
          <p:spPr>
            <a:xfrm>
              <a:off x="10302850" y="299085"/>
              <a:ext cx="1514246" cy="234696"/>
            </a:xfrm>
            <a:prstGeom prst="rect">
              <a:avLst/>
            </a:prstGeom>
            <a:noFill/>
            <a:ln>
              <a:noFill/>
            </a:ln>
          </p:spPr>
          <p:txBody>
            <a:bodyPr wrap="none" lIns="0" tIns="0" rIns="0" bIns="0" anchor="t" anchorCtr="0">
              <a:spAutoFit/>
            </a:bodyPr>
            <a:lstStyle/>
            <a:p>
              <a:pPr algn="r"/>
              <a:r>
                <a:rPr lang="en-US" sz="1200" dirty="0">
                  <a:solidFill>
                    <a:srgbClr val="C7D7F2"/>
                  </a:solidFill>
                  <a:latin typeface="Arial"/>
                  <a:ea typeface="Arial"/>
                  <a:cs typeface="Arial"/>
                </a:rPr>
                <a:t>POSITIVE FEEDBACK</a:t>
              </a:r>
            </a:p>
          </p:txBody>
        </p:sp>
      </p:grpSp>
      <p:grpSp>
        <p:nvGrpSpPr>
          <p:cNvPr id="8" name="Group 8"/>
          <p:cNvGrpSpPr/>
          <p:nvPr/>
        </p:nvGrpSpPr>
        <p:grpSpPr>
          <a:xfrm>
            <a:off x="381000" y="914400"/>
            <a:ext cx="6773139" cy="357093"/>
            <a:chOff x="381000" y="914400"/>
            <a:chExt cx="6773139" cy="357093"/>
          </a:xfrm>
        </p:grpSpPr>
        <p:sp>
          <p:nvSpPr>
            <p:cNvPr id="6" name="Rectangle 6"/>
            <p:cNvSpPr/>
            <p:nvPr/>
          </p:nvSpPr>
          <p:spPr>
            <a:xfrm>
              <a:off x="381000" y="914400"/>
              <a:ext cx="57150" cy="266700"/>
            </a:xfrm>
            <a:prstGeom prst="roundRect">
              <a:avLst>
                <a:gd name="adj" fmla="val 50000"/>
              </a:avLst>
            </a:prstGeom>
            <a:solidFill>
              <a:srgbClr val="1E4FA8"/>
            </a:solidFill>
            <a:ln>
              <a:noFill/>
            </a:ln>
          </p:spPr>
        </p:sp>
        <p:sp>
          <p:nvSpPr>
            <p:cNvPr id="7" name="TextBox 7"/>
            <p:cNvSpPr txBox="1"/>
            <p:nvPr/>
          </p:nvSpPr>
          <p:spPr>
            <a:xfrm>
              <a:off x="544449" y="963454"/>
              <a:ext cx="6609690" cy="308039"/>
            </a:xfrm>
            <a:prstGeom prst="rect">
              <a:avLst/>
            </a:prstGeom>
            <a:noFill/>
            <a:ln>
              <a:noFill/>
            </a:ln>
          </p:spPr>
          <p:txBody>
            <a:bodyPr wrap="none" lIns="0" tIns="0" rIns="0" bIns="0" anchor="t" anchorCtr="0">
              <a:spAutoFit/>
            </a:bodyPr>
            <a:lstStyle/>
            <a:p>
              <a:pPr algn="l"/>
              <a:r>
                <a:rPr lang="zh-CN" sz="1580" b="1" dirty="0">
                  <a:solidFill>
                    <a:srgbClr val="0E3F8C"/>
                  </a:solidFill>
                  <a:latin typeface="Arial"/>
                  <a:ea typeface="Microsoft YaHei"/>
                  <a:cs typeface="Arial"/>
                </a:rPr>
                <a:t>增温减少冰雪与反照率，吸收的太阳能增加：又一条自我加强的正反馈</a:t>
              </a:r>
            </a:p>
          </p:txBody>
        </p:sp>
      </p:grpSp>
      <p:grpSp>
        <p:nvGrpSpPr>
          <p:cNvPr id="67" name="Group 67"/>
          <p:cNvGrpSpPr/>
          <p:nvPr/>
        </p:nvGrpSpPr>
        <p:grpSpPr>
          <a:xfrm>
            <a:off x="381000" y="1428750"/>
            <a:ext cx="11430000" cy="3524250"/>
            <a:chOff x="381000" y="1428750"/>
            <a:chExt cx="11430000" cy="3524250"/>
          </a:xfrm>
        </p:grpSpPr>
        <p:sp>
          <p:nvSpPr>
            <p:cNvPr id="9" name="Rectangle 9"/>
            <p:cNvSpPr/>
            <p:nvPr/>
          </p:nvSpPr>
          <p:spPr>
            <a:xfrm>
              <a:off x="381000" y="1428750"/>
              <a:ext cx="11430000" cy="3524250"/>
            </a:xfrm>
            <a:prstGeom prst="roundRect">
              <a:avLst>
                <a:gd name="adj" fmla="val 3243"/>
              </a:avLst>
            </a:prstGeom>
            <a:solidFill>
              <a:srgbClr val="F7F9FC"/>
            </a:solidFill>
            <a:ln w="9525">
              <a:solidFill>
                <a:srgbClr val="D6DCE5"/>
              </a:solidFill>
            </a:ln>
          </p:spPr>
        </p:sp>
        <p:sp>
          <p:nvSpPr>
            <p:cNvPr id="10" name="Rectangle 10"/>
            <p:cNvSpPr/>
            <p:nvPr/>
          </p:nvSpPr>
          <p:spPr>
            <a:xfrm>
              <a:off x="666750" y="1619250"/>
              <a:ext cx="1943100" cy="247650"/>
            </a:xfrm>
            <a:prstGeom prst="roundRect">
              <a:avLst>
                <a:gd name="adj" fmla="val 30769"/>
              </a:avLst>
            </a:prstGeom>
            <a:solidFill>
              <a:srgbClr val="E8EFF8"/>
            </a:solidFill>
            <a:ln>
              <a:noFill/>
            </a:ln>
          </p:spPr>
        </p:sp>
        <p:sp>
          <p:nvSpPr>
            <p:cNvPr id="11" name="TextBox 11"/>
            <p:cNvSpPr txBox="1"/>
            <p:nvPr/>
          </p:nvSpPr>
          <p:spPr>
            <a:xfrm>
              <a:off x="958943" y="1693545"/>
              <a:ext cx="1358713" cy="176212"/>
            </a:xfrm>
            <a:prstGeom prst="rect">
              <a:avLst/>
            </a:prstGeom>
            <a:noFill/>
            <a:ln>
              <a:noFill/>
            </a:ln>
          </p:spPr>
          <p:txBody>
            <a:bodyPr wrap="none" lIns="0" tIns="0" rIns="0" bIns="0" anchor="t" anchorCtr="0">
              <a:spAutoFit/>
            </a:bodyPr>
            <a:lstStyle/>
            <a:p>
              <a:pPr algn="ctr"/>
              <a:r>
                <a:rPr lang="zh-CN" sz="900" b="1" dirty="0">
                  <a:solidFill>
                    <a:srgbClr val="1E4FA8"/>
                  </a:solidFill>
                  <a:latin typeface="Arial"/>
                  <a:ea typeface="Microsoft YaHei"/>
                  <a:cs typeface="Arial"/>
                </a:rPr>
                <a:t>初始变化 Initial change</a:t>
              </a:r>
            </a:p>
          </p:txBody>
        </p:sp>
        <p:sp>
          <p:nvSpPr>
            <p:cNvPr id="12" name="Rectangle 12"/>
            <p:cNvSpPr/>
            <p:nvPr/>
          </p:nvSpPr>
          <p:spPr>
            <a:xfrm>
              <a:off x="2895600" y="1619250"/>
              <a:ext cx="8629650" cy="247650"/>
            </a:xfrm>
            <a:prstGeom prst="roundRect">
              <a:avLst>
                <a:gd name="adj" fmla="val 30769"/>
              </a:avLst>
            </a:prstGeom>
            <a:solidFill>
              <a:srgbClr val="F0F5FC"/>
            </a:solidFill>
            <a:ln>
              <a:noFill/>
            </a:ln>
          </p:spPr>
        </p:sp>
        <p:sp>
          <p:nvSpPr>
            <p:cNvPr id="13" name="TextBox 13"/>
            <p:cNvSpPr txBox="1"/>
            <p:nvPr/>
          </p:nvSpPr>
          <p:spPr>
            <a:xfrm>
              <a:off x="3043238" y="1693545"/>
              <a:ext cx="2132938" cy="176212"/>
            </a:xfrm>
            <a:prstGeom prst="rect">
              <a:avLst/>
            </a:prstGeom>
            <a:noFill/>
            <a:ln>
              <a:noFill/>
            </a:ln>
          </p:spPr>
          <p:txBody>
            <a:bodyPr wrap="none" lIns="0" tIns="0" rIns="0" bIns="0" anchor="t" anchorCtr="0">
              <a:spAutoFit/>
            </a:bodyPr>
            <a:lstStyle/>
            <a:p>
              <a:pPr algn="l"/>
              <a:r>
                <a:rPr lang="zh-CN" sz="900" dirty="0">
                  <a:solidFill>
                    <a:srgbClr val="4A5568"/>
                  </a:solidFill>
                  <a:latin typeface="Arial"/>
                  <a:ea typeface="Microsoft YaHei"/>
                  <a:cs typeface="Arial"/>
                </a:rPr>
                <a:t>诱发变化 Induced change（步骤 2–5）</a:t>
              </a:r>
            </a:p>
          </p:txBody>
        </p:sp>
        <p:grpSp>
          <p:nvGrpSpPr>
            <p:cNvPr id="20" name="Group 20"/>
            <p:cNvGrpSpPr/>
            <p:nvPr/>
          </p:nvGrpSpPr>
          <p:grpSpPr>
            <a:xfrm>
              <a:off x="666750" y="2000250"/>
              <a:ext cx="1943100" cy="1143000"/>
              <a:chOff x="666750" y="2000250"/>
              <a:chExt cx="1943100" cy="1143000"/>
            </a:xfrm>
          </p:grpSpPr>
          <p:sp>
            <p:nvSpPr>
              <p:cNvPr id="14" name="Rectangle 14"/>
              <p:cNvSpPr/>
              <p:nvPr/>
            </p:nvSpPr>
            <p:spPr>
              <a:xfrm>
                <a:off x="666750" y="2000250"/>
                <a:ext cx="1943100" cy="1143000"/>
              </a:xfrm>
              <a:prstGeom prst="roundRect">
                <a:avLst>
                  <a:gd name="adj" fmla="val 8333"/>
                </a:avLst>
              </a:prstGeom>
              <a:solidFill>
                <a:srgbClr val="F0F5FC"/>
              </a:solidFill>
              <a:ln w="19050">
                <a:solidFill>
                  <a:srgbClr val="1E4FA8"/>
                </a:solidFill>
              </a:ln>
            </p:spPr>
          </p:sp>
          <p:sp>
            <p:nvSpPr>
              <p:cNvPr id="15" name="Ellipse 15"/>
              <p:cNvSpPr/>
              <p:nvPr/>
            </p:nvSpPr>
            <p:spPr>
              <a:xfrm>
                <a:off x="790575" y="2143125"/>
                <a:ext cx="247650" cy="247650"/>
              </a:xfrm>
              <a:prstGeom prst="ellipse">
                <a:avLst/>
              </a:prstGeom>
              <a:solidFill>
                <a:srgbClr val="1E4FA8"/>
              </a:solidFill>
              <a:ln>
                <a:noFill/>
              </a:ln>
            </p:spPr>
          </p:sp>
          <p:sp>
            <p:nvSpPr>
              <p:cNvPr id="16" name="TextBox 16"/>
              <p:cNvSpPr txBox="1"/>
              <p:nvPr/>
            </p:nvSpPr>
            <p:spPr>
              <a:xfrm>
                <a:off x="871353" y="2209324"/>
                <a:ext cx="86094" cy="190690"/>
              </a:xfrm>
              <a:prstGeom prst="rect">
                <a:avLst/>
              </a:prstGeom>
              <a:noFill/>
              <a:ln>
                <a:noFill/>
              </a:ln>
            </p:spPr>
            <p:txBody>
              <a:bodyPr wrap="none" lIns="0" tIns="0" rIns="0" bIns="0" anchor="t" anchorCtr="0">
                <a:spAutoFit/>
              </a:bodyPr>
              <a:lstStyle/>
              <a:p>
                <a:pPr algn="ctr"/>
                <a:r>
                  <a:rPr lang="en-US" sz="980" b="1" dirty="0">
                    <a:solidFill>
                      <a:srgbClr val="FFFFFF"/>
                    </a:solidFill>
                    <a:latin typeface="Arial"/>
                    <a:ea typeface="Arial"/>
                    <a:cs typeface="Arial"/>
                  </a:rPr>
                  <a:t>1</a:t>
                </a:r>
              </a:p>
            </p:txBody>
          </p:sp>
          <p:sp>
            <p:nvSpPr>
              <p:cNvPr id="17" name="TextBox 17"/>
              <p:cNvSpPr txBox="1"/>
              <p:nvPr/>
            </p:nvSpPr>
            <p:spPr>
              <a:xfrm>
                <a:off x="1118235" y="2193131"/>
                <a:ext cx="614528" cy="220028"/>
              </a:xfrm>
              <a:prstGeom prst="rect">
                <a:avLst/>
              </a:prstGeom>
              <a:noFill/>
              <a:ln>
                <a:noFill/>
              </a:ln>
            </p:spPr>
            <p:txBody>
              <a:bodyPr wrap="none" lIns="0" tIns="0" rIns="0" bIns="0" anchor="t" anchorCtr="0">
                <a:spAutoFit/>
              </a:bodyPr>
              <a:lstStyle/>
              <a:p>
                <a:pPr algn="l"/>
                <a:r>
                  <a:rPr lang="zh-CN" sz="1120" b="1" dirty="0">
                    <a:solidFill>
                      <a:srgbClr val="0E3F8C"/>
                    </a:solidFill>
                    <a:latin typeface="Arial"/>
                    <a:ea typeface="Microsoft YaHei"/>
                    <a:cs typeface="Arial"/>
                  </a:rPr>
                  <a:t>初始增温</a:t>
                </a:r>
              </a:p>
            </p:txBody>
          </p:sp>
          <p:sp>
            <p:nvSpPr>
              <p:cNvPr id="18" name="TextBox 18"/>
              <p:cNvSpPr txBox="1"/>
              <p:nvPr/>
            </p:nvSpPr>
            <p:spPr>
              <a:xfrm>
                <a:off x="814388" y="2493645"/>
                <a:ext cx="879307" cy="176212"/>
              </a:xfrm>
              <a:prstGeom prst="rect">
                <a:avLst/>
              </a:prstGeom>
              <a:noFill/>
              <a:ln>
                <a:noFill/>
              </a:ln>
            </p:spPr>
            <p:txBody>
              <a:bodyPr wrap="none" lIns="0" tIns="0" rIns="0" bIns="0" anchor="t" anchorCtr="0">
                <a:spAutoFit/>
              </a:bodyPr>
              <a:lstStyle/>
              <a:p>
                <a:pPr algn="l"/>
                <a:r>
                  <a:rPr lang="en-US" sz="900" dirty="0">
                    <a:solidFill>
                      <a:srgbClr val="4A5568"/>
                    </a:solidFill>
                    <a:latin typeface="Arial"/>
                    <a:ea typeface="Arial"/>
                    <a:cs typeface="Arial"/>
                  </a:rPr>
                  <a:t>Initial warming</a:t>
                </a:r>
              </a:p>
            </p:txBody>
          </p:sp>
          <p:sp>
            <p:nvSpPr>
              <p:cNvPr id="19" name="TextBox 19"/>
              <p:cNvSpPr txBox="1"/>
              <p:nvPr/>
            </p:nvSpPr>
            <p:spPr>
              <a:xfrm>
                <a:off x="814388" y="2722245"/>
                <a:ext cx="494157" cy="176212"/>
              </a:xfrm>
              <a:prstGeom prst="rect">
                <a:avLst/>
              </a:prstGeom>
              <a:noFill/>
              <a:ln>
                <a:noFill/>
              </a:ln>
            </p:spPr>
            <p:txBody>
              <a:bodyPr wrap="none" lIns="0" tIns="0" rIns="0" bIns="0" anchor="t" anchorCtr="0">
                <a:spAutoFit/>
              </a:bodyPr>
              <a:lstStyle/>
              <a:p>
                <a:pPr algn="l"/>
                <a:r>
                  <a:rPr lang="zh-CN" sz="900" dirty="0">
                    <a:solidFill>
                      <a:srgbClr val="4A5568"/>
                    </a:solidFill>
                    <a:latin typeface="Arial"/>
                    <a:ea typeface="Microsoft YaHei"/>
                    <a:cs typeface="Arial"/>
                  </a:rPr>
                  <a:t>温度上升</a:t>
                </a:r>
              </a:p>
            </p:txBody>
          </p:sp>
        </p:grpSp>
        <p:sp>
          <p:nvSpPr>
            <p:cNvPr id="21" name="Line 21"/>
            <p:cNvSpPr/>
            <p:nvPr/>
          </p:nvSpPr>
          <p:spPr>
            <a:xfrm>
              <a:off x="2638425" y="2571750"/>
              <a:ext cx="133350" cy="9525"/>
            </a:xfrm>
            <a:custGeom>
              <a:avLst/>
              <a:gdLst/>
              <a:ahLst/>
              <a:cxnLst/>
              <a:rect l="l" t="t" r="r" b="b"/>
              <a:pathLst>
                <a:path w="133350" h="9525">
                  <a:moveTo>
                    <a:pt x="0" y="0"/>
                  </a:moveTo>
                  <a:lnTo>
                    <a:pt x="133350" y="0"/>
                  </a:lnTo>
                </a:path>
              </a:pathLst>
            </a:custGeom>
            <a:noFill/>
            <a:ln w="28575">
              <a:solidFill>
                <a:srgbClr val="1E4FA8"/>
              </a:solidFill>
            </a:ln>
          </p:spPr>
        </p:sp>
        <p:sp>
          <p:nvSpPr>
            <p:cNvPr id="22" name="Polygon 22"/>
            <p:cNvSpPr/>
            <p:nvPr/>
          </p:nvSpPr>
          <p:spPr>
            <a:xfrm>
              <a:off x="2771775" y="2514600"/>
              <a:ext cx="95250" cy="114300"/>
            </a:xfrm>
            <a:custGeom>
              <a:avLst/>
              <a:gdLst/>
              <a:ahLst/>
              <a:cxnLst/>
              <a:rect l="l" t="t" r="r" b="b"/>
              <a:pathLst>
                <a:path w="95250" h="114300">
                  <a:moveTo>
                    <a:pt x="95250" y="57150"/>
                  </a:moveTo>
                  <a:lnTo>
                    <a:pt x="0" y="0"/>
                  </a:lnTo>
                  <a:lnTo>
                    <a:pt x="0" y="114300"/>
                  </a:lnTo>
                  <a:close/>
                </a:path>
              </a:pathLst>
            </a:custGeom>
            <a:solidFill>
              <a:srgbClr val="1E4FA8"/>
            </a:solidFill>
            <a:ln>
              <a:noFill/>
            </a:ln>
          </p:spPr>
        </p:sp>
        <p:grpSp>
          <p:nvGrpSpPr>
            <p:cNvPr id="29" name="Group 29"/>
            <p:cNvGrpSpPr/>
            <p:nvPr/>
          </p:nvGrpSpPr>
          <p:grpSpPr>
            <a:xfrm>
              <a:off x="2895600" y="2000250"/>
              <a:ext cx="1943100" cy="1143000"/>
              <a:chOff x="2895600" y="2000250"/>
              <a:chExt cx="1943100" cy="1143000"/>
            </a:xfrm>
          </p:grpSpPr>
          <p:sp>
            <p:nvSpPr>
              <p:cNvPr id="23" name="Rectangle 23"/>
              <p:cNvSpPr/>
              <p:nvPr/>
            </p:nvSpPr>
            <p:spPr>
              <a:xfrm>
                <a:off x="2895600" y="2000250"/>
                <a:ext cx="1943100" cy="1143000"/>
              </a:xfrm>
              <a:prstGeom prst="roundRect">
                <a:avLst>
                  <a:gd name="adj" fmla="val 8333"/>
                </a:avLst>
              </a:prstGeom>
              <a:solidFill>
                <a:srgbClr val="FFFFFF"/>
              </a:solidFill>
              <a:ln w="9525">
                <a:solidFill>
                  <a:srgbClr val="D6DCE5"/>
                </a:solidFill>
              </a:ln>
            </p:spPr>
          </p:sp>
          <p:sp>
            <p:nvSpPr>
              <p:cNvPr id="24" name="Ellipse 24"/>
              <p:cNvSpPr/>
              <p:nvPr/>
            </p:nvSpPr>
            <p:spPr>
              <a:xfrm>
                <a:off x="3019425" y="2143125"/>
                <a:ext cx="247650" cy="247650"/>
              </a:xfrm>
              <a:prstGeom prst="ellipse">
                <a:avLst/>
              </a:prstGeom>
              <a:solidFill>
                <a:srgbClr val="1E4FA8"/>
              </a:solidFill>
              <a:ln>
                <a:noFill/>
              </a:ln>
            </p:spPr>
          </p:sp>
          <p:sp>
            <p:nvSpPr>
              <p:cNvPr id="25" name="TextBox 25"/>
              <p:cNvSpPr txBox="1"/>
              <p:nvPr/>
            </p:nvSpPr>
            <p:spPr>
              <a:xfrm>
                <a:off x="3100203" y="2209324"/>
                <a:ext cx="86094" cy="190690"/>
              </a:xfrm>
              <a:prstGeom prst="rect">
                <a:avLst/>
              </a:prstGeom>
              <a:noFill/>
              <a:ln>
                <a:noFill/>
              </a:ln>
            </p:spPr>
            <p:txBody>
              <a:bodyPr wrap="none" lIns="0" tIns="0" rIns="0" bIns="0" anchor="t" anchorCtr="0">
                <a:spAutoFit/>
              </a:bodyPr>
              <a:lstStyle/>
              <a:p>
                <a:pPr algn="ctr"/>
                <a:r>
                  <a:rPr lang="en-US" sz="980" b="1" dirty="0">
                    <a:solidFill>
                      <a:srgbClr val="FFFFFF"/>
                    </a:solidFill>
                    <a:latin typeface="Arial"/>
                    <a:ea typeface="Arial"/>
                    <a:cs typeface="Arial"/>
                  </a:rPr>
                  <a:t>2</a:t>
                </a:r>
              </a:p>
            </p:txBody>
          </p:sp>
          <p:sp>
            <p:nvSpPr>
              <p:cNvPr id="26" name="TextBox 26"/>
              <p:cNvSpPr txBox="1"/>
              <p:nvPr/>
            </p:nvSpPr>
            <p:spPr>
              <a:xfrm>
                <a:off x="3347085" y="2193131"/>
                <a:ext cx="614528" cy="220028"/>
              </a:xfrm>
              <a:prstGeom prst="rect">
                <a:avLst/>
              </a:prstGeom>
              <a:noFill/>
              <a:ln>
                <a:noFill/>
              </a:ln>
            </p:spPr>
            <p:txBody>
              <a:bodyPr wrap="none" lIns="0" tIns="0" rIns="0" bIns="0" anchor="t" anchorCtr="0">
                <a:spAutoFit/>
              </a:bodyPr>
              <a:lstStyle/>
              <a:p>
                <a:pPr algn="l"/>
                <a:r>
                  <a:rPr lang="zh-CN" sz="1120" b="1" dirty="0">
                    <a:solidFill>
                      <a:srgbClr val="0E3F8C"/>
                    </a:solidFill>
                    <a:latin typeface="Arial"/>
                    <a:ea typeface="Microsoft YaHei"/>
                    <a:cs typeface="Arial"/>
                  </a:rPr>
                  <a:t>冰雪减少</a:t>
                </a:r>
              </a:p>
            </p:txBody>
          </p:sp>
          <p:sp>
            <p:nvSpPr>
              <p:cNvPr id="27" name="TextBox 27"/>
              <p:cNvSpPr txBox="1"/>
              <p:nvPr/>
            </p:nvSpPr>
            <p:spPr>
              <a:xfrm>
                <a:off x="3043238" y="2493645"/>
                <a:ext cx="1316069" cy="176212"/>
              </a:xfrm>
              <a:prstGeom prst="rect">
                <a:avLst/>
              </a:prstGeom>
              <a:noFill/>
              <a:ln>
                <a:noFill/>
              </a:ln>
            </p:spPr>
            <p:txBody>
              <a:bodyPr wrap="none" lIns="0" tIns="0" rIns="0" bIns="0" anchor="t" anchorCtr="0">
                <a:spAutoFit/>
              </a:bodyPr>
              <a:lstStyle/>
              <a:p>
                <a:pPr algn="l"/>
                <a:r>
                  <a:rPr lang="en-US" sz="900" dirty="0">
                    <a:solidFill>
                      <a:srgbClr val="4A5568"/>
                    </a:solidFill>
                    <a:latin typeface="Arial"/>
                    <a:ea typeface="Arial"/>
                    <a:cs typeface="Arial"/>
                  </a:rPr>
                  <a:t>Ice and snow decrease</a:t>
                </a:r>
              </a:p>
            </p:txBody>
          </p:sp>
          <p:sp>
            <p:nvSpPr>
              <p:cNvPr id="28" name="TextBox 28"/>
              <p:cNvSpPr txBox="1"/>
              <p:nvPr/>
            </p:nvSpPr>
            <p:spPr>
              <a:xfrm>
                <a:off x="3043238" y="2722245"/>
                <a:ext cx="736473" cy="176212"/>
              </a:xfrm>
              <a:prstGeom prst="rect">
                <a:avLst/>
              </a:prstGeom>
              <a:noFill/>
              <a:ln>
                <a:noFill/>
              </a:ln>
            </p:spPr>
            <p:txBody>
              <a:bodyPr wrap="none" lIns="0" tIns="0" rIns="0" bIns="0" anchor="t" anchorCtr="0">
                <a:spAutoFit/>
              </a:bodyPr>
              <a:lstStyle/>
              <a:p>
                <a:pPr algn="l"/>
                <a:r>
                  <a:rPr lang="zh-CN" sz="900" dirty="0">
                    <a:solidFill>
                      <a:srgbClr val="4A5568"/>
                    </a:solidFill>
                    <a:latin typeface="Arial"/>
                    <a:ea typeface="Microsoft YaHei"/>
                    <a:cs typeface="Arial"/>
                  </a:rPr>
                  <a:t>覆盖面积缩小</a:t>
                </a:r>
              </a:p>
            </p:txBody>
          </p:sp>
        </p:grpSp>
        <p:sp>
          <p:nvSpPr>
            <p:cNvPr id="30" name="Line 30"/>
            <p:cNvSpPr/>
            <p:nvPr/>
          </p:nvSpPr>
          <p:spPr>
            <a:xfrm>
              <a:off x="4867275" y="2571750"/>
              <a:ext cx="133350" cy="9525"/>
            </a:xfrm>
            <a:custGeom>
              <a:avLst/>
              <a:gdLst/>
              <a:ahLst/>
              <a:cxnLst/>
              <a:rect l="l" t="t" r="r" b="b"/>
              <a:pathLst>
                <a:path w="133350" h="9525">
                  <a:moveTo>
                    <a:pt x="0" y="0"/>
                  </a:moveTo>
                  <a:lnTo>
                    <a:pt x="133350" y="0"/>
                  </a:lnTo>
                </a:path>
              </a:pathLst>
            </a:custGeom>
            <a:noFill/>
            <a:ln w="28575">
              <a:solidFill>
                <a:srgbClr val="1E4FA8"/>
              </a:solidFill>
            </a:ln>
          </p:spPr>
        </p:sp>
        <p:sp>
          <p:nvSpPr>
            <p:cNvPr id="31" name="Polygon 31"/>
            <p:cNvSpPr/>
            <p:nvPr/>
          </p:nvSpPr>
          <p:spPr>
            <a:xfrm>
              <a:off x="5000625" y="2514600"/>
              <a:ext cx="95250" cy="114300"/>
            </a:xfrm>
            <a:custGeom>
              <a:avLst/>
              <a:gdLst/>
              <a:ahLst/>
              <a:cxnLst/>
              <a:rect l="l" t="t" r="r" b="b"/>
              <a:pathLst>
                <a:path w="95250" h="114300">
                  <a:moveTo>
                    <a:pt x="95250" y="57150"/>
                  </a:moveTo>
                  <a:lnTo>
                    <a:pt x="0" y="0"/>
                  </a:lnTo>
                  <a:lnTo>
                    <a:pt x="0" y="114300"/>
                  </a:lnTo>
                  <a:close/>
                </a:path>
              </a:pathLst>
            </a:custGeom>
            <a:solidFill>
              <a:srgbClr val="1E4FA8"/>
            </a:solidFill>
            <a:ln>
              <a:noFill/>
            </a:ln>
          </p:spPr>
        </p:sp>
        <p:grpSp>
          <p:nvGrpSpPr>
            <p:cNvPr id="38" name="Group 38"/>
            <p:cNvGrpSpPr/>
            <p:nvPr/>
          </p:nvGrpSpPr>
          <p:grpSpPr>
            <a:xfrm>
              <a:off x="5124450" y="2000250"/>
              <a:ext cx="1943100" cy="1143000"/>
              <a:chOff x="5124450" y="2000250"/>
              <a:chExt cx="1943100" cy="1143000"/>
            </a:xfrm>
          </p:grpSpPr>
          <p:sp>
            <p:nvSpPr>
              <p:cNvPr id="32" name="Rectangle 32"/>
              <p:cNvSpPr/>
              <p:nvPr/>
            </p:nvSpPr>
            <p:spPr>
              <a:xfrm>
                <a:off x="5124450" y="2000250"/>
                <a:ext cx="1943100" cy="1143000"/>
              </a:xfrm>
              <a:prstGeom prst="roundRect">
                <a:avLst>
                  <a:gd name="adj" fmla="val 8333"/>
                </a:avLst>
              </a:prstGeom>
              <a:solidFill>
                <a:srgbClr val="FFFFFF"/>
              </a:solidFill>
              <a:ln w="9525">
                <a:solidFill>
                  <a:srgbClr val="D6DCE5"/>
                </a:solidFill>
              </a:ln>
            </p:spPr>
          </p:sp>
          <p:sp>
            <p:nvSpPr>
              <p:cNvPr id="33" name="Ellipse 33"/>
              <p:cNvSpPr/>
              <p:nvPr/>
            </p:nvSpPr>
            <p:spPr>
              <a:xfrm>
                <a:off x="5248275" y="2143125"/>
                <a:ext cx="247650" cy="247650"/>
              </a:xfrm>
              <a:prstGeom prst="ellipse">
                <a:avLst/>
              </a:prstGeom>
              <a:solidFill>
                <a:srgbClr val="1E4FA8"/>
              </a:solidFill>
              <a:ln>
                <a:noFill/>
              </a:ln>
            </p:spPr>
          </p:sp>
          <p:sp>
            <p:nvSpPr>
              <p:cNvPr id="34" name="TextBox 34"/>
              <p:cNvSpPr txBox="1"/>
              <p:nvPr/>
            </p:nvSpPr>
            <p:spPr>
              <a:xfrm>
                <a:off x="5329053" y="2209324"/>
                <a:ext cx="86094" cy="190690"/>
              </a:xfrm>
              <a:prstGeom prst="rect">
                <a:avLst/>
              </a:prstGeom>
              <a:noFill/>
              <a:ln>
                <a:noFill/>
              </a:ln>
            </p:spPr>
            <p:txBody>
              <a:bodyPr wrap="none" lIns="0" tIns="0" rIns="0" bIns="0" anchor="t" anchorCtr="0">
                <a:spAutoFit/>
              </a:bodyPr>
              <a:lstStyle/>
              <a:p>
                <a:pPr algn="ctr"/>
                <a:r>
                  <a:rPr lang="en-US" sz="980" b="1" dirty="0">
                    <a:solidFill>
                      <a:srgbClr val="FFFFFF"/>
                    </a:solidFill>
                    <a:latin typeface="Arial"/>
                    <a:ea typeface="Arial"/>
                    <a:cs typeface="Arial"/>
                  </a:rPr>
                  <a:t>3</a:t>
                </a:r>
              </a:p>
            </p:txBody>
          </p:sp>
          <p:sp>
            <p:nvSpPr>
              <p:cNvPr id="35" name="TextBox 35"/>
              <p:cNvSpPr txBox="1"/>
              <p:nvPr/>
            </p:nvSpPr>
            <p:spPr>
              <a:xfrm>
                <a:off x="5575935" y="2193131"/>
                <a:ext cx="765302" cy="220028"/>
              </a:xfrm>
              <a:prstGeom prst="rect">
                <a:avLst/>
              </a:prstGeom>
              <a:noFill/>
              <a:ln>
                <a:noFill/>
              </a:ln>
            </p:spPr>
            <p:txBody>
              <a:bodyPr wrap="none" lIns="0" tIns="0" rIns="0" bIns="0" anchor="t" anchorCtr="0">
                <a:spAutoFit/>
              </a:bodyPr>
              <a:lstStyle/>
              <a:p>
                <a:pPr algn="l"/>
                <a:r>
                  <a:rPr lang="zh-CN" sz="1120" b="1" dirty="0">
                    <a:solidFill>
                      <a:srgbClr val="0E3F8C"/>
                    </a:solidFill>
                    <a:latin typeface="Arial"/>
                    <a:ea typeface="Microsoft YaHei"/>
                    <a:cs typeface="Arial"/>
                  </a:rPr>
                  <a:t>反照率下降</a:t>
                </a:r>
              </a:p>
            </p:txBody>
          </p:sp>
          <p:sp>
            <p:nvSpPr>
              <p:cNvPr id="36" name="TextBox 36"/>
              <p:cNvSpPr txBox="1"/>
              <p:nvPr/>
            </p:nvSpPr>
            <p:spPr>
              <a:xfrm>
                <a:off x="5272088" y="2493645"/>
                <a:ext cx="1521823" cy="176212"/>
              </a:xfrm>
              <a:prstGeom prst="rect">
                <a:avLst/>
              </a:prstGeom>
              <a:noFill/>
              <a:ln>
                <a:noFill/>
              </a:ln>
            </p:spPr>
            <p:txBody>
              <a:bodyPr wrap="none" lIns="0" tIns="0" rIns="0" bIns="0" anchor="t" anchorCtr="0">
                <a:spAutoFit/>
              </a:bodyPr>
              <a:lstStyle/>
              <a:p>
                <a:pPr algn="l"/>
                <a:r>
                  <a:rPr lang="en-US" sz="900" dirty="0">
                    <a:solidFill>
                      <a:srgbClr val="4A5568"/>
                    </a:solidFill>
                    <a:latin typeface="Arial"/>
                    <a:ea typeface="Arial"/>
                    <a:cs typeface="Arial"/>
                  </a:rPr>
                  <a:t>Surface albedo decreases</a:t>
                </a:r>
              </a:p>
            </p:txBody>
          </p:sp>
          <p:sp>
            <p:nvSpPr>
              <p:cNvPr id="37" name="TextBox 37"/>
              <p:cNvSpPr txBox="1"/>
              <p:nvPr/>
            </p:nvSpPr>
            <p:spPr>
              <a:xfrm>
                <a:off x="5272088" y="2722245"/>
                <a:ext cx="1118121" cy="176212"/>
              </a:xfrm>
              <a:prstGeom prst="rect">
                <a:avLst/>
              </a:prstGeom>
              <a:noFill/>
              <a:ln>
                <a:noFill/>
              </a:ln>
            </p:spPr>
            <p:txBody>
              <a:bodyPr wrap="none" lIns="0" tIns="0" rIns="0" bIns="0" anchor="t" anchorCtr="0">
                <a:spAutoFit/>
              </a:bodyPr>
              <a:lstStyle/>
              <a:p>
                <a:pPr algn="l"/>
                <a:r>
                  <a:rPr lang="zh-CN" sz="900" dirty="0">
                    <a:solidFill>
                      <a:srgbClr val="4A5568"/>
                    </a:solidFill>
                    <a:latin typeface="Arial"/>
                    <a:ea typeface="Microsoft YaHei"/>
                    <a:cs typeface="Arial"/>
                  </a:rPr>
                  <a:t>反照率 = 地表反射率</a:t>
                </a:r>
              </a:p>
            </p:txBody>
          </p:sp>
        </p:grpSp>
        <p:sp>
          <p:nvSpPr>
            <p:cNvPr id="39" name="Line 39"/>
            <p:cNvSpPr/>
            <p:nvPr/>
          </p:nvSpPr>
          <p:spPr>
            <a:xfrm>
              <a:off x="7096125" y="2571750"/>
              <a:ext cx="133350" cy="9525"/>
            </a:xfrm>
            <a:custGeom>
              <a:avLst/>
              <a:gdLst/>
              <a:ahLst/>
              <a:cxnLst/>
              <a:rect l="l" t="t" r="r" b="b"/>
              <a:pathLst>
                <a:path w="133350" h="9525">
                  <a:moveTo>
                    <a:pt x="0" y="0"/>
                  </a:moveTo>
                  <a:lnTo>
                    <a:pt x="133350" y="0"/>
                  </a:lnTo>
                </a:path>
              </a:pathLst>
            </a:custGeom>
            <a:noFill/>
            <a:ln w="28575">
              <a:solidFill>
                <a:srgbClr val="1E4FA8"/>
              </a:solidFill>
            </a:ln>
          </p:spPr>
        </p:sp>
        <p:sp>
          <p:nvSpPr>
            <p:cNvPr id="40" name="Polygon 40"/>
            <p:cNvSpPr/>
            <p:nvPr/>
          </p:nvSpPr>
          <p:spPr>
            <a:xfrm>
              <a:off x="7229475" y="2514600"/>
              <a:ext cx="95250" cy="114300"/>
            </a:xfrm>
            <a:custGeom>
              <a:avLst/>
              <a:gdLst/>
              <a:ahLst/>
              <a:cxnLst/>
              <a:rect l="l" t="t" r="r" b="b"/>
              <a:pathLst>
                <a:path w="95250" h="114300">
                  <a:moveTo>
                    <a:pt x="95250" y="57150"/>
                  </a:moveTo>
                  <a:lnTo>
                    <a:pt x="0" y="0"/>
                  </a:lnTo>
                  <a:lnTo>
                    <a:pt x="0" y="114300"/>
                  </a:lnTo>
                  <a:close/>
                </a:path>
              </a:pathLst>
            </a:custGeom>
            <a:solidFill>
              <a:srgbClr val="1E4FA8"/>
            </a:solidFill>
            <a:ln>
              <a:noFill/>
            </a:ln>
          </p:spPr>
        </p:sp>
        <p:grpSp>
          <p:nvGrpSpPr>
            <p:cNvPr id="47" name="Group 47"/>
            <p:cNvGrpSpPr/>
            <p:nvPr/>
          </p:nvGrpSpPr>
          <p:grpSpPr>
            <a:xfrm>
              <a:off x="7353300" y="2000250"/>
              <a:ext cx="1943100" cy="1143000"/>
              <a:chOff x="7353300" y="2000250"/>
              <a:chExt cx="1943100" cy="1143000"/>
            </a:xfrm>
          </p:grpSpPr>
          <p:sp>
            <p:nvSpPr>
              <p:cNvPr id="41" name="Rectangle 41"/>
              <p:cNvSpPr/>
              <p:nvPr/>
            </p:nvSpPr>
            <p:spPr>
              <a:xfrm>
                <a:off x="7353300" y="2000250"/>
                <a:ext cx="1943100" cy="1143000"/>
              </a:xfrm>
              <a:prstGeom prst="roundRect">
                <a:avLst>
                  <a:gd name="adj" fmla="val 8333"/>
                </a:avLst>
              </a:prstGeom>
              <a:solidFill>
                <a:srgbClr val="FFFFFF"/>
              </a:solidFill>
              <a:ln w="9525">
                <a:solidFill>
                  <a:srgbClr val="D6DCE5"/>
                </a:solidFill>
              </a:ln>
            </p:spPr>
          </p:sp>
          <p:sp>
            <p:nvSpPr>
              <p:cNvPr id="42" name="Ellipse 42"/>
              <p:cNvSpPr/>
              <p:nvPr/>
            </p:nvSpPr>
            <p:spPr>
              <a:xfrm>
                <a:off x="7477125" y="2143125"/>
                <a:ext cx="247650" cy="247650"/>
              </a:xfrm>
              <a:prstGeom prst="ellipse">
                <a:avLst/>
              </a:prstGeom>
              <a:solidFill>
                <a:srgbClr val="1E4FA8"/>
              </a:solidFill>
              <a:ln>
                <a:noFill/>
              </a:ln>
            </p:spPr>
          </p:sp>
          <p:sp>
            <p:nvSpPr>
              <p:cNvPr id="43" name="TextBox 43"/>
              <p:cNvSpPr txBox="1"/>
              <p:nvPr/>
            </p:nvSpPr>
            <p:spPr>
              <a:xfrm>
                <a:off x="7557903" y="2209324"/>
                <a:ext cx="86094" cy="190690"/>
              </a:xfrm>
              <a:prstGeom prst="rect">
                <a:avLst/>
              </a:prstGeom>
              <a:noFill/>
              <a:ln>
                <a:noFill/>
              </a:ln>
            </p:spPr>
            <p:txBody>
              <a:bodyPr wrap="none" lIns="0" tIns="0" rIns="0" bIns="0" anchor="t" anchorCtr="0">
                <a:spAutoFit/>
              </a:bodyPr>
              <a:lstStyle/>
              <a:p>
                <a:pPr algn="ctr"/>
                <a:r>
                  <a:rPr lang="en-US" sz="980" b="1" dirty="0">
                    <a:solidFill>
                      <a:srgbClr val="FFFFFF"/>
                    </a:solidFill>
                    <a:latin typeface="Arial"/>
                    <a:ea typeface="Arial"/>
                    <a:cs typeface="Arial"/>
                  </a:rPr>
                  <a:t>4</a:t>
                </a:r>
              </a:p>
            </p:txBody>
          </p:sp>
          <p:sp>
            <p:nvSpPr>
              <p:cNvPr id="44" name="TextBox 44"/>
              <p:cNvSpPr txBox="1"/>
              <p:nvPr/>
            </p:nvSpPr>
            <p:spPr>
              <a:xfrm>
                <a:off x="7804785" y="2193131"/>
                <a:ext cx="1066851" cy="220028"/>
              </a:xfrm>
              <a:prstGeom prst="rect">
                <a:avLst/>
              </a:prstGeom>
              <a:noFill/>
              <a:ln>
                <a:noFill/>
              </a:ln>
            </p:spPr>
            <p:txBody>
              <a:bodyPr wrap="none" lIns="0" tIns="0" rIns="0" bIns="0" anchor="t" anchorCtr="0">
                <a:spAutoFit/>
              </a:bodyPr>
              <a:lstStyle/>
              <a:p>
                <a:pPr algn="l"/>
                <a:r>
                  <a:rPr lang="zh-CN" sz="1120" b="1" dirty="0">
                    <a:solidFill>
                      <a:srgbClr val="0E3F8C"/>
                    </a:solidFill>
                    <a:latin typeface="Arial"/>
                    <a:ea typeface="Microsoft YaHei"/>
                    <a:cs typeface="Arial"/>
                  </a:rPr>
                  <a:t>吸收太阳能增加</a:t>
                </a:r>
              </a:p>
            </p:txBody>
          </p:sp>
          <p:sp>
            <p:nvSpPr>
              <p:cNvPr id="45" name="TextBox 45"/>
              <p:cNvSpPr txBox="1"/>
              <p:nvPr/>
            </p:nvSpPr>
            <p:spPr>
              <a:xfrm>
                <a:off x="7500938" y="2493645"/>
                <a:ext cx="1649183" cy="176212"/>
              </a:xfrm>
              <a:prstGeom prst="rect">
                <a:avLst/>
              </a:prstGeom>
              <a:noFill/>
              <a:ln>
                <a:noFill/>
              </a:ln>
            </p:spPr>
            <p:txBody>
              <a:bodyPr wrap="none" lIns="0" tIns="0" rIns="0" bIns="0" anchor="t" anchorCtr="0">
                <a:spAutoFit/>
              </a:bodyPr>
              <a:lstStyle/>
              <a:p>
                <a:pPr algn="l"/>
                <a:r>
                  <a:rPr lang="en-US" sz="900" dirty="0">
                    <a:solidFill>
                      <a:srgbClr val="4A5568"/>
                    </a:solidFill>
                    <a:latin typeface="Arial"/>
                    <a:ea typeface="Arial"/>
                    <a:cs typeface="Arial"/>
                  </a:rPr>
                  <a:t>More absorbed solar energy</a:t>
                </a:r>
              </a:p>
            </p:txBody>
          </p:sp>
          <p:sp>
            <p:nvSpPr>
              <p:cNvPr id="46" name="TextBox 46"/>
              <p:cNvSpPr txBox="1"/>
              <p:nvPr/>
            </p:nvSpPr>
            <p:spPr>
              <a:xfrm>
                <a:off x="7500938" y="2722245"/>
                <a:ext cx="978789" cy="176212"/>
              </a:xfrm>
              <a:prstGeom prst="rect">
                <a:avLst/>
              </a:prstGeom>
              <a:noFill/>
              <a:ln>
                <a:noFill/>
              </a:ln>
            </p:spPr>
            <p:txBody>
              <a:bodyPr wrap="none" lIns="0" tIns="0" rIns="0" bIns="0" anchor="t" anchorCtr="0">
                <a:spAutoFit/>
              </a:bodyPr>
              <a:lstStyle/>
              <a:p>
                <a:pPr algn="l"/>
                <a:r>
                  <a:rPr lang="zh-CN" sz="900" dirty="0">
                    <a:solidFill>
                      <a:srgbClr val="4A5568"/>
                    </a:solidFill>
                    <a:latin typeface="Arial"/>
                    <a:ea typeface="Microsoft YaHei"/>
                    <a:cs typeface="Arial"/>
                  </a:rPr>
                  <a:t>地表吸收更多辐射</a:t>
                </a:r>
              </a:p>
            </p:txBody>
          </p:sp>
        </p:grpSp>
        <p:sp>
          <p:nvSpPr>
            <p:cNvPr id="48" name="Line 48"/>
            <p:cNvSpPr/>
            <p:nvPr/>
          </p:nvSpPr>
          <p:spPr>
            <a:xfrm>
              <a:off x="9324975" y="2571750"/>
              <a:ext cx="133350" cy="9525"/>
            </a:xfrm>
            <a:custGeom>
              <a:avLst/>
              <a:gdLst/>
              <a:ahLst/>
              <a:cxnLst/>
              <a:rect l="l" t="t" r="r" b="b"/>
              <a:pathLst>
                <a:path w="133350" h="9525">
                  <a:moveTo>
                    <a:pt x="0" y="0"/>
                  </a:moveTo>
                  <a:lnTo>
                    <a:pt x="133350" y="0"/>
                  </a:lnTo>
                </a:path>
              </a:pathLst>
            </a:custGeom>
            <a:noFill/>
            <a:ln w="28575">
              <a:solidFill>
                <a:srgbClr val="1E4FA8"/>
              </a:solidFill>
            </a:ln>
          </p:spPr>
        </p:sp>
        <p:sp>
          <p:nvSpPr>
            <p:cNvPr id="49" name="Polygon 49"/>
            <p:cNvSpPr/>
            <p:nvPr/>
          </p:nvSpPr>
          <p:spPr>
            <a:xfrm>
              <a:off x="9458325" y="2514600"/>
              <a:ext cx="95250" cy="114300"/>
            </a:xfrm>
            <a:custGeom>
              <a:avLst/>
              <a:gdLst/>
              <a:ahLst/>
              <a:cxnLst/>
              <a:rect l="l" t="t" r="r" b="b"/>
              <a:pathLst>
                <a:path w="95250" h="114300">
                  <a:moveTo>
                    <a:pt x="95250" y="57150"/>
                  </a:moveTo>
                  <a:lnTo>
                    <a:pt x="0" y="0"/>
                  </a:lnTo>
                  <a:lnTo>
                    <a:pt x="0" y="114300"/>
                  </a:lnTo>
                  <a:close/>
                </a:path>
              </a:pathLst>
            </a:custGeom>
            <a:solidFill>
              <a:srgbClr val="1E4FA8"/>
            </a:solidFill>
            <a:ln>
              <a:noFill/>
            </a:ln>
          </p:spPr>
        </p:sp>
        <p:grpSp>
          <p:nvGrpSpPr>
            <p:cNvPr id="56" name="Group 56"/>
            <p:cNvGrpSpPr/>
            <p:nvPr/>
          </p:nvGrpSpPr>
          <p:grpSpPr>
            <a:xfrm>
              <a:off x="9582150" y="2000250"/>
              <a:ext cx="1943100" cy="1143000"/>
              <a:chOff x="9582150" y="2000250"/>
              <a:chExt cx="1943100" cy="1143000"/>
            </a:xfrm>
          </p:grpSpPr>
          <p:sp>
            <p:nvSpPr>
              <p:cNvPr id="50" name="Rectangle 50"/>
              <p:cNvSpPr/>
              <p:nvPr/>
            </p:nvSpPr>
            <p:spPr>
              <a:xfrm>
                <a:off x="9582150" y="2000250"/>
                <a:ext cx="1943100" cy="1143000"/>
              </a:xfrm>
              <a:prstGeom prst="roundRect">
                <a:avLst>
                  <a:gd name="adj" fmla="val 8333"/>
                </a:avLst>
              </a:prstGeom>
              <a:solidFill>
                <a:srgbClr val="FFFFFF"/>
              </a:solidFill>
              <a:ln w="9525">
                <a:solidFill>
                  <a:srgbClr val="D6DCE5"/>
                </a:solidFill>
              </a:ln>
            </p:spPr>
          </p:sp>
          <p:sp>
            <p:nvSpPr>
              <p:cNvPr id="51" name="Ellipse 51"/>
              <p:cNvSpPr/>
              <p:nvPr/>
            </p:nvSpPr>
            <p:spPr>
              <a:xfrm>
                <a:off x="9705975" y="2143125"/>
                <a:ext cx="247650" cy="247650"/>
              </a:xfrm>
              <a:prstGeom prst="ellipse">
                <a:avLst/>
              </a:prstGeom>
              <a:solidFill>
                <a:srgbClr val="1E4FA8"/>
              </a:solidFill>
              <a:ln>
                <a:noFill/>
              </a:ln>
            </p:spPr>
          </p:sp>
          <p:sp>
            <p:nvSpPr>
              <p:cNvPr id="52" name="TextBox 52"/>
              <p:cNvSpPr txBox="1"/>
              <p:nvPr/>
            </p:nvSpPr>
            <p:spPr>
              <a:xfrm>
                <a:off x="9786753" y="2209324"/>
                <a:ext cx="86094" cy="190690"/>
              </a:xfrm>
              <a:prstGeom prst="rect">
                <a:avLst/>
              </a:prstGeom>
              <a:noFill/>
              <a:ln>
                <a:noFill/>
              </a:ln>
            </p:spPr>
            <p:txBody>
              <a:bodyPr wrap="none" lIns="0" tIns="0" rIns="0" bIns="0" anchor="t" anchorCtr="0">
                <a:spAutoFit/>
              </a:bodyPr>
              <a:lstStyle/>
              <a:p>
                <a:pPr algn="ctr"/>
                <a:r>
                  <a:rPr lang="en-US" sz="980" b="1" dirty="0">
                    <a:solidFill>
                      <a:srgbClr val="FFFFFF"/>
                    </a:solidFill>
                    <a:latin typeface="Arial"/>
                    <a:ea typeface="Arial"/>
                    <a:cs typeface="Arial"/>
                  </a:rPr>
                  <a:t>5</a:t>
                </a:r>
              </a:p>
            </p:txBody>
          </p:sp>
          <p:sp>
            <p:nvSpPr>
              <p:cNvPr id="53" name="TextBox 53"/>
              <p:cNvSpPr txBox="1"/>
              <p:nvPr/>
            </p:nvSpPr>
            <p:spPr>
              <a:xfrm>
                <a:off x="10033635" y="2193131"/>
                <a:ext cx="765302" cy="220028"/>
              </a:xfrm>
              <a:prstGeom prst="rect">
                <a:avLst/>
              </a:prstGeom>
              <a:noFill/>
              <a:ln>
                <a:noFill/>
              </a:ln>
            </p:spPr>
            <p:txBody>
              <a:bodyPr wrap="none" lIns="0" tIns="0" rIns="0" bIns="0" anchor="t" anchorCtr="0">
                <a:spAutoFit/>
              </a:bodyPr>
              <a:lstStyle/>
              <a:p>
                <a:pPr algn="l"/>
                <a:r>
                  <a:rPr lang="zh-CN" sz="1120" b="1" dirty="0">
                    <a:solidFill>
                      <a:srgbClr val="0E3F8C"/>
                    </a:solidFill>
                    <a:latin typeface="Arial"/>
                    <a:ea typeface="Microsoft YaHei"/>
                    <a:cs typeface="Arial"/>
                  </a:rPr>
                  <a:t>进一步增温</a:t>
                </a:r>
              </a:p>
            </p:txBody>
          </p:sp>
          <p:sp>
            <p:nvSpPr>
              <p:cNvPr id="54" name="TextBox 54"/>
              <p:cNvSpPr txBox="1"/>
              <p:nvPr/>
            </p:nvSpPr>
            <p:spPr>
              <a:xfrm>
                <a:off x="9729788" y="2493645"/>
                <a:ext cx="1000955" cy="176212"/>
              </a:xfrm>
              <a:prstGeom prst="rect">
                <a:avLst/>
              </a:prstGeom>
              <a:noFill/>
              <a:ln>
                <a:noFill/>
              </a:ln>
            </p:spPr>
            <p:txBody>
              <a:bodyPr wrap="none" lIns="0" tIns="0" rIns="0" bIns="0" anchor="t" anchorCtr="0">
                <a:spAutoFit/>
              </a:bodyPr>
              <a:lstStyle/>
              <a:p>
                <a:pPr algn="l"/>
                <a:r>
                  <a:rPr lang="en-US" sz="900" dirty="0">
                    <a:solidFill>
                      <a:srgbClr val="4A5568"/>
                    </a:solidFill>
                    <a:latin typeface="Arial"/>
                    <a:ea typeface="Arial"/>
                    <a:cs typeface="Arial"/>
                  </a:rPr>
                  <a:t>Further warming</a:t>
                </a:r>
              </a:p>
            </p:txBody>
          </p:sp>
          <p:sp>
            <p:nvSpPr>
              <p:cNvPr id="55" name="TextBox 55"/>
              <p:cNvSpPr txBox="1"/>
              <p:nvPr/>
            </p:nvSpPr>
            <p:spPr>
              <a:xfrm>
                <a:off x="9729788" y="2722245"/>
                <a:ext cx="736473" cy="176212"/>
              </a:xfrm>
              <a:prstGeom prst="rect">
                <a:avLst/>
              </a:prstGeom>
              <a:noFill/>
              <a:ln>
                <a:noFill/>
              </a:ln>
            </p:spPr>
            <p:txBody>
              <a:bodyPr wrap="none" lIns="0" tIns="0" rIns="0" bIns="0" anchor="t" anchorCtr="0">
                <a:spAutoFit/>
              </a:bodyPr>
              <a:lstStyle/>
              <a:p>
                <a:pPr algn="l"/>
                <a:r>
                  <a:rPr lang="zh-CN" sz="900" dirty="0">
                    <a:solidFill>
                      <a:srgbClr val="4A5568"/>
                    </a:solidFill>
                    <a:latin typeface="Arial"/>
                    <a:ea typeface="Microsoft YaHei"/>
                    <a:cs typeface="Arial"/>
                  </a:rPr>
                  <a:t>温度继续上升</a:t>
                </a:r>
              </a:p>
            </p:txBody>
          </p:sp>
        </p:grpSp>
        <p:sp>
          <p:nvSpPr>
            <p:cNvPr id="57" name="Freeform 57"/>
            <p:cNvSpPr/>
            <p:nvPr/>
          </p:nvSpPr>
          <p:spPr>
            <a:xfrm>
              <a:off x="1638300" y="3143250"/>
              <a:ext cx="8915400" cy="438150"/>
            </a:xfrm>
            <a:custGeom>
              <a:avLst/>
              <a:gdLst/>
              <a:ahLst/>
              <a:cxnLst/>
              <a:rect l="l" t="t" r="r" b="b"/>
              <a:pathLst>
                <a:path w="8915400" h="438150">
                  <a:moveTo>
                    <a:pt x="8915400" y="0"/>
                  </a:moveTo>
                  <a:lnTo>
                    <a:pt x="8915400" y="361950"/>
                  </a:lnTo>
                  <a:cubicBezTo>
                    <a:pt x="8915400" y="412750"/>
                    <a:pt x="8890000" y="438150"/>
                    <a:pt x="8839200" y="438150"/>
                  </a:cubicBezTo>
                  <a:lnTo>
                    <a:pt x="76200" y="438150"/>
                  </a:lnTo>
                  <a:cubicBezTo>
                    <a:pt x="25400" y="438150"/>
                    <a:pt x="0" y="412750"/>
                    <a:pt x="0" y="361950"/>
                  </a:cubicBezTo>
                  <a:lnTo>
                    <a:pt x="0" y="57150"/>
                  </a:lnTo>
                </a:path>
              </a:pathLst>
            </a:custGeom>
            <a:noFill/>
            <a:ln w="28575">
              <a:solidFill>
                <a:srgbClr val="1E4FA8"/>
              </a:solidFill>
            </a:ln>
          </p:spPr>
        </p:sp>
        <p:sp>
          <p:nvSpPr>
            <p:cNvPr id="58" name="Polygon 58"/>
            <p:cNvSpPr/>
            <p:nvPr/>
          </p:nvSpPr>
          <p:spPr>
            <a:xfrm>
              <a:off x="1571625" y="3143250"/>
              <a:ext cx="133350" cy="95250"/>
            </a:xfrm>
            <a:custGeom>
              <a:avLst/>
              <a:gdLst/>
              <a:ahLst/>
              <a:cxnLst/>
              <a:rect l="l" t="t" r="r" b="b"/>
              <a:pathLst>
                <a:path w="133350" h="95250">
                  <a:moveTo>
                    <a:pt x="66675" y="0"/>
                  </a:moveTo>
                  <a:lnTo>
                    <a:pt x="0" y="95250"/>
                  </a:lnTo>
                  <a:lnTo>
                    <a:pt x="133350" y="95250"/>
                  </a:lnTo>
                  <a:close/>
                </a:path>
              </a:pathLst>
            </a:custGeom>
            <a:solidFill>
              <a:srgbClr val="1E4FA8"/>
            </a:solidFill>
            <a:ln>
              <a:noFill/>
            </a:ln>
          </p:spPr>
        </p:sp>
        <p:sp>
          <p:nvSpPr>
            <p:cNvPr id="59" name="TextBox 59"/>
            <p:cNvSpPr txBox="1"/>
            <p:nvPr/>
          </p:nvSpPr>
          <p:spPr>
            <a:xfrm>
              <a:off x="3379633" y="3723799"/>
              <a:ext cx="5432734" cy="190690"/>
            </a:xfrm>
            <a:prstGeom prst="rect">
              <a:avLst/>
            </a:prstGeom>
            <a:noFill/>
            <a:ln>
              <a:noFill/>
            </a:ln>
          </p:spPr>
          <p:txBody>
            <a:bodyPr wrap="none" lIns="0" tIns="0" rIns="0" bIns="0" anchor="t" anchorCtr="0">
              <a:spAutoFit/>
            </a:bodyPr>
            <a:lstStyle/>
            <a:p>
              <a:pPr algn="ctr"/>
              <a:r>
                <a:rPr lang="zh-CN" sz="980" b="1" dirty="0">
                  <a:solidFill>
                    <a:srgbClr val="1E4FA8"/>
                  </a:solidFill>
                  <a:latin typeface="Arial"/>
                  <a:ea typeface="Microsoft YaHei"/>
                  <a:cs typeface="Arial"/>
                </a:rPr>
                <a:t>诱发变化与初始变化同向 → 沿原方向放大 Induced change reinforces the initial change</a:t>
              </a:r>
            </a:p>
          </p:txBody>
        </p:sp>
        <p:sp>
          <p:nvSpPr>
            <p:cNvPr id="60" name="Rectangle 60"/>
            <p:cNvSpPr/>
            <p:nvPr/>
          </p:nvSpPr>
          <p:spPr>
            <a:xfrm>
              <a:off x="609600" y="4095750"/>
              <a:ext cx="4953000" cy="666750"/>
            </a:xfrm>
            <a:prstGeom prst="roundRect">
              <a:avLst>
                <a:gd name="adj" fmla="val 17143"/>
              </a:avLst>
            </a:prstGeom>
            <a:solidFill>
              <a:srgbClr val="1E4FA8"/>
            </a:solidFill>
            <a:ln>
              <a:noFill/>
            </a:ln>
          </p:spPr>
        </p:sp>
        <p:sp>
          <p:nvSpPr>
            <p:cNvPr id="61" name="Ellipse 61"/>
            <p:cNvSpPr/>
            <p:nvPr/>
          </p:nvSpPr>
          <p:spPr>
            <a:xfrm>
              <a:off x="800100" y="4276725"/>
              <a:ext cx="304800" cy="304800"/>
            </a:xfrm>
            <a:prstGeom prst="ellipse">
              <a:avLst/>
            </a:prstGeom>
            <a:solidFill>
              <a:srgbClr val="FFFFFF"/>
            </a:solidFill>
            <a:ln>
              <a:noFill/>
            </a:ln>
          </p:spPr>
        </p:sp>
        <p:sp>
          <p:nvSpPr>
            <p:cNvPr id="62" name="TextBox 62"/>
            <p:cNvSpPr txBox="1"/>
            <p:nvPr/>
          </p:nvSpPr>
          <p:spPr>
            <a:xfrm>
              <a:off x="886573" y="4333875"/>
              <a:ext cx="131855" cy="293370"/>
            </a:xfrm>
            <a:prstGeom prst="rect">
              <a:avLst/>
            </a:prstGeom>
            <a:noFill/>
            <a:ln>
              <a:noFill/>
            </a:ln>
          </p:spPr>
          <p:txBody>
            <a:bodyPr wrap="none" lIns="0" tIns="0" rIns="0" bIns="0" anchor="t" anchorCtr="0">
              <a:spAutoFit/>
            </a:bodyPr>
            <a:lstStyle/>
            <a:p>
              <a:pPr algn="ctr"/>
              <a:r>
                <a:rPr lang="en-US" sz="1500" b="1" dirty="0">
                  <a:solidFill>
                    <a:srgbClr val="1E4FA8"/>
                  </a:solidFill>
                  <a:latin typeface="Arial"/>
                  <a:ea typeface="Arial"/>
                  <a:cs typeface="Arial"/>
                </a:rPr>
                <a:t>+</a:t>
              </a:r>
            </a:p>
          </p:txBody>
        </p:sp>
        <p:sp>
          <p:nvSpPr>
            <p:cNvPr id="63" name="TextBox 63"/>
            <p:cNvSpPr txBox="1"/>
            <p:nvPr/>
          </p:nvSpPr>
          <p:spPr>
            <a:xfrm>
              <a:off x="1213104" y="4232910"/>
              <a:ext cx="2020563" cy="234696"/>
            </a:xfrm>
            <a:prstGeom prst="rect">
              <a:avLst/>
            </a:prstGeom>
            <a:noFill/>
            <a:ln>
              <a:noFill/>
            </a:ln>
          </p:spPr>
          <p:txBody>
            <a:bodyPr wrap="none" lIns="0" tIns="0" rIns="0" bIns="0" anchor="t" anchorCtr="0">
              <a:spAutoFit/>
            </a:bodyPr>
            <a:lstStyle/>
            <a:p>
              <a:pPr algn="l"/>
              <a:r>
                <a:rPr lang="zh-CN" sz="1200" b="1" dirty="0">
                  <a:solidFill>
                    <a:srgbClr val="FFFFFF"/>
                  </a:solidFill>
                  <a:latin typeface="Arial"/>
                  <a:ea typeface="Microsoft YaHei"/>
                  <a:cs typeface="Arial"/>
                </a:rPr>
                <a:t>Positive Feedback 正反馈</a:t>
              </a:r>
            </a:p>
          </p:txBody>
        </p:sp>
        <p:sp>
          <p:nvSpPr>
            <p:cNvPr id="64" name="TextBox 64"/>
            <p:cNvSpPr txBox="1"/>
            <p:nvPr/>
          </p:nvSpPr>
          <p:spPr>
            <a:xfrm>
              <a:off x="1214438" y="4493895"/>
              <a:ext cx="3226479" cy="176212"/>
            </a:xfrm>
            <a:prstGeom prst="rect">
              <a:avLst/>
            </a:prstGeom>
            <a:noFill/>
            <a:ln>
              <a:noFill/>
            </a:ln>
          </p:spPr>
          <p:txBody>
            <a:bodyPr wrap="none" lIns="0" tIns="0" rIns="0" bIns="0" anchor="t" anchorCtr="0">
              <a:spAutoFit/>
            </a:bodyPr>
            <a:lstStyle/>
            <a:p>
              <a:pPr algn="l"/>
              <a:r>
                <a:rPr lang="zh-CN" sz="900" dirty="0">
                  <a:solidFill>
                    <a:srgbClr val="D6E4F7"/>
                  </a:solidFill>
                  <a:latin typeface="Arial"/>
                  <a:ea typeface="Microsoft YaHei"/>
                  <a:cs typeface="Arial"/>
                </a:rPr>
                <a:t>诱发变化加强初始增温 Induced change amplifies warming</a:t>
              </a:r>
            </a:p>
          </p:txBody>
        </p:sp>
        <p:sp>
          <p:nvSpPr>
            <p:cNvPr id="65" name="Rectangle 65"/>
            <p:cNvSpPr/>
            <p:nvPr/>
          </p:nvSpPr>
          <p:spPr>
            <a:xfrm>
              <a:off x="5753100" y="4095750"/>
              <a:ext cx="5829300" cy="666750"/>
            </a:xfrm>
            <a:prstGeom prst="roundRect">
              <a:avLst>
                <a:gd name="adj" fmla="val 17143"/>
              </a:avLst>
            </a:prstGeom>
            <a:solidFill>
              <a:srgbClr val="F0F5FC"/>
            </a:solidFill>
            <a:ln w="9525">
              <a:solidFill>
                <a:srgbClr val="D6DCE5"/>
              </a:solidFill>
            </a:ln>
          </p:spPr>
        </p:sp>
        <p:sp>
          <p:nvSpPr>
            <p:cNvPr id="66" name="TextBox 66"/>
            <p:cNvSpPr txBox="1"/>
            <p:nvPr/>
          </p:nvSpPr>
          <p:spPr>
            <a:xfrm>
              <a:off x="5900547" y="4371499"/>
              <a:ext cx="3024666" cy="190690"/>
            </a:xfrm>
            <a:prstGeom prst="rect">
              <a:avLst/>
            </a:prstGeom>
            <a:noFill/>
            <a:ln>
              <a:noFill/>
            </a:ln>
          </p:spPr>
          <p:txBody>
            <a:bodyPr wrap="none" lIns="0" tIns="0" rIns="0" bIns="0" anchor="t" anchorCtr="0">
              <a:spAutoFit/>
            </a:bodyPr>
            <a:lstStyle/>
            <a:p>
              <a:pPr algn="l"/>
              <a:r>
                <a:rPr lang="zh-CN" sz="980" dirty="0">
                  <a:solidFill>
                    <a:srgbClr val="1A2230"/>
                  </a:solidFill>
                  <a:latin typeface="Arial"/>
                  <a:ea typeface="Microsoft YaHei"/>
                  <a:cs typeface="Arial"/>
                </a:rPr>
                <a:t>反照率 Albedo = 地表反射率 surface reflectivity</a:t>
              </a:r>
            </a:p>
          </p:txBody>
        </p:sp>
      </p:grpSp>
      <p:grpSp>
        <p:nvGrpSpPr>
          <p:cNvPr id="70" name="Group 70"/>
          <p:cNvGrpSpPr/>
          <p:nvPr/>
        </p:nvGrpSpPr>
        <p:grpSpPr>
          <a:xfrm>
            <a:off x="376047" y="5228749"/>
            <a:ext cx="7659060" cy="571690"/>
            <a:chOff x="376047" y="5228749"/>
            <a:chExt cx="7659060" cy="571690"/>
          </a:xfrm>
        </p:grpSpPr>
        <p:sp>
          <p:nvSpPr>
            <p:cNvPr id="68" name="TextBox 68"/>
            <p:cNvSpPr txBox="1"/>
            <p:nvPr/>
          </p:nvSpPr>
          <p:spPr>
            <a:xfrm>
              <a:off x="376047" y="5228749"/>
              <a:ext cx="7659060" cy="190690"/>
            </a:xfrm>
            <a:prstGeom prst="rect">
              <a:avLst/>
            </a:prstGeom>
            <a:noFill/>
            <a:ln>
              <a:noFill/>
            </a:ln>
          </p:spPr>
          <p:txBody>
            <a:bodyPr wrap="none" lIns="0" tIns="0" rIns="0" bIns="0" anchor="t" anchorCtr="0">
              <a:spAutoFit/>
            </a:bodyPr>
            <a:lstStyle/>
            <a:p>
              <a:pPr algn="l"/>
              <a:r>
                <a:rPr lang="zh-CN" sz="980" dirty="0">
                  <a:solidFill>
                    <a:srgbClr val="1A2230"/>
                  </a:solidFill>
                  <a:latin typeface="Arial"/>
                  <a:ea typeface="Microsoft YaHei"/>
                  <a:cs typeface="Arial"/>
                </a:rPr>
                <a:t>闭环判断：冰雪与反照率下降带来的吸收增加继续加强增温，因此是正反馈。 The loop amplifies the initial warming → positive.</a:t>
              </a:r>
            </a:p>
          </p:txBody>
        </p:sp>
        <p:sp>
          <p:nvSpPr>
            <p:cNvPr id="69" name="TextBox 69"/>
            <p:cNvSpPr txBox="1"/>
            <p:nvPr/>
          </p:nvSpPr>
          <p:spPr>
            <a:xfrm>
              <a:off x="376047" y="5609749"/>
              <a:ext cx="7604000" cy="190690"/>
            </a:xfrm>
            <a:prstGeom prst="rect">
              <a:avLst/>
            </a:prstGeom>
            <a:noFill/>
            <a:ln>
              <a:noFill/>
            </a:ln>
          </p:spPr>
          <p:txBody>
            <a:bodyPr wrap="none" lIns="0" tIns="0" rIns="0" bIns="0" anchor="t" anchorCtr="0">
              <a:spAutoFit/>
            </a:bodyPr>
            <a:lstStyle/>
            <a:p>
              <a:pPr algn="l"/>
              <a:r>
                <a:rPr lang="zh-CN" sz="980" dirty="0">
                  <a:solidFill>
                    <a:srgbClr val="4A5568"/>
                  </a:solidFill>
                  <a:latin typeface="Arial"/>
                  <a:ea typeface="Microsoft YaHei"/>
                  <a:cs typeface="Arial"/>
                </a:rPr>
                <a:t>判断步骤：找初始变化 → 跟踪诱发变化 → 比较最终作用方向 Steps: initial change → induced change → compare final direction</a:t>
              </a:r>
            </a:p>
          </p:txBody>
        </p:sp>
      </p:grpSp>
      <p:sp>
        <p:nvSpPr>
          <p:cNvPr id="71" name="TextBox 71"/>
          <p:cNvSpPr txBox="1"/>
          <p:nvPr/>
        </p:nvSpPr>
        <p:spPr>
          <a:xfrm>
            <a:off x="376238" y="6532245"/>
            <a:ext cx="7849609" cy="176212"/>
          </a:xfrm>
          <a:prstGeom prst="rect">
            <a:avLst/>
          </a:prstGeom>
          <a:noFill/>
          <a:ln>
            <a:noFill/>
          </a:ln>
        </p:spPr>
        <p:txBody>
          <a:bodyPr wrap="none" lIns="0" tIns="0" rIns="0" bIns="0" anchor="t" anchorCtr="0">
            <a:spAutoFit/>
          </a:bodyPr>
          <a:lstStyle/>
          <a:p>
            <a:pPr algn="l"/>
            <a:r>
              <a:rPr lang="zh-CN" sz="900" dirty="0">
                <a:solidFill>
                  <a:srgbClr val="4A5568"/>
                </a:solidFill>
                <a:latin typeface="Arial"/>
                <a:ea typeface="Microsoft YaHei"/>
                <a:cs typeface="Arial"/>
              </a:rPr>
              <a:t>Source: UE 8e, Ch.12, PDF p.1177; 地球系统与演变, Ch.3 §3.3.2.3, PDF pp.39–40; HB Ch.9, pp.251–252 as mechanism context only.</a:t>
            </a:r>
          </a:p>
        </p:txBody>
      </p:sp>
      <p:sp>
        <p:nvSpPr>
          <p:cNvPr id="72" name="TextBox 72"/>
          <p:cNvSpPr txBox="1"/>
          <p:nvPr/>
        </p:nvSpPr>
        <p:spPr>
          <a:xfrm>
            <a:off x="11672964" y="6532245"/>
            <a:ext cx="142799" cy="176212"/>
          </a:xfrm>
          <a:prstGeom prst="rect">
            <a:avLst/>
          </a:prstGeom>
          <a:noFill/>
          <a:ln>
            <a:noFill/>
          </a:ln>
        </p:spPr>
        <p:txBody>
          <a:bodyPr wrap="none" lIns="0" tIns="0" rIns="0" bIns="0" anchor="t" anchorCtr="0">
            <a:spAutoFit/>
          </a:bodyPr>
          <a:lstStyle/>
          <a:p>
            <a:pPr algn="r"/>
            <a:r>
              <a:rPr lang="en-US" sz="900" dirty="0">
                <a:solidFill>
                  <a:srgbClr val="4A5568"/>
                </a:solidFill>
                <a:latin typeface="Arial"/>
                <a:ea typeface="Arial"/>
                <a:cs typeface="Arial"/>
              </a:rPr>
              <a:t>37</a:t>
            </a:r>
          </a:p>
        </p:txBody>
      </p:sp>
    </p:spTree>
    <p:extLst>
      <p:ext uri="{BB962C8B-B14F-4D97-AF65-F5344CB8AC3E}">
        <p14:creationId xmlns:p14="http://schemas.microsoft.com/office/powerpoint/2010/main" val="1472911776"/>
      </p:ext>
    </p:extLst>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5"/>
          <p:cNvGrpSpPr/>
          <p:nvPr/>
        </p:nvGrpSpPr>
        <p:grpSpPr>
          <a:xfrm>
            <a:off x="0" y="0"/>
            <a:ext cx="12192000" cy="685800"/>
            <a:chOff x="0" y="0"/>
            <a:chExt cx="12192000" cy="685800"/>
          </a:xfrm>
        </p:grpSpPr>
        <p:sp>
          <p:nvSpPr>
            <p:cNvPr id="2" name="Rectangle 2"/>
            <p:cNvSpPr/>
            <p:nvPr/>
          </p:nvSpPr>
          <p:spPr>
            <a:xfrm>
              <a:off x="0" y="0"/>
              <a:ext cx="12192000" cy="685800"/>
            </a:xfrm>
            <a:prstGeom prst="rect">
              <a:avLst/>
            </a:prstGeom>
            <a:solidFill>
              <a:schemeClr val="accent1"/>
            </a:solidFill>
            <a:ln>
              <a:noFill/>
            </a:ln>
          </p:spPr>
        </p:sp>
        <p:sp>
          <p:nvSpPr>
            <p:cNvPr id="3" name="TextBox 3"/>
            <p:cNvSpPr txBox="1"/>
            <p:nvPr/>
          </p:nvSpPr>
          <p:spPr>
            <a:xfrm>
              <a:off x="374142" y="282892"/>
              <a:ext cx="4419049" cy="264033"/>
            </a:xfrm>
            <a:prstGeom prst="rect">
              <a:avLst/>
            </a:prstGeom>
            <a:noFill/>
            <a:ln>
              <a:noFill/>
            </a:ln>
          </p:spPr>
          <p:txBody>
            <a:bodyPr wrap="none" lIns="0" tIns="0" rIns="0" bIns="0" anchor="t" anchorCtr="0">
              <a:spAutoFit/>
            </a:bodyPr>
            <a:lstStyle/>
            <a:p>
              <a:pPr algn="l"/>
              <a:r>
                <a:rPr lang="zh-CN" sz="1350" b="1" dirty="0">
                  <a:solidFill>
                    <a:srgbClr val="FFFFFF"/>
                  </a:solidFill>
                  <a:latin typeface="+mn-lt"/>
                  <a:ea typeface="+mn-ea"/>
                  <a:cs typeface="+mn-cs"/>
                </a:rPr>
                <a:t>3.4 岩石风化恒温器 | The Weathering Thermostat</a:t>
              </a:r>
            </a:p>
          </p:txBody>
        </p:sp>
        <p:sp>
          <p:nvSpPr>
            <p:cNvPr id="4" name="TextBox 4"/>
            <p:cNvSpPr txBox="1"/>
            <p:nvPr/>
          </p:nvSpPr>
          <p:spPr>
            <a:xfrm>
              <a:off x="9799320" y="299085"/>
              <a:ext cx="2017776" cy="234696"/>
            </a:xfrm>
            <a:prstGeom prst="rect">
              <a:avLst/>
            </a:prstGeom>
            <a:noFill/>
            <a:ln>
              <a:noFill/>
            </a:ln>
          </p:spPr>
          <p:txBody>
            <a:bodyPr wrap="none" lIns="0" tIns="0" rIns="0" bIns="0" anchor="t" anchorCtr="0">
              <a:spAutoFit/>
            </a:bodyPr>
            <a:lstStyle/>
            <a:p>
              <a:pPr algn="r"/>
              <a:r>
                <a:rPr lang="zh-CN" sz="1200" dirty="0">
                  <a:solidFill>
                    <a:srgbClr val="C7D7F2"/>
                  </a:solidFill>
                  <a:latin typeface="+mn-lt"/>
                  <a:ea typeface="+mn-ea"/>
                  <a:cs typeface="+mn-cs"/>
                </a:rPr>
                <a:t>SLOW NEGATIVE FEEDBACK</a:t>
              </a:r>
            </a:p>
          </p:txBody>
        </p:sp>
      </p:grpSp>
      <p:grpSp>
        <p:nvGrpSpPr>
          <p:cNvPr id="8" name="Group 8"/>
          <p:cNvGrpSpPr/>
          <p:nvPr/>
        </p:nvGrpSpPr>
        <p:grpSpPr>
          <a:xfrm>
            <a:off x="381000" y="914400"/>
            <a:ext cx="6894658" cy="357093"/>
            <a:chOff x="381000" y="914400"/>
            <a:chExt cx="6894658" cy="357093"/>
          </a:xfrm>
        </p:grpSpPr>
        <p:sp>
          <p:nvSpPr>
            <p:cNvPr id="6" name="Rectangle 6"/>
            <p:cNvSpPr/>
            <p:nvPr/>
          </p:nvSpPr>
          <p:spPr>
            <a:xfrm>
              <a:off x="381000" y="914400"/>
              <a:ext cx="57150" cy="266700"/>
            </a:xfrm>
            <a:prstGeom prst="roundRect">
              <a:avLst>
                <a:gd name="adj" fmla="val 50000"/>
              </a:avLst>
            </a:prstGeom>
            <a:solidFill>
              <a:schemeClr val="accent3"/>
            </a:solidFill>
            <a:ln>
              <a:noFill/>
            </a:ln>
          </p:spPr>
        </p:sp>
        <p:sp>
          <p:nvSpPr>
            <p:cNvPr id="7" name="TextBox 7"/>
            <p:cNvSpPr txBox="1"/>
            <p:nvPr/>
          </p:nvSpPr>
          <p:spPr>
            <a:xfrm>
              <a:off x="544449" y="963454"/>
              <a:ext cx="6731209" cy="308039"/>
            </a:xfrm>
            <a:prstGeom prst="rect">
              <a:avLst/>
            </a:prstGeom>
            <a:noFill/>
            <a:ln>
              <a:noFill/>
            </a:ln>
          </p:spPr>
          <p:txBody>
            <a:bodyPr wrap="none" lIns="0" tIns="0" rIns="0" bIns="0" anchor="t" anchorCtr="0">
              <a:spAutoFit/>
            </a:bodyPr>
            <a:lstStyle/>
            <a:p>
              <a:pPr algn="l"/>
              <a:r>
                <a:rPr lang="zh-CN" sz="1580" b="1" dirty="0">
                  <a:solidFill>
                    <a:schemeClr val="dk1"/>
                  </a:solidFill>
                  <a:latin typeface="+mn-lt"/>
                  <a:ea typeface="+mn-ea"/>
                  <a:cs typeface="+mn-cs"/>
                </a:rPr>
                <a:t>更暖、更湿和更酸性 → 硅酸盐风化加速 → CO₂ 去除 → 抑制初始增温</a:t>
              </a:r>
            </a:p>
          </p:txBody>
        </p:sp>
      </p:grpSp>
      <p:grpSp>
        <p:nvGrpSpPr>
          <p:cNvPr id="11" name="Group 11"/>
          <p:cNvGrpSpPr/>
          <p:nvPr/>
        </p:nvGrpSpPr>
        <p:grpSpPr>
          <a:xfrm>
            <a:off x="8705850" y="876300"/>
            <a:ext cx="3105150" cy="400050"/>
            <a:chOff x="8705850" y="876300"/>
            <a:chExt cx="3105150" cy="400050"/>
          </a:xfrm>
        </p:grpSpPr>
        <p:sp>
          <p:nvSpPr>
            <p:cNvPr id="9" name="Rectangle 9"/>
            <p:cNvSpPr/>
            <p:nvPr/>
          </p:nvSpPr>
          <p:spPr>
            <a:xfrm>
              <a:off x="8705850" y="876300"/>
              <a:ext cx="3105150" cy="400050"/>
            </a:xfrm>
            <a:prstGeom prst="roundRect">
              <a:avLst>
                <a:gd name="adj" fmla="val 28571"/>
              </a:avLst>
            </a:prstGeom>
            <a:solidFill>
              <a:srgbClr val="FDECDD"/>
            </a:solidFill>
            <a:ln w="9525">
              <a:solidFill>
                <a:srgbClr val="F0CFC2"/>
              </a:solidFill>
            </a:ln>
          </p:spPr>
        </p:sp>
        <p:sp>
          <p:nvSpPr>
            <p:cNvPr id="10" name="TextBox 10"/>
            <p:cNvSpPr txBox="1"/>
            <p:nvPr/>
          </p:nvSpPr>
          <p:spPr>
            <a:xfrm>
              <a:off x="9250626" y="1021556"/>
              <a:ext cx="2015599" cy="220028"/>
            </a:xfrm>
            <a:prstGeom prst="rect">
              <a:avLst/>
            </a:prstGeom>
            <a:noFill/>
            <a:ln>
              <a:noFill/>
            </a:ln>
          </p:spPr>
          <p:txBody>
            <a:bodyPr wrap="none" lIns="0" tIns="0" rIns="0" bIns="0" anchor="t" anchorCtr="0">
              <a:spAutoFit/>
            </a:bodyPr>
            <a:lstStyle/>
            <a:p>
              <a:pPr algn="ctr"/>
              <a:r>
                <a:rPr lang="zh-CN" sz="1120" b="1" dirty="0">
                  <a:solidFill>
                    <a:srgbClr val="C2410C"/>
                  </a:solidFill>
                  <a:latin typeface="+mn-lt"/>
                  <a:ea typeface="+mn-ea"/>
                  <a:cs typeface="+mn-cs"/>
                </a:rPr>
                <a:t>响应时间 &gt;10^5–10^7 years</a:t>
              </a:r>
            </a:p>
          </p:txBody>
        </p:sp>
      </p:grpSp>
      <p:grpSp>
        <p:nvGrpSpPr>
          <p:cNvPr id="67" name="Group 67"/>
          <p:cNvGrpSpPr/>
          <p:nvPr/>
        </p:nvGrpSpPr>
        <p:grpSpPr>
          <a:xfrm>
            <a:off x="381000" y="1466850"/>
            <a:ext cx="11430000" cy="4191000"/>
            <a:chOff x="381000" y="1466850"/>
            <a:chExt cx="11430000" cy="4191000"/>
          </a:xfrm>
        </p:grpSpPr>
        <p:sp>
          <p:nvSpPr>
            <p:cNvPr id="12" name="Rectangle 12"/>
            <p:cNvSpPr/>
            <p:nvPr/>
          </p:nvSpPr>
          <p:spPr>
            <a:xfrm>
              <a:off x="381000" y="1466850"/>
              <a:ext cx="11430000" cy="4191000"/>
            </a:xfrm>
            <a:prstGeom prst="roundRect">
              <a:avLst>
                <a:gd name="adj" fmla="val 2727"/>
              </a:avLst>
            </a:prstGeom>
            <a:solidFill>
              <a:schemeClr val="lt2"/>
            </a:solidFill>
            <a:ln w="9525">
              <a:solidFill>
                <a:schemeClr val="accent6"/>
              </a:solidFill>
            </a:ln>
          </p:spPr>
        </p:sp>
        <p:grpSp>
          <p:nvGrpSpPr>
            <p:cNvPr id="19" name="Group 19"/>
            <p:cNvGrpSpPr/>
            <p:nvPr/>
          </p:nvGrpSpPr>
          <p:grpSpPr>
            <a:xfrm>
              <a:off x="742950" y="1847850"/>
              <a:ext cx="2381250" cy="1066800"/>
              <a:chOff x="742950" y="1847850"/>
              <a:chExt cx="2381250" cy="1066800"/>
            </a:xfrm>
          </p:grpSpPr>
          <p:sp>
            <p:nvSpPr>
              <p:cNvPr id="13" name="Rectangle 13"/>
              <p:cNvSpPr/>
              <p:nvPr/>
            </p:nvSpPr>
            <p:spPr>
              <a:xfrm>
                <a:off x="742950" y="1847850"/>
                <a:ext cx="2381250" cy="1066800"/>
              </a:xfrm>
              <a:prstGeom prst="roundRect">
                <a:avLst>
                  <a:gd name="adj" fmla="val 10714"/>
                </a:avLst>
              </a:prstGeom>
              <a:solidFill>
                <a:srgbClr val="FDF4EF"/>
              </a:solidFill>
              <a:ln w="19050">
                <a:solidFill>
                  <a:srgbClr val="F0CFC2"/>
                </a:solidFill>
              </a:ln>
            </p:spPr>
          </p:sp>
          <p:sp>
            <p:nvSpPr>
              <p:cNvPr id="14" name="Ellipse 14"/>
              <p:cNvSpPr/>
              <p:nvPr/>
            </p:nvSpPr>
            <p:spPr>
              <a:xfrm>
                <a:off x="857250" y="1962150"/>
                <a:ext cx="342900" cy="342900"/>
              </a:xfrm>
              <a:prstGeom prst="ellipse">
                <a:avLst/>
              </a:prstGeom>
              <a:solidFill>
                <a:schemeClr val="accent3"/>
              </a:solidFill>
              <a:ln>
                <a:noFill/>
              </a:ln>
            </p:spPr>
          </p:sp>
          <p:sp>
            <p:nvSpPr>
              <p:cNvPr id="15" name="TextBox 15"/>
              <p:cNvSpPr txBox="1"/>
              <p:nvPr/>
            </p:nvSpPr>
            <p:spPr>
              <a:xfrm>
                <a:off x="975958" y="2061210"/>
                <a:ext cx="105484" cy="234696"/>
              </a:xfrm>
              <a:prstGeom prst="rect">
                <a:avLst/>
              </a:prstGeom>
              <a:noFill/>
              <a:ln>
                <a:noFill/>
              </a:ln>
            </p:spPr>
            <p:txBody>
              <a:bodyPr wrap="none" lIns="0" tIns="0" rIns="0" bIns="0" anchor="t" anchorCtr="0">
                <a:spAutoFit/>
              </a:bodyPr>
              <a:lstStyle/>
              <a:p>
                <a:pPr algn="ctr"/>
                <a:r>
                  <a:rPr lang="zh-CN" sz="1200" b="1" dirty="0">
                    <a:solidFill>
                      <a:srgbClr val="FFFFFF"/>
                    </a:solidFill>
                    <a:latin typeface="+mn-lt"/>
                    <a:ea typeface="+mn-ea"/>
                    <a:cs typeface="+mn-cs"/>
                  </a:rPr>
                  <a:t>1</a:t>
                </a:r>
              </a:p>
            </p:txBody>
          </p:sp>
          <p:sp>
            <p:nvSpPr>
              <p:cNvPr id="16" name="TextBox 16"/>
              <p:cNvSpPr txBox="1"/>
              <p:nvPr/>
            </p:nvSpPr>
            <p:spPr>
              <a:xfrm>
                <a:off x="1327404" y="1965960"/>
                <a:ext cx="658368" cy="234696"/>
              </a:xfrm>
              <a:prstGeom prst="rect">
                <a:avLst/>
              </a:prstGeom>
              <a:noFill/>
              <a:ln>
                <a:noFill/>
              </a:ln>
            </p:spPr>
            <p:txBody>
              <a:bodyPr wrap="none" lIns="0" tIns="0" rIns="0" bIns="0" anchor="t" anchorCtr="0">
                <a:spAutoFit/>
              </a:bodyPr>
              <a:lstStyle/>
              <a:p>
                <a:pPr algn="l"/>
                <a:r>
                  <a:rPr lang="zh-CN" sz="1200" b="1" dirty="0">
                    <a:solidFill>
                      <a:srgbClr val="C2410C"/>
                    </a:solidFill>
                    <a:latin typeface="+mn-lt"/>
                    <a:ea typeface="+mn-ea"/>
                    <a:cs typeface="+mn-cs"/>
                  </a:rPr>
                  <a:t>初始扰动</a:t>
                </a:r>
              </a:p>
            </p:txBody>
          </p:sp>
          <p:sp>
            <p:nvSpPr>
              <p:cNvPr id="17" name="TextBox 17"/>
              <p:cNvSpPr txBox="1"/>
              <p:nvPr/>
            </p:nvSpPr>
            <p:spPr>
              <a:xfrm>
                <a:off x="1328547" y="2228374"/>
                <a:ext cx="1266952" cy="190690"/>
              </a:xfrm>
              <a:prstGeom prst="rect">
                <a:avLst/>
              </a:prstGeom>
              <a:noFill/>
              <a:ln>
                <a:noFill/>
              </a:ln>
            </p:spPr>
            <p:txBody>
              <a:bodyPr wrap="none" lIns="0" tIns="0" rIns="0" bIns="0" anchor="t" anchorCtr="0">
                <a:spAutoFit/>
              </a:bodyPr>
              <a:lstStyle/>
              <a:p>
                <a:pPr algn="l"/>
                <a:r>
                  <a:rPr lang="zh-CN" sz="980" dirty="0">
                    <a:solidFill>
                      <a:srgbClr val="7A4A33"/>
                    </a:solidFill>
                    <a:latin typeface="+mn-lt"/>
                    <a:ea typeface="+mn-ea"/>
                    <a:cs typeface="+mn-cs"/>
                  </a:rPr>
                  <a:t>Initial perturbation</a:t>
                </a:r>
              </a:p>
            </p:txBody>
          </p:sp>
          <p:sp>
            <p:nvSpPr>
              <p:cNvPr id="18" name="TextBox 18"/>
              <p:cNvSpPr txBox="1"/>
              <p:nvPr/>
            </p:nvSpPr>
            <p:spPr>
              <a:xfrm>
                <a:off x="927735" y="2526506"/>
                <a:ext cx="1485036" cy="220028"/>
              </a:xfrm>
              <a:prstGeom prst="rect">
                <a:avLst/>
              </a:prstGeom>
              <a:noFill/>
              <a:ln>
                <a:noFill/>
              </a:ln>
            </p:spPr>
            <p:txBody>
              <a:bodyPr wrap="none" lIns="0" tIns="0" rIns="0" bIns="0" anchor="t" anchorCtr="0">
                <a:spAutoFit/>
              </a:bodyPr>
              <a:lstStyle/>
              <a:p>
                <a:pPr algn="l"/>
                <a:r>
                  <a:rPr lang="zh-CN" sz="1120" b="1" dirty="0">
                    <a:solidFill>
                      <a:schemeClr val="dk1"/>
                    </a:solidFill>
                    <a:latin typeface="+mn-lt"/>
                    <a:ea typeface="+mn-ea"/>
                    <a:cs typeface="+mn-cs"/>
                  </a:rPr>
                  <a:t>大气 CO₂ ↑ / 温度 ↑</a:t>
                </a:r>
              </a:p>
            </p:txBody>
          </p:sp>
        </p:grpSp>
        <p:grpSp>
          <p:nvGrpSpPr>
            <p:cNvPr id="26" name="Group 26"/>
            <p:cNvGrpSpPr/>
            <p:nvPr/>
          </p:nvGrpSpPr>
          <p:grpSpPr>
            <a:xfrm>
              <a:off x="3581400" y="1847850"/>
              <a:ext cx="2381250" cy="1066800"/>
              <a:chOff x="3581400" y="1847850"/>
              <a:chExt cx="2381250" cy="1066800"/>
            </a:xfrm>
          </p:grpSpPr>
          <p:sp>
            <p:nvSpPr>
              <p:cNvPr id="20" name="Rectangle 20"/>
              <p:cNvSpPr/>
              <p:nvPr/>
            </p:nvSpPr>
            <p:spPr>
              <a:xfrm>
                <a:off x="3581400" y="1847850"/>
                <a:ext cx="2381250" cy="1066800"/>
              </a:xfrm>
              <a:prstGeom prst="roundRect">
                <a:avLst>
                  <a:gd name="adj" fmla="val 10714"/>
                </a:avLst>
              </a:prstGeom>
              <a:solidFill>
                <a:schemeClr val="lt1"/>
              </a:solidFill>
              <a:ln w="19050">
                <a:solidFill>
                  <a:schemeClr val="accent6"/>
                </a:solidFill>
              </a:ln>
            </p:spPr>
          </p:sp>
          <p:sp>
            <p:nvSpPr>
              <p:cNvPr id="21" name="Ellipse 21"/>
              <p:cNvSpPr/>
              <p:nvPr/>
            </p:nvSpPr>
            <p:spPr>
              <a:xfrm>
                <a:off x="3695700" y="1962150"/>
                <a:ext cx="342900" cy="342900"/>
              </a:xfrm>
              <a:prstGeom prst="ellipse">
                <a:avLst/>
              </a:prstGeom>
              <a:solidFill>
                <a:schemeClr val="accent3"/>
              </a:solidFill>
              <a:ln>
                <a:noFill/>
              </a:ln>
            </p:spPr>
          </p:sp>
          <p:sp>
            <p:nvSpPr>
              <p:cNvPr id="22" name="TextBox 22"/>
              <p:cNvSpPr txBox="1"/>
              <p:nvPr/>
            </p:nvSpPr>
            <p:spPr>
              <a:xfrm>
                <a:off x="3814408" y="2061210"/>
                <a:ext cx="105484" cy="234696"/>
              </a:xfrm>
              <a:prstGeom prst="rect">
                <a:avLst/>
              </a:prstGeom>
              <a:noFill/>
              <a:ln>
                <a:noFill/>
              </a:ln>
            </p:spPr>
            <p:txBody>
              <a:bodyPr wrap="none" lIns="0" tIns="0" rIns="0" bIns="0" anchor="t" anchorCtr="0">
                <a:spAutoFit/>
              </a:bodyPr>
              <a:lstStyle/>
              <a:p>
                <a:pPr algn="ctr"/>
                <a:r>
                  <a:rPr lang="zh-CN" sz="1200" b="1" dirty="0">
                    <a:solidFill>
                      <a:srgbClr val="FFFFFF"/>
                    </a:solidFill>
                    <a:latin typeface="+mn-lt"/>
                    <a:ea typeface="+mn-ea"/>
                    <a:cs typeface="+mn-cs"/>
                  </a:rPr>
                  <a:t>2</a:t>
                </a:r>
              </a:p>
            </p:txBody>
          </p:sp>
          <p:sp>
            <p:nvSpPr>
              <p:cNvPr id="23" name="TextBox 23"/>
              <p:cNvSpPr txBox="1"/>
              <p:nvPr/>
            </p:nvSpPr>
            <p:spPr>
              <a:xfrm>
                <a:off x="4165854" y="1965960"/>
                <a:ext cx="981456" cy="234696"/>
              </a:xfrm>
              <a:prstGeom prst="rect">
                <a:avLst/>
              </a:prstGeom>
              <a:noFill/>
              <a:ln>
                <a:noFill/>
              </a:ln>
            </p:spPr>
            <p:txBody>
              <a:bodyPr wrap="none" lIns="0" tIns="0" rIns="0" bIns="0" anchor="t" anchorCtr="0">
                <a:spAutoFit/>
              </a:bodyPr>
              <a:lstStyle/>
              <a:p>
                <a:pPr algn="l"/>
                <a:r>
                  <a:rPr lang="zh-CN" sz="1200" b="1" dirty="0">
                    <a:solidFill>
                      <a:srgbClr val="C2410C"/>
                    </a:solidFill>
                    <a:latin typeface="+mn-lt"/>
                    <a:ea typeface="+mn-ea"/>
                    <a:cs typeface="+mn-cs"/>
                  </a:rPr>
                  <a:t>风化条件增强</a:t>
                </a:r>
              </a:p>
            </p:txBody>
          </p:sp>
          <p:sp>
            <p:nvSpPr>
              <p:cNvPr id="24" name="TextBox 24"/>
              <p:cNvSpPr txBox="1"/>
              <p:nvPr/>
            </p:nvSpPr>
            <p:spPr>
              <a:xfrm>
                <a:off x="4166997" y="2228374"/>
                <a:ext cx="1432142" cy="190690"/>
              </a:xfrm>
              <a:prstGeom prst="rect">
                <a:avLst/>
              </a:prstGeom>
              <a:noFill/>
              <a:ln>
                <a:noFill/>
              </a:ln>
            </p:spPr>
            <p:txBody>
              <a:bodyPr wrap="none" lIns="0" tIns="0" rIns="0" bIns="0" anchor="t" anchorCtr="0">
                <a:spAutoFit/>
              </a:bodyPr>
              <a:lstStyle/>
              <a:p>
                <a:pPr algn="l"/>
                <a:r>
                  <a:rPr lang="zh-CN" sz="980" dirty="0">
                    <a:solidFill>
                      <a:schemeClr val="accent5"/>
                    </a:solidFill>
                    <a:latin typeface="+mn-lt"/>
                    <a:ea typeface="+mn-ea"/>
                    <a:cs typeface="+mn-cs"/>
                  </a:rPr>
                  <a:t>Weathering conditions</a:t>
                </a:r>
              </a:p>
            </p:txBody>
          </p:sp>
          <p:sp>
            <p:nvSpPr>
              <p:cNvPr id="25" name="TextBox 25"/>
              <p:cNvSpPr txBox="1"/>
              <p:nvPr/>
            </p:nvSpPr>
            <p:spPr>
              <a:xfrm>
                <a:off x="3766185" y="2526506"/>
                <a:ext cx="1865955" cy="220028"/>
              </a:xfrm>
              <a:prstGeom prst="rect">
                <a:avLst/>
              </a:prstGeom>
              <a:noFill/>
              <a:ln>
                <a:noFill/>
              </a:ln>
            </p:spPr>
            <p:txBody>
              <a:bodyPr wrap="none" lIns="0" tIns="0" rIns="0" bIns="0" anchor="t" anchorCtr="0">
                <a:spAutoFit/>
              </a:bodyPr>
              <a:lstStyle/>
              <a:p>
                <a:pPr algn="l"/>
                <a:r>
                  <a:rPr lang="zh-CN" sz="1120" dirty="0">
                    <a:solidFill>
                      <a:schemeClr val="dk1"/>
                    </a:solidFill>
                    <a:latin typeface="+mn-lt"/>
                    <a:ea typeface="+mn-ea"/>
                    <a:cs typeface="+mn-cs"/>
                  </a:rPr>
                  <a:t>更暖 · 更湿 · 雨水酸性更强</a:t>
                </a:r>
              </a:p>
            </p:txBody>
          </p:sp>
        </p:grpSp>
        <p:grpSp>
          <p:nvGrpSpPr>
            <p:cNvPr id="33" name="Group 33"/>
            <p:cNvGrpSpPr/>
            <p:nvPr/>
          </p:nvGrpSpPr>
          <p:grpSpPr>
            <a:xfrm>
              <a:off x="6419850" y="1847850"/>
              <a:ext cx="2381250" cy="1066800"/>
              <a:chOff x="6419850" y="1847850"/>
              <a:chExt cx="2381250" cy="1066800"/>
            </a:xfrm>
          </p:grpSpPr>
          <p:sp>
            <p:nvSpPr>
              <p:cNvPr id="27" name="Rectangle 27"/>
              <p:cNvSpPr/>
              <p:nvPr/>
            </p:nvSpPr>
            <p:spPr>
              <a:xfrm>
                <a:off x="6419850" y="1847850"/>
                <a:ext cx="2381250" cy="1066800"/>
              </a:xfrm>
              <a:prstGeom prst="roundRect">
                <a:avLst>
                  <a:gd name="adj" fmla="val 10714"/>
                </a:avLst>
              </a:prstGeom>
              <a:solidFill>
                <a:srgbClr val="F0F5FC"/>
              </a:solidFill>
              <a:ln w="19050">
                <a:solidFill>
                  <a:srgbClr val="B8C7DC"/>
                </a:solidFill>
              </a:ln>
            </p:spPr>
          </p:sp>
          <p:sp>
            <p:nvSpPr>
              <p:cNvPr id="28" name="Ellipse 28"/>
              <p:cNvSpPr/>
              <p:nvPr/>
            </p:nvSpPr>
            <p:spPr>
              <a:xfrm>
                <a:off x="6534150" y="1962150"/>
                <a:ext cx="342900" cy="342900"/>
              </a:xfrm>
              <a:prstGeom prst="ellipse">
                <a:avLst/>
              </a:prstGeom>
              <a:solidFill>
                <a:schemeClr val="accent2"/>
              </a:solidFill>
              <a:ln>
                <a:noFill/>
              </a:ln>
            </p:spPr>
          </p:sp>
          <p:sp>
            <p:nvSpPr>
              <p:cNvPr id="29" name="TextBox 29"/>
              <p:cNvSpPr txBox="1"/>
              <p:nvPr/>
            </p:nvSpPr>
            <p:spPr>
              <a:xfrm>
                <a:off x="6652858" y="2061210"/>
                <a:ext cx="105484" cy="234696"/>
              </a:xfrm>
              <a:prstGeom prst="rect">
                <a:avLst/>
              </a:prstGeom>
              <a:noFill/>
              <a:ln>
                <a:noFill/>
              </a:ln>
            </p:spPr>
            <p:txBody>
              <a:bodyPr wrap="none" lIns="0" tIns="0" rIns="0" bIns="0" anchor="t" anchorCtr="0">
                <a:spAutoFit/>
              </a:bodyPr>
              <a:lstStyle/>
              <a:p>
                <a:pPr algn="ctr"/>
                <a:r>
                  <a:rPr lang="zh-CN" sz="1200" b="1" dirty="0">
                    <a:solidFill>
                      <a:srgbClr val="FFFFFF"/>
                    </a:solidFill>
                    <a:latin typeface="+mn-lt"/>
                    <a:ea typeface="+mn-ea"/>
                    <a:cs typeface="+mn-cs"/>
                  </a:rPr>
                  <a:t>3</a:t>
                </a:r>
              </a:p>
            </p:txBody>
          </p:sp>
          <p:sp>
            <p:nvSpPr>
              <p:cNvPr id="30" name="TextBox 30"/>
              <p:cNvSpPr txBox="1"/>
              <p:nvPr/>
            </p:nvSpPr>
            <p:spPr>
              <a:xfrm>
                <a:off x="7004304" y="1965960"/>
                <a:ext cx="1143000" cy="234696"/>
              </a:xfrm>
              <a:prstGeom prst="rect">
                <a:avLst/>
              </a:prstGeom>
              <a:noFill/>
              <a:ln>
                <a:noFill/>
              </a:ln>
            </p:spPr>
            <p:txBody>
              <a:bodyPr wrap="none" lIns="0" tIns="0" rIns="0" bIns="0" anchor="t" anchorCtr="0">
                <a:spAutoFit/>
              </a:bodyPr>
              <a:lstStyle/>
              <a:p>
                <a:pPr algn="l"/>
                <a:r>
                  <a:rPr lang="zh-CN" sz="1200" b="1" dirty="0">
                    <a:solidFill>
                      <a:schemeClr val="accent1"/>
                    </a:solidFill>
                    <a:latin typeface="+mn-lt"/>
                    <a:ea typeface="+mn-ea"/>
                    <a:cs typeface="+mn-cs"/>
                  </a:rPr>
                  <a:t>硅酸盐风化加速</a:t>
                </a:r>
              </a:p>
            </p:txBody>
          </p:sp>
          <p:sp>
            <p:nvSpPr>
              <p:cNvPr id="31" name="TextBox 31"/>
              <p:cNvSpPr txBox="1"/>
              <p:nvPr/>
            </p:nvSpPr>
            <p:spPr>
              <a:xfrm>
                <a:off x="7005447" y="2228374"/>
                <a:ext cx="1729010" cy="190690"/>
              </a:xfrm>
              <a:prstGeom prst="rect">
                <a:avLst/>
              </a:prstGeom>
              <a:noFill/>
              <a:ln>
                <a:noFill/>
              </a:ln>
            </p:spPr>
            <p:txBody>
              <a:bodyPr wrap="none" lIns="0" tIns="0" rIns="0" bIns="0" anchor="t" anchorCtr="0">
                <a:spAutoFit/>
              </a:bodyPr>
              <a:lstStyle/>
              <a:p>
                <a:pPr algn="l"/>
                <a:r>
                  <a:rPr lang="zh-CN" sz="980" dirty="0">
                    <a:solidFill>
                      <a:schemeClr val="accent5"/>
                    </a:solidFill>
                    <a:latin typeface="+mn-lt"/>
                    <a:ea typeface="+mn-ea"/>
                    <a:cs typeface="+mn-cs"/>
                  </a:rPr>
                  <a:t>Faster silicate weathering</a:t>
                </a:r>
              </a:p>
            </p:txBody>
          </p:sp>
          <p:sp>
            <p:nvSpPr>
              <p:cNvPr id="32" name="TextBox 32"/>
              <p:cNvSpPr txBox="1"/>
              <p:nvPr/>
            </p:nvSpPr>
            <p:spPr>
              <a:xfrm>
                <a:off x="6604635" y="2526506"/>
                <a:ext cx="1787723" cy="220028"/>
              </a:xfrm>
              <a:prstGeom prst="rect">
                <a:avLst/>
              </a:prstGeom>
              <a:noFill/>
              <a:ln>
                <a:noFill/>
              </a:ln>
            </p:spPr>
            <p:txBody>
              <a:bodyPr wrap="none" lIns="0" tIns="0" rIns="0" bIns="0" anchor="t" anchorCtr="0">
                <a:spAutoFit/>
              </a:bodyPr>
              <a:lstStyle/>
              <a:p>
                <a:pPr algn="l"/>
                <a:r>
                  <a:rPr lang="zh-CN" sz="1120" dirty="0">
                    <a:solidFill>
                      <a:schemeClr val="dk1"/>
                    </a:solidFill>
                    <a:latin typeface="+mn-lt"/>
                    <a:ea typeface="+mn-ea"/>
                    <a:cs typeface="+mn-cs"/>
                  </a:rPr>
                  <a:t>消耗 CO₂，释放溶解产物</a:t>
                </a:r>
              </a:p>
            </p:txBody>
          </p:sp>
        </p:grpSp>
        <p:grpSp>
          <p:nvGrpSpPr>
            <p:cNvPr id="40" name="Group 40"/>
            <p:cNvGrpSpPr/>
            <p:nvPr/>
          </p:nvGrpSpPr>
          <p:grpSpPr>
            <a:xfrm>
              <a:off x="9258300" y="1847850"/>
              <a:ext cx="2190750" cy="1066800"/>
              <a:chOff x="9258300" y="1847850"/>
              <a:chExt cx="2190750" cy="1066800"/>
            </a:xfrm>
          </p:grpSpPr>
          <p:sp>
            <p:nvSpPr>
              <p:cNvPr id="34" name="Rectangle 34"/>
              <p:cNvSpPr/>
              <p:nvPr/>
            </p:nvSpPr>
            <p:spPr>
              <a:xfrm>
                <a:off x="9258300" y="1847850"/>
                <a:ext cx="2190750" cy="1066800"/>
              </a:xfrm>
              <a:prstGeom prst="roundRect">
                <a:avLst>
                  <a:gd name="adj" fmla="val 10714"/>
                </a:avLst>
              </a:prstGeom>
              <a:solidFill>
                <a:srgbClr val="F0F5FC"/>
              </a:solidFill>
              <a:ln w="19050">
                <a:solidFill>
                  <a:srgbClr val="B8C7DC"/>
                </a:solidFill>
              </a:ln>
            </p:spPr>
          </p:sp>
          <p:sp>
            <p:nvSpPr>
              <p:cNvPr id="35" name="Ellipse 35"/>
              <p:cNvSpPr/>
              <p:nvPr/>
            </p:nvSpPr>
            <p:spPr>
              <a:xfrm>
                <a:off x="9372600" y="1962150"/>
                <a:ext cx="342900" cy="342900"/>
              </a:xfrm>
              <a:prstGeom prst="ellipse">
                <a:avLst/>
              </a:prstGeom>
              <a:solidFill>
                <a:schemeClr val="accent2"/>
              </a:solidFill>
              <a:ln>
                <a:noFill/>
              </a:ln>
            </p:spPr>
          </p:sp>
          <p:sp>
            <p:nvSpPr>
              <p:cNvPr id="36" name="TextBox 36"/>
              <p:cNvSpPr txBox="1"/>
              <p:nvPr/>
            </p:nvSpPr>
            <p:spPr>
              <a:xfrm>
                <a:off x="9491308" y="2061210"/>
                <a:ext cx="105484" cy="234696"/>
              </a:xfrm>
              <a:prstGeom prst="rect">
                <a:avLst/>
              </a:prstGeom>
              <a:noFill/>
              <a:ln>
                <a:noFill/>
              </a:ln>
            </p:spPr>
            <p:txBody>
              <a:bodyPr wrap="none" lIns="0" tIns="0" rIns="0" bIns="0" anchor="t" anchorCtr="0">
                <a:spAutoFit/>
              </a:bodyPr>
              <a:lstStyle/>
              <a:p>
                <a:pPr algn="ctr"/>
                <a:r>
                  <a:rPr lang="zh-CN" sz="1200" b="1" dirty="0">
                    <a:solidFill>
                      <a:srgbClr val="FFFFFF"/>
                    </a:solidFill>
                    <a:latin typeface="+mn-lt"/>
                    <a:ea typeface="+mn-ea"/>
                    <a:cs typeface="+mn-cs"/>
                  </a:rPr>
                  <a:t>4</a:t>
                </a:r>
              </a:p>
            </p:txBody>
          </p:sp>
          <p:sp>
            <p:nvSpPr>
              <p:cNvPr id="37" name="TextBox 37"/>
              <p:cNvSpPr txBox="1"/>
              <p:nvPr/>
            </p:nvSpPr>
            <p:spPr>
              <a:xfrm>
                <a:off x="9842754" y="1965960"/>
                <a:ext cx="1143000" cy="234696"/>
              </a:xfrm>
              <a:prstGeom prst="rect">
                <a:avLst/>
              </a:prstGeom>
              <a:noFill/>
              <a:ln>
                <a:noFill/>
              </a:ln>
            </p:spPr>
            <p:txBody>
              <a:bodyPr wrap="none" lIns="0" tIns="0" rIns="0" bIns="0" anchor="t" anchorCtr="0">
                <a:spAutoFit/>
              </a:bodyPr>
              <a:lstStyle/>
              <a:p>
                <a:pPr algn="l"/>
                <a:r>
                  <a:rPr lang="zh-CN" sz="1200" b="1" dirty="0">
                    <a:solidFill>
                      <a:schemeClr val="accent1"/>
                    </a:solidFill>
                    <a:latin typeface="+mn-lt"/>
                    <a:ea typeface="+mn-ea"/>
                    <a:cs typeface="+mn-cs"/>
                  </a:rPr>
                  <a:t>海洋输送与埋藏</a:t>
                </a:r>
              </a:p>
            </p:txBody>
          </p:sp>
          <p:sp>
            <p:nvSpPr>
              <p:cNvPr id="38" name="TextBox 38"/>
              <p:cNvSpPr txBox="1"/>
              <p:nvPr/>
            </p:nvSpPr>
            <p:spPr>
              <a:xfrm>
                <a:off x="9843897" y="2228374"/>
                <a:ext cx="1544825" cy="190690"/>
              </a:xfrm>
              <a:prstGeom prst="rect">
                <a:avLst/>
              </a:prstGeom>
              <a:noFill/>
              <a:ln>
                <a:noFill/>
              </a:ln>
            </p:spPr>
            <p:txBody>
              <a:bodyPr wrap="none" lIns="0" tIns="0" rIns="0" bIns="0" anchor="t" anchorCtr="0">
                <a:spAutoFit/>
              </a:bodyPr>
              <a:lstStyle/>
              <a:p>
                <a:pPr algn="l"/>
                <a:r>
                  <a:rPr lang="zh-CN" sz="980" dirty="0">
                    <a:solidFill>
                      <a:schemeClr val="accent5"/>
                    </a:solidFill>
                    <a:latin typeface="+mn-lt"/>
                    <a:ea typeface="+mn-ea"/>
                    <a:cs typeface="+mn-cs"/>
                  </a:rPr>
                  <a:t>Ocean transfer &amp; burial</a:t>
                </a:r>
              </a:p>
            </p:txBody>
          </p:sp>
          <p:sp>
            <p:nvSpPr>
              <p:cNvPr id="39" name="TextBox 39"/>
              <p:cNvSpPr txBox="1"/>
              <p:nvPr/>
            </p:nvSpPr>
            <p:spPr>
              <a:xfrm>
                <a:off x="9443085" y="2526506"/>
                <a:ext cx="1849882" cy="220028"/>
              </a:xfrm>
              <a:prstGeom prst="rect">
                <a:avLst/>
              </a:prstGeom>
              <a:noFill/>
              <a:ln>
                <a:noFill/>
              </a:ln>
            </p:spPr>
            <p:txBody>
              <a:bodyPr wrap="none" lIns="0" tIns="0" rIns="0" bIns="0" anchor="t" anchorCtr="0">
                <a:spAutoFit/>
              </a:bodyPr>
              <a:lstStyle/>
              <a:p>
                <a:pPr algn="l"/>
                <a:r>
                  <a:rPr lang="zh-CN" sz="1120" dirty="0">
                    <a:solidFill>
                      <a:schemeClr val="dk1"/>
                    </a:solidFill>
                    <a:latin typeface="+mn-lt"/>
                    <a:ea typeface="+mn-ea"/>
                    <a:cs typeface="+mn-cs"/>
                  </a:rPr>
                  <a:t>Ca²⁺ 通量 ↑ · CaCO₃ 埋藏</a:t>
                </a:r>
              </a:p>
            </p:txBody>
          </p:sp>
        </p:grpSp>
        <p:sp>
          <p:nvSpPr>
            <p:cNvPr id="41" name="Line 41"/>
            <p:cNvSpPr/>
            <p:nvPr/>
          </p:nvSpPr>
          <p:spPr>
            <a:xfrm>
              <a:off x="3124200" y="2381250"/>
              <a:ext cx="361950" cy="9525"/>
            </a:xfrm>
            <a:custGeom>
              <a:avLst/>
              <a:gdLst/>
              <a:ahLst/>
              <a:cxnLst/>
              <a:rect l="l" t="t" r="r" b="b"/>
              <a:pathLst>
                <a:path w="361950" h="9525">
                  <a:moveTo>
                    <a:pt x="0" y="0"/>
                  </a:moveTo>
                  <a:lnTo>
                    <a:pt x="361950" y="0"/>
                  </a:lnTo>
                </a:path>
              </a:pathLst>
            </a:custGeom>
            <a:noFill/>
            <a:ln w="47625">
              <a:solidFill>
                <a:schemeClr val="accent3"/>
              </a:solidFill>
            </a:ln>
          </p:spPr>
        </p:sp>
        <p:sp>
          <p:nvSpPr>
            <p:cNvPr id="42" name="Polygon 42"/>
            <p:cNvSpPr/>
            <p:nvPr/>
          </p:nvSpPr>
          <p:spPr>
            <a:xfrm>
              <a:off x="3371850" y="2276475"/>
              <a:ext cx="180975" cy="209550"/>
            </a:xfrm>
            <a:custGeom>
              <a:avLst/>
              <a:gdLst/>
              <a:ahLst/>
              <a:cxnLst/>
              <a:rect l="l" t="t" r="r" b="b"/>
              <a:pathLst>
                <a:path w="180975" h="209550">
                  <a:moveTo>
                    <a:pt x="0" y="0"/>
                  </a:moveTo>
                  <a:lnTo>
                    <a:pt x="180975" y="104775"/>
                  </a:lnTo>
                  <a:lnTo>
                    <a:pt x="0" y="209550"/>
                  </a:lnTo>
                  <a:close/>
                </a:path>
              </a:pathLst>
            </a:custGeom>
            <a:solidFill>
              <a:schemeClr val="accent3"/>
            </a:solidFill>
            <a:ln>
              <a:noFill/>
            </a:ln>
          </p:spPr>
        </p:sp>
        <p:sp>
          <p:nvSpPr>
            <p:cNvPr id="43" name="Line 43"/>
            <p:cNvSpPr/>
            <p:nvPr/>
          </p:nvSpPr>
          <p:spPr>
            <a:xfrm>
              <a:off x="5962650" y="2381250"/>
              <a:ext cx="361950" cy="9525"/>
            </a:xfrm>
            <a:custGeom>
              <a:avLst/>
              <a:gdLst/>
              <a:ahLst/>
              <a:cxnLst/>
              <a:rect l="l" t="t" r="r" b="b"/>
              <a:pathLst>
                <a:path w="361950" h="9525">
                  <a:moveTo>
                    <a:pt x="0" y="0"/>
                  </a:moveTo>
                  <a:lnTo>
                    <a:pt x="361950" y="0"/>
                  </a:lnTo>
                </a:path>
              </a:pathLst>
            </a:custGeom>
            <a:noFill/>
            <a:ln w="47625">
              <a:solidFill>
                <a:schemeClr val="accent3"/>
              </a:solidFill>
            </a:ln>
          </p:spPr>
        </p:sp>
        <p:sp>
          <p:nvSpPr>
            <p:cNvPr id="44" name="Polygon 44"/>
            <p:cNvSpPr/>
            <p:nvPr/>
          </p:nvSpPr>
          <p:spPr>
            <a:xfrm>
              <a:off x="6210300" y="2276475"/>
              <a:ext cx="180975" cy="209550"/>
            </a:xfrm>
            <a:custGeom>
              <a:avLst/>
              <a:gdLst/>
              <a:ahLst/>
              <a:cxnLst/>
              <a:rect l="l" t="t" r="r" b="b"/>
              <a:pathLst>
                <a:path w="180975" h="209550">
                  <a:moveTo>
                    <a:pt x="0" y="0"/>
                  </a:moveTo>
                  <a:lnTo>
                    <a:pt x="180975" y="104775"/>
                  </a:lnTo>
                  <a:lnTo>
                    <a:pt x="0" y="209550"/>
                  </a:lnTo>
                  <a:close/>
                </a:path>
              </a:pathLst>
            </a:custGeom>
            <a:solidFill>
              <a:schemeClr val="accent3"/>
            </a:solidFill>
            <a:ln>
              <a:noFill/>
            </a:ln>
          </p:spPr>
        </p:sp>
        <p:sp>
          <p:nvSpPr>
            <p:cNvPr id="45" name="Line 45"/>
            <p:cNvSpPr/>
            <p:nvPr/>
          </p:nvSpPr>
          <p:spPr>
            <a:xfrm>
              <a:off x="8801100" y="2381250"/>
              <a:ext cx="361950" cy="9525"/>
            </a:xfrm>
            <a:custGeom>
              <a:avLst/>
              <a:gdLst/>
              <a:ahLst/>
              <a:cxnLst/>
              <a:rect l="l" t="t" r="r" b="b"/>
              <a:pathLst>
                <a:path w="361950" h="9525">
                  <a:moveTo>
                    <a:pt x="0" y="0"/>
                  </a:moveTo>
                  <a:lnTo>
                    <a:pt x="361950" y="0"/>
                  </a:lnTo>
                </a:path>
              </a:pathLst>
            </a:custGeom>
            <a:noFill/>
            <a:ln w="47625">
              <a:solidFill>
                <a:schemeClr val="accent2"/>
              </a:solidFill>
            </a:ln>
          </p:spPr>
        </p:sp>
        <p:sp>
          <p:nvSpPr>
            <p:cNvPr id="46" name="Polygon 46"/>
            <p:cNvSpPr/>
            <p:nvPr/>
          </p:nvSpPr>
          <p:spPr>
            <a:xfrm>
              <a:off x="9048750" y="2276475"/>
              <a:ext cx="180975" cy="209550"/>
            </a:xfrm>
            <a:custGeom>
              <a:avLst/>
              <a:gdLst/>
              <a:ahLst/>
              <a:cxnLst/>
              <a:rect l="l" t="t" r="r" b="b"/>
              <a:pathLst>
                <a:path w="180975" h="209550">
                  <a:moveTo>
                    <a:pt x="0" y="0"/>
                  </a:moveTo>
                  <a:lnTo>
                    <a:pt x="180975" y="104775"/>
                  </a:lnTo>
                  <a:lnTo>
                    <a:pt x="0" y="209550"/>
                  </a:lnTo>
                  <a:close/>
                </a:path>
              </a:pathLst>
            </a:custGeom>
            <a:solidFill>
              <a:schemeClr val="accent2"/>
            </a:solidFill>
            <a:ln>
              <a:noFill/>
            </a:ln>
          </p:spPr>
        </p:sp>
        <p:grpSp>
          <p:nvGrpSpPr>
            <p:cNvPr id="53" name="Group 53"/>
            <p:cNvGrpSpPr/>
            <p:nvPr/>
          </p:nvGrpSpPr>
          <p:grpSpPr>
            <a:xfrm>
              <a:off x="6591300" y="3619500"/>
              <a:ext cx="4171950" cy="1066800"/>
              <a:chOff x="6591300" y="3619500"/>
              <a:chExt cx="4171950" cy="1066800"/>
            </a:xfrm>
          </p:grpSpPr>
          <p:sp>
            <p:nvSpPr>
              <p:cNvPr id="47" name="Rectangle 47"/>
              <p:cNvSpPr/>
              <p:nvPr/>
            </p:nvSpPr>
            <p:spPr>
              <a:xfrm>
                <a:off x="6591300" y="3619500"/>
                <a:ext cx="4171950" cy="1066800"/>
              </a:xfrm>
              <a:prstGeom prst="roundRect">
                <a:avLst>
                  <a:gd name="adj" fmla="val 10714"/>
                </a:avLst>
              </a:prstGeom>
              <a:solidFill>
                <a:schemeClr val="accent1"/>
              </a:solidFill>
              <a:ln>
                <a:noFill/>
              </a:ln>
            </p:spPr>
          </p:sp>
          <p:sp>
            <p:nvSpPr>
              <p:cNvPr id="48" name="Ellipse 48"/>
              <p:cNvSpPr/>
              <p:nvPr/>
            </p:nvSpPr>
            <p:spPr>
              <a:xfrm>
                <a:off x="6734175" y="3752850"/>
                <a:ext cx="438150" cy="438150"/>
              </a:xfrm>
              <a:prstGeom prst="ellipse">
                <a:avLst/>
              </a:prstGeom>
              <a:solidFill>
                <a:schemeClr val="lt1"/>
              </a:solidFill>
              <a:ln>
                <a:noFill/>
              </a:ln>
            </p:spPr>
          </p:sp>
          <p:sp>
            <p:nvSpPr>
              <p:cNvPr id="49" name="TextBox 49"/>
              <p:cNvSpPr txBox="1"/>
              <p:nvPr/>
            </p:nvSpPr>
            <p:spPr>
              <a:xfrm>
                <a:off x="6860952" y="3821430"/>
                <a:ext cx="184596" cy="410718"/>
              </a:xfrm>
              <a:prstGeom prst="rect">
                <a:avLst/>
              </a:prstGeom>
              <a:noFill/>
              <a:ln>
                <a:noFill/>
              </a:ln>
            </p:spPr>
            <p:txBody>
              <a:bodyPr wrap="none" lIns="0" tIns="0" rIns="0" bIns="0" anchor="t" anchorCtr="0">
                <a:spAutoFit/>
              </a:bodyPr>
              <a:lstStyle/>
              <a:p>
                <a:pPr algn="ctr"/>
                <a:r>
                  <a:rPr lang="zh-CN" sz="2100" b="1" dirty="0">
                    <a:solidFill>
                      <a:schemeClr val="accent1"/>
                    </a:solidFill>
                    <a:latin typeface="+mn-lt"/>
                    <a:ea typeface="+mn-ea"/>
                    <a:cs typeface="+mn-cs"/>
                  </a:rPr>
                  <a:t>−</a:t>
                </a:r>
              </a:p>
            </p:txBody>
          </p:sp>
          <p:sp>
            <p:nvSpPr>
              <p:cNvPr id="50" name="TextBox 50"/>
              <p:cNvSpPr txBox="1"/>
              <p:nvPr/>
            </p:nvSpPr>
            <p:spPr>
              <a:xfrm>
                <a:off x="7307961" y="3751421"/>
                <a:ext cx="2106494" cy="278702"/>
              </a:xfrm>
              <a:prstGeom prst="rect">
                <a:avLst/>
              </a:prstGeom>
              <a:noFill/>
              <a:ln>
                <a:noFill/>
              </a:ln>
            </p:spPr>
            <p:txBody>
              <a:bodyPr wrap="none" lIns="0" tIns="0" rIns="0" bIns="0" anchor="t" anchorCtr="0">
                <a:spAutoFit/>
              </a:bodyPr>
              <a:lstStyle/>
              <a:p>
                <a:pPr algn="l"/>
                <a:r>
                  <a:rPr lang="zh-CN" sz="1420" b="1" dirty="0">
                    <a:solidFill>
                      <a:srgbClr val="FFFFFF"/>
                    </a:solidFill>
                    <a:latin typeface="+mn-lt"/>
                    <a:ea typeface="+mn-ea"/>
                    <a:cs typeface="+mn-cs"/>
                  </a:rPr>
                  <a:t>大气 CO₂ ↓ · 冷却趋势</a:t>
                </a:r>
              </a:p>
            </p:txBody>
          </p:sp>
          <p:sp>
            <p:nvSpPr>
              <p:cNvPr id="51" name="TextBox 51"/>
              <p:cNvSpPr txBox="1"/>
              <p:nvPr/>
            </p:nvSpPr>
            <p:spPr>
              <a:xfrm>
                <a:off x="7309485" y="4060031"/>
                <a:ext cx="2471787" cy="220028"/>
              </a:xfrm>
              <a:prstGeom prst="rect">
                <a:avLst/>
              </a:prstGeom>
              <a:noFill/>
              <a:ln>
                <a:noFill/>
              </a:ln>
            </p:spPr>
            <p:txBody>
              <a:bodyPr wrap="none" lIns="0" tIns="0" rIns="0" bIns="0" anchor="t" anchorCtr="0">
                <a:spAutoFit/>
              </a:bodyPr>
              <a:lstStyle/>
              <a:p>
                <a:pPr algn="l"/>
                <a:r>
                  <a:rPr lang="zh-CN" sz="1120" dirty="0">
                    <a:solidFill>
                      <a:srgbClr val="C7D7F2"/>
                    </a:solidFill>
                    <a:latin typeface="+mn-lt"/>
                    <a:ea typeface="+mn-ea"/>
                    <a:cs typeface="+mn-cs"/>
                  </a:rPr>
                  <a:t>CO₂ removal and carbonate burial</a:t>
                </a:r>
              </a:p>
            </p:txBody>
          </p:sp>
          <p:sp>
            <p:nvSpPr>
              <p:cNvPr id="52" name="TextBox 52"/>
              <p:cNvSpPr txBox="1"/>
              <p:nvPr/>
            </p:nvSpPr>
            <p:spPr>
              <a:xfrm>
                <a:off x="7309485" y="4336256"/>
                <a:ext cx="2153557" cy="220028"/>
              </a:xfrm>
              <a:prstGeom prst="rect">
                <a:avLst/>
              </a:prstGeom>
              <a:noFill/>
              <a:ln>
                <a:noFill/>
              </a:ln>
            </p:spPr>
            <p:txBody>
              <a:bodyPr wrap="none" lIns="0" tIns="0" rIns="0" bIns="0" anchor="t" anchorCtr="0">
                <a:spAutoFit/>
              </a:bodyPr>
              <a:lstStyle/>
              <a:p>
                <a:pPr algn="l"/>
                <a:r>
                  <a:rPr lang="zh-CN" sz="1120" b="1" dirty="0">
                    <a:solidFill>
                      <a:srgbClr val="FFFFFF"/>
                    </a:solidFill>
                    <a:latin typeface="+mn-lt"/>
                    <a:ea typeface="+mn-ea"/>
                    <a:cs typeface="+mn-cs"/>
                  </a:rPr>
                  <a:t>最终作用反对初始增温 → 负反馈</a:t>
                </a:r>
              </a:p>
            </p:txBody>
          </p:sp>
        </p:grpSp>
        <p:sp>
          <p:nvSpPr>
            <p:cNvPr id="54" name="Freeform 54"/>
            <p:cNvSpPr/>
            <p:nvPr/>
          </p:nvSpPr>
          <p:spPr>
            <a:xfrm>
              <a:off x="8458200" y="2914650"/>
              <a:ext cx="1895475" cy="704850"/>
            </a:xfrm>
            <a:custGeom>
              <a:avLst/>
              <a:gdLst/>
              <a:ahLst/>
              <a:cxnLst/>
              <a:rect l="l" t="t" r="r" b="b"/>
              <a:pathLst>
                <a:path w="1895475" h="704850">
                  <a:moveTo>
                    <a:pt x="1895475" y="0"/>
                  </a:moveTo>
                  <a:lnTo>
                    <a:pt x="1895475" y="419100"/>
                  </a:lnTo>
                  <a:cubicBezTo>
                    <a:pt x="1895475" y="561975"/>
                    <a:pt x="1704975" y="561975"/>
                    <a:pt x="1581150" y="561975"/>
                  </a:cubicBezTo>
                  <a:lnTo>
                    <a:pt x="209550" y="561975"/>
                  </a:lnTo>
                  <a:cubicBezTo>
                    <a:pt x="114300" y="561975"/>
                    <a:pt x="0" y="609600"/>
                    <a:pt x="0" y="704850"/>
                  </a:cubicBezTo>
                </a:path>
              </a:pathLst>
            </a:custGeom>
            <a:noFill/>
            <a:ln w="47625">
              <a:solidFill>
                <a:schemeClr val="accent2"/>
              </a:solidFill>
            </a:ln>
          </p:spPr>
        </p:sp>
        <p:sp>
          <p:nvSpPr>
            <p:cNvPr id="55" name="Polygon 55"/>
            <p:cNvSpPr/>
            <p:nvPr/>
          </p:nvSpPr>
          <p:spPr>
            <a:xfrm>
              <a:off x="8353425" y="3505200"/>
              <a:ext cx="209550" cy="180975"/>
            </a:xfrm>
            <a:custGeom>
              <a:avLst/>
              <a:gdLst/>
              <a:ahLst/>
              <a:cxnLst/>
              <a:rect l="l" t="t" r="r" b="b"/>
              <a:pathLst>
                <a:path w="209550" h="180975">
                  <a:moveTo>
                    <a:pt x="0" y="0"/>
                  </a:moveTo>
                  <a:lnTo>
                    <a:pt x="104775" y="180975"/>
                  </a:lnTo>
                  <a:lnTo>
                    <a:pt x="209550" y="0"/>
                  </a:lnTo>
                  <a:close/>
                </a:path>
              </a:pathLst>
            </a:custGeom>
            <a:solidFill>
              <a:schemeClr val="accent2"/>
            </a:solidFill>
            <a:ln>
              <a:noFill/>
            </a:ln>
          </p:spPr>
        </p:sp>
        <p:grpSp>
          <p:nvGrpSpPr>
            <p:cNvPr id="62" name="Group 62"/>
            <p:cNvGrpSpPr/>
            <p:nvPr/>
          </p:nvGrpSpPr>
          <p:grpSpPr>
            <a:xfrm>
              <a:off x="1352550" y="3619500"/>
              <a:ext cx="4572000" cy="1447800"/>
              <a:chOff x="1352550" y="3619500"/>
              <a:chExt cx="4572000" cy="1447800"/>
            </a:xfrm>
          </p:grpSpPr>
          <p:sp>
            <p:nvSpPr>
              <p:cNvPr id="56" name="Rectangle 56"/>
              <p:cNvSpPr/>
              <p:nvPr/>
            </p:nvSpPr>
            <p:spPr>
              <a:xfrm>
                <a:off x="1352550" y="3619500"/>
                <a:ext cx="4572000" cy="1447800"/>
              </a:xfrm>
              <a:prstGeom prst="roundRect">
                <a:avLst>
                  <a:gd name="adj" fmla="val 7895"/>
                </a:avLst>
              </a:prstGeom>
              <a:solidFill>
                <a:schemeClr val="lt1"/>
              </a:solidFill>
              <a:ln w="19050">
                <a:solidFill>
                  <a:schemeClr val="accent6"/>
                </a:solidFill>
              </a:ln>
            </p:spPr>
          </p:sp>
          <p:sp>
            <p:nvSpPr>
              <p:cNvPr id="57" name="TextBox 57"/>
              <p:cNvSpPr txBox="1"/>
              <p:nvPr/>
            </p:nvSpPr>
            <p:spPr>
              <a:xfrm>
                <a:off x="1613154" y="3813810"/>
                <a:ext cx="1998506" cy="234696"/>
              </a:xfrm>
              <a:prstGeom prst="rect">
                <a:avLst/>
              </a:prstGeom>
              <a:noFill/>
              <a:ln>
                <a:noFill/>
              </a:ln>
            </p:spPr>
            <p:txBody>
              <a:bodyPr wrap="none" lIns="0" tIns="0" rIns="0" bIns="0" anchor="t" anchorCtr="0">
                <a:spAutoFit/>
              </a:bodyPr>
              <a:lstStyle/>
              <a:p>
                <a:pPr algn="l"/>
                <a:r>
                  <a:rPr lang="zh-CN" sz="1200" b="1" dirty="0">
                    <a:solidFill>
                      <a:schemeClr val="accent1"/>
                    </a:solidFill>
                    <a:latin typeface="+mn-lt"/>
                    <a:ea typeface="+mn-ea"/>
                    <a:cs typeface="+mn-cs"/>
                  </a:rPr>
                  <a:t>反向半环 | Cooling return</a:t>
                </a:r>
              </a:p>
            </p:txBody>
          </p:sp>
          <p:sp>
            <p:nvSpPr>
              <p:cNvPr id="58" name="TextBox 58"/>
              <p:cNvSpPr txBox="1"/>
              <p:nvPr/>
            </p:nvSpPr>
            <p:spPr>
              <a:xfrm>
                <a:off x="1613535" y="4126706"/>
                <a:ext cx="3611809" cy="220028"/>
              </a:xfrm>
              <a:prstGeom prst="rect">
                <a:avLst/>
              </a:prstGeom>
              <a:noFill/>
              <a:ln>
                <a:noFill/>
              </a:ln>
            </p:spPr>
            <p:txBody>
              <a:bodyPr wrap="none" lIns="0" tIns="0" rIns="0" bIns="0" anchor="t" anchorCtr="0">
                <a:spAutoFit/>
              </a:bodyPr>
              <a:lstStyle/>
              <a:p>
                <a:pPr algn="l"/>
                <a:r>
                  <a:rPr lang="zh-CN" sz="1120" dirty="0">
                    <a:solidFill>
                      <a:schemeClr val="dk1"/>
                    </a:solidFill>
                    <a:latin typeface="+mn-lt"/>
                    <a:ea typeface="+mn-ea"/>
                    <a:cs typeface="+mn-cs"/>
                  </a:rPr>
                  <a:t>冷却 → 水汽与酸性减弱 → 风化变慢 → CO₂ 去除减弱</a:t>
                </a:r>
              </a:p>
            </p:txBody>
          </p:sp>
          <p:sp>
            <p:nvSpPr>
              <p:cNvPr id="59" name="Line 59"/>
              <p:cNvSpPr/>
              <p:nvPr/>
            </p:nvSpPr>
            <p:spPr>
              <a:xfrm>
                <a:off x="1619250" y="4476750"/>
                <a:ext cx="4038600" cy="9525"/>
              </a:xfrm>
              <a:custGeom>
                <a:avLst/>
                <a:gdLst/>
                <a:ahLst/>
                <a:cxnLst/>
                <a:rect l="l" t="t" r="r" b="b"/>
                <a:pathLst>
                  <a:path w="4038600" h="9525">
                    <a:moveTo>
                      <a:pt x="0" y="0"/>
                    </a:moveTo>
                    <a:lnTo>
                      <a:pt x="4038600" y="0"/>
                    </a:lnTo>
                  </a:path>
                </a:pathLst>
              </a:custGeom>
              <a:noFill/>
              <a:ln w="28575">
                <a:solidFill>
                  <a:srgbClr val="B8C7DC"/>
                </a:solidFill>
              </a:ln>
            </p:spPr>
          </p:sp>
          <p:sp>
            <p:nvSpPr>
              <p:cNvPr id="60" name="Polygon 60"/>
              <p:cNvSpPr/>
              <p:nvPr/>
            </p:nvSpPr>
            <p:spPr>
              <a:xfrm>
                <a:off x="5543550" y="4371975"/>
                <a:ext cx="180975" cy="209550"/>
              </a:xfrm>
              <a:custGeom>
                <a:avLst/>
                <a:gdLst/>
                <a:ahLst/>
                <a:cxnLst/>
                <a:rect l="l" t="t" r="r" b="b"/>
                <a:pathLst>
                  <a:path w="180975" h="209550">
                    <a:moveTo>
                      <a:pt x="0" y="0"/>
                    </a:moveTo>
                    <a:lnTo>
                      <a:pt x="180975" y="104775"/>
                    </a:lnTo>
                    <a:lnTo>
                      <a:pt x="0" y="209550"/>
                    </a:lnTo>
                    <a:close/>
                  </a:path>
                </a:pathLst>
              </a:custGeom>
              <a:solidFill>
                <a:srgbClr val="B8C7DC"/>
              </a:solidFill>
              <a:ln>
                <a:noFill/>
              </a:ln>
            </p:spPr>
          </p:sp>
          <p:sp>
            <p:nvSpPr>
              <p:cNvPr id="61" name="TextBox 61"/>
              <p:cNvSpPr txBox="1"/>
              <p:nvPr/>
            </p:nvSpPr>
            <p:spPr>
              <a:xfrm>
                <a:off x="1614297" y="4752499"/>
                <a:ext cx="2302957" cy="190690"/>
              </a:xfrm>
              <a:prstGeom prst="rect">
                <a:avLst/>
              </a:prstGeom>
              <a:noFill/>
              <a:ln>
                <a:noFill/>
              </a:ln>
            </p:spPr>
            <p:txBody>
              <a:bodyPr wrap="none" lIns="0" tIns="0" rIns="0" bIns="0" anchor="t" anchorCtr="0">
                <a:spAutoFit/>
              </a:bodyPr>
              <a:lstStyle/>
              <a:p>
                <a:pPr algn="l"/>
                <a:r>
                  <a:rPr lang="zh-CN" sz="980" dirty="0">
                    <a:solidFill>
                      <a:schemeClr val="accent5"/>
                    </a:solidFill>
                    <a:latin typeface="+mn-lt"/>
                    <a:ea typeface="+mn-ea"/>
                    <a:cs typeface="+mn-cs"/>
                  </a:rPr>
                  <a:t>火山 CO₂ 输入可逐渐重建大气碳储库</a:t>
                </a:r>
              </a:p>
            </p:txBody>
          </p:sp>
        </p:grpSp>
        <p:sp>
          <p:nvSpPr>
            <p:cNvPr id="63" name="Freeform 63"/>
            <p:cNvSpPr/>
            <p:nvPr/>
          </p:nvSpPr>
          <p:spPr>
            <a:xfrm>
              <a:off x="819150" y="2914650"/>
              <a:ext cx="5772150" cy="2362200"/>
            </a:xfrm>
            <a:custGeom>
              <a:avLst/>
              <a:gdLst/>
              <a:ahLst/>
              <a:cxnLst/>
              <a:rect l="l" t="t" r="r" b="b"/>
              <a:pathLst>
                <a:path w="5772150" h="2362200">
                  <a:moveTo>
                    <a:pt x="5772150" y="1238250"/>
                  </a:moveTo>
                  <a:cubicBezTo>
                    <a:pt x="5334000" y="1238250"/>
                    <a:pt x="5334000" y="2362200"/>
                    <a:pt x="4838700" y="2362200"/>
                  </a:cubicBezTo>
                  <a:lnTo>
                    <a:pt x="952500" y="2362200"/>
                  </a:lnTo>
                  <a:cubicBezTo>
                    <a:pt x="304800" y="2362200"/>
                    <a:pt x="0" y="1962150"/>
                    <a:pt x="0" y="1314450"/>
                  </a:cubicBezTo>
                  <a:lnTo>
                    <a:pt x="0" y="152400"/>
                  </a:lnTo>
                  <a:cubicBezTo>
                    <a:pt x="0" y="76200"/>
                    <a:pt x="57150" y="38100"/>
                    <a:pt x="152400" y="0"/>
                  </a:cubicBezTo>
                </a:path>
              </a:pathLst>
            </a:custGeom>
            <a:noFill/>
            <a:ln w="38100">
              <a:solidFill>
                <a:schemeClr val="accent1"/>
              </a:solidFill>
            </a:ln>
          </p:spPr>
        </p:sp>
        <p:sp>
          <p:nvSpPr>
            <p:cNvPr id="64" name="Polygon 64"/>
            <p:cNvSpPr/>
            <p:nvPr/>
          </p:nvSpPr>
          <p:spPr>
            <a:xfrm>
              <a:off x="847725" y="2857500"/>
              <a:ext cx="190500" cy="180975"/>
            </a:xfrm>
            <a:custGeom>
              <a:avLst/>
              <a:gdLst/>
              <a:ahLst/>
              <a:cxnLst/>
              <a:rect l="l" t="t" r="r" b="b"/>
              <a:pathLst>
                <a:path w="190500" h="180975">
                  <a:moveTo>
                    <a:pt x="0" y="0"/>
                  </a:moveTo>
                  <a:lnTo>
                    <a:pt x="190500" y="38100"/>
                  </a:lnTo>
                  <a:lnTo>
                    <a:pt x="57150" y="180975"/>
                  </a:lnTo>
                  <a:close/>
                </a:path>
              </a:pathLst>
            </a:custGeom>
            <a:solidFill>
              <a:schemeClr val="accent1"/>
            </a:solidFill>
            <a:ln>
              <a:noFill/>
            </a:ln>
          </p:spPr>
        </p:sp>
        <p:sp>
          <p:nvSpPr>
            <p:cNvPr id="65" name="Rectangle 65"/>
            <p:cNvSpPr/>
            <p:nvPr/>
          </p:nvSpPr>
          <p:spPr>
            <a:xfrm>
              <a:off x="6819900" y="4914900"/>
              <a:ext cx="3943350" cy="476250"/>
            </a:xfrm>
            <a:prstGeom prst="roundRect">
              <a:avLst>
                <a:gd name="adj" fmla="val 20000"/>
              </a:avLst>
            </a:prstGeom>
            <a:solidFill>
              <a:srgbClr val="FDECDD"/>
            </a:solidFill>
            <a:ln w="9525">
              <a:solidFill>
                <a:srgbClr val="F0CFC2"/>
              </a:solidFill>
            </a:ln>
          </p:spPr>
        </p:sp>
        <p:sp>
          <p:nvSpPr>
            <p:cNvPr id="66" name="TextBox 66"/>
            <p:cNvSpPr txBox="1"/>
            <p:nvPr/>
          </p:nvSpPr>
          <p:spPr>
            <a:xfrm>
              <a:off x="7408003" y="5104924"/>
              <a:ext cx="2767143" cy="190690"/>
            </a:xfrm>
            <a:prstGeom prst="rect">
              <a:avLst/>
            </a:prstGeom>
            <a:noFill/>
            <a:ln>
              <a:noFill/>
            </a:ln>
          </p:spPr>
          <p:txBody>
            <a:bodyPr wrap="none" lIns="0" tIns="0" rIns="0" bIns="0" anchor="t" anchorCtr="0">
              <a:spAutoFit/>
            </a:bodyPr>
            <a:lstStyle/>
            <a:p>
              <a:pPr algn="ctr"/>
              <a:r>
                <a:rPr lang="zh-CN" sz="980" b="1" dirty="0">
                  <a:solidFill>
                    <a:srgbClr val="C2410C"/>
                  </a:solidFill>
                  <a:latin typeface="+mn-lt"/>
                  <a:ea typeface="+mn-ea"/>
                  <a:cs typeface="+mn-cs"/>
                </a:rPr>
                <a:t>限定：碳酸盐岩风化 ≠ 同等的净大气 CO₂ 汇</a:t>
              </a:r>
            </a:p>
          </p:txBody>
        </p:sp>
      </p:grpSp>
      <p:grpSp>
        <p:nvGrpSpPr>
          <p:cNvPr id="70" name="Group 70"/>
          <p:cNvGrpSpPr/>
          <p:nvPr/>
        </p:nvGrpSpPr>
        <p:grpSpPr>
          <a:xfrm>
            <a:off x="375285" y="5974556"/>
            <a:ext cx="5298288" cy="220028"/>
            <a:chOff x="375285" y="5974556"/>
            <a:chExt cx="5298288" cy="220028"/>
          </a:xfrm>
        </p:grpSpPr>
        <p:sp>
          <p:nvSpPr>
            <p:cNvPr id="68" name="TextBox 68"/>
            <p:cNvSpPr txBox="1"/>
            <p:nvPr/>
          </p:nvSpPr>
          <p:spPr>
            <a:xfrm>
              <a:off x="375285" y="5974556"/>
              <a:ext cx="765302" cy="220028"/>
            </a:xfrm>
            <a:prstGeom prst="rect">
              <a:avLst/>
            </a:prstGeom>
            <a:noFill/>
            <a:ln>
              <a:noFill/>
            </a:ln>
          </p:spPr>
          <p:txBody>
            <a:bodyPr wrap="none" lIns="0" tIns="0" rIns="0" bIns="0" anchor="t" anchorCtr="0">
              <a:spAutoFit/>
            </a:bodyPr>
            <a:lstStyle/>
            <a:p>
              <a:pPr algn="l"/>
              <a:r>
                <a:rPr lang="zh-CN" sz="1120" b="1" dirty="0">
                  <a:solidFill>
                    <a:schemeClr val="dk1"/>
                  </a:solidFill>
                  <a:latin typeface="+mn-lt"/>
                  <a:ea typeface="+mn-ea"/>
                  <a:cs typeface="+mn-cs"/>
                </a:rPr>
                <a:t>闭环判断：</a:t>
              </a:r>
            </a:p>
          </p:txBody>
        </p:sp>
        <p:sp>
          <p:nvSpPr>
            <p:cNvPr id="69" name="TextBox 69"/>
            <p:cNvSpPr txBox="1"/>
            <p:nvPr/>
          </p:nvSpPr>
          <p:spPr>
            <a:xfrm>
              <a:off x="1289685" y="5974556"/>
              <a:ext cx="4383888" cy="220028"/>
            </a:xfrm>
            <a:prstGeom prst="rect">
              <a:avLst/>
            </a:prstGeom>
            <a:noFill/>
            <a:ln>
              <a:noFill/>
            </a:ln>
          </p:spPr>
          <p:txBody>
            <a:bodyPr wrap="none" lIns="0" tIns="0" rIns="0" bIns="0" anchor="t" anchorCtr="0">
              <a:spAutoFit/>
            </a:bodyPr>
            <a:lstStyle/>
            <a:p>
              <a:pPr algn="l"/>
              <a:r>
                <a:rPr lang="zh-CN" sz="1120" dirty="0">
                  <a:solidFill>
                    <a:schemeClr val="accent5"/>
                  </a:solidFill>
                  <a:latin typeface="+mn-lt"/>
                  <a:ea typeface="+mn-ea"/>
                  <a:cs typeface="+mn-cs"/>
                </a:rPr>
                <a:t>初始增温引起的变化最终带来冷却趋势，因此这是缓慢的负反馈。</a:t>
              </a:r>
            </a:p>
          </p:txBody>
        </p:sp>
      </p:grpSp>
      <p:sp>
        <p:nvSpPr>
          <p:cNvPr id="71" name="TextBox 71"/>
          <p:cNvSpPr txBox="1"/>
          <p:nvPr/>
        </p:nvSpPr>
        <p:spPr>
          <a:xfrm>
            <a:off x="376238" y="6532245"/>
            <a:ext cx="5161388" cy="176212"/>
          </a:xfrm>
          <a:prstGeom prst="rect">
            <a:avLst/>
          </a:prstGeom>
          <a:noFill/>
          <a:ln>
            <a:noFill/>
          </a:ln>
        </p:spPr>
        <p:txBody>
          <a:bodyPr wrap="none" lIns="0" tIns="0" rIns="0" bIns="0" anchor="t" anchorCtr="0">
            <a:spAutoFit/>
          </a:bodyPr>
          <a:lstStyle/>
          <a:p>
            <a:pPr algn="l"/>
            <a:r>
              <a:rPr lang="zh-CN" sz="900" dirty="0">
                <a:solidFill>
                  <a:schemeClr val="accent5"/>
                </a:solidFill>
                <a:latin typeface="+mn-lt"/>
                <a:ea typeface="+mn-ea"/>
                <a:cs typeface="+mn-cs"/>
              </a:rPr>
              <a:t>Source/redraw basis: HB Ch.9, Fig. 9-11 (F-01), pp.246–249; UE 8e Ch.12 companion.</a:t>
            </a:r>
          </a:p>
        </p:txBody>
      </p:sp>
      <p:sp>
        <p:nvSpPr>
          <p:cNvPr id="72" name="TextBox 72"/>
          <p:cNvSpPr txBox="1"/>
          <p:nvPr/>
        </p:nvSpPr>
        <p:spPr>
          <a:xfrm>
            <a:off x="11672964" y="6532245"/>
            <a:ext cx="142799" cy="176212"/>
          </a:xfrm>
          <a:prstGeom prst="rect">
            <a:avLst/>
          </a:prstGeom>
          <a:noFill/>
          <a:ln>
            <a:noFill/>
          </a:ln>
        </p:spPr>
        <p:txBody>
          <a:bodyPr wrap="none" lIns="0" tIns="0" rIns="0" bIns="0" anchor="t" anchorCtr="0">
            <a:spAutoFit/>
          </a:bodyPr>
          <a:lstStyle/>
          <a:p>
            <a:pPr algn="r"/>
            <a:r>
              <a:rPr lang="zh-CN" sz="900" dirty="0">
                <a:solidFill>
                  <a:schemeClr val="accent5"/>
                </a:solidFill>
                <a:latin typeface="+mn-lt"/>
                <a:ea typeface="+mn-ea"/>
                <a:cs typeface="+mn-cs"/>
              </a:rPr>
              <a:t>38</a:t>
            </a:r>
          </a:p>
        </p:txBody>
      </p:sp>
    </p:spTree>
    <p:extLst>
      <p:ext uri="{BB962C8B-B14F-4D97-AF65-F5344CB8AC3E}">
        <p14:creationId xmlns:p14="http://schemas.microsoft.com/office/powerpoint/2010/main" val="3470261960"/>
      </p:ext>
    </p:extLst>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5"/>
          <p:cNvGrpSpPr/>
          <p:nvPr/>
        </p:nvGrpSpPr>
        <p:grpSpPr>
          <a:xfrm>
            <a:off x="0" y="0"/>
            <a:ext cx="12192000" cy="685800"/>
            <a:chOff x="0" y="0"/>
            <a:chExt cx="12192000" cy="685800"/>
          </a:xfrm>
        </p:grpSpPr>
        <p:sp>
          <p:nvSpPr>
            <p:cNvPr id="2" name="Rectangle 2"/>
            <p:cNvSpPr/>
            <p:nvPr/>
          </p:nvSpPr>
          <p:spPr>
            <a:xfrm>
              <a:off x="0" y="0"/>
              <a:ext cx="12192000" cy="685800"/>
            </a:xfrm>
            <a:prstGeom prst="rect">
              <a:avLst/>
            </a:prstGeom>
            <a:solidFill>
              <a:srgbClr val="0E3F8C"/>
            </a:solidFill>
            <a:ln>
              <a:noFill/>
            </a:ln>
          </p:spPr>
        </p:sp>
        <p:sp>
          <p:nvSpPr>
            <p:cNvPr id="3" name="TextBox 3"/>
            <p:cNvSpPr txBox="1"/>
            <p:nvPr/>
          </p:nvSpPr>
          <p:spPr>
            <a:xfrm>
              <a:off x="374142" y="282892"/>
              <a:ext cx="3647505" cy="264033"/>
            </a:xfrm>
            <a:prstGeom prst="rect">
              <a:avLst/>
            </a:prstGeom>
            <a:noFill/>
            <a:ln>
              <a:noFill/>
            </a:ln>
          </p:spPr>
          <p:txBody>
            <a:bodyPr wrap="none" lIns="0" tIns="0" rIns="0" bIns="0" anchor="t" anchorCtr="0">
              <a:spAutoFit/>
            </a:bodyPr>
            <a:lstStyle/>
            <a:p>
              <a:pPr algn="l"/>
              <a:r>
                <a:rPr lang="zh-CN" sz="1350" b="1" dirty="0">
                  <a:solidFill>
                    <a:srgbClr val="FFFFFF"/>
                  </a:solidFill>
                  <a:latin typeface="Arial"/>
                  <a:ea typeface="Microsoft YaHei"/>
                  <a:cs typeface="Arial"/>
                </a:rPr>
                <a:t>3.5 生命也参与反馈 | Biosphere Feedback</a:t>
              </a:r>
            </a:p>
          </p:txBody>
        </p:sp>
        <p:sp>
          <p:nvSpPr>
            <p:cNvPr id="4" name="TextBox 4"/>
            <p:cNvSpPr txBox="1"/>
            <p:nvPr/>
          </p:nvSpPr>
          <p:spPr>
            <a:xfrm>
              <a:off x="10294315" y="299085"/>
              <a:ext cx="1522781" cy="234696"/>
            </a:xfrm>
            <a:prstGeom prst="rect">
              <a:avLst/>
            </a:prstGeom>
            <a:noFill/>
            <a:ln>
              <a:noFill/>
            </a:ln>
          </p:spPr>
          <p:txBody>
            <a:bodyPr wrap="none" lIns="0" tIns="0" rIns="0" bIns="0" anchor="t" anchorCtr="0">
              <a:spAutoFit/>
            </a:bodyPr>
            <a:lstStyle/>
            <a:p>
              <a:pPr algn="r"/>
              <a:r>
                <a:rPr lang="en-US" sz="1200" dirty="0">
                  <a:solidFill>
                    <a:srgbClr val="C7D7F2"/>
                  </a:solidFill>
                  <a:latin typeface="Arial"/>
                  <a:ea typeface="Arial"/>
                  <a:cs typeface="Arial"/>
                </a:rPr>
                <a:t>NEGATIVE FEEDBACK</a:t>
              </a:r>
            </a:p>
          </p:txBody>
        </p:sp>
      </p:grpSp>
      <p:grpSp>
        <p:nvGrpSpPr>
          <p:cNvPr id="8" name="Group 8"/>
          <p:cNvGrpSpPr/>
          <p:nvPr/>
        </p:nvGrpSpPr>
        <p:grpSpPr>
          <a:xfrm>
            <a:off x="381000" y="914400"/>
            <a:ext cx="7276695" cy="357093"/>
            <a:chOff x="381000" y="914400"/>
            <a:chExt cx="7276695" cy="357093"/>
          </a:xfrm>
        </p:grpSpPr>
        <p:sp>
          <p:nvSpPr>
            <p:cNvPr id="6" name="Rectangle 6"/>
            <p:cNvSpPr/>
            <p:nvPr/>
          </p:nvSpPr>
          <p:spPr>
            <a:xfrm>
              <a:off x="381000" y="914400"/>
              <a:ext cx="57150" cy="266700"/>
            </a:xfrm>
            <a:prstGeom prst="roundRect">
              <a:avLst>
                <a:gd name="adj" fmla="val 50000"/>
              </a:avLst>
            </a:prstGeom>
            <a:solidFill>
              <a:srgbClr val="1E4FA8"/>
            </a:solidFill>
            <a:ln>
              <a:noFill/>
            </a:ln>
          </p:spPr>
        </p:sp>
        <p:sp>
          <p:nvSpPr>
            <p:cNvPr id="7" name="TextBox 7"/>
            <p:cNvSpPr txBox="1"/>
            <p:nvPr/>
          </p:nvSpPr>
          <p:spPr>
            <a:xfrm>
              <a:off x="544449" y="963454"/>
              <a:ext cx="7113246" cy="308039"/>
            </a:xfrm>
            <a:prstGeom prst="rect">
              <a:avLst/>
            </a:prstGeom>
            <a:noFill/>
            <a:ln>
              <a:noFill/>
            </a:ln>
          </p:spPr>
          <p:txBody>
            <a:bodyPr wrap="none" lIns="0" tIns="0" rIns="0" bIns="0" anchor="t" anchorCtr="0">
              <a:spAutoFit/>
            </a:bodyPr>
            <a:lstStyle/>
            <a:p>
              <a:pPr algn="l"/>
              <a:r>
                <a:rPr lang="en-US" sz="1580" b="1" dirty="0">
                  <a:solidFill>
                    <a:srgbClr val="EA580C"/>
                  </a:solidFill>
                  <a:latin typeface="Arial"/>
                  <a:ea typeface="Arial"/>
                  <a:cs typeface="Arial"/>
                </a:rPr>
                <a:t>CO₂</a:t>
              </a:r>
              <a:r>
                <a:rPr lang="zh-CN" sz="1580" b="1" dirty="0">
                  <a:solidFill>
                    <a:srgbClr val="0E3F8C"/>
                  </a:solidFill>
                  <a:latin typeface="Arial"/>
                  <a:ea typeface="Microsoft YaHei"/>
                  <a:cs typeface="Arial"/>
                </a:rPr>
                <a:t> 升高可促进植物生长与碳吸收，部分抵消初始变化：一个代表性负反馈</a:t>
              </a:r>
            </a:p>
          </p:txBody>
        </p:sp>
      </p:grpSp>
      <p:grpSp>
        <p:nvGrpSpPr>
          <p:cNvPr id="59" name="Group 59"/>
          <p:cNvGrpSpPr/>
          <p:nvPr/>
        </p:nvGrpSpPr>
        <p:grpSpPr>
          <a:xfrm>
            <a:off x="381000" y="1428750"/>
            <a:ext cx="11430000" cy="3524250"/>
            <a:chOff x="381000" y="1428750"/>
            <a:chExt cx="11430000" cy="3524250"/>
          </a:xfrm>
        </p:grpSpPr>
        <p:sp>
          <p:nvSpPr>
            <p:cNvPr id="9" name="Rectangle 9"/>
            <p:cNvSpPr/>
            <p:nvPr/>
          </p:nvSpPr>
          <p:spPr>
            <a:xfrm>
              <a:off x="381000" y="1428750"/>
              <a:ext cx="11430000" cy="3524250"/>
            </a:xfrm>
            <a:prstGeom prst="roundRect">
              <a:avLst>
                <a:gd name="adj" fmla="val 3243"/>
              </a:avLst>
            </a:prstGeom>
            <a:solidFill>
              <a:srgbClr val="F7F9FC"/>
            </a:solidFill>
            <a:ln w="9525">
              <a:solidFill>
                <a:srgbClr val="D6DCE5"/>
              </a:solidFill>
            </a:ln>
          </p:spPr>
        </p:sp>
        <p:sp>
          <p:nvSpPr>
            <p:cNvPr id="10" name="Rectangle 10"/>
            <p:cNvSpPr/>
            <p:nvPr/>
          </p:nvSpPr>
          <p:spPr>
            <a:xfrm>
              <a:off x="666750" y="1619250"/>
              <a:ext cx="2495550" cy="247650"/>
            </a:xfrm>
            <a:prstGeom prst="roundRect">
              <a:avLst>
                <a:gd name="adj" fmla="val 30769"/>
              </a:avLst>
            </a:prstGeom>
            <a:solidFill>
              <a:srgbClr val="E8EFF8"/>
            </a:solidFill>
            <a:ln>
              <a:noFill/>
            </a:ln>
          </p:spPr>
        </p:sp>
        <p:sp>
          <p:nvSpPr>
            <p:cNvPr id="11" name="TextBox 11"/>
            <p:cNvSpPr txBox="1"/>
            <p:nvPr/>
          </p:nvSpPr>
          <p:spPr>
            <a:xfrm>
              <a:off x="1235168" y="1693545"/>
              <a:ext cx="1358713" cy="176212"/>
            </a:xfrm>
            <a:prstGeom prst="rect">
              <a:avLst/>
            </a:prstGeom>
            <a:noFill/>
            <a:ln>
              <a:noFill/>
            </a:ln>
          </p:spPr>
          <p:txBody>
            <a:bodyPr wrap="none" lIns="0" tIns="0" rIns="0" bIns="0" anchor="t" anchorCtr="0">
              <a:spAutoFit/>
            </a:bodyPr>
            <a:lstStyle/>
            <a:p>
              <a:pPr algn="ctr"/>
              <a:r>
                <a:rPr lang="zh-CN" sz="900" b="1" dirty="0">
                  <a:solidFill>
                    <a:srgbClr val="1E4FA8"/>
                  </a:solidFill>
                  <a:latin typeface="Arial"/>
                  <a:ea typeface="Microsoft YaHei"/>
                  <a:cs typeface="Arial"/>
                </a:rPr>
                <a:t>初始变化 Initial change</a:t>
              </a:r>
            </a:p>
          </p:txBody>
        </p:sp>
        <p:sp>
          <p:nvSpPr>
            <p:cNvPr id="12" name="Rectangle 12"/>
            <p:cNvSpPr/>
            <p:nvPr/>
          </p:nvSpPr>
          <p:spPr>
            <a:xfrm>
              <a:off x="3429000" y="1619250"/>
              <a:ext cx="8020050" cy="247650"/>
            </a:xfrm>
            <a:prstGeom prst="roundRect">
              <a:avLst>
                <a:gd name="adj" fmla="val 30769"/>
              </a:avLst>
            </a:prstGeom>
            <a:solidFill>
              <a:srgbClr val="F0F5FC"/>
            </a:solidFill>
            <a:ln>
              <a:noFill/>
            </a:ln>
          </p:spPr>
        </p:sp>
        <p:sp>
          <p:nvSpPr>
            <p:cNvPr id="13" name="TextBox 13"/>
            <p:cNvSpPr txBox="1"/>
            <p:nvPr/>
          </p:nvSpPr>
          <p:spPr>
            <a:xfrm>
              <a:off x="3576638" y="1693545"/>
              <a:ext cx="2132938" cy="176212"/>
            </a:xfrm>
            <a:prstGeom prst="rect">
              <a:avLst/>
            </a:prstGeom>
            <a:noFill/>
            <a:ln>
              <a:noFill/>
            </a:ln>
          </p:spPr>
          <p:txBody>
            <a:bodyPr wrap="none" lIns="0" tIns="0" rIns="0" bIns="0" anchor="t" anchorCtr="0">
              <a:spAutoFit/>
            </a:bodyPr>
            <a:lstStyle/>
            <a:p>
              <a:pPr algn="l"/>
              <a:r>
                <a:rPr lang="zh-CN" sz="900" dirty="0">
                  <a:solidFill>
                    <a:srgbClr val="4A5568"/>
                  </a:solidFill>
                  <a:latin typeface="Arial"/>
                  <a:ea typeface="Microsoft YaHei"/>
                  <a:cs typeface="Arial"/>
                </a:rPr>
                <a:t>诱发变化 Induced change（步骤 2–4）</a:t>
              </a:r>
            </a:p>
          </p:txBody>
        </p:sp>
        <p:grpSp>
          <p:nvGrpSpPr>
            <p:cNvPr id="20" name="Group 20"/>
            <p:cNvGrpSpPr/>
            <p:nvPr/>
          </p:nvGrpSpPr>
          <p:grpSpPr>
            <a:xfrm>
              <a:off x="666750" y="2000250"/>
              <a:ext cx="2495550" cy="1143000"/>
              <a:chOff x="666750" y="2000250"/>
              <a:chExt cx="2495550" cy="1143000"/>
            </a:xfrm>
          </p:grpSpPr>
          <p:sp>
            <p:nvSpPr>
              <p:cNvPr id="14" name="Rectangle 14"/>
              <p:cNvSpPr/>
              <p:nvPr/>
            </p:nvSpPr>
            <p:spPr>
              <a:xfrm>
                <a:off x="666750" y="2000250"/>
                <a:ext cx="2495550" cy="1143000"/>
              </a:xfrm>
              <a:prstGeom prst="roundRect">
                <a:avLst>
                  <a:gd name="adj" fmla="val 8333"/>
                </a:avLst>
              </a:prstGeom>
              <a:solidFill>
                <a:srgbClr val="F0F5FC"/>
              </a:solidFill>
              <a:ln w="19050">
                <a:solidFill>
                  <a:srgbClr val="1E4FA8"/>
                </a:solidFill>
              </a:ln>
            </p:spPr>
          </p:sp>
          <p:sp>
            <p:nvSpPr>
              <p:cNvPr id="15" name="Ellipse 15"/>
              <p:cNvSpPr/>
              <p:nvPr/>
            </p:nvSpPr>
            <p:spPr>
              <a:xfrm>
                <a:off x="790575" y="2143125"/>
                <a:ext cx="247650" cy="247650"/>
              </a:xfrm>
              <a:prstGeom prst="ellipse">
                <a:avLst/>
              </a:prstGeom>
              <a:solidFill>
                <a:srgbClr val="1E4FA8"/>
              </a:solidFill>
              <a:ln>
                <a:noFill/>
              </a:ln>
            </p:spPr>
          </p:sp>
          <p:sp>
            <p:nvSpPr>
              <p:cNvPr id="16" name="TextBox 16"/>
              <p:cNvSpPr txBox="1"/>
              <p:nvPr/>
            </p:nvSpPr>
            <p:spPr>
              <a:xfrm>
                <a:off x="871353" y="2209324"/>
                <a:ext cx="86094" cy="190690"/>
              </a:xfrm>
              <a:prstGeom prst="rect">
                <a:avLst/>
              </a:prstGeom>
              <a:noFill/>
              <a:ln>
                <a:noFill/>
              </a:ln>
            </p:spPr>
            <p:txBody>
              <a:bodyPr wrap="none" lIns="0" tIns="0" rIns="0" bIns="0" anchor="t" anchorCtr="0">
                <a:spAutoFit/>
              </a:bodyPr>
              <a:lstStyle/>
              <a:p>
                <a:pPr algn="ctr"/>
                <a:r>
                  <a:rPr lang="en-US" sz="980" b="1" dirty="0">
                    <a:solidFill>
                      <a:srgbClr val="FFFFFF"/>
                    </a:solidFill>
                    <a:latin typeface="Arial"/>
                    <a:ea typeface="Arial"/>
                    <a:cs typeface="Arial"/>
                  </a:rPr>
                  <a:t>1</a:t>
                </a:r>
              </a:p>
            </p:txBody>
          </p:sp>
          <p:sp>
            <p:nvSpPr>
              <p:cNvPr id="17" name="TextBox 17"/>
              <p:cNvSpPr txBox="1"/>
              <p:nvPr/>
            </p:nvSpPr>
            <p:spPr>
              <a:xfrm>
                <a:off x="1118235" y="2193131"/>
                <a:ext cx="1018973" cy="220028"/>
              </a:xfrm>
              <a:prstGeom prst="rect">
                <a:avLst/>
              </a:prstGeom>
              <a:noFill/>
              <a:ln>
                <a:noFill/>
              </a:ln>
            </p:spPr>
            <p:txBody>
              <a:bodyPr wrap="none" lIns="0" tIns="0" rIns="0" bIns="0" anchor="t" anchorCtr="0">
                <a:spAutoFit/>
              </a:bodyPr>
              <a:lstStyle/>
              <a:p>
                <a:pPr algn="l"/>
                <a:r>
                  <a:rPr lang="zh-CN" sz="1120" b="1" dirty="0">
                    <a:solidFill>
                      <a:srgbClr val="0E3F8C"/>
                    </a:solidFill>
                    <a:latin typeface="Arial"/>
                    <a:ea typeface="Microsoft YaHei"/>
                    <a:cs typeface="Arial"/>
                  </a:rPr>
                  <a:t>大气 </a:t>
                </a:r>
                <a:r>
                  <a:rPr lang="en-US" sz="1120" b="1" dirty="0">
                    <a:solidFill>
                      <a:srgbClr val="EA580C"/>
                    </a:solidFill>
                    <a:latin typeface="Arial"/>
                    <a:ea typeface="Arial"/>
                    <a:cs typeface="Arial"/>
                  </a:rPr>
                  <a:t>CO₂</a:t>
                </a:r>
                <a:r>
                  <a:rPr lang="zh-CN" sz="1120" b="1" dirty="0">
                    <a:solidFill>
                      <a:srgbClr val="0E3F8C"/>
                    </a:solidFill>
                    <a:latin typeface="Arial"/>
                    <a:ea typeface="Microsoft YaHei"/>
                    <a:cs typeface="Arial"/>
                  </a:rPr>
                  <a:t> 增加</a:t>
                </a:r>
              </a:p>
            </p:txBody>
          </p:sp>
          <p:sp>
            <p:nvSpPr>
              <p:cNvPr id="18" name="TextBox 18"/>
              <p:cNvSpPr txBox="1"/>
              <p:nvPr/>
            </p:nvSpPr>
            <p:spPr>
              <a:xfrm>
                <a:off x="814388" y="2493645"/>
                <a:ext cx="1615050" cy="176212"/>
              </a:xfrm>
              <a:prstGeom prst="rect">
                <a:avLst/>
              </a:prstGeom>
              <a:noFill/>
              <a:ln>
                <a:noFill/>
              </a:ln>
            </p:spPr>
            <p:txBody>
              <a:bodyPr wrap="none" lIns="0" tIns="0" rIns="0" bIns="0" anchor="t" anchorCtr="0">
                <a:spAutoFit/>
              </a:bodyPr>
              <a:lstStyle/>
              <a:p>
                <a:pPr algn="l"/>
                <a:r>
                  <a:rPr lang="en-US" sz="900" dirty="0">
                    <a:solidFill>
                      <a:srgbClr val="4A5568"/>
                    </a:solidFill>
                    <a:latin typeface="Arial"/>
                    <a:ea typeface="Arial"/>
                    <a:cs typeface="Arial"/>
                  </a:rPr>
                  <a:t>Atmospheric CO₂ increases</a:t>
                </a:r>
              </a:p>
            </p:txBody>
          </p:sp>
          <p:sp>
            <p:nvSpPr>
              <p:cNvPr id="19" name="TextBox 19"/>
              <p:cNvSpPr txBox="1"/>
              <p:nvPr/>
            </p:nvSpPr>
            <p:spPr>
              <a:xfrm>
                <a:off x="814388" y="2722245"/>
                <a:ext cx="494157" cy="176212"/>
              </a:xfrm>
              <a:prstGeom prst="rect">
                <a:avLst/>
              </a:prstGeom>
              <a:noFill/>
              <a:ln>
                <a:noFill/>
              </a:ln>
            </p:spPr>
            <p:txBody>
              <a:bodyPr wrap="none" lIns="0" tIns="0" rIns="0" bIns="0" anchor="t" anchorCtr="0">
                <a:spAutoFit/>
              </a:bodyPr>
              <a:lstStyle/>
              <a:p>
                <a:pPr algn="l"/>
                <a:r>
                  <a:rPr lang="zh-CN" sz="900" dirty="0">
                    <a:solidFill>
                      <a:srgbClr val="4A5568"/>
                    </a:solidFill>
                    <a:latin typeface="Arial"/>
                    <a:ea typeface="Microsoft YaHei"/>
                    <a:cs typeface="Arial"/>
                  </a:rPr>
                  <a:t>浓度上升</a:t>
                </a:r>
              </a:p>
            </p:txBody>
          </p:sp>
        </p:grpSp>
        <p:sp>
          <p:nvSpPr>
            <p:cNvPr id="21" name="Line 21"/>
            <p:cNvSpPr/>
            <p:nvPr/>
          </p:nvSpPr>
          <p:spPr>
            <a:xfrm>
              <a:off x="3190875" y="2571750"/>
              <a:ext cx="133350" cy="9525"/>
            </a:xfrm>
            <a:custGeom>
              <a:avLst/>
              <a:gdLst/>
              <a:ahLst/>
              <a:cxnLst/>
              <a:rect l="l" t="t" r="r" b="b"/>
              <a:pathLst>
                <a:path w="133350" h="9525">
                  <a:moveTo>
                    <a:pt x="0" y="0"/>
                  </a:moveTo>
                  <a:lnTo>
                    <a:pt x="133350" y="0"/>
                  </a:lnTo>
                </a:path>
              </a:pathLst>
            </a:custGeom>
            <a:noFill/>
            <a:ln w="28575">
              <a:solidFill>
                <a:srgbClr val="1E4FA8"/>
              </a:solidFill>
            </a:ln>
          </p:spPr>
        </p:sp>
        <p:sp>
          <p:nvSpPr>
            <p:cNvPr id="22" name="Polygon 22"/>
            <p:cNvSpPr/>
            <p:nvPr/>
          </p:nvSpPr>
          <p:spPr>
            <a:xfrm>
              <a:off x="3324225" y="2514600"/>
              <a:ext cx="95250" cy="114300"/>
            </a:xfrm>
            <a:custGeom>
              <a:avLst/>
              <a:gdLst/>
              <a:ahLst/>
              <a:cxnLst/>
              <a:rect l="l" t="t" r="r" b="b"/>
              <a:pathLst>
                <a:path w="95250" h="114300">
                  <a:moveTo>
                    <a:pt x="95250" y="57150"/>
                  </a:moveTo>
                  <a:lnTo>
                    <a:pt x="0" y="0"/>
                  </a:lnTo>
                  <a:lnTo>
                    <a:pt x="0" y="114300"/>
                  </a:lnTo>
                  <a:close/>
                </a:path>
              </a:pathLst>
            </a:custGeom>
            <a:solidFill>
              <a:srgbClr val="1E4FA8"/>
            </a:solidFill>
            <a:ln>
              <a:noFill/>
            </a:ln>
          </p:spPr>
        </p:sp>
        <p:grpSp>
          <p:nvGrpSpPr>
            <p:cNvPr id="29" name="Group 29"/>
            <p:cNvGrpSpPr/>
            <p:nvPr/>
          </p:nvGrpSpPr>
          <p:grpSpPr>
            <a:xfrm>
              <a:off x="3429000" y="2000250"/>
              <a:ext cx="2495550" cy="1143000"/>
              <a:chOff x="3429000" y="2000250"/>
              <a:chExt cx="2495550" cy="1143000"/>
            </a:xfrm>
          </p:grpSpPr>
          <p:sp>
            <p:nvSpPr>
              <p:cNvPr id="23" name="Rectangle 23"/>
              <p:cNvSpPr/>
              <p:nvPr/>
            </p:nvSpPr>
            <p:spPr>
              <a:xfrm>
                <a:off x="3429000" y="2000250"/>
                <a:ext cx="2495550" cy="1143000"/>
              </a:xfrm>
              <a:prstGeom prst="roundRect">
                <a:avLst>
                  <a:gd name="adj" fmla="val 8333"/>
                </a:avLst>
              </a:prstGeom>
              <a:solidFill>
                <a:srgbClr val="FFFFFF"/>
              </a:solidFill>
              <a:ln w="9525">
                <a:solidFill>
                  <a:srgbClr val="D6DCE5"/>
                </a:solidFill>
              </a:ln>
            </p:spPr>
          </p:sp>
          <p:sp>
            <p:nvSpPr>
              <p:cNvPr id="24" name="Ellipse 24"/>
              <p:cNvSpPr/>
              <p:nvPr/>
            </p:nvSpPr>
            <p:spPr>
              <a:xfrm>
                <a:off x="3552825" y="2143125"/>
                <a:ext cx="247650" cy="247650"/>
              </a:xfrm>
              <a:prstGeom prst="ellipse">
                <a:avLst/>
              </a:prstGeom>
              <a:solidFill>
                <a:srgbClr val="1E4FA8"/>
              </a:solidFill>
              <a:ln>
                <a:noFill/>
              </a:ln>
            </p:spPr>
          </p:sp>
          <p:sp>
            <p:nvSpPr>
              <p:cNvPr id="25" name="TextBox 25"/>
              <p:cNvSpPr txBox="1"/>
              <p:nvPr/>
            </p:nvSpPr>
            <p:spPr>
              <a:xfrm>
                <a:off x="3633603" y="2209324"/>
                <a:ext cx="86094" cy="190690"/>
              </a:xfrm>
              <a:prstGeom prst="rect">
                <a:avLst/>
              </a:prstGeom>
              <a:noFill/>
              <a:ln>
                <a:noFill/>
              </a:ln>
            </p:spPr>
            <p:txBody>
              <a:bodyPr wrap="none" lIns="0" tIns="0" rIns="0" bIns="0" anchor="t" anchorCtr="0">
                <a:spAutoFit/>
              </a:bodyPr>
              <a:lstStyle/>
              <a:p>
                <a:pPr algn="ctr"/>
                <a:r>
                  <a:rPr lang="en-US" sz="980" b="1" dirty="0">
                    <a:solidFill>
                      <a:srgbClr val="FFFFFF"/>
                    </a:solidFill>
                    <a:latin typeface="Arial"/>
                    <a:ea typeface="Arial"/>
                    <a:cs typeface="Arial"/>
                  </a:rPr>
                  <a:t>2</a:t>
                </a:r>
              </a:p>
            </p:txBody>
          </p:sp>
          <p:sp>
            <p:nvSpPr>
              <p:cNvPr id="26" name="TextBox 26"/>
              <p:cNvSpPr txBox="1"/>
              <p:nvPr/>
            </p:nvSpPr>
            <p:spPr>
              <a:xfrm>
                <a:off x="3880485" y="2193131"/>
                <a:ext cx="1217625" cy="220028"/>
              </a:xfrm>
              <a:prstGeom prst="rect">
                <a:avLst/>
              </a:prstGeom>
              <a:noFill/>
              <a:ln>
                <a:noFill/>
              </a:ln>
            </p:spPr>
            <p:txBody>
              <a:bodyPr wrap="none" lIns="0" tIns="0" rIns="0" bIns="0" anchor="t" anchorCtr="0">
                <a:spAutoFit/>
              </a:bodyPr>
              <a:lstStyle/>
              <a:p>
                <a:pPr algn="l"/>
                <a:r>
                  <a:rPr lang="zh-CN" sz="1120" b="1" dirty="0">
                    <a:solidFill>
                      <a:srgbClr val="0E3F8C"/>
                    </a:solidFill>
                    <a:latin typeface="Arial"/>
                    <a:ea typeface="Microsoft YaHei"/>
                    <a:cs typeface="Arial"/>
                  </a:rPr>
                  <a:t>植物生长可能增加</a:t>
                </a:r>
              </a:p>
            </p:txBody>
          </p:sp>
          <p:sp>
            <p:nvSpPr>
              <p:cNvPr id="27" name="TextBox 27"/>
              <p:cNvSpPr txBox="1"/>
              <p:nvPr/>
            </p:nvSpPr>
            <p:spPr>
              <a:xfrm>
                <a:off x="3576638" y="2493645"/>
                <a:ext cx="1552191" cy="176212"/>
              </a:xfrm>
              <a:prstGeom prst="rect">
                <a:avLst/>
              </a:prstGeom>
              <a:noFill/>
              <a:ln>
                <a:noFill/>
              </a:ln>
            </p:spPr>
            <p:txBody>
              <a:bodyPr wrap="none" lIns="0" tIns="0" rIns="0" bIns="0" anchor="t" anchorCtr="0">
                <a:spAutoFit/>
              </a:bodyPr>
              <a:lstStyle/>
              <a:p>
                <a:pPr algn="l"/>
                <a:r>
                  <a:rPr lang="en-US" sz="900" dirty="0">
                    <a:solidFill>
                      <a:srgbClr val="4A5568"/>
                    </a:solidFill>
                    <a:latin typeface="Arial"/>
                    <a:ea typeface="Arial"/>
                    <a:cs typeface="Arial"/>
                  </a:rPr>
                  <a:t>Plant growth can increase</a:t>
                </a:r>
              </a:p>
            </p:txBody>
          </p:sp>
          <p:sp>
            <p:nvSpPr>
              <p:cNvPr id="28" name="TextBox 28"/>
              <p:cNvSpPr txBox="1"/>
              <p:nvPr/>
            </p:nvSpPr>
            <p:spPr>
              <a:xfrm>
                <a:off x="3576638" y="2722245"/>
                <a:ext cx="857631" cy="176212"/>
              </a:xfrm>
              <a:prstGeom prst="rect">
                <a:avLst/>
              </a:prstGeom>
              <a:noFill/>
              <a:ln>
                <a:noFill/>
              </a:ln>
            </p:spPr>
            <p:txBody>
              <a:bodyPr wrap="none" lIns="0" tIns="0" rIns="0" bIns="0" anchor="t" anchorCtr="0">
                <a:spAutoFit/>
              </a:bodyPr>
              <a:lstStyle/>
              <a:p>
                <a:pPr algn="l"/>
                <a:r>
                  <a:rPr lang="zh-CN" sz="900" dirty="0">
                    <a:solidFill>
                      <a:srgbClr val="4A5568"/>
                    </a:solidFill>
                    <a:latin typeface="Arial"/>
                    <a:ea typeface="Microsoft YaHei"/>
                    <a:cs typeface="Arial"/>
                  </a:rPr>
                  <a:t>可促进，非必然</a:t>
                </a:r>
              </a:p>
            </p:txBody>
          </p:sp>
        </p:grpSp>
        <p:sp>
          <p:nvSpPr>
            <p:cNvPr id="30" name="Line 30"/>
            <p:cNvSpPr/>
            <p:nvPr/>
          </p:nvSpPr>
          <p:spPr>
            <a:xfrm>
              <a:off x="5953125" y="2571750"/>
              <a:ext cx="133350" cy="9525"/>
            </a:xfrm>
            <a:custGeom>
              <a:avLst/>
              <a:gdLst/>
              <a:ahLst/>
              <a:cxnLst/>
              <a:rect l="l" t="t" r="r" b="b"/>
              <a:pathLst>
                <a:path w="133350" h="9525">
                  <a:moveTo>
                    <a:pt x="0" y="0"/>
                  </a:moveTo>
                  <a:lnTo>
                    <a:pt x="133350" y="0"/>
                  </a:lnTo>
                </a:path>
              </a:pathLst>
            </a:custGeom>
            <a:noFill/>
            <a:ln w="28575">
              <a:solidFill>
                <a:srgbClr val="1E4FA8"/>
              </a:solidFill>
            </a:ln>
          </p:spPr>
        </p:sp>
        <p:sp>
          <p:nvSpPr>
            <p:cNvPr id="31" name="Polygon 31"/>
            <p:cNvSpPr/>
            <p:nvPr/>
          </p:nvSpPr>
          <p:spPr>
            <a:xfrm>
              <a:off x="6086475" y="2514600"/>
              <a:ext cx="95250" cy="114300"/>
            </a:xfrm>
            <a:custGeom>
              <a:avLst/>
              <a:gdLst/>
              <a:ahLst/>
              <a:cxnLst/>
              <a:rect l="l" t="t" r="r" b="b"/>
              <a:pathLst>
                <a:path w="95250" h="114300">
                  <a:moveTo>
                    <a:pt x="95250" y="57150"/>
                  </a:moveTo>
                  <a:lnTo>
                    <a:pt x="0" y="0"/>
                  </a:lnTo>
                  <a:lnTo>
                    <a:pt x="0" y="114300"/>
                  </a:lnTo>
                  <a:close/>
                </a:path>
              </a:pathLst>
            </a:custGeom>
            <a:solidFill>
              <a:srgbClr val="1E4FA8"/>
            </a:solidFill>
            <a:ln>
              <a:noFill/>
            </a:ln>
          </p:spPr>
        </p:sp>
        <p:grpSp>
          <p:nvGrpSpPr>
            <p:cNvPr id="38" name="Group 38"/>
            <p:cNvGrpSpPr/>
            <p:nvPr/>
          </p:nvGrpSpPr>
          <p:grpSpPr>
            <a:xfrm>
              <a:off x="6191250" y="2000250"/>
              <a:ext cx="2495550" cy="1143000"/>
              <a:chOff x="6191250" y="2000250"/>
              <a:chExt cx="2495550" cy="1143000"/>
            </a:xfrm>
          </p:grpSpPr>
          <p:sp>
            <p:nvSpPr>
              <p:cNvPr id="32" name="Rectangle 32"/>
              <p:cNvSpPr/>
              <p:nvPr/>
            </p:nvSpPr>
            <p:spPr>
              <a:xfrm>
                <a:off x="6191250" y="2000250"/>
                <a:ext cx="2495550" cy="1143000"/>
              </a:xfrm>
              <a:prstGeom prst="roundRect">
                <a:avLst>
                  <a:gd name="adj" fmla="val 8333"/>
                </a:avLst>
              </a:prstGeom>
              <a:solidFill>
                <a:srgbClr val="FFFFFF"/>
              </a:solidFill>
              <a:ln w="9525">
                <a:solidFill>
                  <a:srgbClr val="D6DCE5"/>
                </a:solidFill>
              </a:ln>
            </p:spPr>
          </p:sp>
          <p:sp>
            <p:nvSpPr>
              <p:cNvPr id="33" name="Ellipse 33"/>
              <p:cNvSpPr/>
              <p:nvPr/>
            </p:nvSpPr>
            <p:spPr>
              <a:xfrm>
                <a:off x="6315075" y="2143125"/>
                <a:ext cx="247650" cy="247650"/>
              </a:xfrm>
              <a:prstGeom prst="ellipse">
                <a:avLst/>
              </a:prstGeom>
              <a:solidFill>
                <a:srgbClr val="1E4FA8"/>
              </a:solidFill>
              <a:ln>
                <a:noFill/>
              </a:ln>
            </p:spPr>
          </p:sp>
          <p:sp>
            <p:nvSpPr>
              <p:cNvPr id="34" name="TextBox 34"/>
              <p:cNvSpPr txBox="1"/>
              <p:nvPr/>
            </p:nvSpPr>
            <p:spPr>
              <a:xfrm>
                <a:off x="6395853" y="2209324"/>
                <a:ext cx="86094" cy="190690"/>
              </a:xfrm>
              <a:prstGeom prst="rect">
                <a:avLst/>
              </a:prstGeom>
              <a:noFill/>
              <a:ln>
                <a:noFill/>
              </a:ln>
            </p:spPr>
            <p:txBody>
              <a:bodyPr wrap="none" lIns="0" tIns="0" rIns="0" bIns="0" anchor="t" anchorCtr="0">
                <a:spAutoFit/>
              </a:bodyPr>
              <a:lstStyle/>
              <a:p>
                <a:pPr algn="ctr"/>
                <a:r>
                  <a:rPr lang="en-US" sz="980" b="1" dirty="0">
                    <a:solidFill>
                      <a:srgbClr val="FFFFFF"/>
                    </a:solidFill>
                    <a:latin typeface="Arial"/>
                    <a:ea typeface="Arial"/>
                    <a:cs typeface="Arial"/>
                  </a:rPr>
                  <a:t>3</a:t>
                </a:r>
              </a:p>
            </p:txBody>
          </p:sp>
          <p:sp>
            <p:nvSpPr>
              <p:cNvPr id="35" name="TextBox 35"/>
              <p:cNvSpPr txBox="1"/>
              <p:nvPr/>
            </p:nvSpPr>
            <p:spPr>
              <a:xfrm>
                <a:off x="6642735" y="2193131"/>
                <a:ext cx="1066851" cy="220028"/>
              </a:xfrm>
              <a:prstGeom prst="rect">
                <a:avLst/>
              </a:prstGeom>
              <a:noFill/>
              <a:ln>
                <a:noFill/>
              </a:ln>
            </p:spPr>
            <p:txBody>
              <a:bodyPr wrap="none" lIns="0" tIns="0" rIns="0" bIns="0" anchor="t" anchorCtr="0">
                <a:spAutoFit/>
              </a:bodyPr>
              <a:lstStyle/>
              <a:p>
                <a:pPr algn="l"/>
                <a:r>
                  <a:rPr lang="zh-CN" sz="1120" b="1" dirty="0">
                    <a:solidFill>
                      <a:srgbClr val="0E3F8C"/>
                    </a:solidFill>
                    <a:latin typeface="Arial"/>
                    <a:ea typeface="Microsoft YaHei"/>
                    <a:cs typeface="Arial"/>
                  </a:rPr>
                  <a:t>碳吸收进有机质</a:t>
                </a:r>
              </a:p>
            </p:txBody>
          </p:sp>
          <p:sp>
            <p:nvSpPr>
              <p:cNvPr id="36" name="TextBox 36"/>
              <p:cNvSpPr txBox="1"/>
              <p:nvPr/>
            </p:nvSpPr>
            <p:spPr>
              <a:xfrm>
                <a:off x="6338888" y="2493645"/>
                <a:ext cx="1618819" cy="176212"/>
              </a:xfrm>
              <a:prstGeom prst="rect">
                <a:avLst/>
              </a:prstGeom>
              <a:noFill/>
              <a:ln>
                <a:noFill/>
              </a:ln>
            </p:spPr>
            <p:txBody>
              <a:bodyPr wrap="none" lIns="0" tIns="0" rIns="0" bIns="0" anchor="t" anchorCtr="0">
                <a:spAutoFit/>
              </a:bodyPr>
              <a:lstStyle/>
              <a:p>
                <a:pPr algn="l"/>
                <a:r>
                  <a:rPr lang="en-US" sz="900" dirty="0">
                    <a:solidFill>
                      <a:srgbClr val="4A5568"/>
                    </a:solidFill>
                    <a:latin typeface="Arial"/>
                    <a:ea typeface="Arial"/>
                    <a:cs typeface="Arial"/>
                  </a:rPr>
                  <a:t>Uptake into organic matter</a:t>
                </a:r>
              </a:p>
            </p:txBody>
          </p:sp>
          <p:sp>
            <p:nvSpPr>
              <p:cNvPr id="37" name="TextBox 37"/>
              <p:cNvSpPr txBox="1"/>
              <p:nvPr/>
            </p:nvSpPr>
            <p:spPr>
              <a:xfrm>
                <a:off x="6338888" y="2722245"/>
                <a:ext cx="1288313" cy="176212"/>
              </a:xfrm>
              <a:prstGeom prst="rect">
                <a:avLst/>
              </a:prstGeom>
              <a:noFill/>
              <a:ln>
                <a:noFill/>
              </a:ln>
            </p:spPr>
            <p:txBody>
              <a:bodyPr wrap="none" lIns="0" tIns="0" rIns="0" bIns="0" anchor="t" anchorCtr="0">
                <a:spAutoFit/>
              </a:bodyPr>
              <a:lstStyle/>
              <a:p>
                <a:pPr algn="l"/>
                <a:r>
                  <a:rPr lang="zh-CN" sz="900" dirty="0">
                    <a:solidFill>
                      <a:srgbClr val="4A5568"/>
                    </a:solidFill>
                    <a:latin typeface="Arial"/>
                    <a:ea typeface="Microsoft YaHei"/>
                    <a:cs typeface="Arial"/>
                  </a:rPr>
                  <a:t>植物固定 </a:t>
                </a:r>
                <a:r>
                  <a:rPr lang="en-US" sz="900" dirty="0">
                    <a:solidFill>
                      <a:srgbClr val="EA580C"/>
                    </a:solidFill>
                    <a:latin typeface="Arial"/>
                    <a:ea typeface="Arial"/>
                    <a:cs typeface="Arial"/>
                  </a:rPr>
                  <a:t>CO₂</a:t>
                </a:r>
                <a:r>
                  <a:rPr lang="zh-CN" sz="900" dirty="0">
                    <a:solidFill>
                      <a:srgbClr val="4A5568"/>
                    </a:solidFill>
                    <a:latin typeface="Arial"/>
                    <a:ea typeface="Microsoft YaHei"/>
                    <a:cs typeface="Arial"/>
                  </a:rPr>
                  <a:t> 为有机质</a:t>
                </a:r>
              </a:p>
            </p:txBody>
          </p:sp>
        </p:grpSp>
        <p:sp>
          <p:nvSpPr>
            <p:cNvPr id="39" name="Line 39"/>
            <p:cNvSpPr/>
            <p:nvPr/>
          </p:nvSpPr>
          <p:spPr>
            <a:xfrm>
              <a:off x="8715375" y="2571750"/>
              <a:ext cx="133350" cy="9525"/>
            </a:xfrm>
            <a:custGeom>
              <a:avLst/>
              <a:gdLst/>
              <a:ahLst/>
              <a:cxnLst/>
              <a:rect l="l" t="t" r="r" b="b"/>
              <a:pathLst>
                <a:path w="133350" h="9525">
                  <a:moveTo>
                    <a:pt x="0" y="0"/>
                  </a:moveTo>
                  <a:lnTo>
                    <a:pt x="133350" y="0"/>
                  </a:lnTo>
                </a:path>
              </a:pathLst>
            </a:custGeom>
            <a:noFill/>
            <a:ln w="28575">
              <a:solidFill>
                <a:srgbClr val="1E4FA8"/>
              </a:solidFill>
            </a:ln>
          </p:spPr>
        </p:sp>
        <p:sp>
          <p:nvSpPr>
            <p:cNvPr id="40" name="Polygon 40"/>
            <p:cNvSpPr/>
            <p:nvPr/>
          </p:nvSpPr>
          <p:spPr>
            <a:xfrm>
              <a:off x="8848725" y="2514600"/>
              <a:ext cx="95250" cy="114300"/>
            </a:xfrm>
            <a:custGeom>
              <a:avLst/>
              <a:gdLst/>
              <a:ahLst/>
              <a:cxnLst/>
              <a:rect l="l" t="t" r="r" b="b"/>
              <a:pathLst>
                <a:path w="95250" h="114300">
                  <a:moveTo>
                    <a:pt x="95250" y="57150"/>
                  </a:moveTo>
                  <a:lnTo>
                    <a:pt x="0" y="0"/>
                  </a:lnTo>
                  <a:lnTo>
                    <a:pt x="0" y="114300"/>
                  </a:lnTo>
                  <a:close/>
                </a:path>
              </a:pathLst>
            </a:custGeom>
            <a:solidFill>
              <a:srgbClr val="1E4FA8"/>
            </a:solidFill>
            <a:ln>
              <a:noFill/>
            </a:ln>
          </p:spPr>
        </p:sp>
        <p:grpSp>
          <p:nvGrpSpPr>
            <p:cNvPr id="47" name="Group 47"/>
            <p:cNvGrpSpPr/>
            <p:nvPr/>
          </p:nvGrpSpPr>
          <p:grpSpPr>
            <a:xfrm>
              <a:off x="8953500" y="2000250"/>
              <a:ext cx="2495550" cy="1143000"/>
              <a:chOff x="8953500" y="2000250"/>
              <a:chExt cx="2495550" cy="1143000"/>
            </a:xfrm>
          </p:grpSpPr>
          <p:sp>
            <p:nvSpPr>
              <p:cNvPr id="41" name="Rectangle 41"/>
              <p:cNvSpPr/>
              <p:nvPr/>
            </p:nvSpPr>
            <p:spPr>
              <a:xfrm>
                <a:off x="8953500" y="2000250"/>
                <a:ext cx="2495550" cy="1143000"/>
              </a:xfrm>
              <a:prstGeom prst="roundRect">
                <a:avLst>
                  <a:gd name="adj" fmla="val 8333"/>
                </a:avLst>
              </a:prstGeom>
              <a:solidFill>
                <a:srgbClr val="FFFFFF"/>
              </a:solidFill>
              <a:ln w="9525">
                <a:solidFill>
                  <a:srgbClr val="D6DCE5"/>
                </a:solidFill>
              </a:ln>
            </p:spPr>
          </p:sp>
          <p:sp>
            <p:nvSpPr>
              <p:cNvPr id="42" name="Ellipse 42"/>
              <p:cNvSpPr/>
              <p:nvPr/>
            </p:nvSpPr>
            <p:spPr>
              <a:xfrm>
                <a:off x="9077325" y="2143125"/>
                <a:ext cx="247650" cy="247650"/>
              </a:xfrm>
              <a:prstGeom prst="ellipse">
                <a:avLst/>
              </a:prstGeom>
              <a:solidFill>
                <a:srgbClr val="1E4FA8"/>
              </a:solidFill>
              <a:ln>
                <a:noFill/>
              </a:ln>
            </p:spPr>
          </p:sp>
          <p:sp>
            <p:nvSpPr>
              <p:cNvPr id="43" name="TextBox 43"/>
              <p:cNvSpPr txBox="1"/>
              <p:nvPr/>
            </p:nvSpPr>
            <p:spPr>
              <a:xfrm>
                <a:off x="9158103" y="2209324"/>
                <a:ext cx="86094" cy="190690"/>
              </a:xfrm>
              <a:prstGeom prst="rect">
                <a:avLst/>
              </a:prstGeom>
              <a:noFill/>
              <a:ln>
                <a:noFill/>
              </a:ln>
            </p:spPr>
            <p:txBody>
              <a:bodyPr wrap="none" lIns="0" tIns="0" rIns="0" bIns="0" anchor="t" anchorCtr="0">
                <a:spAutoFit/>
              </a:bodyPr>
              <a:lstStyle/>
              <a:p>
                <a:pPr algn="ctr"/>
                <a:r>
                  <a:rPr lang="en-US" sz="980" b="1" dirty="0">
                    <a:solidFill>
                      <a:srgbClr val="FFFFFF"/>
                    </a:solidFill>
                    <a:latin typeface="Arial"/>
                    <a:ea typeface="Arial"/>
                    <a:cs typeface="Arial"/>
                  </a:rPr>
                  <a:t>4</a:t>
                </a:r>
              </a:p>
            </p:txBody>
          </p:sp>
          <p:sp>
            <p:nvSpPr>
              <p:cNvPr id="44" name="TextBox 44"/>
              <p:cNvSpPr txBox="1"/>
              <p:nvPr/>
            </p:nvSpPr>
            <p:spPr>
              <a:xfrm>
                <a:off x="9404985" y="2193131"/>
                <a:ext cx="1423802" cy="220028"/>
              </a:xfrm>
              <a:prstGeom prst="rect">
                <a:avLst/>
              </a:prstGeom>
              <a:noFill/>
              <a:ln>
                <a:noFill/>
              </a:ln>
            </p:spPr>
            <p:txBody>
              <a:bodyPr wrap="none" lIns="0" tIns="0" rIns="0" bIns="0" anchor="t" anchorCtr="0">
                <a:spAutoFit/>
              </a:bodyPr>
              <a:lstStyle/>
              <a:p>
                <a:pPr algn="l"/>
                <a:r>
                  <a:rPr lang="en-US" sz="1120" b="1" dirty="0">
                    <a:solidFill>
                      <a:srgbClr val="EA580C"/>
                    </a:solidFill>
                    <a:latin typeface="Arial"/>
                    <a:ea typeface="Arial"/>
                    <a:cs typeface="Arial"/>
                  </a:rPr>
                  <a:t>CO₂</a:t>
                </a:r>
                <a:r>
                  <a:rPr lang="zh-CN" sz="1120" b="1" dirty="0">
                    <a:solidFill>
                      <a:srgbClr val="0E3F8C"/>
                    </a:solidFill>
                    <a:latin typeface="Arial"/>
                    <a:ea typeface="Microsoft YaHei"/>
                    <a:cs typeface="Arial"/>
                  </a:rPr>
                  <a:t> 与增温相对降低</a:t>
                </a:r>
              </a:p>
            </p:txBody>
          </p:sp>
          <p:sp>
            <p:nvSpPr>
              <p:cNvPr id="45" name="TextBox 45"/>
              <p:cNvSpPr txBox="1"/>
              <p:nvPr/>
            </p:nvSpPr>
            <p:spPr>
              <a:xfrm>
                <a:off x="9101138" y="2493645"/>
                <a:ext cx="1369995" cy="176212"/>
              </a:xfrm>
              <a:prstGeom prst="rect">
                <a:avLst/>
              </a:prstGeom>
              <a:noFill/>
              <a:ln>
                <a:noFill/>
              </a:ln>
            </p:spPr>
            <p:txBody>
              <a:bodyPr wrap="none" lIns="0" tIns="0" rIns="0" bIns="0" anchor="t" anchorCtr="0">
                <a:spAutoFit/>
              </a:bodyPr>
              <a:lstStyle/>
              <a:p>
                <a:pPr algn="l"/>
                <a:r>
                  <a:rPr lang="en-US" sz="900" dirty="0">
                    <a:solidFill>
                      <a:srgbClr val="4A5568"/>
                    </a:solidFill>
                    <a:latin typeface="Arial"/>
                    <a:ea typeface="Arial"/>
                    <a:cs typeface="Arial"/>
                  </a:rPr>
                  <a:t>CO₂ &amp; warming reduced</a:t>
                </a:r>
              </a:p>
            </p:txBody>
          </p:sp>
          <p:sp>
            <p:nvSpPr>
              <p:cNvPr id="46" name="TextBox 46"/>
              <p:cNvSpPr txBox="1"/>
              <p:nvPr/>
            </p:nvSpPr>
            <p:spPr>
              <a:xfrm>
                <a:off x="9101138" y="2722245"/>
                <a:ext cx="736473" cy="176212"/>
              </a:xfrm>
              <a:prstGeom prst="rect">
                <a:avLst/>
              </a:prstGeom>
              <a:noFill/>
              <a:ln>
                <a:noFill/>
              </a:ln>
            </p:spPr>
            <p:txBody>
              <a:bodyPr wrap="none" lIns="0" tIns="0" rIns="0" bIns="0" anchor="t" anchorCtr="0">
                <a:spAutoFit/>
              </a:bodyPr>
              <a:lstStyle/>
              <a:p>
                <a:pPr algn="l"/>
                <a:r>
                  <a:rPr lang="zh-CN" sz="900" dirty="0">
                    <a:solidFill>
                      <a:srgbClr val="4A5568"/>
                    </a:solidFill>
                    <a:latin typeface="Arial"/>
                    <a:ea typeface="Microsoft YaHei"/>
                    <a:cs typeface="Arial"/>
                  </a:rPr>
                  <a:t>反对初始变化</a:t>
                </a:r>
              </a:p>
            </p:txBody>
          </p:sp>
        </p:grpSp>
        <p:sp>
          <p:nvSpPr>
            <p:cNvPr id="48" name="Freeform 48"/>
            <p:cNvSpPr/>
            <p:nvPr/>
          </p:nvSpPr>
          <p:spPr>
            <a:xfrm>
              <a:off x="1914525" y="3143250"/>
              <a:ext cx="8286750" cy="438150"/>
            </a:xfrm>
            <a:custGeom>
              <a:avLst/>
              <a:gdLst/>
              <a:ahLst/>
              <a:cxnLst/>
              <a:rect l="l" t="t" r="r" b="b"/>
              <a:pathLst>
                <a:path w="8286750" h="438150">
                  <a:moveTo>
                    <a:pt x="8286750" y="0"/>
                  </a:moveTo>
                  <a:lnTo>
                    <a:pt x="8286750" y="361950"/>
                  </a:lnTo>
                  <a:cubicBezTo>
                    <a:pt x="8286750" y="412750"/>
                    <a:pt x="8261350" y="438150"/>
                    <a:pt x="8210550" y="438150"/>
                  </a:cubicBezTo>
                  <a:lnTo>
                    <a:pt x="76200" y="438150"/>
                  </a:lnTo>
                  <a:cubicBezTo>
                    <a:pt x="25400" y="438150"/>
                    <a:pt x="0" y="412750"/>
                    <a:pt x="0" y="361950"/>
                  </a:cubicBezTo>
                  <a:lnTo>
                    <a:pt x="0" y="57150"/>
                  </a:lnTo>
                </a:path>
              </a:pathLst>
            </a:custGeom>
            <a:noFill/>
            <a:ln w="28575">
              <a:solidFill>
                <a:srgbClr val="1E4FA8"/>
              </a:solidFill>
            </a:ln>
          </p:spPr>
        </p:sp>
        <p:sp>
          <p:nvSpPr>
            <p:cNvPr id="49" name="Polygon 49"/>
            <p:cNvSpPr/>
            <p:nvPr/>
          </p:nvSpPr>
          <p:spPr>
            <a:xfrm>
              <a:off x="1847850" y="3143250"/>
              <a:ext cx="133350" cy="95250"/>
            </a:xfrm>
            <a:custGeom>
              <a:avLst/>
              <a:gdLst/>
              <a:ahLst/>
              <a:cxnLst/>
              <a:rect l="l" t="t" r="r" b="b"/>
              <a:pathLst>
                <a:path w="133350" h="95250">
                  <a:moveTo>
                    <a:pt x="66675" y="0"/>
                  </a:moveTo>
                  <a:lnTo>
                    <a:pt x="0" y="95250"/>
                  </a:lnTo>
                  <a:lnTo>
                    <a:pt x="133350" y="95250"/>
                  </a:lnTo>
                  <a:close/>
                </a:path>
              </a:pathLst>
            </a:custGeom>
            <a:solidFill>
              <a:srgbClr val="1E4FA8"/>
            </a:solidFill>
            <a:ln>
              <a:noFill/>
            </a:ln>
          </p:spPr>
        </p:sp>
        <p:sp>
          <p:nvSpPr>
            <p:cNvPr id="50" name="TextBox 50"/>
            <p:cNvSpPr txBox="1"/>
            <p:nvPr/>
          </p:nvSpPr>
          <p:spPr>
            <a:xfrm>
              <a:off x="3410358" y="3723799"/>
              <a:ext cx="5371285" cy="190690"/>
            </a:xfrm>
            <a:prstGeom prst="rect">
              <a:avLst/>
            </a:prstGeom>
            <a:noFill/>
            <a:ln>
              <a:noFill/>
            </a:ln>
          </p:spPr>
          <p:txBody>
            <a:bodyPr wrap="none" lIns="0" tIns="0" rIns="0" bIns="0" anchor="t" anchorCtr="0">
              <a:spAutoFit/>
            </a:bodyPr>
            <a:lstStyle/>
            <a:p>
              <a:pPr algn="ctr"/>
              <a:r>
                <a:rPr lang="zh-CN" sz="980" b="1" dirty="0">
                  <a:solidFill>
                    <a:srgbClr val="1E4FA8"/>
                  </a:solidFill>
                  <a:latin typeface="Arial"/>
                  <a:ea typeface="Microsoft YaHei"/>
                  <a:cs typeface="Arial"/>
                </a:rPr>
                <a:t>诱发作用与初始变化反向 → 抑制并趋于稳定 Induced change opposes the initial change</a:t>
              </a:r>
            </a:p>
          </p:txBody>
        </p:sp>
        <p:sp>
          <p:nvSpPr>
            <p:cNvPr id="51" name="Rectangle 51"/>
            <p:cNvSpPr/>
            <p:nvPr/>
          </p:nvSpPr>
          <p:spPr>
            <a:xfrm>
              <a:off x="609600" y="4095750"/>
              <a:ext cx="4953000" cy="666750"/>
            </a:xfrm>
            <a:prstGeom prst="roundRect">
              <a:avLst>
                <a:gd name="adj" fmla="val 17143"/>
              </a:avLst>
            </a:prstGeom>
            <a:solidFill>
              <a:srgbClr val="1E4FA8"/>
            </a:solidFill>
            <a:ln>
              <a:noFill/>
            </a:ln>
          </p:spPr>
        </p:sp>
        <p:sp>
          <p:nvSpPr>
            <p:cNvPr id="52" name="Ellipse 52"/>
            <p:cNvSpPr/>
            <p:nvPr/>
          </p:nvSpPr>
          <p:spPr>
            <a:xfrm>
              <a:off x="800100" y="4276725"/>
              <a:ext cx="304800" cy="304800"/>
            </a:xfrm>
            <a:prstGeom prst="ellipse">
              <a:avLst/>
            </a:prstGeom>
            <a:solidFill>
              <a:srgbClr val="FFFFFF"/>
            </a:solidFill>
            <a:ln>
              <a:noFill/>
            </a:ln>
          </p:spPr>
        </p:sp>
        <p:sp>
          <p:nvSpPr>
            <p:cNvPr id="53" name="TextBox 53"/>
            <p:cNvSpPr txBox="1"/>
            <p:nvPr/>
          </p:nvSpPr>
          <p:spPr>
            <a:xfrm>
              <a:off x="886573" y="4333875"/>
              <a:ext cx="131855" cy="293370"/>
            </a:xfrm>
            <a:prstGeom prst="rect">
              <a:avLst/>
            </a:prstGeom>
            <a:noFill/>
            <a:ln>
              <a:noFill/>
            </a:ln>
          </p:spPr>
          <p:txBody>
            <a:bodyPr wrap="none" lIns="0" tIns="0" rIns="0" bIns="0" anchor="t" anchorCtr="0">
              <a:spAutoFit/>
            </a:bodyPr>
            <a:lstStyle/>
            <a:p>
              <a:pPr algn="ctr"/>
              <a:r>
                <a:rPr lang="en-US" sz="1500" b="1" dirty="0">
                  <a:solidFill>
                    <a:srgbClr val="1E4FA8"/>
                  </a:solidFill>
                  <a:latin typeface="Arial"/>
                  <a:ea typeface="Arial"/>
                  <a:cs typeface="Arial"/>
                </a:rPr>
                <a:t>−</a:t>
              </a:r>
            </a:p>
          </p:txBody>
        </p:sp>
        <p:sp>
          <p:nvSpPr>
            <p:cNvPr id="54" name="TextBox 54"/>
            <p:cNvSpPr txBox="1"/>
            <p:nvPr/>
          </p:nvSpPr>
          <p:spPr>
            <a:xfrm>
              <a:off x="1213104" y="4232910"/>
              <a:ext cx="2063268" cy="234696"/>
            </a:xfrm>
            <a:prstGeom prst="rect">
              <a:avLst/>
            </a:prstGeom>
            <a:noFill/>
            <a:ln>
              <a:noFill/>
            </a:ln>
          </p:spPr>
          <p:txBody>
            <a:bodyPr wrap="none" lIns="0" tIns="0" rIns="0" bIns="0" anchor="t" anchorCtr="0">
              <a:spAutoFit/>
            </a:bodyPr>
            <a:lstStyle/>
            <a:p>
              <a:pPr algn="l"/>
              <a:r>
                <a:rPr lang="zh-CN" sz="1200" b="1" dirty="0">
                  <a:solidFill>
                    <a:srgbClr val="FFFFFF"/>
                  </a:solidFill>
                  <a:latin typeface="Arial"/>
                  <a:ea typeface="Microsoft YaHei"/>
                  <a:cs typeface="Arial"/>
                </a:rPr>
                <a:t>Negative Feedback 负反馈</a:t>
              </a:r>
            </a:p>
          </p:txBody>
        </p:sp>
        <p:sp>
          <p:nvSpPr>
            <p:cNvPr id="55" name="TextBox 55"/>
            <p:cNvSpPr txBox="1"/>
            <p:nvPr/>
          </p:nvSpPr>
          <p:spPr>
            <a:xfrm>
              <a:off x="1214438" y="4493895"/>
              <a:ext cx="2779035" cy="176212"/>
            </a:xfrm>
            <a:prstGeom prst="rect">
              <a:avLst/>
            </a:prstGeom>
            <a:noFill/>
            <a:ln>
              <a:noFill/>
            </a:ln>
          </p:spPr>
          <p:txBody>
            <a:bodyPr wrap="none" lIns="0" tIns="0" rIns="0" bIns="0" anchor="t" anchorCtr="0">
              <a:spAutoFit/>
            </a:bodyPr>
            <a:lstStyle/>
            <a:p>
              <a:pPr algn="l"/>
              <a:r>
                <a:rPr lang="zh-CN" sz="900" dirty="0">
                  <a:solidFill>
                    <a:srgbClr val="D6E4F7"/>
                  </a:solidFill>
                  <a:latin typeface="Arial"/>
                  <a:ea typeface="Microsoft YaHei"/>
                  <a:cs typeface="Arial"/>
                </a:rPr>
                <a:t>诱发作用反对初始变化 Induced change opposes it</a:t>
              </a:r>
            </a:p>
          </p:txBody>
        </p:sp>
        <p:sp>
          <p:nvSpPr>
            <p:cNvPr id="56" name="Rectangle 56"/>
            <p:cNvSpPr/>
            <p:nvPr/>
          </p:nvSpPr>
          <p:spPr>
            <a:xfrm>
              <a:off x="5753100" y="4095750"/>
              <a:ext cx="5829300" cy="666750"/>
            </a:xfrm>
            <a:prstGeom prst="roundRect">
              <a:avLst>
                <a:gd name="adj" fmla="val 17143"/>
              </a:avLst>
            </a:prstGeom>
            <a:solidFill>
              <a:srgbClr val="F0F5FC"/>
            </a:solidFill>
            <a:ln w="9525">
              <a:solidFill>
                <a:srgbClr val="D6DCE5"/>
              </a:solidFill>
            </a:ln>
          </p:spPr>
        </p:sp>
        <p:sp>
          <p:nvSpPr>
            <p:cNvPr id="57" name="TextBox 57"/>
            <p:cNvSpPr txBox="1"/>
            <p:nvPr/>
          </p:nvSpPr>
          <p:spPr>
            <a:xfrm>
              <a:off x="5900547" y="4257199"/>
              <a:ext cx="2550135" cy="190690"/>
            </a:xfrm>
            <a:prstGeom prst="rect">
              <a:avLst/>
            </a:prstGeom>
            <a:noFill/>
            <a:ln>
              <a:noFill/>
            </a:ln>
          </p:spPr>
          <p:txBody>
            <a:bodyPr wrap="none" lIns="0" tIns="0" rIns="0" bIns="0" anchor="t" anchorCtr="0">
              <a:spAutoFit/>
            </a:bodyPr>
            <a:lstStyle/>
            <a:p>
              <a:pPr algn="l"/>
              <a:r>
                <a:rPr lang="zh-CN" sz="980" dirty="0">
                  <a:solidFill>
                    <a:srgbClr val="1A2230"/>
                  </a:solidFill>
                  <a:latin typeface="Arial"/>
                  <a:ea typeface="Microsoft YaHei"/>
                  <a:cs typeface="Arial"/>
                </a:rPr>
                <a:t>条件式：</a:t>
              </a:r>
              <a:r>
                <a:rPr lang="en-US" sz="980" dirty="0">
                  <a:solidFill>
                    <a:srgbClr val="EA580C"/>
                  </a:solidFill>
                  <a:latin typeface="Arial"/>
                  <a:ea typeface="Arial"/>
                  <a:cs typeface="Arial"/>
                </a:rPr>
                <a:t>CO₂</a:t>
              </a:r>
              <a:r>
                <a:rPr lang="zh-CN" sz="980" dirty="0">
                  <a:solidFill>
                    <a:srgbClr val="1A2230"/>
                  </a:solidFill>
                  <a:latin typeface="Arial"/>
                  <a:ea typeface="Microsoft YaHei"/>
                  <a:cs typeface="Arial"/>
                </a:rPr>
                <a:t> 升高可促进植物生长与碳吸收</a:t>
              </a:r>
            </a:p>
          </p:txBody>
        </p:sp>
        <p:sp>
          <p:nvSpPr>
            <p:cNvPr id="58" name="TextBox 58"/>
            <p:cNvSpPr txBox="1"/>
            <p:nvPr/>
          </p:nvSpPr>
          <p:spPr>
            <a:xfrm>
              <a:off x="5900738" y="4493895"/>
              <a:ext cx="4841876" cy="176212"/>
            </a:xfrm>
            <a:prstGeom prst="rect">
              <a:avLst/>
            </a:prstGeom>
            <a:noFill/>
            <a:ln>
              <a:noFill/>
            </a:ln>
          </p:spPr>
          <p:txBody>
            <a:bodyPr wrap="none" lIns="0" tIns="0" rIns="0" bIns="0" anchor="t" anchorCtr="0">
              <a:spAutoFit/>
            </a:bodyPr>
            <a:lstStyle/>
            <a:p>
              <a:pPr algn="l"/>
              <a:r>
                <a:rPr lang="en-US" sz="900" dirty="0">
                  <a:solidFill>
                    <a:srgbClr val="4A5568"/>
                  </a:solidFill>
                  <a:latin typeface="Arial"/>
                  <a:ea typeface="Arial"/>
                  <a:cs typeface="Arial"/>
                </a:rPr>
                <a:t>No unlimited growth, permanent compensation, or measured present-day net sink</a:t>
              </a:r>
            </a:p>
          </p:txBody>
        </p:sp>
      </p:grpSp>
      <p:grpSp>
        <p:nvGrpSpPr>
          <p:cNvPr id="62" name="Group 62"/>
          <p:cNvGrpSpPr/>
          <p:nvPr/>
        </p:nvGrpSpPr>
        <p:grpSpPr>
          <a:xfrm>
            <a:off x="376047" y="5228749"/>
            <a:ext cx="8158000" cy="571690"/>
            <a:chOff x="376047" y="5228749"/>
            <a:chExt cx="8158000" cy="571690"/>
          </a:xfrm>
        </p:grpSpPr>
        <p:sp>
          <p:nvSpPr>
            <p:cNvPr id="60" name="TextBox 60"/>
            <p:cNvSpPr txBox="1"/>
            <p:nvPr/>
          </p:nvSpPr>
          <p:spPr>
            <a:xfrm>
              <a:off x="376047" y="5228749"/>
              <a:ext cx="8158000" cy="190690"/>
            </a:xfrm>
            <a:prstGeom prst="rect">
              <a:avLst/>
            </a:prstGeom>
            <a:noFill/>
            <a:ln>
              <a:noFill/>
            </a:ln>
          </p:spPr>
          <p:txBody>
            <a:bodyPr wrap="none" lIns="0" tIns="0" rIns="0" bIns="0" anchor="t" anchorCtr="0">
              <a:spAutoFit/>
            </a:bodyPr>
            <a:lstStyle/>
            <a:p>
              <a:pPr algn="l"/>
              <a:r>
                <a:rPr lang="zh-CN" sz="980" dirty="0">
                  <a:solidFill>
                    <a:srgbClr val="1A2230"/>
                  </a:solidFill>
                  <a:latin typeface="Arial"/>
                  <a:ea typeface="Microsoft YaHei"/>
                  <a:cs typeface="Arial"/>
                </a:rPr>
                <a:t>闭环判断：植物吸收使大气 </a:t>
              </a:r>
              <a:r>
                <a:rPr lang="en-US" sz="980" dirty="0">
                  <a:solidFill>
                    <a:srgbClr val="EA580C"/>
                  </a:solidFill>
                  <a:latin typeface="Arial"/>
                  <a:ea typeface="Arial"/>
                  <a:cs typeface="Arial"/>
                </a:rPr>
                <a:t>CO₂</a:t>
              </a:r>
              <a:r>
                <a:rPr lang="zh-CN" sz="980" dirty="0">
                  <a:solidFill>
                    <a:srgbClr val="1A2230"/>
                  </a:solidFill>
                  <a:latin typeface="Arial"/>
                  <a:ea typeface="Microsoft YaHei"/>
                  <a:cs typeface="Arial"/>
                </a:rPr>
                <a:t> 与增温相对初始变化降低，因此是负反馈。 The induced uptake opposes the initial change → negative.</a:t>
              </a:r>
            </a:p>
          </p:txBody>
        </p:sp>
        <p:sp>
          <p:nvSpPr>
            <p:cNvPr id="61" name="TextBox 61"/>
            <p:cNvSpPr txBox="1"/>
            <p:nvPr/>
          </p:nvSpPr>
          <p:spPr>
            <a:xfrm>
              <a:off x="376047" y="5609749"/>
              <a:ext cx="7604000" cy="190690"/>
            </a:xfrm>
            <a:prstGeom prst="rect">
              <a:avLst/>
            </a:prstGeom>
            <a:noFill/>
            <a:ln>
              <a:noFill/>
            </a:ln>
          </p:spPr>
          <p:txBody>
            <a:bodyPr wrap="none" lIns="0" tIns="0" rIns="0" bIns="0" anchor="t" anchorCtr="0">
              <a:spAutoFit/>
            </a:bodyPr>
            <a:lstStyle/>
            <a:p>
              <a:pPr algn="l"/>
              <a:r>
                <a:rPr lang="zh-CN" sz="980" dirty="0">
                  <a:solidFill>
                    <a:srgbClr val="4A5568"/>
                  </a:solidFill>
                  <a:latin typeface="Arial"/>
                  <a:ea typeface="Microsoft YaHei"/>
                  <a:cs typeface="Arial"/>
                </a:rPr>
                <a:t>判断步骤：找初始变化 → 跟踪诱发变化 → 比较最终作用方向 Steps: initial change → induced change → compare final direction</a:t>
              </a:r>
            </a:p>
          </p:txBody>
        </p:sp>
      </p:grpSp>
      <p:sp>
        <p:nvSpPr>
          <p:cNvPr id="63" name="TextBox 63"/>
          <p:cNvSpPr txBox="1"/>
          <p:nvPr/>
        </p:nvSpPr>
        <p:spPr>
          <a:xfrm>
            <a:off x="376238" y="6532245"/>
            <a:ext cx="8493557" cy="176212"/>
          </a:xfrm>
          <a:prstGeom prst="rect">
            <a:avLst/>
          </a:prstGeom>
          <a:noFill/>
          <a:ln>
            <a:noFill/>
          </a:ln>
        </p:spPr>
        <p:txBody>
          <a:bodyPr wrap="none" lIns="0" tIns="0" rIns="0" bIns="0" anchor="t" anchorCtr="0">
            <a:spAutoFit/>
          </a:bodyPr>
          <a:lstStyle/>
          <a:p>
            <a:pPr algn="l"/>
            <a:r>
              <a:rPr lang="en-US" sz="900" dirty="0">
                <a:solidFill>
                  <a:srgbClr val="4A5568"/>
                </a:solidFill>
                <a:latin typeface="Arial"/>
                <a:ea typeface="Arial"/>
                <a:cs typeface="Arial"/>
              </a:rPr>
              <a:t>Source: UE 8e, Ch.12, PDF p.1178; UE 8e p.1168 and approved CN Ch.4 rows as process context only; no flux or response-time number is used.</a:t>
            </a:r>
          </a:p>
        </p:txBody>
      </p:sp>
      <p:sp>
        <p:nvSpPr>
          <p:cNvPr id="64" name="TextBox 64"/>
          <p:cNvSpPr txBox="1"/>
          <p:nvPr/>
        </p:nvSpPr>
        <p:spPr>
          <a:xfrm>
            <a:off x="11672964" y="6532245"/>
            <a:ext cx="142799" cy="176212"/>
          </a:xfrm>
          <a:prstGeom prst="rect">
            <a:avLst/>
          </a:prstGeom>
          <a:noFill/>
          <a:ln>
            <a:noFill/>
          </a:ln>
        </p:spPr>
        <p:txBody>
          <a:bodyPr wrap="none" lIns="0" tIns="0" rIns="0" bIns="0" anchor="t" anchorCtr="0">
            <a:spAutoFit/>
          </a:bodyPr>
          <a:lstStyle/>
          <a:p>
            <a:pPr algn="r"/>
            <a:r>
              <a:rPr lang="en-US" sz="900" dirty="0">
                <a:solidFill>
                  <a:srgbClr val="4A5568"/>
                </a:solidFill>
                <a:latin typeface="Arial"/>
                <a:ea typeface="Arial"/>
                <a:cs typeface="Arial"/>
              </a:rPr>
              <a:t>39</a:t>
            </a:r>
          </a:p>
        </p:txBody>
      </p:sp>
    </p:spTree>
    <p:extLst>
      <p:ext uri="{BB962C8B-B14F-4D97-AF65-F5344CB8AC3E}">
        <p14:creationId xmlns:p14="http://schemas.microsoft.com/office/powerpoint/2010/main" val="2397015817"/>
      </p:ext>
    </p:extLst>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5"/>
          <p:cNvGrpSpPr/>
          <p:nvPr/>
        </p:nvGrpSpPr>
        <p:grpSpPr>
          <a:xfrm>
            <a:off x="0" y="0"/>
            <a:ext cx="12192000" cy="685800"/>
            <a:chOff x="0" y="0"/>
            <a:chExt cx="12192000" cy="685800"/>
          </a:xfrm>
        </p:grpSpPr>
        <p:sp>
          <p:nvSpPr>
            <p:cNvPr id="2" name="Rectangle 2"/>
            <p:cNvSpPr/>
            <p:nvPr/>
          </p:nvSpPr>
          <p:spPr>
            <a:xfrm>
              <a:off x="0" y="0"/>
              <a:ext cx="12192000" cy="685800"/>
            </a:xfrm>
            <a:prstGeom prst="rect">
              <a:avLst/>
            </a:prstGeom>
            <a:solidFill>
              <a:srgbClr val="0E3F8C"/>
            </a:solidFill>
            <a:ln>
              <a:noFill/>
            </a:ln>
          </p:spPr>
        </p:sp>
        <p:sp>
          <p:nvSpPr>
            <p:cNvPr id="3" name="TextBox 3"/>
            <p:cNvSpPr txBox="1"/>
            <p:nvPr/>
          </p:nvSpPr>
          <p:spPr>
            <a:xfrm>
              <a:off x="374142" y="282892"/>
              <a:ext cx="5067011" cy="264033"/>
            </a:xfrm>
            <a:prstGeom prst="rect">
              <a:avLst/>
            </a:prstGeom>
            <a:noFill/>
            <a:ln>
              <a:noFill/>
            </a:ln>
          </p:spPr>
          <p:txBody>
            <a:bodyPr wrap="none" lIns="0" tIns="0" rIns="0" bIns="0" anchor="t" anchorCtr="0">
              <a:spAutoFit/>
            </a:bodyPr>
            <a:lstStyle/>
            <a:p>
              <a:pPr algn="l"/>
              <a:r>
                <a:rPr lang="zh-CN" sz="1350" b="1" dirty="0">
                  <a:solidFill>
                    <a:srgbClr val="FFFFFF"/>
                  </a:solidFill>
                  <a:latin typeface="Arial"/>
                  <a:ea typeface="Microsoft YaHei"/>
                  <a:cs typeface="Arial"/>
                </a:rPr>
                <a:t>3.6 反馈不是同一速度 | Feedbacks Have Different Clocks</a:t>
              </a:r>
            </a:p>
          </p:txBody>
        </p:sp>
        <p:sp>
          <p:nvSpPr>
            <p:cNvPr id="4" name="TextBox 4"/>
            <p:cNvSpPr txBox="1"/>
            <p:nvPr/>
          </p:nvSpPr>
          <p:spPr>
            <a:xfrm>
              <a:off x="10959998" y="299085"/>
              <a:ext cx="857098" cy="234696"/>
            </a:xfrm>
            <a:prstGeom prst="rect">
              <a:avLst/>
            </a:prstGeom>
            <a:noFill/>
            <a:ln>
              <a:noFill/>
            </a:ln>
          </p:spPr>
          <p:txBody>
            <a:bodyPr wrap="none" lIns="0" tIns="0" rIns="0" bIns="0" anchor="t" anchorCtr="0">
              <a:spAutoFit/>
            </a:bodyPr>
            <a:lstStyle/>
            <a:p>
              <a:pPr algn="r"/>
              <a:r>
                <a:rPr lang="en-US" sz="1200" dirty="0">
                  <a:solidFill>
                    <a:srgbClr val="C7D7F2"/>
                  </a:solidFill>
                  <a:latin typeface="Arial"/>
                  <a:ea typeface="Arial"/>
                  <a:cs typeface="Arial"/>
                </a:rPr>
                <a:t>FEEDBACKS</a:t>
              </a:r>
            </a:p>
          </p:txBody>
        </p:sp>
      </p:grpSp>
      <p:grpSp>
        <p:nvGrpSpPr>
          <p:cNvPr id="8" name="Group 8"/>
          <p:cNvGrpSpPr/>
          <p:nvPr/>
        </p:nvGrpSpPr>
        <p:grpSpPr>
          <a:xfrm>
            <a:off x="381000" y="914400"/>
            <a:ext cx="5922340" cy="357093"/>
            <a:chOff x="381000" y="914400"/>
            <a:chExt cx="5922340" cy="357093"/>
          </a:xfrm>
        </p:grpSpPr>
        <p:sp>
          <p:nvSpPr>
            <p:cNvPr id="6" name="Rectangle 6"/>
            <p:cNvSpPr/>
            <p:nvPr/>
          </p:nvSpPr>
          <p:spPr>
            <a:xfrm>
              <a:off x="381000" y="914400"/>
              <a:ext cx="57150" cy="266700"/>
            </a:xfrm>
            <a:prstGeom prst="roundRect">
              <a:avLst>
                <a:gd name="adj" fmla="val 50000"/>
              </a:avLst>
            </a:prstGeom>
            <a:solidFill>
              <a:srgbClr val="1E4FA8"/>
            </a:solidFill>
            <a:ln>
              <a:noFill/>
            </a:ln>
          </p:spPr>
        </p:sp>
        <p:sp>
          <p:nvSpPr>
            <p:cNvPr id="7" name="TextBox 7"/>
            <p:cNvSpPr txBox="1"/>
            <p:nvPr/>
          </p:nvSpPr>
          <p:spPr>
            <a:xfrm>
              <a:off x="544449" y="963454"/>
              <a:ext cx="5758891" cy="308039"/>
            </a:xfrm>
            <a:prstGeom prst="rect">
              <a:avLst/>
            </a:prstGeom>
            <a:noFill/>
            <a:ln>
              <a:noFill/>
            </a:ln>
          </p:spPr>
          <p:txBody>
            <a:bodyPr wrap="none" lIns="0" tIns="0" rIns="0" bIns="0" anchor="t" anchorCtr="0">
              <a:spAutoFit/>
            </a:bodyPr>
            <a:lstStyle/>
            <a:p>
              <a:pPr algn="l"/>
              <a:r>
                <a:rPr lang="zh-CN" sz="1580" b="1" dirty="0">
                  <a:solidFill>
                    <a:srgbClr val="0E3F8C"/>
                  </a:solidFill>
                  <a:latin typeface="Arial"/>
                  <a:ea typeface="Microsoft YaHei"/>
                  <a:cs typeface="Arial"/>
                </a:rPr>
                <a:t>辐射、水文、冰冻圈、生物圈与风化响应运行在不同的时钟上</a:t>
              </a:r>
            </a:p>
          </p:txBody>
        </p:sp>
      </p:grpSp>
      <p:grpSp>
        <p:nvGrpSpPr>
          <p:cNvPr id="48" name="Group 48"/>
          <p:cNvGrpSpPr/>
          <p:nvPr/>
        </p:nvGrpSpPr>
        <p:grpSpPr>
          <a:xfrm>
            <a:off x="381000" y="1428750"/>
            <a:ext cx="11430000" cy="4686300"/>
            <a:chOff x="381000" y="1428750"/>
            <a:chExt cx="11430000" cy="4686300"/>
          </a:xfrm>
        </p:grpSpPr>
        <p:sp>
          <p:nvSpPr>
            <p:cNvPr id="9" name="Rectangle 9"/>
            <p:cNvSpPr/>
            <p:nvPr/>
          </p:nvSpPr>
          <p:spPr>
            <a:xfrm>
              <a:off x="381000" y="1428750"/>
              <a:ext cx="11430000" cy="4686300"/>
            </a:xfrm>
            <a:prstGeom prst="roundRect">
              <a:avLst>
                <a:gd name="adj" fmla="val 2439"/>
              </a:avLst>
            </a:prstGeom>
            <a:solidFill>
              <a:srgbClr val="F7F9FC"/>
            </a:solidFill>
            <a:ln w="9525">
              <a:solidFill>
                <a:srgbClr val="D6DCE5"/>
              </a:solidFill>
            </a:ln>
          </p:spPr>
        </p:sp>
        <p:sp>
          <p:nvSpPr>
            <p:cNvPr id="10" name="TextBox 10"/>
            <p:cNvSpPr txBox="1"/>
            <p:nvPr/>
          </p:nvSpPr>
          <p:spPr>
            <a:xfrm>
              <a:off x="681038" y="1636395"/>
              <a:ext cx="4613529" cy="176212"/>
            </a:xfrm>
            <a:prstGeom prst="rect">
              <a:avLst/>
            </a:prstGeom>
            <a:noFill/>
            <a:ln>
              <a:noFill/>
            </a:ln>
          </p:spPr>
          <p:txBody>
            <a:bodyPr wrap="none" lIns="0" tIns="0" rIns="0" bIns="0" anchor="t" anchorCtr="0">
              <a:spAutoFit/>
            </a:bodyPr>
            <a:lstStyle/>
            <a:p>
              <a:pPr algn="l"/>
              <a:r>
                <a:rPr lang="zh-CN" sz="900" dirty="0">
                  <a:solidFill>
                    <a:srgbClr val="4A5568"/>
                  </a:solidFill>
                  <a:latin typeface="Arial"/>
                  <a:ea typeface="Microsoft YaHei"/>
                  <a:cs typeface="Arial"/>
                </a:rPr>
                <a:t>定性对齐：条带位置只表示相对快慢，不代表精确响应时间（教材无统一响应时间表）</a:t>
              </a:r>
            </a:p>
          </p:txBody>
        </p:sp>
        <p:sp>
          <p:nvSpPr>
            <p:cNvPr id="11" name="TextBox 11"/>
            <p:cNvSpPr txBox="1"/>
            <p:nvPr/>
          </p:nvSpPr>
          <p:spPr>
            <a:xfrm>
              <a:off x="10544894" y="1636395"/>
              <a:ext cx="1042268" cy="176212"/>
            </a:xfrm>
            <a:prstGeom prst="rect">
              <a:avLst/>
            </a:prstGeom>
            <a:noFill/>
            <a:ln>
              <a:noFill/>
            </a:ln>
          </p:spPr>
          <p:txBody>
            <a:bodyPr wrap="none" lIns="0" tIns="0" rIns="0" bIns="0" anchor="t" anchorCtr="0">
              <a:spAutoFit/>
            </a:bodyPr>
            <a:lstStyle/>
            <a:p>
              <a:pPr algn="r"/>
              <a:r>
                <a:rPr lang="zh-CN" sz="900" b="1" dirty="0">
                  <a:solidFill>
                    <a:srgbClr val="1E4FA8"/>
                  </a:solidFill>
                  <a:latin typeface="Arial"/>
                  <a:ea typeface="Microsoft YaHei"/>
                  <a:cs typeface="Arial"/>
                </a:rPr>
                <a:t>快 Fast → 慢 Slow</a:t>
              </a:r>
            </a:p>
          </p:txBody>
        </p:sp>
        <p:sp>
          <p:nvSpPr>
            <p:cNvPr id="12" name="Line 12"/>
            <p:cNvSpPr/>
            <p:nvPr/>
          </p:nvSpPr>
          <p:spPr>
            <a:xfrm>
              <a:off x="5057775" y="2095500"/>
              <a:ext cx="9525" cy="3524250"/>
            </a:xfrm>
            <a:custGeom>
              <a:avLst/>
              <a:gdLst/>
              <a:ahLst/>
              <a:cxnLst/>
              <a:rect l="l" t="t" r="r" b="b"/>
              <a:pathLst>
                <a:path w="9525" h="3524250">
                  <a:moveTo>
                    <a:pt x="0" y="0"/>
                  </a:moveTo>
                  <a:lnTo>
                    <a:pt x="0" y="3524250"/>
                  </a:lnTo>
                </a:path>
              </a:pathLst>
            </a:custGeom>
            <a:noFill/>
            <a:ln w="9525">
              <a:solidFill>
                <a:srgbClr val="E2E8F0"/>
              </a:solidFill>
            </a:ln>
          </p:spPr>
        </p:sp>
        <p:sp>
          <p:nvSpPr>
            <p:cNvPr id="13" name="Line 13"/>
            <p:cNvSpPr/>
            <p:nvPr/>
          </p:nvSpPr>
          <p:spPr>
            <a:xfrm>
              <a:off x="6686550" y="2095500"/>
              <a:ext cx="9525" cy="3524250"/>
            </a:xfrm>
            <a:custGeom>
              <a:avLst/>
              <a:gdLst/>
              <a:ahLst/>
              <a:cxnLst/>
              <a:rect l="l" t="t" r="r" b="b"/>
              <a:pathLst>
                <a:path w="9525" h="3524250">
                  <a:moveTo>
                    <a:pt x="0" y="0"/>
                  </a:moveTo>
                  <a:lnTo>
                    <a:pt x="0" y="3524250"/>
                  </a:lnTo>
                </a:path>
              </a:pathLst>
            </a:custGeom>
            <a:noFill/>
            <a:ln w="9525">
              <a:solidFill>
                <a:srgbClr val="E2E8F0"/>
              </a:solidFill>
            </a:ln>
          </p:spPr>
        </p:sp>
        <p:sp>
          <p:nvSpPr>
            <p:cNvPr id="14" name="Line 14"/>
            <p:cNvSpPr/>
            <p:nvPr/>
          </p:nvSpPr>
          <p:spPr>
            <a:xfrm>
              <a:off x="8315325" y="2095500"/>
              <a:ext cx="9525" cy="3524250"/>
            </a:xfrm>
            <a:custGeom>
              <a:avLst/>
              <a:gdLst/>
              <a:ahLst/>
              <a:cxnLst/>
              <a:rect l="l" t="t" r="r" b="b"/>
              <a:pathLst>
                <a:path w="9525" h="3524250">
                  <a:moveTo>
                    <a:pt x="0" y="0"/>
                  </a:moveTo>
                  <a:lnTo>
                    <a:pt x="0" y="3524250"/>
                  </a:lnTo>
                </a:path>
              </a:pathLst>
            </a:custGeom>
            <a:noFill/>
            <a:ln w="9525">
              <a:solidFill>
                <a:srgbClr val="E2E8F0"/>
              </a:solidFill>
            </a:ln>
          </p:spPr>
        </p:sp>
        <p:sp>
          <p:nvSpPr>
            <p:cNvPr id="15" name="Line 15"/>
            <p:cNvSpPr/>
            <p:nvPr/>
          </p:nvSpPr>
          <p:spPr>
            <a:xfrm>
              <a:off x="9944100" y="2095500"/>
              <a:ext cx="9525" cy="3524250"/>
            </a:xfrm>
            <a:custGeom>
              <a:avLst/>
              <a:gdLst/>
              <a:ahLst/>
              <a:cxnLst/>
              <a:rect l="l" t="t" r="r" b="b"/>
              <a:pathLst>
                <a:path w="9525" h="3524250">
                  <a:moveTo>
                    <a:pt x="0" y="0"/>
                  </a:moveTo>
                  <a:lnTo>
                    <a:pt x="0" y="3524250"/>
                  </a:lnTo>
                </a:path>
              </a:pathLst>
            </a:custGeom>
            <a:noFill/>
            <a:ln w="9525">
              <a:solidFill>
                <a:srgbClr val="E2E8F0"/>
              </a:solidFill>
            </a:ln>
          </p:spPr>
        </p:sp>
        <p:sp>
          <p:nvSpPr>
            <p:cNvPr id="16" name="TextBox 16"/>
            <p:cNvSpPr txBox="1"/>
            <p:nvPr/>
          </p:nvSpPr>
          <p:spPr>
            <a:xfrm>
              <a:off x="4017141" y="1903095"/>
              <a:ext cx="442968" cy="176212"/>
            </a:xfrm>
            <a:prstGeom prst="rect">
              <a:avLst/>
            </a:prstGeom>
            <a:noFill/>
            <a:ln>
              <a:noFill/>
            </a:ln>
          </p:spPr>
          <p:txBody>
            <a:bodyPr wrap="none" lIns="0" tIns="0" rIns="0" bIns="0" anchor="t" anchorCtr="0">
              <a:spAutoFit/>
            </a:bodyPr>
            <a:lstStyle/>
            <a:p>
              <a:pPr algn="ctr"/>
              <a:r>
                <a:rPr lang="zh-CN" sz="900" b="1" dirty="0">
                  <a:solidFill>
                    <a:srgbClr val="4A5568"/>
                  </a:solidFill>
                  <a:latin typeface="Arial"/>
                  <a:ea typeface="Microsoft YaHei"/>
                  <a:cs typeface="Arial"/>
                </a:rPr>
                <a:t>即时–天</a:t>
              </a:r>
            </a:p>
          </p:txBody>
        </p:sp>
        <p:sp>
          <p:nvSpPr>
            <p:cNvPr id="17" name="TextBox 17"/>
            <p:cNvSpPr txBox="1"/>
            <p:nvPr/>
          </p:nvSpPr>
          <p:spPr>
            <a:xfrm>
              <a:off x="5645916" y="1903095"/>
              <a:ext cx="442968" cy="176212"/>
            </a:xfrm>
            <a:prstGeom prst="rect">
              <a:avLst/>
            </a:prstGeom>
            <a:noFill/>
            <a:ln>
              <a:noFill/>
            </a:ln>
          </p:spPr>
          <p:txBody>
            <a:bodyPr wrap="none" lIns="0" tIns="0" rIns="0" bIns="0" anchor="t" anchorCtr="0">
              <a:spAutoFit/>
            </a:bodyPr>
            <a:lstStyle/>
            <a:p>
              <a:pPr algn="ctr"/>
              <a:r>
                <a:rPr lang="zh-CN" sz="900" b="1" dirty="0">
                  <a:solidFill>
                    <a:srgbClr val="4A5568"/>
                  </a:solidFill>
                  <a:latin typeface="Arial"/>
                  <a:ea typeface="Microsoft YaHei"/>
                  <a:cs typeface="Arial"/>
                </a:rPr>
                <a:t>季节–年</a:t>
              </a:r>
            </a:p>
          </p:txBody>
        </p:sp>
        <p:sp>
          <p:nvSpPr>
            <p:cNvPr id="18" name="TextBox 18"/>
            <p:cNvSpPr txBox="1"/>
            <p:nvPr/>
          </p:nvSpPr>
          <p:spPr>
            <a:xfrm>
              <a:off x="7153533" y="1903095"/>
              <a:ext cx="685284" cy="176212"/>
            </a:xfrm>
            <a:prstGeom prst="rect">
              <a:avLst/>
            </a:prstGeom>
            <a:noFill/>
            <a:ln>
              <a:noFill/>
            </a:ln>
          </p:spPr>
          <p:txBody>
            <a:bodyPr wrap="none" lIns="0" tIns="0" rIns="0" bIns="0" anchor="t" anchorCtr="0">
              <a:spAutoFit/>
            </a:bodyPr>
            <a:lstStyle/>
            <a:p>
              <a:pPr algn="ctr"/>
              <a:r>
                <a:rPr lang="zh-CN" sz="900" b="1" dirty="0">
                  <a:solidFill>
                    <a:srgbClr val="4A5568"/>
                  </a:solidFill>
                  <a:latin typeface="Arial"/>
                  <a:ea typeface="Microsoft YaHei"/>
                  <a:cs typeface="Arial"/>
                </a:rPr>
                <a:t>数十年–世纪</a:t>
              </a:r>
            </a:p>
          </p:txBody>
        </p:sp>
        <p:sp>
          <p:nvSpPr>
            <p:cNvPr id="19" name="TextBox 19"/>
            <p:cNvSpPr txBox="1"/>
            <p:nvPr/>
          </p:nvSpPr>
          <p:spPr>
            <a:xfrm>
              <a:off x="8842887" y="1903095"/>
              <a:ext cx="564126" cy="176212"/>
            </a:xfrm>
            <a:prstGeom prst="rect">
              <a:avLst/>
            </a:prstGeom>
            <a:noFill/>
            <a:ln>
              <a:noFill/>
            </a:ln>
          </p:spPr>
          <p:txBody>
            <a:bodyPr wrap="none" lIns="0" tIns="0" rIns="0" bIns="0" anchor="t" anchorCtr="0">
              <a:spAutoFit/>
            </a:bodyPr>
            <a:lstStyle/>
            <a:p>
              <a:pPr algn="ctr"/>
              <a:r>
                <a:rPr lang="zh-CN" sz="900" b="1" dirty="0">
                  <a:solidFill>
                    <a:srgbClr val="4A5568"/>
                  </a:solidFill>
                  <a:latin typeface="Arial"/>
                  <a:ea typeface="Microsoft YaHei"/>
                  <a:cs typeface="Arial"/>
                </a:rPr>
                <a:t>千年–冰期</a:t>
              </a:r>
            </a:p>
          </p:txBody>
        </p:sp>
        <p:sp>
          <p:nvSpPr>
            <p:cNvPr id="20" name="TextBox 20"/>
            <p:cNvSpPr txBox="1"/>
            <p:nvPr/>
          </p:nvSpPr>
          <p:spPr>
            <a:xfrm>
              <a:off x="10433936" y="1903095"/>
              <a:ext cx="658629" cy="176212"/>
            </a:xfrm>
            <a:prstGeom prst="rect">
              <a:avLst/>
            </a:prstGeom>
            <a:noFill/>
            <a:ln>
              <a:noFill/>
            </a:ln>
          </p:spPr>
          <p:txBody>
            <a:bodyPr wrap="none" lIns="0" tIns="0" rIns="0" bIns="0" anchor="t" anchorCtr="0">
              <a:spAutoFit/>
            </a:bodyPr>
            <a:lstStyle/>
            <a:p>
              <a:pPr algn="ctr"/>
              <a:r>
                <a:rPr lang="zh-CN" sz="900" b="1" dirty="0">
                  <a:solidFill>
                    <a:srgbClr val="C2410C"/>
                  </a:solidFill>
                  <a:latin typeface="Arial"/>
                  <a:ea typeface="Microsoft YaHei"/>
                  <a:cs typeface="Arial"/>
                </a:rPr>
                <a:t>10⁵–10⁷ 年</a:t>
              </a:r>
            </a:p>
          </p:txBody>
        </p:sp>
        <p:grpSp>
          <p:nvGrpSpPr>
            <p:cNvPr id="25" name="Group 25"/>
            <p:cNvGrpSpPr/>
            <p:nvPr/>
          </p:nvGrpSpPr>
          <p:grpSpPr>
            <a:xfrm>
              <a:off x="680466" y="2286952"/>
              <a:ext cx="5582946" cy="398860"/>
              <a:chOff x="680466" y="2286952"/>
              <a:chExt cx="5582946" cy="398860"/>
            </a:xfrm>
          </p:grpSpPr>
          <p:sp>
            <p:nvSpPr>
              <p:cNvPr id="21" name="TextBox 21"/>
              <p:cNvSpPr txBox="1"/>
              <p:nvPr/>
            </p:nvSpPr>
            <p:spPr>
              <a:xfrm>
                <a:off x="680466" y="2286952"/>
                <a:ext cx="1985180" cy="205359"/>
              </a:xfrm>
              <a:prstGeom prst="rect">
                <a:avLst/>
              </a:prstGeom>
              <a:noFill/>
              <a:ln>
                <a:noFill/>
              </a:ln>
            </p:spPr>
            <p:txBody>
              <a:bodyPr wrap="none" lIns="0" tIns="0" rIns="0" bIns="0" anchor="t" anchorCtr="0">
                <a:spAutoFit/>
              </a:bodyPr>
              <a:lstStyle/>
              <a:p>
                <a:pPr algn="l"/>
                <a:r>
                  <a:rPr lang="zh-CN" sz="1050" b="1" dirty="0">
                    <a:solidFill>
                      <a:srgbClr val="0E3F8C"/>
                    </a:solidFill>
                    <a:latin typeface="Arial"/>
                    <a:ea typeface="Microsoft YaHei"/>
                    <a:cs typeface="Arial"/>
                  </a:rPr>
                  <a:t>辐射响应 Radiative response</a:t>
                </a:r>
              </a:p>
            </p:txBody>
          </p:sp>
          <p:sp>
            <p:nvSpPr>
              <p:cNvPr id="22" name="TextBox 22"/>
              <p:cNvSpPr txBox="1"/>
              <p:nvPr/>
            </p:nvSpPr>
            <p:spPr>
              <a:xfrm>
                <a:off x="681038" y="2516743"/>
                <a:ext cx="1746123" cy="169069"/>
              </a:xfrm>
              <a:prstGeom prst="rect">
                <a:avLst/>
              </a:prstGeom>
              <a:noFill/>
              <a:ln>
                <a:noFill/>
              </a:ln>
            </p:spPr>
            <p:txBody>
              <a:bodyPr wrap="none" lIns="0" tIns="0" rIns="0" bIns="0" anchor="t" anchorCtr="0">
                <a:spAutoFit/>
              </a:bodyPr>
              <a:lstStyle/>
              <a:p>
                <a:pPr algn="l"/>
                <a:r>
                  <a:rPr lang="zh-CN" sz="860" dirty="0">
                    <a:solidFill>
                      <a:srgbClr val="4A5568"/>
                    </a:solidFill>
                    <a:latin typeface="Arial"/>
                    <a:ea typeface="Microsoft YaHei"/>
                    <a:cs typeface="Arial"/>
                  </a:rPr>
                  <a:t>辐射收支随辐射强迫近乎即时改变</a:t>
                </a:r>
              </a:p>
            </p:txBody>
          </p:sp>
          <p:sp>
            <p:nvSpPr>
              <p:cNvPr id="23" name="Rectangle 23"/>
              <p:cNvSpPr/>
              <p:nvPr/>
            </p:nvSpPr>
            <p:spPr>
              <a:xfrm>
                <a:off x="3429000" y="2352675"/>
                <a:ext cx="990600" cy="247650"/>
              </a:xfrm>
              <a:prstGeom prst="roundRect">
                <a:avLst>
                  <a:gd name="adj" fmla="val 23077"/>
                </a:avLst>
              </a:prstGeom>
              <a:solidFill>
                <a:srgbClr val="1E4FA8"/>
              </a:solidFill>
              <a:ln>
                <a:noFill/>
              </a:ln>
            </p:spPr>
          </p:sp>
          <p:sp>
            <p:nvSpPr>
              <p:cNvPr id="24" name="TextBox 24"/>
              <p:cNvSpPr txBox="1"/>
              <p:nvPr/>
            </p:nvSpPr>
            <p:spPr>
              <a:xfrm>
                <a:off x="4491038" y="2436495"/>
                <a:ext cx="1772374" cy="176212"/>
              </a:xfrm>
              <a:prstGeom prst="rect">
                <a:avLst/>
              </a:prstGeom>
              <a:noFill/>
              <a:ln>
                <a:noFill/>
              </a:ln>
            </p:spPr>
            <p:txBody>
              <a:bodyPr wrap="none" lIns="0" tIns="0" rIns="0" bIns="0" anchor="t" anchorCtr="0">
                <a:spAutoFit/>
              </a:bodyPr>
              <a:lstStyle/>
              <a:p>
                <a:pPr algn="l"/>
                <a:r>
                  <a:rPr lang="zh-CN" sz="900" dirty="0">
                    <a:solidFill>
                      <a:srgbClr val="1A2230"/>
                    </a:solidFill>
                    <a:latin typeface="Arial"/>
                    <a:ea typeface="Microsoft YaHei"/>
                    <a:cs typeface="Arial"/>
                  </a:rPr>
                  <a:t>即时–数天：能量收支近瞬时调整</a:t>
                </a:r>
              </a:p>
            </p:txBody>
          </p:sp>
        </p:grpSp>
        <p:grpSp>
          <p:nvGrpSpPr>
            <p:cNvPr id="30" name="Group 30"/>
            <p:cNvGrpSpPr/>
            <p:nvPr/>
          </p:nvGrpSpPr>
          <p:grpSpPr>
            <a:xfrm>
              <a:off x="680466" y="2991802"/>
              <a:ext cx="6471247" cy="398860"/>
              <a:chOff x="680466" y="2991802"/>
              <a:chExt cx="6471247" cy="398860"/>
            </a:xfrm>
          </p:grpSpPr>
          <p:sp>
            <p:nvSpPr>
              <p:cNvPr id="26" name="TextBox 26"/>
              <p:cNvSpPr txBox="1"/>
              <p:nvPr/>
            </p:nvSpPr>
            <p:spPr>
              <a:xfrm>
                <a:off x="680466" y="2991802"/>
                <a:ext cx="2063890" cy="205359"/>
              </a:xfrm>
              <a:prstGeom prst="rect">
                <a:avLst/>
              </a:prstGeom>
              <a:noFill/>
              <a:ln>
                <a:noFill/>
              </a:ln>
            </p:spPr>
            <p:txBody>
              <a:bodyPr wrap="none" lIns="0" tIns="0" rIns="0" bIns="0" anchor="t" anchorCtr="0">
                <a:spAutoFit/>
              </a:bodyPr>
              <a:lstStyle/>
              <a:p>
                <a:pPr algn="l"/>
                <a:r>
                  <a:rPr lang="zh-CN" sz="1050" b="1" dirty="0">
                    <a:solidFill>
                      <a:srgbClr val="0E3F8C"/>
                    </a:solidFill>
                    <a:latin typeface="Arial"/>
                    <a:ea typeface="Microsoft YaHei"/>
                    <a:cs typeface="Arial"/>
                  </a:rPr>
                  <a:t>水文（水汽）响应 Hydrological</a:t>
                </a:r>
              </a:p>
            </p:txBody>
          </p:sp>
          <p:sp>
            <p:nvSpPr>
              <p:cNvPr id="27" name="TextBox 27"/>
              <p:cNvSpPr txBox="1"/>
              <p:nvPr/>
            </p:nvSpPr>
            <p:spPr>
              <a:xfrm>
                <a:off x="681038" y="3221593"/>
                <a:ext cx="1809798" cy="169069"/>
              </a:xfrm>
              <a:prstGeom prst="rect">
                <a:avLst/>
              </a:prstGeom>
              <a:noFill/>
              <a:ln>
                <a:noFill/>
              </a:ln>
            </p:spPr>
            <p:txBody>
              <a:bodyPr wrap="none" lIns="0" tIns="0" rIns="0" bIns="0" anchor="t" anchorCtr="0">
                <a:spAutoFit/>
              </a:bodyPr>
              <a:lstStyle/>
              <a:p>
                <a:pPr algn="l"/>
                <a:r>
                  <a:rPr lang="zh-CN" sz="860" dirty="0">
                    <a:solidFill>
                      <a:srgbClr val="4A5568"/>
                    </a:solidFill>
                    <a:latin typeface="Arial"/>
                    <a:ea typeface="Microsoft YaHei"/>
                    <a:cs typeface="Arial"/>
                  </a:rPr>
                  <a:t>蒸发—水汽反馈，随大气水快速周转</a:t>
                </a:r>
              </a:p>
            </p:txBody>
          </p:sp>
          <p:sp>
            <p:nvSpPr>
              <p:cNvPr id="28" name="Rectangle 28"/>
              <p:cNvSpPr/>
              <p:nvPr/>
            </p:nvSpPr>
            <p:spPr>
              <a:xfrm>
                <a:off x="3429000" y="3057525"/>
                <a:ext cx="1628775" cy="247650"/>
              </a:xfrm>
              <a:prstGeom prst="roundRect">
                <a:avLst>
                  <a:gd name="adj" fmla="val 23077"/>
                </a:avLst>
              </a:prstGeom>
              <a:solidFill>
                <a:srgbClr val="3D7BD9"/>
              </a:solidFill>
              <a:ln>
                <a:noFill/>
              </a:ln>
            </p:spPr>
          </p:sp>
          <p:sp>
            <p:nvSpPr>
              <p:cNvPr id="29" name="TextBox 29"/>
              <p:cNvSpPr txBox="1"/>
              <p:nvPr/>
            </p:nvSpPr>
            <p:spPr>
              <a:xfrm>
                <a:off x="5138738" y="3141345"/>
                <a:ext cx="2012975" cy="176212"/>
              </a:xfrm>
              <a:prstGeom prst="rect">
                <a:avLst/>
              </a:prstGeom>
              <a:noFill/>
              <a:ln>
                <a:noFill/>
              </a:ln>
            </p:spPr>
            <p:txBody>
              <a:bodyPr wrap="none" lIns="0" tIns="0" rIns="0" bIns="0" anchor="t" anchorCtr="0">
                <a:spAutoFit/>
              </a:bodyPr>
              <a:lstStyle/>
              <a:p>
                <a:pPr algn="l"/>
                <a:r>
                  <a:rPr lang="zh-CN" sz="900" dirty="0">
                    <a:solidFill>
                      <a:srgbClr val="1A2230"/>
                    </a:solidFill>
                    <a:latin typeface="Arial"/>
                    <a:ea typeface="Microsoft YaHei"/>
                    <a:cs typeface="Arial"/>
                  </a:rPr>
                  <a:t>大气水交换 &lt; 约 9 天（CN 表 3-1）</a:t>
                </a:r>
              </a:p>
            </p:txBody>
          </p:sp>
        </p:grpSp>
        <p:grpSp>
          <p:nvGrpSpPr>
            <p:cNvPr id="35" name="Group 35"/>
            <p:cNvGrpSpPr/>
            <p:nvPr/>
          </p:nvGrpSpPr>
          <p:grpSpPr>
            <a:xfrm>
              <a:off x="680466" y="3696652"/>
              <a:ext cx="9263634" cy="398860"/>
              <a:chOff x="680466" y="3696652"/>
              <a:chExt cx="9263634" cy="398860"/>
            </a:xfrm>
          </p:grpSpPr>
          <p:sp>
            <p:nvSpPr>
              <p:cNvPr id="31" name="TextBox 31"/>
              <p:cNvSpPr txBox="1"/>
              <p:nvPr/>
            </p:nvSpPr>
            <p:spPr>
              <a:xfrm>
                <a:off x="680466" y="3696652"/>
                <a:ext cx="1587124" cy="205359"/>
              </a:xfrm>
              <a:prstGeom prst="rect">
                <a:avLst/>
              </a:prstGeom>
              <a:noFill/>
              <a:ln>
                <a:noFill/>
              </a:ln>
            </p:spPr>
            <p:txBody>
              <a:bodyPr wrap="none" lIns="0" tIns="0" rIns="0" bIns="0" anchor="t" anchorCtr="0">
                <a:spAutoFit/>
              </a:bodyPr>
              <a:lstStyle/>
              <a:p>
                <a:pPr algn="l"/>
                <a:r>
                  <a:rPr lang="zh-CN" sz="1050" b="1" dirty="0">
                    <a:solidFill>
                      <a:srgbClr val="0E3F8C"/>
                    </a:solidFill>
                    <a:latin typeface="Arial"/>
                    <a:ea typeface="Microsoft YaHei"/>
                    <a:cs typeface="Arial"/>
                  </a:rPr>
                  <a:t>冰冻圈响应 Cryosphere</a:t>
                </a:r>
              </a:p>
            </p:txBody>
          </p:sp>
          <p:sp>
            <p:nvSpPr>
              <p:cNvPr id="32" name="TextBox 32"/>
              <p:cNvSpPr txBox="1"/>
              <p:nvPr/>
            </p:nvSpPr>
            <p:spPr>
              <a:xfrm>
                <a:off x="681038" y="3926443"/>
                <a:ext cx="1746123" cy="169069"/>
              </a:xfrm>
              <a:prstGeom prst="rect">
                <a:avLst/>
              </a:prstGeom>
              <a:noFill/>
              <a:ln>
                <a:noFill/>
              </a:ln>
            </p:spPr>
            <p:txBody>
              <a:bodyPr wrap="none" lIns="0" tIns="0" rIns="0" bIns="0" anchor="t" anchorCtr="0">
                <a:spAutoFit/>
              </a:bodyPr>
              <a:lstStyle/>
              <a:p>
                <a:pPr algn="l"/>
                <a:r>
                  <a:rPr lang="zh-CN" sz="860" dirty="0">
                    <a:solidFill>
                      <a:srgbClr val="4A5568"/>
                    </a:solidFill>
                    <a:latin typeface="Arial"/>
                    <a:ea typeface="Microsoft YaHei"/>
                    <a:cs typeface="Arial"/>
                  </a:rPr>
                  <a:t>季节积雪、海冰到山地冰川与冰盖</a:t>
                </a:r>
              </a:p>
            </p:txBody>
          </p:sp>
          <p:sp>
            <p:nvSpPr>
              <p:cNvPr id="33" name="Rectangle 33"/>
              <p:cNvSpPr/>
              <p:nvPr/>
            </p:nvSpPr>
            <p:spPr>
              <a:xfrm>
                <a:off x="5057775" y="3762375"/>
                <a:ext cx="4886325" cy="247650"/>
              </a:xfrm>
              <a:prstGeom prst="roundRect">
                <a:avLst>
                  <a:gd name="adj" fmla="val 23077"/>
                </a:avLst>
              </a:prstGeom>
              <a:solidFill>
                <a:srgbClr val="7FA8E0"/>
              </a:solidFill>
              <a:ln>
                <a:noFill/>
              </a:ln>
            </p:spPr>
          </p:sp>
          <p:sp>
            <p:nvSpPr>
              <p:cNvPr id="34" name="TextBox 34"/>
              <p:cNvSpPr txBox="1"/>
              <p:nvPr/>
            </p:nvSpPr>
            <p:spPr>
              <a:xfrm>
                <a:off x="6933631" y="3836670"/>
                <a:ext cx="1125087" cy="176212"/>
              </a:xfrm>
              <a:prstGeom prst="rect">
                <a:avLst/>
              </a:prstGeom>
              <a:noFill/>
              <a:ln>
                <a:noFill/>
              </a:ln>
            </p:spPr>
            <p:txBody>
              <a:bodyPr wrap="none" lIns="0" tIns="0" rIns="0" bIns="0" anchor="t" anchorCtr="0">
                <a:spAutoFit/>
              </a:bodyPr>
              <a:lstStyle/>
              <a:p>
                <a:pPr algn="ctr"/>
                <a:r>
                  <a:rPr lang="zh-CN" sz="900" b="1" dirty="0">
                    <a:solidFill>
                      <a:srgbClr val="FFFFFF"/>
                    </a:solidFill>
                    <a:latin typeface="Arial"/>
                    <a:ea typeface="Microsoft YaHei"/>
                    <a:cs typeface="Arial"/>
                  </a:rPr>
                  <a:t>季节积雪 → 冰期尺度</a:t>
                </a:r>
              </a:p>
            </p:txBody>
          </p:sp>
        </p:grpSp>
        <p:grpSp>
          <p:nvGrpSpPr>
            <p:cNvPr id="40" name="Group 40"/>
            <p:cNvGrpSpPr/>
            <p:nvPr/>
          </p:nvGrpSpPr>
          <p:grpSpPr>
            <a:xfrm>
              <a:off x="680466" y="4401502"/>
              <a:ext cx="10901934" cy="398860"/>
              <a:chOff x="680466" y="4401502"/>
              <a:chExt cx="10901934" cy="398860"/>
            </a:xfrm>
          </p:grpSpPr>
          <p:sp>
            <p:nvSpPr>
              <p:cNvPr id="36" name="TextBox 36"/>
              <p:cNvSpPr txBox="1"/>
              <p:nvPr/>
            </p:nvSpPr>
            <p:spPr>
              <a:xfrm>
                <a:off x="680466" y="4401502"/>
                <a:ext cx="1468628" cy="205359"/>
              </a:xfrm>
              <a:prstGeom prst="rect">
                <a:avLst/>
              </a:prstGeom>
              <a:noFill/>
              <a:ln>
                <a:noFill/>
              </a:ln>
            </p:spPr>
            <p:txBody>
              <a:bodyPr wrap="none" lIns="0" tIns="0" rIns="0" bIns="0" anchor="t" anchorCtr="0">
                <a:spAutoFit/>
              </a:bodyPr>
              <a:lstStyle/>
              <a:p>
                <a:pPr algn="l"/>
                <a:r>
                  <a:rPr lang="zh-CN" sz="1050" b="1" dirty="0">
                    <a:solidFill>
                      <a:srgbClr val="0E3F8C"/>
                    </a:solidFill>
                    <a:latin typeface="Arial"/>
                    <a:ea typeface="Microsoft YaHei"/>
                    <a:cs typeface="Arial"/>
                  </a:rPr>
                  <a:t>生物圈响应 Biosphere</a:t>
                </a:r>
              </a:p>
            </p:txBody>
          </p:sp>
          <p:sp>
            <p:nvSpPr>
              <p:cNvPr id="37" name="TextBox 37"/>
              <p:cNvSpPr txBox="1"/>
              <p:nvPr/>
            </p:nvSpPr>
            <p:spPr>
              <a:xfrm>
                <a:off x="681038" y="4631293"/>
                <a:ext cx="2324989" cy="169069"/>
              </a:xfrm>
              <a:prstGeom prst="rect">
                <a:avLst/>
              </a:prstGeom>
              <a:noFill/>
              <a:ln>
                <a:noFill/>
              </a:ln>
            </p:spPr>
            <p:txBody>
              <a:bodyPr wrap="none" lIns="0" tIns="0" rIns="0" bIns="0" anchor="t" anchorCtr="0">
                <a:spAutoFit/>
              </a:bodyPr>
              <a:lstStyle/>
              <a:p>
                <a:pPr algn="l"/>
                <a:r>
                  <a:rPr lang="zh-CN" sz="860" dirty="0">
                    <a:solidFill>
                      <a:srgbClr val="4A5568"/>
                    </a:solidFill>
                    <a:latin typeface="Arial"/>
                    <a:ea typeface="Microsoft YaHei"/>
                    <a:cs typeface="Arial"/>
                  </a:rPr>
                  <a:t>植物生长等生物过程，教材未给统一响应时钟</a:t>
                </a:r>
              </a:p>
            </p:txBody>
          </p:sp>
          <p:sp>
            <p:nvSpPr>
              <p:cNvPr id="38" name="Rectangle 38"/>
              <p:cNvSpPr/>
              <p:nvPr/>
            </p:nvSpPr>
            <p:spPr>
              <a:xfrm>
                <a:off x="3429000" y="4467225"/>
                <a:ext cx="8153400" cy="247650"/>
              </a:xfrm>
              <a:prstGeom prst="roundRect">
                <a:avLst>
                  <a:gd name="adj" fmla="val 23077"/>
                </a:avLst>
              </a:prstGeom>
              <a:solidFill>
                <a:srgbClr val="EEF1F5"/>
              </a:solidFill>
              <a:ln w="14288">
                <a:solidFill>
                  <a:srgbClr val="8FA3BD"/>
                </a:solidFill>
                <a:custDash>
                  <a:ds d="400000" sp="266667"/>
                </a:custDash>
              </a:ln>
            </p:spPr>
          </p:sp>
          <p:sp>
            <p:nvSpPr>
              <p:cNvPr id="39" name="TextBox 39"/>
              <p:cNvSpPr txBox="1"/>
              <p:nvPr/>
            </p:nvSpPr>
            <p:spPr>
              <a:xfrm>
                <a:off x="5609046" y="4541520"/>
                <a:ext cx="3793307" cy="176212"/>
              </a:xfrm>
              <a:prstGeom prst="rect">
                <a:avLst/>
              </a:prstGeom>
              <a:noFill/>
              <a:ln>
                <a:noFill/>
              </a:ln>
            </p:spPr>
            <p:txBody>
              <a:bodyPr wrap="none" lIns="0" tIns="0" rIns="0" bIns="0" anchor="t" anchorCtr="0">
                <a:spAutoFit/>
              </a:bodyPr>
              <a:lstStyle/>
              <a:p>
                <a:pPr algn="ctr"/>
                <a:r>
                  <a:rPr lang="zh-CN" sz="900" dirty="0">
                    <a:solidFill>
                      <a:srgbClr val="4A5568"/>
                    </a:solidFill>
                    <a:latin typeface="Arial"/>
                    <a:ea typeface="Microsoft YaHei"/>
                    <a:cs typeface="Arial"/>
                  </a:rPr>
                  <a:t>响应时钟未统一量化 | No unified response clock（不分配时间区间）</a:t>
                </a:r>
              </a:p>
            </p:txBody>
          </p:sp>
        </p:grpSp>
        <p:grpSp>
          <p:nvGrpSpPr>
            <p:cNvPr id="45" name="Group 45"/>
            <p:cNvGrpSpPr/>
            <p:nvPr/>
          </p:nvGrpSpPr>
          <p:grpSpPr>
            <a:xfrm>
              <a:off x="680466" y="5106352"/>
              <a:ext cx="10863834" cy="398860"/>
              <a:chOff x="680466" y="5106352"/>
              <a:chExt cx="10863834" cy="398860"/>
            </a:xfrm>
          </p:grpSpPr>
          <p:sp>
            <p:nvSpPr>
              <p:cNvPr id="41" name="TextBox 41"/>
              <p:cNvSpPr txBox="1"/>
              <p:nvPr/>
            </p:nvSpPr>
            <p:spPr>
              <a:xfrm>
                <a:off x="680466" y="5106352"/>
                <a:ext cx="1141476" cy="205359"/>
              </a:xfrm>
              <a:prstGeom prst="rect">
                <a:avLst/>
              </a:prstGeom>
              <a:noFill/>
              <a:ln>
                <a:noFill/>
              </a:ln>
            </p:spPr>
            <p:txBody>
              <a:bodyPr wrap="none" lIns="0" tIns="0" rIns="0" bIns="0" anchor="t" anchorCtr="0">
                <a:spAutoFit/>
              </a:bodyPr>
              <a:lstStyle/>
              <a:p>
                <a:pPr algn="l"/>
                <a:r>
                  <a:rPr lang="zh-CN" sz="1050" b="1" dirty="0">
                    <a:solidFill>
                      <a:srgbClr val="C2410C"/>
                    </a:solidFill>
                    <a:latin typeface="Arial"/>
                    <a:ea typeface="Microsoft YaHei"/>
                    <a:cs typeface="Arial"/>
                  </a:rPr>
                  <a:t>硅酸盐风化恒温器</a:t>
                </a:r>
              </a:p>
            </p:txBody>
          </p:sp>
          <p:sp>
            <p:nvSpPr>
              <p:cNvPr id="42" name="TextBox 42"/>
              <p:cNvSpPr txBox="1"/>
              <p:nvPr/>
            </p:nvSpPr>
            <p:spPr>
              <a:xfrm>
                <a:off x="681038" y="5336143"/>
                <a:ext cx="2169001" cy="169069"/>
              </a:xfrm>
              <a:prstGeom prst="rect">
                <a:avLst/>
              </a:prstGeom>
              <a:noFill/>
              <a:ln>
                <a:noFill/>
              </a:ln>
            </p:spPr>
            <p:txBody>
              <a:bodyPr wrap="none" lIns="0" tIns="0" rIns="0" bIns="0" anchor="t" anchorCtr="0">
                <a:spAutoFit/>
              </a:bodyPr>
              <a:lstStyle/>
              <a:p>
                <a:pPr algn="l"/>
                <a:r>
                  <a:rPr lang="zh-CN" sz="860" dirty="0">
                    <a:solidFill>
                      <a:srgbClr val="7A4A33"/>
                    </a:solidFill>
                    <a:latin typeface="Arial"/>
                    <a:ea typeface="Microsoft YaHei"/>
                    <a:cs typeface="Arial"/>
                  </a:rPr>
                  <a:t>Weathering thermostat · 最慢的负反馈</a:t>
                </a:r>
              </a:p>
            </p:txBody>
          </p:sp>
          <p:sp>
            <p:nvSpPr>
              <p:cNvPr id="43" name="Rectangle 43"/>
              <p:cNvSpPr/>
              <p:nvPr/>
            </p:nvSpPr>
            <p:spPr>
              <a:xfrm>
                <a:off x="9944100" y="5172075"/>
                <a:ext cx="1600200" cy="247650"/>
              </a:xfrm>
              <a:prstGeom prst="roundRect">
                <a:avLst>
                  <a:gd name="adj" fmla="val 23077"/>
                </a:avLst>
              </a:prstGeom>
              <a:solidFill>
                <a:srgbClr val="EA580C"/>
              </a:solidFill>
              <a:ln>
                <a:noFill/>
              </a:ln>
            </p:spPr>
          </p:sp>
          <p:sp>
            <p:nvSpPr>
              <p:cNvPr id="44" name="TextBox 44"/>
              <p:cNvSpPr txBox="1"/>
              <p:nvPr/>
            </p:nvSpPr>
            <p:spPr>
              <a:xfrm>
                <a:off x="10379901" y="5246370"/>
                <a:ext cx="728598" cy="176212"/>
              </a:xfrm>
              <a:prstGeom prst="rect">
                <a:avLst/>
              </a:prstGeom>
              <a:noFill/>
              <a:ln>
                <a:noFill/>
              </a:ln>
            </p:spPr>
            <p:txBody>
              <a:bodyPr wrap="none" lIns="0" tIns="0" rIns="0" bIns="0" anchor="t" anchorCtr="0">
                <a:spAutoFit/>
              </a:bodyPr>
              <a:lstStyle/>
              <a:p>
                <a:pPr algn="ctr"/>
                <a:r>
                  <a:rPr lang="zh-CN" sz="900" b="1" dirty="0">
                    <a:solidFill>
                      <a:srgbClr val="FFFFFF"/>
                    </a:solidFill>
                    <a:latin typeface="Arial"/>
                    <a:ea typeface="Microsoft YaHei"/>
                    <a:cs typeface="Arial"/>
                  </a:rPr>
                  <a:t>&gt;10⁵–10⁷ 年</a:t>
                </a:r>
              </a:p>
            </p:txBody>
          </p:sp>
        </p:grpSp>
        <p:sp>
          <p:nvSpPr>
            <p:cNvPr id="46" name="Rectangle 46"/>
            <p:cNvSpPr/>
            <p:nvPr/>
          </p:nvSpPr>
          <p:spPr>
            <a:xfrm>
              <a:off x="685800" y="5695950"/>
              <a:ext cx="10820400" cy="304800"/>
            </a:xfrm>
            <a:prstGeom prst="roundRect">
              <a:avLst>
                <a:gd name="adj" fmla="val 25000"/>
              </a:avLst>
            </a:prstGeom>
            <a:solidFill>
              <a:srgbClr val="E8EFF8"/>
            </a:solidFill>
            <a:ln>
              <a:noFill/>
            </a:ln>
          </p:spPr>
        </p:sp>
        <p:sp>
          <p:nvSpPr>
            <p:cNvPr id="47" name="TextBox 47"/>
            <p:cNvSpPr txBox="1"/>
            <p:nvPr/>
          </p:nvSpPr>
          <p:spPr>
            <a:xfrm>
              <a:off x="871347" y="5790724"/>
              <a:ext cx="4099662" cy="190690"/>
            </a:xfrm>
            <a:prstGeom prst="rect">
              <a:avLst/>
            </a:prstGeom>
            <a:noFill/>
            <a:ln>
              <a:noFill/>
            </a:ln>
          </p:spPr>
          <p:txBody>
            <a:bodyPr wrap="none" lIns="0" tIns="0" rIns="0" bIns="0" anchor="t" anchorCtr="0">
              <a:spAutoFit/>
            </a:bodyPr>
            <a:lstStyle/>
            <a:p>
              <a:pPr algn="l"/>
              <a:r>
                <a:rPr lang="zh-CN" sz="980" b="1" dirty="0">
                  <a:solidFill>
                    <a:srgbClr val="0E3F8C"/>
                  </a:solidFill>
                  <a:latin typeface="Arial"/>
                  <a:ea typeface="Microsoft YaHei"/>
                  <a:cs typeface="Arial"/>
                </a:rPr>
                <a:t>慢负反馈不能立刻抵消快正反馈：响应方向与响应时钟必须同时判断。</a:t>
              </a:r>
            </a:p>
          </p:txBody>
        </p:sp>
      </p:grpSp>
      <p:sp>
        <p:nvSpPr>
          <p:cNvPr id="49" name="TextBox 49"/>
          <p:cNvSpPr txBox="1"/>
          <p:nvPr/>
        </p:nvSpPr>
        <p:spPr>
          <a:xfrm>
            <a:off x="376238" y="6532245"/>
            <a:ext cx="11143714" cy="176212"/>
          </a:xfrm>
          <a:prstGeom prst="rect">
            <a:avLst/>
          </a:prstGeom>
          <a:noFill/>
          <a:ln>
            <a:noFill/>
          </a:ln>
        </p:spPr>
        <p:txBody>
          <a:bodyPr wrap="none" lIns="0" tIns="0" rIns="0" bIns="0" anchor="t" anchorCtr="0">
            <a:spAutoFit/>
          </a:bodyPr>
          <a:lstStyle/>
          <a:p>
            <a:pPr algn="l"/>
            <a:r>
              <a:rPr lang="en-US" sz="900" dirty="0">
                <a:solidFill>
                  <a:srgbClr val="4A5568"/>
                </a:solidFill>
                <a:latin typeface="Arial"/>
                <a:ea typeface="Arial"/>
                <a:cs typeface="Arial"/>
              </a:rPr>
              <a:t>Source: UE 8e pp.1148, 1161–1165, 1177–1178, 1213; EP pp.883–884; HB Ch.9 pp.248–249, Ch.18 pp.455–475; CN Ch.4 pp.78–80. Qualitative alignment, not a unified response-time table.</a:t>
            </a:r>
          </a:p>
        </p:txBody>
      </p:sp>
      <p:sp>
        <p:nvSpPr>
          <p:cNvPr id="50" name="TextBox 50"/>
          <p:cNvSpPr txBox="1"/>
          <p:nvPr/>
        </p:nvSpPr>
        <p:spPr>
          <a:xfrm>
            <a:off x="11672964" y="6532245"/>
            <a:ext cx="142799" cy="176212"/>
          </a:xfrm>
          <a:prstGeom prst="rect">
            <a:avLst/>
          </a:prstGeom>
          <a:noFill/>
          <a:ln>
            <a:noFill/>
          </a:ln>
        </p:spPr>
        <p:txBody>
          <a:bodyPr wrap="none" lIns="0" tIns="0" rIns="0" bIns="0" anchor="t" anchorCtr="0">
            <a:spAutoFit/>
          </a:bodyPr>
          <a:lstStyle/>
          <a:p>
            <a:pPr algn="r"/>
            <a:r>
              <a:rPr lang="en-US" sz="900" dirty="0">
                <a:solidFill>
                  <a:srgbClr val="4A5568"/>
                </a:solidFill>
                <a:latin typeface="Arial"/>
                <a:ea typeface="Arial"/>
                <a:cs typeface="Arial"/>
              </a:rPr>
              <a:t>40</a:t>
            </a:r>
          </a:p>
        </p:txBody>
      </p:sp>
    </p:spTree>
    <p:extLst>
      <p:ext uri="{BB962C8B-B14F-4D97-AF65-F5344CB8AC3E}">
        <p14:creationId xmlns:p14="http://schemas.microsoft.com/office/powerpoint/2010/main" val="1058878629"/>
      </p:ext>
    </p:extLst>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5"/>
          <p:cNvGrpSpPr/>
          <p:nvPr/>
        </p:nvGrpSpPr>
        <p:grpSpPr>
          <a:xfrm>
            <a:off x="0" y="0"/>
            <a:ext cx="12192000" cy="685800"/>
            <a:chOff x="0" y="0"/>
            <a:chExt cx="12192000" cy="685800"/>
          </a:xfrm>
        </p:grpSpPr>
        <p:sp>
          <p:nvSpPr>
            <p:cNvPr id="2" name="Rectangle 2"/>
            <p:cNvSpPr/>
            <p:nvPr/>
          </p:nvSpPr>
          <p:spPr>
            <a:xfrm>
              <a:off x="0" y="0"/>
              <a:ext cx="12192000" cy="685800"/>
            </a:xfrm>
            <a:prstGeom prst="rect">
              <a:avLst/>
            </a:prstGeom>
            <a:solidFill>
              <a:srgbClr val="0E3F8C"/>
            </a:solidFill>
            <a:ln>
              <a:noFill/>
            </a:ln>
          </p:spPr>
        </p:sp>
        <p:sp>
          <p:nvSpPr>
            <p:cNvPr id="3" name="TextBox 3"/>
            <p:cNvSpPr txBox="1"/>
            <p:nvPr/>
          </p:nvSpPr>
          <p:spPr>
            <a:xfrm>
              <a:off x="374142" y="282892"/>
              <a:ext cx="3701311" cy="264033"/>
            </a:xfrm>
            <a:prstGeom prst="rect">
              <a:avLst/>
            </a:prstGeom>
            <a:noFill/>
            <a:ln>
              <a:noFill/>
            </a:ln>
          </p:spPr>
          <p:txBody>
            <a:bodyPr wrap="none" lIns="0" tIns="0" rIns="0" bIns="0" anchor="t" anchorCtr="0">
              <a:spAutoFit/>
            </a:bodyPr>
            <a:lstStyle/>
            <a:p>
              <a:pPr algn="l"/>
              <a:r>
                <a:rPr lang="zh-CN" sz="1350" b="1" dirty="0">
                  <a:solidFill>
                    <a:srgbClr val="FFFFFF"/>
                  </a:solidFill>
                  <a:latin typeface="Arial"/>
                  <a:ea typeface="Microsoft YaHei"/>
                  <a:cs typeface="Arial"/>
                </a:rPr>
                <a:t>3.7 综合课堂题 | Earth-System Challenge</a:t>
              </a:r>
            </a:p>
          </p:txBody>
        </p:sp>
        <p:sp>
          <p:nvSpPr>
            <p:cNvPr id="4" name="TextBox 4"/>
            <p:cNvSpPr txBox="1"/>
            <p:nvPr/>
          </p:nvSpPr>
          <p:spPr>
            <a:xfrm>
              <a:off x="10959998" y="299085"/>
              <a:ext cx="857098" cy="234696"/>
            </a:xfrm>
            <a:prstGeom prst="rect">
              <a:avLst/>
            </a:prstGeom>
            <a:noFill/>
            <a:ln>
              <a:noFill/>
            </a:ln>
          </p:spPr>
          <p:txBody>
            <a:bodyPr wrap="none" lIns="0" tIns="0" rIns="0" bIns="0" anchor="t" anchorCtr="0">
              <a:spAutoFit/>
            </a:bodyPr>
            <a:lstStyle/>
            <a:p>
              <a:pPr algn="r"/>
              <a:r>
                <a:rPr lang="en-US" sz="1200" dirty="0">
                  <a:solidFill>
                    <a:srgbClr val="C7D7F2"/>
                  </a:solidFill>
                  <a:latin typeface="Arial"/>
                  <a:ea typeface="Arial"/>
                  <a:cs typeface="Arial"/>
                </a:rPr>
                <a:t>FEEDBACKS</a:t>
              </a:r>
            </a:p>
          </p:txBody>
        </p:sp>
      </p:grpSp>
      <p:grpSp>
        <p:nvGrpSpPr>
          <p:cNvPr id="8" name="Group 8"/>
          <p:cNvGrpSpPr/>
          <p:nvPr/>
        </p:nvGrpSpPr>
        <p:grpSpPr>
          <a:xfrm>
            <a:off x="381000" y="914400"/>
            <a:ext cx="6560439" cy="357093"/>
            <a:chOff x="381000" y="914400"/>
            <a:chExt cx="6560439" cy="357093"/>
          </a:xfrm>
        </p:grpSpPr>
        <p:sp>
          <p:nvSpPr>
            <p:cNvPr id="6" name="Rectangle 6"/>
            <p:cNvSpPr/>
            <p:nvPr/>
          </p:nvSpPr>
          <p:spPr>
            <a:xfrm>
              <a:off x="381000" y="914400"/>
              <a:ext cx="57150" cy="266700"/>
            </a:xfrm>
            <a:prstGeom prst="roundRect">
              <a:avLst>
                <a:gd name="adj" fmla="val 50000"/>
              </a:avLst>
            </a:prstGeom>
            <a:solidFill>
              <a:srgbClr val="1E4FA8"/>
            </a:solidFill>
            <a:ln>
              <a:noFill/>
            </a:ln>
          </p:spPr>
        </p:sp>
        <p:sp>
          <p:nvSpPr>
            <p:cNvPr id="7" name="TextBox 7"/>
            <p:cNvSpPr txBox="1"/>
            <p:nvPr/>
          </p:nvSpPr>
          <p:spPr>
            <a:xfrm>
              <a:off x="544449" y="963454"/>
              <a:ext cx="6396990" cy="308039"/>
            </a:xfrm>
            <a:prstGeom prst="rect">
              <a:avLst/>
            </a:prstGeom>
            <a:noFill/>
            <a:ln>
              <a:noFill/>
            </a:ln>
          </p:spPr>
          <p:txBody>
            <a:bodyPr wrap="none" lIns="0" tIns="0" rIns="0" bIns="0" anchor="t" anchorCtr="0">
              <a:spAutoFit/>
            </a:bodyPr>
            <a:lstStyle/>
            <a:p>
              <a:pPr algn="l"/>
              <a:r>
                <a:rPr lang="zh-CN" sz="1580" b="1" dirty="0">
                  <a:solidFill>
                    <a:srgbClr val="0E3F8C"/>
                  </a:solidFill>
                  <a:latin typeface="Arial"/>
                  <a:ea typeface="Microsoft YaHei"/>
                  <a:cs typeface="Arial"/>
                </a:rPr>
                <a:t>从一次升温扰动出发，画出多条响应路径，判定反馈符号并比较快慢</a:t>
              </a:r>
            </a:p>
          </p:txBody>
        </p:sp>
      </p:grpSp>
      <p:grpSp>
        <p:nvGrpSpPr>
          <p:cNvPr id="111" name="Group 111"/>
          <p:cNvGrpSpPr/>
          <p:nvPr/>
        </p:nvGrpSpPr>
        <p:grpSpPr>
          <a:xfrm>
            <a:off x="381000" y="1428750"/>
            <a:ext cx="11430000" cy="4686300"/>
            <a:chOff x="381000" y="1428750"/>
            <a:chExt cx="11430000" cy="4686300"/>
          </a:xfrm>
        </p:grpSpPr>
        <p:sp>
          <p:nvSpPr>
            <p:cNvPr id="9" name="Rectangle 9"/>
            <p:cNvSpPr/>
            <p:nvPr/>
          </p:nvSpPr>
          <p:spPr>
            <a:xfrm>
              <a:off x="381000" y="1428750"/>
              <a:ext cx="11430000" cy="4686300"/>
            </a:xfrm>
            <a:prstGeom prst="roundRect">
              <a:avLst>
                <a:gd name="adj" fmla="val 2439"/>
              </a:avLst>
            </a:prstGeom>
            <a:solidFill>
              <a:srgbClr val="F7F9FC"/>
            </a:solidFill>
            <a:ln w="9525">
              <a:solidFill>
                <a:srgbClr val="D6DCE5"/>
              </a:solidFill>
            </a:ln>
          </p:spPr>
        </p:sp>
        <p:grpSp>
          <p:nvGrpSpPr>
            <p:cNvPr id="16" name="Group 16"/>
            <p:cNvGrpSpPr/>
            <p:nvPr/>
          </p:nvGrpSpPr>
          <p:grpSpPr>
            <a:xfrm>
              <a:off x="2114550" y="2038350"/>
              <a:ext cx="7905750" cy="323850"/>
              <a:chOff x="2114550" y="2038350"/>
              <a:chExt cx="7905750" cy="323850"/>
            </a:xfrm>
          </p:grpSpPr>
          <p:sp>
            <p:nvSpPr>
              <p:cNvPr id="10" name="Line 10"/>
              <p:cNvSpPr/>
              <p:nvPr/>
            </p:nvSpPr>
            <p:spPr>
              <a:xfrm>
                <a:off x="2266950" y="2038350"/>
                <a:ext cx="3448050" cy="285750"/>
              </a:xfrm>
              <a:custGeom>
                <a:avLst/>
                <a:gdLst/>
                <a:ahLst/>
                <a:cxnLst/>
                <a:rect l="l" t="t" r="r" b="b"/>
                <a:pathLst>
                  <a:path w="3448050" h="285750">
                    <a:moveTo>
                      <a:pt x="3448050" y="0"/>
                    </a:moveTo>
                    <a:lnTo>
                      <a:pt x="0" y="285750"/>
                    </a:lnTo>
                  </a:path>
                </a:pathLst>
              </a:custGeom>
              <a:noFill/>
              <a:ln w="19050">
                <a:solidFill>
                  <a:srgbClr val="8FA3BD"/>
                </a:solidFill>
              </a:ln>
            </p:spPr>
          </p:sp>
          <p:sp>
            <p:nvSpPr>
              <p:cNvPr id="11" name="Polygon 11"/>
              <p:cNvSpPr/>
              <p:nvPr/>
            </p:nvSpPr>
            <p:spPr>
              <a:xfrm>
                <a:off x="2114550" y="2247900"/>
                <a:ext cx="171450" cy="114300"/>
              </a:xfrm>
              <a:custGeom>
                <a:avLst/>
                <a:gdLst/>
                <a:ahLst/>
                <a:cxnLst/>
                <a:rect l="l" t="t" r="r" b="b"/>
                <a:pathLst>
                  <a:path w="171450" h="114300">
                    <a:moveTo>
                      <a:pt x="76200" y="0"/>
                    </a:moveTo>
                    <a:lnTo>
                      <a:pt x="0" y="114300"/>
                    </a:lnTo>
                    <a:lnTo>
                      <a:pt x="171450" y="95250"/>
                    </a:lnTo>
                    <a:close/>
                  </a:path>
                </a:pathLst>
              </a:custGeom>
              <a:solidFill>
                <a:srgbClr val="8FA3BD"/>
              </a:solidFill>
              <a:ln>
                <a:noFill/>
              </a:ln>
            </p:spPr>
          </p:sp>
          <p:sp>
            <p:nvSpPr>
              <p:cNvPr id="12" name="Line 12"/>
              <p:cNvSpPr/>
              <p:nvPr/>
            </p:nvSpPr>
            <p:spPr>
              <a:xfrm>
                <a:off x="6096000" y="2038350"/>
                <a:ext cx="9525" cy="285750"/>
              </a:xfrm>
              <a:custGeom>
                <a:avLst/>
                <a:gdLst/>
                <a:ahLst/>
                <a:cxnLst/>
                <a:rect l="l" t="t" r="r" b="b"/>
                <a:pathLst>
                  <a:path w="9525" h="285750">
                    <a:moveTo>
                      <a:pt x="0" y="0"/>
                    </a:moveTo>
                    <a:lnTo>
                      <a:pt x="0" y="285750"/>
                    </a:lnTo>
                  </a:path>
                </a:pathLst>
              </a:custGeom>
              <a:noFill/>
              <a:ln w="19050">
                <a:solidFill>
                  <a:srgbClr val="8FA3BD"/>
                </a:solidFill>
              </a:ln>
            </p:spPr>
          </p:sp>
          <p:sp>
            <p:nvSpPr>
              <p:cNvPr id="13" name="Polygon 13"/>
              <p:cNvSpPr/>
              <p:nvPr/>
            </p:nvSpPr>
            <p:spPr>
              <a:xfrm>
                <a:off x="6029325" y="2247900"/>
                <a:ext cx="133350" cy="114300"/>
              </a:xfrm>
              <a:custGeom>
                <a:avLst/>
                <a:gdLst/>
                <a:ahLst/>
                <a:cxnLst/>
                <a:rect l="l" t="t" r="r" b="b"/>
                <a:pathLst>
                  <a:path w="133350" h="114300">
                    <a:moveTo>
                      <a:pt x="0" y="0"/>
                    </a:moveTo>
                    <a:lnTo>
                      <a:pt x="66675" y="114300"/>
                    </a:lnTo>
                    <a:lnTo>
                      <a:pt x="133350" y="0"/>
                    </a:lnTo>
                    <a:close/>
                  </a:path>
                </a:pathLst>
              </a:custGeom>
              <a:solidFill>
                <a:srgbClr val="8FA3BD"/>
              </a:solidFill>
              <a:ln>
                <a:noFill/>
              </a:ln>
            </p:spPr>
          </p:sp>
          <p:sp>
            <p:nvSpPr>
              <p:cNvPr id="14" name="Line 14"/>
              <p:cNvSpPr/>
              <p:nvPr/>
            </p:nvSpPr>
            <p:spPr>
              <a:xfrm>
                <a:off x="6477000" y="2038350"/>
                <a:ext cx="3448050" cy="285750"/>
              </a:xfrm>
              <a:custGeom>
                <a:avLst/>
                <a:gdLst/>
                <a:ahLst/>
                <a:cxnLst/>
                <a:rect l="l" t="t" r="r" b="b"/>
                <a:pathLst>
                  <a:path w="3448050" h="285750">
                    <a:moveTo>
                      <a:pt x="0" y="0"/>
                    </a:moveTo>
                    <a:lnTo>
                      <a:pt x="3448050" y="285750"/>
                    </a:lnTo>
                  </a:path>
                </a:pathLst>
              </a:custGeom>
              <a:noFill/>
              <a:ln w="19050">
                <a:solidFill>
                  <a:srgbClr val="8FA3BD"/>
                </a:solidFill>
              </a:ln>
            </p:spPr>
          </p:sp>
          <p:sp>
            <p:nvSpPr>
              <p:cNvPr id="15" name="Polygon 15"/>
              <p:cNvSpPr/>
              <p:nvPr/>
            </p:nvSpPr>
            <p:spPr>
              <a:xfrm>
                <a:off x="9848850" y="2247900"/>
                <a:ext cx="171450" cy="114300"/>
              </a:xfrm>
              <a:custGeom>
                <a:avLst/>
                <a:gdLst/>
                <a:ahLst/>
                <a:cxnLst/>
                <a:rect l="l" t="t" r="r" b="b"/>
                <a:pathLst>
                  <a:path w="171450" h="114300">
                    <a:moveTo>
                      <a:pt x="0" y="95250"/>
                    </a:moveTo>
                    <a:lnTo>
                      <a:pt x="171450" y="114300"/>
                    </a:lnTo>
                    <a:lnTo>
                      <a:pt x="95250" y="0"/>
                    </a:lnTo>
                    <a:close/>
                  </a:path>
                </a:pathLst>
              </a:custGeom>
              <a:solidFill>
                <a:srgbClr val="8FA3BD"/>
              </a:solidFill>
              <a:ln>
                <a:noFill/>
              </a:ln>
            </p:spPr>
          </p:sp>
        </p:grpSp>
        <p:grpSp>
          <p:nvGrpSpPr>
            <p:cNvPr id="20" name="Group 20"/>
            <p:cNvGrpSpPr/>
            <p:nvPr/>
          </p:nvGrpSpPr>
          <p:grpSpPr>
            <a:xfrm>
              <a:off x="4667250" y="1504950"/>
              <a:ext cx="2857500" cy="533400"/>
              <a:chOff x="4667250" y="1504950"/>
              <a:chExt cx="2857500" cy="533400"/>
            </a:xfrm>
          </p:grpSpPr>
          <p:sp>
            <p:nvSpPr>
              <p:cNvPr id="17" name="Rectangle 17"/>
              <p:cNvSpPr/>
              <p:nvPr/>
            </p:nvSpPr>
            <p:spPr>
              <a:xfrm>
                <a:off x="4667250" y="1504950"/>
                <a:ext cx="2857500" cy="533400"/>
              </a:xfrm>
              <a:prstGeom prst="roundRect">
                <a:avLst>
                  <a:gd name="adj" fmla="val 21429"/>
                </a:avLst>
              </a:prstGeom>
              <a:solidFill>
                <a:srgbClr val="FDF4EF"/>
              </a:solidFill>
              <a:ln w="14288">
                <a:solidFill>
                  <a:srgbClr val="F0CFC2"/>
                </a:solidFill>
              </a:ln>
            </p:spPr>
          </p:sp>
          <p:sp>
            <p:nvSpPr>
              <p:cNvPr id="18" name="TextBox 18"/>
              <p:cNvSpPr txBox="1"/>
              <p:nvPr/>
            </p:nvSpPr>
            <p:spPr>
              <a:xfrm>
                <a:off x="5009793" y="1612106"/>
                <a:ext cx="2172415" cy="220028"/>
              </a:xfrm>
              <a:prstGeom prst="rect">
                <a:avLst/>
              </a:prstGeom>
              <a:noFill/>
              <a:ln>
                <a:noFill/>
              </a:ln>
            </p:spPr>
            <p:txBody>
              <a:bodyPr wrap="none" lIns="0" tIns="0" rIns="0" bIns="0" anchor="t" anchorCtr="0">
                <a:spAutoFit/>
              </a:bodyPr>
              <a:lstStyle/>
              <a:p>
                <a:pPr algn="ctr"/>
                <a:r>
                  <a:rPr lang="zh-CN" sz="1120" b="1" dirty="0">
                    <a:solidFill>
                      <a:srgbClr val="C2410C"/>
                    </a:solidFill>
                    <a:latin typeface="Arial"/>
                    <a:ea typeface="Microsoft YaHei"/>
                    <a:cs typeface="Arial"/>
                  </a:rPr>
                  <a:t>初始扰动 Initial perturbation</a:t>
                </a:r>
              </a:p>
            </p:txBody>
          </p:sp>
          <p:sp>
            <p:nvSpPr>
              <p:cNvPr id="19" name="TextBox 19"/>
              <p:cNvSpPr txBox="1"/>
              <p:nvPr/>
            </p:nvSpPr>
            <p:spPr>
              <a:xfrm>
                <a:off x="5006179" y="1837849"/>
                <a:ext cx="2179642" cy="190690"/>
              </a:xfrm>
              <a:prstGeom prst="rect">
                <a:avLst/>
              </a:prstGeom>
              <a:noFill/>
              <a:ln>
                <a:noFill/>
              </a:ln>
            </p:spPr>
            <p:txBody>
              <a:bodyPr wrap="none" lIns="0" tIns="0" rIns="0" bIns="0" anchor="t" anchorCtr="0">
                <a:spAutoFit/>
              </a:bodyPr>
              <a:lstStyle/>
              <a:p>
                <a:pPr algn="ctr"/>
                <a:r>
                  <a:rPr lang="zh-CN" sz="980" dirty="0">
                    <a:solidFill>
                      <a:srgbClr val="1A2230"/>
                    </a:solidFill>
                    <a:latin typeface="Arial"/>
                    <a:ea typeface="Microsoft YaHei"/>
                    <a:cs typeface="Arial"/>
                  </a:rPr>
                  <a:t>温度升高 Temperature increases ↑</a:t>
                </a:r>
              </a:p>
            </p:txBody>
          </p:sp>
        </p:grpSp>
        <p:grpSp>
          <p:nvGrpSpPr>
            <p:cNvPr id="44" name="Group 44"/>
            <p:cNvGrpSpPr/>
            <p:nvPr/>
          </p:nvGrpSpPr>
          <p:grpSpPr>
            <a:xfrm>
              <a:off x="381000" y="2343150"/>
              <a:ext cx="3619500" cy="2876550"/>
              <a:chOff x="381000" y="2343150"/>
              <a:chExt cx="3619500" cy="2876550"/>
            </a:xfrm>
          </p:grpSpPr>
          <p:sp>
            <p:nvSpPr>
              <p:cNvPr id="21" name="Rectangle 21"/>
              <p:cNvSpPr/>
              <p:nvPr/>
            </p:nvSpPr>
            <p:spPr>
              <a:xfrm>
                <a:off x="381000" y="2343150"/>
                <a:ext cx="3619500" cy="2876550"/>
              </a:xfrm>
              <a:prstGeom prst="roundRect">
                <a:avLst>
                  <a:gd name="adj" fmla="val 3974"/>
                </a:avLst>
              </a:prstGeom>
              <a:solidFill>
                <a:srgbClr val="FFFFFF"/>
              </a:solidFill>
              <a:ln w="14288">
                <a:solidFill>
                  <a:srgbClr val="D6DCE5"/>
                </a:solidFill>
              </a:ln>
            </p:spPr>
          </p:sp>
          <p:sp>
            <p:nvSpPr>
              <p:cNvPr id="22" name="TextBox 22"/>
              <p:cNvSpPr txBox="1"/>
              <p:nvPr/>
            </p:nvSpPr>
            <p:spPr>
              <a:xfrm>
                <a:off x="566166" y="2477452"/>
                <a:ext cx="1342114" cy="205359"/>
              </a:xfrm>
              <a:prstGeom prst="rect">
                <a:avLst/>
              </a:prstGeom>
              <a:noFill/>
              <a:ln>
                <a:noFill/>
              </a:ln>
            </p:spPr>
            <p:txBody>
              <a:bodyPr wrap="none" lIns="0" tIns="0" rIns="0" bIns="0" anchor="t" anchorCtr="0">
                <a:spAutoFit/>
              </a:bodyPr>
              <a:lstStyle/>
              <a:p>
                <a:pPr algn="l"/>
                <a:r>
                  <a:rPr lang="zh-CN" sz="1050" b="1" dirty="0">
                    <a:solidFill>
                      <a:srgbClr val="0E3F8C"/>
                    </a:solidFill>
                    <a:latin typeface="Arial"/>
                    <a:ea typeface="Microsoft YaHei"/>
                    <a:cs typeface="Arial"/>
                  </a:rPr>
                  <a:t>路径 A · Pathway A</a:t>
                </a:r>
              </a:p>
            </p:txBody>
          </p:sp>
          <p:sp>
            <p:nvSpPr>
              <p:cNvPr id="23" name="TextBox 23"/>
              <p:cNvSpPr txBox="1"/>
              <p:nvPr/>
            </p:nvSpPr>
            <p:spPr>
              <a:xfrm>
                <a:off x="566738" y="2692241"/>
                <a:ext cx="1334186" cy="161925"/>
              </a:xfrm>
              <a:prstGeom prst="rect">
                <a:avLst/>
              </a:prstGeom>
              <a:noFill/>
              <a:ln>
                <a:noFill/>
              </a:ln>
            </p:spPr>
            <p:txBody>
              <a:bodyPr wrap="none" lIns="0" tIns="0" rIns="0" bIns="0" anchor="t" anchorCtr="0">
                <a:spAutoFit/>
              </a:bodyPr>
              <a:lstStyle/>
              <a:p>
                <a:pPr algn="l"/>
                <a:r>
                  <a:rPr lang="zh-CN" sz="820" dirty="0">
                    <a:solidFill>
                      <a:srgbClr val="4A5568"/>
                    </a:solidFill>
                    <a:latin typeface="Arial"/>
                    <a:ea typeface="Microsoft YaHei"/>
                    <a:cs typeface="Arial"/>
                  </a:rPr>
                  <a:t>补全环节，判定符号与速度</a:t>
                </a:r>
              </a:p>
            </p:txBody>
          </p:sp>
          <p:sp>
            <p:nvSpPr>
              <p:cNvPr id="24" name="Rectangle 24"/>
              <p:cNvSpPr/>
              <p:nvPr/>
            </p:nvSpPr>
            <p:spPr>
              <a:xfrm>
                <a:off x="571500" y="2876550"/>
                <a:ext cx="3238500" cy="419100"/>
              </a:xfrm>
              <a:prstGeom prst="roundRect">
                <a:avLst>
                  <a:gd name="adj" fmla="val 18182"/>
                </a:avLst>
              </a:prstGeom>
              <a:solidFill>
                <a:srgbClr val="FFFFFF"/>
              </a:solidFill>
              <a:ln w="14288">
                <a:solidFill>
                  <a:srgbClr val="8FA3BD"/>
                </a:solidFill>
                <a:custDash>
                  <a:ds d="400000" sp="266667"/>
                </a:custDash>
              </a:ln>
            </p:spPr>
          </p:sp>
          <p:sp>
            <p:nvSpPr>
              <p:cNvPr id="25" name="TextBox 25"/>
              <p:cNvSpPr txBox="1"/>
              <p:nvPr/>
            </p:nvSpPr>
            <p:spPr>
              <a:xfrm>
                <a:off x="1505001" y="3040618"/>
                <a:ext cx="1371498" cy="169069"/>
              </a:xfrm>
              <a:prstGeom prst="rect">
                <a:avLst/>
              </a:prstGeom>
              <a:noFill/>
              <a:ln>
                <a:noFill/>
              </a:ln>
            </p:spPr>
            <p:txBody>
              <a:bodyPr wrap="none" lIns="0" tIns="0" rIns="0" bIns="0" anchor="t" anchorCtr="0">
                <a:spAutoFit/>
              </a:bodyPr>
              <a:lstStyle/>
              <a:p>
                <a:pPr algn="ctr"/>
                <a:r>
                  <a:rPr lang="zh-CN" sz="860" dirty="0">
                    <a:solidFill>
                      <a:srgbClr val="8FA3BD"/>
                    </a:solidFill>
                    <a:latin typeface="Arial"/>
                    <a:ea typeface="Microsoft YaHei"/>
                    <a:cs typeface="Arial"/>
                  </a:rPr>
                  <a:t>环节①（课堂填写）Step ①</a:t>
                </a:r>
              </a:p>
            </p:txBody>
          </p:sp>
          <p:sp>
            <p:nvSpPr>
              <p:cNvPr id="26" name="Line 26"/>
              <p:cNvSpPr/>
              <p:nvPr/>
            </p:nvSpPr>
            <p:spPr>
              <a:xfrm>
                <a:off x="2190750" y="3314700"/>
                <a:ext cx="9525" cy="133350"/>
              </a:xfrm>
              <a:custGeom>
                <a:avLst/>
                <a:gdLst/>
                <a:ahLst/>
                <a:cxnLst/>
                <a:rect l="l" t="t" r="r" b="b"/>
                <a:pathLst>
                  <a:path w="9525" h="133350">
                    <a:moveTo>
                      <a:pt x="0" y="0"/>
                    </a:moveTo>
                    <a:lnTo>
                      <a:pt x="0" y="133350"/>
                    </a:lnTo>
                  </a:path>
                </a:pathLst>
              </a:custGeom>
              <a:noFill/>
              <a:ln w="19050">
                <a:solidFill>
                  <a:srgbClr val="8FA3BD"/>
                </a:solidFill>
              </a:ln>
            </p:spPr>
          </p:sp>
          <p:sp>
            <p:nvSpPr>
              <p:cNvPr id="27" name="Polygon 27"/>
              <p:cNvSpPr/>
              <p:nvPr/>
            </p:nvSpPr>
            <p:spPr>
              <a:xfrm>
                <a:off x="2133600" y="3409950"/>
                <a:ext cx="114300" cy="76200"/>
              </a:xfrm>
              <a:custGeom>
                <a:avLst/>
                <a:gdLst/>
                <a:ahLst/>
                <a:cxnLst/>
                <a:rect l="l" t="t" r="r" b="b"/>
                <a:pathLst>
                  <a:path w="114300" h="76200">
                    <a:moveTo>
                      <a:pt x="0" y="0"/>
                    </a:moveTo>
                    <a:lnTo>
                      <a:pt x="57150" y="76200"/>
                    </a:lnTo>
                    <a:lnTo>
                      <a:pt x="114300" y="0"/>
                    </a:lnTo>
                    <a:close/>
                  </a:path>
                </a:pathLst>
              </a:custGeom>
              <a:solidFill>
                <a:srgbClr val="8FA3BD"/>
              </a:solidFill>
              <a:ln>
                <a:noFill/>
              </a:ln>
            </p:spPr>
          </p:sp>
          <p:sp>
            <p:nvSpPr>
              <p:cNvPr id="28" name="Rectangle 28"/>
              <p:cNvSpPr/>
              <p:nvPr/>
            </p:nvSpPr>
            <p:spPr>
              <a:xfrm>
                <a:off x="571500" y="3467100"/>
                <a:ext cx="3238500" cy="419100"/>
              </a:xfrm>
              <a:prstGeom prst="roundRect">
                <a:avLst>
                  <a:gd name="adj" fmla="val 18182"/>
                </a:avLst>
              </a:prstGeom>
              <a:solidFill>
                <a:srgbClr val="FFFFFF"/>
              </a:solidFill>
              <a:ln w="14288">
                <a:solidFill>
                  <a:srgbClr val="8FA3BD"/>
                </a:solidFill>
                <a:custDash>
                  <a:ds d="400000" sp="266667"/>
                </a:custDash>
              </a:ln>
            </p:spPr>
          </p:sp>
          <p:sp>
            <p:nvSpPr>
              <p:cNvPr id="29" name="TextBox 29"/>
              <p:cNvSpPr txBox="1"/>
              <p:nvPr/>
            </p:nvSpPr>
            <p:spPr>
              <a:xfrm>
                <a:off x="1505001" y="3631168"/>
                <a:ext cx="1371498" cy="169069"/>
              </a:xfrm>
              <a:prstGeom prst="rect">
                <a:avLst/>
              </a:prstGeom>
              <a:noFill/>
              <a:ln>
                <a:noFill/>
              </a:ln>
            </p:spPr>
            <p:txBody>
              <a:bodyPr wrap="none" lIns="0" tIns="0" rIns="0" bIns="0" anchor="t" anchorCtr="0">
                <a:spAutoFit/>
              </a:bodyPr>
              <a:lstStyle/>
              <a:p>
                <a:pPr algn="ctr"/>
                <a:r>
                  <a:rPr lang="zh-CN" sz="860" dirty="0">
                    <a:solidFill>
                      <a:srgbClr val="8FA3BD"/>
                    </a:solidFill>
                    <a:latin typeface="Arial"/>
                    <a:ea typeface="Microsoft YaHei"/>
                    <a:cs typeface="Arial"/>
                  </a:rPr>
                  <a:t>环节②（课堂填写）Step ②</a:t>
                </a:r>
              </a:p>
            </p:txBody>
          </p:sp>
          <p:sp>
            <p:nvSpPr>
              <p:cNvPr id="30" name="Line 30"/>
              <p:cNvSpPr/>
              <p:nvPr/>
            </p:nvSpPr>
            <p:spPr>
              <a:xfrm>
                <a:off x="2190750" y="3905250"/>
                <a:ext cx="9525" cy="133350"/>
              </a:xfrm>
              <a:custGeom>
                <a:avLst/>
                <a:gdLst/>
                <a:ahLst/>
                <a:cxnLst/>
                <a:rect l="l" t="t" r="r" b="b"/>
                <a:pathLst>
                  <a:path w="9525" h="133350">
                    <a:moveTo>
                      <a:pt x="0" y="0"/>
                    </a:moveTo>
                    <a:lnTo>
                      <a:pt x="0" y="133350"/>
                    </a:lnTo>
                  </a:path>
                </a:pathLst>
              </a:custGeom>
              <a:noFill/>
              <a:ln w="19050">
                <a:solidFill>
                  <a:srgbClr val="8FA3BD"/>
                </a:solidFill>
              </a:ln>
            </p:spPr>
          </p:sp>
          <p:sp>
            <p:nvSpPr>
              <p:cNvPr id="31" name="Polygon 31"/>
              <p:cNvSpPr/>
              <p:nvPr/>
            </p:nvSpPr>
            <p:spPr>
              <a:xfrm>
                <a:off x="2133600" y="4000500"/>
                <a:ext cx="114300" cy="76200"/>
              </a:xfrm>
              <a:custGeom>
                <a:avLst/>
                <a:gdLst/>
                <a:ahLst/>
                <a:cxnLst/>
                <a:rect l="l" t="t" r="r" b="b"/>
                <a:pathLst>
                  <a:path w="114300" h="76200">
                    <a:moveTo>
                      <a:pt x="0" y="0"/>
                    </a:moveTo>
                    <a:lnTo>
                      <a:pt x="57150" y="76200"/>
                    </a:lnTo>
                    <a:lnTo>
                      <a:pt x="114300" y="0"/>
                    </a:lnTo>
                    <a:close/>
                  </a:path>
                </a:pathLst>
              </a:custGeom>
              <a:solidFill>
                <a:srgbClr val="8FA3BD"/>
              </a:solidFill>
              <a:ln>
                <a:noFill/>
              </a:ln>
            </p:spPr>
          </p:sp>
          <p:sp>
            <p:nvSpPr>
              <p:cNvPr id="32" name="Rectangle 32"/>
              <p:cNvSpPr/>
              <p:nvPr/>
            </p:nvSpPr>
            <p:spPr>
              <a:xfrm>
                <a:off x="571500" y="4057650"/>
                <a:ext cx="3238500" cy="400050"/>
              </a:xfrm>
              <a:prstGeom prst="roundRect">
                <a:avLst>
                  <a:gd name="adj" fmla="val 19048"/>
                </a:avLst>
              </a:prstGeom>
              <a:solidFill>
                <a:srgbClr val="F0F5FC"/>
              </a:solidFill>
              <a:ln w="9525">
                <a:solidFill>
                  <a:srgbClr val="B8C7DC"/>
                </a:solidFill>
              </a:ln>
            </p:spPr>
          </p:sp>
          <p:sp>
            <p:nvSpPr>
              <p:cNvPr id="33" name="TextBox 33"/>
              <p:cNvSpPr txBox="1"/>
              <p:nvPr/>
            </p:nvSpPr>
            <p:spPr>
              <a:xfrm>
                <a:off x="1309006" y="4212193"/>
                <a:ext cx="1763489" cy="169069"/>
              </a:xfrm>
              <a:prstGeom prst="rect">
                <a:avLst/>
              </a:prstGeom>
              <a:noFill/>
              <a:ln>
                <a:noFill/>
              </a:ln>
            </p:spPr>
            <p:txBody>
              <a:bodyPr wrap="none" lIns="0" tIns="0" rIns="0" bIns="0" anchor="t" anchorCtr="0">
                <a:spAutoFit/>
              </a:bodyPr>
              <a:lstStyle/>
              <a:p>
                <a:pPr algn="ctr"/>
                <a:r>
                  <a:rPr lang="zh-CN" sz="860" dirty="0">
                    <a:solidFill>
                      <a:srgbClr val="1A2230"/>
                    </a:solidFill>
                    <a:latin typeface="Arial"/>
                    <a:ea typeface="Microsoft YaHei"/>
                    <a:cs typeface="Arial"/>
                  </a:rPr>
                  <a:t>最终作用：放大 / 抑制初始变化？</a:t>
                </a:r>
              </a:p>
            </p:txBody>
          </p:sp>
          <p:sp>
            <p:nvSpPr>
              <p:cNvPr id="34" name="TextBox 34"/>
              <p:cNvSpPr txBox="1"/>
              <p:nvPr/>
            </p:nvSpPr>
            <p:spPr>
              <a:xfrm>
                <a:off x="566738" y="4612243"/>
                <a:ext cx="860758" cy="169069"/>
              </a:xfrm>
              <a:prstGeom prst="rect">
                <a:avLst/>
              </a:prstGeom>
              <a:noFill/>
              <a:ln>
                <a:noFill/>
              </a:ln>
            </p:spPr>
            <p:txBody>
              <a:bodyPr wrap="none" lIns="0" tIns="0" rIns="0" bIns="0" anchor="t" anchorCtr="0">
                <a:spAutoFit/>
              </a:bodyPr>
              <a:lstStyle/>
              <a:p>
                <a:pPr algn="l"/>
                <a:r>
                  <a:rPr lang="zh-CN" sz="860" dirty="0">
                    <a:solidFill>
                      <a:srgbClr val="1A2230"/>
                    </a:solidFill>
                    <a:latin typeface="Arial"/>
                    <a:ea typeface="Microsoft YaHei"/>
                    <a:cs typeface="Arial"/>
                  </a:rPr>
                  <a:t>反馈符号 Sign：</a:t>
                </a:r>
              </a:p>
            </p:txBody>
          </p:sp>
          <p:sp>
            <p:nvSpPr>
              <p:cNvPr id="35" name="Rectangle 35"/>
              <p:cNvSpPr/>
              <p:nvPr/>
            </p:nvSpPr>
            <p:spPr>
              <a:xfrm>
                <a:off x="1428750" y="4610100"/>
                <a:ext cx="114300" cy="114300"/>
              </a:xfrm>
              <a:prstGeom prst="roundRect">
                <a:avLst>
                  <a:gd name="adj" fmla="val 16667"/>
                </a:avLst>
              </a:prstGeom>
              <a:solidFill>
                <a:srgbClr val="FFFFFF"/>
              </a:solidFill>
              <a:ln w="9525">
                <a:solidFill>
                  <a:srgbClr val="4A5568"/>
                </a:solidFill>
              </a:ln>
            </p:spPr>
          </p:sp>
          <p:sp>
            <p:nvSpPr>
              <p:cNvPr id="36" name="TextBox 36"/>
              <p:cNvSpPr txBox="1"/>
              <p:nvPr/>
            </p:nvSpPr>
            <p:spPr>
              <a:xfrm>
                <a:off x="1595438" y="4612243"/>
                <a:ext cx="223705" cy="169069"/>
              </a:xfrm>
              <a:prstGeom prst="rect">
                <a:avLst/>
              </a:prstGeom>
              <a:noFill/>
              <a:ln>
                <a:noFill/>
              </a:ln>
            </p:spPr>
            <p:txBody>
              <a:bodyPr wrap="none" lIns="0" tIns="0" rIns="0" bIns="0" anchor="t" anchorCtr="0">
                <a:spAutoFit/>
              </a:bodyPr>
              <a:lstStyle/>
              <a:p>
                <a:pPr algn="l"/>
                <a:r>
                  <a:rPr lang="zh-CN" sz="860" dirty="0">
                    <a:solidFill>
                      <a:srgbClr val="1A2230"/>
                    </a:solidFill>
                    <a:latin typeface="Arial"/>
                    <a:ea typeface="Microsoft YaHei"/>
                    <a:cs typeface="Arial"/>
                  </a:rPr>
                  <a:t>正 +</a:t>
                </a:r>
              </a:p>
            </p:txBody>
          </p:sp>
          <p:sp>
            <p:nvSpPr>
              <p:cNvPr id="37" name="Rectangle 37"/>
              <p:cNvSpPr/>
              <p:nvPr/>
            </p:nvSpPr>
            <p:spPr>
              <a:xfrm>
                <a:off x="2038350" y="4610100"/>
                <a:ext cx="114300" cy="114300"/>
              </a:xfrm>
              <a:prstGeom prst="roundRect">
                <a:avLst>
                  <a:gd name="adj" fmla="val 16667"/>
                </a:avLst>
              </a:prstGeom>
              <a:solidFill>
                <a:srgbClr val="FFFFFF"/>
              </a:solidFill>
              <a:ln w="9525">
                <a:solidFill>
                  <a:srgbClr val="4A5568"/>
                </a:solidFill>
              </a:ln>
            </p:spPr>
          </p:sp>
          <p:sp>
            <p:nvSpPr>
              <p:cNvPr id="38" name="TextBox 38"/>
              <p:cNvSpPr txBox="1"/>
              <p:nvPr/>
            </p:nvSpPr>
            <p:spPr>
              <a:xfrm>
                <a:off x="2205038" y="4612243"/>
                <a:ext cx="223705" cy="169069"/>
              </a:xfrm>
              <a:prstGeom prst="rect">
                <a:avLst/>
              </a:prstGeom>
              <a:noFill/>
              <a:ln>
                <a:noFill/>
              </a:ln>
            </p:spPr>
            <p:txBody>
              <a:bodyPr wrap="none" lIns="0" tIns="0" rIns="0" bIns="0" anchor="t" anchorCtr="0">
                <a:spAutoFit/>
              </a:bodyPr>
              <a:lstStyle/>
              <a:p>
                <a:pPr algn="l"/>
                <a:r>
                  <a:rPr lang="zh-CN" sz="860" dirty="0">
                    <a:solidFill>
                      <a:srgbClr val="1A2230"/>
                    </a:solidFill>
                    <a:latin typeface="Arial"/>
                    <a:ea typeface="Microsoft YaHei"/>
                    <a:cs typeface="Arial"/>
                  </a:rPr>
                  <a:t>负 −</a:t>
                </a:r>
              </a:p>
            </p:txBody>
          </p:sp>
          <p:sp>
            <p:nvSpPr>
              <p:cNvPr id="39" name="TextBox 39"/>
              <p:cNvSpPr txBox="1"/>
              <p:nvPr/>
            </p:nvSpPr>
            <p:spPr>
              <a:xfrm>
                <a:off x="566738" y="4897993"/>
                <a:ext cx="952050" cy="169069"/>
              </a:xfrm>
              <a:prstGeom prst="rect">
                <a:avLst/>
              </a:prstGeom>
              <a:noFill/>
              <a:ln>
                <a:noFill/>
              </a:ln>
            </p:spPr>
            <p:txBody>
              <a:bodyPr wrap="none" lIns="0" tIns="0" rIns="0" bIns="0" anchor="t" anchorCtr="0">
                <a:spAutoFit/>
              </a:bodyPr>
              <a:lstStyle/>
              <a:p>
                <a:pPr algn="l"/>
                <a:r>
                  <a:rPr lang="zh-CN" sz="860" dirty="0">
                    <a:solidFill>
                      <a:srgbClr val="1A2230"/>
                    </a:solidFill>
                    <a:latin typeface="Arial"/>
                    <a:ea typeface="Microsoft YaHei"/>
                    <a:cs typeface="Arial"/>
                  </a:rPr>
                  <a:t>响应速度 Speed：</a:t>
                </a:r>
              </a:p>
            </p:txBody>
          </p:sp>
          <p:sp>
            <p:nvSpPr>
              <p:cNvPr id="40" name="Rectangle 40"/>
              <p:cNvSpPr/>
              <p:nvPr/>
            </p:nvSpPr>
            <p:spPr>
              <a:xfrm>
                <a:off x="1428750" y="4895850"/>
                <a:ext cx="114300" cy="114300"/>
              </a:xfrm>
              <a:prstGeom prst="roundRect">
                <a:avLst>
                  <a:gd name="adj" fmla="val 16667"/>
                </a:avLst>
              </a:prstGeom>
              <a:solidFill>
                <a:srgbClr val="FFFFFF"/>
              </a:solidFill>
              <a:ln w="9525">
                <a:solidFill>
                  <a:srgbClr val="4A5568"/>
                </a:solidFill>
              </a:ln>
            </p:spPr>
          </p:sp>
          <p:sp>
            <p:nvSpPr>
              <p:cNvPr id="41" name="TextBox 41"/>
              <p:cNvSpPr txBox="1"/>
              <p:nvPr/>
            </p:nvSpPr>
            <p:spPr>
              <a:xfrm>
                <a:off x="1595438" y="4897993"/>
                <a:ext cx="241071" cy="169069"/>
              </a:xfrm>
              <a:prstGeom prst="rect">
                <a:avLst/>
              </a:prstGeom>
              <a:noFill/>
              <a:ln>
                <a:noFill/>
              </a:ln>
            </p:spPr>
            <p:txBody>
              <a:bodyPr wrap="none" lIns="0" tIns="0" rIns="0" bIns="0" anchor="t" anchorCtr="0">
                <a:spAutoFit/>
              </a:bodyPr>
              <a:lstStyle/>
              <a:p>
                <a:pPr algn="l"/>
                <a:r>
                  <a:rPr lang="zh-CN" sz="860" dirty="0">
                    <a:solidFill>
                      <a:srgbClr val="1A2230"/>
                    </a:solidFill>
                    <a:latin typeface="Arial"/>
                    <a:ea typeface="Microsoft YaHei"/>
                    <a:cs typeface="Arial"/>
                  </a:rPr>
                  <a:t>较快</a:t>
                </a:r>
              </a:p>
            </p:txBody>
          </p:sp>
          <p:sp>
            <p:nvSpPr>
              <p:cNvPr id="42" name="Rectangle 42"/>
              <p:cNvSpPr/>
              <p:nvPr/>
            </p:nvSpPr>
            <p:spPr>
              <a:xfrm>
                <a:off x="2038350" y="4895850"/>
                <a:ext cx="114300" cy="114300"/>
              </a:xfrm>
              <a:prstGeom prst="roundRect">
                <a:avLst>
                  <a:gd name="adj" fmla="val 16667"/>
                </a:avLst>
              </a:prstGeom>
              <a:solidFill>
                <a:srgbClr val="FFFFFF"/>
              </a:solidFill>
              <a:ln w="9525">
                <a:solidFill>
                  <a:srgbClr val="4A5568"/>
                </a:solidFill>
              </a:ln>
            </p:spPr>
          </p:sp>
          <p:sp>
            <p:nvSpPr>
              <p:cNvPr id="43" name="TextBox 43"/>
              <p:cNvSpPr txBox="1"/>
              <p:nvPr/>
            </p:nvSpPr>
            <p:spPr>
              <a:xfrm>
                <a:off x="2205038" y="4897993"/>
                <a:ext cx="241071" cy="169069"/>
              </a:xfrm>
              <a:prstGeom prst="rect">
                <a:avLst/>
              </a:prstGeom>
              <a:noFill/>
              <a:ln>
                <a:noFill/>
              </a:ln>
            </p:spPr>
            <p:txBody>
              <a:bodyPr wrap="none" lIns="0" tIns="0" rIns="0" bIns="0" anchor="t" anchorCtr="0">
                <a:spAutoFit/>
              </a:bodyPr>
              <a:lstStyle/>
              <a:p>
                <a:pPr algn="l"/>
                <a:r>
                  <a:rPr lang="zh-CN" sz="860" dirty="0">
                    <a:solidFill>
                      <a:srgbClr val="1A2230"/>
                    </a:solidFill>
                    <a:latin typeface="Arial"/>
                    <a:ea typeface="Microsoft YaHei"/>
                    <a:cs typeface="Arial"/>
                  </a:rPr>
                  <a:t>较慢</a:t>
                </a:r>
              </a:p>
            </p:txBody>
          </p:sp>
        </p:grpSp>
        <p:grpSp>
          <p:nvGrpSpPr>
            <p:cNvPr id="68" name="Group 68"/>
            <p:cNvGrpSpPr/>
            <p:nvPr/>
          </p:nvGrpSpPr>
          <p:grpSpPr>
            <a:xfrm>
              <a:off x="4286250" y="2343150"/>
              <a:ext cx="3619500" cy="2876550"/>
              <a:chOff x="4286250" y="2343150"/>
              <a:chExt cx="3619500" cy="2876550"/>
            </a:xfrm>
          </p:grpSpPr>
          <p:sp>
            <p:nvSpPr>
              <p:cNvPr id="45" name="Rectangle 45"/>
              <p:cNvSpPr/>
              <p:nvPr/>
            </p:nvSpPr>
            <p:spPr>
              <a:xfrm>
                <a:off x="4286250" y="2343150"/>
                <a:ext cx="3619500" cy="2876550"/>
              </a:xfrm>
              <a:prstGeom prst="roundRect">
                <a:avLst>
                  <a:gd name="adj" fmla="val 3974"/>
                </a:avLst>
              </a:prstGeom>
              <a:solidFill>
                <a:srgbClr val="FFFFFF"/>
              </a:solidFill>
              <a:ln w="14288">
                <a:solidFill>
                  <a:srgbClr val="D6DCE5"/>
                </a:solidFill>
              </a:ln>
            </p:spPr>
          </p:sp>
          <p:sp>
            <p:nvSpPr>
              <p:cNvPr id="46" name="TextBox 46"/>
              <p:cNvSpPr txBox="1"/>
              <p:nvPr/>
            </p:nvSpPr>
            <p:spPr>
              <a:xfrm>
                <a:off x="4471416" y="2477452"/>
                <a:ext cx="1342114" cy="205359"/>
              </a:xfrm>
              <a:prstGeom prst="rect">
                <a:avLst/>
              </a:prstGeom>
              <a:noFill/>
              <a:ln>
                <a:noFill/>
              </a:ln>
            </p:spPr>
            <p:txBody>
              <a:bodyPr wrap="none" lIns="0" tIns="0" rIns="0" bIns="0" anchor="t" anchorCtr="0">
                <a:spAutoFit/>
              </a:bodyPr>
              <a:lstStyle/>
              <a:p>
                <a:pPr algn="l"/>
                <a:r>
                  <a:rPr lang="zh-CN" sz="1050" b="1" dirty="0">
                    <a:solidFill>
                      <a:srgbClr val="0E3F8C"/>
                    </a:solidFill>
                    <a:latin typeface="Arial"/>
                    <a:ea typeface="Microsoft YaHei"/>
                    <a:cs typeface="Arial"/>
                  </a:rPr>
                  <a:t>路径 B · Pathway B</a:t>
                </a:r>
              </a:p>
            </p:txBody>
          </p:sp>
          <p:sp>
            <p:nvSpPr>
              <p:cNvPr id="47" name="TextBox 47"/>
              <p:cNvSpPr txBox="1"/>
              <p:nvPr/>
            </p:nvSpPr>
            <p:spPr>
              <a:xfrm>
                <a:off x="4471988" y="2692241"/>
                <a:ext cx="1334186" cy="161925"/>
              </a:xfrm>
              <a:prstGeom prst="rect">
                <a:avLst/>
              </a:prstGeom>
              <a:noFill/>
              <a:ln>
                <a:noFill/>
              </a:ln>
            </p:spPr>
            <p:txBody>
              <a:bodyPr wrap="none" lIns="0" tIns="0" rIns="0" bIns="0" anchor="t" anchorCtr="0">
                <a:spAutoFit/>
              </a:bodyPr>
              <a:lstStyle/>
              <a:p>
                <a:pPr algn="l"/>
                <a:r>
                  <a:rPr lang="zh-CN" sz="820" dirty="0">
                    <a:solidFill>
                      <a:srgbClr val="4A5568"/>
                    </a:solidFill>
                    <a:latin typeface="Arial"/>
                    <a:ea typeface="Microsoft YaHei"/>
                    <a:cs typeface="Arial"/>
                  </a:rPr>
                  <a:t>补全环节，判定符号与速度</a:t>
                </a:r>
              </a:p>
            </p:txBody>
          </p:sp>
          <p:sp>
            <p:nvSpPr>
              <p:cNvPr id="48" name="Rectangle 48"/>
              <p:cNvSpPr/>
              <p:nvPr/>
            </p:nvSpPr>
            <p:spPr>
              <a:xfrm>
                <a:off x="4476750" y="2876550"/>
                <a:ext cx="3238500" cy="419100"/>
              </a:xfrm>
              <a:prstGeom prst="roundRect">
                <a:avLst>
                  <a:gd name="adj" fmla="val 18182"/>
                </a:avLst>
              </a:prstGeom>
              <a:solidFill>
                <a:srgbClr val="FFFFFF"/>
              </a:solidFill>
              <a:ln w="14288">
                <a:solidFill>
                  <a:srgbClr val="8FA3BD"/>
                </a:solidFill>
                <a:custDash>
                  <a:ds d="400000" sp="266667"/>
                </a:custDash>
              </a:ln>
            </p:spPr>
          </p:sp>
          <p:sp>
            <p:nvSpPr>
              <p:cNvPr id="49" name="TextBox 49"/>
              <p:cNvSpPr txBox="1"/>
              <p:nvPr/>
            </p:nvSpPr>
            <p:spPr>
              <a:xfrm>
                <a:off x="5410251" y="3040618"/>
                <a:ext cx="1371498" cy="169069"/>
              </a:xfrm>
              <a:prstGeom prst="rect">
                <a:avLst/>
              </a:prstGeom>
              <a:noFill/>
              <a:ln>
                <a:noFill/>
              </a:ln>
            </p:spPr>
            <p:txBody>
              <a:bodyPr wrap="none" lIns="0" tIns="0" rIns="0" bIns="0" anchor="t" anchorCtr="0">
                <a:spAutoFit/>
              </a:bodyPr>
              <a:lstStyle/>
              <a:p>
                <a:pPr algn="ctr"/>
                <a:r>
                  <a:rPr lang="zh-CN" sz="860" dirty="0">
                    <a:solidFill>
                      <a:srgbClr val="8FA3BD"/>
                    </a:solidFill>
                    <a:latin typeface="Arial"/>
                    <a:ea typeface="Microsoft YaHei"/>
                    <a:cs typeface="Arial"/>
                  </a:rPr>
                  <a:t>环节①（课堂填写）Step ①</a:t>
                </a:r>
              </a:p>
            </p:txBody>
          </p:sp>
          <p:sp>
            <p:nvSpPr>
              <p:cNvPr id="50" name="Line 50"/>
              <p:cNvSpPr/>
              <p:nvPr/>
            </p:nvSpPr>
            <p:spPr>
              <a:xfrm>
                <a:off x="6096000" y="3314700"/>
                <a:ext cx="9525" cy="133350"/>
              </a:xfrm>
              <a:custGeom>
                <a:avLst/>
                <a:gdLst/>
                <a:ahLst/>
                <a:cxnLst/>
                <a:rect l="l" t="t" r="r" b="b"/>
                <a:pathLst>
                  <a:path w="9525" h="133350">
                    <a:moveTo>
                      <a:pt x="0" y="0"/>
                    </a:moveTo>
                    <a:lnTo>
                      <a:pt x="0" y="133350"/>
                    </a:lnTo>
                  </a:path>
                </a:pathLst>
              </a:custGeom>
              <a:noFill/>
              <a:ln w="19050">
                <a:solidFill>
                  <a:srgbClr val="8FA3BD"/>
                </a:solidFill>
              </a:ln>
            </p:spPr>
          </p:sp>
          <p:sp>
            <p:nvSpPr>
              <p:cNvPr id="51" name="Polygon 51"/>
              <p:cNvSpPr/>
              <p:nvPr/>
            </p:nvSpPr>
            <p:spPr>
              <a:xfrm>
                <a:off x="6038850" y="3409950"/>
                <a:ext cx="114300" cy="76200"/>
              </a:xfrm>
              <a:custGeom>
                <a:avLst/>
                <a:gdLst/>
                <a:ahLst/>
                <a:cxnLst/>
                <a:rect l="l" t="t" r="r" b="b"/>
                <a:pathLst>
                  <a:path w="114300" h="76200">
                    <a:moveTo>
                      <a:pt x="0" y="0"/>
                    </a:moveTo>
                    <a:lnTo>
                      <a:pt x="57150" y="76200"/>
                    </a:lnTo>
                    <a:lnTo>
                      <a:pt x="114300" y="0"/>
                    </a:lnTo>
                    <a:close/>
                  </a:path>
                </a:pathLst>
              </a:custGeom>
              <a:solidFill>
                <a:srgbClr val="8FA3BD"/>
              </a:solidFill>
              <a:ln>
                <a:noFill/>
              </a:ln>
            </p:spPr>
          </p:sp>
          <p:sp>
            <p:nvSpPr>
              <p:cNvPr id="52" name="Rectangle 52"/>
              <p:cNvSpPr/>
              <p:nvPr/>
            </p:nvSpPr>
            <p:spPr>
              <a:xfrm>
                <a:off x="4476750" y="3467100"/>
                <a:ext cx="3238500" cy="419100"/>
              </a:xfrm>
              <a:prstGeom prst="roundRect">
                <a:avLst>
                  <a:gd name="adj" fmla="val 18182"/>
                </a:avLst>
              </a:prstGeom>
              <a:solidFill>
                <a:srgbClr val="FFFFFF"/>
              </a:solidFill>
              <a:ln w="14288">
                <a:solidFill>
                  <a:srgbClr val="8FA3BD"/>
                </a:solidFill>
                <a:custDash>
                  <a:ds d="400000" sp="266667"/>
                </a:custDash>
              </a:ln>
            </p:spPr>
          </p:sp>
          <p:sp>
            <p:nvSpPr>
              <p:cNvPr id="53" name="TextBox 53"/>
              <p:cNvSpPr txBox="1"/>
              <p:nvPr/>
            </p:nvSpPr>
            <p:spPr>
              <a:xfrm>
                <a:off x="5410251" y="3631168"/>
                <a:ext cx="1371498" cy="169069"/>
              </a:xfrm>
              <a:prstGeom prst="rect">
                <a:avLst/>
              </a:prstGeom>
              <a:noFill/>
              <a:ln>
                <a:noFill/>
              </a:ln>
            </p:spPr>
            <p:txBody>
              <a:bodyPr wrap="none" lIns="0" tIns="0" rIns="0" bIns="0" anchor="t" anchorCtr="0">
                <a:spAutoFit/>
              </a:bodyPr>
              <a:lstStyle/>
              <a:p>
                <a:pPr algn="ctr"/>
                <a:r>
                  <a:rPr lang="zh-CN" sz="860" dirty="0">
                    <a:solidFill>
                      <a:srgbClr val="8FA3BD"/>
                    </a:solidFill>
                    <a:latin typeface="Arial"/>
                    <a:ea typeface="Microsoft YaHei"/>
                    <a:cs typeface="Arial"/>
                  </a:rPr>
                  <a:t>环节②（课堂填写）Step ②</a:t>
                </a:r>
              </a:p>
            </p:txBody>
          </p:sp>
          <p:sp>
            <p:nvSpPr>
              <p:cNvPr id="54" name="Line 54"/>
              <p:cNvSpPr/>
              <p:nvPr/>
            </p:nvSpPr>
            <p:spPr>
              <a:xfrm>
                <a:off x="6096000" y="3905250"/>
                <a:ext cx="9525" cy="133350"/>
              </a:xfrm>
              <a:custGeom>
                <a:avLst/>
                <a:gdLst/>
                <a:ahLst/>
                <a:cxnLst/>
                <a:rect l="l" t="t" r="r" b="b"/>
                <a:pathLst>
                  <a:path w="9525" h="133350">
                    <a:moveTo>
                      <a:pt x="0" y="0"/>
                    </a:moveTo>
                    <a:lnTo>
                      <a:pt x="0" y="133350"/>
                    </a:lnTo>
                  </a:path>
                </a:pathLst>
              </a:custGeom>
              <a:noFill/>
              <a:ln w="19050">
                <a:solidFill>
                  <a:srgbClr val="8FA3BD"/>
                </a:solidFill>
              </a:ln>
            </p:spPr>
          </p:sp>
          <p:sp>
            <p:nvSpPr>
              <p:cNvPr id="55" name="Polygon 55"/>
              <p:cNvSpPr/>
              <p:nvPr/>
            </p:nvSpPr>
            <p:spPr>
              <a:xfrm>
                <a:off x="6038850" y="4000500"/>
                <a:ext cx="114300" cy="76200"/>
              </a:xfrm>
              <a:custGeom>
                <a:avLst/>
                <a:gdLst/>
                <a:ahLst/>
                <a:cxnLst/>
                <a:rect l="l" t="t" r="r" b="b"/>
                <a:pathLst>
                  <a:path w="114300" h="76200">
                    <a:moveTo>
                      <a:pt x="0" y="0"/>
                    </a:moveTo>
                    <a:lnTo>
                      <a:pt x="57150" y="76200"/>
                    </a:lnTo>
                    <a:lnTo>
                      <a:pt x="114300" y="0"/>
                    </a:lnTo>
                    <a:close/>
                  </a:path>
                </a:pathLst>
              </a:custGeom>
              <a:solidFill>
                <a:srgbClr val="8FA3BD"/>
              </a:solidFill>
              <a:ln>
                <a:noFill/>
              </a:ln>
            </p:spPr>
          </p:sp>
          <p:sp>
            <p:nvSpPr>
              <p:cNvPr id="56" name="Rectangle 56"/>
              <p:cNvSpPr/>
              <p:nvPr/>
            </p:nvSpPr>
            <p:spPr>
              <a:xfrm>
                <a:off x="4476750" y="4057650"/>
                <a:ext cx="3238500" cy="400050"/>
              </a:xfrm>
              <a:prstGeom prst="roundRect">
                <a:avLst>
                  <a:gd name="adj" fmla="val 19048"/>
                </a:avLst>
              </a:prstGeom>
              <a:solidFill>
                <a:srgbClr val="F0F5FC"/>
              </a:solidFill>
              <a:ln w="9525">
                <a:solidFill>
                  <a:srgbClr val="B8C7DC"/>
                </a:solidFill>
              </a:ln>
            </p:spPr>
          </p:sp>
          <p:sp>
            <p:nvSpPr>
              <p:cNvPr id="57" name="TextBox 57"/>
              <p:cNvSpPr txBox="1"/>
              <p:nvPr/>
            </p:nvSpPr>
            <p:spPr>
              <a:xfrm>
                <a:off x="5214256" y="4212193"/>
                <a:ext cx="1763489" cy="169069"/>
              </a:xfrm>
              <a:prstGeom prst="rect">
                <a:avLst/>
              </a:prstGeom>
              <a:noFill/>
              <a:ln>
                <a:noFill/>
              </a:ln>
            </p:spPr>
            <p:txBody>
              <a:bodyPr wrap="none" lIns="0" tIns="0" rIns="0" bIns="0" anchor="t" anchorCtr="0">
                <a:spAutoFit/>
              </a:bodyPr>
              <a:lstStyle/>
              <a:p>
                <a:pPr algn="ctr"/>
                <a:r>
                  <a:rPr lang="zh-CN" sz="860" dirty="0">
                    <a:solidFill>
                      <a:srgbClr val="1A2230"/>
                    </a:solidFill>
                    <a:latin typeface="Arial"/>
                    <a:ea typeface="Microsoft YaHei"/>
                    <a:cs typeface="Arial"/>
                  </a:rPr>
                  <a:t>最终作用：放大 / 抑制初始变化？</a:t>
                </a:r>
              </a:p>
            </p:txBody>
          </p:sp>
          <p:sp>
            <p:nvSpPr>
              <p:cNvPr id="58" name="TextBox 58"/>
              <p:cNvSpPr txBox="1"/>
              <p:nvPr/>
            </p:nvSpPr>
            <p:spPr>
              <a:xfrm>
                <a:off x="4471988" y="4612243"/>
                <a:ext cx="860758" cy="169069"/>
              </a:xfrm>
              <a:prstGeom prst="rect">
                <a:avLst/>
              </a:prstGeom>
              <a:noFill/>
              <a:ln>
                <a:noFill/>
              </a:ln>
            </p:spPr>
            <p:txBody>
              <a:bodyPr wrap="none" lIns="0" tIns="0" rIns="0" bIns="0" anchor="t" anchorCtr="0">
                <a:spAutoFit/>
              </a:bodyPr>
              <a:lstStyle/>
              <a:p>
                <a:pPr algn="l"/>
                <a:r>
                  <a:rPr lang="zh-CN" sz="860" dirty="0">
                    <a:solidFill>
                      <a:srgbClr val="1A2230"/>
                    </a:solidFill>
                    <a:latin typeface="Arial"/>
                    <a:ea typeface="Microsoft YaHei"/>
                    <a:cs typeface="Arial"/>
                  </a:rPr>
                  <a:t>反馈符号 Sign：</a:t>
                </a:r>
              </a:p>
            </p:txBody>
          </p:sp>
          <p:sp>
            <p:nvSpPr>
              <p:cNvPr id="59" name="Rectangle 59"/>
              <p:cNvSpPr/>
              <p:nvPr/>
            </p:nvSpPr>
            <p:spPr>
              <a:xfrm>
                <a:off x="5334000" y="4610100"/>
                <a:ext cx="114300" cy="114300"/>
              </a:xfrm>
              <a:prstGeom prst="roundRect">
                <a:avLst>
                  <a:gd name="adj" fmla="val 16667"/>
                </a:avLst>
              </a:prstGeom>
              <a:solidFill>
                <a:srgbClr val="FFFFFF"/>
              </a:solidFill>
              <a:ln w="9525">
                <a:solidFill>
                  <a:srgbClr val="4A5568"/>
                </a:solidFill>
              </a:ln>
            </p:spPr>
          </p:sp>
          <p:sp>
            <p:nvSpPr>
              <p:cNvPr id="60" name="TextBox 60"/>
              <p:cNvSpPr txBox="1"/>
              <p:nvPr/>
            </p:nvSpPr>
            <p:spPr>
              <a:xfrm>
                <a:off x="5500688" y="4612243"/>
                <a:ext cx="223705" cy="169069"/>
              </a:xfrm>
              <a:prstGeom prst="rect">
                <a:avLst/>
              </a:prstGeom>
              <a:noFill/>
              <a:ln>
                <a:noFill/>
              </a:ln>
            </p:spPr>
            <p:txBody>
              <a:bodyPr wrap="none" lIns="0" tIns="0" rIns="0" bIns="0" anchor="t" anchorCtr="0">
                <a:spAutoFit/>
              </a:bodyPr>
              <a:lstStyle/>
              <a:p>
                <a:pPr algn="l"/>
                <a:r>
                  <a:rPr lang="zh-CN" sz="860" dirty="0">
                    <a:solidFill>
                      <a:srgbClr val="1A2230"/>
                    </a:solidFill>
                    <a:latin typeface="Arial"/>
                    <a:ea typeface="Microsoft YaHei"/>
                    <a:cs typeface="Arial"/>
                  </a:rPr>
                  <a:t>正 +</a:t>
                </a:r>
              </a:p>
            </p:txBody>
          </p:sp>
          <p:sp>
            <p:nvSpPr>
              <p:cNvPr id="61" name="Rectangle 61"/>
              <p:cNvSpPr/>
              <p:nvPr/>
            </p:nvSpPr>
            <p:spPr>
              <a:xfrm>
                <a:off x="5943600" y="4610100"/>
                <a:ext cx="114300" cy="114300"/>
              </a:xfrm>
              <a:prstGeom prst="roundRect">
                <a:avLst>
                  <a:gd name="adj" fmla="val 16667"/>
                </a:avLst>
              </a:prstGeom>
              <a:solidFill>
                <a:srgbClr val="FFFFFF"/>
              </a:solidFill>
              <a:ln w="9525">
                <a:solidFill>
                  <a:srgbClr val="4A5568"/>
                </a:solidFill>
              </a:ln>
            </p:spPr>
          </p:sp>
          <p:sp>
            <p:nvSpPr>
              <p:cNvPr id="62" name="TextBox 62"/>
              <p:cNvSpPr txBox="1"/>
              <p:nvPr/>
            </p:nvSpPr>
            <p:spPr>
              <a:xfrm>
                <a:off x="6110288" y="4612243"/>
                <a:ext cx="223705" cy="169069"/>
              </a:xfrm>
              <a:prstGeom prst="rect">
                <a:avLst/>
              </a:prstGeom>
              <a:noFill/>
              <a:ln>
                <a:noFill/>
              </a:ln>
            </p:spPr>
            <p:txBody>
              <a:bodyPr wrap="none" lIns="0" tIns="0" rIns="0" bIns="0" anchor="t" anchorCtr="0">
                <a:spAutoFit/>
              </a:bodyPr>
              <a:lstStyle/>
              <a:p>
                <a:pPr algn="l"/>
                <a:r>
                  <a:rPr lang="zh-CN" sz="860" dirty="0">
                    <a:solidFill>
                      <a:srgbClr val="1A2230"/>
                    </a:solidFill>
                    <a:latin typeface="Arial"/>
                    <a:ea typeface="Microsoft YaHei"/>
                    <a:cs typeface="Arial"/>
                  </a:rPr>
                  <a:t>负 −</a:t>
                </a:r>
              </a:p>
            </p:txBody>
          </p:sp>
          <p:sp>
            <p:nvSpPr>
              <p:cNvPr id="63" name="TextBox 63"/>
              <p:cNvSpPr txBox="1"/>
              <p:nvPr/>
            </p:nvSpPr>
            <p:spPr>
              <a:xfrm>
                <a:off x="4471988" y="4897993"/>
                <a:ext cx="952050" cy="169069"/>
              </a:xfrm>
              <a:prstGeom prst="rect">
                <a:avLst/>
              </a:prstGeom>
              <a:noFill/>
              <a:ln>
                <a:noFill/>
              </a:ln>
            </p:spPr>
            <p:txBody>
              <a:bodyPr wrap="none" lIns="0" tIns="0" rIns="0" bIns="0" anchor="t" anchorCtr="0">
                <a:spAutoFit/>
              </a:bodyPr>
              <a:lstStyle/>
              <a:p>
                <a:pPr algn="l"/>
                <a:r>
                  <a:rPr lang="zh-CN" sz="860" dirty="0">
                    <a:solidFill>
                      <a:srgbClr val="1A2230"/>
                    </a:solidFill>
                    <a:latin typeface="Arial"/>
                    <a:ea typeface="Microsoft YaHei"/>
                    <a:cs typeface="Arial"/>
                  </a:rPr>
                  <a:t>响应速度 Speed：</a:t>
                </a:r>
              </a:p>
            </p:txBody>
          </p:sp>
          <p:sp>
            <p:nvSpPr>
              <p:cNvPr id="64" name="Rectangle 64"/>
              <p:cNvSpPr/>
              <p:nvPr/>
            </p:nvSpPr>
            <p:spPr>
              <a:xfrm>
                <a:off x="5334000" y="4895850"/>
                <a:ext cx="114300" cy="114300"/>
              </a:xfrm>
              <a:prstGeom prst="roundRect">
                <a:avLst>
                  <a:gd name="adj" fmla="val 16667"/>
                </a:avLst>
              </a:prstGeom>
              <a:solidFill>
                <a:srgbClr val="FFFFFF"/>
              </a:solidFill>
              <a:ln w="9525">
                <a:solidFill>
                  <a:srgbClr val="4A5568"/>
                </a:solidFill>
              </a:ln>
            </p:spPr>
          </p:sp>
          <p:sp>
            <p:nvSpPr>
              <p:cNvPr id="65" name="TextBox 65"/>
              <p:cNvSpPr txBox="1"/>
              <p:nvPr/>
            </p:nvSpPr>
            <p:spPr>
              <a:xfrm>
                <a:off x="5500688" y="4897993"/>
                <a:ext cx="241071" cy="169069"/>
              </a:xfrm>
              <a:prstGeom prst="rect">
                <a:avLst/>
              </a:prstGeom>
              <a:noFill/>
              <a:ln>
                <a:noFill/>
              </a:ln>
            </p:spPr>
            <p:txBody>
              <a:bodyPr wrap="none" lIns="0" tIns="0" rIns="0" bIns="0" anchor="t" anchorCtr="0">
                <a:spAutoFit/>
              </a:bodyPr>
              <a:lstStyle/>
              <a:p>
                <a:pPr algn="l"/>
                <a:r>
                  <a:rPr lang="zh-CN" sz="860" dirty="0">
                    <a:solidFill>
                      <a:srgbClr val="1A2230"/>
                    </a:solidFill>
                    <a:latin typeface="Arial"/>
                    <a:ea typeface="Microsoft YaHei"/>
                    <a:cs typeface="Arial"/>
                  </a:rPr>
                  <a:t>较快</a:t>
                </a:r>
              </a:p>
            </p:txBody>
          </p:sp>
          <p:sp>
            <p:nvSpPr>
              <p:cNvPr id="66" name="Rectangle 66"/>
              <p:cNvSpPr/>
              <p:nvPr/>
            </p:nvSpPr>
            <p:spPr>
              <a:xfrm>
                <a:off x="5943600" y="4895850"/>
                <a:ext cx="114300" cy="114300"/>
              </a:xfrm>
              <a:prstGeom prst="roundRect">
                <a:avLst>
                  <a:gd name="adj" fmla="val 16667"/>
                </a:avLst>
              </a:prstGeom>
              <a:solidFill>
                <a:srgbClr val="FFFFFF"/>
              </a:solidFill>
              <a:ln w="9525">
                <a:solidFill>
                  <a:srgbClr val="4A5568"/>
                </a:solidFill>
              </a:ln>
            </p:spPr>
          </p:sp>
          <p:sp>
            <p:nvSpPr>
              <p:cNvPr id="67" name="TextBox 67"/>
              <p:cNvSpPr txBox="1"/>
              <p:nvPr/>
            </p:nvSpPr>
            <p:spPr>
              <a:xfrm>
                <a:off x="6110288" y="4897993"/>
                <a:ext cx="241071" cy="169069"/>
              </a:xfrm>
              <a:prstGeom prst="rect">
                <a:avLst/>
              </a:prstGeom>
              <a:noFill/>
              <a:ln>
                <a:noFill/>
              </a:ln>
            </p:spPr>
            <p:txBody>
              <a:bodyPr wrap="none" lIns="0" tIns="0" rIns="0" bIns="0" anchor="t" anchorCtr="0">
                <a:spAutoFit/>
              </a:bodyPr>
              <a:lstStyle/>
              <a:p>
                <a:pPr algn="l"/>
                <a:r>
                  <a:rPr lang="zh-CN" sz="860" dirty="0">
                    <a:solidFill>
                      <a:srgbClr val="1A2230"/>
                    </a:solidFill>
                    <a:latin typeface="Arial"/>
                    <a:ea typeface="Microsoft YaHei"/>
                    <a:cs typeface="Arial"/>
                  </a:rPr>
                  <a:t>较慢</a:t>
                </a:r>
              </a:p>
            </p:txBody>
          </p:sp>
        </p:grpSp>
        <p:grpSp>
          <p:nvGrpSpPr>
            <p:cNvPr id="92" name="Group 92"/>
            <p:cNvGrpSpPr/>
            <p:nvPr/>
          </p:nvGrpSpPr>
          <p:grpSpPr>
            <a:xfrm>
              <a:off x="8191500" y="2343150"/>
              <a:ext cx="3619500" cy="2876550"/>
              <a:chOff x="8191500" y="2343150"/>
              <a:chExt cx="3619500" cy="2876550"/>
            </a:xfrm>
          </p:grpSpPr>
          <p:sp>
            <p:nvSpPr>
              <p:cNvPr id="69" name="Rectangle 69"/>
              <p:cNvSpPr/>
              <p:nvPr/>
            </p:nvSpPr>
            <p:spPr>
              <a:xfrm>
                <a:off x="8191500" y="2343150"/>
                <a:ext cx="3619500" cy="2876550"/>
              </a:xfrm>
              <a:prstGeom prst="roundRect">
                <a:avLst>
                  <a:gd name="adj" fmla="val 3974"/>
                </a:avLst>
              </a:prstGeom>
              <a:solidFill>
                <a:srgbClr val="FFFFFF"/>
              </a:solidFill>
              <a:ln w="14288">
                <a:solidFill>
                  <a:srgbClr val="D6DCE5"/>
                </a:solidFill>
              </a:ln>
            </p:spPr>
          </p:sp>
          <p:sp>
            <p:nvSpPr>
              <p:cNvPr id="70" name="TextBox 70"/>
              <p:cNvSpPr txBox="1"/>
              <p:nvPr/>
            </p:nvSpPr>
            <p:spPr>
              <a:xfrm>
                <a:off x="8376666" y="2477452"/>
                <a:ext cx="1918186" cy="205359"/>
              </a:xfrm>
              <a:prstGeom prst="rect">
                <a:avLst/>
              </a:prstGeom>
              <a:noFill/>
              <a:ln>
                <a:noFill/>
              </a:ln>
            </p:spPr>
            <p:txBody>
              <a:bodyPr wrap="none" lIns="0" tIns="0" rIns="0" bIns="0" anchor="t" anchorCtr="0">
                <a:spAutoFit/>
              </a:bodyPr>
              <a:lstStyle/>
              <a:p>
                <a:pPr algn="l"/>
                <a:r>
                  <a:rPr lang="zh-CN" sz="1050" b="1" dirty="0">
                    <a:solidFill>
                      <a:srgbClr val="0E3F8C"/>
                    </a:solidFill>
                    <a:latin typeface="Arial"/>
                    <a:ea typeface="Microsoft YaHei"/>
                    <a:cs typeface="Arial"/>
                  </a:rPr>
                  <a:t>路径 C · Pathway C（选做）</a:t>
                </a:r>
              </a:p>
            </p:txBody>
          </p:sp>
          <p:sp>
            <p:nvSpPr>
              <p:cNvPr id="71" name="TextBox 71"/>
              <p:cNvSpPr txBox="1"/>
              <p:nvPr/>
            </p:nvSpPr>
            <p:spPr>
              <a:xfrm>
                <a:off x="8377238" y="2692241"/>
                <a:ext cx="1334186" cy="161925"/>
              </a:xfrm>
              <a:prstGeom prst="rect">
                <a:avLst/>
              </a:prstGeom>
              <a:noFill/>
              <a:ln>
                <a:noFill/>
              </a:ln>
            </p:spPr>
            <p:txBody>
              <a:bodyPr wrap="none" lIns="0" tIns="0" rIns="0" bIns="0" anchor="t" anchorCtr="0">
                <a:spAutoFit/>
              </a:bodyPr>
              <a:lstStyle/>
              <a:p>
                <a:pPr algn="l"/>
                <a:r>
                  <a:rPr lang="zh-CN" sz="820" dirty="0">
                    <a:solidFill>
                      <a:srgbClr val="4A5568"/>
                    </a:solidFill>
                    <a:latin typeface="Arial"/>
                    <a:ea typeface="Microsoft YaHei"/>
                    <a:cs typeface="Arial"/>
                  </a:rPr>
                  <a:t>补全环节，判定符号与速度</a:t>
                </a:r>
              </a:p>
            </p:txBody>
          </p:sp>
          <p:sp>
            <p:nvSpPr>
              <p:cNvPr id="72" name="Rectangle 72"/>
              <p:cNvSpPr/>
              <p:nvPr/>
            </p:nvSpPr>
            <p:spPr>
              <a:xfrm>
                <a:off x="8382000" y="2876550"/>
                <a:ext cx="3238500" cy="419100"/>
              </a:xfrm>
              <a:prstGeom prst="roundRect">
                <a:avLst>
                  <a:gd name="adj" fmla="val 18182"/>
                </a:avLst>
              </a:prstGeom>
              <a:solidFill>
                <a:srgbClr val="FFFFFF"/>
              </a:solidFill>
              <a:ln w="14288">
                <a:solidFill>
                  <a:srgbClr val="8FA3BD"/>
                </a:solidFill>
                <a:custDash>
                  <a:ds d="400000" sp="266667"/>
                </a:custDash>
              </a:ln>
            </p:spPr>
          </p:sp>
          <p:sp>
            <p:nvSpPr>
              <p:cNvPr id="73" name="TextBox 73"/>
              <p:cNvSpPr txBox="1"/>
              <p:nvPr/>
            </p:nvSpPr>
            <p:spPr>
              <a:xfrm>
                <a:off x="9315501" y="3040618"/>
                <a:ext cx="1371498" cy="169069"/>
              </a:xfrm>
              <a:prstGeom prst="rect">
                <a:avLst/>
              </a:prstGeom>
              <a:noFill/>
              <a:ln>
                <a:noFill/>
              </a:ln>
            </p:spPr>
            <p:txBody>
              <a:bodyPr wrap="none" lIns="0" tIns="0" rIns="0" bIns="0" anchor="t" anchorCtr="0">
                <a:spAutoFit/>
              </a:bodyPr>
              <a:lstStyle/>
              <a:p>
                <a:pPr algn="ctr"/>
                <a:r>
                  <a:rPr lang="zh-CN" sz="860" dirty="0">
                    <a:solidFill>
                      <a:srgbClr val="8FA3BD"/>
                    </a:solidFill>
                    <a:latin typeface="Arial"/>
                    <a:ea typeface="Microsoft YaHei"/>
                    <a:cs typeface="Arial"/>
                  </a:rPr>
                  <a:t>环节①（课堂填写）Step ①</a:t>
                </a:r>
              </a:p>
            </p:txBody>
          </p:sp>
          <p:sp>
            <p:nvSpPr>
              <p:cNvPr id="74" name="Line 74"/>
              <p:cNvSpPr/>
              <p:nvPr/>
            </p:nvSpPr>
            <p:spPr>
              <a:xfrm>
                <a:off x="10001250" y="3314700"/>
                <a:ext cx="9525" cy="133350"/>
              </a:xfrm>
              <a:custGeom>
                <a:avLst/>
                <a:gdLst/>
                <a:ahLst/>
                <a:cxnLst/>
                <a:rect l="l" t="t" r="r" b="b"/>
                <a:pathLst>
                  <a:path w="9525" h="133350">
                    <a:moveTo>
                      <a:pt x="0" y="0"/>
                    </a:moveTo>
                    <a:lnTo>
                      <a:pt x="0" y="133350"/>
                    </a:lnTo>
                  </a:path>
                </a:pathLst>
              </a:custGeom>
              <a:noFill/>
              <a:ln w="19050">
                <a:solidFill>
                  <a:srgbClr val="8FA3BD"/>
                </a:solidFill>
              </a:ln>
            </p:spPr>
          </p:sp>
          <p:sp>
            <p:nvSpPr>
              <p:cNvPr id="75" name="Polygon 75"/>
              <p:cNvSpPr/>
              <p:nvPr/>
            </p:nvSpPr>
            <p:spPr>
              <a:xfrm>
                <a:off x="9944100" y="3409950"/>
                <a:ext cx="114300" cy="76200"/>
              </a:xfrm>
              <a:custGeom>
                <a:avLst/>
                <a:gdLst/>
                <a:ahLst/>
                <a:cxnLst/>
                <a:rect l="l" t="t" r="r" b="b"/>
                <a:pathLst>
                  <a:path w="114300" h="76200">
                    <a:moveTo>
                      <a:pt x="0" y="0"/>
                    </a:moveTo>
                    <a:lnTo>
                      <a:pt x="57150" y="76200"/>
                    </a:lnTo>
                    <a:lnTo>
                      <a:pt x="114300" y="0"/>
                    </a:lnTo>
                    <a:close/>
                  </a:path>
                </a:pathLst>
              </a:custGeom>
              <a:solidFill>
                <a:srgbClr val="8FA3BD"/>
              </a:solidFill>
              <a:ln>
                <a:noFill/>
              </a:ln>
            </p:spPr>
          </p:sp>
          <p:sp>
            <p:nvSpPr>
              <p:cNvPr id="76" name="Rectangle 76"/>
              <p:cNvSpPr/>
              <p:nvPr/>
            </p:nvSpPr>
            <p:spPr>
              <a:xfrm>
                <a:off x="8382000" y="3467100"/>
                <a:ext cx="3238500" cy="419100"/>
              </a:xfrm>
              <a:prstGeom prst="roundRect">
                <a:avLst>
                  <a:gd name="adj" fmla="val 18182"/>
                </a:avLst>
              </a:prstGeom>
              <a:solidFill>
                <a:srgbClr val="FFFFFF"/>
              </a:solidFill>
              <a:ln w="14288">
                <a:solidFill>
                  <a:srgbClr val="8FA3BD"/>
                </a:solidFill>
                <a:custDash>
                  <a:ds d="400000" sp="266667"/>
                </a:custDash>
              </a:ln>
            </p:spPr>
          </p:sp>
          <p:sp>
            <p:nvSpPr>
              <p:cNvPr id="77" name="TextBox 77"/>
              <p:cNvSpPr txBox="1"/>
              <p:nvPr/>
            </p:nvSpPr>
            <p:spPr>
              <a:xfrm>
                <a:off x="9315501" y="3631168"/>
                <a:ext cx="1371498" cy="169069"/>
              </a:xfrm>
              <a:prstGeom prst="rect">
                <a:avLst/>
              </a:prstGeom>
              <a:noFill/>
              <a:ln>
                <a:noFill/>
              </a:ln>
            </p:spPr>
            <p:txBody>
              <a:bodyPr wrap="none" lIns="0" tIns="0" rIns="0" bIns="0" anchor="t" anchorCtr="0">
                <a:spAutoFit/>
              </a:bodyPr>
              <a:lstStyle/>
              <a:p>
                <a:pPr algn="ctr"/>
                <a:r>
                  <a:rPr lang="zh-CN" sz="860" dirty="0">
                    <a:solidFill>
                      <a:srgbClr val="8FA3BD"/>
                    </a:solidFill>
                    <a:latin typeface="Arial"/>
                    <a:ea typeface="Microsoft YaHei"/>
                    <a:cs typeface="Arial"/>
                  </a:rPr>
                  <a:t>环节②（课堂填写）Step ②</a:t>
                </a:r>
              </a:p>
            </p:txBody>
          </p:sp>
          <p:sp>
            <p:nvSpPr>
              <p:cNvPr id="78" name="Line 78"/>
              <p:cNvSpPr/>
              <p:nvPr/>
            </p:nvSpPr>
            <p:spPr>
              <a:xfrm>
                <a:off x="10001250" y="3905250"/>
                <a:ext cx="9525" cy="133350"/>
              </a:xfrm>
              <a:custGeom>
                <a:avLst/>
                <a:gdLst/>
                <a:ahLst/>
                <a:cxnLst/>
                <a:rect l="l" t="t" r="r" b="b"/>
                <a:pathLst>
                  <a:path w="9525" h="133350">
                    <a:moveTo>
                      <a:pt x="0" y="0"/>
                    </a:moveTo>
                    <a:lnTo>
                      <a:pt x="0" y="133350"/>
                    </a:lnTo>
                  </a:path>
                </a:pathLst>
              </a:custGeom>
              <a:noFill/>
              <a:ln w="19050">
                <a:solidFill>
                  <a:srgbClr val="8FA3BD"/>
                </a:solidFill>
              </a:ln>
            </p:spPr>
          </p:sp>
          <p:sp>
            <p:nvSpPr>
              <p:cNvPr id="79" name="Polygon 79"/>
              <p:cNvSpPr/>
              <p:nvPr/>
            </p:nvSpPr>
            <p:spPr>
              <a:xfrm>
                <a:off x="9944100" y="4000500"/>
                <a:ext cx="114300" cy="76200"/>
              </a:xfrm>
              <a:custGeom>
                <a:avLst/>
                <a:gdLst/>
                <a:ahLst/>
                <a:cxnLst/>
                <a:rect l="l" t="t" r="r" b="b"/>
                <a:pathLst>
                  <a:path w="114300" h="76200">
                    <a:moveTo>
                      <a:pt x="0" y="0"/>
                    </a:moveTo>
                    <a:lnTo>
                      <a:pt x="57150" y="76200"/>
                    </a:lnTo>
                    <a:lnTo>
                      <a:pt x="114300" y="0"/>
                    </a:lnTo>
                    <a:close/>
                  </a:path>
                </a:pathLst>
              </a:custGeom>
              <a:solidFill>
                <a:srgbClr val="8FA3BD"/>
              </a:solidFill>
              <a:ln>
                <a:noFill/>
              </a:ln>
            </p:spPr>
          </p:sp>
          <p:sp>
            <p:nvSpPr>
              <p:cNvPr id="80" name="Rectangle 80"/>
              <p:cNvSpPr/>
              <p:nvPr/>
            </p:nvSpPr>
            <p:spPr>
              <a:xfrm>
                <a:off x="8382000" y="4057650"/>
                <a:ext cx="3238500" cy="400050"/>
              </a:xfrm>
              <a:prstGeom prst="roundRect">
                <a:avLst>
                  <a:gd name="adj" fmla="val 19048"/>
                </a:avLst>
              </a:prstGeom>
              <a:solidFill>
                <a:srgbClr val="F0F5FC"/>
              </a:solidFill>
              <a:ln w="9525">
                <a:solidFill>
                  <a:srgbClr val="B8C7DC"/>
                </a:solidFill>
              </a:ln>
            </p:spPr>
          </p:sp>
          <p:sp>
            <p:nvSpPr>
              <p:cNvPr id="81" name="TextBox 81"/>
              <p:cNvSpPr txBox="1"/>
              <p:nvPr/>
            </p:nvSpPr>
            <p:spPr>
              <a:xfrm>
                <a:off x="9119506" y="4212193"/>
                <a:ext cx="1763489" cy="169069"/>
              </a:xfrm>
              <a:prstGeom prst="rect">
                <a:avLst/>
              </a:prstGeom>
              <a:noFill/>
              <a:ln>
                <a:noFill/>
              </a:ln>
            </p:spPr>
            <p:txBody>
              <a:bodyPr wrap="none" lIns="0" tIns="0" rIns="0" bIns="0" anchor="t" anchorCtr="0">
                <a:spAutoFit/>
              </a:bodyPr>
              <a:lstStyle/>
              <a:p>
                <a:pPr algn="ctr"/>
                <a:r>
                  <a:rPr lang="zh-CN" sz="860" dirty="0">
                    <a:solidFill>
                      <a:srgbClr val="1A2230"/>
                    </a:solidFill>
                    <a:latin typeface="Arial"/>
                    <a:ea typeface="Microsoft YaHei"/>
                    <a:cs typeface="Arial"/>
                  </a:rPr>
                  <a:t>最终作用：放大 / 抑制初始变化？</a:t>
                </a:r>
              </a:p>
            </p:txBody>
          </p:sp>
          <p:sp>
            <p:nvSpPr>
              <p:cNvPr id="82" name="TextBox 82"/>
              <p:cNvSpPr txBox="1"/>
              <p:nvPr/>
            </p:nvSpPr>
            <p:spPr>
              <a:xfrm>
                <a:off x="8377238" y="4612243"/>
                <a:ext cx="860758" cy="169069"/>
              </a:xfrm>
              <a:prstGeom prst="rect">
                <a:avLst/>
              </a:prstGeom>
              <a:noFill/>
              <a:ln>
                <a:noFill/>
              </a:ln>
            </p:spPr>
            <p:txBody>
              <a:bodyPr wrap="none" lIns="0" tIns="0" rIns="0" bIns="0" anchor="t" anchorCtr="0">
                <a:spAutoFit/>
              </a:bodyPr>
              <a:lstStyle/>
              <a:p>
                <a:pPr algn="l"/>
                <a:r>
                  <a:rPr lang="zh-CN" sz="860" dirty="0">
                    <a:solidFill>
                      <a:srgbClr val="1A2230"/>
                    </a:solidFill>
                    <a:latin typeface="Arial"/>
                    <a:ea typeface="Microsoft YaHei"/>
                    <a:cs typeface="Arial"/>
                  </a:rPr>
                  <a:t>反馈符号 Sign：</a:t>
                </a:r>
              </a:p>
            </p:txBody>
          </p:sp>
          <p:sp>
            <p:nvSpPr>
              <p:cNvPr id="83" name="Rectangle 83"/>
              <p:cNvSpPr/>
              <p:nvPr/>
            </p:nvSpPr>
            <p:spPr>
              <a:xfrm>
                <a:off x="9239250" y="4610100"/>
                <a:ext cx="114300" cy="114300"/>
              </a:xfrm>
              <a:prstGeom prst="roundRect">
                <a:avLst>
                  <a:gd name="adj" fmla="val 16667"/>
                </a:avLst>
              </a:prstGeom>
              <a:solidFill>
                <a:srgbClr val="FFFFFF"/>
              </a:solidFill>
              <a:ln w="9525">
                <a:solidFill>
                  <a:srgbClr val="4A5568"/>
                </a:solidFill>
              </a:ln>
            </p:spPr>
          </p:sp>
          <p:sp>
            <p:nvSpPr>
              <p:cNvPr id="84" name="TextBox 84"/>
              <p:cNvSpPr txBox="1"/>
              <p:nvPr/>
            </p:nvSpPr>
            <p:spPr>
              <a:xfrm>
                <a:off x="9405938" y="4612243"/>
                <a:ext cx="223705" cy="169069"/>
              </a:xfrm>
              <a:prstGeom prst="rect">
                <a:avLst/>
              </a:prstGeom>
              <a:noFill/>
              <a:ln>
                <a:noFill/>
              </a:ln>
            </p:spPr>
            <p:txBody>
              <a:bodyPr wrap="none" lIns="0" tIns="0" rIns="0" bIns="0" anchor="t" anchorCtr="0">
                <a:spAutoFit/>
              </a:bodyPr>
              <a:lstStyle/>
              <a:p>
                <a:pPr algn="l"/>
                <a:r>
                  <a:rPr lang="zh-CN" sz="860" dirty="0">
                    <a:solidFill>
                      <a:srgbClr val="1A2230"/>
                    </a:solidFill>
                    <a:latin typeface="Arial"/>
                    <a:ea typeface="Microsoft YaHei"/>
                    <a:cs typeface="Arial"/>
                  </a:rPr>
                  <a:t>正 +</a:t>
                </a:r>
              </a:p>
            </p:txBody>
          </p:sp>
          <p:sp>
            <p:nvSpPr>
              <p:cNvPr id="85" name="Rectangle 85"/>
              <p:cNvSpPr/>
              <p:nvPr/>
            </p:nvSpPr>
            <p:spPr>
              <a:xfrm>
                <a:off x="9848850" y="4610100"/>
                <a:ext cx="114300" cy="114300"/>
              </a:xfrm>
              <a:prstGeom prst="roundRect">
                <a:avLst>
                  <a:gd name="adj" fmla="val 16667"/>
                </a:avLst>
              </a:prstGeom>
              <a:solidFill>
                <a:srgbClr val="FFFFFF"/>
              </a:solidFill>
              <a:ln w="9525">
                <a:solidFill>
                  <a:srgbClr val="4A5568"/>
                </a:solidFill>
              </a:ln>
            </p:spPr>
          </p:sp>
          <p:sp>
            <p:nvSpPr>
              <p:cNvPr id="86" name="TextBox 86"/>
              <p:cNvSpPr txBox="1"/>
              <p:nvPr/>
            </p:nvSpPr>
            <p:spPr>
              <a:xfrm>
                <a:off x="10015538" y="4612243"/>
                <a:ext cx="223705" cy="169069"/>
              </a:xfrm>
              <a:prstGeom prst="rect">
                <a:avLst/>
              </a:prstGeom>
              <a:noFill/>
              <a:ln>
                <a:noFill/>
              </a:ln>
            </p:spPr>
            <p:txBody>
              <a:bodyPr wrap="none" lIns="0" tIns="0" rIns="0" bIns="0" anchor="t" anchorCtr="0">
                <a:spAutoFit/>
              </a:bodyPr>
              <a:lstStyle/>
              <a:p>
                <a:pPr algn="l"/>
                <a:r>
                  <a:rPr lang="zh-CN" sz="860" dirty="0">
                    <a:solidFill>
                      <a:srgbClr val="1A2230"/>
                    </a:solidFill>
                    <a:latin typeface="Arial"/>
                    <a:ea typeface="Microsoft YaHei"/>
                    <a:cs typeface="Arial"/>
                  </a:rPr>
                  <a:t>负 −</a:t>
                </a:r>
              </a:p>
            </p:txBody>
          </p:sp>
          <p:sp>
            <p:nvSpPr>
              <p:cNvPr id="87" name="TextBox 87"/>
              <p:cNvSpPr txBox="1"/>
              <p:nvPr/>
            </p:nvSpPr>
            <p:spPr>
              <a:xfrm>
                <a:off x="8377238" y="4897993"/>
                <a:ext cx="952050" cy="169069"/>
              </a:xfrm>
              <a:prstGeom prst="rect">
                <a:avLst/>
              </a:prstGeom>
              <a:noFill/>
              <a:ln>
                <a:noFill/>
              </a:ln>
            </p:spPr>
            <p:txBody>
              <a:bodyPr wrap="none" lIns="0" tIns="0" rIns="0" bIns="0" anchor="t" anchorCtr="0">
                <a:spAutoFit/>
              </a:bodyPr>
              <a:lstStyle/>
              <a:p>
                <a:pPr algn="l"/>
                <a:r>
                  <a:rPr lang="zh-CN" sz="860" dirty="0">
                    <a:solidFill>
                      <a:srgbClr val="1A2230"/>
                    </a:solidFill>
                    <a:latin typeface="Arial"/>
                    <a:ea typeface="Microsoft YaHei"/>
                    <a:cs typeface="Arial"/>
                  </a:rPr>
                  <a:t>响应速度 Speed：</a:t>
                </a:r>
              </a:p>
            </p:txBody>
          </p:sp>
          <p:sp>
            <p:nvSpPr>
              <p:cNvPr id="88" name="Rectangle 88"/>
              <p:cNvSpPr/>
              <p:nvPr/>
            </p:nvSpPr>
            <p:spPr>
              <a:xfrm>
                <a:off x="9239250" y="4895850"/>
                <a:ext cx="114300" cy="114300"/>
              </a:xfrm>
              <a:prstGeom prst="roundRect">
                <a:avLst>
                  <a:gd name="adj" fmla="val 16667"/>
                </a:avLst>
              </a:prstGeom>
              <a:solidFill>
                <a:srgbClr val="FFFFFF"/>
              </a:solidFill>
              <a:ln w="9525">
                <a:solidFill>
                  <a:srgbClr val="4A5568"/>
                </a:solidFill>
              </a:ln>
            </p:spPr>
          </p:sp>
          <p:sp>
            <p:nvSpPr>
              <p:cNvPr id="89" name="TextBox 89"/>
              <p:cNvSpPr txBox="1"/>
              <p:nvPr/>
            </p:nvSpPr>
            <p:spPr>
              <a:xfrm>
                <a:off x="9405938" y="4897993"/>
                <a:ext cx="241071" cy="169069"/>
              </a:xfrm>
              <a:prstGeom prst="rect">
                <a:avLst/>
              </a:prstGeom>
              <a:noFill/>
              <a:ln>
                <a:noFill/>
              </a:ln>
            </p:spPr>
            <p:txBody>
              <a:bodyPr wrap="none" lIns="0" tIns="0" rIns="0" bIns="0" anchor="t" anchorCtr="0">
                <a:spAutoFit/>
              </a:bodyPr>
              <a:lstStyle/>
              <a:p>
                <a:pPr algn="l"/>
                <a:r>
                  <a:rPr lang="zh-CN" sz="860" dirty="0">
                    <a:solidFill>
                      <a:srgbClr val="1A2230"/>
                    </a:solidFill>
                    <a:latin typeface="Arial"/>
                    <a:ea typeface="Microsoft YaHei"/>
                    <a:cs typeface="Arial"/>
                  </a:rPr>
                  <a:t>较快</a:t>
                </a:r>
              </a:p>
            </p:txBody>
          </p:sp>
          <p:sp>
            <p:nvSpPr>
              <p:cNvPr id="90" name="Rectangle 90"/>
              <p:cNvSpPr/>
              <p:nvPr/>
            </p:nvSpPr>
            <p:spPr>
              <a:xfrm>
                <a:off x="9848850" y="4895850"/>
                <a:ext cx="114300" cy="114300"/>
              </a:xfrm>
              <a:prstGeom prst="roundRect">
                <a:avLst>
                  <a:gd name="adj" fmla="val 16667"/>
                </a:avLst>
              </a:prstGeom>
              <a:solidFill>
                <a:srgbClr val="FFFFFF"/>
              </a:solidFill>
              <a:ln w="9525">
                <a:solidFill>
                  <a:srgbClr val="4A5568"/>
                </a:solidFill>
              </a:ln>
            </p:spPr>
          </p:sp>
          <p:sp>
            <p:nvSpPr>
              <p:cNvPr id="91" name="TextBox 91"/>
              <p:cNvSpPr txBox="1"/>
              <p:nvPr/>
            </p:nvSpPr>
            <p:spPr>
              <a:xfrm>
                <a:off x="10015538" y="4897993"/>
                <a:ext cx="241071" cy="169069"/>
              </a:xfrm>
              <a:prstGeom prst="rect">
                <a:avLst/>
              </a:prstGeom>
              <a:noFill/>
              <a:ln>
                <a:noFill/>
              </a:ln>
            </p:spPr>
            <p:txBody>
              <a:bodyPr wrap="none" lIns="0" tIns="0" rIns="0" bIns="0" anchor="t" anchorCtr="0">
                <a:spAutoFit/>
              </a:bodyPr>
              <a:lstStyle/>
              <a:p>
                <a:pPr algn="l"/>
                <a:r>
                  <a:rPr lang="zh-CN" sz="860" dirty="0">
                    <a:solidFill>
                      <a:srgbClr val="1A2230"/>
                    </a:solidFill>
                    <a:latin typeface="Arial"/>
                    <a:ea typeface="Microsoft YaHei"/>
                    <a:cs typeface="Arial"/>
                  </a:rPr>
                  <a:t>较慢</a:t>
                </a:r>
              </a:p>
            </p:txBody>
          </p:sp>
        </p:grpSp>
        <p:grpSp>
          <p:nvGrpSpPr>
            <p:cNvPr id="99" name="Group 99"/>
            <p:cNvGrpSpPr/>
            <p:nvPr/>
          </p:nvGrpSpPr>
          <p:grpSpPr>
            <a:xfrm>
              <a:off x="571500" y="5295900"/>
              <a:ext cx="5334000" cy="723900"/>
              <a:chOff x="571500" y="5295900"/>
              <a:chExt cx="5334000" cy="723900"/>
            </a:xfrm>
          </p:grpSpPr>
          <p:sp>
            <p:nvSpPr>
              <p:cNvPr id="93" name="Rectangle 93"/>
              <p:cNvSpPr/>
              <p:nvPr/>
            </p:nvSpPr>
            <p:spPr>
              <a:xfrm>
                <a:off x="571500" y="5295900"/>
                <a:ext cx="5334000" cy="723900"/>
              </a:xfrm>
              <a:prstGeom prst="roundRect">
                <a:avLst>
                  <a:gd name="adj" fmla="val 13158"/>
                </a:avLst>
              </a:prstGeom>
              <a:solidFill>
                <a:srgbClr val="FFFFFF"/>
              </a:solidFill>
              <a:ln w="9525">
                <a:solidFill>
                  <a:srgbClr val="D6DCE5"/>
                </a:solidFill>
              </a:ln>
            </p:spPr>
          </p:sp>
          <p:sp>
            <p:nvSpPr>
              <p:cNvPr id="94" name="TextBox 94"/>
              <p:cNvSpPr txBox="1"/>
              <p:nvPr/>
            </p:nvSpPr>
            <p:spPr>
              <a:xfrm>
                <a:off x="719138" y="5408295"/>
                <a:ext cx="892044" cy="176212"/>
              </a:xfrm>
              <a:prstGeom prst="rect">
                <a:avLst/>
              </a:prstGeom>
              <a:noFill/>
              <a:ln>
                <a:noFill/>
              </a:ln>
            </p:spPr>
            <p:txBody>
              <a:bodyPr wrap="none" lIns="0" tIns="0" rIns="0" bIns="0" anchor="t" anchorCtr="0">
                <a:spAutoFit/>
              </a:bodyPr>
              <a:lstStyle/>
              <a:p>
                <a:pPr algn="l"/>
                <a:r>
                  <a:rPr lang="zh-CN" sz="900" b="1" dirty="0">
                    <a:solidFill>
                      <a:srgbClr val="0E3F8C"/>
                    </a:solidFill>
                    <a:latin typeface="Arial"/>
                    <a:ea typeface="Microsoft YaHei"/>
                    <a:cs typeface="Arial"/>
                  </a:rPr>
                  <a:t>课堂任务 Tasks</a:t>
                </a:r>
              </a:p>
            </p:txBody>
          </p:sp>
          <p:sp>
            <p:nvSpPr>
              <p:cNvPr id="95" name="TextBox 95"/>
              <p:cNvSpPr txBox="1"/>
              <p:nvPr/>
            </p:nvSpPr>
            <p:spPr>
              <a:xfrm>
                <a:off x="719138" y="5640943"/>
                <a:ext cx="1265664" cy="169069"/>
              </a:xfrm>
              <a:prstGeom prst="rect">
                <a:avLst/>
              </a:prstGeom>
              <a:noFill/>
              <a:ln>
                <a:noFill/>
              </a:ln>
            </p:spPr>
            <p:txBody>
              <a:bodyPr wrap="none" lIns="0" tIns="0" rIns="0" bIns="0" anchor="t" anchorCtr="0">
                <a:spAutoFit/>
              </a:bodyPr>
              <a:lstStyle/>
              <a:p>
                <a:pPr algn="l"/>
                <a:r>
                  <a:rPr lang="zh-CN" sz="860" dirty="0">
                    <a:solidFill>
                      <a:srgbClr val="1A2230"/>
                    </a:solidFill>
                    <a:latin typeface="Arial"/>
                    <a:ea typeface="Microsoft YaHei"/>
                    <a:cs typeface="Arial"/>
                  </a:rPr>
                  <a:t>1 补全至少两条响应路径</a:t>
                </a:r>
              </a:p>
            </p:txBody>
          </p:sp>
          <p:sp>
            <p:nvSpPr>
              <p:cNvPr id="96" name="TextBox 96"/>
              <p:cNvSpPr txBox="1"/>
              <p:nvPr/>
            </p:nvSpPr>
            <p:spPr>
              <a:xfrm>
                <a:off x="3424238" y="5640943"/>
                <a:ext cx="1167257" cy="169069"/>
              </a:xfrm>
              <a:prstGeom prst="rect">
                <a:avLst/>
              </a:prstGeom>
              <a:noFill/>
              <a:ln>
                <a:noFill/>
              </a:ln>
            </p:spPr>
            <p:txBody>
              <a:bodyPr wrap="none" lIns="0" tIns="0" rIns="0" bIns="0" anchor="t" anchorCtr="0">
                <a:spAutoFit/>
              </a:bodyPr>
              <a:lstStyle/>
              <a:p>
                <a:pPr algn="l"/>
                <a:r>
                  <a:rPr lang="zh-CN" sz="860" dirty="0">
                    <a:solidFill>
                      <a:srgbClr val="1A2230"/>
                    </a:solidFill>
                    <a:latin typeface="Arial"/>
                    <a:ea typeface="Microsoft YaHei"/>
                    <a:cs typeface="Arial"/>
                  </a:rPr>
                  <a:t>2 标注正反馈 / 负反馈</a:t>
                </a:r>
              </a:p>
            </p:txBody>
          </p:sp>
          <p:sp>
            <p:nvSpPr>
              <p:cNvPr id="97" name="TextBox 97"/>
              <p:cNvSpPr txBox="1"/>
              <p:nvPr/>
            </p:nvSpPr>
            <p:spPr>
              <a:xfrm>
                <a:off x="719138" y="5850493"/>
                <a:ext cx="918345" cy="169069"/>
              </a:xfrm>
              <a:prstGeom prst="rect">
                <a:avLst/>
              </a:prstGeom>
              <a:noFill/>
              <a:ln>
                <a:noFill/>
              </a:ln>
            </p:spPr>
            <p:txBody>
              <a:bodyPr wrap="none" lIns="0" tIns="0" rIns="0" bIns="0" anchor="t" anchorCtr="0">
                <a:spAutoFit/>
              </a:bodyPr>
              <a:lstStyle/>
              <a:p>
                <a:pPr algn="l"/>
                <a:r>
                  <a:rPr lang="zh-CN" sz="860" dirty="0">
                    <a:solidFill>
                      <a:srgbClr val="1A2230"/>
                    </a:solidFill>
                    <a:latin typeface="Arial"/>
                    <a:ea typeface="Microsoft YaHei"/>
                    <a:cs typeface="Arial"/>
                  </a:rPr>
                  <a:t>3 指出响应更快者</a:t>
                </a:r>
              </a:p>
            </p:txBody>
          </p:sp>
          <p:sp>
            <p:nvSpPr>
              <p:cNvPr id="98" name="TextBox 98"/>
              <p:cNvSpPr txBox="1"/>
              <p:nvPr/>
            </p:nvSpPr>
            <p:spPr>
              <a:xfrm>
                <a:off x="3424238" y="5850493"/>
                <a:ext cx="918345" cy="169069"/>
              </a:xfrm>
              <a:prstGeom prst="rect">
                <a:avLst/>
              </a:prstGeom>
              <a:noFill/>
              <a:ln>
                <a:noFill/>
              </a:ln>
            </p:spPr>
            <p:txBody>
              <a:bodyPr wrap="none" lIns="0" tIns="0" rIns="0" bIns="0" anchor="t" anchorCtr="0">
                <a:spAutoFit/>
              </a:bodyPr>
              <a:lstStyle/>
              <a:p>
                <a:pPr algn="l"/>
                <a:r>
                  <a:rPr lang="zh-CN" sz="860" dirty="0">
                    <a:solidFill>
                      <a:srgbClr val="1A2230"/>
                    </a:solidFill>
                    <a:latin typeface="Arial"/>
                    <a:ea typeface="Microsoft YaHei"/>
                    <a:cs typeface="Arial"/>
                  </a:rPr>
                  <a:t>4 指出响应更慢者</a:t>
                </a:r>
              </a:p>
            </p:txBody>
          </p:sp>
        </p:grpSp>
        <p:grpSp>
          <p:nvGrpSpPr>
            <p:cNvPr id="110" name="Group 110"/>
            <p:cNvGrpSpPr/>
            <p:nvPr/>
          </p:nvGrpSpPr>
          <p:grpSpPr>
            <a:xfrm>
              <a:off x="6096000" y="5295900"/>
              <a:ext cx="5524500" cy="723900"/>
              <a:chOff x="6096000" y="5295900"/>
              <a:chExt cx="5524500" cy="723900"/>
            </a:xfrm>
          </p:grpSpPr>
          <p:sp>
            <p:nvSpPr>
              <p:cNvPr id="100" name="Rectangle 100"/>
              <p:cNvSpPr/>
              <p:nvPr/>
            </p:nvSpPr>
            <p:spPr>
              <a:xfrm>
                <a:off x="6096000" y="5295900"/>
                <a:ext cx="5524500" cy="723900"/>
              </a:xfrm>
              <a:prstGeom prst="roundRect">
                <a:avLst>
                  <a:gd name="adj" fmla="val 13158"/>
                </a:avLst>
              </a:prstGeom>
              <a:solidFill>
                <a:srgbClr val="FFFFFF"/>
              </a:solidFill>
              <a:ln w="9525">
                <a:solidFill>
                  <a:srgbClr val="D6DCE5"/>
                </a:solidFill>
              </a:ln>
            </p:spPr>
          </p:sp>
          <p:sp>
            <p:nvSpPr>
              <p:cNvPr id="101" name="TextBox 101"/>
              <p:cNvSpPr txBox="1"/>
              <p:nvPr/>
            </p:nvSpPr>
            <p:spPr>
              <a:xfrm>
                <a:off x="6243638" y="5408295"/>
                <a:ext cx="3314233" cy="176212"/>
              </a:xfrm>
              <a:prstGeom prst="rect">
                <a:avLst/>
              </a:prstGeom>
              <a:noFill/>
              <a:ln>
                <a:noFill/>
              </a:ln>
            </p:spPr>
            <p:txBody>
              <a:bodyPr wrap="none" lIns="0" tIns="0" rIns="0" bIns="0" anchor="t" anchorCtr="0">
                <a:spAutoFit/>
              </a:bodyPr>
              <a:lstStyle/>
              <a:p>
                <a:pPr algn="l"/>
                <a:r>
                  <a:rPr lang="zh-CN" sz="900" b="1" dirty="0">
                    <a:solidFill>
                      <a:srgbClr val="0E3F8C"/>
                    </a:solidFill>
                    <a:latin typeface="Arial"/>
                    <a:ea typeface="Microsoft YaHei"/>
                    <a:cs typeface="Arial"/>
                  </a:rPr>
                  <a:t>可用环节 Building blocks（限 Slides 36–39，无新增机制）</a:t>
                </a:r>
              </a:p>
            </p:txBody>
          </p:sp>
          <p:sp>
            <p:nvSpPr>
              <p:cNvPr id="102" name="Rectangle 102"/>
              <p:cNvSpPr/>
              <p:nvPr/>
            </p:nvSpPr>
            <p:spPr>
              <a:xfrm>
                <a:off x="6248400" y="5619750"/>
                <a:ext cx="1219200" cy="285750"/>
              </a:xfrm>
              <a:prstGeom prst="roundRect">
                <a:avLst>
                  <a:gd name="adj" fmla="val 50000"/>
                </a:avLst>
              </a:prstGeom>
              <a:solidFill>
                <a:srgbClr val="F0F5FC"/>
              </a:solidFill>
              <a:ln w="9525">
                <a:solidFill>
                  <a:srgbClr val="B8C7DC"/>
                </a:solidFill>
              </a:ln>
            </p:spPr>
          </p:sp>
          <p:sp>
            <p:nvSpPr>
              <p:cNvPr id="103" name="TextBox 103"/>
              <p:cNvSpPr txBox="1"/>
              <p:nvPr/>
            </p:nvSpPr>
            <p:spPr>
              <a:xfrm>
                <a:off x="6632461" y="5721191"/>
                <a:ext cx="451079" cy="161925"/>
              </a:xfrm>
              <a:prstGeom prst="rect">
                <a:avLst/>
              </a:prstGeom>
              <a:noFill/>
              <a:ln>
                <a:noFill/>
              </a:ln>
            </p:spPr>
            <p:txBody>
              <a:bodyPr wrap="none" lIns="0" tIns="0" rIns="0" bIns="0" anchor="t" anchorCtr="0">
                <a:spAutoFit/>
              </a:bodyPr>
              <a:lstStyle/>
              <a:p>
                <a:pPr algn="ctr"/>
                <a:r>
                  <a:rPr lang="zh-CN" sz="820" dirty="0">
                    <a:solidFill>
                      <a:srgbClr val="1E4FA8"/>
                    </a:solidFill>
                    <a:latin typeface="Arial"/>
                    <a:ea typeface="Microsoft YaHei"/>
                    <a:cs typeface="Arial"/>
                  </a:rPr>
                  <a:t>水汽增多</a:t>
                </a:r>
              </a:p>
            </p:txBody>
          </p:sp>
          <p:sp>
            <p:nvSpPr>
              <p:cNvPr id="104" name="Rectangle 104"/>
              <p:cNvSpPr/>
              <p:nvPr/>
            </p:nvSpPr>
            <p:spPr>
              <a:xfrm>
                <a:off x="7543800" y="5619750"/>
                <a:ext cx="1676400" cy="285750"/>
              </a:xfrm>
              <a:prstGeom prst="roundRect">
                <a:avLst>
                  <a:gd name="adj" fmla="val 50000"/>
                </a:avLst>
              </a:prstGeom>
              <a:solidFill>
                <a:srgbClr val="F0F5FC"/>
              </a:solidFill>
              <a:ln w="9525">
                <a:solidFill>
                  <a:srgbClr val="B8C7DC"/>
                </a:solidFill>
              </a:ln>
            </p:spPr>
          </p:sp>
          <p:sp>
            <p:nvSpPr>
              <p:cNvPr id="105" name="TextBox 105"/>
              <p:cNvSpPr txBox="1"/>
              <p:nvPr/>
            </p:nvSpPr>
            <p:spPr>
              <a:xfrm>
                <a:off x="7817016" y="5721191"/>
                <a:ext cx="1129967" cy="161925"/>
              </a:xfrm>
              <a:prstGeom prst="rect">
                <a:avLst/>
              </a:prstGeom>
              <a:noFill/>
              <a:ln>
                <a:noFill/>
              </a:ln>
            </p:spPr>
            <p:txBody>
              <a:bodyPr wrap="none" lIns="0" tIns="0" rIns="0" bIns="0" anchor="t" anchorCtr="0">
                <a:spAutoFit/>
              </a:bodyPr>
              <a:lstStyle/>
              <a:p>
                <a:pPr algn="ctr"/>
                <a:r>
                  <a:rPr lang="zh-CN" sz="820" dirty="0">
                    <a:solidFill>
                      <a:srgbClr val="1E4FA8"/>
                    </a:solidFill>
                    <a:latin typeface="Arial"/>
                    <a:ea typeface="Microsoft YaHei"/>
                    <a:cs typeface="Arial"/>
                  </a:rPr>
                  <a:t>冰雪减少 · 反照率下降</a:t>
                </a:r>
              </a:p>
            </p:txBody>
          </p:sp>
          <p:sp>
            <p:nvSpPr>
              <p:cNvPr id="106" name="Rectangle 106"/>
              <p:cNvSpPr/>
              <p:nvPr/>
            </p:nvSpPr>
            <p:spPr>
              <a:xfrm>
                <a:off x="9296400" y="5619750"/>
                <a:ext cx="1066800" cy="285750"/>
              </a:xfrm>
              <a:prstGeom prst="roundRect">
                <a:avLst>
                  <a:gd name="adj" fmla="val 50000"/>
                </a:avLst>
              </a:prstGeom>
              <a:solidFill>
                <a:srgbClr val="FDF4EF"/>
              </a:solidFill>
              <a:ln w="9525">
                <a:solidFill>
                  <a:srgbClr val="F0CFC2"/>
                </a:solidFill>
              </a:ln>
            </p:spPr>
          </p:sp>
          <p:sp>
            <p:nvSpPr>
              <p:cNvPr id="107" name="TextBox 107"/>
              <p:cNvSpPr txBox="1"/>
              <p:nvPr/>
            </p:nvSpPr>
            <p:spPr>
              <a:xfrm>
                <a:off x="9493872" y="5721191"/>
                <a:ext cx="671855" cy="161925"/>
              </a:xfrm>
              <a:prstGeom prst="rect">
                <a:avLst/>
              </a:prstGeom>
              <a:noFill/>
              <a:ln>
                <a:noFill/>
              </a:ln>
            </p:spPr>
            <p:txBody>
              <a:bodyPr wrap="none" lIns="0" tIns="0" rIns="0" bIns="0" anchor="t" anchorCtr="0">
                <a:spAutoFit/>
              </a:bodyPr>
              <a:lstStyle/>
              <a:p>
                <a:pPr algn="ctr"/>
                <a:r>
                  <a:rPr lang="zh-CN" sz="820" dirty="0">
                    <a:solidFill>
                      <a:srgbClr val="C2410C"/>
                    </a:solidFill>
                    <a:latin typeface="Arial"/>
                    <a:ea typeface="Microsoft YaHei"/>
                    <a:cs typeface="Arial"/>
                  </a:rPr>
                  <a:t>风化加速固碳</a:t>
                </a:r>
              </a:p>
            </p:txBody>
          </p:sp>
          <p:sp>
            <p:nvSpPr>
              <p:cNvPr id="108" name="Rectangle 108"/>
              <p:cNvSpPr/>
              <p:nvPr/>
            </p:nvSpPr>
            <p:spPr>
              <a:xfrm>
                <a:off x="10439400" y="5619750"/>
                <a:ext cx="1143000" cy="285750"/>
              </a:xfrm>
              <a:prstGeom prst="roundRect">
                <a:avLst>
                  <a:gd name="adj" fmla="val 50000"/>
                </a:avLst>
              </a:prstGeom>
              <a:solidFill>
                <a:srgbClr val="F0F5FC"/>
              </a:solidFill>
              <a:ln w="9525">
                <a:solidFill>
                  <a:srgbClr val="B8C7DC"/>
                </a:solidFill>
              </a:ln>
            </p:spPr>
          </p:sp>
          <p:sp>
            <p:nvSpPr>
              <p:cNvPr id="109" name="TextBox 109"/>
              <p:cNvSpPr txBox="1"/>
              <p:nvPr/>
            </p:nvSpPr>
            <p:spPr>
              <a:xfrm>
                <a:off x="10674972" y="5721191"/>
                <a:ext cx="671855" cy="161925"/>
              </a:xfrm>
              <a:prstGeom prst="rect">
                <a:avLst/>
              </a:prstGeom>
              <a:noFill/>
              <a:ln>
                <a:noFill/>
              </a:ln>
            </p:spPr>
            <p:txBody>
              <a:bodyPr wrap="none" lIns="0" tIns="0" rIns="0" bIns="0" anchor="t" anchorCtr="0">
                <a:spAutoFit/>
              </a:bodyPr>
              <a:lstStyle/>
              <a:p>
                <a:pPr algn="ctr"/>
                <a:r>
                  <a:rPr lang="zh-CN" sz="820" dirty="0">
                    <a:solidFill>
                      <a:srgbClr val="1E4FA8"/>
                    </a:solidFill>
                    <a:latin typeface="Arial"/>
                    <a:ea typeface="Microsoft YaHei"/>
                    <a:cs typeface="Arial"/>
                  </a:rPr>
                  <a:t>植物生长固碳</a:t>
                </a:r>
              </a:p>
            </p:txBody>
          </p:sp>
        </p:grpSp>
      </p:grpSp>
      <p:sp>
        <p:nvSpPr>
          <p:cNvPr id="112" name="TextBox 112"/>
          <p:cNvSpPr txBox="1"/>
          <p:nvPr/>
        </p:nvSpPr>
        <p:spPr>
          <a:xfrm>
            <a:off x="376238" y="6532245"/>
            <a:ext cx="12052304" cy="176212"/>
          </a:xfrm>
          <a:prstGeom prst="rect">
            <a:avLst/>
          </a:prstGeom>
          <a:noFill/>
          <a:ln>
            <a:noFill/>
          </a:ln>
        </p:spPr>
        <p:txBody>
          <a:bodyPr wrap="none" lIns="0" tIns="0" rIns="0" bIns="0" anchor="t" anchorCtr="0">
            <a:spAutoFit/>
          </a:bodyPr>
          <a:lstStyle/>
          <a:p>
            <a:pPr algn="l"/>
            <a:r>
              <a:rPr lang="en-US" sz="900" dirty="0">
                <a:solidFill>
                  <a:srgbClr val="4A5568"/>
                </a:solidFill>
                <a:latin typeface="Arial"/>
                <a:ea typeface="Arial"/>
                <a:cs typeface="Arial"/>
              </a:rPr>
              <a:t>Worksheet only — answer key in embedded Notes; mechanisms limited to approved Slides 36–40. Source: UE 8e pp.1176–1178, 1212–1213; EP pp.883–884; HB Ch.9 pp.248–252; CN Chs.3–4 pp.39–40, 78–80.</a:t>
            </a:r>
          </a:p>
        </p:txBody>
      </p:sp>
      <p:sp>
        <p:nvSpPr>
          <p:cNvPr id="113" name="TextBox 113"/>
          <p:cNvSpPr txBox="1"/>
          <p:nvPr/>
        </p:nvSpPr>
        <p:spPr>
          <a:xfrm>
            <a:off x="11672964" y="6532245"/>
            <a:ext cx="142799" cy="176212"/>
          </a:xfrm>
          <a:prstGeom prst="rect">
            <a:avLst/>
          </a:prstGeom>
          <a:noFill/>
          <a:ln>
            <a:noFill/>
          </a:ln>
        </p:spPr>
        <p:txBody>
          <a:bodyPr wrap="none" lIns="0" tIns="0" rIns="0" bIns="0" anchor="t" anchorCtr="0">
            <a:spAutoFit/>
          </a:bodyPr>
          <a:lstStyle/>
          <a:p>
            <a:pPr algn="r"/>
            <a:r>
              <a:rPr lang="en-US" sz="900" dirty="0">
                <a:solidFill>
                  <a:srgbClr val="4A5568"/>
                </a:solidFill>
                <a:latin typeface="Arial"/>
                <a:ea typeface="Arial"/>
                <a:cs typeface="Arial"/>
              </a:rPr>
              <a:t>41</a:t>
            </a:r>
          </a:p>
        </p:txBody>
      </p:sp>
    </p:spTree>
    <p:extLst>
      <p:ext uri="{BB962C8B-B14F-4D97-AF65-F5344CB8AC3E}">
        <p14:creationId xmlns:p14="http://schemas.microsoft.com/office/powerpoint/2010/main" val="1279981652"/>
      </p:ext>
    </p:extLst>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5"/>
          <p:cNvGrpSpPr/>
          <p:nvPr/>
        </p:nvGrpSpPr>
        <p:grpSpPr>
          <a:xfrm>
            <a:off x="0" y="0"/>
            <a:ext cx="12192000" cy="685800"/>
            <a:chOff x="0" y="0"/>
            <a:chExt cx="12192000" cy="685800"/>
          </a:xfrm>
        </p:grpSpPr>
        <p:sp>
          <p:nvSpPr>
            <p:cNvPr id="2" name="Rectangle 2"/>
            <p:cNvSpPr/>
            <p:nvPr/>
          </p:nvSpPr>
          <p:spPr>
            <a:xfrm>
              <a:off x="0" y="0"/>
              <a:ext cx="12192000" cy="685800"/>
            </a:xfrm>
            <a:prstGeom prst="rect">
              <a:avLst/>
            </a:prstGeom>
            <a:solidFill>
              <a:srgbClr val="0E3F8C"/>
            </a:solidFill>
            <a:ln>
              <a:noFill/>
            </a:ln>
          </p:spPr>
        </p:sp>
        <p:sp>
          <p:nvSpPr>
            <p:cNvPr id="3" name="TextBox 3"/>
            <p:cNvSpPr txBox="1"/>
            <p:nvPr/>
          </p:nvSpPr>
          <p:spPr>
            <a:xfrm>
              <a:off x="374142" y="282892"/>
              <a:ext cx="2656389" cy="264033"/>
            </a:xfrm>
            <a:prstGeom prst="rect">
              <a:avLst/>
            </a:prstGeom>
            <a:noFill/>
            <a:ln>
              <a:noFill/>
            </a:ln>
          </p:spPr>
          <p:txBody>
            <a:bodyPr wrap="none" lIns="0" tIns="0" rIns="0" bIns="0" anchor="t" anchorCtr="0">
              <a:spAutoFit/>
            </a:bodyPr>
            <a:lstStyle/>
            <a:p>
              <a:pPr algn="l"/>
              <a:r>
                <a:rPr lang="zh-CN" sz="1350" b="1" dirty="0">
                  <a:solidFill>
                    <a:srgbClr val="FFFFFF"/>
                  </a:solidFill>
                  <a:latin typeface="Arial"/>
                  <a:ea typeface="Microsoft YaHei"/>
                  <a:cs typeface="Arial"/>
                </a:rPr>
                <a:t>作业题 | Homework Questions</a:t>
              </a:r>
            </a:p>
          </p:txBody>
        </p:sp>
        <p:sp>
          <p:nvSpPr>
            <p:cNvPr id="4" name="TextBox 4"/>
            <p:cNvSpPr txBox="1"/>
            <p:nvPr/>
          </p:nvSpPr>
          <p:spPr>
            <a:xfrm>
              <a:off x="9910267" y="299085"/>
              <a:ext cx="1906829" cy="234696"/>
            </a:xfrm>
            <a:prstGeom prst="rect">
              <a:avLst/>
            </a:prstGeom>
            <a:noFill/>
            <a:ln>
              <a:noFill/>
            </a:ln>
          </p:spPr>
          <p:txBody>
            <a:bodyPr wrap="none" lIns="0" tIns="0" rIns="0" bIns="0" anchor="t" anchorCtr="0">
              <a:spAutoFit/>
            </a:bodyPr>
            <a:lstStyle/>
            <a:p>
              <a:pPr algn="r"/>
              <a:r>
                <a:rPr lang="en-US" sz="1200" dirty="0">
                  <a:solidFill>
                    <a:srgbClr val="C7D7F2"/>
                  </a:solidFill>
                  <a:latin typeface="Arial"/>
                  <a:ea typeface="Arial"/>
                  <a:cs typeface="Arial"/>
                </a:rPr>
                <a:t>LECTURE 16 · SYNTHESIS</a:t>
              </a:r>
            </a:p>
          </p:txBody>
        </p:sp>
      </p:grpSp>
      <p:grpSp>
        <p:nvGrpSpPr>
          <p:cNvPr id="8" name="Group 8"/>
          <p:cNvGrpSpPr/>
          <p:nvPr/>
        </p:nvGrpSpPr>
        <p:grpSpPr>
          <a:xfrm>
            <a:off x="381000" y="914400"/>
            <a:ext cx="7062942" cy="357093"/>
            <a:chOff x="381000" y="914400"/>
            <a:chExt cx="7062942" cy="357093"/>
          </a:xfrm>
        </p:grpSpPr>
        <p:sp>
          <p:nvSpPr>
            <p:cNvPr id="6" name="Rectangle 6"/>
            <p:cNvSpPr/>
            <p:nvPr/>
          </p:nvSpPr>
          <p:spPr>
            <a:xfrm>
              <a:off x="381000" y="914400"/>
              <a:ext cx="57150" cy="266700"/>
            </a:xfrm>
            <a:prstGeom prst="roundRect">
              <a:avLst>
                <a:gd name="adj" fmla="val 50000"/>
              </a:avLst>
            </a:prstGeom>
            <a:solidFill>
              <a:srgbClr val="1E4FA8"/>
            </a:solidFill>
            <a:ln>
              <a:noFill/>
            </a:ln>
          </p:spPr>
        </p:sp>
        <p:sp>
          <p:nvSpPr>
            <p:cNvPr id="7" name="TextBox 7"/>
            <p:cNvSpPr txBox="1"/>
            <p:nvPr/>
          </p:nvSpPr>
          <p:spPr>
            <a:xfrm>
              <a:off x="544449" y="963454"/>
              <a:ext cx="6899493" cy="308039"/>
            </a:xfrm>
            <a:prstGeom prst="rect">
              <a:avLst/>
            </a:prstGeom>
            <a:noFill/>
            <a:ln>
              <a:noFill/>
            </a:ln>
          </p:spPr>
          <p:txBody>
            <a:bodyPr wrap="none" lIns="0" tIns="0" rIns="0" bIns="0" anchor="t" anchorCtr="0">
              <a:spAutoFit/>
            </a:bodyPr>
            <a:lstStyle/>
            <a:p>
              <a:pPr algn="l"/>
              <a:r>
                <a:rPr lang="zh-CN" sz="1580" b="1" dirty="0">
                  <a:solidFill>
                    <a:srgbClr val="0E3F8C"/>
                  </a:solidFill>
                  <a:latin typeface="Arial"/>
                  <a:ea typeface="Microsoft YaHei"/>
                  <a:cs typeface="Arial"/>
                </a:rPr>
                <a:t>四道候选题覆盖共同框架、碳时间尺度、耦合与反馈推理，教师选 1–2 题</a:t>
              </a:r>
            </a:p>
          </p:txBody>
        </p:sp>
      </p:grpSp>
      <p:grpSp>
        <p:nvGrpSpPr>
          <p:cNvPr id="16" name="Group 16"/>
          <p:cNvGrpSpPr/>
          <p:nvPr/>
        </p:nvGrpSpPr>
        <p:grpSpPr>
          <a:xfrm>
            <a:off x="381000" y="1504950"/>
            <a:ext cx="5524500" cy="2000250"/>
            <a:chOff x="381000" y="1504950"/>
            <a:chExt cx="5524500" cy="2000250"/>
          </a:xfrm>
        </p:grpSpPr>
        <p:sp>
          <p:nvSpPr>
            <p:cNvPr id="9" name="Rectangle 9"/>
            <p:cNvSpPr/>
            <p:nvPr/>
          </p:nvSpPr>
          <p:spPr>
            <a:xfrm>
              <a:off x="381000" y="1504950"/>
              <a:ext cx="5524500" cy="2000250"/>
            </a:xfrm>
            <a:prstGeom prst="roundRect">
              <a:avLst>
                <a:gd name="adj" fmla="val 5714"/>
              </a:avLst>
            </a:prstGeom>
            <a:solidFill>
              <a:srgbClr val="F7F9FC"/>
            </a:solidFill>
            <a:ln w="9525">
              <a:solidFill>
                <a:srgbClr val="D6DCE5"/>
              </a:solidFill>
            </a:ln>
          </p:spPr>
        </p:sp>
        <p:sp>
          <p:nvSpPr>
            <p:cNvPr id="10" name="Ellipse 10"/>
            <p:cNvSpPr/>
            <p:nvPr/>
          </p:nvSpPr>
          <p:spPr>
            <a:xfrm>
              <a:off x="552450" y="1676400"/>
              <a:ext cx="457200" cy="457200"/>
            </a:xfrm>
            <a:prstGeom prst="ellipse">
              <a:avLst/>
            </a:prstGeom>
            <a:solidFill>
              <a:srgbClr val="1E4FA8"/>
            </a:solidFill>
            <a:ln>
              <a:noFill/>
            </a:ln>
          </p:spPr>
        </p:sp>
        <p:sp>
          <p:nvSpPr>
            <p:cNvPr id="11" name="TextBox 11"/>
            <p:cNvSpPr txBox="1"/>
            <p:nvPr/>
          </p:nvSpPr>
          <p:spPr>
            <a:xfrm>
              <a:off x="711632" y="1811179"/>
              <a:ext cx="138836" cy="308039"/>
            </a:xfrm>
            <a:prstGeom prst="rect">
              <a:avLst/>
            </a:prstGeom>
            <a:noFill/>
            <a:ln>
              <a:noFill/>
            </a:ln>
          </p:spPr>
          <p:txBody>
            <a:bodyPr wrap="none" lIns="0" tIns="0" rIns="0" bIns="0" anchor="t" anchorCtr="0">
              <a:spAutoFit/>
            </a:bodyPr>
            <a:lstStyle/>
            <a:p>
              <a:pPr algn="ctr"/>
              <a:r>
                <a:rPr lang="en-US" sz="1580" b="1" dirty="0">
                  <a:solidFill>
                    <a:srgbClr val="FFFFFF"/>
                  </a:solidFill>
                  <a:latin typeface="Arial"/>
                  <a:ea typeface="Arial"/>
                  <a:cs typeface="Arial"/>
                </a:rPr>
                <a:t>1</a:t>
              </a:r>
            </a:p>
          </p:txBody>
        </p:sp>
        <p:sp>
          <p:nvSpPr>
            <p:cNvPr id="12" name="TextBox 12"/>
            <p:cNvSpPr txBox="1"/>
            <p:nvPr/>
          </p:nvSpPr>
          <p:spPr>
            <a:xfrm>
              <a:off x="1156335" y="1688306"/>
              <a:ext cx="1519174" cy="220028"/>
            </a:xfrm>
            <a:prstGeom prst="rect">
              <a:avLst/>
            </a:prstGeom>
            <a:noFill/>
            <a:ln>
              <a:noFill/>
            </a:ln>
          </p:spPr>
          <p:txBody>
            <a:bodyPr wrap="none" lIns="0" tIns="0" rIns="0" bIns="0" anchor="t" anchorCtr="0">
              <a:spAutoFit/>
            </a:bodyPr>
            <a:lstStyle/>
            <a:p>
              <a:pPr algn="l"/>
              <a:r>
                <a:rPr lang="zh-CN" sz="1120" b="1" dirty="0">
                  <a:solidFill>
                    <a:srgbClr val="0E3F8C"/>
                  </a:solidFill>
                  <a:latin typeface="Arial"/>
                  <a:ea typeface="Microsoft YaHei"/>
                  <a:cs typeface="Arial"/>
                </a:rPr>
                <a:t>储库、通量与停留时间</a:t>
              </a:r>
            </a:p>
          </p:txBody>
        </p:sp>
        <p:sp>
          <p:nvSpPr>
            <p:cNvPr id="13" name="TextBox 13"/>
            <p:cNvSpPr txBox="1"/>
            <p:nvPr/>
          </p:nvSpPr>
          <p:spPr>
            <a:xfrm>
              <a:off x="1157288" y="1941195"/>
              <a:ext cx="1977156" cy="176212"/>
            </a:xfrm>
            <a:prstGeom prst="rect">
              <a:avLst/>
            </a:prstGeom>
            <a:noFill/>
            <a:ln>
              <a:noFill/>
            </a:ln>
          </p:spPr>
          <p:txBody>
            <a:bodyPr wrap="none" lIns="0" tIns="0" rIns="0" bIns="0" anchor="t" anchorCtr="0">
              <a:spAutoFit/>
            </a:bodyPr>
            <a:lstStyle/>
            <a:p>
              <a:pPr algn="l"/>
              <a:r>
                <a:rPr lang="en-US" sz="900" dirty="0">
                  <a:solidFill>
                    <a:srgbClr val="3D7BD9"/>
                  </a:solidFill>
                  <a:latin typeface="Arial"/>
                  <a:ea typeface="Arial"/>
                  <a:cs typeface="Arial"/>
                </a:rPr>
                <a:t>Reservoir · Flux · Residence Time</a:t>
              </a:r>
            </a:p>
          </p:txBody>
        </p:sp>
        <p:sp>
          <p:nvSpPr>
            <p:cNvPr id="14" name="TextBox 14"/>
            <p:cNvSpPr txBox="1"/>
            <p:nvPr/>
          </p:nvSpPr>
          <p:spPr>
            <a:xfrm>
              <a:off x="1157097" y="2333149"/>
              <a:ext cx="2872486" cy="438341"/>
            </a:xfrm>
            <a:prstGeom prst="rect">
              <a:avLst/>
            </a:prstGeom>
            <a:noFill/>
            <a:ln>
              <a:noFill/>
            </a:ln>
          </p:spPr>
          <p:txBody>
            <a:bodyPr wrap="none" lIns="0" tIns="0" rIns="0" bIns="0" anchor="t" anchorCtr="0">
              <a:spAutoFit/>
            </a:bodyPr>
            <a:lstStyle/>
            <a:p>
              <a:pPr algn="l">
                <a:lnSpc>
                  <a:spcPts val="1950"/>
                </a:lnSpc>
              </a:pPr>
              <a:r>
                <a:rPr lang="zh-CN" sz="980" dirty="0">
                  <a:solidFill>
                    <a:srgbClr val="1A2230"/>
                  </a:solidFill>
                  <a:latin typeface="Arial"/>
                  <a:ea typeface="Microsoft YaHei"/>
                  <a:cs typeface="Arial"/>
                </a:rPr>
                <a:t>定义这三个概念，并解释：为什么储量很大的储库，</a:t>
              </a:r>
              <a:br/>
              <a:r>
                <a:rPr lang="zh-CN" sz="980" dirty="0">
                  <a:solidFill>
                    <a:srgbClr val="1A2230"/>
                  </a:solidFill>
                  <a:latin typeface="Arial"/>
                  <a:ea typeface="Microsoft YaHei"/>
                  <a:cs typeface="Arial"/>
                </a:rPr>
                <a:t>更新速度不一定快？</a:t>
              </a:r>
            </a:p>
          </p:txBody>
        </p:sp>
        <p:sp>
          <p:nvSpPr>
            <p:cNvPr id="15" name="TextBox 15"/>
            <p:cNvSpPr txBox="1"/>
            <p:nvPr/>
          </p:nvSpPr>
          <p:spPr>
            <a:xfrm>
              <a:off x="1157288" y="3122295"/>
              <a:ext cx="1538665" cy="176212"/>
            </a:xfrm>
            <a:prstGeom prst="rect">
              <a:avLst/>
            </a:prstGeom>
            <a:noFill/>
            <a:ln>
              <a:noFill/>
            </a:ln>
          </p:spPr>
          <p:txBody>
            <a:bodyPr wrap="none" lIns="0" tIns="0" rIns="0" bIns="0" anchor="t" anchorCtr="0">
              <a:spAutoFit/>
            </a:bodyPr>
            <a:lstStyle/>
            <a:p>
              <a:pPr algn="l"/>
              <a:r>
                <a:rPr lang="zh-CN" sz="900" dirty="0">
                  <a:solidFill>
                    <a:srgbClr val="4A5568"/>
                  </a:solidFill>
                  <a:latin typeface="Arial"/>
                  <a:ea typeface="Microsoft YaHei"/>
                  <a:cs typeface="Arial"/>
                </a:rPr>
                <a:t>类型：概念理解 Conceptual</a:t>
              </a:r>
            </a:p>
          </p:txBody>
        </p:sp>
      </p:grpSp>
      <p:grpSp>
        <p:nvGrpSpPr>
          <p:cNvPr id="24" name="Group 24"/>
          <p:cNvGrpSpPr/>
          <p:nvPr/>
        </p:nvGrpSpPr>
        <p:grpSpPr>
          <a:xfrm>
            <a:off x="6286500" y="1504950"/>
            <a:ext cx="5524500" cy="2000250"/>
            <a:chOff x="6286500" y="1504950"/>
            <a:chExt cx="5524500" cy="2000250"/>
          </a:xfrm>
        </p:grpSpPr>
        <p:sp>
          <p:nvSpPr>
            <p:cNvPr id="17" name="Rectangle 17"/>
            <p:cNvSpPr/>
            <p:nvPr/>
          </p:nvSpPr>
          <p:spPr>
            <a:xfrm>
              <a:off x="6286500" y="1504950"/>
              <a:ext cx="5524500" cy="2000250"/>
            </a:xfrm>
            <a:prstGeom prst="roundRect">
              <a:avLst>
                <a:gd name="adj" fmla="val 5714"/>
              </a:avLst>
            </a:prstGeom>
            <a:solidFill>
              <a:srgbClr val="FDF4EF"/>
            </a:solidFill>
            <a:ln w="9525">
              <a:solidFill>
                <a:srgbClr val="F0CFC2"/>
              </a:solidFill>
            </a:ln>
          </p:spPr>
        </p:sp>
        <p:sp>
          <p:nvSpPr>
            <p:cNvPr id="18" name="Ellipse 18"/>
            <p:cNvSpPr/>
            <p:nvPr/>
          </p:nvSpPr>
          <p:spPr>
            <a:xfrm>
              <a:off x="6457950" y="1676400"/>
              <a:ext cx="457200" cy="457200"/>
            </a:xfrm>
            <a:prstGeom prst="ellipse">
              <a:avLst/>
            </a:prstGeom>
            <a:solidFill>
              <a:srgbClr val="EA580C"/>
            </a:solidFill>
            <a:ln>
              <a:noFill/>
            </a:ln>
          </p:spPr>
        </p:sp>
        <p:sp>
          <p:nvSpPr>
            <p:cNvPr id="19" name="TextBox 19"/>
            <p:cNvSpPr txBox="1"/>
            <p:nvPr/>
          </p:nvSpPr>
          <p:spPr>
            <a:xfrm>
              <a:off x="6617132" y="1811179"/>
              <a:ext cx="138836" cy="308039"/>
            </a:xfrm>
            <a:prstGeom prst="rect">
              <a:avLst/>
            </a:prstGeom>
            <a:noFill/>
            <a:ln>
              <a:noFill/>
            </a:ln>
          </p:spPr>
          <p:txBody>
            <a:bodyPr wrap="none" lIns="0" tIns="0" rIns="0" bIns="0" anchor="t" anchorCtr="0">
              <a:spAutoFit/>
            </a:bodyPr>
            <a:lstStyle/>
            <a:p>
              <a:pPr algn="ctr"/>
              <a:r>
                <a:rPr lang="en-US" sz="1580" b="1" dirty="0">
                  <a:solidFill>
                    <a:srgbClr val="FFFFFF"/>
                  </a:solidFill>
                  <a:latin typeface="Arial"/>
                  <a:ea typeface="Arial"/>
                  <a:cs typeface="Arial"/>
                </a:rPr>
                <a:t>2</a:t>
              </a:r>
            </a:p>
          </p:txBody>
        </p:sp>
        <p:sp>
          <p:nvSpPr>
            <p:cNvPr id="20" name="TextBox 20"/>
            <p:cNvSpPr txBox="1"/>
            <p:nvPr/>
          </p:nvSpPr>
          <p:spPr>
            <a:xfrm>
              <a:off x="7061835" y="1688306"/>
              <a:ext cx="1519174" cy="220028"/>
            </a:xfrm>
            <a:prstGeom prst="rect">
              <a:avLst/>
            </a:prstGeom>
            <a:noFill/>
            <a:ln>
              <a:noFill/>
            </a:ln>
          </p:spPr>
          <p:txBody>
            <a:bodyPr wrap="none" lIns="0" tIns="0" rIns="0" bIns="0" anchor="t" anchorCtr="0">
              <a:spAutoFit/>
            </a:bodyPr>
            <a:lstStyle/>
            <a:p>
              <a:pPr algn="l"/>
              <a:r>
                <a:rPr lang="zh-CN" sz="1120" b="1" dirty="0">
                  <a:solidFill>
                    <a:srgbClr val="C2410C"/>
                  </a:solidFill>
                  <a:latin typeface="Arial"/>
                  <a:ea typeface="Microsoft YaHei"/>
                  <a:cs typeface="Arial"/>
                </a:rPr>
                <a:t>快速与缓慢碳循环路径</a:t>
              </a:r>
            </a:p>
          </p:txBody>
        </p:sp>
        <p:sp>
          <p:nvSpPr>
            <p:cNvPr id="21" name="TextBox 21"/>
            <p:cNvSpPr txBox="1"/>
            <p:nvPr/>
          </p:nvSpPr>
          <p:spPr>
            <a:xfrm>
              <a:off x="7062788" y="1941195"/>
              <a:ext cx="1600789" cy="176212"/>
            </a:xfrm>
            <a:prstGeom prst="rect">
              <a:avLst/>
            </a:prstGeom>
            <a:noFill/>
            <a:ln>
              <a:noFill/>
            </a:ln>
          </p:spPr>
          <p:txBody>
            <a:bodyPr wrap="none" lIns="0" tIns="0" rIns="0" bIns="0" anchor="t" anchorCtr="0">
              <a:spAutoFit/>
            </a:bodyPr>
            <a:lstStyle/>
            <a:p>
              <a:pPr algn="l"/>
              <a:r>
                <a:rPr lang="en-US" sz="900" dirty="0">
                  <a:solidFill>
                    <a:srgbClr val="C2410C"/>
                  </a:solidFill>
                  <a:latin typeface="Arial"/>
                  <a:ea typeface="Arial"/>
                  <a:cs typeface="Arial"/>
                </a:rPr>
                <a:t>Fast vs Slow Carbon Cycles</a:t>
              </a:r>
            </a:p>
          </p:txBody>
        </p:sp>
        <p:sp>
          <p:nvSpPr>
            <p:cNvPr id="22" name="TextBox 22"/>
            <p:cNvSpPr txBox="1"/>
            <p:nvPr/>
          </p:nvSpPr>
          <p:spPr>
            <a:xfrm>
              <a:off x="7062597" y="2333149"/>
              <a:ext cx="2125726" cy="438341"/>
            </a:xfrm>
            <a:prstGeom prst="rect">
              <a:avLst/>
            </a:prstGeom>
            <a:noFill/>
            <a:ln>
              <a:noFill/>
            </a:ln>
          </p:spPr>
          <p:txBody>
            <a:bodyPr wrap="none" lIns="0" tIns="0" rIns="0" bIns="0" anchor="t" anchorCtr="0">
              <a:spAutoFit/>
            </a:bodyPr>
            <a:lstStyle/>
            <a:p>
              <a:pPr algn="l">
                <a:lnSpc>
                  <a:spcPts val="1950"/>
                </a:lnSpc>
              </a:pPr>
              <a:r>
                <a:rPr lang="zh-CN" sz="980" dirty="0">
                  <a:solidFill>
                    <a:srgbClr val="1A2230"/>
                  </a:solidFill>
                  <a:latin typeface="Arial"/>
                  <a:ea typeface="Microsoft YaHei"/>
                  <a:cs typeface="Arial"/>
                </a:rPr>
                <a:t>从储库、过程与相对时间尺度三方面，</a:t>
              </a:r>
              <a:br/>
              <a:r>
                <a:rPr lang="zh-CN" sz="980" dirty="0">
                  <a:solidFill>
                    <a:srgbClr val="1A2230"/>
                  </a:solidFill>
                  <a:latin typeface="Arial"/>
                  <a:ea typeface="Microsoft YaHei"/>
                  <a:cs typeface="Arial"/>
                </a:rPr>
                <a:t>比较快速与缓慢碳循环路径。</a:t>
              </a:r>
            </a:p>
          </p:txBody>
        </p:sp>
        <p:sp>
          <p:nvSpPr>
            <p:cNvPr id="23" name="TextBox 23"/>
            <p:cNvSpPr txBox="1"/>
            <p:nvPr/>
          </p:nvSpPr>
          <p:spPr>
            <a:xfrm>
              <a:off x="7062788" y="3122295"/>
              <a:ext cx="1395788" cy="176212"/>
            </a:xfrm>
            <a:prstGeom prst="rect">
              <a:avLst/>
            </a:prstGeom>
            <a:noFill/>
            <a:ln>
              <a:noFill/>
            </a:ln>
          </p:spPr>
          <p:txBody>
            <a:bodyPr wrap="none" lIns="0" tIns="0" rIns="0" bIns="0" anchor="t" anchorCtr="0">
              <a:spAutoFit/>
            </a:bodyPr>
            <a:lstStyle/>
            <a:p>
              <a:pPr algn="l"/>
              <a:r>
                <a:rPr lang="zh-CN" sz="900" dirty="0">
                  <a:solidFill>
                    <a:srgbClr val="7A4A33"/>
                  </a:solidFill>
                  <a:latin typeface="Arial"/>
                  <a:ea typeface="Microsoft YaHei"/>
                  <a:cs typeface="Arial"/>
                </a:rPr>
                <a:t>类型：比较解释 Compare</a:t>
              </a:r>
            </a:p>
          </p:txBody>
        </p:sp>
      </p:grpSp>
      <p:grpSp>
        <p:nvGrpSpPr>
          <p:cNvPr id="32" name="Group 32"/>
          <p:cNvGrpSpPr/>
          <p:nvPr/>
        </p:nvGrpSpPr>
        <p:grpSpPr>
          <a:xfrm>
            <a:off x="381000" y="3638550"/>
            <a:ext cx="5524500" cy="2000250"/>
            <a:chOff x="381000" y="3638550"/>
            <a:chExt cx="5524500" cy="2000250"/>
          </a:xfrm>
        </p:grpSpPr>
        <p:sp>
          <p:nvSpPr>
            <p:cNvPr id="25" name="Rectangle 25"/>
            <p:cNvSpPr/>
            <p:nvPr/>
          </p:nvSpPr>
          <p:spPr>
            <a:xfrm>
              <a:off x="381000" y="3638550"/>
              <a:ext cx="5524500" cy="2000250"/>
            </a:xfrm>
            <a:prstGeom prst="roundRect">
              <a:avLst>
                <a:gd name="adj" fmla="val 5714"/>
              </a:avLst>
            </a:prstGeom>
            <a:solidFill>
              <a:srgbClr val="F0F5FC"/>
            </a:solidFill>
            <a:ln w="9525">
              <a:solidFill>
                <a:srgbClr val="B8C7DC"/>
              </a:solidFill>
            </a:ln>
          </p:spPr>
        </p:sp>
        <p:sp>
          <p:nvSpPr>
            <p:cNvPr id="26" name="Ellipse 26"/>
            <p:cNvSpPr/>
            <p:nvPr/>
          </p:nvSpPr>
          <p:spPr>
            <a:xfrm>
              <a:off x="552450" y="3810000"/>
              <a:ext cx="457200" cy="457200"/>
            </a:xfrm>
            <a:prstGeom prst="ellipse">
              <a:avLst/>
            </a:prstGeom>
            <a:solidFill>
              <a:srgbClr val="3D7BD9"/>
            </a:solidFill>
            <a:ln>
              <a:noFill/>
            </a:ln>
          </p:spPr>
        </p:sp>
        <p:sp>
          <p:nvSpPr>
            <p:cNvPr id="27" name="TextBox 27"/>
            <p:cNvSpPr txBox="1"/>
            <p:nvPr/>
          </p:nvSpPr>
          <p:spPr>
            <a:xfrm>
              <a:off x="711632" y="3944779"/>
              <a:ext cx="138836" cy="308039"/>
            </a:xfrm>
            <a:prstGeom prst="rect">
              <a:avLst/>
            </a:prstGeom>
            <a:noFill/>
            <a:ln>
              <a:noFill/>
            </a:ln>
          </p:spPr>
          <p:txBody>
            <a:bodyPr wrap="none" lIns="0" tIns="0" rIns="0" bIns="0" anchor="t" anchorCtr="0">
              <a:spAutoFit/>
            </a:bodyPr>
            <a:lstStyle/>
            <a:p>
              <a:pPr algn="ctr"/>
              <a:r>
                <a:rPr lang="en-US" sz="1580" b="1" dirty="0">
                  <a:solidFill>
                    <a:srgbClr val="FFFFFF"/>
                  </a:solidFill>
                  <a:latin typeface="Arial"/>
                  <a:ea typeface="Arial"/>
                  <a:cs typeface="Arial"/>
                </a:rPr>
                <a:t>3</a:t>
              </a:r>
            </a:p>
          </p:txBody>
        </p:sp>
        <p:sp>
          <p:nvSpPr>
            <p:cNvPr id="28" name="TextBox 28"/>
            <p:cNvSpPr txBox="1"/>
            <p:nvPr/>
          </p:nvSpPr>
          <p:spPr>
            <a:xfrm>
              <a:off x="1156335" y="3821906"/>
              <a:ext cx="1368400" cy="220028"/>
            </a:xfrm>
            <a:prstGeom prst="rect">
              <a:avLst/>
            </a:prstGeom>
            <a:noFill/>
            <a:ln>
              <a:noFill/>
            </a:ln>
          </p:spPr>
          <p:txBody>
            <a:bodyPr wrap="none" lIns="0" tIns="0" rIns="0" bIns="0" anchor="t" anchorCtr="0">
              <a:spAutoFit/>
            </a:bodyPr>
            <a:lstStyle/>
            <a:p>
              <a:pPr algn="l"/>
              <a:r>
                <a:rPr lang="zh-CN" sz="1120" b="1" dirty="0">
                  <a:solidFill>
                    <a:srgbClr val="0E3F8C"/>
                  </a:solidFill>
                  <a:latin typeface="Arial"/>
                  <a:ea typeface="Microsoft YaHei"/>
                  <a:cs typeface="Arial"/>
                </a:rPr>
                <a:t>水如何耦合两个循环</a:t>
              </a:r>
            </a:p>
          </p:txBody>
        </p:sp>
        <p:sp>
          <p:nvSpPr>
            <p:cNvPr id="29" name="TextBox 29"/>
            <p:cNvSpPr txBox="1"/>
            <p:nvPr/>
          </p:nvSpPr>
          <p:spPr>
            <a:xfrm>
              <a:off x="1157288" y="4074795"/>
              <a:ext cx="2298382" cy="176212"/>
            </a:xfrm>
            <a:prstGeom prst="rect">
              <a:avLst/>
            </a:prstGeom>
            <a:noFill/>
            <a:ln>
              <a:noFill/>
            </a:ln>
          </p:spPr>
          <p:txBody>
            <a:bodyPr wrap="none" lIns="0" tIns="0" rIns="0" bIns="0" anchor="t" anchorCtr="0">
              <a:spAutoFit/>
            </a:bodyPr>
            <a:lstStyle/>
            <a:p>
              <a:pPr algn="l"/>
              <a:r>
                <a:rPr lang="en-US" sz="900" dirty="0">
                  <a:solidFill>
                    <a:srgbClr val="3D7BD9"/>
                  </a:solidFill>
                  <a:latin typeface="Arial"/>
                  <a:ea typeface="Arial"/>
                  <a:cs typeface="Arial"/>
                </a:rPr>
                <a:t>Weathering · Ocean Transfer · Biology</a:t>
              </a:r>
            </a:p>
          </p:txBody>
        </p:sp>
        <p:sp>
          <p:nvSpPr>
            <p:cNvPr id="30" name="TextBox 30"/>
            <p:cNvSpPr txBox="1"/>
            <p:nvPr/>
          </p:nvSpPr>
          <p:spPr>
            <a:xfrm>
              <a:off x="1157097" y="4466749"/>
              <a:ext cx="2374646" cy="438341"/>
            </a:xfrm>
            <a:prstGeom prst="rect">
              <a:avLst/>
            </a:prstGeom>
            <a:noFill/>
            <a:ln>
              <a:noFill/>
            </a:ln>
          </p:spPr>
          <p:txBody>
            <a:bodyPr wrap="none" lIns="0" tIns="0" rIns="0" bIns="0" anchor="t" anchorCtr="0">
              <a:spAutoFit/>
            </a:bodyPr>
            <a:lstStyle/>
            <a:p>
              <a:pPr algn="l">
                <a:lnSpc>
                  <a:spcPts val="1950"/>
                </a:lnSpc>
              </a:pPr>
              <a:r>
                <a:rPr lang="zh-CN" sz="980" dirty="0">
                  <a:solidFill>
                    <a:srgbClr val="1A2230"/>
                  </a:solidFill>
                  <a:latin typeface="Arial"/>
                  <a:ea typeface="Microsoft YaHei"/>
                  <a:cs typeface="Arial"/>
                </a:rPr>
                <a:t>以风化、海洋输送或生物过程为例，说明水</a:t>
              </a:r>
              <a:br/>
              <a:r>
                <a:rPr lang="zh-CN" sz="980" dirty="0">
                  <a:solidFill>
                    <a:srgbClr val="1A2230"/>
                  </a:solidFill>
                  <a:latin typeface="Arial"/>
                  <a:ea typeface="Microsoft YaHei"/>
                  <a:cs typeface="Arial"/>
                </a:rPr>
                <a:t>如何耦合水循环与碳循环。</a:t>
              </a:r>
            </a:p>
          </p:txBody>
        </p:sp>
        <p:sp>
          <p:nvSpPr>
            <p:cNvPr id="31" name="TextBox 31"/>
            <p:cNvSpPr txBox="1"/>
            <p:nvPr/>
          </p:nvSpPr>
          <p:spPr>
            <a:xfrm>
              <a:off x="1157288" y="5255895"/>
              <a:ext cx="1376096" cy="176212"/>
            </a:xfrm>
            <a:prstGeom prst="rect">
              <a:avLst/>
            </a:prstGeom>
            <a:noFill/>
            <a:ln>
              <a:noFill/>
            </a:ln>
          </p:spPr>
          <p:txBody>
            <a:bodyPr wrap="none" lIns="0" tIns="0" rIns="0" bIns="0" anchor="t" anchorCtr="0">
              <a:spAutoFit/>
            </a:bodyPr>
            <a:lstStyle/>
            <a:p>
              <a:pPr algn="l"/>
              <a:r>
                <a:rPr lang="zh-CN" sz="900" dirty="0">
                  <a:solidFill>
                    <a:srgbClr val="4A5568"/>
                  </a:solidFill>
                  <a:latin typeface="Arial"/>
                  <a:ea typeface="Microsoft YaHei"/>
                  <a:cs typeface="Arial"/>
                </a:rPr>
                <a:t>类型：系统耦合 Coupling</a:t>
              </a:r>
            </a:p>
          </p:txBody>
        </p:sp>
      </p:grpSp>
      <p:grpSp>
        <p:nvGrpSpPr>
          <p:cNvPr id="40" name="Group 40"/>
          <p:cNvGrpSpPr/>
          <p:nvPr/>
        </p:nvGrpSpPr>
        <p:grpSpPr>
          <a:xfrm>
            <a:off x="6286500" y="3638550"/>
            <a:ext cx="5524500" cy="2000250"/>
            <a:chOff x="6286500" y="3638550"/>
            <a:chExt cx="5524500" cy="2000250"/>
          </a:xfrm>
        </p:grpSpPr>
        <p:sp>
          <p:nvSpPr>
            <p:cNvPr id="33" name="Rectangle 33"/>
            <p:cNvSpPr/>
            <p:nvPr/>
          </p:nvSpPr>
          <p:spPr>
            <a:xfrm>
              <a:off x="6286500" y="3638550"/>
              <a:ext cx="5524500" cy="2000250"/>
            </a:xfrm>
            <a:prstGeom prst="roundRect">
              <a:avLst>
                <a:gd name="adj" fmla="val 5714"/>
              </a:avLst>
            </a:prstGeom>
            <a:solidFill>
              <a:srgbClr val="F7F9FC"/>
            </a:solidFill>
            <a:ln w="9525">
              <a:solidFill>
                <a:srgbClr val="D6DCE5"/>
              </a:solidFill>
            </a:ln>
          </p:spPr>
        </p:sp>
        <p:sp>
          <p:nvSpPr>
            <p:cNvPr id="34" name="Ellipse 34"/>
            <p:cNvSpPr/>
            <p:nvPr/>
          </p:nvSpPr>
          <p:spPr>
            <a:xfrm>
              <a:off x="6457950" y="3810000"/>
              <a:ext cx="457200" cy="457200"/>
            </a:xfrm>
            <a:prstGeom prst="ellipse">
              <a:avLst/>
            </a:prstGeom>
            <a:solidFill>
              <a:srgbClr val="0E3F8C"/>
            </a:solidFill>
            <a:ln>
              <a:noFill/>
            </a:ln>
          </p:spPr>
        </p:sp>
        <p:sp>
          <p:nvSpPr>
            <p:cNvPr id="35" name="TextBox 35"/>
            <p:cNvSpPr txBox="1"/>
            <p:nvPr/>
          </p:nvSpPr>
          <p:spPr>
            <a:xfrm>
              <a:off x="6617132" y="3944779"/>
              <a:ext cx="138836" cy="308039"/>
            </a:xfrm>
            <a:prstGeom prst="rect">
              <a:avLst/>
            </a:prstGeom>
            <a:noFill/>
            <a:ln>
              <a:noFill/>
            </a:ln>
          </p:spPr>
          <p:txBody>
            <a:bodyPr wrap="none" lIns="0" tIns="0" rIns="0" bIns="0" anchor="t" anchorCtr="0">
              <a:spAutoFit/>
            </a:bodyPr>
            <a:lstStyle/>
            <a:p>
              <a:pPr algn="ctr"/>
              <a:r>
                <a:rPr lang="en-US" sz="1580" b="1" dirty="0">
                  <a:solidFill>
                    <a:srgbClr val="FFFFFF"/>
                  </a:solidFill>
                  <a:latin typeface="Arial"/>
                  <a:ea typeface="Arial"/>
                  <a:cs typeface="Arial"/>
                </a:rPr>
                <a:t>4</a:t>
              </a:r>
            </a:p>
          </p:txBody>
        </p:sp>
        <p:sp>
          <p:nvSpPr>
            <p:cNvPr id="36" name="TextBox 36"/>
            <p:cNvSpPr txBox="1"/>
            <p:nvPr/>
          </p:nvSpPr>
          <p:spPr>
            <a:xfrm>
              <a:off x="7061835" y="3821906"/>
              <a:ext cx="1669948" cy="220028"/>
            </a:xfrm>
            <a:prstGeom prst="rect">
              <a:avLst/>
            </a:prstGeom>
            <a:noFill/>
            <a:ln>
              <a:noFill/>
            </a:ln>
          </p:spPr>
          <p:txBody>
            <a:bodyPr wrap="none" lIns="0" tIns="0" rIns="0" bIns="0" anchor="t" anchorCtr="0">
              <a:spAutoFit/>
            </a:bodyPr>
            <a:lstStyle/>
            <a:p>
              <a:pPr algn="l"/>
              <a:r>
                <a:rPr lang="zh-CN" sz="1120" b="1" dirty="0">
                  <a:solidFill>
                    <a:srgbClr val="0E3F8C"/>
                  </a:solidFill>
                  <a:latin typeface="Arial"/>
                  <a:ea typeface="Microsoft YaHei"/>
                  <a:cs typeface="Arial"/>
                </a:rPr>
                <a:t>升温后的正、负反馈路径</a:t>
              </a:r>
            </a:p>
          </p:txBody>
        </p:sp>
        <p:sp>
          <p:nvSpPr>
            <p:cNvPr id="37" name="TextBox 37"/>
            <p:cNvSpPr txBox="1"/>
            <p:nvPr/>
          </p:nvSpPr>
          <p:spPr>
            <a:xfrm>
              <a:off x="7062788" y="4074795"/>
              <a:ext cx="1873918" cy="176212"/>
            </a:xfrm>
            <a:prstGeom prst="rect">
              <a:avLst/>
            </a:prstGeom>
            <a:noFill/>
            <a:ln>
              <a:noFill/>
            </a:ln>
          </p:spPr>
          <p:txBody>
            <a:bodyPr wrap="none" lIns="0" tIns="0" rIns="0" bIns="0" anchor="t" anchorCtr="0">
              <a:spAutoFit/>
            </a:bodyPr>
            <a:lstStyle/>
            <a:p>
              <a:pPr algn="l"/>
              <a:r>
                <a:rPr lang="en-US" sz="900" dirty="0">
                  <a:solidFill>
                    <a:srgbClr val="3D7BD9"/>
                  </a:solidFill>
                  <a:latin typeface="Arial"/>
                  <a:ea typeface="Arial"/>
                  <a:cs typeface="Arial"/>
                </a:rPr>
                <a:t>Feedback Sign · Response Speed</a:t>
              </a:r>
            </a:p>
          </p:txBody>
        </p:sp>
        <p:sp>
          <p:nvSpPr>
            <p:cNvPr id="38" name="TextBox 38"/>
            <p:cNvSpPr txBox="1"/>
            <p:nvPr/>
          </p:nvSpPr>
          <p:spPr>
            <a:xfrm>
              <a:off x="7062597" y="4466749"/>
              <a:ext cx="2250186" cy="438341"/>
            </a:xfrm>
            <a:prstGeom prst="rect">
              <a:avLst/>
            </a:prstGeom>
            <a:noFill/>
            <a:ln>
              <a:noFill/>
            </a:ln>
          </p:spPr>
          <p:txBody>
            <a:bodyPr wrap="none" lIns="0" tIns="0" rIns="0" bIns="0" anchor="t" anchorCtr="0">
              <a:spAutoFit/>
            </a:bodyPr>
            <a:lstStyle/>
            <a:p>
              <a:pPr algn="l">
                <a:lnSpc>
                  <a:spcPts val="1950"/>
                </a:lnSpc>
              </a:pPr>
              <a:r>
                <a:rPr lang="zh-CN" sz="980" dirty="0">
                  <a:solidFill>
                    <a:srgbClr val="1A2230"/>
                  </a:solidFill>
                  <a:latin typeface="Arial"/>
                  <a:ea typeface="Microsoft YaHei"/>
                  <a:cs typeface="Arial"/>
                </a:rPr>
                <a:t>从一次升温出发，各写一条正反馈与一条</a:t>
              </a:r>
              <a:br/>
              <a:r>
                <a:rPr lang="zh-CN" sz="980" dirty="0">
                  <a:solidFill>
                    <a:srgbClr val="1A2230"/>
                  </a:solidFill>
                  <a:latin typeface="Arial"/>
                  <a:ea typeface="Microsoft YaHei"/>
                  <a:cs typeface="Arial"/>
                </a:rPr>
                <a:t>负反馈路径，并比较二者响应快慢。</a:t>
              </a:r>
            </a:p>
          </p:txBody>
        </p:sp>
        <p:sp>
          <p:nvSpPr>
            <p:cNvPr id="39" name="TextBox 39"/>
            <p:cNvSpPr txBox="1"/>
            <p:nvPr/>
          </p:nvSpPr>
          <p:spPr>
            <a:xfrm>
              <a:off x="7062788" y="5255895"/>
              <a:ext cx="2330192" cy="176212"/>
            </a:xfrm>
            <a:prstGeom prst="rect">
              <a:avLst/>
            </a:prstGeom>
            <a:noFill/>
            <a:ln>
              <a:noFill/>
            </a:ln>
          </p:spPr>
          <p:txBody>
            <a:bodyPr wrap="none" lIns="0" tIns="0" rIns="0" bIns="0" anchor="t" anchorCtr="0">
              <a:spAutoFit/>
            </a:bodyPr>
            <a:lstStyle/>
            <a:p>
              <a:pPr algn="l"/>
              <a:r>
                <a:rPr lang="zh-CN" sz="900" dirty="0">
                  <a:solidFill>
                    <a:srgbClr val="4A5568"/>
                  </a:solidFill>
                  <a:latin typeface="Arial"/>
                  <a:ea typeface="Microsoft YaHei"/>
                  <a:cs typeface="Arial"/>
                </a:rPr>
                <a:t>类型：因果推理 Earth-system reasoning</a:t>
              </a:r>
            </a:p>
          </p:txBody>
        </p:sp>
      </p:grpSp>
      <p:grpSp>
        <p:nvGrpSpPr>
          <p:cNvPr id="43" name="Group 43"/>
          <p:cNvGrpSpPr/>
          <p:nvPr/>
        </p:nvGrpSpPr>
        <p:grpSpPr>
          <a:xfrm>
            <a:off x="375666" y="5905500"/>
            <a:ext cx="11435334" cy="377761"/>
            <a:chOff x="375666" y="5905500"/>
            <a:chExt cx="11435334" cy="377761"/>
          </a:xfrm>
        </p:grpSpPr>
        <p:sp>
          <p:nvSpPr>
            <p:cNvPr id="41" name="Line 41"/>
            <p:cNvSpPr/>
            <p:nvPr/>
          </p:nvSpPr>
          <p:spPr>
            <a:xfrm>
              <a:off x="381000" y="5905500"/>
              <a:ext cx="11430000" cy="9525"/>
            </a:xfrm>
            <a:custGeom>
              <a:avLst/>
              <a:gdLst/>
              <a:ahLst/>
              <a:cxnLst/>
              <a:rect l="l" t="t" r="r" b="b"/>
              <a:pathLst>
                <a:path w="11430000" h="9525">
                  <a:moveTo>
                    <a:pt x="0" y="0"/>
                  </a:moveTo>
                  <a:lnTo>
                    <a:pt x="11430000" y="0"/>
                  </a:lnTo>
                </a:path>
              </a:pathLst>
            </a:custGeom>
            <a:noFill/>
            <a:ln w="9525">
              <a:solidFill>
                <a:srgbClr val="D6DCE5"/>
              </a:solidFill>
            </a:ln>
          </p:spPr>
        </p:sp>
        <p:sp>
          <p:nvSpPr>
            <p:cNvPr id="42" name="TextBox 42"/>
            <p:cNvSpPr txBox="1"/>
            <p:nvPr/>
          </p:nvSpPr>
          <p:spPr>
            <a:xfrm>
              <a:off x="375666" y="6077902"/>
              <a:ext cx="5104096" cy="205359"/>
            </a:xfrm>
            <a:prstGeom prst="rect">
              <a:avLst/>
            </a:prstGeom>
            <a:noFill/>
            <a:ln>
              <a:noFill/>
            </a:ln>
          </p:spPr>
          <p:txBody>
            <a:bodyPr wrap="none" lIns="0" tIns="0" rIns="0" bIns="0" anchor="t" anchorCtr="0">
              <a:spAutoFit/>
            </a:bodyPr>
            <a:lstStyle/>
            <a:p>
              <a:pPr algn="l"/>
              <a:r>
                <a:rPr lang="zh-CN" sz="1050" b="1" dirty="0">
                  <a:solidFill>
                    <a:srgbClr val="0E3F8C"/>
                  </a:solidFill>
                  <a:latin typeface="Arial"/>
                  <a:ea typeface="Microsoft YaHei"/>
                  <a:cs typeface="Arial"/>
                </a:rPr>
                <a:t>教师从四道候选题中选 1–2 题作为正式作业 · Instructor selects one or two</a:t>
              </a:r>
            </a:p>
          </p:txBody>
        </p:sp>
      </p:grpSp>
      <p:sp>
        <p:nvSpPr>
          <p:cNvPr id="44" name="TextBox 44"/>
          <p:cNvSpPr txBox="1"/>
          <p:nvPr/>
        </p:nvSpPr>
        <p:spPr>
          <a:xfrm>
            <a:off x="376238" y="6532245"/>
            <a:ext cx="9727567" cy="176212"/>
          </a:xfrm>
          <a:prstGeom prst="rect">
            <a:avLst/>
          </a:prstGeom>
          <a:noFill/>
          <a:ln>
            <a:noFill/>
          </a:ln>
        </p:spPr>
        <p:txBody>
          <a:bodyPr wrap="none" lIns="0" tIns="0" rIns="0" bIns="0" anchor="t" anchorCtr="0">
            <a:spAutoFit/>
          </a:bodyPr>
          <a:lstStyle/>
          <a:p>
            <a:pPr algn="l"/>
            <a:r>
              <a:rPr lang="en-US" sz="900" dirty="0">
                <a:solidFill>
                  <a:srgbClr val="4A5568"/>
                </a:solidFill>
                <a:latin typeface="Arial"/>
                <a:ea typeface="Arial"/>
                <a:cs typeface="Arial"/>
              </a:rPr>
              <a:t>Candidate questions — Master Prompt Sections 42/52; content limited to approved Slides 04–41. Brief grading points in embedded Notes; no answers shown on slide.</a:t>
            </a:r>
          </a:p>
        </p:txBody>
      </p:sp>
      <p:sp>
        <p:nvSpPr>
          <p:cNvPr id="45" name="TextBox 45"/>
          <p:cNvSpPr txBox="1"/>
          <p:nvPr/>
        </p:nvSpPr>
        <p:spPr>
          <a:xfrm>
            <a:off x="11672964" y="6532245"/>
            <a:ext cx="142799" cy="176212"/>
          </a:xfrm>
          <a:prstGeom prst="rect">
            <a:avLst/>
          </a:prstGeom>
          <a:noFill/>
          <a:ln>
            <a:noFill/>
          </a:ln>
        </p:spPr>
        <p:txBody>
          <a:bodyPr wrap="none" lIns="0" tIns="0" rIns="0" bIns="0" anchor="t" anchorCtr="0">
            <a:spAutoFit/>
          </a:bodyPr>
          <a:lstStyle/>
          <a:p>
            <a:pPr algn="r"/>
            <a:r>
              <a:rPr lang="en-US" sz="900" dirty="0">
                <a:solidFill>
                  <a:srgbClr val="4A5568"/>
                </a:solidFill>
                <a:latin typeface="Arial"/>
                <a:ea typeface="Arial"/>
                <a:cs typeface="Arial"/>
              </a:rPr>
              <a:t>42</a:t>
            </a:r>
          </a:p>
        </p:txBody>
      </p:sp>
    </p:spTree>
    <p:extLst>
      <p:ext uri="{BB962C8B-B14F-4D97-AF65-F5344CB8AC3E}">
        <p14:creationId xmlns:p14="http://schemas.microsoft.com/office/powerpoint/2010/main" val="770297272"/>
      </p:ext>
    </p:extLst>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5"/>
          <p:cNvGrpSpPr/>
          <p:nvPr/>
        </p:nvGrpSpPr>
        <p:grpSpPr>
          <a:xfrm>
            <a:off x="0" y="0"/>
            <a:ext cx="12192000" cy="685800"/>
            <a:chOff x="0" y="0"/>
            <a:chExt cx="12192000" cy="685800"/>
          </a:xfrm>
        </p:grpSpPr>
        <p:sp>
          <p:nvSpPr>
            <p:cNvPr id="2" name="Rectangle 2"/>
            <p:cNvSpPr/>
            <p:nvPr/>
          </p:nvSpPr>
          <p:spPr>
            <a:xfrm>
              <a:off x="0" y="0"/>
              <a:ext cx="12192000" cy="685800"/>
            </a:xfrm>
            <a:prstGeom prst="rect">
              <a:avLst/>
            </a:prstGeom>
            <a:solidFill>
              <a:srgbClr val="0E3F8C"/>
            </a:solidFill>
            <a:ln>
              <a:noFill/>
            </a:ln>
          </p:spPr>
        </p:sp>
        <p:sp>
          <p:nvSpPr>
            <p:cNvPr id="3" name="TextBox 3"/>
            <p:cNvSpPr txBox="1"/>
            <p:nvPr/>
          </p:nvSpPr>
          <p:spPr>
            <a:xfrm>
              <a:off x="374142" y="282892"/>
              <a:ext cx="1873391" cy="264033"/>
            </a:xfrm>
            <a:prstGeom prst="rect">
              <a:avLst/>
            </a:prstGeom>
            <a:noFill/>
            <a:ln>
              <a:noFill/>
            </a:ln>
          </p:spPr>
          <p:txBody>
            <a:bodyPr wrap="none" lIns="0" tIns="0" rIns="0" bIns="0" anchor="t" anchorCtr="0">
              <a:spAutoFit/>
            </a:bodyPr>
            <a:lstStyle/>
            <a:p>
              <a:pPr algn="l"/>
              <a:r>
                <a:rPr lang="zh-CN" sz="1350" b="1" dirty="0">
                  <a:solidFill>
                    <a:srgbClr val="FFFFFF"/>
                  </a:solidFill>
                  <a:latin typeface="Arial"/>
                  <a:ea typeface="Microsoft YaHei"/>
                  <a:cs typeface="Arial"/>
                </a:rPr>
                <a:t>核心术语 | Key Terms</a:t>
              </a:r>
            </a:p>
          </p:txBody>
        </p:sp>
        <p:sp>
          <p:nvSpPr>
            <p:cNvPr id="4" name="TextBox 4"/>
            <p:cNvSpPr txBox="1"/>
            <p:nvPr/>
          </p:nvSpPr>
          <p:spPr>
            <a:xfrm>
              <a:off x="9910267" y="299085"/>
              <a:ext cx="1906829" cy="234696"/>
            </a:xfrm>
            <a:prstGeom prst="rect">
              <a:avLst/>
            </a:prstGeom>
            <a:noFill/>
            <a:ln>
              <a:noFill/>
            </a:ln>
          </p:spPr>
          <p:txBody>
            <a:bodyPr wrap="none" lIns="0" tIns="0" rIns="0" bIns="0" anchor="t" anchorCtr="0">
              <a:spAutoFit/>
            </a:bodyPr>
            <a:lstStyle/>
            <a:p>
              <a:pPr algn="r"/>
              <a:r>
                <a:rPr lang="en-US" sz="1200" dirty="0">
                  <a:solidFill>
                    <a:srgbClr val="C7D7F2"/>
                  </a:solidFill>
                  <a:latin typeface="Arial"/>
                  <a:ea typeface="Arial"/>
                  <a:cs typeface="Arial"/>
                </a:rPr>
                <a:t>LECTURE 16 · SYNTHESIS</a:t>
              </a:r>
            </a:p>
          </p:txBody>
        </p:sp>
      </p:grpSp>
      <p:grpSp>
        <p:nvGrpSpPr>
          <p:cNvPr id="8" name="Group 8"/>
          <p:cNvGrpSpPr/>
          <p:nvPr/>
        </p:nvGrpSpPr>
        <p:grpSpPr>
          <a:xfrm>
            <a:off x="381000" y="914400"/>
            <a:ext cx="5194376" cy="357093"/>
            <a:chOff x="381000" y="914400"/>
            <a:chExt cx="5194376" cy="357093"/>
          </a:xfrm>
        </p:grpSpPr>
        <p:sp>
          <p:nvSpPr>
            <p:cNvPr id="6" name="Rectangle 6"/>
            <p:cNvSpPr/>
            <p:nvPr/>
          </p:nvSpPr>
          <p:spPr>
            <a:xfrm>
              <a:off x="381000" y="914400"/>
              <a:ext cx="57150" cy="266700"/>
            </a:xfrm>
            <a:prstGeom prst="roundRect">
              <a:avLst>
                <a:gd name="adj" fmla="val 50000"/>
              </a:avLst>
            </a:prstGeom>
            <a:solidFill>
              <a:srgbClr val="1E4FA8"/>
            </a:solidFill>
            <a:ln>
              <a:noFill/>
            </a:ln>
          </p:spPr>
        </p:sp>
        <p:sp>
          <p:nvSpPr>
            <p:cNvPr id="7" name="TextBox 7"/>
            <p:cNvSpPr txBox="1"/>
            <p:nvPr/>
          </p:nvSpPr>
          <p:spPr>
            <a:xfrm>
              <a:off x="544449" y="963454"/>
              <a:ext cx="5030927" cy="308039"/>
            </a:xfrm>
            <a:prstGeom prst="rect">
              <a:avLst/>
            </a:prstGeom>
            <a:noFill/>
            <a:ln>
              <a:noFill/>
            </a:ln>
          </p:spPr>
          <p:txBody>
            <a:bodyPr wrap="none" lIns="0" tIns="0" rIns="0" bIns="0" anchor="t" anchorCtr="0">
              <a:spAutoFit/>
            </a:bodyPr>
            <a:lstStyle/>
            <a:p>
              <a:pPr algn="l"/>
              <a:r>
                <a:rPr lang="zh-CN" sz="1580" b="1" dirty="0">
                  <a:solidFill>
                    <a:srgbClr val="0E3F8C"/>
                  </a:solidFill>
                  <a:latin typeface="Arial"/>
                  <a:ea typeface="Microsoft YaHei"/>
                  <a:cs typeface="Arial"/>
                </a:rPr>
                <a:t>三组术语字段收束共同框架、水文过程与碳—耦合概念</a:t>
              </a:r>
            </a:p>
          </p:txBody>
        </p:sp>
      </p:grpSp>
      <p:grpSp>
        <p:nvGrpSpPr>
          <p:cNvPr id="31" name="Group 31"/>
          <p:cNvGrpSpPr/>
          <p:nvPr/>
        </p:nvGrpSpPr>
        <p:grpSpPr>
          <a:xfrm>
            <a:off x="381000" y="1428750"/>
            <a:ext cx="3619500" cy="4438650"/>
            <a:chOff x="381000" y="1428750"/>
            <a:chExt cx="3619500" cy="4438650"/>
          </a:xfrm>
        </p:grpSpPr>
        <p:sp>
          <p:nvSpPr>
            <p:cNvPr id="9" name="Rectangle 9"/>
            <p:cNvSpPr/>
            <p:nvPr/>
          </p:nvSpPr>
          <p:spPr>
            <a:xfrm>
              <a:off x="381000" y="1428750"/>
              <a:ext cx="3619500" cy="4438650"/>
            </a:xfrm>
            <a:prstGeom prst="roundRect">
              <a:avLst>
                <a:gd name="adj" fmla="val 3158"/>
              </a:avLst>
            </a:prstGeom>
            <a:solidFill>
              <a:srgbClr val="F7F9FC"/>
            </a:solidFill>
            <a:ln w="9525">
              <a:solidFill>
                <a:srgbClr val="D6DCE5"/>
              </a:solidFill>
            </a:ln>
          </p:spPr>
        </p:sp>
        <p:sp>
          <p:nvSpPr>
            <p:cNvPr id="10" name="Rectangle 10"/>
            <p:cNvSpPr/>
            <p:nvPr/>
          </p:nvSpPr>
          <p:spPr>
            <a:xfrm>
              <a:off x="381000" y="1428750"/>
              <a:ext cx="3619500" cy="419100"/>
            </a:xfrm>
            <a:prstGeom prst="roundRect">
              <a:avLst>
                <a:gd name="adj" fmla="val 27273"/>
              </a:avLst>
            </a:prstGeom>
            <a:solidFill>
              <a:srgbClr val="0E3F8C"/>
            </a:solidFill>
            <a:ln>
              <a:noFill/>
            </a:ln>
          </p:spPr>
        </p:sp>
        <p:sp>
          <p:nvSpPr>
            <p:cNvPr id="11" name="Rectangle 11"/>
            <p:cNvSpPr/>
            <p:nvPr/>
          </p:nvSpPr>
          <p:spPr>
            <a:xfrm>
              <a:off x="381000" y="1638300"/>
              <a:ext cx="3619500" cy="209550"/>
            </a:xfrm>
            <a:prstGeom prst="rect">
              <a:avLst/>
            </a:prstGeom>
            <a:solidFill>
              <a:srgbClr val="0E3F8C"/>
            </a:solidFill>
            <a:ln>
              <a:noFill/>
            </a:ln>
          </p:spPr>
        </p:sp>
        <p:sp>
          <p:nvSpPr>
            <p:cNvPr id="12" name="TextBox 12"/>
            <p:cNvSpPr txBox="1"/>
            <p:nvPr/>
          </p:nvSpPr>
          <p:spPr>
            <a:xfrm>
              <a:off x="565785" y="1583531"/>
              <a:ext cx="1518415" cy="220028"/>
            </a:xfrm>
            <a:prstGeom prst="rect">
              <a:avLst/>
            </a:prstGeom>
            <a:noFill/>
            <a:ln>
              <a:noFill/>
            </a:ln>
          </p:spPr>
          <p:txBody>
            <a:bodyPr wrap="none" lIns="0" tIns="0" rIns="0" bIns="0" anchor="t" anchorCtr="0">
              <a:spAutoFit/>
            </a:bodyPr>
            <a:lstStyle/>
            <a:p>
              <a:pPr algn="l"/>
              <a:r>
                <a:rPr lang="zh-CN" sz="1120" b="1" dirty="0">
                  <a:solidFill>
                    <a:srgbClr val="FFFFFF"/>
                  </a:solidFill>
                  <a:latin typeface="Arial"/>
                  <a:ea typeface="Microsoft YaHei"/>
                  <a:cs typeface="Arial"/>
                </a:rPr>
                <a:t>共同框架 Framework</a:t>
              </a:r>
            </a:p>
          </p:txBody>
        </p:sp>
        <p:sp>
          <p:nvSpPr>
            <p:cNvPr id="13" name="TextBox 13"/>
            <p:cNvSpPr txBox="1"/>
            <p:nvPr/>
          </p:nvSpPr>
          <p:spPr>
            <a:xfrm>
              <a:off x="3344837" y="1607820"/>
              <a:ext cx="469925" cy="176212"/>
            </a:xfrm>
            <a:prstGeom prst="rect">
              <a:avLst/>
            </a:prstGeom>
            <a:noFill/>
            <a:ln>
              <a:noFill/>
            </a:ln>
          </p:spPr>
          <p:txBody>
            <a:bodyPr wrap="none" lIns="0" tIns="0" rIns="0" bIns="0" anchor="t" anchorCtr="0">
              <a:spAutoFit/>
            </a:bodyPr>
            <a:lstStyle/>
            <a:p>
              <a:pPr algn="r"/>
              <a:r>
                <a:rPr lang="en-US" sz="900" dirty="0">
                  <a:solidFill>
                    <a:srgbClr val="C7D7F2"/>
                  </a:solidFill>
                  <a:latin typeface="Arial"/>
                  <a:ea typeface="Arial"/>
                  <a:cs typeface="Arial"/>
                </a:rPr>
                <a:t>6 terms</a:t>
              </a:r>
            </a:p>
          </p:txBody>
        </p:sp>
        <p:sp>
          <p:nvSpPr>
            <p:cNvPr id="14" name="Rectangle 14"/>
            <p:cNvSpPr/>
            <p:nvPr/>
          </p:nvSpPr>
          <p:spPr>
            <a:xfrm>
              <a:off x="533400" y="2019300"/>
              <a:ext cx="57150" cy="57150"/>
            </a:xfrm>
            <a:prstGeom prst="rect">
              <a:avLst/>
            </a:prstGeom>
            <a:solidFill>
              <a:srgbClr val="3D7BD9"/>
            </a:solidFill>
            <a:ln>
              <a:noFill/>
            </a:ln>
          </p:spPr>
        </p:sp>
        <p:sp>
          <p:nvSpPr>
            <p:cNvPr id="15" name="TextBox 15"/>
            <p:cNvSpPr txBox="1"/>
            <p:nvPr/>
          </p:nvSpPr>
          <p:spPr>
            <a:xfrm>
              <a:off x="680656" y="1995726"/>
              <a:ext cx="1093399" cy="198025"/>
            </a:xfrm>
            <a:prstGeom prst="rect">
              <a:avLst/>
            </a:prstGeom>
            <a:noFill/>
            <a:ln>
              <a:noFill/>
            </a:ln>
          </p:spPr>
          <p:txBody>
            <a:bodyPr wrap="none" lIns="0" tIns="0" rIns="0" bIns="0" anchor="t" anchorCtr="0">
              <a:spAutoFit/>
            </a:bodyPr>
            <a:lstStyle/>
            <a:p>
              <a:pPr algn="l"/>
              <a:r>
                <a:rPr lang="en-US" sz="1010" b="1" dirty="0">
                  <a:solidFill>
                    <a:srgbClr val="0E3F8C"/>
                  </a:solidFill>
                  <a:latin typeface="Arial"/>
                  <a:ea typeface="Arial"/>
                  <a:cs typeface="Arial"/>
                </a:rPr>
                <a:t>Reservoir</a:t>
              </a:r>
              <a:r>
                <a:rPr lang="zh-CN" sz="1010" dirty="0">
                  <a:solidFill>
                    <a:srgbClr val="1A2230"/>
                  </a:solidFill>
                  <a:latin typeface="Arial"/>
                  <a:ea typeface="Microsoft YaHei"/>
                  <a:cs typeface="Arial"/>
                </a:rPr>
                <a:t>　储库</a:t>
              </a:r>
            </a:p>
          </p:txBody>
        </p:sp>
        <p:sp>
          <p:nvSpPr>
            <p:cNvPr id="16" name="Line 16"/>
            <p:cNvSpPr/>
            <p:nvPr/>
          </p:nvSpPr>
          <p:spPr>
            <a:xfrm>
              <a:off x="533400" y="2247900"/>
              <a:ext cx="3314700" cy="9525"/>
            </a:xfrm>
            <a:custGeom>
              <a:avLst/>
              <a:gdLst/>
              <a:ahLst/>
              <a:cxnLst/>
              <a:rect l="l" t="t" r="r" b="b"/>
              <a:pathLst>
                <a:path w="3314700" h="9525">
                  <a:moveTo>
                    <a:pt x="0" y="0"/>
                  </a:moveTo>
                  <a:lnTo>
                    <a:pt x="3314700" y="0"/>
                  </a:lnTo>
                </a:path>
              </a:pathLst>
            </a:custGeom>
            <a:noFill/>
            <a:ln w="9525">
              <a:solidFill>
                <a:srgbClr val="E8EEF6"/>
              </a:solidFill>
            </a:ln>
          </p:spPr>
        </p:sp>
        <p:sp>
          <p:nvSpPr>
            <p:cNvPr id="17" name="Rectangle 17"/>
            <p:cNvSpPr/>
            <p:nvPr/>
          </p:nvSpPr>
          <p:spPr>
            <a:xfrm>
              <a:off x="533400" y="2533650"/>
              <a:ext cx="57150" cy="57150"/>
            </a:xfrm>
            <a:prstGeom prst="rect">
              <a:avLst/>
            </a:prstGeom>
            <a:solidFill>
              <a:srgbClr val="3D7BD9"/>
            </a:solidFill>
            <a:ln>
              <a:noFill/>
            </a:ln>
          </p:spPr>
        </p:sp>
        <p:sp>
          <p:nvSpPr>
            <p:cNvPr id="18" name="TextBox 18"/>
            <p:cNvSpPr txBox="1"/>
            <p:nvPr/>
          </p:nvSpPr>
          <p:spPr>
            <a:xfrm>
              <a:off x="680656" y="2510076"/>
              <a:ext cx="700516" cy="198025"/>
            </a:xfrm>
            <a:prstGeom prst="rect">
              <a:avLst/>
            </a:prstGeom>
            <a:noFill/>
            <a:ln>
              <a:noFill/>
            </a:ln>
          </p:spPr>
          <p:txBody>
            <a:bodyPr wrap="none" lIns="0" tIns="0" rIns="0" bIns="0" anchor="t" anchorCtr="0">
              <a:spAutoFit/>
            </a:bodyPr>
            <a:lstStyle/>
            <a:p>
              <a:pPr algn="l"/>
              <a:r>
                <a:rPr lang="en-US" sz="1010" b="1" dirty="0">
                  <a:solidFill>
                    <a:srgbClr val="0E3F8C"/>
                  </a:solidFill>
                  <a:latin typeface="Arial"/>
                  <a:ea typeface="Arial"/>
                  <a:cs typeface="Arial"/>
                </a:rPr>
                <a:t>Flux</a:t>
              </a:r>
              <a:r>
                <a:rPr lang="zh-CN" sz="1010" dirty="0">
                  <a:solidFill>
                    <a:srgbClr val="1A2230"/>
                  </a:solidFill>
                  <a:latin typeface="Arial"/>
                  <a:ea typeface="Microsoft YaHei"/>
                  <a:cs typeface="Arial"/>
                </a:rPr>
                <a:t>　通量</a:t>
              </a:r>
            </a:p>
          </p:txBody>
        </p:sp>
        <p:sp>
          <p:nvSpPr>
            <p:cNvPr id="19" name="Line 19"/>
            <p:cNvSpPr/>
            <p:nvPr/>
          </p:nvSpPr>
          <p:spPr>
            <a:xfrm>
              <a:off x="533400" y="2762250"/>
              <a:ext cx="3314700" cy="9525"/>
            </a:xfrm>
            <a:custGeom>
              <a:avLst/>
              <a:gdLst/>
              <a:ahLst/>
              <a:cxnLst/>
              <a:rect l="l" t="t" r="r" b="b"/>
              <a:pathLst>
                <a:path w="3314700" h="9525">
                  <a:moveTo>
                    <a:pt x="0" y="0"/>
                  </a:moveTo>
                  <a:lnTo>
                    <a:pt x="3314700" y="0"/>
                  </a:lnTo>
                </a:path>
              </a:pathLst>
            </a:custGeom>
            <a:noFill/>
            <a:ln w="9525">
              <a:solidFill>
                <a:srgbClr val="E8EEF6"/>
              </a:solidFill>
            </a:ln>
          </p:spPr>
        </p:sp>
        <p:sp>
          <p:nvSpPr>
            <p:cNvPr id="20" name="Rectangle 20"/>
            <p:cNvSpPr/>
            <p:nvPr/>
          </p:nvSpPr>
          <p:spPr>
            <a:xfrm>
              <a:off x="533400" y="3048000"/>
              <a:ext cx="57150" cy="57150"/>
            </a:xfrm>
            <a:prstGeom prst="rect">
              <a:avLst/>
            </a:prstGeom>
            <a:solidFill>
              <a:srgbClr val="3D7BD9"/>
            </a:solidFill>
            <a:ln>
              <a:noFill/>
            </a:ln>
          </p:spPr>
        </p:sp>
        <p:sp>
          <p:nvSpPr>
            <p:cNvPr id="21" name="TextBox 21"/>
            <p:cNvSpPr txBox="1"/>
            <p:nvPr/>
          </p:nvSpPr>
          <p:spPr>
            <a:xfrm>
              <a:off x="680656" y="3024426"/>
              <a:ext cx="1719773" cy="198025"/>
            </a:xfrm>
            <a:prstGeom prst="rect">
              <a:avLst/>
            </a:prstGeom>
            <a:noFill/>
            <a:ln>
              <a:noFill/>
            </a:ln>
          </p:spPr>
          <p:txBody>
            <a:bodyPr wrap="none" lIns="0" tIns="0" rIns="0" bIns="0" anchor="t" anchorCtr="0">
              <a:spAutoFit/>
            </a:bodyPr>
            <a:lstStyle/>
            <a:p>
              <a:pPr algn="l"/>
              <a:r>
                <a:rPr lang="en-US" sz="1010" b="1" dirty="0">
                  <a:solidFill>
                    <a:srgbClr val="0E3F8C"/>
                  </a:solidFill>
                  <a:latin typeface="Arial"/>
                  <a:ea typeface="Arial"/>
                  <a:cs typeface="Arial"/>
                </a:rPr>
                <a:t>Residence Time</a:t>
              </a:r>
              <a:r>
                <a:rPr lang="zh-CN" sz="1010" dirty="0">
                  <a:solidFill>
                    <a:srgbClr val="1A2230"/>
                  </a:solidFill>
                  <a:latin typeface="Arial"/>
                  <a:ea typeface="Microsoft YaHei"/>
                  <a:cs typeface="Arial"/>
                </a:rPr>
                <a:t>　停留时间</a:t>
              </a:r>
            </a:p>
          </p:txBody>
        </p:sp>
        <p:sp>
          <p:nvSpPr>
            <p:cNvPr id="22" name="Line 22"/>
            <p:cNvSpPr/>
            <p:nvPr/>
          </p:nvSpPr>
          <p:spPr>
            <a:xfrm>
              <a:off x="533400" y="3276600"/>
              <a:ext cx="3314700" cy="9525"/>
            </a:xfrm>
            <a:custGeom>
              <a:avLst/>
              <a:gdLst/>
              <a:ahLst/>
              <a:cxnLst/>
              <a:rect l="l" t="t" r="r" b="b"/>
              <a:pathLst>
                <a:path w="3314700" h="9525">
                  <a:moveTo>
                    <a:pt x="0" y="0"/>
                  </a:moveTo>
                  <a:lnTo>
                    <a:pt x="3314700" y="0"/>
                  </a:lnTo>
                </a:path>
              </a:pathLst>
            </a:custGeom>
            <a:noFill/>
            <a:ln w="9525">
              <a:solidFill>
                <a:srgbClr val="E8EEF6"/>
              </a:solidFill>
            </a:ln>
          </p:spPr>
        </p:sp>
        <p:sp>
          <p:nvSpPr>
            <p:cNvPr id="23" name="Rectangle 23"/>
            <p:cNvSpPr/>
            <p:nvPr/>
          </p:nvSpPr>
          <p:spPr>
            <a:xfrm>
              <a:off x="533400" y="3562350"/>
              <a:ext cx="57150" cy="57150"/>
            </a:xfrm>
            <a:prstGeom prst="rect">
              <a:avLst/>
            </a:prstGeom>
            <a:solidFill>
              <a:srgbClr val="3D7BD9"/>
            </a:solidFill>
            <a:ln>
              <a:noFill/>
            </a:ln>
          </p:spPr>
        </p:sp>
        <p:sp>
          <p:nvSpPr>
            <p:cNvPr id="24" name="TextBox 24"/>
            <p:cNvSpPr txBox="1"/>
            <p:nvPr/>
          </p:nvSpPr>
          <p:spPr>
            <a:xfrm>
              <a:off x="680656" y="3538776"/>
              <a:ext cx="1050794" cy="198025"/>
            </a:xfrm>
            <a:prstGeom prst="rect">
              <a:avLst/>
            </a:prstGeom>
            <a:noFill/>
            <a:ln>
              <a:noFill/>
            </a:ln>
          </p:spPr>
          <p:txBody>
            <a:bodyPr wrap="none" lIns="0" tIns="0" rIns="0" bIns="0" anchor="t" anchorCtr="0">
              <a:spAutoFit/>
            </a:bodyPr>
            <a:lstStyle/>
            <a:p>
              <a:pPr algn="l"/>
              <a:r>
                <a:rPr lang="en-US" sz="1010" b="1" dirty="0">
                  <a:solidFill>
                    <a:srgbClr val="0E3F8C"/>
                  </a:solidFill>
                  <a:latin typeface="Arial"/>
                  <a:ea typeface="Arial"/>
                  <a:cs typeface="Arial"/>
                </a:rPr>
                <a:t>Feedback</a:t>
              </a:r>
              <a:r>
                <a:rPr lang="zh-CN" sz="1010" dirty="0">
                  <a:solidFill>
                    <a:srgbClr val="1A2230"/>
                  </a:solidFill>
                  <a:latin typeface="Arial"/>
                  <a:ea typeface="Microsoft YaHei"/>
                  <a:cs typeface="Arial"/>
                </a:rPr>
                <a:t>　反馈</a:t>
              </a:r>
            </a:p>
          </p:txBody>
        </p:sp>
        <p:sp>
          <p:nvSpPr>
            <p:cNvPr id="25" name="Line 25"/>
            <p:cNvSpPr/>
            <p:nvPr/>
          </p:nvSpPr>
          <p:spPr>
            <a:xfrm>
              <a:off x="533400" y="3790950"/>
              <a:ext cx="3314700" cy="9525"/>
            </a:xfrm>
            <a:custGeom>
              <a:avLst/>
              <a:gdLst/>
              <a:ahLst/>
              <a:cxnLst/>
              <a:rect l="l" t="t" r="r" b="b"/>
              <a:pathLst>
                <a:path w="3314700" h="9525">
                  <a:moveTo>
                    <a:pt x="0" y="0"/>
                  </a:moveTo>
                  <a:lnTo>
                    <a:pt x="3314700" y="0"/>
                  </a:lnTo>
                </a:path>
              </a:pathLst>
            </a:custGeom>
            <a:noFill/>
            <a:ln w="9525">
              <a:solidFill>
                <a:srgbClr val="E8EEF6"/>
              </a:solidFill>
            </a:ln>
          </p:spPr>
        </p:sp>
        <p:sp>
          <p:nvSpPr>
            <p:cNvPr id="26" name="Rectangle 26"/>
            <p:cNvSpPr/>
            <p:nvPr/>
          </p:nvSpPr>
          <p:spPr>
            <a:xfrm>
              <a:off x="533400" y="4076700"/>
              <a:ext cx="57150" cy="57150"/>
            </a:xfrm>
            <a:prstGeom prst="rect">
              <a:avLst/>
            </a:prstGeom>
            <a:solidFill>
              <a:srgbClr val="3D7BD9"/>
            </a:solidFill>
            <a:ln>
              <a:noFill/>
            </a:ln>
          </p:spPr>
        </p:sp>
        <p:sp>
          <p:nvSpPr>
            <p:cNvPr id="27" name="TextBox 27"/>
            <p:cNvSpPr txBox="1"/>
            <p:nvPr/>
          </p:nvSpPr>
          <p:spPr>
            <a:xfrm>
              <a:off x="680656" y="4053126"/>
              <a:ext cx="1790614" cy="198025"/>
            </a:xfrm>
            <a:prstGeom prst="rect">
              <a:avLst/>
            </a:prstGeom>
            <a:noFill/>
            <a:ln>
              <a:noFill/>
            </a:ln>
          </p:spPr>
          <p:txBody>
            <a:bodyPr wrap="none" lIns="0" tIns="0" rIns="0" bIns="0" anchor="t" anchorCtr="0">
              <a:spAutoFit/>
            </a:bodyPr>
            <a:lstStyle/>
            <a:p>
              <a:pPr algn="l"/>
              <a:r>
                <a:rPr lang="en-US" sz="1010" b="1" dirty="0">
                  <a:solidFill>
                    <a:srgbClr val="0E3F8C"/>
                  </a:solidFill>
                  <a:latin typeface="Arial"/>
                  <a:ea typeface="Arial"/>
                  <a:cs typeface="Arial"/>
                </a:rPr>
                <a:t>Positive Feedback</a:t>
              </a:r>
              <a:r>
                <a:rPr lang="zh-CN" sz="1010" dirty="0">
                  <a:solidFill>
                    <a:srgbClr val="1A2230"/>
                  </a:solidFill>
                  <a:latin typeface="Arial"/>
                  <a:ea typeface="Microsoft YaHei"/>
                  <a:cs typeface="Arial"/>
                </a:rPr>
                <a:t>　正反馈</a:t>
              </a:r>
            </a:p>
          </p:txBody>
        </p:sp>
        <p:sp>
          <p:nvSpPr>
            <p:cNvPr id="28" name="Line 28"/>
            <p:cNvSpPr/>
            <p:nvPr/>
          </p:nvSpPr>
          <p:spPr>
            <a:xfrm>
              <a:off x="533400" y="4305300"/>
              <a:ext cx="3314700" cy="9525"/>
            </a:xfrm>
            <a:custGeom>
              <a:avLst/>
              <a:gdLst/>
              <a:ahLst/>
              <a:cxnLst/>
              <a:rect l="l" t="t" r="r" b="b"/>
              <a:pathLst>
                <a:path w="3314700" h="9525">
                  <a:moveTo>
                    <a:pt x="0" y="0"/>
                  </a:moveTo>
                  <a:lnTo>
                    <a:pt x="3314700" y="0"/>
                  </a:lnTo>
                </a:path>
              </a:pathLst>
            </a:custGeom>
            <a:noFill/>
            <a:ln w="9525">
              <a:solidFill>
                <a:srgbClr val="E8EEF6"/>
              </a:solidFill>
            </a:ln>
          </p:spPr>
        </p:sp>
        <p:sp>
          <p:nvSpPr>
            <p:cNvPr id="29" name="Rectangle 29"/>
            <p:cNvSpPr/>
            <p:nvPr/>
          </p:nvSpPr>
          <p:spPr>
            <a:xfrm>
              <a:off x="533400" y="4591050"/>
              <a:ext cx="57150" cy="57150"/>
            </a:xfrm>
            <a:prstGeom prst="rect">
              <a:avLst/>
            </a:prstGeom>
            <a:solidFill>
              <a:srgbClr val="3D7BD9"/>
            </a:solidFill>
            <a:ln>
              <a:noFill/>
            </a:ln>
          </p:spPr>
        </p:sp>
        <p:sp>
          <p:nvSpPr>
            <p:cNvPr id="30" name="TextBox 30"/>
            <p:cNvSpPr txBox="1"/>
            <p:nvPr/>
          </p:nvSpPr>
          <p:spPr>
            <a:xfrm>
              <a:off x="680656" y="4567476"/>
              <a:ext cx="1826557" cy="198025"/>
            </a:xfrm>
            <a:prstGeom prst="rect">
              <a:avLst/>
            </a:prstGeom>
            <a:noFill/>
            <a:ln>
              <a:noFill/>
            </a:ln>
          </p:spPr>
          <p:txBody>
            <a:bodyPr wrap="none" lIns="0" tIns="0" rIns="0" bIns="0" anchor="t" anchorCtr="0">
              <a:spAutoFit/>
            </a:bodyPr>
            <a:lstStyle/>
            <a:p>
              <a:pPr algn="l"/>
              <a:r>
                <a:rPr lang="en-US" sz="1010" b="1" dirty="0">
                  <a:solidFill>
                    <a:srgbClr val="0E3F8C"/>
                  </a:solidFill>
                  <a:latin typeface="Arial"/>
                  <a:ea typeface="Arial"/>
                  <a:cs typeface="Arial"/>
                </a:rPr>
                <a:t>Negative Feedback</a:t>
              </a:r>
              <a:r>
                <a:rPr lang="zh-CN" sz="1010" dirty="0">
                  <a:solidFill>
                    <a:srgbClr val="1A2230"/>
                  </a:solidFill>
                  <a:latin typeface="Arial"/>
                  <a:ea typeface="Microsoft YaHei"/>
                  <a:cs typeface="Arial"/>
                </a:rPr>
                <a:t>　负反馈</a:t>
              </a:r>
            </a:p>
          </p:txBody>
        </p:sp>
      </p:grpSp>
      <p:grpSp>
        <p:nvGrpSpPr>
          <p:cNvPr id="57" name="Group 57"/>
          <p:cNvGrpSpPr/>
          <p:nvPr/>
        </p:nvGrpSpPr>
        <p:grpSpPr>
          <a:xfrm>
            <a:off x="4286250" y="1428750"/>
            <a:ext cx="3619500" cy="4438650"/>
            <a:chOff x="4286250" y="1428750"/>
            <a:chExt cx="3619500" cy="4438650"/>
          </a:xfrm>
        </p:grpSpPr>
        <p:sp>
          <p:nvSpPr>
            <p:cNvPr id="32" name="Rectangle 32"/>
            <p:cNvSpPr/>
            <p:nvPr/>
          </p:nvSpPr>
          <p:spPr>
            <a:xfrm>
              <a:off x="4286250" y="1428750"/>
              <a:ext cx="3619500" cy="4438650"/>
            </a:xfrm>
            <a:prstGeom prst="roundRect">
              <a:avLst>
                <a:gd name="adj" fmla="val 3158"/>
              </a:avLst>
            </a:prstGeom>
            <a:solidFill>
              <a:srgbClr val="F7F9FC"/>
            </a:solidFill>
            <a:ln w="9525">
              <a:solidFill>
                <a:srgbClr val="D6DCE5"/>
              </a:solidFill>
            </a:ln>
          </p:spPr>
        </p:sp>
        <p:sp>
          <p:nvSpPr>
            <p:cNvPr id="33" name="Rectangle 33"/>
            <p:cNvSpPr/>
            <p:nvPr/>
          </p:nvSpPr>
          <p:spPr>
            <a:xfrm>
              <a:off x="4286250" y="1428750"/>
              <a:ext cx="3619500" cy="419100"/>
            </a:xfrm>
            <a:prstGeom prst="roundRect">
              <a:avLst>
                <a:gd name="adj" fmla="val 27273"/>
              </a:avLst>
            </a:prstGeom>
            <a:solidFill>
              <a:srgbClr val="1E4FA8"/>
            </a:solidFill>
            <a:ln>
              <a:noFill/>
            </a:ln>
          </p:spPr>
        </p:sp>
        <p:sp>
          <p:nvSpPr>
            <p:cNvPr id="34" name="Rectangle 34"/>
            <p:cNvSpPr/>
            <p:nvPr/>
          </p:nvSpPr>
          <p:spPr>
            <a:xfrm>
              <a:off x="4286250" y="1638300"/>
              <a:ext cx="3619500" cy="209550"/>
            </a:xfrm>
            <a:prstGeom prst="rect">
              <a:avLst/>
            </a:prstGeom>
            <a:solidFill>
              <a:srgbClr val="1E4FA8"/>
            </a:solidFill>
            <a:ln>
              <a:noFill/>
            </a:ln>
          </p:spPr>
        </p:sp>
        <p:sp>
          <p:nvSpPr>
            <p:cNvPr id="35" name="TextBox 35"/>
            <p:cNvSpPr txBox="1"/>
            <p:nvPr/>
          </p:nvSpPr>
          <p:spPr>
            <a:xfrm>
              <a:off x="4471035" y="1583531"/>
              <a:ext cx="1975947" cy="220028"/>
            </a:xfrm>
            <a:prstGeom prst="rect">
              <a:avLst/>
            </a:prstGeom>
            <a:noFill/>
            <a:ln>
              <a:noFill/>
            </a:ln>
          </p:spPr>
          <p:txBody>
            <a:bodyPr wrap="none" lIns="0" tIns="0" rIns="0" bIns="0" anchor="t" anchorCtr="0">
              <a:spAutoFit/>
            </a:bodyPr>
            <a:lstStyle/>
            <a:p>
              <a:pPr algn="l"/>
              <a:r>
                <a:rPr lang="zh-CN" sz="1120" b="1" dirty="0">
                  <a:solidFill>
                    <a:srgbClr val="FFFFFF"/>
                  </a:solidFill>
                  <a:latin typeface="Arial"/>
                  <a:ea typeface="Microsoft YaHei"/>
                  <a:cs typeface="Arial"/>
                </a:rPr>
                <a:t>水文过程 Water Processes</a:t>
              </a:r>
            </a:p>
          </p:txBody>
        </p:sp>
        <p:sp>
          <p:nvSpPr>
            <p:cNvPr id="36" name="TextBox 36"/>
            <p:cNvSpPr txBox="1"/>
            <p:nvPr/>
          </p:nvSpPr>
          <p:spPr>
            <a:xfrm>
              <a:off x="7250087" y="1607820"/>
              <a:ext cx="469925" cy="176212"/>
            </a:xfrm>
            <a:prstGeom prst="rect">
              <a:avLst/>
            </a:prstGeom>
            <a:noFill/>
            <a:ln>
              <a:noFill/>
            </a:ln>
          </p:spPr>
          <p:txBody>
            <a:bodyPr wrap="none" lIns="0" tIns="0" rIns="0" bIns="0" anchor="t" anchorCtr="0">
              <a:spAutoFit/>
            </a:bodyPr>
            <a:lstStyle/>
            <a:p>
              <a:pPr algn="r"/>
              <a:r>
                <a:rPr lang="en-US" sz="900" dirty="0">
                  <a:solidFill>
                    <a:srgbClr val="C7D7F2"/>
                  </a:solidFill>
                  <a:latin typeface="Arial"/>
                  <a:ea typeface="Arial"/>
                  <a:cs typeface="Arial"/>
                </a:rPr>
                <a:t>7 terms</a:t>
              </a:r>
            </a:p>
          </p:txBody>
        </p:sp>
        <p:sp>
          <p:nvSpPr>
            <p:cNvPr id="37" name="Rectangle 37"/>
            <p:cNvSpPr/>
            <p:nvPr/>
          </p:nvSpPr>
          <p:spPr>
            <a:xfrm>
              <a:off x="4438650" y="2019300"/>
              <a:ext cx="57150" cy="57150"/>
            </a:xfrm>
            <a:prstGeom prst="rect">
              <a:avLst/>
            </a:prstGeom>
            <a:solidFill>
              <a:srgbClr val="3D7BD9"/>
            </a:solidFill>
            <a:ln>
              <a:noFill/>
            </a:ln>
          </p:spPr>
        </p:sp>
        <p:sp>
          <p:nvSpPr>
            <p:cNvPr id="38" name="TextBox 38"/>
            <p:cNvSpPr txBox="1"/>
            <p:nvPr/>
          </p:nvSpPr>
          <p:spPr>
            <a:xfrm>
              <a:off x="4585906" y="1995726"/>
              <a:ext cx="1812085" cy="198025"/>
            </a:xfrm>
            <a:prstGeom prst="rect">
              <a:avLst/>
            </a:prstGeom>
            <a:noFill/>
            <a:ln>
              <a:noFill/>
            </a:ln>
          </p:spPr>
          <p:txBody>
            <a:bodyPr wrap="none" lIns="0" tIns="0" rIns="0" bIns="0" anchor="t" anchorCtr="0">
              <a:spAutoFit/>
            </a:bodyPr>
            <a:lstStyle/>
            <a:p>
              <a:pPr algn="l"/>
              <a:r>
                <a:rPr lang="en-US" sz="1010" b="1" dirty="0">
                  <a:solidFill>
                    <a:srgbClr val="0E3F8C"/>
                  </a:solidFill>
                  <a:latin typeface="Arial"/>
                  <a:ea typeface="Arial"/>
                  <a:cs typeface="Arial"/>
                </a:rPr>
                <a:t>Hydrologic Cycle</a:t>
              </a:r>
              <a:r>
                <a:rPr lang="zh-CN" sz="1010" dirty="0">
                  <a:solidFill>
                    <a:srgbClr val="1A2230"/>
                  </a:solidFill>
                  <a:latin typeface="Arial"/>
                  <a:ea typeface="Microsoft YaHei"/>
                  <a:cs typeface="Arial"/>
                </a:rPr>
                <a:t>　水文循环</a:t>
              </a:r>
            </a:p>
          </p:txBody>
        </p:sp>
        <p:sp>
          <p:nvSpPr>
            <p:cNvPr id="39" name="Line 39"/>
            <p:cNvSpPr/>
            <p:nvPr/>
          </p:nvSpPr>
          <p:spPr>
            <a:xfrm>
              <a:off x="4438650" y="2247900"/>
              <a:ext cx="3314700" cy="9525"/>
            </a:xfrm>
            <a:custGeom>
              <a:avLst/>
              <a:gdLst/>
              <a:ahLst/>
              <a:cxnLst/>
              <a:rect l="l" t="t" r="r" b="b"/>
              <a:pathLst>
                <a:path w="3314700" h="9525">
                  <a:moveTo>
                    <a:pt x="0" y="0"/>
                  </a:moveTo>
                  <a:lnTo>
                    <a:pt x="3314700" y="0"/>
                  </a:lnTo>
                </a:path>
              </a:pathLst>
            </a:custGeom>
            <a:noFill/>
            <a:ln w="9525">
              <a:solidFill>
                <a:srgbClr val="E8EEF6"/>
              </a:solidFill>
            </a:ln>
          </p:spPr>
        </p:sp>
        <p:sp>
          <p:nvSpPr>
            <p:cNvPr id="40" name="Rectangle 40"/>
            <p:cNvSpPr/>
            <p:nvPr/>
          </p:nvSpPr>
          <p:spPr>
            <a:xfrm>
              <a:off x="4438650" y="2533650"/>
              <a:ext cx="57150" cy="57150"/>
            </a:xfrm>
            <a:prstGeom prst="rect">
              <a:avLst/>
            </a:prstGeom>
            <a:solidFill>
              <a:srgbClr val="3D7BD9"/>
            </a:solidFill>
            <a:ln>
              <a:noFill/>
            </a:ln>
          </p:spPr>
        </p:sp>
        <p:sp>
          <p:nvSpPr>
            <p:cNvPr id="41" name="TextBox 41"/>
            <p:cNvSpPr txBox="1"/>
            <p:nvPr/>
          </p:nvSpPr>
          <p:spPr>
            <a:xfrm>
              <a:off x="4585906" y="2510076"/>
              <a:ext cx="1250481" cy="198025"/>
            </a:xfrm>
            <a:prstGeom prst="rect">
              <a:avLst/>
            </a:prstGeom>
            <a:noFill/>
            <a:ln>
              <a:noFill/>
            </a:ln>
          </p:spPr>
          <p:txBody>
            <a:bodyPr wrap="none" lIns="0" tIns="0" rIns="0" bIns="0" anchor="t" anchorCtr="0">
              <a:spAutoFit/>
            </a:bodyPr>
            <a:lstStyle/>
            <a:p>
              <a:pPr algn="l"/>
              <a:r>
                <a:rPr lang="en-US" sz="1010" b="1" dirty="0">
                  <a:solidFill>
                    <a:srgbClr val="0E3F8C"/>
                  </a:solidFill>
                  <a:latin typeface="Arial"/>
                  <a:ea typeface="Arial"/>
                  <a:cs typeface="Arial"/>
                </a:rPr>
                <a:t>Evaporation</a:t>
              </a:r>
              <a:r>
                <a:rPr lang="zh-CN" sz="1010" dirty="0">
                  <a:solidFill>
                    <a:srgbClr val="1A2230"/>
                  </a:solidFill>
                  <a:latin typeface="Arial"/>
                  <a:ea typeface="Microsoft YaHei"/>
                  <a:cs typeface="Arial"/>
                </a:rPr>
                <a:t>　蒸发</a:t>
              </a:r>
            </a:p>
          </p:txBody>
        </p:sp>
        <p:sp>
          <p:nvSpPr>
            <p:cNvPr id="42" name="Line 42"/>
            <p:cNvSpPr/>
            <p:nvPr/>
          </p:nvSpPr>
          <p:spPr>
            <a:xfrm>
              <a:off x="4438650" y="2762250"/>
              <a:ext cx="3314700" cy="9525"/>
            </a:xfrm>
            <a:custGeom>
              <a:avLst/>
              <a:gdLst/>
              <a:ahLst/>
              <a:cxnLst/>
              <a:rect l="l" t="t" r="r" b="b"/>
              <a:pathLst>
                <a:path w="3314700" h="9525">
                  <a:moveTo>
                    <a:pt x="0" y="0"/>
                  </a:moveTo>
                  <a:lnTo>
                    <a:pt x="3314700" y="0"/>
                  </a:lnTo>
                </a:path>
              </a:pathLst>
            </a:custGeom>
            <a:noFill/>
            <a:ln w="9525">
              <a:solidFill>
                <a:srgbClr val="E8EEF6"/>
              </a:solidFill>
            </a:ln>
          </p:spPr>
        </p:sp>
        <p:sp>
          <p:nvSpPr>
            <p:cNvPr id="43" name="Rectangle 43"/>
            <p:cNvSpPr/>
            <p:nvPr/>
          </p:nvSpPr>
          <p:spPr>
            <a:xfrm>
              <a:off x="4438650" y="3048000"/>
              <a:ext cx="57150" cy="57150"/>
            </a:xfrm>
            <a:prstGeom prst="rect">
              <a:avLst/>
            </a:prstGeom>
            <a:solidFill>
              <a:srgbClr val="3D7BD9"/>
            </a:solidFill>
            <a:ln>
              <a:noFill/>
            </a:ln>
          </p:spPr>
        </p:sp>
        <p:sp>
          <p:nvSpPr>
            <p:cNvPr id="44" name="TextBox 44"/>
            <p:cNvSpPr txBox="1"/>
            <p:nvPr/>
          </p:nvSpPr>
          <p:spPr>
            <a:xfrm>
              <a:off x="4585906" y="3024426"/>
              <a:ext cx="1764392" cy="198025"/>
            </a:xfrm>
            <a:prstGeom prst="rect">
              <a:avLst/>
            </a:prstGeom>
            <a:noFill/>
            <a:ln>
              <a:noFill/>
            </a:ln>
          </p:spPr>
          <p:txBody>
            <a:bodyPr wrap="none" lIns="0" tIns="0" rIns="0" bIns="0" anchor="t" anchorCtr="0">
              <a:spAutoFit/>
            </a:bodyPr>
            <a:lstStyle/>
            <a:p>
              <a:pPr algn="l"/>
              <a:r>
                <a:rPr lang="en-US" sz="1010" b="1" dirty="0">
                  <a:solidFill>
                    <a:srgbClr val="0E3F8C"/>
                  </a:solidFill>
                  <a:latin typeface="Arial"/>
                  <a:ea typeface="Arial"/>
                  <a:cs typeface="Arial"/>
                </a:rPr>
                <a:t>Evapotranspiration</a:t>
              </a:r>
              <a:r>
                <a:rPr lang="zh-CN" sz="1010" dirty="0">
                  <a:solidFill>
                    <a:srgbClr val="1A2230"/>
                  </a:solidFill>
                  <a:latin typeface="Arial"/>
                  <a:ea typeface="Microsoft YaHei"/>
                  <a:cs typeface="Arial"/>
                </a:rPr>
                <a:t>　蒸散</a:t>
              </a:r>
            </a:p>
          </p:txBody>
        </p:sp>
        <p:sp>
          <p:nvSpPr>
            <p:cNvPr id="45" name="Line 45"/>
            <p:cNvSpPr/>
            <p:nvPr/>
          </p:nvSpPr>
          <p:spPr>
            <a:xfrm>
              <a:off x="4438650" y="3276600"/>
              <a:ext cx="3314700" cy="9525"/>
            </a:xfrm>
            <a:custGeom>
              <a:avLst/>
              <a:gdLst/>
              <a:ahLst/>
              <a:cxnLst/>
              <a:rect l="l" t="t" r="r" b="b"/>
              <a:pathLst>
                <a:path w="3314700" h="9525">
                  <a:moveTo>
                    <a:pt x="0" y="0"/>
                  </a:moveTo>
                  <a:lnTo>
                    <a:pt x="3314700" y="0"/>
                  </a:lnTo>
                </a:path>
              </a:pathLst>
            </a:custGeom>
            <a:noFill/>
            <a:ln w="9525">
              <a:solidFill>
                <a:srgbClr val="E8EEF6"/>
              </a:solidFill>
            </a:ln>
          </p:spPr>
        </p:sp>
        <p:sp>
          <p:nvSpPr>
            <p:cNvPr id="46" name="Rectangle 46"/>
            <p:cNvSpPr/>
            <p:nvPr/>
          </p:nvSpPr>
          <p:spPr>
            <a:xfrm>
              <a:off x="4438650" y="3562350"/>
              <a:ext cx="57150" cy="57150"/>
            </a:xfrm>
            <a:prstGeom prst="rect">
              <a:avLst/>
            </a:prstGeom>
            <a:solidFill>
              <a:srgbClr val="3D7BD9"/>
            </a:solidFill>
            <a:ln>
              <a:noFill/>
            </a:ln>
          </p:spPr>
        </p:sp>
        <p:sp>
          <p:nvSpPr>
            <p:cNvPr id="47" name="TextBox 47"/>
            <p:cNvSpPr txBox="1"/>
            <p:nvPr/>
          </p:nvSpPr>
          <p:spPr>
            <a:xfrm>
              <a:off x="4585906" y="3538776"/>
              <a:ext cx="893753" cy="198025"/>
            </a:xfrm>
            <a:prstGeom prst="rect">
              <a:avLst/>
            </a:prstGeom>
            <a:noFill/>
            <a:ln>
              <a:noFill/>
            </a:ln>
          </p:spPr>
          <p:txBody>
            <a:bodyPr wrap="none" lIns="0" tIns="0" rIns="0" bIns="0" anchor="t" anchorCtr="0">
              <a:spAutoFit/>
            </a:bodyPr>
            <a:lstStyle/>
            <a:p>
              <a:pPr algn="l"/>
              <a:r>
                <a:rPr lang="en-US" sz="1010" b="1" dirty="0">
                  <a:solidFill>
                    <a:srgbClr val="0E3F8C"/>
                  </a:solidFill>
                  <a:latin typeface="Arial"/>
                  <a:ea typeface="Arial"/>
                  <a:cs typeface="Arial"/>
                </a:rPr>
                <a:t>Runoff</a:t>
              </a:r>
              <a:r>
                <a:rPr lang="zh-CN" sz="1010" dirty="0">
                  <a:solidFill>
                    <a:srgbClr val="1A2230"/>
                  </a:solidFill>
                  <a:latin typeface="Arial"/>
                  <a:ea typeface="Microsoft YaHei"/>
                  <a:cs typeface="Arial"/>
                </a:rPr>
                <a:t>　径流</a:t>
              </a:r>
            </a:p>
          </p:txBody>
        </p:sp>
        <p:sp>
          <p:nvSpPr>
            <p:cNvPr id="48" name="Line 48"/>
            <p:cNvSpPr/>
            <p:nvPr/>
          </p:nvSpPr>
          <p:spPr>
            <a:xfrm>
              <a:off x="4438650" y="3790950"/>
              <a:ext cx="3314700" cy="9525"/>
            </a:xfrm>
            <a:custGeom>
              <a:avLst/>
              <a:gdLst/>
              <a:ahLst/>
              <a:cxnLst/>
              <a:rect l="l" t="t" r="r" b="b"/>
              <a:pathLst>
                <a:path w="3314700" h="9525">
                  <a:moveTo>
                    <a:pt x="0" y="0"/>
                  </a:moveTo>
                  <a:lnTo>
                    <a:pt x="3314700" y="0"/>
                  </a:lnTo>
                </a:path>
              </a:pathLst>
            </a:custGeom>
            <a:noFill/>
            <a:ln w="9525">
              <a:solidFill>
                <a:srgbClr val="E8EEF6"/>
              </a:solidFill>
            </a:ln>
          </p:spPr>
        </p:sp>
        <p:sp>
          <p:nvSpPr>
            <p:cNvPr id="49" name="Rectangle 49"/>
            <p:cNvSpPr/>
            <p:nvPr/>
          </p:nvSpPr>
          <p:spPr>
            <a:xfrm>
              <a:off x="4438650" y="4076700"/>
              <a:ext cx="57150" cy="57150"/>
            </a:xfrm>
            <a:prstGeom prst="rect">
              <a:avLst/>
            </a:prstGeom>
            <a:solidFill>
              <a:srgbClr val="3D7BD9"/>
            </a:solidFill>
            <a:ln>
              <a:noFill/>
            </a:ln>
          </p:spPr>
        </p:sp>
        <p:sp>
          <p:nvSpPr>
            <p:cNvPr id="50" name="TextBox 50"/>
            <p:cNvSpPr txBox="1"/>
            <p:nvPr/>
          </p:nvSpPr>
          <p:spPr>
            <a:xfrm>
              <a:off x="4585906" y="4053126"/>
              <a:ext cx="1221438" cy="198025"/>
            </a:xfrm>
            <a:prstGeom prst="rect">
              <a:avLst/>
            </a:prstGeom>
            <a:noFill/>
            <a:ln>
              <a:noFill/>
            </a:ln>
          </p:spPr>
          <p:txBody>
            <a:bodyPr wrap="none" lIns="0" tIns="0" rIns="0" bIns="0" anchor="t" anchorCtr="0">
              <a:spAutoFit/>
            </a:bodyPr>
            <a:lstStyle/>
            <a:p>
              <a:pPr algn="l"/>
              <a:r>
                <a:rPr lang="en-US" sz="1010" b="1" dirty="0">
                  <a:solidFill>
                    <a:srgbClr val="0E3F8C"/>
                  </a:solidFill>
                  <a:latin typeface="Arial"/>
                  <a:ea typeface="Arial"/>
                  <a:cs typeface="Arial"/>
                </a:rPr>
                <a:t>Infiltration</a:t>
              </a:r>
              <a:r>
                <a:rPr lang="zh-CN" sz="1010" dirty="0">
                  <a:solidFill>
                    <a:srgbClr val="1A2230"/>
                  </a:solidFill>
                  <a:latin typeface="Arial"/>
                  <a:ea typeface="Microsoft YaHei"/>
                  <a:cs typeface="Arial"/>
                </a:rPr>
                <a:t>　入渗</a:t>
              </a:r>
            </a:p>
          </p:txBody>
        </p:sp>
        <p:sp>
          <p:nvSpPr>
            <p:cNvPr id="51" name="Line 51"/>
            <p:cNvSpPr/>
            <p:nvPr/>
          </p:nvSpPr>
          <p:spPr>
            <a:xfrm>
              <a:off x="4438650" y="4305300"/>
              <a:ext cx="3314700" cy="9525"/>
            </a:xfrm>
            <a:custGeom>
              <a:avLst/>
              <a:gdLst/>
              <a:ahLst/>
              <a:cxnLst/>
              <a:rect l="l" t="t" r="r" b="b"/>
              <a:pathLst>
                <a:path w="3314700" h="9525">
                  <a:moveTo>
                    <a:pt x="0" y="0"/>
                  </a:moveTo>
                  <a:lnTo>
                    <a:pt x="3314700" y="0"/>
                  </a:lnTo>
                </a:path>
              </a:pathLst>
            </a:custGeom>
            <a:noFill/>
            <a:ln w="9525">
              <a:solidFill>
                <a:srgbClr val="E8EEF6"/>
              </a:solidFill>
            </a:ln>
          </p:spPr>
        </p:sp>
        <p:sp>
          <p:nvSpPr>
            <p:cNvPr id="52" name="Rectangle 52"/>
            <p:cNvSpPr/>
            <p:nvPr/>
          </p:nvSpPr>
          <p:spPr>
            <a:xfrm>
              <a:off x="4438650" y="4591050"/>
              <a:ext cx="57150" cy="57150"/>
            </a:xfrm>
            <a:prstGeom prst="rect">
              <a:avLst/>
            </a:prstGeom>
            <a:solidFill>
              <a:srgbClr val="3D7BD9"/>
            </a:solidFill>
            <a:ln>
              <a:noFill/>
            </a:ln>
          </p:spPr>
        </p:sp>
        <p:sp>
          <p:nvSpPr>
            <p:cNvPr id="53" name="TextBox 53"/>
            <p:cNvSpPr txBox="1"/>
            <p:nvPr/>
          </p:nvSpPr>
          <p:spPr>
            <a:xfrm>
              <a:off x="4585906" y="4567476"/>
              <a:ext cx="1451021" cy="198025"/>
            </a:xfrm>
            <a:prstGeom prst="rect">
              <a:avLst/>
            </a:prstGeom>
            <a:noFill/>
            <a:ln>
              <a:noFill/>
            </a:ln>
          </p:spPr>
          <p:txBody>
            <a:bodyPr wrap="none" lIns="0" tIns="0" rIns="0" bIns="0" anchor="t" anchorCtr="0">
              <a:spAutoFit/>
            </a:bodyPr>
            <a:lstStyle/>
            <a:p>
              <a:pPr algn="l"/>
              <a:r>
                <a:rPr lang="en-US" sz="1010" b="1" dirty="0">
                  <a:solidFill>
                    <a:srgbClr val="0E3F8C"/>
                  </a:solidFill>
                  <a:latin typeface="Arial"/>
                  <a:ea typeface="Arial"/>
                  <a:cs typeface="Arial"/>
                </a:rPr>
                <a:t>Groundwater</a:t>
              </a:r>
              <a:r>
                <a:rPr lang="zh-CN" sz="1010" dirty="0">
                  <a:solidFill>
                    <a:srgbClr val="1A2230"/>
                  </a:solidFill>
                  <a:latin typeface="Arial"/>
                  <a:ea typeface="Microsoft YaHei"/>
                  <a:cs typeface="Arial"/>
                </a:rPr>
                <a:t>　地下水</a:t>
              </a:r>
            </a:p>
          </p:txBody>
        </p:sp>
        <p:sp>
          <p:nvSpPr>
            <p:cNvPr id="54" name="Line 54"/>
            <p:cNvSpPr/>
            <p:nvPr/>
          </p:nvSpPr>
          <p:spPr>
            <a:xfrm>
              <a:off x="4438650" y="4819650"/>
              <a:ext cx="3314700" cy="9525"/>
            </a:xfrm>
            <a:custGeom>
              <a:avLst/>
              <a:gdLst/>
              <a:ahLst/>
              <a:cxnLst/>
              <a:rect l="l" t="t" r="r" b="b"/>
              <a:pathLst>
                <a:path w="3314700" h="9525">
                  <a:moveTo>
                    <a:pt x="0" y="0"/>
                  </a:moveTo>
                  <a:lnTo>
                    <a:pt x="3314700" y="0"/>
                  </a:lnTo>
                </a:path>
              </a:pathLst>
            </a:custGeom>
            <a:noFill/>
            <a:ln w="9525">
              <a:solidFill>
                <a:srgbClr val="E8EEF6"/>
              </a:solidFill>
            </a:ln>
          </p:spPr>
        </p:sp>
        <p:sp>
          <p:nvSpPr>
            <p:cNvPr id="55" name="Rectangle 55"/>
            <p:cNvSpPr/>
            <p:nvPr/>
          </p:nvSpPr>
          <p:spPr>
            <a:xfrm>
              <a:off x="4438650" y="5105400"/>
              <a:ext cx="57150" cy="57150"/>
            </a:xfrm>
            <a:prstGeom prst="rect">
              <a:avLst/>
            </a:prstGeom>
            <a:solidFill>
              <a:srgbClr val="3D7BD9"/>
            </a:solidFill>
            <a:ln>
              <a:noFill/>
            </a:ln>
          </p:spPr>
        </p:sp>
        <p:sp>
          <p:nvSpPr>
            <p:cNvPr id="56" name="TextBox 56"/>
            <p:cNvSpPr txBox="1"/>
            <p:nvPr/>
          </p:nvSpPr>
          <p:spPr>
            <a:xfrm>
              <a:off x="4585906" y="5081826"/>
              <a:ext cx="1343801" cy="198025"/>
            </a:xfrm>
            <a:prstGeom prst="rect">
              <a:avLst/>
            </a:prstGeom>
            <a:noFill/>
            <a:ln>
              <a:noFill/>
            </a:ln>
          </p:spPr>
          <p:txBody>
            <a:bodyPr wrap="none" lIns="0" tIns="0" rIns="0" bIns="0" anchor="t" anchorCtr="0">
              <a:spAutoFit/>
            </a:bodyPr>
            <a:lstStyle/>
            <a:p>
              <a:pPr algn="l"/>
              <a:r>
                <a:rPr lang="en-US" sz="1010" b="1" dirty="0">
                  <a:solidFill>
                    <a:srgbClr val="0E3F8C"/>
                  </a:solidFill>
                  <a:latin typeface="Arial"/>
                  <a:ea typeface="Arial"/>
                  <a:cs typeface="Arial"/>
                </a:rPr>
                <a:t>Cryosphere</a:t>
              </a:r>
              <a:r>
                <a:rPr lang="zh-CN" sz="1010" dirty="0">
                  <a:solidFill>
                    <a:srgbClr val="1A2230"/>
                  </a:solidFill>
                  <a:latin typeface="Arial"/>
                  <a:ea typeface="Microsoft YaHei"/>
                  <a:cs typeface="Arial"/>
                </a:rPr>
                <a:t>　冰冻圈</a:t>
              </a:r>
            </a:p>
          </p:txBody>
        </p:sp>
      </p:grpSp>
      <p:grpSp>
        <p:nvGrpSpPr>
          <p:cNvPr id="83" name="Group 83"/>
          <p:cNvGrpSpPr/>
          <p:nvPr/>
        </p:nvGrpSpPr>
        <p:grpSpPr>
          <a:xfrm>
            <a:off x="8191500" y="1428750"/>
            <a:ext cx="3619500" cy="4438650"/>
            <a:chOff x="8191500" y="1428750"/>
            <a:chExt cx="3619500" cy="4438650"/>
          </a:xfrm>
        </p:grpSpPr>
        <p:sp>
          <p:nvSpPr>
            <p:cNvPr id="58" name="Rectangle 58"/>
            <p:cNvSpPr/>
            <p:nvPr/>
          </p:nvSpPr>
          <p:spPr>
            <a:xfrm>
              <a:off x="8191500" y="1428750"/>
              <a:ext cx="3619500" cy="4438650"/>
            </a:xfrm>
            <a:prstGeom prst="roundRect">
              <a:avLst>
                <a:gd name="adj" fmla="val 3158"/>
              </a:avLst>
            </a:prstGeom>
            <a:solidFill>
              <a:srgbClr val="FDF4EF"/>
            </a:solidFill>
            <a:ln w="9525">
              <a:solidFill>
                <a:srgbClr val="F0CFC2"/>
              </a:solidFill>
            </a:ln>
          </p:spPr>
        </p:sp>
        <p:sp>
          <p:nvSpPr>
            <p:cNvPr id="59" name="Rectangle 59"/>
            <p:cNvSpPr/>
            <p:nvPr/>
          </p:nvSpPr>
          <p:spPr>
            <a:xfrm>
              <a:off x="8191500" y="1428750"/>
              <a:ext cx="3619500" cy="419100"/>
            </a:xfrm>
            <a:prstGeom prst="roundRect">
              <a:avLst>
                <a:gd name="adj" fmla="val 27273"/>
              </a:avLst>
            </a:prstGeom>
            <a:solidFill>
              <a:srgbClr val="EA580C"/>
            </a:solidFill>
            <a:ln>
              <a:noFill/>
            </a:ln>
          </p:spPr>
        </p:sp>
        <p:sp>
          <p:nvSpPr>
            <p:cNvPr id="60" name="Rectangle 60"/>
            <p:cNvSpPr/>
            <p:nvPr/>
          </p:nvSpPr>
          <p:spPr>
            <a:xfrm>
              <a:off x="8191500" y="1638300"/>
              <a:ext cx="3619500" cy="209550"/>
            </a:xfrm>
            <a:prstGeom prst="rect">
              <a:avLst/>
            </a:prstGeom>
            <a:solidFill>
              <a:srgbClr val="EA580C"/>
            </a:solidFill>
            <a:ln>
              <a:noFill/>
            </a:ln>
          </p:spPr>
        </p:sp>
        <p:sp>
          <p:nvSpPr>
            <p:cNvPr id="61" name="TextBox 61"/>
            <p:cNvSpPr txBox="1"/>
            <p:nvPr/>
          </p:nvSpPr>
          <p:spPr>
            <a:xfrm>
              <a:off x="8376285" y="1583531"/>
              <a:ext cx="1999886" cy="220028"/>
            </a:xfrm>
            <a:prstGeom prst="rect">
              <a:avLst/>
            </a:prstGeom>
            <a:noFill/>
            <a:ln>
              <a:noFill/>
            </a:ln>
          </p:spPr>
          <p:txBody>
            <a:bodyPr wrap="none" lIns="0" tIns="0" rIns="0" bIns="0" anchor="t" anchorCtr="0">
              <a:spAutoFit/>
            </a:bodyPr>
            <a:lstStyle/>
            <a:p>
              <a:pPr algn="l"/>
              <a:r>
                <a:rPr lang="zh-CN" sz="1120" b="1" dirty="0">
                  <a:solidFill>
                    <a:srgbClr val="FFFFFF"/>
                  </a:solidFill>
                  <a:latin typeface="Arial"/>
                  <a:ea typeface="Microsoft YaHei"/>
                  <a:cs typeface="Arial"/>
                </a:rPr>
                <a:t>碳与耦合 Carbon &amp; Coupling</a:t>
              </a:r>
            </a:p>
          </p:txBody>
        </p:sp>
        <p:sp>
          <p:nvSpPr>
            <p:cNvPr id="62" name="TextBox 62"/>
            <p:cNvSpPr txBox="1"/>
            <p:nvPr/>
          </p:nvSpPr>
          <p:spPr>
            <a:xfrm>
              <a:off x="11155337" y="1607820"/>
              <a:ext cx="469925" cy="176212"/>
            </a:xfrm>
            <a:prstGeom prst="rect">
              <a:avLst/>
            </a:prstGeom>
            <a:noFill/>
            <a:ln>
              <a:noFill/>
            </a:ln>
          </p:spPr>
          <p:txBody>
            <a:bodyPr wrap="none" lIns="0" tIns="0" rIns="0" bIns="0" anchor="t" anchorCtr="0">
              <a:spAutoFit/>
            </a:bodyPr>
            <a:lstStyle/>
            <a:p>
              <a:pPr algn="r"/>
              <a:r>
                <a:rPr lang="en-US" sz="900" dirty="0">
                  <a:solidFill>
                    <a:srgbClr val="FDECDD"/>
                  </a:solidFill>
                  <a:latin typeface="Arial"/>
                  <a:ea typeface="Arial"/>
                  <a:cs typeface="Arial"/>
                </a:rPr>
                <a:t>7 terms</a:t>
              </a:r>
            </a:p>
          </p:txBody>
        </p:sp>
        <p:sp>
          <p:nvSpPr>
            <p:cNvPr id="63" name="Rectangle 63"/>
            <p:cNvSpPr/>
            <p:nvPr/>
          </p:nvSpPr>
          <p:spPr>
            <a:xfrm>
              <a:off x="8343900" y="2019300"/>
              <a:ext cx="57150" cy="57150"/>
            </a:xfrm>
            <a:prstGeom prst="rect">
              <a:avLst/>
            </a:prstGeom>
            <a:solidFill>
              <a:srgbClr val="EA580C"/>
            </a:solidFill>
            <a:ln>
              <a:noFill/>
            </a:ln>
          </p:spPr>
        </p:sp>
        <p:sp>
          <p:nvSpPr>
            <p:cNvPr id="64" name="TextBox 64"/>
            <p:cNvSpPr txBox="1"/>
            <p:nvPr/>
          </p:nvSpPr>
          <p:spPr>
            <a:xfrm>
              <a:off x="8491156" y="1995726"/>
              <a:ext cx="1433978" cy="198025"/>
            </a:xfrm>
            <a:prstGeom prst="rect">
              <a:avLst/>
            </a:prstGeom>
            <a:noFill/>
            <a:ln>
              <a:noFill/>
            </a:ln>
          </p:spPr>
          <p:txBody>
            <a:bodyPr wrap="none" lIns="0" tIns="0" rIns="0" bIns="0" anchor="t" anchorCtr="0">
              <a:spAutoFit/>
            </a:bodyPr>
            <a:lstStyle/>
            <a:p>
              <a:pPr algn="l"/>
              <a:r>
                <a:rPr lang="en-US" sz="1010" b="1" dirty="0">
                  <a:solidFill>
                    <a:srgbClr val="C2410C"/>
                  </a:solidFill>
                  <a:latin typeface="Arial"/>
                  <a:ea typeface="Arial"/>
                  <a:cs typeface="Arial"/>
                </a:rPr>
                <a:t>Carbon Cycle</a:t>
              </a:r>
              <a:r>
                <a:rPr lang="zh-CN" sz="1010" dirty="0">
                  <a:solidFill>
                    <a:srgbClr val="1A2230"/>
                  </a:solidFill>
                  <a:latin typeface="Arial"/>
                  <a:ea typeface="Microsoft YaHei"/>
                  <a:cs typeface="Arial"/>
                </a:rPr>
                <a:t>　碳循环</a:t>
              </a:r>
            </a:p>
          </p:txBody>
        </p:sp>
        <p:sp>
          <p:nvSpPr>
            <p:cNvPr id="65" name="Line 65"/>
            <p:cNvSpPr/>
            <p:nvPr/>
          </p:nvSpPr>
          <p:spPr>
            <a:xfrm>
              <a:off x="8343900" y="2247900"/>
              <a:ext cx="3314700" cy="9525"/>
            </a:xfrm>
            <a:custGeom>
              <a:avLst/>
              <a:gdLst/>
              <a:ahLst/>
              <a:cxnLst/>
              <a:rect l="l" t="t" r="r" b="b"/>
              <a:pathLst>
                <a:path w="3314700" h="9525">
                  <a:moveTo>
                    <a:pt x="0" y="0"/>
                  </a:moveTo>
                  <a:lnTo>
                    <a:pt x="3314700" y="0"/>
                  </a:lnTo>
                </a:path>
              </a:pathLst>
            </a:custGeom>
            <a:noFill/>
            <a:ln w="9525">
              <a:solidFill>
                <a:srgbClr val="F6E2D8"/>
              </a:solidFill>
            </a:ln>
          </p:spPr>
        </p:sp>
        <p:sp>
          <p:nvSpPr>
            <p:cNvPr id="66" name="Rectangle 66"/>
            <p:cNvSpPr/>
            <p:nvPr/>
          </p:nvSpPr>
          <p:spPr>
            <a:xfrm>
              <a:off x="8343900" y="2533650"/>
              <a:ext cx="57150" cy="57150"/>
            </a:xfrm>
            <a:prstGeom prst="rect">
              <a:avLst/>
            </a:prstGeom>
            <a:solidFill>
              <a:srgbClr val="EA580C"/>
            </a:solidFill>
            <a:ln>
              <a:noFill/>
            </a:ln>
          </p:spPr>
        </p:sp>
        <p:sp>
          <p:nvSpPr>
            <p:cNvPr id="67" name="TextBox 67"/>
            <p:cNvSpPr txBox="1"/>
            <p:nvPr/>
          </p:nvSpPr>
          <p:spPr>
            <a:xfrm>
              <a:off x="8491156" y="2510076"/>
              <a:ext cx="1758014" cy="198025"/>
            </a:xfrm>
            <a:prstGeom prst="rect">
              <a:avLst/>
            </a:prstGeom>
            <a:noFill/>
            <a:ln>
              <a:noFill/>
            </a:ln>
          </p:spPr>
          <p:txBody>
            <a:bodyPr wrap="none" lIns="0" tIns="0" rIns="0" bIns="0" anchor="t" anchorCtr="0">
              <a:spAutoFit/>
            </a:bodyPr>
            <a:lstStyle/>
            <a:p>
              <a:pPr algn="l"/>
              <a:r>
                <a:rPr lang="en-US" sz="1010" b="1" dirty="0">
                  <a:solidFill>
                    <a:srgbClr val="C2410C"/>
                  </a:solidFill>
                  <a:latin typeface="Arial"/>
                  <a:ea typeface="Arial"/>
                  <a:cs typeface="Arial"/>
                </a:rPr>
                <a:t>Photosynthesis</a:t>
              </a:r>
              <a:r>
                <a:rPr lang="zh-CN" sz="1010" dirty="0">
                  <a:solidFill>
                    <a:srgbClr val="1A2230"/>
                  </a:solidFill>
                  <a:latin typeface="Arial"/>
                  <a:ea typeface="Microsoft YaHei"/>
                  <a:cs typeface="Arial"/>
                </a:rPr>
                <a:t>　光合作用</a:t>
              </a:r>
            </a:p>
          </p:txBody>
        </p:sp>
        <p:sp>
          <p:nvSpPr>
            <p:cNvPr id="68" name="Line 68"/>
            <p:cNvSpPr/>
            <p:nvPr/>
          </p:nvSpPr>
          <p:spPr>
            <a:xfrm>
              <a:off x="8343900" y="2762250"/>
              <a:ext cx="3314700" cy="9525"/>
            </a:xfrm>
            <a:custGeom>
              <a:avLst/>
              <a:gdLst/>
              <a:ahLst/>
              <a:cxnLst/>
              <a:rect l="l" t="t" r="r" b="b"/>
              <a:pathLst>
                <a:path w="3314700" h="9525">
                  <a:moveTo>
                    <a:pt x="0" y="0"/>
                  </a:moveTo>
                  <a:lnTo>
                    <a:pt x="3314700" y="0"/>
                  </a:lnTo>
                </a:path>
              </a:pathLst>
            </a:custGeom>
            <a:noFill/>
            <a:ln w="9525">
              <a:solidFill>
                <a:srgbClr val="F6E2D8"/>
              </a:solidFill>
            </a:ln>
          </p:spPr>
        </p:sp>
        <p:sp>
          <p:nvSpPr>
            <p:cNvPr id="69" name="Rectangle 69"/>
            <p:cNvSpPr/>
            <p:nvPr/>
          </p:nvSpPr>
          <p:spPr>
            <a:xfrm>
              <a:off x="8343900" y="3048000"/>
              <a:ext cx="57150" cy="57150"/>
            </a:xfrm>
            <a:prstGeom prst="rect">
              <a:avLst/>
            </a:prstGeom>
            <a:solidFill>
              <a:srgbClr val="EA580C"/>
            </a:solidFill>
            <a:ln>
              <a:noFill/>
            </a:ln>
          </p:spPr>
        </p:sp>
        <p:sp>
          <p:nvSpPr>
            <p:cNvPr id="70" name="TextBox 70"/>
            <p:cNvSpPr txBox="1"/>
            <p:nvPr/>
          </p:nvSpPr>
          <p:spPr>
            <a:xfrm>
              <a:off x="8491156" y="3024426"/>
              <a:ext cx="1214606" cy="198025"/>
            </a:xfrm>
            <a:prstGeom prst="rect">
              <a:avLst/>
            </a:prstGeom>
            <a:noFill/>
            <a:ln>
              <a:noFill/>
            </a:ln>
          </p:spPr>
          <p:txBody>
            <a:bodyPr wrap="none" lIns="0" tIns="0" rIns="0" bIns="0" anchor="t" anchorCtr="0">
              <a:spAutoFit/>
            </a:bodyPr>
            <a:lstStyle/>
            <a:p>
              <a:pPr algn="l"/>
              <a:r>
                <a:rPr lang="en-US" sz="1010" b="1" dirty="0">
                  <a:solidFill>
                    <a:srgbClr val="C2410C"/>
                  </a:solidFill>
                  <a:latin typeface="Arial"/>
                  <a:ea typeface="Arial"/>
                  <a:cs typeface="Arial"/>
                </a:rPr>
                <a:t>Respiration</a:t>
              </a:r>
              <a:r>
                <a:rPr lang="zh-CN" sz="1010" dirty="0">
                  <a:solidFill>
                    <a:srgbClr val="1A2230"/>
                  </a:solidFill>
                  <a:latin typeface="Arial"/>
                  <a:ea typeface="Microsoft YaHei"/>
                  <a:cs typeface="Arial"/>
                </a:rPr>
                <a:t>　呼吸</a:t>
              </a:r>
            </a:p>
          </p:txBody>
        </p:sp>
        <p:sp>
          <p:nvSpPr>
            <p:cNvPr id="71" name="Line 71"/>
            <p:cNvSpPr/>
            <p:nvPr/>
          </p:nvSpPr>
          <p:spPr>
            <a:xfrm>
              <a:off x="8343900" y="3276600"/>
              <a:ext cx="3314700" cy="9525"/>
            </a:xfrm>
            <a:custGeom>
              <a:avLst/>
              <a:gdLst/>
              <a:ahLst/>
              <a:cxnLst/>
              <a:rect l="l" t="t" r="r" b="b"/>
              <a:pathLst>
                <a:path w="3314700" h="9525">
                  <a:moveTo>
                    <a:pt x="0" y="0"/>
                  </a:moveTo>
                  <a:lnTo>
                    <a:pt x="3314700" y="0"/>
                  </a:lnTo>
                </a:path>
              </a:pathLst>
            </a:custGeom>
            <a:noFill/>
            <a:ln w="9525">
              <a:solidFill>
                <a:srgbClr val="F6E2D8"/>
              </a:solidFill>
            </a:ln>
          </p:spPr>
        </p:sp>
        <p:sp>
          <p:nvSpPr>
            <p:cNvPr id="72" name="Rectangle 72"/>
            <p:cNvSpPr/>
            <p:nvPr/>
          </p:nvSpPr>
          <p:spPr>
            <a:xfrm>
              <a:off x="8343900" y="3562350"/>
              <a:ext cx="57150" cy="57150"/>
            </a:xfrm>
            <a:prstGeom prst="rect">
              <a:avLst/>
            </a:prstGeom>
            <a:solidFill>
              <a:srgbClr val="EA580C"/>
            </a:solidFill>
            <a:ln>
              <a:noFill/>
            </a:ln>
          </p:spPr>
        </p:sp>
        <p:sp>
          <p:nvSpPr>
            <p:cNvPr id="73" name="TextBox 73"/>
            <p:cNvSpPr txBox="1"/>
            <p:nvPr/>
          </p:nvSpPr>
          <p:spPr>
            <a:xfrm>
              <a:off x="8491156" y="3538776"/>
              <a:ext cx="1200656" cy="198025"/>
            </a:xfrm>
            <a:prstGeom prst="rect">
              <a:avLst/>
            </a:prstGeom>
            <a:noFill/>
            <a:ln>
              <a:noFill/>
            </a:ln>
          </p:spPr>
          <p:txBody>
            <a:bodyPr wrap="none" lIns="0" tIns="0" rIns="0" bIns="0" anchor="t" anchorCtr="0">
              <a:spAutoFit/>
            </a:bodyPr>
            <a:lstStyle/>
            <a:p>
              <a:pPr algn="l"/>
              <a:r>
                <a:rPr lang="en-US" sz="1010" b="1" dirty="0">
                  <a:solidFill>
                    <a:srgbClr val="C2410C"/>
                  </a:solidFill>
                  <a:latin typeface="Arial"/>
                  <a:ea typeface="Arial"/>
                  <a:cs typeface="Arial"/>
                </a:rPr>
                <a:t>Weathering</a:t>
              </a:r>
              <a:r>
                <a:rPr lang="zh-CN" sz="1010" dirty="0">
                  <a:solidFill>
                    <a:srgbClr val="1A2230"/>
                  </a:solidFill>
                  <a:latin typeface="Arial"/>
                  <a:ea typeface="Microsoft YaHei"/>
                  <a:cs typeface="Arial"/>
                </a:rPr>
                <a:t>　风化</a:t>
              </a:r>
            </a:p>
          </p:txBody>
        </p:sp>
        <p:sp>
          <p:nvSpPr>
            <p:cNvPr id="74" name="Line 74"/>
            <p:cNvSpPr/>
            <p:nvPr/>
          </p:nvSpPr>
          <p:spPr>
            <a:xfrm>
              <a:off x="8343900" y="3790950"/>
              <a:ext cx="3314700" cy="9525"/>
            </a:xfrm>
            <a:custGeom>
              <a:avLst/>
              <a:gdLst/>
              <a:ahLst/>
              <a:cxnLst/>
              <a:rect l="l" t="t" r="r" b="b"/>
              <a:pathLst>
                <a:path w="3314700" h="9525">
                  <a:moveTo>
                    <a:pt x="0" y="0"/>
                  </a:moveTo>
                  <a:lnTo>
                    <a:pt x="3314700" y="0"/>
                  </a:lnTo>
                </a:path>
              </a:pathLst>
            </a:custGeom>
            <a:noFill/>
            <a:ln w="9525">
              <a:solidFill>
                <a:srgbClr val="F6E2D8"/>
              </a:solidFill>
            </a:ln>
          </p:spPr>
        </p:sp>
        <p:sp>
          <p:nvSpPr>
            <p:cNvPr id="75" name="Rectangle 75"/>
            <p:cNvSpPr/>
            <p:nvPr/>
          </p:nvSpPr>
          <p:spPr>
            <a:xfrm>
              <a:off x="8343900" y="4076700"/>
              <a:ext cx="57150" cy="57150"/>
            </a:xfrm>
            <a:prstGeom prst="rect">
              <a:avLst/>
            </a:prstGeom>
            <a:solidFill>
              <a:srgbClr val="EA580C"/>
            </a:solidFill>
            <a:ln>
              <a:noFill/>
            </a:ln>
          </p:spPr>
        </p:sp>
        <p:sp>
          <p:nvSpPr>
            <p:cNvPr id="76" name="TextBox 76"/>
            <p:cNvSpPr txBox="1"/>
            <p:nvPr/>
          </p:nvSpPr>
          <p:spPr>
            <a:xfrm>
              <a:off x="8491156" y="4053126"/>
              <a:ext cx="1265281" cy="198025"/>
            </a:xfrm>
            <a:prstGeom prst="rect">
              <a:avLst/>
            </a:prstGeom>
            <a:noFill/>
            <a:ln>
              <a:noFill/>
            </a:ln>
          </p:spPr>
          <p:txBody>
            <a:bodyPr wrap="none" lIns="0" tIns="0" rIns="0" bIns="0" anchor="t" anchorCtr="0">
              <a:spAutoFit/>
            </a:bodyPr>
            <a:lstStyle/>
            <a:p>
              <a:pPr algn="l"/>
              <a:r>
                <a:rPr lang="en-US" sz="1010" b="1" dirty="0">
                  <a:solidFill>
                    <a:srgbClr val="C2410C"/>
                  </a:solidFill>
                  <a:latin typeface="Arial"/>
                  <a:ea typeface="Arial"/>
                  <a:cs typeface="Arial"/>
                </a:rPr>
                <a:t>Carbonate</a:t>
              </a:r>
              <a:r>
                <a:rPr lang="zh-CN" sz="1010" dirty="0">
                  <a:solidFill>
                    <a:srgbClr val="1A2230"/>
                  </a:solidFill>
                  <a:latin typeface="Arial"/>
                  <a:ea typeface="Microsoft YaHei"/>
                  <a:cs typeface="Arial"/>
                </a:rPr>
                <a:t>　碳酸盐</a:t>
              </a:r>
            </a:p>
          </p:txBody>
        </p:sp>
        <p:sp>
          <p:nvSpPr>
            <p:cNvPr id="77" name="Line 77"/>
            <p:cNvSpPr/>
            <p:nvPr/>
          </p:nvSpPr>
          <p:spPr>
            <a:xfrm>
              <a:off x="8343900" y="4305300"/>
              <a:ext cx="3314700" cy="9525"/>
            </a:xfrm>
            <a:custGeom>
              <a:avLst/>
              <a:gdLst/>
              <a:ahLst/>
              <a:cxnLst/>
              <a:rect l="l" t="t" r="r" b="b"/>
              <a:pathLst>
                <a:path w="3314700" h="9525">
                  <a:moveTo>
                    <a:pt x="0" y="0"/>
                  </a:moveTo>
                  <a:lnTo>
                    <a:pt x="3314700" y="0"/>
                  </a:lnTo>
                </a:path>
              </a:pathLst>
            </a:custGeom>
            <a:noFill/>
            <a:ln w="9525">
              <a:solidFill>
                <a:srgbClr val="F6E2D8"/>
              </a:solidFill>
            </a:ln>
          </p:spPr>
        </p:sp>
        <p:sp>
          <p:nvSpPr>
            <p:cNvPr id="78" name="Rectangle 78"/>
            <p:cNvSpPr/>
            <p:nvPr/>
          </p:nvSpPr>
          <p:spPr>
            <a:xfrm>
              <a:off x="8343900" y="4591050"/>
              <a:ext cx="57150" cy="57150"/>
            </a:xfrm>
            <a:prstGeom prst="rect">
              <a:avLst/>
            </a:prstGeom>
            <a:solidFill>
              <a:srgbClr val="EA580C"/>
            </a:solidFill>
            <a:ln>
              <a:noFill/>
            </a:ln>
          </p:spPr>
        </p:sp>
        <p:sp>
          <p:nvSpPr>
            <p:cNvPr id="79" name="TextBox 79"/>
            <p:cNvSpPr txBox="1"/>
            <p:nvPr/>
          </p:nvSpPr>
          <p:spPr>
            <a:xfrm>
              <a:off x="8491156" y="4567476"/>
              <a:ext cx="1590368" cy="198025"/>
            </a:xfrm>
            <a:prstGeom prst="rect">
              <a:avLst/>
            </a:prstGeom>
            <a:noFill/>
            <a:ln>
              <a:noFill/>
            </a:ln>
          </p:spPr>
          <p:txBody>
            <a:bodyPr wrap="none" lIns="0" tIns="0" rIns="0" bIns="0" anchor="t" anchorCtr="0">
              <a:spAutoFit/>
            </a:bodyPr>
            <a:lstStyle/>
            <a:p>
              <a:pPr algn="l"/>
              <a:r>
                <a:rPr lang="en-US" sz="1010" b="1" dirty="0">
                  <a:solidFill>
                    <a:srgbClr val="C2410C"/>
                  </a:solidFill>
                  <a:latin typeface="Arial"/>
                  <a:ea typeface="Arial"/>
                  <a:cs typeface="Arial"/>
                </a:rPr>
                <a:t>Biological Pump</a:t>
              </a:r>
              <a:r>
                <a:rPr lang="zh-CN" sz="1010" dirty="0">
                  <a:solidFill>
                    <a:srgbClr val="1A2230"/>
                  </a:solidFill>
                  <a:latin typeface="Arial"/>
                  <a:ea typeface="Microsoft YaHei"/>
                  <a:cs typeface="Arial"/>
                </a:rPr>
                <a:t>　生物泵</a:t>
              </a:r>
            </a:p>
          </p:txBody>
        </p:sp>
        <p:sp>
          <p:nvSpPr>
            <p:cNvPr id="80" name="Line 80"/>
            <p:cNvSpPr/>
            <p:nvPr/>
          </p:nvSpPr>
          <p:spPr>
            <a:xfrm>
              <a:off x="8343900" y="4819650"/>
              <a:ext cx="3314700" cy="9525"/>
            </a:xfrm>
            <a:custGeom>
              <a:avLst/>
              <a:gdLst/>
              <a:ahLst/>
              <a:cxnLst/>
              <a:rect l="l" t="t" r="r" b="b"/>
              <a:pathLst>
                <a:path w="3314700" h="9525">
                  <a:moveTo>
                    <a:pt x="0" y="0"/>
                  </a:moveTo>
                  <a:lnTo>
                    <a:pt x="3314700" y="0"/>
                  </a:lnTo>
                </a:path>
              </a:pathLst>
            </a:custGeom>
            <a:noFill/>
            <a:ln w="9525">
              <a:solidFill>
                <a:srgbClr val="F6E2D8"/>
              </a:solidFill>
            </a:ln>
          </p:spPr>
        </p:sp>
        <p:sp>
          <p:nvSpPr>
            <p:cNvPr id="81" name="Rectangle 81"/>
            <p:cNvSpPr/>
            <p:nvPr/>
          </p:nvSpPr>
          <p:spPr>
            <a:xfrm>
              <a:off x="8343900" y="5105400"/>
              <a:ext cx="57150" cy="57150"/>
            </a:xfrm>
            <a:prstGeom prst="rect">
              <a:avLst/>
            </a:prstGeom>
            <a:solidFill>
              <a:srgbClr val="EA580C"/>
            </a:solidFill>
            <a:ln>
              <a:noFill/>
            </a:ln>
          </p:spPr>
        </p:sp>
        <p:sp>
          <p:nvSpPr>
            <p:cNvPr id="82" name="TextBox 82"/>
            <p:cNvSpPr txBox="1"/>
            <p:nvPr/>
          </p:nvSpPr>
          <p:spPr>
            <a:xfrm>
              <a:off x="8491156" y="5081826"/>
              <a:ext cx="1505287" cy="198025"/>
            </a:xfrm>
            <a:prstGeom prst="rect">
              <a:avLst/>
            </a:prstGeom>
            <a:noFill/>
            <a:ln>
              <a:noFill/>
            </a:ln>
          </p:spPr>
          <p:txBody>
            <a:bodyPr wrap="none" lIns="0" tIns="0" rIns="0" bIns="0" anchor="t" anchorCtr="0">
              <a:spAutoFit/>
            </a:bodyPr>
            <a:lstStyle/>
            <a:p>
              <a:pPr algn="l"/>
              <a:r>
                <a:rPr lang="en-US" sz="1010" b="1" dirty="0">
                  <a:solidFill>
                    <a:srgbClr val="C2410C"/>
                  </a:solidFill>
                  <a:latin typeface="Arial"/>
                  <a:ea typeface="Arial"/>
                  <a:cs typeface="Arial"/>
                </a:rPr>
                <a:t>Physical Pump</a:t>
              </a:r>
              <a:r>
                <a:rPr lang="zh-CN" sz="1010" dirty="0">
                  <a:solidFill>
                    <a:srgbClr val="1A2230"/>
                  </a:solidFill>
                  <a:latin typeface="Arial"/>
                  <a:ea typeface="Microsoft YaHei"/>
                  <a:cs typeface="Arial"/>
                </a:rPr>
                <a:t>　物理泵</a:t>
              </a:r>
            </a:p>
          </p:txBody>
        </p:sp>
      </p:grpSp>
      <p:grpSp>
        <p:nvGrpSpPr>
          <p:cNvPr id="86" name="Group 86"/>
          <p:cNvGrpSpPr/>
          <p:nvPr/>
        </p:nvGrpSpPr>
        <p:grpSpPr>
          <a:xfrm>
            <a:off x="375666" y="5905500"/>
            <a:ext cx="11435334" cy="377761"/>
            <a:chOff x="375666" y="5905500"/>
            <a:chExt cx="11435334" cy="377761"/>
          </a:xfrm>
        </p:grpSpPr>
        <p:sp>
          <p:nvSpPr>
            <p:cNvPr id="84" name="Line 84"/>
            <p:cNvSpPr/>
            <p:nvPr/>
          </p:nvSpPr>
          <p:spPr>
            <a:xfrm>
              <a:off x="381000" y="5905500"/>
              <a:ext cx="11430000" cy="9525"/>
            </a:xfrm>
            <a:custGeom>
              <a:avLst/>
              <a:gdLst/>
              <a:ahLst/>
              <a:cxnLst/>
              <a:rect l="l" t="t" r="r" b="b"/>
              <a:pathLst>
                <a:path w="11430000" h="9525">
                  <a:moveTo>
                    <a:pt x="0" y="0"/>
                  </a:moveTo>
                  <a:lnTo>
                    <a:pt x="11430000" y="0"/>
                  </a:lnTo>
                </a:path>
              </a:pathLst>
            </a:custGeom>
            <a:noFill/>
            <a:ln w="9525">
              <a:solidFill>
                <a:srgbClr val="D6DCE5"/>
              </a:solidFill>
            </a:ln>
          </p:spPr>
        </p:sp>
        <p:sp>
          <p:nvSpPr>
            <p:cNvPr id="85" name="TextBox 85"/>
            <p:cNvSpPr txBox="1"/>
            <p:nvPr/>
          </p:nvSpPr>
          <p:spPr>
            <a:xfrm>
              <a:off x="375666" y="6077902"/>
              <a:ext cx="5277760" cy="205359"/>
            </a:xfrm>
            <a:prstGeom prst="rect">
              <a:avLst/>
            </a:prstGeom>
            <a:noFill/>
            <a:ln>
              <a:noFill/>
            </a:ln>
          </p:spPr>
          <p:txBody>
            <a:bodyPr wrap="none" lIns="0" tIns="0" rIns="0" bIns="0" anchor="t" anchorCtr="0">
              <a:spAutoFit/>
            </a:bodyPr>
            <a:lstStyle/>
            <a:p>
              <a:pPr algn="l"/>
              <a:r>
                <a:rPr lang="zh-CN" sz="1050" b="1" dirty="0">
                  <a:solidFill>
                    <a:srgbClr val="0E3F8C"/>
                  </a:solidFill>
                  <a:latin typeface="Arial"/>
                  <a:ea typeface="Microsoft YaHei"/>
                  <a:cs typeface="Arial"/>
                </a:rPr>
                <a:t>英文术语以 UE 为准，中文以《地球系统与演变》为准 · UE English · CN Chinese</a:t>
              </a:r>
            </a:p>
          </p:txBody>
        </p:sp>
      </p:grpSp>
      <p:sp>
        <p:nvSpPr>
          <p:cNvPr id="87" name="TextBox 87"/>
          <p:cNvSpPr txBox="1"/>
          <p:nvPr/>
        </p:nvSpPr>
        <p:spPr>
          <a:xfrm>
            <a:off x="376238" y="6532245"/>
            <a:ext cx="8998167" cy="176212"/>
          </a:xfrm>
          <a:prstGeom prst="rect">
            <a:avLst/>
          </a:prstGeom>
          <a:noFill/>
          <a:ln>
            <a:noFill/>
          </a:ln>
        </p:spPr>
        <p:txBody>
          <a:bodyPr wrap="none" lIns="0" tIns="0" rIns="0" bIns="0" anchor="t" anchorCtr="0">
            <a:spAutoFit/>
          </a:bodyPr>
          <a:lstStyle/>
          <a:p>
            <a:pPr algn="l"/>
            <a:r>
              <a:rPr lang="zh-CN" sz="900" dirty="0">
                <a:solidFill>
                  <a:srgbClr val="4A5568"/>
                </a:solidFill>
                <a:latin typeface="Arial"/>
                <a:ea typeface="Microsoft YaHei"/>
                <a:cs typeface="Arial"/>
              </a:rPr>
              <a:t>Locked bilingual vocabulary — UE 8e Chs.12/17; 地球系统与演变 Chs.3–4; Master Prompt Slide 43 list. Terms only; one-line reminders in embedded Notes.</a:t>
            </a:r>
          </a:p>
        </p:txBody>
      </p:sp>
      <p:sp>
        <p:nvSpPr>
          <p:cNvPr id="88" name="TextBox 88"/>
          <p:cNvSpPr txBox="1"/>
          <p:nvPr/>
        </p:nvSpPr>
        <p:spPr>
          <a:xfrm>
            <a:off x="11672964" y="6532245"/>
            <a:ext cx="142799" cy="176212"/>
          </a:xfrm>
          <a:prstGeom prst="rect">
            <a:avLst/>
          </a:prstGeom>
          <a:noFill/>
          <a:ln>
            <a:noFill/>
          </a:ln>
        </p:spPr>
        <p:txBody>
          <a:bodyPr wrap="none" lIns="0" tIns="0" rIns="0" bIns="0" anchor="t" anchorCtr="0">
            <a:spAutoFit/>
          </a:bodyPr>
          <a:lstStyle/>
          <a:p>
            <a:pPr algn="r"/>
            <a:r>
              <a:rPr lang="en-US" sz="900" dirty="0">
                <a:solidFill>
                  <a:srgbClr val="4A5568"/>
                </a:solidFill>
                <a:latin typeface="Arial"/>
                <a:ea typeface="Arial"/>
                <a:cs typeface="Arial"/>
              </a:rPr>
              <a:t>43</a:t>
            </a:r>
          </a:p>
        </p:txBody>
      </p:sp>
    </p:spTree>
    <p:extLst>
      <p:ext uri="{BB962C8B-B14F-4D97-AF65-F5344CB8AC3E}">
        <p14:creationId xmlns:p14="http://schemas.microsoft.com/office/powerpoint/2010/main" val="2774678879"/>
      </p:ext>
    </p:extLst>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5"/>
          <p:cNvGrpSpPr/>
          <p:nvPr/>
        </p:nvGrpSpPr>
        <p:grpSpPr>
          <a:xfrm>
            <a:off x="0" y="0"/>
            <a:ext cx="12192000" cy="685800"/>
            <a:chOff x="0" y="0"/>
            <a:chExt cx="12192000" cy="685800"/>
          </a:xfrm>
        </p:grpSpPr>
        <p:sp>
          <p:nvSpPr>
            <p:cNvPr id="2" name="Rectangle 2"/>
            <p:cNvSpPr/>
            <p:nvPr/>
          </p:nvSpPr>
          <p:spPr>
            <a:xfrm>
              <a:off x="0" y="0"/>
              <a:ext cx="12192000" cy="685800"/>
            </a:xfrm>
            <a:prstGeom prst="rect">
              <a:avLst/>
            </a:prstGeom>
            <a:solidFill>
              <a:schemeClr val="accent1"/>
            </a:solidFill>
            <a:ln>
              <a:noFill/>
            </a:ln>
          </p:spPr>
        </p:sp>
        <p:sp>
          <p:nvSpPr>
            <p:cNvPr id="3" name="TextBox 3"/>
            <p:cNvSpPr txBox="1"/>
            <p:nvPr/>
          </p:nvSpPr>
          <p:spPr>
            <a:xfrm>
              <a:off x="374142" y="282892"/>
              <a:ext cx="2471966" cy="264033"/>
            </a:xfrm>
            <a:prstGeom prst="rect">
              <a:avLst/>
            </a:prstGeom>
            <a:noFill/>
            <a:ln>
              <a:noFill/>
            </a:ln>
          </p:spPr>
          <p:txBody>
            <a:bodyPr wrap="none" lIns="0" tIns="0" rIns="0" bIns="0" anchor="t" anchorCtr="0">
              <a:spAutoFit/>
            </a:bodyPr>
            <a:lstStyle/>
            <a:p>
              <a:pPr algn="l"/>
              <a:r>
                <a:rPr lang="zh-CN" sz="1350" b="1" dirty="0">
                  <a:solidFill>
                    <a:srgbClr val="FFFFFF"/>
                  </a:solidFill>
                  <a:latin typeface="+mn-lt"/>
                  <a:ea typeface="+mn-ea"/>
                  <a:cs typeface="+mn-cs"/>
                </a:rPr>
                <a:t>核心知识点 | Key Takeaways</a:t>
              </a:r>
            </a:p>
          </p:txBody>
        </p:sp>
        <p:sp>
          <p:nvSpPr>
            <p:cNvPr id="4" name="TextBox 4"/>
            <p:cNvSpPr txBox="1"/>
            <p:nvPr/>
          </p:nvSpPr>
          <p:spPr>
            <a:xfrm>
              <a:off x="9910267" y="299085"/>
              <a:ext cx="1906829" cy="234696"/>
            </a:xfrm>
            <a:prstGeom prst="rect">
              <a:avLst/>
            </a:prstGeom>
            <a:noFill/>
            <a:ln>
              <a:noFill/>
            </a:ln>
          </p:spPr>
          <p:txBody>
            <a:bodyPr wrap="none" lIns="0" tIns="0" rIns="0" bIns="0" anchor="t" anchorCtr="0">
              <a:spAutoFit/>
            </a:bodyPr>
            <a:lstStyle/>
            <a:p>
              <a:pPr algn="r"/>
              <a:r>
                <a:rPr lang="zh-CN" sz="1200" dirty="0">
                  <a:solidFill>
                    <a:srgbClr val="C7D7F2"/>
                  </a:solidFill>
                  <a:latin typeface="+mn-lt"/>
                  <a:ea typeface="+mn-ea"/>
                  <a:cs typeface="+mn-cs"/>
                </a:rPr>
                <a:t>LECTURE 16 · SYNTHESIS</a:t>
              </a:r>
            </a:p>
          </p:txBody>
        </p:sp>
      </p:grpSp>
      <p:grpSp>
        <p:nvGrpSpPr>
          <p:cNvPr id="8" name="Group 8"/>
          <p:cNvGrpSpPr/>
          <p:nvPr/>
        </p:nvGrpSpPr>
        <p:grpSpPr>
          <a:xfrm>
            <a:off x="381000" y="914400"/>
            <a:ext cx="5922340" cy="366618"/>
            <a:chOff x="381000" y="914400"/>
            <a:chExt cx="5922340" cy="366618"/>
          </a:xfrm>
        </p:grpSpPr>
        <p:sp>
          <p:nvSpPr>
            <p:cNvPr id="6" name="Rectangle 6"/>
            <p:cNvSpPr/>
            <p:nvPr/>
          </p:nvSpPr>
          <p:spPr>
            <a:xfrm>
              <a:off x="381000" y="914400"/>
              <a:ext cx="57150" cy="304800"/>
            </a:xfrm>
            <a:prstGeom prst="roundRect">
              <a:avLst>
                <a:gd name="adj" fmla="val 50000"/>
              </a:avLst>
            </a:prstGeom>
            <a:solidFill>
              <a:schemeClr val="accent3"/>
            </a:solidFill>
            <a:ln>
              <a:noFill/>
            </a:ln>
          </p:spPr>
        </p:sp>
        <p:sp>
          <p:nvSpPr>
            <p:cNvPr id="7" name="TextBox 7"/>
            <p:cNvSpPr txBox="1"/>
            <p:nvPr/>
          </p:nvSpPr>
          <p:spPr>
            <a:xfrm>
              <a:off x="544449" y="972979"/>
              <a:ext cx="5758891" cy="308039"/>
            </a:xfrm>
            <a:prstGeom prst="rect">
              <a:avLst/>
            </a:prstGeom>
            <a:noFill/>
            <a:ln>
              <a:noFill/>
            </a:ln>
          </p:spPr>
          <p:txBody>
            <a:bodyPr wrap="none" lIns="0" tIns="0" rIns="0" bIns="0" anchor="t" anchorCtr="0">
              <a:spAutoFit/>
            </a:bodyPr>
            <a:lstStyle/>
            <a:p>
              <a:pPr algn="l"/>
              <a:r>
                <a:rPr lang="zh-CN" sz="1580" b="1" dirty="0">
                  <a:solidFill>
                    <a:schemeClr val="dk1"/>
                  </a:solidFill>
                  <a:latin typeface="+mn-lt"/>
                  <a:ea typeface="+mn-ea"/>
                  <a:cs typeface="+mn-cs"/>
                </a:rPr>
                <a:t>判断系统响应：物质在哪里、怎样移动、作用方向、响应速度</a:t>
              </a:r>
            </a:p>
          </p:txBody>
        </p:sp>
      </p:grpSp>
      <p:grpSp>
        <p:nvGrpSpPr>
          <p:cNvPr id="15" name="Group 15"/>
          <p:cNvGrpSpPr/>
          <p:nvPr/>
        </p:nvGrpSpPr>
        <p:grpSpPr>
          <a:xfrm>
            <a:off x="381000" y="1504950"/>
            <a:ext cx="5524500" cy="1314450"/>
            <a:chOff x="381000" y="1504950"/>
            <a:chExt cx="5524500" cy="1314450"/>
          </a:xfrm>
        </p:grpSpPr>
        <p:sp>
          <p:nvSpPr>
            <p:cNvPr id="9" name="Rectangle 9"/>
            <p:cNvSpPr/>
            <p:nvPr/>
          </p:nvSpPr>
          <p:spPr>
            <a:xfrm>
              <a:off x="381000" y="1504950"/>
              <a:ext cx="5524500" cy="1314450"/>
            </a:xfrm>
            <a:prstGeom prst="roundRect">
              <a:avLst>
                <a:gd name="adj" fmla="val 8696"/>
              </a:avLst>
            </a:prstGeom>
            <a:solidFill>
              <a:srgbClr val="F0F5FC"/>
            </a:solidFill>
            <a:ln w="9525">
              <a:solidFill>
                <a:srgbClr val="B8C7DC"/>
              </a:solidFill>
            </a:ln>
          </p:spPr>
        </p:sp>
        <p:sp>
          <p:nvSpPr>
            <p:cNvPr id="10" name="Ellipse 10"/>
            <p:cNvSpPr/>
            <p:nvPr/>
          </p:nvSpPr>
          <p:spPr>
            <a:xfrm>
              <a:off x="552450" y="1676400"/>
              <a:ext cx="457200" cy="457200"/>
            </a:xfrm>
            <a:prstGeom prst="ellipse">
              <a:avLst/>
            </a:prstGeom>
            <a:solidFill>
              <a:schemeClr val="accent2"/>
            </a:solidFill>
            <a:ln>
              <a:noFill/>
            </a:ln>
          </p:spPr>
        </p:sp>
        <p:sp>
          <p:nvSpPr>
            <p:cNvPr id="11" name="TextBox 11"/>
            <p:cNvSpPr txBox="1"/>
            <p:nvPr/>
          </p:nvSpPr>
          <p:spPr>
            <a:xfrm>
              <a:off x="711632" y="1811179"/>
              <a:ext cx="138836" cy="308039"/>
            </a:xfrm>
            <a:prstGeom prst="rect">
              <a:avLst/>
            </a:prstGeom>
            <a:noFill/>
            <a:ln>
              <a:noFill/>
            </a:ln>
          </p:spPr>
          <p:txBody>
            <a:bodyPr wrap="none" lIns="0" tIns="0" rIns="0" bIns="0" anchor="t" anchorCtr="0">
              <a:spAutoFit/>
            </a:bodyPr>
            <a:lstStyle/>
            <a:p>
              <a:pPr algn="ctr"/>
              <a:r>
                <a:rPr lang="zh-CN" sz="1580" b="1" dirty="0">
                  <a:solidFill>
                    <a:srgbClr val="FFFFFF"/>
                  </a:solidFill>
                  <a:latin typeface="+mn-lt"/>
                  <a:ea typeface="+mn-ea"/>
                  <a:cs typeface="+mn-cs"/>
                </a:rPr>
                <a:t>1</a:t>
              </a:r>
            </a:p>
          </p:txBody>
        </p:sp>
        <p:sp>
          <p:nvSpPr>
            <p:cNvPr id="12" name="TextBox 12"/>
            <p:cNvSpPr txBox="1"/>
            <p:nvPr/>
          </p:nvSpPr>
          <p:spPr>
            <a:xfrm>
              <a:off x="1155954" y="1680210"/>
              <a:ext cx="1346759" cy="234696"/>
            </a:xfrm>
            <a:prstGeom prst="rect">
              <a:avLst/>
            </a:prstGeom>
            <a:noFill/>
            <a:ln>
              <a:noFill/>
            </a:ln>
          </p:spPr>
          <p:txBody>
            <a:bodyPr wrap="none" lIns="0" tIns="0" rIns="0" bIns="0" anchor="t" anchorCtr="0">
              <a:spAutoFit/>
            </a:bodyPr>
            <a:lstStyle/>
            <a:p>
              <a:pPr algn="l"/>
              <a:r>
                <a:rPr lang="zh-CN" sz="1200" b="1" dirty="0">
                  <a:solidFill>
                    <a:schemeClr val="accent1"/>
                  </a:solidFill>
                  <a:latin typeface="+mn-lt"/>
                  <a:ea typeface="+mn-ea"/>
                  <a:cs typeface="+mn-cs"/>
                </a:rPr>
                <a:t>Reservoir ≠ Flux</a:t>
              </a:r>
            </a:p>
          </p:txBody>
        </p:sp>
        <p:sp>
          <p:nvSpPr>
            <p:cNvPr id="13" name="TextBox 13"/>
            <p:cNvSpPr txBox="1"/>
            <p:nvPr/>
          </p:nvSpPr>
          <p:spPr>
            <a:xfrm>
              <a:off x="1156335" y="1993106"/>
              <a:ext cx="2273046" cy="220028"/>
            </a:xfrm>
            <a:prstGeom prst="rect">
              <a:avLst/>
            </a:prstGeom>
            <a:noFill/>
            <a:ln>
              <a:noFill/>
            </a:ln>
          </p:spPr>
          <p:txBody>
            <a:bodyPr wrap="none" lIns="0" tIns="0" rIns="0" bIns="0" anchor="t" anchorCtr="0">
              <a:spAutoFit/>
            </a:bodyPr>
            <a:lstStyle/>
            <a:p>
              <a:pPr algn="l"/>
              <a:r>
                <a:rPr lang="zh-CN" sz="1120" dirty="0">
                  <a:solidFill>
                    <a:schemeClr val="dk1"/>
                  </a:solidFill>
                  <a:latin typeface="+mn-lt"/>
                  <a:ea typeface="+mn-ea"/>
                  <a:cs typeface="+mn-cs"/>
                </a:rPr>
                <a:t>水和碳通过通量在储库之间迁移；</a:t>
              </a:r>
            </a:p>
          </p:txBody>
        </p:sp>
        <p:sp>
          <p:nvSpPr>
            <p:cNvPr id="14" name="TextBox 14"/>
            <p:cNvSpPr txBox="1"/>
            <p:nvPr/>
          </p:nvSpPr>
          <p:spPr>
            <a:xfrm>
              <a:off x="1156335" y="2240756"/>
              <a:ext cx="1217625" cy="220028"/>
            </a:xfrm>
            <a:prstGeom prst="rect">
              <a:avLst/>
            </a:prstGeom>
            <a:noFill/>
            <a:ln>
              <a:noFill/>
            </a:ln>
          </p:spPr>
          <p:txBody>
            <a:bodyPr wrap="none" lIns="0" tIns="0" rIns="0" bIns="0" anchor="t" anchorCtr="0">
              <a:spAutoFit/>
            </a:bodyPr>
            <a:lstStyle/>
            <a:p>
              <a:pPr algn="l"/>
              <a:r>
                <a:rPr lang="zh-CN" sz="1120" dirty="0">
                  <a:solidFill>
                    <a:schemeClr val="dk1"/>
                  </a:solidFill>
                  <a:latin typeface="+mn-lt"/>
                  <a:ea typeface="+mn-ea"/>
                  <a:cs typeface="+mn-cs"/>
                </a:rPr>
                <a:t>储量不等于通量。</a:t>
              </a:r>
            </a:p>
          </p:txBody>
        </p:sp>
      </p:grpSp>
      <p:grpSp>
        <p:nvGrpSpPr>
          <p:cNvPr id="22" name="Group 22"/>
          <p:cNvGrpSpPr/>
          <p:nvPr/>
        </p:nvGrpSpPr>
        <p:grpSpPr>
          <a:xfrm>
            <a:off x="6286500" y="1504950"/>
            <a:ext cx="5524500" cy="1314450"/>
            <a:chOff x="6286500" y="1504950"/>
            <a:chExt cx="5524500" cy="1314450"/>
          </a:xfrm>
        </p:grpSpPr>
        <p:sp>
          <p:nvSpPr>
            <p:cNvPr id="16" name="Rectangle 16"/>
            <p:cNvSpPr/>
            <p:nvPr/>
          </p:nvSpPr>
          <p:spPr>
            <a:xfrm>
              <a:off x="6286500" y="1504950"/>
              <a:ext cx="5524500" cy="1314450"/>
            </a:xfrm>
            <a:prstGeom prst="roundRect">
              <a:avLst>
                <a:gd name="adj" fmla="val 8696"/>
              </a:avLst>
            </a:prstGeom>
            <a:solidFill>
              <a:schemeClr val="lt2"/>
            </a:solidFill>
            <a:ln w="9525">
              <a:solidFill>
                <a:schemeClr val="accent6"/>
              </a:solidFill>
            </a:ln>
          </p:spPr>
        </p:sp>
        <p:sp>
          <p:nvSpPr>
            <p:cNvPr id="17" name="Ellipse 17"/>
            <p:cNvSpPr/>
            <p:nvPr/>
          </p:nvSpPr>
          <p:spPr>
            <a:xfrm>
              <a:off x="6457950" y="1676400"/>
              <a:ext cx="457200" cy="457200"/>
            </a:xfrm>
            <a:prstGeom prst="ellipse">
              <a:avLst/>
            </a:prstGeom>
            <a:solidFill>
              <a:schemeClr val="accent1"/>
            </a:solidFill>
            <a:ln>
              <a:noFill/>
            </a:ln>
          </p:spPr>
        </p:sp>
        <p:sp>
          <p:nvSpPr>
            <p:cNvPr id="18" name="TextBox 18"/>
            <p:cNvSpPr txBox="1"/>
            <p:nvPr/>
          </p:nvSpPr>
          <p:spPr>
            <a:xfrm>
              <a:off x="6617132" y="1811179"/>
              <a:ext cx="138836" cy="308039"/>
            </a:xfrm>
            <a:prstGeom prst="rect">
              <a:avLst/>
            </a:prstGeom>
            <a:noFill/>
            <a:ln>
              <a:noFill/>
            </a:ln>
          </p:spPr>
          <p:txBody>
            <a:bodyPr wrap="none" lIns="0" tIns="0" rIns="0" bIns="0" anchor="t" anchorCtr="0">
              <a:spAutoFit/>
            </a:bodyPr>
            <a:lstStyle/>
            <a:p>
              <a:pPr algn="ctr"/>
              <a:r>
                <a:rPr lang="zh-CN" sz="1580" b="1" dirty="0">
                  <a:solidFill>
                    <a:srgbClr val="FFFFFF"/>
                  </a:solidFill>
                  <a:latin typeface="+mn-lt"/>
                  <a:ea typeface="+mn-ea"/>
                  <a:cs typeface="+mn-cs"/>
                </a:rPr>
                <a:t>2</a:t>
              </a:r>
            </a:p>
          </p:txBody>
        </p:sp>
        <p:sp>
          <p:nvSpPr>
            <p:cNvPr id="19" name="TextBox 19"/>
            <p:cNvSpPr txBox="1"/>
            <p:nvPr/>
          </p:nvSpPr>
          <p:spPr>
            <a:xfrm>
              <a:off x="7061454" y="1680210"/>
              <a:ext cx="1235545" cy="234696"/>
            </a:xfrm>
            <a:prstGeom prst="rect">
              <a:avLst/>
            </a:prstGeom>
            <a:noFill/>
            <a:ln>
              <a:noFill/>
            </a:ln>
          </p:spPr>
          <p:txBody>
            <a:bodyPr wrap="none" lIns="0" tIns="0" rIns="0" bIns="0" anchor="t" anchorCtr="0">
              <a:spAutoFit/>
            </a:bodyPr>
            <a:lstStyle/>
            <a:p>
              <a:pPr algn="l"/>
              <a:r>
                <a:rPr lang="zh-CN" sz="1200" b="1" dirty="0">
                  <a:solidFill>
                    <a:schemeClr val="accent1"/>
                  </a:solidFill>
                  <a:latin typeface="+mn-lt"/>
                  <a:ea typeface="+mn-ea"/>
                  <a:cs typeface="+mn-cs"/>
                </a:rPr>
                <a:t>Residence Time</a:t>
              </a:r>
            </a:p>
          </p:txBody>
        </p:sp>
        <p:sp>
          <p:nvSpPr>
            <p:cNvPr id="20" name="TextBox 20"/>
            <p:cNvSpPr txBox="1"/>
            <p:nvPr/>
          </p:nvSpPr>
          <p:spPr>
            <a:xfrm>
              <a:off x="7061835" y="1993106"/>
              <a:ext cx="1971497" cy="220028"/>
            </a:xfrm>
            <a:prstGeom prst="rect">
              <a:avLst/>
            </a:prstGeom>
            <a:noFill/>
            <a:ln>
              <a:noFill/>
            </a:ln>
          </p:spPr>
          <p:txBody>
            <a:bodyPr wrap="none" lIns="0" tIns="0" rIns="0" bIns="0" anchor="t" anchorCtr="0">
              <a:spAutoFit/>
            </a:bodyPr>
            <a:lstStyle/>
            <a:p>
              <a:pPr algn="l"/>
              <a:r>
                <a:rPr lang="zh-CN" sz="1120" dirty="0">
                  <a:solidFill>
                    <a:schemeClr val="dk1"/>
                  </a:solidFill>
                  <a:latin typeface="+mn-lt"/>
                  <a:ea typeface="+mn-ea"/>
                  <a:cs typeface="+mn-cs"/>
                </a:rPr>
                <a:t>停留时间控制储库响应快慢；</a:t>
              </a:r>
            </a:p>
          </p:txBody>
        </p:sp>
        <p:sp>
          <p:nvSpPr>
            <p:cNvPr id="21" name="TextBox 21"/>
            <p:cNvSpPr txBox="1"/>
            <p:nvPr/>
          </p:nvSpPr>
          <p:spPr>
            <a:xfrm>
              <a:off x="7061835" y="2240756"/>
              <a:ext cx="1519174" cy="220028"/>
            </a:xfrm>
            <a:prstGeom prst="rect">
              <a:avLst/>
            </a:prstGeom>
            <a:noFill/>
            <a:ln>
              <a:noFill/>
            </a:ln>
          </p:spPr>
          <p:txBody>
            <a:bodyPr wrap="none" lIns="0" tIns="0" rIns="0" bIns="0" anchor="t" anchorCtr="0">
              <a:spAutoFit/>
            </a:bodyPr>
            <a:lstStyle/>
            <a:p>
              <a:pPr algn="l"/>
              <a:r>
                <a:rPr lang="zh-CN" sz="1120" dirty="0">
                  <a:solidFill>
                    <a:schemeClr val="dk1"/>
                  </a:solidFill>
                  <a:latin typeface="+mn-lt"/>
                  <a:ea typeface="+mn-ea"/>
                  <a:cs typeface="+mn-cs"/>
                </a:rPr>
                <a:t>大储库不一定更新快。</a:t>
              </a:r>
            </a:p>
          </p:txBody>
        </p:sp>
      </p:grpSp>
      <p:grpSp>
        <p:nvGrpSpPr>
          <p:cNvPr id="28" name="Group 28"/>
          <p:cNvGrpSpPr/>
          <p:nvPr/>
        </p:nvGrpSpPr>
        <p:grpSpPr>
          <a:xfrm>
            <a:off x="381000" y="2952750"/>
            <a:ext cx="5524500" cy="1314450"/>
            <a:chOff x="381000" y="2952750"/>
            <a:chExt cx="5524500" cy="1314450"/>
          </a:xfrm>
        </p:grpSpPr>
        <p:sp>
          <p:nvSpPr>
            <p:cNvPr id="23" name="Rectangle 23"/>
            <p:cNvSpPr/>
            <p:nvPr/>
          </p:nvSpPr>
          <p:spPr>
            <a:xfrm>
              <a:off x="381000" y="2952750"/>
              <a:ext cx="5524500" cy="1314450"/>
            </a:xfrm>
            <a:prstGeom prst="roundRect">
              <a:avLst>
                <a:gd name="adj" fmla="val 8696"/>
              </a:avLst>
            </a:prstGeom>
            <a:solidFill>
              <a:srgbClr val="F0F5FC"/>
            </a:solidFill>
            <a:ln w="9525">
              <a:solidFill>
                <a:srgbClr val="B8C7DC"/>
              </a:solidFill>
            </a:ln>
          </p:spPr>
        </p:sp>
        <p:sp>
          <p:nvSpPr>
            <p:cNvPr id="24" name="Ellipse 24"/>
            <p:cNvSpPr/>
            <p:nvPr/>
          </p:nvSpPr>
          <p:spPr>
            <a:xfrm>
              <a:off x="552450" y="3124200"/>
              <a:ext cx="457200" cy="457200"/>
            </a:xfrm>
            <a:prstGeom prst="ellipse">
              <a:avLst/>
            </a:prstGeom>
            <a:solidFill>
              <a:srgbClr val="3D7BD9"/>
            </a:solidFill>
            <a:ln>
              <a:noFill/>
            </a:ln>
          </p:spPr>
        </p:sp>
        <p:sp>
          <p:nvSpPr>
            <p:cNvPr id="25" name="TextBox 25"/>
            <p:cNvSpPr txBox="1"/>
            <p:nvPr/>
          </p:nvSpPr>
          <p:spPr>
            <a:xfrm>
              <a:off x="711632" y="3258979"/>
              <a:ext cx="138836" cy="308039"/>
            </a:xfrm>
            <a:prstGeom prst="rect">
              <a:avLst/>
            </a:prstGeom>
            <a:noFill/>
            <a:ln>
              <a:noFill/>
            </a:ln>
          </p:spPr>
          <p:txBody>
            <a:bodyPr wrap="none" lIns="0" tIns="0" rIns="0" bIns="0" anchor="t" anchorCtr="0">
              <a:spAutoFit/>
            </a:bodyPr>
            <a:lstStyle/>
            <a:p>
              <a:pPr algn="ctr"/>
              <a:r>
                <a:rPr lang="zh-CN" sz="1580" b="1" dirty="0">
                  <a:solidFill>
                    <a:srgbClr val="FFFFFF"/>
                  </a:solidFill>
                  <a:latin typeface="+mn-lt"/>
                  <a:ea typeface="+mn-ea"/>
                  <a:cs typeface="+mn-cs"/>
                </a:rPr>
                <a:t>3</a:t>
              </a:r>
            </a:p>
          </p:txBody>
        </p:sp>
        <p:sp>
          <p:nvSpPr>
            <p:cNvPr id="26" name="TextBox 26"/>
            <p:cNvSpPr txBox="1"/>
            <p:nvPr/>
          </p:nvSpPr>
          <p:spPr>
            <a:xfrm>
              <a:off x="1155954" y="3128010"/>
              <a:ext cx="2299212" cy="234696"/>
            </a:xfrm>
            <a:prstGeom prst="rect">
              <a:avLst/>
            </a:prstGeom>
            <a:noFill/>
            <a:ln>
              <a:noFill/>
            </a:ln>
          </p:spPr>
          <p:txBody>
            <a:bodyPr wrap="none" lIns="0" tIns="0" rIns="0" bIns="0" anchor="t" anchorCtr="0">
              <a:spAutoFit/>
            </a:bodyPr>
            <a:lstStyle/>
            <a:p>
              <a:pPr algn="l"/>
              <a:r>
                <a:rPr lang="zh-CN" sz="1200" b="1" dirty="0">
                  <a:solidFill>
                    <a:schemeClr val="accent1"/>
                  </a:solidFill>
                  <a:latin typeface="+mn-lt"/>
                  <a:ea typeface="+mn-ea"/>
                  <a:cs typeface="+mn-cs"/>
                </a:rPr>
                <a:t>Water connects geospheres</a:t>
              </a:r>
            </a:p>
          </p:txBody>
        </p:sp>
        <p:sp>
          <p:nvSpPr>
            <p:cNvPr id="27" name="TextBox 27"/>
            <p:cNvSpPr txBox="1"/>
            <p:nvPr/>
          </p:nvSpPr>
          <p:spPr>
            <a:xfrm>
              <a:off x="1156335" y="3440906"/>
              <a:ext cx="2429510" cy="467678"/>
            </a:xfrm>
            <a:prstGeom prst="rect">
              <a:avLst/>
            </a:prstGeom>
            <a:noFill/>
            <a:ln>
              <a:noFill/>
            </a:ln>
          </p:spPr>
          <p:txBody>
            <a:bodyPr wrap="none" lIns="0" tIns="0" rIns="0" bIns="0" anchor="t" anchorCtr="0">
              <a:spAutoFit/>
            </a:bodyPr>
            <a:lstStyle/>
            <a:p>
              <a:pPr algn="l">
                <a:lnSpc>
                  <a:spcPts val="1950"/>
                </a:lnSpc>
              </a:pPr>
              <a:r>
                <a:rPr lang="zh-CN" sz="1120" dirty="0">
                  <a:solidFill>
                    <a:schemeClr val="dk1"/>
                  </a:solidFill>
                  <a:latin typeface="+mn-lt"/>
                  <a:ea typeface="+mn-ea"/>
                  <a:cs typeface="+mn-cs"/>
                </a:rPr>
                <a:t>水循环搬运物质和能量，并连接大气、</a:t>
              </a:r>
              <a:br/>
              <a:r>
                <a:rPr lang="zh-CN" sz="1120" dirty="0">
                  <a:solidFill>
                    <a:schemeClr val="dk1"/>
                  </a:solidFill>
                  <a:latin typeface="+mn-lt"/>
                  <a:ea typeface="+mn-ea"/>
                  <a:cs typeface="+mn-cs"/>
                </a:rPr>
                <a:t>海洋、岩石与生命。</a:t>
              </a:r>
            </a:p>
          </p:txBody>
        </p:sp>
      </p:grpSp>
      <p:grpSp>
        <p:nvGrpSpPr>
          <p:cNvPr id="34" name="Group 34"/>
          <p:cNvGrpSpPr/>
          <p:nvPr/>
        </p:nvGrpSpPr>
        <p:grpSpPr>
          <a:xfrm>
            <a:off x="6286500" y="2952750"/>
            <a:ext cx="5524500" cy="1314450"/>
            <a:chOff x="6286500" y="2952750"/>
            <a:chExt cx="5524500" cy="1314450"/>
          </a:xfrm>
        </p:grpSpPr>
        <p:sp>
          <p:nvSpPr>
            <p:cNvPr id="29" name="Rectangle 29"/>
            <p:cNvSpPr/>
            <p:nvPr/>
          </p:nvSpPr>
          <p:spPr>
            <a:xfrm>
              <a:off x="6286500" y="2952750"/>
              <a:ext cx="5524500" cy="1314450"/>
            </a:xfrm>
            <a:prstGeom prst="roundRect">
              <a:avLst>
                <a:gd name="adj" fmla="val 8696"/>
              </a:avLst>
            </a:prstGeom>
            <a:solidFill>
              <a:srgbClr val="FDF4EF"/>
            </a:solidFill>
            <a:ln w="9525">
              <a:solidFill>
                <a:srgbClr val="F0CFC2"/>
              </a:solidFill>
            </a:ln>
          </p:spPr>
        </p:sp>
        <p:sp>
          <p:nvSpPr>
            <p:cNvPr id="30" name="Ellipse 30"/>
            <p:cNvSpPr/>
            <p:nvPr/>
          </p:nvSpPr>
          <p:spPr>
            <a:xfrm>
              <a:off x="6457950" y="3124200"/>
              <a:ext cx="457200" cy="457200"/>
            </a:xfrm>
            <a:prstGeom prst="ellipse">
              <a:avLst/>
            </a:prstGeom>
            <a:solidFill>
              <a:schemeClr val="accent3"/>
            </a:solidFill>
            <a:ln>
              <a:noFill/>
            </a:ln>
          </p:spPr>
        </p:sp>
        <p:sp>
          <p:nvSpPr>
            <p:cNvPr id="31" name="TextBox 31"/>
            <p:cNvSpPr txBox="1"/>
            <p:nvPr/>
          </p:nvSpPr>
          <p:spPr>
            <a:xfrm>
              <a:off x="6617132" y="3258979"/>
              <a:ext cx="138836" cy="308039"/>
            </a:xfrm>
            <a:prstGeom prst="rect">
              <a:avLst/>
            </a:prstGeom>
            <a:noFill/>
            <a:ln>
              <a:noFill/>
            </a:ln>
          </p:spPr>
          <p:txBody>
            <a:bodyPr wrap="none" lIns="0" tIns="0" rIns="0" bIns="0" anchor="t" anchorCtr="0">
              <a:spAutoFit/>
            </a:bodyPr>
            <a:lstStyle/>
            <a:p>
              <a:pPr algn="ctr"/>
              <a:r>
                <a:rPr lang="zh-CN" sz="1580" b="1" dirty="0">
                  <a:solidFill>
                    <a:srgbClr val="FFFFFF"/>
                  </a:solidFill>
                  <a:latin typeface="+mn-lt"/>
                  <a:ea typeface="+mn-ea"/>
                  <a:cs typeface="+mn-cs"/>
                </a:rPr>
                <a:t>4</a:t>
              </a:r>
            </a:p>
          </p:txBody>
        </p:sp>
        <p:sp>
          <p:nvSpPr>
            <p:cNvPr id="32" name="TextBox 32"/>
            <p:cNvSpPr txBox="1"/>
            <p:nvPr/>
          </p:nvSpPr>
          <p:spPr>
            <a:xfrm>
              <a:off x="7061454" y="3128010"/>
              <a:ext cx="2147883" cy="234696"/>
            </a:xfrm>
            <a:prstGeom prst="rect">
              <a:avLst/>
            </a:prstGeom>
            <a:noFill/>
            <a:ln>
              <a:noFill/>
            </a:ln>
          </p:spPr>
          <p:txBody>
            <a:bodyPr wrap="none" lIns="0" tIns="0" rIns="0" bIns="0" anchor="t" anchorCtr="0">
              <a:spAutoFit/>
            </a:bodyPr>
            <a:lstStyle/>
            <a:p>
              <a:pPr algn="l"/>
              <a:r>
                <a:rPr lang="zh-CN" sz="1200" b="1" dirty="0">
                  <a:solidFill>
                    <a:srgbClr val="C2410C"/>
                  </a:solidFill>
                  <a:latin typeface="+mn-lt"/>
                  <a:ea typeface="+mn-ea"/>
                  <a:cs typeface="+mn-cs"/>
                </a:rPr>
                <a:t>Fast &amp; Slow Carbon Cycles</a:t>
              </a:r>
            </a:p>
          </p:txBody>
        </p:sp>
        <p:sp>
          <p:nvSpPr>
            <p:cNvPr id="33" name="TextBox 33"/>
            <p:cNvSpPr txBox="1"/>
            <p:nvPr/>
          </p:nvSpPr>
          <p:spPr>
            <a:xfrm>
              <a:off x="7061835" y="3440906"/>
              <a:ext cx="2365502" cy="467678"/>
            </a:xfrm>
            <a:prstGeom prst="rect">
              <a:avLst/>
            </a:prstGeom>
            <a:noFill/>
            <a:ln>
              <a:noFill/>
            </a:ln>
          </p:spPr>
          <p:txBody>
            <a:bodyPr wrap="none" lIns="0" tIns="0" rIns="0" bIns="0" anchor="t" anchorCtr="0">
              <a:spAutoFit/>
            </a:bodyPr>
            <a:lstStyle/>
            <a:p>
              <a:pPr algn="l">
                <a:lnSpc>
                  <a:spcPts val="1950"/>
                </a:lnSpc>
              </a:pPr>
              <a:r>
                <a:rPr lang="zh-CN" sz="1120" dirty="0">
                  <a:solidFill>
                    <a:schemeClr val="dk1"/>
                  </a:solidFill>
                  <a:latin typeface="+mn-lt"/>
                  <a:ea typeface="+mn-ea"/>
                  <a:cs typeface="+mn-cs"/>
                </a:rPr>
                <a:t>碳循环同时包含快速的生物/海洋路径</a:t>
              </a:r>
              <a:br/>
              <a:r>
                <a:rPr lang="zh-CN" sz="1120" dirty="0">
                  <a:solidFill>
                    <a:schemeClr val="dk1"/>
                  </a:solidFill>
                  <a:latin typeface="+mn-lt"/>
                  <a:ea typeface="+mn-ea"/>
                  <a:cs typeface="+mn-cs"/>
                </a:rPr>
                <a:t>和缓慢的地质路径。</a:t>
              </a:r>
            </a:p>
          </p:txBody>
        </p:sp>
      </p:grpSp>
      <p:grpSp>
        <p:nvGrpSpPr>
          <p:cNvPr id="40" name="Group 40"/>
          <p:cNvGrpSpPr/>
          <p:nvPr/>
        </p:nvGrpSpPr>
        <p:grpSpPr>
          <a:xfrm>
            <a:off x="381000" y="4400550"/>
            <a:ext cx="5524500" cy="1314450"/>
            <a:chOff x="381000" y="4400550"/>
            <a:chExt cx="5524500" cy="1314450"/>
          </a:xfrm>
        </p:grpSpPr>
        <p:sp>
          <p:nvSpPr>
            <p:cNvPr id="35" name="Rectangle 35"/>
            <p:cNvSpPr/>
            <p:nvPr/>
          </p:nvSpPr>
          <p:spPr>
            <a:xfrm>
              <a:off x="381000" y="4400550"/>
              <a:ext cx="5524500" cy="1314450"/>
            </a:xfrm>
            <a:prstGeom prst="roundRect">
              <a:avLst>
                <a:gd name="adj" fmla="val 8696"/>
              </a:avLst>
            </a:prstGeom>
            <a:solidFill>
              <a:schemeClr val="lt2"/>
            </a:solidFill>
            <a:ln w="9525">
              <a:solidFill>
                <a:schemeClr val="accent6"/>
              </a:solidFill>
            </a:ln>
          </p:spPr>
        </p:sp>
        <p:sp>
          <p:nvSpPr>
            <p:cNvPr id="36" name="Ellipse 36"/>
            <p:cNvSpPr/>
            <p:nvPr/>
          </p:nvSpPr>
          <p:spPr>
            <a:xfrm>
              <a:off x="552450" y="4572000"/>
              <a:ext cx="457200" cy="457200"/>
            </a:xfrm>
            <a:prstGeom prst="ellipse">
              <a:avLst/>
            </a:prstGeom>
            <a:solidFill>
              <a:schemeClr val="accent2"/>
            </a:solidFill>
            <a:ln>
              <a:noFill/>
            </a:ln>
          </p:spPr>
        </p:sp>
        <p:sp>
          <p:nvSpPr>
            <p:cNvPr id="37" name="TextBox 37"/>
            <p:cNvSpPr txBox="1"/>
            <p:nvPr/>
          </p:nvSpPr>
          <p:spPr>
            <a:xfrm>
              <a:off x="711632" y="4706779"/>
              <a:ext cx="138836" cy="308039"/>
            </a:xfrm>
            <a:prstGeom prst="rect">
              <a:avLst/>
            </a:prstGeom>
            <a:noFill/>
            <a:ln>
              <a:noFill/>
            </a:ln>
          </p:spPr>
          <p:txBody>
            <a:bodyPr wrap="none" lIns="0" tIns="0" rIns="0" bIns="0" anchor="t" anchorCtr="0">
              <a:spAutoFit/>
            </a:bodyPr>
            <a:lstStyle/>
            <a:p>
              <a:pPr algn="ctr"/>
              <a:r>
                <a:rPr lang="zh-CN" sz="1580" b="1" dirty="0">
                  <a:solidFill>
                    <a:srgbClr val="FFFFFF"/>
                  </a:solidFill>
                  <a:latin typeface="+mn-lt"/>
                  <a:ea typeface="+mn-ea"/>
                  <a:cs typeface="+mn-cs"/>
                </a:rPr>
                <a:t>5</a:t>
              </a:r>
            </a:p>
          </p:txBody>
        </p:sp>
        <p:sp>
          <p:nvSpPr>
            <p:cNvPr id="38" name="TextBox 38"/>
            <p:cNvSpPr txBox="1"/>
            <p:nvPr/>
          </p:nvSpPr>
          <p:spPr>
            <a:xfrm>
              <a:off x="1155954" y="4575810"/>
              <a:ext cx="1894701" cy="234696"/>
            </a:xfrm>
            <a:prstGeom prst="rect">
              <a:avLst/>
            </a:prstGeom>
            <a:noFill/>
            <a:ln>
              <a:noFill/>
            </a:ln>
          </p:spPr>
          <p:txBody>
            <a:bodyPr wrap="none" lIns="0" tIns="0" rIns="0" bIns="0" anchor="t" anchorCtr="0">
              <a:spAutoFit/>
            </a:bodyPr>
            <a:lstStyle/>
            <a:p>
              <a:pPr algn="l"/>
              <a:r>
                <a:rPr lang="zh-CN" sz="1200" b="1" dirty="0">
                  <a:solidFill>
                    <a:schemeClr val="accent1"/>
                  </a:solidFill>
                  <a:latin typeface="+mn-lt"/>
                  <a:ea typeface="+mn-ea"/>
                  <a:cs typeface="+mn-cs"/>
                </a:rPr>
                <a:t>Water–Carbon Coupling</a:t>
              </a:r>
            </a:p>
          </p:txBody>
        </p:sp>
        <p:sp>
          <p:nvSpPr>
            <p:cNvPr id="39" name="TextBox 39"/>
            <p:cNvSpPr txBox="1"/>
            <p:nvPr/>
          </p:nvSpPr>
          <p:spPr>
            <a:xfrm>
              <a:off x="1156335" y="4888706"/>
              <a:ext cx="2713990" cy="467678"/>
            </a:xfrm>
            <a:prstGeom prst="rect">
              <a:avLst/>
            </a:prstGeom>
            <a:noFill/>
            <a:ln>
              <a:noFill/>
            </a:ln>
          </p:spPr>
          <p:txBody>
            <a:bodyPr wrap="none" lIns="0" tIns="0" rIns="0" bIns="0" anchor="t" anchorCtr="0">
              <a:spAutoFit/>
            </a:bodyPr>
            <a:lstStyle/>
            <a:p>
              <a:pPr algn="l">
                <a:lnSpc>
                  <a:spcPts val="1950"/>
                </a:lnSpc>
              </a:pPr>
              <a:r>
                <a:rPr lang="zh-CN" sz="1120" dirty="0">
                  <a:solidFill>
                    <a:schemeClr val="dk1"/>
                  </a:solidFill>
                  <a:latin typeface="+mn-lt"/>
                  <a:ea typeface="+mn-ea"/>
                  <a:cs typeface="+mn-cs"/>
                </a:rPr>
                <a:t>水通过风化、海气交换和生命过程把水循环</a:t>
              </a:r>
              <a:br/>
              <a:r>
                <a:rPr lang="zh-CN" sz="1120" dirty="0">
                  <a:solidFill>
                    <a:schemeClr val="dk1"/>
                  </a:solidFill>
                  <a:latin typeface="+mn-lt"/>
                  <a:ea typeface="+mn-ea"/>
                  <a:cs typeface="+mn-cs"/>
                </a:rPr>
                <a:t>与碳循环耦合起来。</a:t>
              </a:r>
            </a:p>
          </p:txBody>
        </p:sp>
      </p:grpSp>
      <p:grpSp>
        <p:nvGrpSpPr>
          <p:cNvPr id="46" name="Group 46"/>
          <p:cNvGrpSpPr/>
          <p:nvPr/>
        </p:nvGrpSpPr>
        <p:grpSpPr>
          <a:xfrm>
            <a:off x="6286500" y="4400550"/>
            <a:ext cx="5524500" cy="1314450"/>
            <a:chOff x="6286500" y="4400550"/>
            <a:chExt cx="5524500" cy="1314450"/>
          </a:xfrm>
        </p:grpSpPr>
        <p:sp>
          <p:nvSpPr>
            <p:cNvPr id="41" name="Rectangle 41"/>
            <p:cNvSpPr/>
            <p:nvPr/>
          </p:nvSpPr>
          <p:spPr>
            <a:xfrm>
              <a:off x="6286500" y="4400550"/>
              <a:ext cx="5524500" cy="1314450"/>
            </a:xfrm>
            <a:prstGeom prst="roundRect">
              <a:avLst>
                <a:gd name="adj" fmla="val 8696"/>
              </a:avLst>
            </a:prstGeom>
            <a:solidFill>
              <a:srgbClr val="FDF4EF"/>
            </a:solidFill>
            <a:ln w="9525">
              <a:solidFill>
                <a:srgbClr val="F0CFC2"/>
              </a:solidFill>
            </a:ln>
          </p:spPr>
        </p:sp>
        <p:sp>
          <p:nvSpPr>
            <p:cNvPr id="42" name="Ellipse 42"/>
            <p:cNvSpPr/>
            <p:nvPr/>
          </p:nvSpPr>
          <p:spPr>
            <a:xfrm>
              <a:off x="6457950" y="4572000"/>
              <a:ext cx="457200" cy="457200"/>
            </a:xfrm>
            <a:prstGeom prst="ellipse">
              <a:avLst/>
            </a:prstGeom>
            <a:solidFill>
              <a:srgbClr val="C2410C"/>
            </a:solidFill>
            <a:ln>
              <a:noFill/>
            </a:ln>
          </p:spPr>
        </p:sp>
        <p:sp>
          <p:nvSpPr>
            <p:cNvPr id="43" name="TextBox 43"/>
            <p:cNvSpPr txBox="1"/>
            <p:nvPr/>
          </p:nvSpPr>
          <p:spPr>
            <a:xfrm>
              <a:off x="6617132" y="4706779"/>
              <a:ext cx="138836" cy="308039"/>
            </a:xfrm>
            <a:prstGeom prst="rect">
              <a:avLst/>
            </a:prstGeom>
            <a:noFill/>
            <a:ln>
              <a:noFill/>
            </a:ln>
          </p:spPr>
          <p:txBody>
            <a:bodyPr wrap="none" lIns="0" tIns="0" rIns="0" bIns="0" anchor="t" anchorCtr="0">
              <a:spAutoFit/>
            </a:bodyPr>
            <a:lstStyle/>
            <a:p>
              <a:pPr algn="ctr"/>
              <a:r>
                <a:rPr lang="zh-CN" sz="1580" b="1" dirty="0">
                  <a:solidFill>
                    <a:srgbClr val="FFFFFF"/>
                  </a:solidFill>
                  <a:latin typeface="+mn-lt"/>
                  <a:ea typeface="+mn-ea"/>
                  <a:cs typeface="+mn-cs"/>
                </a:rPr>
                <a:t>6</a:t>
              </a:r>
            </a:p>
          </p:txBody>
        </p:sp>
        <p:sp>
          <p:nvSpPr>
            <p:cNvPr id="44" name="TextBox 44"/>
            <p:cNvSpPr txBox="1"/>
            <p:nvPr/>
          </p:nvSpPr>
          <p:spPr>
            <a:xfrm>
              <a:off x="7061454" y="4575810"/>
              <a:ext cx="2129668" cy="234696"/>
            </a:xfrm>
            <a:prstGeom prst="rect">
              <a:avLst/>
            </a:prstGeom>
            <a:noFill/>
            <a:ln>
              <a:noFill/>
            </a:ln>
          </p:spPr>
          <p:txBody>
            <a:bodyPr wrap="none" lIns="0" tIns="0" rIns="0" bIns="0" anchor="t" anchorCtr="0">
              <a:spAutoFit/>
            </a:bodyPr>
            <a:lstStyle/>
            <a:p>
              <a:pPr algn="l"/>
              <a:r>
                <a:rPr lang="zh-CN" sz="1200" b="1" dirty="0">
                  <a:solidFill>
                    <a:srgbClr val="C2410C"/>
                  </a:solidFill>
                  <a:latin typeface="+mn-lt"/>
                  <a:ea typeface="+mn-ea"/>
                  <a:cs typeface="+mn-cs"/>
                </a:rPr>
                <a:t>Feedback sign &amp; timescale</a:t>
              </a:r>
            </a:p>
          </p:txBody>
        </p:sp>
        <p:sp>
          <p:nvSpPr>
            <p:cNvPr id="45" name="TextBox 45"/>
            <p:cNvSpPr txBox="1"/>
            <p:nvPr/>
          </p:nvSpPr>
          <p:spPr>
            <a:xfrm>
              <a:off x="7061835" y="4888706"/>
              <a:ext cx="3140710" cy="467678"/>
            </a:xfrm>
            <a:prstGeom prst="rect">
              <a:avLst/>
            </a:prstGeom>
            <a:noFill/>
            <a:ln>
              <a:noFill/>
            </a:ln>
          </p:spPr>
          <p:txBody>
            <a:bodyPr wrap="none" lIns="0" tIns="0" rIns="0" bIns="0" anchor="t" anchorCtr="0">
              <a:spAutoFit/>
            </a:bodyPr>
            <a:lstStyle/>
            <a:p>
              <a:pPr algn="l">
                <a:lnSpc>
                  <a:spcPts val="1950"/>
                </a:lnSpc>
              </a:pPr>
              <a:r>
                <a:rPr lang="zh-CN" sz="1120" dirty="0">
                  <a:solidFill>
                    <a:schemeClr val="dk1"/>
                  </a:solidFill>
                  <a:latin typeface="+mn-lt"/>
                  <a:ea typeface="+mn-ea"/>
                  <a:cs typeface="+mn-cs"/>
                </a:rPr>
                <a:t>正反馈放大变化，负反馈抑制变化；判断系统响应</a:t>
              </a:r>
              <a:br/>
              <a:r>
                <a:rPr lang="zh-CN" sz="1120" dirty="0">
                  <a:solidFill>
                    <a:schemeClr val="dk1"/>
                  </a:solidFill>
                  <a:latin typeface="+mn-lt"/>
                  <a:ea typeface="+mn-ea"/>
                  <a:cs typeface="+mn-cs"/>
                </a:rPr>
                <a:t>必须同时看方向和时间尺度。</a:t>
              </a:r>
            </a:p>
          </p:txBody>
        </p:sp>
      </p:grpSp>
      <p:grpSp>
        <p:nvGrpSpPr>
          <p:cNvPr id="49" name="Group 49"/>
          <p:cNvGrpSpPr/>
          <p:nvPr/>
        </p:nvGrpSpPr>
        <p:grpSpPr>
          <a:xfrm>
            <a:off x="375285" y="5905500"/>
            <a:ext cx="11435715" cy="384334"/>
            <a:chOff x="375285" y="5905500"/>
            <a:chExt cx="11435715" cy="384334"/>
          </a:xfrm>
        </p:grpSpPr>
        <p:sp>
          <p:nvSpPr>
            <p:cNvPr id="47" name="Line 47"/>
            <p:cNvSpPr/>
            <p:nvPr/>
          </p:nvSpPr>
          <p:spPr>
            <a:xfrm>
              <a:off x="381000" y="5905500"/>
              <a:ext cx="11430000" cy="9525"/>
            </a:xfrm>
            <a:custGeom>
              <a:avLst/>
              <a:gdLst/>
              <a:ahLst/>
              <a:cxnLst/>
              <a:rect l="l" t="t" r="r" b="b"/>
              <a:pathLst>
                <a:path w="11430000" h="9525">
                  <a:moveTo>
                    <a:pt x="0" y="0"/>
                  </a:moveTo>
                  <a:lnTo>
                    <a:pt x="11430000" y="0"/>
                  </a:lnTo>
                </a:path>
              </a:pathLst>
            </a:custGeom>
            <a:noFill/>
            <a:ln w="9525">
              <a:solidFill>
                <a:schemeClr val="accent6"/>
              </a:solidFill>
            </a:ln>
          </p:spPr>
        </p:sp>
        <p:sp>
          <p:nvSpPr>
            <p:cNvPr id="48" name="TextBox 48"/>
            <p:cNvSpPr txBox="1"/>
            <p:nvPr/>
          </p:nvSpPr>
          <p:spPr>
            <a:xfrm>
              <a:off x="375285" y="6069806"/>
              <a:ext cx="5196580" cy="220028"/>
            </a:xfrm>
            <a:prstGeom prst="rect">
              <a:avLst/>
            </a:prstGeom>
            <a:noFill/>
            <a:ln>
              <a:noFill/>
            </a:ln>
          </p:spPr>
          <p:txBody>
            <a:bodyPr wrap="none" lIns="0" tIns="0" rIns="0" bIns="0" anchor="t" anchorCtr="0">
              <a:spAutoFit/>
            </a:bodyPr>
            <a:lstStyle/>
            <a:p>
              <a:pPr algn="l"/>
              <a:r>
                <a:rPr lang="zh-CN" sz="1120" b="1" dirty="0">
                  <a:solidFill>
                    <a:schemeClr val="accent1"/>
                  </a:solidFill>
                  <a:latin typeface="+mn-lt"/>
                  <a:ea typeface="+mn-ea"/>
                  <a:cs typeface="+mn-cs"/>
                </a:rPr>
                <a:t>Reservoir · Flux · Residence Time · Coupling · Feedback · Timescale</a:t>
              </a:r>
            </a:p>
          </p:txBody>
        </p:sp>
      </p:grpSp>
      <p:sp>
        <p:nvSpPr>
          <p:cNvPr id="50" name="TextBox 50"/>
          <p:cNvSpPr txBox="1"/>
          <p:nvPr/>
        </p:nvSpPr>
        <p:spPr>
          <a:xfrm>
            <a:off x="376238" y="6532245"/>
            <a:ext cx="5302348" cy="176212"/>
          </a:xfrm>
          <a:prstGeom prst="rect">
            <a:avLst/>
          </a:prstGeom>
          <a:noFill/>
          <a:ln>
            <a:noFill/>
          </a:ln>
        </p:spPr>
        <p:txBody>
          <a:bodyPr wrap="none" lIns="0" tIns="0" rIns="0" bIns="0" anchor="t" anchorCtr="0">
            <a:spAutoFit/>
          </a:bodyPr>
          <a:lstStyle/>
          <a:p>
            <a:pPr algn="l"/>
            <a:r>
              <a:rPr lang="zh-CN" sz="900" dirty="0">
                <a:solidFill>
                  <a:schemeClr val="accent5"/>
                </a:solidFill>
                <a:latin typeface="+mn-lt"/>
                <a:ea typeface="+mn-ea"/>
                <a:cs typeface="+mn-cs"/>
              </a:rPr>
              <a:t>Lecture 16 synthesis — locked takeaways from the approved blueprint and source matrix.</a:t>
            </a:r>
          </a:p>
        </p:txBody>
      </p:sp>
      <p:sp>
        <p:nvSpPr>
          <p:cNvPr id="51" name="TextBox 51"/>
          <p:cNvSpPr txBox="1"/>
          <p:nvPr/>
        </p:nvSpPr>
        <p:spPr>
          <a:xfrm>
            <a:off x="11672964" y="6532245"/>
            <a:ext cx="142799" cy="176212"/>
          </a:xfrm>
          <a:prstGeom prst="rect">
            <a:avLst/>
          </a:prstGeom>
          <a:noFill/>
          <a:ln>
            <a:noFill/>
          </a:ln>
        </p:spPr>
        <p:txBody>
          <a:bodyPr wrap="none" lIns="0" tIns="0" rIns="0" bIns="0" anchor="t" anchorCtr="0">
            <a:spAutoFit/>
          </a:bodyPr>
          <a:lstStyle/>
          <a:p>
            <a:pPr algn="r"/>
            <a:r>
              <a:rPr lang="zh-CN" sz="900" dirty="0">
                <a:solidFill>
                  <a:schemeClr val="accent5"/>
                </a:solidFill>
                <a:latin typeface="+mn-lt"/>
                <a:ea typeface="+mn-ea"/>
                <a:cs typeface="+mn-cs"/>
              </a:rPr>
              <a:t>44</a:t>
            </a:r>
          </a:p>
        </p:txBody>
      </p:sp>
    </p:spTree>
    <p:extLst>
      <p:ext uri="{BB962C8B-B14F-4D97-AF65-F5344CB8AC3E}">
        <p14:creationId xmlns:p14="http://schemas.microsoft.com/office/powerpoint/2010/main" val="2777604034"/>
      </p:ext>
    </p:extLst>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35568</Words>
  <Application>Microsoft Office PowerPoint</Application>
  <PresentationFormat>自定义</PresentationFormat>
  <Paragraphs>1253</Paragraphs>
  <Slides>44</Slides>
  <Notes>44</Notes>
  <HiddenSlides>0</HiddenSlides>
  <MMClips>0</MMClips>
  <ScaleCrop>false</ScaleCrop>
  <HeadingPairs>
    <vt:vector size="6" baseType="variant">
      <vt:variant>
        <vt:lpstr>已用的字体</vt:lpstr>
      </vt:variant>
      <vt:variant>
        <vt:i4>3</vt:i4>
      </vt:variant>
      <vt:variant>
        <vt:lpstr>主题</vt:lpstr>
      </vt:variant>
      <vt:variant>
        <vt:i4>1</vt:i4>
      </vt:variant>
      <vt:variant>
        <vt:lpstr>幻灯片标题</vt:lpstr>
      </vt:variant>
      <vt:variant>
        <vt:i4>44</vt:i4>
      </vt:variant>
    </vt:vector>
  </HeadingPairs>
  <TitlesOfParts>
    <vt:vector size="48" baseType="lpstr">
      <vt:lpstr>等线</vt:lpstr>
      <vt:lpstr>等线 Light</vt:lpstr>
      <vt:lpstr>Arial</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Lin Liu</dc:creator>
  <cp:lastModifiedBy>Lin Liu</cp:lastModifiedBy>
  <cp:revision>1</cp:revision>
  <dcterms:created xsi:type="dcterms:W3CDTF">2026-09-15T02:48:07Z</dcterms:created>
  <dcterms:modified xsi:type="dcterms:W3CDTF">2026-09-15T02:48:08Z</dcterms:modified>
</cp:coreProperties>
</file>